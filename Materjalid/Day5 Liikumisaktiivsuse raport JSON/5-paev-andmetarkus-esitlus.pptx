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417" r:id="rId5"/>
    <p:sldId id="544" r:id="rId6"/>
    <p:sldId id="610" r:id="rId7"/>
    <p:sldId id="645" r:id="rId8"/>
    <p:sldId id="658" r:id="rId9"/>
    <p:sldId id="667" r:id="rId10"/>
    <p:sldId id="665" r:id="rId11"/>
    <p:sldId id="668" r:id="rId12"/>
    <p:sldId id="666" r:id="rId13"/>
    <p:sldId id="664" r:id="rId14"/>
    <p:sldId id="594" r:id="rId15"/>
    <p:sldId id="662" r:id="rId16"/>
    <p:sldId id="596" r:id="rId17"/>
    <p:sldId id="659" r:id="rId18"/>
    <p:sldId id="600" r:id="rId19"/>
    <p:sldId id="609" r:id="rId20"/>
    <p:sldId id="661" r:id="rId21"/>
    <p:sldId id="608" r:id="rId22"/>
    <p:sldId id="660" r:id="rId23"/>
    <p:sldId id="606" r:id="rId24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Inter" panose="020B0604020202020204" charset="0"/>
      <p:regular r:id="rId31"/>
      <p:bold r:id="rId32"/>
      <p:italic r:id="rId33"/>
      <p:boldItalic r:id="rId34"/>
    </p:embeddedFont>
    <p:embeddedFont>
      <p:font typeface="Inter Bold" panose="020B0604020202020204" charset="0"/>
      <p:bold r:id="rId35"/>
    </p:embeddedFont>
    <p:embeddedFont>
      <p:font typeface="Poppins SemiBold" panose="00000700000000000000" pitchFamily="2" charset="0"/>
      <p:bold r:id="rId36"/>
      <p:boldItalic r:id="rId37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04.09.2026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liigume.ee/api/" TargetMode="External"/><Relationship Id="rId2" Type="http://schemas.openxmlformats.org/officeDocument/2006/relationships/hyperlink" Target="https://app.liigume.ee/api/activities" TargetMode="Externa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learn.microsoft.com/en-us/credentials/certifications/data-analyst-associate/?practice-assessment-type=certification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bcskoolitus.ee/koolitus/power-bi-edasijoudnutele/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Inter"/>
              </a:rPr>
              <a:t>Emilie Abel</a:t>
            </a:r>
            <a:endParaRPr lang="en-US" dirty="0"/>
          </a:p>
          <a:p>
            <a:r>
              <a:rPr lang="en-US" dirty="0">
                <a:ea typeface="Inter"/>
              </a:rPr>
              <a:t>eilime@live.com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19A6-DCE9-EA22-C881-DEB1096A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5BDE-11A9-1070-B66F-ACDB952A5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54F4C5-8A9F-F004-8F6C-428D0A8B473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209251813"/>
              </p:ext>
            </p:extLst>
          </p:nvPr>
        </p:nvGraphicFramePr>
        <p:xfrm>
          <a:off x="623888" y="1268413"/>
          <a:ext cx="10941050" cy="49804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Liikumisaktiivsuse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aruanne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Liikumisaktiivsuse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aruanne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Grupitöö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nädala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teemade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kohta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Tagasiside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(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nimi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ei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ole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kohustuslik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)</a:t>
                      </a:r>
                    </a:p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Lõputööde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teemade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arutelu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24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71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203B-ECA7-812A-47F9-65361A247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Liikumisaktiivsuse</a:t>
            </a:r>
            <a:r>
              <a:rPr lang="en-GB" dirty="0"/>
              <a:t> </a:t>
            </a:r>
            <a:r>
              <a:rPr lang="en-GB" dirty="0" err="1"/>
              <a:t>aruanne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7C504-C075-F06B-28B7-3068F05D87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b="1" dirty="0" err="1"/>
              <a:t>Põhiküsimus</a:t>
            </a:r>
            <a:endParaRPr lang="en-GB" dirty="0"/>
          </a:p>
          <a:p>
            <a:r>
              <a:rPr lang="en-GB" dirty="0"/>
              <a:t>Kas </a:t>
            </a:r>
            <a:r>
              <a:rPr lang="en-GB" dirty="0" err="1"/>
              <a:t>riiklik</a:t>
            </a:r>
            <a:r>
              <a:rPr lang="en-GB" dirty="0"/>
              <a:t> </a:t>
            </a:r>
            <a:r>
              <a:rPr lang="en-GB" dirty="0" err="1"/>
              <a:t>liikumisaktiivsuse</a:t>
            </a:r>
            <a:r>
              <a:rPr lang="en-GB" dirty="0"/>
              <a:t> </a:t>
            </a:r>
            <a:r>
              <a:rPr lang="en-GB" dirty="0" err="1"/>
              <a:t>tegevuskava</a:t>
            </a:r>
            <a:r>
              <a:rPr lang="en-GB" dirty="0"/>
              <a:t> </a:t>
            </a:r>
            <a:r>
              <a:rPr lang="en-GB" dirty="0" err="1"/>
              <a:t>liigub</a:t>
            </a:r>
            <a:r>
              <a:rPr lang="en-GB" dirty="0"/>
              <a:t> –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kui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, kas </a:t>
            </a:r>
            <a:r>
              <a:rPr lang="en-GB" dirty="0" err="1"/>
              <a:t>takistus</a:t>
            </a:r>
            <a:r>
              <a:rPr lang="en-GB" dirty="0"/>
              <a:t> on WHO </a:t>
            </a:r>
            <a:r>
              <a:rPr lang="en-GB" dirty="0" err="1"/>
              <a:t>suuna</a:t>
            </a:r>
            <a:r>
              <a:rPr lang="en-GB" dirty="0"/>
              <a:t> </a:t>
            </a:r>
            <a:r>
              <a:rPr lang="en-GB" dirty="0" err="1"/>
              <a:t>tühimik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töö</a:t>
            </a:r>
            <a:r>
              <a:rPr lang="en-GB" dirty="0"/>
              <a:t> </a:t>
            </a:r>
            <a:r>
              <a:rPr lang="en-GB" dirty="0" err="1"/>
              <a:t>kuhjumine</a:t>
            </a:r>
            <a:r>
              <a:rPr lang="en-GB" dirty="0"/>
              <a:t> </a:t>
            </a:r>
            <a:r>
              <a:rPr lang="en-GB" dirty="0" err="1"/>
              <a:t>üksikutele</a:t>
            </a:r>
            <a:r>
              <a:rPr lang="en-GB" dirty="0"/>
              <a:t> </a:t>
            </a:r>
            <a:r>
              <a:rPr lang="en-GB" dirty="0" err="1"/>
              <a:t>juhtorganisatsioonidele</a:t>
            </a:r>
            <a:r>
              <a:rPr lang="en-GB" dirty="0"/>
              <a:t>?</a:t>
            </a:r>
          </a:p>
          <a:p>
            <a:r>
              <a:rPr lang="en-GB" b="1" dirty="0"/>
              <a:t>Mida </a:t>
            </a:r>
            <a:r>
              <a:rPr lang="en-GB" b="1" dirty="0" err="1"/>
              <a:t>Ülevaade</a:t>
            </a:r>
            <a:r>
              <a:rPr lang="en-GB" b="1" dirty="0"/>
              <a:t> </a:t>
            </a:r>
            <a:r>
              <a:rPr lang="en-GB" b="1" dirty="0" err="1"/>
              <a:t>sellele</a:t>
            </a:r>
            <a:r>
              <a:rPr lang="en-GB" b="1" dirty="0"/>
              <a:t> </a:t>
            </a:r>
            <a:r>
              <a:rPr lang="en-GB" b="1" dirty="0" err="1"/>
              <a:t>vastab</a:t>
            </a:r>
            <a:endParaRPr lang="en-GB" dirty="0"/>
          </a:p>
          <a:p>
            <a:pPr lvl="0"/>
            <a:r>
              <a:rPr lang="en-GB" b="1" dirty="0" err="1"/>
              <a:t>Edenemine</a:t>
            </a:r>
            <a:r>
              <a:rPr lang="en-GB" b="1" dirty="0"/>
              <a:t>.</a:t>
            </a:r>
            <a:r>
              <a:rPr lang="en-GB" dirty="0"/>
              <a:t> Kui </a:t>
            </a:r>
            <a:r>
              <a:rPr lang="en-GB" dirty="0" err="1"/>
              <a:t>suur</a:t>
            </a:r>
            <a:r>
              <a:rPr lang="en-GB" dirty="0"/>
              <a:t> </a:t>
            </a:r>
            <a:r>
              <a:rPr lang="en-GB" dirty="0" err="1"/>
              <a:t>osa</a:t>
            </a:r>
            <a:r>
              <a:rPr lang="en-GB" dirty="0"/>
              <a:t> 100 </a:t>
            </a:r>
            <a:r>
              <a:rPr lang="en-GB" dirty="0" err="1"/>
              <a:t>tegevusest</a:t>
            </a:r>
            <a:r>
              <a:rPr lang="en-GB" dirty="0"/>
              <a:t> on </a:t>
            </a:r>
            <a:r>
              <a:rPr lang="en-GB" dirty="0" err="1"/>
              <a:t>tehtud</a:t>
            </a:r>
            <a:r>
              <a:rPr lang="en-GB" dirty="0"/>
              <a:t>, </a:t>
            </a:r>
            <a:r>
              <a:rPr lang="en-GB" dirty="0" err="1"/>
              <a:t>töös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alustamata</a:t>
            </a:r>
            <a:r>
              <a:rPr lang="en-GB" dirty="0"/>
              <a:t>?</a:t>
            </a:r>
          </a:p>
          <a:p>
            <a:pPr lvl="0"/>
            <a:r>
              <a:rPr lang="en-GB" b="1" dirty="0" err="1"/>
              <a:t>Tasakaal</a:t>
            </a:r>
            <a:r>
              <a:rPr lang="en-GB" b="1" dirty="0"/>
              <a:t>.</a:t>
            </a:r>
            <a:r>
              <a:rPr lang="en-GB" dirty="0"/>
              <a:t> Kas </a:t>
            </a:r>
            <a:r>
              <a:rPr lang="en-GB" dirty="0" err="1"/>
              <a:t>neli</a:t>
            </a:r>
            <a:r>
              <a:rPr lang="en-GB" dirty="0"/>
              <a:t> WHO </a:t>
            </a:r>
            <a:r>
              <a:rPr lang="en-GB" dirty="0" err="1"/>
              <a:t>suunda</a:t>
            </a:r>
            <a:r>
              <a:rPr lang="en-GB" dirty="0"/>
              <a:t> on </a:t>
            </a:r>
            <a:r>
              <a:rPr lang="en-GB" dirty="0" err="1"/>
              <a:t>kaetud</a:t>
            </a:r>
            <a:r>
              <a:rPr lang="en-GB" dirty="0"/>
              <a:t>, </a:t>
            </a:r>
            <a:r>
              <a:rPr lang="en-GB" dirty="0" err="1"/>
              <a:t>või</a:t>
            </a:r>
            <a:r>
              <a:rPr lang="en-GB" dirty="0"/>
              <a:t> on </a:t>
            </a:r>
            <a:r>
              <a:rPr lang="en-GB" dirty="0" err="1"/>
              <a:t>mõni</a:t>
            </a:r>
            <a:r>
              <a:rPr lang="en-GB" dirty="0"/>
              <a:t> </a:t>
            </a:r>
            <a:r>
              <a:rPr lang="en-GB" dirty="0" err="1"/>
              <a:t>peaaegu</a:t>
            </a:r>
            <a:r>
              <a:rPr lang="en-GB" dirty="0"/>
              <a:t> </a:t>
            </a:r>
            <a:r>
              <a:rPr lang="en-GB" dirty="0" err="1"/>
              <a:t>tühi</a:t>
            </a:r>
            <a:r>
              <a:rPr lang="en-GB" dirty="0"/>
              <a:t>?</a:t>
            </a:r>
          </a:p>
          <a:p>
            <a:pPr lvl="0"/>
            <a:r>
              <a:rPr lang="en-GB" b="1" dirty="0" err="1"/>
              <a:t>Vastutus</a:t>
            </a:r>
            <a:r>
              <a:rPr lang="en-GB" b="1" dirty="0"/>
              <a:t>.</a:t>
            </a:r>
            <a:r>
              <a:rPr lang="en-GB" dirty="0"/>
              <a:t> Kes </a:t>
            </a:r>
            <a:r>
              <a:rPr lang="en-GB" dirty="0" err="1"/>
              <a:t>juhib</a:t>
            </a:r>
            <a:r>
              <a:rPr lang="en-GB" dirty="0"/>
              <a:t> – kas </a:t>
            </a:r>
            <a:r>
              <a:rPr lang="en-GB" dirty="0" err="1"/>
              <a:t>töö</a:t>
            </a:r>
            <a:r>
              <a:rPr lang="en-GB" dirty="0"/>
              <a:t> on </a:t>
            </a:r>
            <a:r>
              <a:rPr lang="en-GB" dirty="0" err="1"/>
              <a:t>paljude</a:t>
            </a:r>
            <a:r>
              <a:rPr lang="en-GB" dirty="0"/>
              <a:t> </a:t>
            </a:r>
            <a:r>
              <a:rPr lang="en-GB" dirty="0" err="1"/>
              <a:t>asutuste</a:t>
            </a:r>
            <a:r>
              <a:rPr lang="en-GB" dirty="0"/>
              <a:t> peal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kuhjunud</a:t>
            </a:r>
            <a:r>
              <a:rPr lang="en-GB" dirty="0"/>
              <a:t> </a:t>
            </a:r>
            <a:r>
              <a:rPr lang="en-GB" dirty="0" err="1"/>
              <a:t>üksikutele</a:t>
            </a:r>
            <a:r>
              <a:rPr lang="en-GB" dirty="0"/>
              <a:t>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28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C1F7-CD92-D403-1E94-6A303DDD1D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Harjutus</a:t>
            </a:r>
            <a:r>
              <a:rPr lang="et-EE" dirty="0"/>
              <a:t> 2 </a:t>
            </a:r>
            <a:r>
              <a:rPr lang="en-GB" dirty="0" err="1"/>
              <a:t>Avaandmete</a:t>
            </a:r>
            <a:r>
              <a:rPr lang="en-GB" dirty="0"/>
              <a:t> </a:t>
            </a:r>
            <a:r>
              <a:rPr lang="en-GB" dirty="0" err="1"/>
              <a:t>kasutamine</a:t>
            </a:r>
            <a:r>
              <a:rPr lang="en-GB" dirty="0"/>
              <a:t> </a:t>
            </a:r>
            <a:r>
              <a:rPr lang="en-GB" dirty="0" err="1"/>
              <a:t>raportis</a:t>
            </a:r>
            <a:r>
              <a:rPr lang="en-GB" dirty="0"/>
              <a:t>: </a:t>
            </a:r>
            <a:r>
              <a:rPr lang="en-GB" dirty="0" err="1"/>
              <a:t>json</a:t>
            </a:r>
            <a:r>
              <a:rPr lang="en-GB" dirty="0"/>
              <a:t> </a:t>
            </a:r>
            <a:r>
              <a:rPr lang="en-GB" dirty="0" err="1"/>
              <a:t>formaadis</a:t>
            </a:r>
            <a:r>
              <a:rPr lang="en-GB" dirty="0"/>
              <a:t> </a:t>
            </a:r>
            <a:r>
              <a:rPr lang="en-GB" dirty="0" err="1"/>
              <a:t>töötlemine</a:t>
            </a:r>
            <a:br>
              <a:rPr lang="et-EE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7050-7C98-021C-C525-2E0D92E64E6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9575" y="1645047"/>
            <a:ext cx="5364162" cy="1710531"/>
          </a:xfrm>
        </p:spPr>
        <p:txBody>
          <a:bodyPr/>
          <a:lstStyle/>
          <a:p>
            <a:r>
              <a:rPr lang="et-EE" dirty="0"/>
              <a:t>Avalik REST API liikumisaktiivsuse tegevuskava elluviimise andmestiku masinloetavaks kasutamiseks. API kaudu on JSON-vormingus kättesaadavad tegevused, partnerorganisatsioonid,...</a:t>
            </a:r>
            <a:endParaRPr lang="en-GB" dirty="0"/>
          </a:p>
          <a:p>
            <a:r>
              <a:rPr lang="en-GB" dirty="0">
                <a:hlinkClick r:id="rId2"/>
              </a:rPr>
              <a:t>https://app.liigume.ee/api/</a:t>
            </a:r>
            <a:r>
              <a:rPr lang="et-EE" dirty="0"/>
              <a:t>organizations</a:t>
            </a:r>
          </a:p>
          <a:p>
            <a:r>
              <a:rPr lang="en-GB" dirty="0">
                <a:hlinkClick r:id="rId3"/>
              </a:rPr>
              <a:t>https://app.liigume.ee/api/</a:t>
            </a:r>
            <a:r>
              <a:rPr lang="et-EE" dirty="0"/>
              <a:t>policies</a:t>
            </a:r>
          </a:p>
          <a:p>
            <a:r>
              <a:rPr lang="en-GB" dirty="0">
                <a:hlinkClick r:id="rId2"/>
              </a:rPr>
              <a:t>https://app.liigume.ee/api/activities</a:t>
            </a:r>
            <a:endParaRPr lang="et-EE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0B136-7735-75E0-BC3F-53D725A4405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77102" y="1645047"/>
            <a:ext cx="5364162" cy="2367757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912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8543-E6CB-2D80-832A-885A31007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6F5CA-05DB-9459-CB32-D57EE813BD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CC4DA-8D9D-A62F-FB0E-EB03195B960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8C0998-6D84-8174-32EB-B4FA59A5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1253370"/>
            <a:ext cx="9749363" cy="34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6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B5A2-B1D9-2167-9421-5C5F04668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Andmete</a:t>
            </a:r>
            <a:r>
              <a:rPr lang="en-GB" dirty="0"/>
              <a:t> </a:t>
            </a:r>
            <a:r>
              <a:rPr lang="en-GB" dirty="0" err="1"/>
              <a:t>avamine</a:t>
            </a:r>
            <a:r>
              <a:rPr lang="en-GB" dirty="0"/>
              <a:t> </a:t>
            </a:r>
            <a:r>
              <a:rPr lang="en-GB" dirty="0" err="1"/>
              <a:t>jsonist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58431-79CD-9A96-015D-9FA4089D41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Record</a:t>
            </a:r>
          </a:p>
          <a:p>
            <a:pPr lvl="1"/>
            <a:r>
              <a:rPr lang="en-GB" dirty="0"/>
              <a:t>Expand</a:t>
            </a:r>
          </a:p>
          <a:p>
            <a:pPr lvl="1"/>
            <a:r>
              <a:rPr lang="en-GB" dirty="0"/>
              <a:t>Valid </a:t>
            </a:r>
            <a:r>
              <a:rPr lang="en-GB" dirty="0" err="1"/>
              <a:t>veerud</a:t>
            </a:r>
            <a:endParaRPr lang="en-GB" dirty="0"/>
          </a:p>
          <a:p>
            <a:r>
              <a:rPr lang="en-GB" dirty="0"/>
              <a:t>List</a:t>
            </a:r>
          </a:p>
          <a:p>
            <a:pPr lvl="1"/>
            <a:r>
              <a:rPr lang="en-GB" dirty="0"/>
              <a:t>Expand</a:t>
            </a:r>
          </a:p>
          <a:p>
            <a:pPr lvl="2"/>
            <a:r>
              <a:rPr lang="en-GB" dirty="0" err="1"/>
              <a:t>Samasse</a:t>
            </a:r>
            <a:r>
              <a:rPr lang="en-GB" dirty="0"/>
              <a:t> </a:t>
            </a:r>
            <a:r>
              <a:rPr lang="en-GB" dirty="0" err="1"/>
              <a:t>lahtrisse</a:t>
            </a:r>
            <a:r>
              <a:rPr lang="en-GB" dirty="0"/>
              <a:t> </a:t>
            </a:r>
            <a:r>
              <a:rPr lang="en-GB" dirty="0" err="1"/>
              <a:t>eraldajatega</a:t>
            </a:r>
            <a:endParaRPr lang="en-GB" dirty="0"/>
          </a:p>
          <a:p>
            <a:pPr lvl="2"/>
            <a:r>
              <a:rPr lang="en-GB" dirty="0" err="1"/>
              <a:t>Eraldi</a:t>
            </a:r>
            <a:r>
              <a:rPr lang="en-GB" dirty="0"/>
              <a:t> </a:t>
            </a:r>
            <a:r>
              <a:rPr lang="en-GB" dirty="0" err="1"/>
              <a:t>ridadena</a:t>
            </a:r>
            <a:r>
              <a:rPr lang="en-GB" dirty="0"/>
              <a:t>, </a:t>
            </a:r>
            <a:r>
              <a:rPr lang="en-GB" dirty="0" err="1"/>
              <a:t>kordistab</a:t>
            </a:r>
            <a:r>
              <a:rPr lang="en-GB" dirty="0"/>
              <a:t> </a:t>
            </a:r>
            <a:r>
              <a:rPr lang="en-GB" dirty="0" err="1"/>
              <a:t>kirjeid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071D2-A667-15AE-A31C-04B7B46C64B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79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8D8E-1CC2-82EB-E26D-B98E0C8396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Valitavad</a:t>
            </a:r>
            <a:r>
              <a:rPr lang="en-GB" dirty="0"/>
              <a:t> </a:t>
            </a:r>
            <a:r>
              <a:rPr lang="en-GB" dirty="0" err="1"/>
              <a:t>veerud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45AFF-FBBF-9EB3-9136-00310B9369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Ava record </a:t>
            </a:r>
            <a:r>
              <a:rPr lang="en-GB" dirty="0" err="1"/>
              <a:t>ja</a:t>
            </a:r>
            <a:r>
              <a:rPr lang="en-GB" dirty="0"/>
              <a:t> vali </a:t>
            </a:r>
            <a:r>
              <a:rPr lang="en-GB" dirty="0" err="1"/>
              <a:t>veerud</a:t>
            </a:r>
            <a:endParaRPr lang="en-GB" dirty="0"/>
          </a:p>
          <a:p>
            <a:r>
              <a:rPr lang="en-GB" b="1" dirty="0" err="1"/>
              <a:t>fact_activity</a:t>
            </a:r>
            <a:r>
              <a:rPr lang="en-GB" b="1" dirty="0"/>
              <a:t>:</a:t>
            </a:r>
            <a:br>
              <a:rPr lang="en-GB" dirty="0"/>
            </a:br>
            <a:r>
              <a:rPr lang="en-GB" dirty="0"/>
              <a:t>id, nr, code, name, </a:t>
            </a:r>
            <a:r>
              <a:rPr lang="en-GB" dirty="0" err="1"/>
              <a:t>name_short</a:t>
            </a:r>
            <a:r>
              <a:rPr lang="en-GB" dirty="0"/>
              <a:t>, </a:t>
            </a:r>
            <a:r>
              <a:rPr lang="en-GB" dirty="0" err="1"/>
              <a:t>activity_type</a:t>
            </a:r>
            <a:r>
              <a:rPr lang="en-GB" dirty="0"/>
              <a:t>, period, </a:t>
            </a:r>
            <a:r>
              <a:rPr lang="en-GB" dirty="0" err="1"/>
              <a:t>start_date</a:t>
            </a:r>
            <a:r>
              <a:rPr lang="en-GB" dirty="0"/>
              <a:t>, </a:t>
            </a:r>
            <a:r>
              <a:rPr lang="en-GB" dirty="0" err="1"/>
              <a:t>end_date</a:t>
            </a:r>
            <a:r>
              <a:rPr lang="en-GB" dirty="0"/>
              <a:t>, status, </a:t>
            </a:r>
            <a:r>
              <a:rPr lang="en-GB" dirty="0" err="1"/>
              <a:t>target_outcome</a:t>
            </a:r>
            <a:r>
              <a:rPr lang="en-GB" dirty="0"/>
              <a:t>, </a:t>
            </a:r>
            <a:r>
              <a:rPr lang="en-GB" dirty="0" err="1"/>
              <a:t>who_direction_id</a:t>
            </a:r>
            <a:r>
              <a:rPr lang="en-GB" dirty="0"/>
              <a:t>, </a:t>
            </a:r>
            <a:r>
              <a:rPr lang="en-GB" dirty="0" err="1"/>
              <a:t>lead_org_id</a:t>
            </a:r>
            <a:r>
              <a:rPr lang="en-GB" dirty="0"/>
              <a:t>, </a:t>
            </a:r>
            <a:r>
              <a:rPr lang="en-GB" dirty="0" err="1"/>
              <a:t>partner_ids</a:t>
            </a:r>
            <a:r>
              <a:rPr lang="en-GB" dirty="0"/>
              <a:t>, </a:t>
            </a:r>
            <a:r>
              <a:rPr lang="en-GB" dirty="0" err="1"/>
              <a:t>progress_pct</a:t>
            </a:r>
            <a:endParaRPr lang="en-GB" dirty="0"/>
          </a:p>
          <a:p>
            <a:r>
              <a:rPr lang="en-GB" dirty="0" err="1"/>
              <a:t>Ära</a:t>
            </a:r>
            <a:r>
              <a:rPr lang="en-GB" dirty="0"/>
              <a:t> vali: indicators, </a:t>
            </a:r>
            <a:r>
              <a:rPr lang="en-GB" dirty="0" err="1"/>
              <a:t>policy_ids</a:t>
            </a:r>
            <a:r>
              <a:rPr lang="en-GB" dirty="0"/>
              <a:t>, </a:t>
            </a:r>
            <a:r>
              <a:rPr lang="en-GB" dirty="0" err="1"/>
              <a:t>target_groups</a:t>
            </a:r>
            <a:r>
              <a:rPr lang="en-GB" dirty="0"/>
              <a:t> (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muid</a:t>
            </a:r>
            <a:r>
              <a:rPr lang="en-GB" dirty="0"/>
              <a:t> nested </a:t>
            </a:r>
            <a:r>
              <a:rPr lang="en-GB" dirty="0" err="1"/>
              <a:t>liste</a:t>
            </a:r>
            <a:r>
              <a:rPr lang="en-GB" dirty="0"/>
              <a:t>).</a:t>
            </a:r>
          </a:p>
          <a:p>
            <a:r>
              <a:rPr lang="en-GB" b="1" dirty="0" err="1"/>
              <a:t>dim_organization</a:t>
            </a:r>
            <a:r>
              <a:rPr lang="en-GB" b="1" dirty="0"/>
              <a:t>:</a:t>
            </a:r>
            <a:br>
              <a:rPr lang="en-GB" dirty="0"/>
            </a:br>
            <a:r>
              <a:rPr lang="en-GB" dirty="0"/>
              <a:t>id, name, abbreviation, </a:t>
            </a:r>
            <a:r>
              <a:rPr lang="en-GB" dirty="0" err="1"/>
              <a:t>org_type</a:t>
            </a:r>
            <a:r>
              <a:rPr lang="en-GB" dirty="0"/>
              <a:t>, </a:t>
            </a:r>
            <a:r>
              <a:rPr lang="en-GB" dirty="0" err="1"/>
              <a:t>parent_organization_id</a:t>
            </a:r>
            <a:endParaRPr lang="en-GB" dirty="0"/>
          </a:p>
          <a:p>
            <a:r>
              <a:rPr lang="en-GB" b="1" dirty="0" err="1"/>
              <a:t>dim_direction</a:t>
            </a:r>
            <a:r>
              <a:rPr lang="en-GB" b="1" dirty="0"/>
              <a:t>:</a:t>
            </a:r>
            <a:br>
              <a:rPr lang="en-GB" dirty="0"/>
            </a:br>
            <a:r>
              <a:rPr lang="en-GB" dirty="0"/>
              <a:t>id, </a:t>
            </a:r>
            <a:r>
              <a:rPr lang="en-GB" dirty="0" err="1"/>
              <a:t>policy_measure</a:t>
            </a:r>
            <a:r>
              <a:rPr lang="en-GB" dirty="0"/>
              <a:t>, </a:t>
            </a:r>
            <a:r>
              <a:rPr lang="en-GB" dirty="0" err="1"/>
              <a:t>direction_code</a:t>
            </a:r>
            <a:r>
              <a:rPr lang="en-GB" dirty="0"/>
              <a:t>, description, </a:t>
            </a:r>
            <a:r>
              <a:rPr lang="en-GB" dirty="0" err="1"/>
              <a:t>is_direction</a:t>
            </a:r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3E1EF-5EA8-938E-A29E-20D63C420AF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6D277-9733-7750-2ECA-7657B6148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50" y="1268412"/>
            <a:ext cx="4456782" cy="377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7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4B48-68E8-1EED-D762-3A6F27A63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Parent org </a:t>
            </a:r>
            <a:r>
              <a:rPr lang="en-GB" dirty="0" err="1"/>
              <a:t>leidmine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C1927-D2D5-ED12-8F54-F000F1790D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Organization </a:t>
            </a:r>
            <a:r>
              <a:rPr lang="en-GB" dirty="0" err="1"/>
              <a:t>koopia</a:t>
            </a:r>
            <a:endParaRPr lang="en-GB" dirty="0"/>
          </a:p>
          <a:p>
            <a:r>
              <a:rPr lang="en-GB" dirty="0"/>
              <a:t>Merge queries</a:t>
            </a:r>
          </a:p>
          <a:p>
            <a:r>
              <a:rPr lang="en-GB" dirty="0"/>
              <a:t>Seo id </a:t>
            </a:r>
            <a:r>
              <a:rPr lang="en-GB" dirty="0" err="1"/>
              <a:t>alusel</a:t>
            </a:r>
            <a:endParaRPr lang="en-GB" dirty="0"/>
          </a:p>
          <a:p>
            <a:r>
              <a:rPr lang="en-GB" dirty="0"/>
              <a:t>Vali </a:t>
            </a:r>
            <a:r>
              <a:rPr lang="en-GB" dirty="0" err="1"/>
              <a:t>tabelisse</a:t>
            </a:r>
            <a:r>
              <a:rPr lang="en-GB" dirty="0"/>
              <a:t> </a:t>
            </a:r>
            <a:r>
              <a:rPr lang="en-GB" dirty="0" err="1"/>
              <a:t>nimetus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0D81F-51AF-450D-5262-0F8B71806B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8C8FD-CA7A-8A8F-7F05-20AFBEBF0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890" y="105878"/>
            <a:ext cx="5561731" cy="43531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3E14A8-D655-6535-5CAE-773B00E8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28" y="2443046"/>
            <a:ext cx="3858163" cy="2629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E7FD09-ADC3-BCC4-9816-4CA33C86E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580" y="2011246"/>
            <a:ext cx="2762636" cy="1162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3FF94C-565C-0C4A-E84A-ADCEE2D15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402" y="4314352"/>
            <a:ext cx="3023188" cy="25436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68F2A5-73DC-B5E0-E895-3FC24E3468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6590" y="4012496"/>
            <a:ext cx="3460822" cy="319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5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79AB-08DD-71BB-61E0-5FEA2D070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Mudel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6FE37-9FBB-80C9-36C8-FB9A7A7FAF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 err="1"/>
              <a:t>Nimeta</a:t>
            </a:r>
            <a:r>
              <a:rPr lang="en-GB" dirty="0"/>
              <a:t> </a:t>
            </a:r>
            <a:r>
              <a:rPr lang="en-GB" dirty="0" err="1"/>
              <a:t>veerud</a:t>
            </a:r>
            <a:r>
              <a:rPr lang="en-GB" dirty="0"/>
              <a:t> </a:t>
            </a:r>
          </a:p>
          <a:p>
            <a:r>
              <a:rPr lang="en-GB" dirty="0" err="1"/>
              <a:t>Nimeta</a:t>
            </a:r>
            <a:r>
              <a:rPr lang="en-GB" dirty="0"/>
              <a:t> </a:t>
            </a:r>
            <a:r>
              <a:rPr lang="en-GB" dirty="0" err="1"/>
              <a:t>tabelid</a:t>
            </a:r>
            <a:r>
              <a:rPr lang="en-GB" dirty="0"/>
              <a:t>: dim </a:t>
            </a:r>
            <a:r>
              <a:rPr lang="en-GB" dirty="0" err="1"/>
              <a:t>ja</a:t>
            </a:r>
            <a:r>
              <a:rPr lang="en-GB" dirty="0"/>
              <a:t> fact </a:t>
            </a:r>
            <a:r>
              <a:rPr lang="en-GB" dirty="0" err="1"/>
              <a:t>tabelid</a:t>
            </a:r>
            <a:endParaRPr lang="en-GB" dirty="0"/>
          </a:p>
          <a:p>
            <a:r>
              <a:rPr lang="en-GB" dirty="0"/>
              <a:t>Loo </a:t>
            </a:r>
            <a:r>
              <a:rPr lang="en-GB" dirty="0" err="1"/>
              <a:t>seosed</a:t>
            </a:r>
            <a:endParaRPr lang="en-GB" dirty="0"/>
          </a:p>
          <a:p>
            <a:r>
              <a:rPr lang="en-GB" dirty="0"/>
              <a:t>Tee </a:t>
            </a:r>
            <a:r>
              <a:rPr lang="en-GB" dirty="0" err="1"/>
              <a:t>mõõdikute</a:t>
            </a:r>
            <a:r>
              <a:rPr lang="en-GB" dirty="0"/>
              <a:t> table </a:t>
            </a:r>
            <a:r>
              <a:rPr lang="en-GB" dirty="0" err="1"/>
              <a:t>ja</a:t>
            </a:r>
            <a:r>
              <a:rPr lang="en-GB" dirty="0"/>
              <a:t> loo </a:t>
            </a:r>
            <a:r>
              <a:rPr lang="en-GB" dirty="0" err="1"/>
              <a:t>mõõdikud</a:t>
            </a:r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B7D29-FE5F-C51A-74DB-E4AA7B098F5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321FF-7B30-9EA2-3B59-97FDB4BF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950" y="0"/>
            <a:ext cx="12192000" cy="17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4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4646-8734-75D9-6232-82628B60CD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Kestuse</a:t>
            </a:r>
            <a:r>
              <a:rPr lang="en-GB" dirty="0"/>
              <a:t> </a:t>
            </a:r>
            <a:r>
              <a:rPr lang="en-GB" dirty="0" err="1"/>
              <a:t>grupp</a:t>
            </a:r>
            <a:r>
              <a:rPr lang="en-GB" dirty="0"/>
              <a:t>: loo </a:t>
            </a:r>
            <a:r>
              <a:rPr lang="en-GB" dirty="0" err="1"/>
              <a:t>tabelid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tee </a:t>
            </a:r>
            <a:r>
              <a:rPr lang="en-GB" dirty="0" err="1"/>
              <a:t>seosed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7C62-363C-7458-ADB8-BD7878BA64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Veerg </a:t>
            </a:r>
            <a:r>
              <a:rPr lang="en-GB" dirty="0" err="1"/>
              <a:t>fact_activity</a:t>
            </a:r>
            <a:r>
              <a:rPr lang="en-GB" dirty="0"/>
              <a:t> </a:t>
            </a:r>
            <a:r>
              <a:rPr lang="en-GB" dirty="0" err="1"/>
              <a:t>tabelis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D1B46-944E-F33C-04D2-524DC30ECC2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 err="1"/>
              <a:t>Kestuse</a:t>
            </a:r>
            <a:r>
              <a:rPr lang="en-GB" dirty="0"/>
              <a:t> </a:t>
            </a:r>
            <a:r>
              <a:rPr lang="en-GB" dirty="0" err="1"/>
              <a:t>grupp</a:t>
            </a:r>
            <a:r>
              <a:rPr lang="en-GB" dirty="0"/>
              <a:t> </a:t>
            </a:r>
            <a:r>
              <a:rPr lang="en-GB" dirty="0" err="1"/>
              <a:t>dimensioon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11DA6-665D-284C-E57E-4A00AE5772D4}"/>
              </a:ext>
            </a:extLst>
          </p:cNvPr>
          <p:cNvSpPr txBox="1"/>
          <p:nvPr/>
        </p:nvSpPr>
        <p:spPr>
          <a:xfrm>
            <a:off x="405384" y="1629120"/>
            <a:ext cx="6096000" cy="250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Kestuse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grupp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= IF (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ISBLANK (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fact_activity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Alguskuupäev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] ) || ISBLANK (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fact_activity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Lõppkuupäev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] ),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puudub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VAR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Paevi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=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DATEDIFF (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fact_activity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Alguskuupäev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],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fact_activity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Lõppkuupäev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], DAY )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RETURN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SWITCH (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TRUE (),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Paevi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&lt; 365, "0-1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Paevi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&lt; 3 * 365, "1-3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Paevi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&lt; 5 * 365, "3-5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"5+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)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3AD89-C0F7-A0B0-4459-4B68C0E45067}"/>
              </a:ext>
            </a:extLst>
          </p:cNvPr>
          <p:cNvSpPr txBox="1"/>
          <p:nvPr/>
        </p:nvSpPr>
        <p:spPr>
          <a:xfrm>
            <a:off x="6501384" y="1629120"/>
            <a:ext cx="6097604" cy="198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dim_kestus_grupp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= DATATABLE (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Kestuse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grupp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STRING,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Järjekord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INTEGER,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{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"0-1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1 },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"1-3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2 },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"3-5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3 },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"5+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4 },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puudub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5 }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335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607C-1CBD-609C-2DD5-82DEC1A1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C9F6-9B44-EC39-A8A4-BF3AAD8C53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F01C13-8AF6-57EC-09E9-26FFC7C07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847990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5581-A7A1-60BC-FB1D-4F995D63F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Liikumisaktiivsuse</a:t>
            </a:r>
            <a:r>
              <a:rPr lang="en-GB" dirty="0"/>
              <a:t> </a:t>
            </a:r>
            <a:r>
              <a:rPr lang="en-GB" dirty="0" err="1"/>
              <a:t>raport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976FE-1E4D-70F4-14BA-69C65E571B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27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B48D9-37EF-87B3-9301-28F1C629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33F06-2AB6-79CC-EB7E-1D6901803E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3B8A8A-8989-55BB-98A0-1F64CFD87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58734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ED05-72B2-9F93-EB14-CAA4DD6D7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Grupitöö</a:t>
            </a:r>
            <a:r>
              <a:rPr lang="en-GB" dirty="0"/>
              <a:t>: </a:t>
            </a:r>
            <a:r>
              <a:rPr lang="en-GB" dirty="0" err="1"/>
              <a:t>õpitud</a:t>
            </a:r>
            <a:r>
              <a:rPr lang="en-GB" dirty="0"/>
              <a:t> </a:t>
            </a:r>
            <a:r>
              <a:rPr lang="en-GB" dirty="0" err="1"/>
              <a:t>teemade</a:t>
            </a:r>
            <a:r>
              <a:rPr lang="en-GB" dirty="0"/>
              <a:t> </a:t>
            </a:r>
            <a:r>
              <a:rPr lang="en-GB" dirty="0" err="1"/>
              <a:t>kokkuvõte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B4B8-BD86-B2AD-3EE4-B88BAC7F28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400" dirty="0"/>
              <a:t>Grupp 4 </a:t>
            </a:r>
            <a:r>
              <a:rPr lang="en-GB" sz="2400" dirty="0" err="1"/>
              <a:t>inimest</a:t>
            </a:r>
            <a:r>
              <a:rPr lang="en-GB" sz="2400" dirty="0"/>
              <a:t> (</a:t>
            </a:r>
            <a:r>
              <a:rPr lang="en-GB" sz="2400" dirty="0" err="1"/>
              <a:t>või</a:t>
            </a:r>
            <a:r>
              <a:rPr lang="en-GB" sz="2400" dirty="0"/>
              <a:t> 5 </a:t>
            </a:r>
            <a:r>
              <a:rPr lang="en-GB" sz="2400" dirty="0" err="1"/>
              <a:t>kahel</a:t>
            </a:r>
            <a:r>
              <a:rPr lang="en-GB" sz="2400" dirty="0"/>
              <a:t> </a:t>
            </a:r>
            <a:r>
              <a:rPr lang="en-GB" sz="2400" dirty="0" err="1"/>
              <a:t>grupil</a:t>
            </a:r>
            <a:r>
              <a:rPr lang="en-GB" sz="2400" dirty="0"/>
              <a:t>)</a:t>
            </a:r>
          </a:p>
          <a:p>
            <a:r>
              <a:rPr lang="en-GB" sz="2400" b="1" dirty="0" err="1"/>
              <a:t>Arutage</a:t>
            </a:r>
            <a:r>
              <a:rPr lang="en-GB" sz="2400" dirty="0"/>
              <a:t> </a:t>
            </a:r>
            <a:r>
              <a:rPr lang="en-GB" sz="2400" dirty="0" err="1"/>
              <a:t>ja</a:t>
            </a:r>
            <a:r>
              <a:rPr lang="en-GB" sz="2400" dirty="0"/>
              <a:t> </a:t>
            </a:r>
            <a:r>
              <a:rPr lang="en-GB" sz="2400" dirty="0" err="1"/>
              <a:t>tehke</a:t>
            </a:r>
            <a:r>
              <a:rPr lang="en-GB" sz="2400" dirty="0"/>
              <a:t> </a:t>
            </a:r>
            <a:r>
              <a:rPr lang="en-GB" sz="2400" dirty="0" err="1"/>
              <a:t>kokkuvõte</a:t>
            </a:r>
            <a:r>
              <a:rPr lang="en-GB" sz="2400" dirty="0"/>
              <a:t> (</a:t>
            </a:r>
            <a:r>
              <a:rPr lang="en-GB" sz="2400" dirty="0" err="1"/>
              <a:t>skeemi</a:t>
            </a:r>
            <a:r>
              <a:rPr lang="en-GB" sz="2400" dirty="0"/>
              <a:t> </a:t>
            </a:r>
            <a:r>
              <a:rPr lang="en-GB" sz="2400" dirty="0" err="1"/>
              <a:t>ja</a:t>
            </a:r>
            <a:r>
              <a:rPr lang="en-GB" sz="2400" dirty="0"/>
              <a:t> </a:t>
            </a:r>
            <a:r>
              <a:rPr lang="en-GB" sz="2400" dirty="0" err="1"/>
              <a:t>kirjeldusena</a:t>
            </a:r>
            <a:r>
              <a:rPr lang="en-GB" sz="2400" dirty="0"/>
              <a:t>) 45 min</a:t>
            </a:r>
          </a:p>
          <a:p>
            <a:pPr lvl="1"/>
            <a:r>
              <a:rPr lang="en-GB" sz="2400" b="1" dirty="0" err="1">
                <a:highlight>
                  <a:srgbClr val="00FF00"/>
                </a:highlight>
              </a:rPr>
              <a:t>Andmeanalüütika</a:t>
            </a:r>
            <a:r>
              <a:rPr lang="en-GB" sz="2400" b="1" dirty="0">
                <a:highlight>
                  <a:srgbClr val="00FF00"/>
                </a:highlight>
              </a:rPr>
              <a:t> </a:t>
            </a:r>
            <a:r>
              <a:rPr lang="en-GB" sz="2400" b="1" dirty="0" err="1">
                <a:highlight>
                  <a:srgbClr val="00FF00"/>
                </a:highlight>
              </a:rPr>
              <a:t>etapid</a:t>
            </a:r>
            <a:endParaRPr lang="en-GB" sz="2400" b="1" dirty="0">
              <a:highlight>
                <a:srgbClr val="00FF00"/>
              </a:highlight>
            </a:endParaRPr>
          </a:p>
          <a:p>
            <a:pPr lvl="2"/>
            <a:r>
              <a:rPr lang="en-GB" sz="2400" dirty="0" err="1">
                <a:highlight>
                  <a:srgbClr val="00FF00"/>
                </a:highlight>
              </a:rPr>
              <a:t>Etappide</a:t>
            </a:r>
            <a:r>
              <a:rPr lang="en-GB" sz="2400" dirty="0">
                <a:highlight>
                  <a:srgbClr val="00FF00"/>
                </a:highlight>
              </a:rPr>
              <a:t> </a:t>
            </a:r>
            <a:r>
              <a:rPr lang="en-GB" sz="2400" dirty="0" err="1">
                <a:highlight>
                  <a:srgbClr val="00FF00"/>
                </a:highlight>
              </a:rPr>
              <a:t>kohta</a:t>
            </a:r>
            <a:r>
              <a:rPr lang="en-GB" sz="2400" dirty="0">
                <a:highlight>
                  <a:srgbClr val="00FF00"/>
                </a:highlight>
              </a:rPr>
              <a:t> </a:t>
            </a:r>
            <a:r>
              <a:rPr lang="en-GB" sz="2400" dirty="0" err="1">
                <a:highlight>
                  <a:srgbClr val="00FF00"/>
                </a:highlight>
              </a:rPr>
              <a:t>väike</a:t>
            </a:r>
            <a:r>
              <a:rPr lang="en-GB" sz="2400" dirty="0">
                <a:highlight>
                  <a:srgbClr val="00FF00"/>
                </a:highlight>
              </a:rPr>
              <a:t> </a:t>
            </a:r>
            <a:r>
              <a:rPr lang="en-GB" sz="2400" dirty="0" err="1">
                <a:highlight>
                  <a:srgbClr val="00FF00"/>
                </a:highlight>
              </a:rPr>
              <a:t>selgitus</a:t>
            </a:r>
            <a:endParaRPr lang="en-GB" sz="2400" dirty="0">
              <a:highlight>
                <a:srgbClr val="00FF00"/>
              </a:highlight>
            </a:endParaRPr>
          </a:p>
          <a:p>
            <a:pPr lvl="2"/>
            <a:r>
              <a:rPr lang="en-GB" sz="2400" dirty="0">
                <a:highlight>
                  <a:srgbClr val="00FF00"/>
                </a:highlight>
              </a:rPr>
              <a:t>Dim </a:t>
            </a:r>
            <a:r>
              <a:rPr lang="en-GB" sz="2400" dirty="0" err="1">
                <a:highlight>
                  <a:srgbClr val="00FF00"/>
                </a:highlight>
              </a:rPr>
              <a:t>ja</a:t>
            </a:r>
            <a:r>
              <a:rPr lang="en-GB" sz="2400" dirty="0">
                <a:highlight>
                  <a:srgbClr val="00FF00"/>
                </a:highlight>
              </a:rPr>
              <a:t> </a:t>
            </a:r>
            <a:r>
              <a:rPr lang="en-GB" sz="2400" dirty="0" err="1">
                <a:highlight>
                  <a:srgbClr val="00FF00"/>
                </a:highlight>
              </a:rPr>
              <a:t>fakt</a:t>
            </a:r>
            <a:r>
              <a:rPr lang="en-GB" sz="2400" dirty="0">
                <a:highlight>
                  <a:srgbClr val="00FF00"/>
                </a:highlight>
              </a:rPr>
              <a:t> </a:t>
            </a:r>
            <a:r>
              <a:rPr lang="en-GB" sz="2400" dirty="0" err="1">
                <a:highlight>
                  <a:srgbClr val="00FF00"/>
                </a:highlight>
              </a:rPr>
              <a:t>loogika</a:t>
            </a:r>
            <a:r>
              <a:rPr lang="en-GB" sz="2400" dirty="0">
                <a:highlight>
                  <a:srgbClr val="00FF00"/>
                </a:highlight>
              </a:rPr>
              <a:t>, </a:t>
            </a:r>
            <a:r>
              <a:rPr lang="en-GB" sz="2400" dirty="0" err="1">
                <a:highlight>
                  <a:srgbClr val="00FF00"/>
                </a:highlight>
              </a:rPr>
              <a:t>seosed</a:t>
            </a:r>
            <a:r>
              <a:rPr lang="en-GB" sz="2400" dirty="0">
                <a:highlight>
                  <a:srgbClr val="00FF00"/>
                </a:highlight>
              </a:rPr>
              <a:t>: sound, </a:t>
            </a:r>
            <a:r>
              <a:rPr lang="en-GB" sz="2400" dirty="0" err="1">
                <a:highlight>
                  <a:srgbClr val="00FF00"/>
                </a:highlight>
              </a:rPr>
              <a:t>granulaarsus</a:t>
            </a:r>
            <a:endParaRPr lang="en-GB" sz="2400" dirty="0">
              <a:highlight>
                <a:srgbClr val="00FF00"/>
              </a:highlight>
            </a:endParaRPr>
          </a:p>
          <a:p>
            <a:pPr lvl="1"/>
            <a:r>
              <a:rPr lang="en-GB" sz="2400" b="1" dirty="0" err="1">
                <a:highlight>
                  <a:srgbClr val="00FF00"/>
                </a:highlight>
              </a:rPr>
              <a:t>Andmete</a:t>
            </a:r>
            <a:r>
              <a:rPr lang="en-GB" sz="2400" b="1" dirty="0">
                <a:highlight>
                  <a:srgbClr val="00FF00"/>
                </a:highlight>
              </a:rPr>
              <a:t> </a:t>
            </a:r>
            <a:r>
              <a:rPr lang="en-GB" sz="2400" b="1" dirty="0" err="1">
                <a:highlight>
                  <a:srgbClr val="00FF00"/>
                </a:highlight>
              </a:rPr>
              <a:t>valdkonna</a:t>
            </a:r>
            <a:r>
              <a:rPr lang="en-GB" sz="2400" b="1" dirty="0">
                <a:highlight>
                  <a:srgbClr val="00FF00"/>
                </a:highlight>
              </a:rPr>
              <a:t> </a:t>
            </a:r>
            <a:r>
              <a:rPr lang="en-GB" sz="2400" b="1" dirty="0" err="1">
                <a:highlight>
                  <a:srgbClr val="00FF00"/>
                </a:highlight>
              </a:rPr>
              <a:t>spetsialistide</a:t>
            </a:r>
            <a:r>
              <a:rPr lang="en-GB" sz="2400" b="1" dirty="0">
                <a:highlight>
                  <a:srgbClr val="00FF00"/>
                </a:highlight>
              </a:rPr>
              <a:t> </a:t>
            </a:r>
            <a:r>
              <a:rPr lang="en-GB" sz="2400" b="1" dirty="0" err="1">
                <a:highlight>
                  <a:srgbClr val="00FF00"/>
                </a:highlight>
              </a:rPr>
              <a:t>rollid</a:t>
            </a:r>
            <a:endParaRPr lang="en-GB" sz="2400" b="1" dirty="0">
              <a:highlight>
                <a:srgbClr val="00FF00"/>
              </a:highlight>
            </a:endParaRPr>
          </a:p>
          <a:p>
            <a:pPr lvl="2"/>
            <a:r>
              <a:rPr lang="en-GB" sz="2400" dirty="0" err="1">
                <a:highlight>
                  <a:srgbClr val="00FF00"/>
                </a:highlight>
              </a:rPr>
              <a:t>Nende</a:t>
            </a:r>
            <a:r>
              <a:rPr lang="en-GB" sz="2400" dirty="0">
                <a:highlight>
                  <a:srgbClr val="00FF00"/>
                </a:highlight>
              </a:rPr>
              <a:t> </a:t>
            </a:r>
            <a:r>
              <a:rPr lang="en-GB" sz="2400" dirty="0" err="1">
                <a:highlight>
                  <a:srgbClr val="00FF00"/>
                </a:highlight>
              </a:rPr>
              <a:t>ülesanded</a:t>
            </a:r>
            <a:endParaRPr lang="en-GB" sz="2400" dirty="0">
              <a:highlight>
                <a:srgbClr val="00FF00"/>
              </a:highlight>
            </a:endParaRPr>
          </a:p>
          <a:p>
            <a:pPr lvl="2"/>
            <a:r>
              <a:rPr lang="en-GB" sz="2400" dirty="0" err="1">
                <a:highlight>
                  <a:srgbClr val="00FF00"/>
                </a:highlight>
              </a:rPr>
              <a:t>Nende</a:t>
            </a:r>
            <a:r>
              <a:rPr lang="en-GB" sz="2400" dirty="0">
                <a:highlight>
                  <a:srgbClr val="00FF00"/>
                </a:highlight>
              </a:rPr>
              <a:t> </a:t>
            </a:r>
            <a:r>
              <a:rPr lang="en-GB" sz="2400" dirty="0" err="1">
                <a:highlight>
                  <a:srgbClr val="00FF00"/>
                </a:highlight>
              </a:rPr>
              <a:t>väljakutsed</a:t>
            </a:r>
            <a:endParaRPr lang="en-GB" sz="2400" dirty="0">
              <a:highlight>
                <a:srgbClr val="00FF00"/>
              </a:highlight>
            </a:endParaRPr>
          </a:p>
          <a:p>
            <a:pPr lvl="2"/>
            <a:r>
              <a:rPr lang="en-GB" sz="2400" dirty="0">
                <a:solidFill>
                  <a:srgbClr val="FF0000"/>
                </a:solidFill>
                <a:highlight>
                  <a:srgbClr val="00FF00"/>
                </a:highlight>
              </a:rPr>
              <a:t>Milline </a:t>
            </a:r>
            <a:r>
              <a:rPr lang="en-GB" sz="2400" dirty="0" err="1">
                <a:solidFill>
                  <a:srgbClr val="FF0000"/>
                </a:solidFill>
                <a:highlight>
                  <a:srgbClr val="00FF00"/>
                </a:highlight>
              </a:rPr>
              <a:t>etapp</a:t>
            </a:r>
            <a:r>
              <a:rPr lang="en-GB" sz="2400" dirty="0">
                <a:solidFill>
                  <a:srgbClr val="FF0000"/>
                </a:solidFill>
                <a:highlight>
                  <a:srgbClr val="00FF00"/>
                </a:highlight>
              </a:rPr>
              <a:t> roll </a:t>
            </a:r>
            <a:r>
              <a:rPr lang="en-GB" sz="2400" dirty="0" err="1">
                <a:solidFill>
                  <a:srgbClr val="FF0000"/>
                </a:solidFill>
                <a:highlight>
                  <a:srgbClr val="00FF00"/>
                </a:highlight>
              </a:rPr>
              <a:t>sulle</a:t>
            </a:r>
            <a:r>
              <a:rPr lang="en-GB" sz="2400" dirty="0">
                <a:solidFill>
                  <a:srgbClr val="FF0000"/>
                </a:solidFill>
                <a:highlight>
                  <a:srgbClr val="00FF00"/>
                </a:highlight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00FF00"/>
                </a:highlight>
              </a:rPr>
              <a:t>sobiks</a:t>
            </a:r>
            <a:r>
              <a:rPr lang="en-GB" sz="2400" dirty="0">
                <a:solidFill>
                  <a:srgbClr val="FF0000"/>
                </a:solidFill>
                <a:highlight>
                  <a:srgbClr val="00FF00"/>
                </a:highlight>
              </a:rPr>
              <a:t>, </a:t>
            </a:r>
            <a:r>
              <a:rPr lang="en-GB" sz="2400" dirty="0" err="1">
                <a:solidFill>
                  <a:srgbClr val="FF0000"/>
                </a:solidFill>
                <a:highlight>
                  <a:srgbClr val="00FF00"/>
                </a:highlight>
              </a:rPr>
              <a:t>miks</a:t>
            </a:r>
            <a:r>
              <a:rPr lang="en-GB" sz="2400" dirty="0">
                <a:solidFill>
                  <a:srgbClr val="FF0000"/>
                </a:solidFill>
                <a:highlight>
                  <a:srgbClr val="00FF00"/>
                </a:highlight>
              </a:rPr>
              <a:t> ; mis </a:t>
            </a:r>
            <a:r>
              <a:rPr lang="en-GB" sz="2400" dirty="0" err="1">
                <a:solidFill>
                  <a:srgbClr val="FF0000"/>
                </a:solidFill>
                <a:highlight>
                  <a:srgbClr val="00FF00"/>
                </a:highlight>
              </a:rPr>
              <a:t>tundub</a:t>
            </a:r>
            <a:r>
              <a:rPr lang="en-GB" sz="2400" dirty="0">
                <a:solidFill>
                  <a:srgbClr val="FF0000"/>
                </a:solidFill>
                <a:highlight>
                  <a:srgbClr val="00FF00"/>
                </a:highlight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00FF00"/>
                </a:highlight>
              </a:rPr>
              <a:t>väga</a:t>
            </a:r>
            <a:r>
              <a:rPr lang="en-GB" sz="2400" dirty="0">
                <a:solidFill>
                  <a:srgbClr val="FF0000"/>
                </a:solidFill>
                <a:highlight>
                  <a:srgbClr val="00FF00"/>
                </a:highlight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00FF00"/>
                </a:highlight>
              </a:rPr>
              <a:t>segane</a:t>
            </a:r>
            <a:endParaRPr lang="en-GB" sz="2400" dirty="0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GB" sz="2400" b="1" dirty="0" err="1"/>
              <a:t>Esitlus</a:t>
            </a:r>
            <a:r>
              <a:rPr lang="en-GB" sz="2400" dirty="0"/>
              <a:t> </a:t>
            </a:r>
            <a:r>
              <a:rPr lang="en-GB" sz="2400" dirty="0" err="1"/>
              <a:t>igalt</a:t>
            </a:r>
            <a:r>
              <a:rPr lang="en-GB" sz="2400" dirty="0"/>
              <a:t> </a:t>
            </a:r>
            <a:r>
              <a:rPr lang="en-GB" sz="2400" dirty="0" err="1"/>
              <a:t>grupilt</a:t>
            </a:r>
            <a:r>
              <a:rPr lang="en-GB" sz="2400" dirty="0"/>
              <a:t>, </a:t>
            </a:r>
            <a:r>
              <a:rPr lang="en-GB" sz="2400" dirty="0" err="1"/>
              <a:t>kokku</a:t>
            </a:r>
            <a:r>
              <a:rPr lang="en-GB" sz="2400" dirty="0"/>
              <a:t> </a:t>
            </a:r>
            <a:r>
              <a:rPr lang="en-GB" sz="2400" dirty="0" err="1"/>
              <a:t>kõik</a:t>
            </a:r>
            <a:r>
              <a:rPr lang="en-GB" sz="2400" dirty="0"/>
              <a:t> </a:t>
            </a:r>
            <a:r>
              <a:rPr lang="en-GB" sz="2400" dirty="0" err="1"/>
              <a:t>grupid</a:t>
            </a:r>
            <a:r>
              <a:rPr lang="en-GB" sz="2400" dirty="0"/>
              <a:t> 45 min</a:t>
            </a:r>
          </a:p>
        </p:txBody>
      </p:sp>
    </p:spTree>
    <p:extLst>
      <p:ext uri="{BB962C8B-B14F-4D97-AF65-F5344CB8AC3E}">
        <p14:creationId xmlns:p14="http://schemas.microsoft.com/office/powerpoint/2010/main" val="1573128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5F75-FC9C-EF8C-50B5-8243CA94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DA6FB-6CD2-65BA-09C4-FCC6EF0AF8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4C20F-523D-8335-2938-F35D9E570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161051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BAAE-D5E8-07A0-2DA7-4591A75F7B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dirty="0"/>
              <a:t>Soovituslikud materjalid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AAA36-50E7-94BE-049E-85EBF6FB02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t-EE" dirty="0"/>
              <a:t>Power BI Microsoft Learn koolitus </a:t>
            </a:r>
            <a:br>
              <a:rPr lang="et-EE" dirty="0"/>
            </a:br>
            <a:r>
              <a:rPr lang="et-EE" dirty="0">
                <a:hlinkClick r:id="rId2"/>
              </a:rPr>
              <a:t>https://learn.microsoft.com/en-us/credentials/certifications/data-analyst-associate/?practice-assessment-type=certification</a:t>
            </a:r>
            <a:br>
              <a:rPr lang="et-EE" dirty="0"/>
            </a:br>
            <a:br>
              <a:rPr lang="et-EE" dirty="0"/>
            </a:br>
            <a:br>
              <a:rPr lang="et-EE" dirty="0"/>
            </a:br>
            <a:endParaRPr lang="et-EE" dirty="0"/>
          </a:p>
          <a:p>
            <a:r>
              <a:rPr lang="et-EE" dirty="0"/>
              <a:t>Raamat The Data Warehouse Toolkit, Ralph Kimball</a:t>
            </a:r>
            <a:br>
              <a:rPr lang="et-EE" dirty="0"/>
            </a:br>
            <a:r>
              <a:rPr lang="et-EE" b="1" dirty="0"/>
              <a:t>„The Data Warehouse Toolkit“</a:t>
            </a:r>
            <a:r>
              <a:rPr lang="et-EE" dirty="0"/>
              <a:t> on Ralph Kimballi kirjutatud andmelao disaini </a:t>
            </a:r>
            <a:br>
              <a:rPr lang="et-EE" dirty="0"/>
            </a:br>
            <a:r>
              <a:rPr lang="et-EE" dirty="0"/>
              <a:t>käsiraamat, mida peetakse dimensioonilise modelleerimise ja </a:t>
            </a:r>
            <a:br>
              <a:rPr lang="et-EE" dirty="0"/>
            </a:br>
            <a:r>
              <a:rPr lang="et-EE" dirty="0"/>
              <a:t>tähetüüpi skeemi (star schema) ülemaailmseks standardiks. </a:t>
            </a:r>
            <a:br>
              <a:rPr lang="et-EE" dirty="0"/>
            </a:br>
            <a:r>
              <a:rPr lang="et-EE" dirty="0"/>
              <a:t>Raamat õpetab äriprotsesse tõhusalt andmetabeliteks struktureerima, et </a:t>
            </a:r>
            <a:br>
              <a:rPr lang="et-EE" dirty="0"/>
            </a:br>
            <a:r>
              <a:rPr lang="et-EE" dirty="0"/>
              <a:t>tagada infosüsteemides kiire päringute jõudlus ja kasutajasõbralik aruandlus.</a:t>
            </a:r>
          </a:p>
          <a:p>
            <a:endParaRPr lang="et-EE" dirty="0"/>
          </a:p>
          <a:p>
            <a:endParaRPr lang="et-EE" dirty="0"/>
          </a:p>
          <a:p>
            <a:endParaRPr lang="et-EE" dirty="0"/>
          </a:p>
        </p:txBody>
      </p:sp>
      <p:pic>
        <p:nvPicPr>
          <p:cNvPr id="4" name="Picture 3" descr="The Data Warehouse Toolkit, 3rd Edition">
            <a:extLst>
              <a:ext uri="{FF2B5EF4-FFF2-40B4-BE49-F238E27FC236}">
                <a16:creationId xmlns:a16="http://schemas.microsoft.com/office/drawing/2014/main" id="{1A2062F4-0C0B-6A58-7CEC-239EF0EFB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76" y="4793456"/>
            <a:ext cx="1280659" cy="1584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8AE414-8736-3160-6B39-3EF403371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705" y="2059781"/>
            <a:ext cx="3689378" cy="375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80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DA37-FEBA-BC6D-B941-79F801970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Edasi</a:t>
            </a:r>
            <a:r>
              <a:rPr lang="en-GB" dirty="0"/>
              <a:t> </a:t>
            </a:r>
            <a:r>
              <a:rPr lang="en-GB" dirty="0" err="1"/>
              <a:t>koolitus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36D69-2CF2-97B1-9151-17F02F6983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https://www.bcskoolitus.ee/koolitus/power-bi-edasijoudnutele/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47E07-3BB2-8BBD-5F2B-E3FF322E7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30" y="1791240"/>
            <a:ext cx="8402223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83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BFD7-25DF-FE47-6699-72A2E22BEC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67F5-F1BA-CCF4-191C-0FC44270F3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5C43A-8988-3CE6-80D0-769810CA8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1" y="224303"/>
            <a:ext cx="4817110" cy="602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76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E08F4-6812-A753-E4AF-4B9E8A14C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Tagasiside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F76F-69A9-5295-E3E4-2F8ADFE069D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248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BF211-2DCE-D9F9-2179-457B48E71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Lõputööd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00CB4-E528-A606-C7F5-435332E2E0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dirty="0"/>
              <a:t>Google sheets  https://docs.google.com/spreadsheets/d/1Fo_JCYD6QcJonDrOs0N8GbhpR_Cb7ZKq/edit?usp=sharing&amp;ouid=106071594847601158330&amp;rtpof=true&amp;sd=true</a:t>
            </a:r>
          </a:p>
          <a:p>
            <a:pPr lvl="1"/>
            <a:r>
              <a:rPr lang="en-US" sz="1800" dirty="0" err="1"/>
              <a:t>Teemad</a:t>
            </a:r>
            <a:endParaRPr lang="en-US" sz="1800" dirty="0"/>
          </a:p>
          <a:p>
            <a:pPr lvl="1"/>
            <a:r>
              <a:rPr lang="en-US" sz="1800" dirty="0" err="1"/>
              <a:t>Grupid</a:t>
            </a:r>
            <a:endParaRPr lang="en-US" sz="1800" dirty="0"/>
          </a:p>
          <a:p>
            <a:r>
              <a:rPr lang="en-US" sz="1800" dirty="0" err="1"/>
              <a:t>Ajakava</a:t>
            </a:r>
            <a:endParaRPr lang="en-US" sz="1800" dirty="0"/>
          </a:p>
          <a:p>
            <a:pPr lvl="1"/>
            <a:r>
              <a:rPr lang="en-US" sz="1800" b="1" dirty="0" err="1"/>
              <a:t>Tähtaeg</a:t>
            </a:r>
            <a:r>
              <a:rPr lang="en-US" sz="1800" b="1" dirty="0"/>
              <a:t> </a:t>
            </a:r>
            <a:r>
              <a:rPr lang="en-US" sz="1800" b="1" dirty="0" err="1"/>
              <a:t>teema</a:t>
            </a:r>
            <a:r>
              <a:rPr lang="en-US" sz="1800" b="1" dirty="0"/>
              <a:t> </a:t>
            </a:r>
            <a:r>
              <a:rPr lang="en-US" sz="1800" b="1" dirty="0" err="1"/>
              <a:t>valikuks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rgbClr val="FF0000"/>
                </a:solidFill>
              </a:rPr>
              <a:t>18.09 </a:t>
            </a:r>
            <a:r>
              <a:rPr lang="en-US" sz="1800" dirty="0"/>
              <a:t>(</a:t>
            </a:r>
            <a:r>
              <a:rPr lang="en-US" sz="1800" dirty="0" err="1"/>
              <a:t>annan</a:t>
            </a:r>
            <a:r>
              <a:rPr lang="en-US" sz="1800" dirty="0"/>
              <a:t> </a:t>
            </a:r>
            <a:r>
              <a:rPr lang="en-US" sz="1800" dirty="0" err="1"/>
              <a:t>lõppdokumendi</a:t>
            </a:r>
            <a:r>
              <a:rPr lang="en-US" sz="1800" dirty="0"/>
              <a:t> </a:t>
            </a:r>
            <a:r>
              <a:rPr lang="en-US" sz="1800" dirty="0" err="1"/>
              <a:t>vajalikud</a:t>
            </a:r>
            <a:r>
              <a:rPr lang="en-US" sz="1800" dirty="0"/>
              <a:t> </a:t>
            </a:r>
            <a:r>
              <a:rPr lang="en-US" sz="1800" dirty="0" err="1"/>
              <a:t>osad</a:t>
            </a:r>
            <a:r>
              <a:rPr lang="en-US" sz="1800" dirty="0"/>
              <a:t>)</a:t>
            </a:r>
          </a:p>
          <a:p>
            <a:pPr lvl="1"/>
            <a:r>
              <a:rPr lang="en-US" sz="1800" dirty="0" err="1"/>
              <a:t>Töö</a:t>
            </a:r>
            <a:r>
              <a:rPr lang="en-US" sz="1800" dirty="0"/>
              <a:t> </a:t>
            </a:r>
            <a:r>
              <a:rPr lang="en-US" sz="1800" dirty="0" err="1"/>
              <a:t>tegemise</a:t>
            </a:r>
            <a:r>
              <a:rPr lang="en-US" sz="1800" dirty="0"/>
              <a:t> </a:t>
            </a:r>
            <a:r>
              <a:rPr lang="en-US" sz="1800" dirty="0" err="1"/>
              <a:t>periood</a:t>
            </a:r>
            <a:r>
              <a:rPr lang="en-US" sz="1800" dirty="0"/>
              <a:t> 21.09 - 9.10</a:t>
            </a:r>
          </a:p>
          <a:p>
            <a:pPr lvl="2"/>
            <a:r>
              <a:rPr lang="en-US" sz="1800" dirty="0"/>
              <a:t>4. </a:t>
            </a:r>
            <a:r>
              <a:rPr lang="en-US" sz="1800" dirty="0" err="1"/>
              <a:t>nädal</a:t>
            </a:r>
            <a:r>
              <a:rPr lang="en-US" sz="1800" dirty="0"/>
              <a:t> </a:t>
            </a:r>
            <a:r>
              <a:rPr lang="en-US" sz="1800" dirty="0" err="1"/>
              <a:t>intervjuud</a:t>
            </a:r>
            <a:r>
              <a:rPr lang="en-US" sz="1800" dirty="0"/>
              <a:t>, </a:t>
            </a:r>
            <a:r>
              <a:rPr lang="en-US" sz="1800" b="1" dirty="0" err="1"/>
              <a:t>lähteülesanne</a:t>
            </a:r>
            <a:r>
              <a:rPr lang="en-US" sz="1800" b="1" dirty="0"/>
              <a:t> ja </a:t>
            </a:r>
            <a:r>
              <a:rPr lang="en-US" sz="1800" b="1" dirty="0" err="1"/>
              <a:t>plaan</a:t>
            </a:r>
            <a:r>
              <a:rPr lang="en-US" sz="1800" dirty="0"/>
              <a:t>, </a:t>
            </a:r>
            <a:r>
              <a:rPr lang="en-US" sz="1800" dirty="0" err="1"/>
              <a:t>rollide</a:t>
            </a:r>
            <a:r>
              <a:rPr lang="en-US" sz="1800" dirty="0"/>
              <a:t> </a:t>
            </a:r>
            <a:r>
              <a:rPr lang="en-US" sz="1800" dirty="0" err="1"/>
              <a:t>jaotus</a:t>
            </a:r>
            <a:r>
              <a:rPr lang="en-US" sz="1800" dirty="0"/>
              <a:t>, </a:t>
            </a:r>
            <a:r>
              <a:rPr lang="en-US" sz="1800" b="1" dirty="0" err="1"/>
              <a:t>andmete</a:t>
            </a:r>
            <a:r>
              <a:rPr lang="en-US" sz="1800" b="1" dirty="0"/>
              <a:t> </a:t>
            </a:r>
            <a:r>
              <a:rPr lang="en-US" sz="1800" b="1" dirty="0" err="1"/>
              <a:t>hankimine</a:t>
            </a:r>
            <a:r>
              <a:rPr lang="en-US" sz="1800" b="1" dirty="0"/>
              <a:t>, </a:t>
            </a:r>
            <a:r>
              <a:rPr lang="en-US" sz="1800" dirty="0" err="1"/>
              <a:t>algandmete</a:t>
            </a:r>
            <a:r>
              <a:rPr lang="en-US" sz="1800" dirty="0"/>
              <a:t> </a:t>
            </a:r>
            <a:r>
              <a:rPr lang="en-US" sz="1800" dirty="0" err="1"/>
              <a:t>analüüs</a:t>
            </a:r>
            <a:r>
              <a:rPr lang="en-US" sz="1800" dirty="0"/>
              <a:t>: </a:t>
            </a:r>
            <a:r>
              <a:rPr lang="en-US" sz="1800" dirty="0" err="1"/>
              <a:t>võimalikud</a:t>
            </a:r>
            <a:r>
              <a:rPr lang="en-US" sz="1800" dirty="0"/>
              <a:t> </a:t>
            </a:r>
            <a:r>
              <a:rPr lang="en-US" sz="1800" dirty="0" err="1"/>
              <a:t>andmeprobleemid</a:t>
            </a:r>
            <a:endParaRPr lang="en-US" sz="1800" dirty="0"/>
          </a:p>
          <a:p>
            <a:pPr lvl="2"/>
            <a:r>
              <a:rPr lang="en-US" sz="1800" dirty="0"/>
              <a:t>5. </a:t>
            </a:r>
            <a:r>
              <a:rPr lang="en-US" sz="1800" dirty="0" err="1"/>
              <a:t>nädal</a:t>
            </a:r>
            <a:r>
              <a:rPr lang="en-US" sz="1800" dirty="0"/>
              <a:t> </a:t>
            </a:r>
            <a:r>
              <a:rPr lang="en-US" sz="1800" dirty="0" err="1"/>
              <a:t>töö</a:t>
            </a:r>
            <a:r>
              <a:rPr lang="en-US" sz="1800" dirty="0"/>
              <a:t> </a:t>
            </a:r>
            <a:r>
              <a:rPr lang="en-US" sz="1800" dirty="0" err="1"/>
              <a:t>teostamine</a:t>
            </a:r>
            <a:r>
              <a:rPr lang="en-US" sz="1800" dirty="0"/>
              <a:t>: </a:t>
            </a:r>
            <a:r>
              <a:rPr lang="en-US" sz="1800" dirty="0" err="1"/>
              <a:t>andmete</a:t>
            </a:r>
            <a:r>
              <a:rPr lang="en-US" sz="1800" dirty="0"/>
              <a:t> </a:t>
            </a:r>
            <a:r>
              <a:rPr lang="en-US" sz="1800" dirty="0" err="1"/>
              <a:t>töötlemine</a:t>
            </a:r>
            <a:r>
              <a:rPr lang="en-US" sz="1800" dirty="0"/>
              <a:t>, </a:t>
            </a:r>
            <a:r>
              <a:rPr lang="en-US" sz="1800" dirty="0" err="1"/>
              <a:t>visualiseerimine</a:t>
            </a:r>
            <a:endParaRPr lang="en-US" sz="1800" dirty="0"/>
          </a:p>
          <a:p>
            <a:pPr lvl="2"/>
            <a:r>
              <a:rPr lang="en-US" sz="1800" dirty="0"/>
              <a:t>6. </a:t>
            </a:r>
            <a:r>
              <a:rPr lang="en-US" sz="1800" dirty="0" err="1"/>
              <a:t>nädal</a:t>
            </a:r>
            <a:r>
              <a:rPr lang="en-US" sz="1800" dirty="0"/>
              <a:t> </a:t>
            </a:r>
            <a:r>
              <a:rPr lang="en-US" sz="1800" dirty="0" err="1"/>
              <a:t>töö</a:t>
            </a:r>
            <a:r>
              <a:rPr lang="en-US" sz="1800" dirty="0"/>
              <a:t> </a:t>
            </a:r>
            <a:r>
              <a:rPr lang="en-US" sz="1800" dirty="0" err="1"/>
              <a:t>teostamine</a:t>
            </a:r>
            <a:r>
              <a:rPr lang="en-US" sz="1800" dirty="0"/>
              <a:t>: </a:t>
            </a:r>
            <a:r>
              <a:rPr lang="en-US" sz="1800" dirty="0" err="1"/>
              <a:t>töö</a:t>
            </a:r>
            <a:r>
              <a:rPr lang="en-US" sz="1800" dirty="0"/>
              <a:t> </a:t>
            </a:r>
            <a:r>
              <a:rPr lang="en-US" sz="1800" dirty="0" err="1"/>
              <a:t>lõpufaasid</a:t>
            </a:r>
            <a:r>
              <a:rPr lang="en-US" sz="1800" dirty="0"/>
              <a:t>, </a:t>
            </a:r>
            <a:r>
              <a:rPr lang="en-US" sz="1800" dirty="0" err="1"/>
              <a:t>järelduste</a:t>
            </a:r>
            <a:r>
              <a:rPr lang="en-US" sz="1800" dirty="0"/>
              <a:t> </a:t>
            </a:r>
            <a:r>
              <a:rPr lang="en-US" sz="1800" dirty="0" err="1"/>
              <a:t>tegemine</a:t>
            </a:r>
            <a:r>
              <a:rPr lang="en-US" sz="1800" dirty="0"/>
              <a:t>, </a:t>
            </a:r>
            <a:r>
              <a:rPr lang="en-US" sz="1800" dirty="0" err="1"/>
              <a:t>dokumendi</a:t>
            </a:r>
            <a:r>
              <a:rPr lang="en-US" sz="1800" dirty="0"/>
              <a:t> </a:t>
            </a:r>
            <a:r>
              <a:rPr lang="en-US" sz="1800" dirty="0" err="1"/>
              <a:t>vormistamine</a:t>
            </a:r>
            <a:r>
              <a:rPr lang="en-US" sz="1800" dirty="0"/>
              <a:t>, </a:t>
            </a:r>
            <a:r>
              <a:rPr lang="en-US" sz="1800" dirty="0" err="1"/>
              <a:t>esitluseks</a:t>
            </a:r>
            <a:r>
              <a:rPr lang="en-US" sz="1800" dirty="0"/>
              <a:t> </a:t>
            </a:r>
            <a:r>
              <a:rPr lang="en-US" sz="1800" dirty="0" err="1"/>
              <a:t>ettevalmistumine</a:t>
            </a:r>
            <a:r>
              <a:rPr lang="en-US" sz="1800" dirty="0"/>
              <a:t> (</a:t>
            </a:r>
            <a:r>
              <a:rPr lang="en-US" sz="1800" dirty="0" err="1"/>
              <a:t>anname</a:t>
            </a:r>
            <a:r>
              <a:rPr lang="en-US" sz="1800" dirty="0"/>
              <a:t> </a:t>
            </a:r>
            <a:r>
              <a:rPr lang="en-US" sz="1800" dirty="0" err="1"/>
              <a:t>ette</a:t>
            </a:r>
            <a:r>
              <a:rPr lang="en-US" sz="1800" dirty="0"/>
              <a:t> </a:t>
            </a:r>
            <a:r>
              <a:rPr lang="en-US" sz="1800" dirty="0" err="1"/>
              <a:t>põhipunktid</a:t>
            </a:r>
            <a:r>
              <a:rPr lang="en-US" sz="1800" dirty="0"/>
              <a:t>)</a:t>
            </a:r>
          </a:p>
          <a:p>
            <a:pPr lvl="3"/>
            <a:r>
              <a:rPr lang="en-US" sz="1800" b="1" dirty="0"/>
              <a:t>9.10 13:00 </a:t>
            </a:r>
            <a:r>
              <a:rPr lang="en-US" sz="1800" b="1" dirty="0" err="1"/>
              <a:t>kaitsmine</a:t>
            </a:r>
            <a:endParaRPr lang="en-US" sz="1800" b="1" dirty="0"/>
          </a:p>
          <a:p>
            <a:pPr lvl="1"/>
            <a:r>
              <a:rPr lang="en-US" sz="1800" dirty="0"/>
              <a:t>Iga </a:t>
            </a:r>
            <a:r>
              <a:rPr lang="en-US" sz="1800" dirty="0" err="1"/>
              <a:t>nädala</a:t>
            </a:r>
            <a:r>
              <a:rPr lang="en-US" sz="1800" dirty="0"/>
              <a:t> </a:t>
            </a:r>
            <a:r>
              <a:rPr lang="en-US" sz="1800" dirty="0" err="1"/>
              <a:t>lõpus</a:t>
            </a:r>
            <a:r>
              <a:rPr lang="en-US" sz="1800" dirty="0"/>
              <a:t> </a:t>
            </a:r>
            <a:r>
              <a:rPr lang="en-US" sz="1800" dirty="0" err="1"/>
              <a:t>tehtud</a:t>
            </a:r>
            <a:r>
              <a:rPr lang="en-US" sz="1800" dirty="0"/>
              <a:t> </a:t>
            </a:r>
            <a:r>
              <a:rPr lang="en-US" sz="1800" dirty="0" err="1"/>
              <a:t>vaheetappide</a:t>
            </a:r>
            <a:r>
              <a:rPr lang="en-US" sz="1800" dirty="0"/>
              <a:t> </a:t>
            </a:r>
            <a:r>
              <a:rPr lang="en-US" sz="1800" dirty="0" err="1"/>
              <a:t>esitamine</a:t>
            </a:r>
            <a:endParaRPr lang="en-US" sz="1800" dirty="0"/>
          </a:p>
          <a:p>
            <a:pPr lvl="1"/>
            <a:r>
              <a:rPr lang="en-US" sz="1800" dirty="0" err="1"/>
              <a:t>Igaks</a:t>
            </a:r>
            <a:r>
              <a:rPr lang="en-US" sz="1800" dirty="0"/>
              <a:t> </a:t>
            </a:r>
            <a:r>
              <a:rPr lang="en-US" sz="1800" dirty="0" err="1"/>
              <a:t>nädalaks</a:t>
            </a:r>
            <a:r>
              <a:rPr lang="en-US" sz="1800" dirty="0"/>
              <a:t> </a:t>
            </a:r>
            <a:r>
              <a:rPr lang="en-US" sz="1800" dirty="0" err="1"/>
              <a:t>leppige</a:t>
            </a:r>
            <a:r>
              <a:rPr lang="en-US" sz="1800" dirty="0"/>
              <a:t> </a:t>
            </a:r>
            <a:r>
              <a:rPr lang="en-US" sz="1800" dirty="0" err="1"/>
              <a:t>kokku</a:t>
            </a:r>
            <a:r>
              <a:rPr lang="en-US" sz="1800" dirty="0"/>
              <a:t> </a:t>
            </a:r>
            <a:r>
              <a:rPr lang="en-US" sz="1800" dirty="0" err="1"/>
              <a:t>spetsiaalne</a:t>
            </a:r>
            <a:r>
              <a:rPr lang="en-US" sz="1800" dirty="0"/>
              <a:t> </a:t>
            </a:r>
            <a:r>
              <a:rPr lang="en-US" sz="1800" dirty="0" err="1"/>
              <a:t>aeg</a:t>
            </a:r>
            <a:r>
              <a:rPr lang="en-US" sz="1800" dirty="0"/>
              <a:t> </a:t>
            </a:r>
            <a:r>
              <a:rPr lang="en-US" sz="1800" dirty="0" err="1"/>
              <a:t>igale</a:t>
            </a:r>
            <a:r>
              <a:rPr lang="en-US" sz="1800" dirty="0"/>
              <a:t> </a:t>
            </a:r>
            <a:r>
              <a:rPr lang="en-US" sz="1800" dirty="0" err="1"/>
              <a:t>grupile</a:t>
            </a:r>
            <a:endParaRPr lang="en-US" sz="1800" dirty="0"/>
          </a:p>
          <a:p>
            <a:endParaRPr lang="en-US" sz="1800" dirty="0"/>
          </a:p>
          <a:p>
            <a:pPr lvl="1"/>
            <a:endParaRPr lang="et-EE" sz="1800" dirty="0"/>
          </a:p>
        </p:txBody>
      </p:sp>
    </p:spTree>
    <p:extLst>
      <p:ext uri="{BB962C8B-B14F-4D97-AF65-F5344CB8AC3E}">
        <p14:creationId xmlns:p14="http://schemas.microsoft.com/office/powerpoint/2010/main" val="3478977142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2242</TotalTime>
  <Words>867</Words>
  <Application>Microsoft Office PowerPoint</Application>
  <PresentationFormat>Widescreen</PresentationFormat>
  <Paragraphs>113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Poppins SemiBold</vt:lpstr>
      <vt:lpstr>Arial</vt:lpstr>
      <vt:lpstr>Inter Bold</vt:lpstr>
      <vt:lpstr>Calibri</vt:lpstr>
      <vt:lpstr>Consolas</vt:lpstr>
      <vt:lpstr>Inter</vt:lpstr>
      <vt:lpstr>BCS</vt:lpstr>
      <vt:lpstr>Vali Andmetarkus!</vt:lpstr>
      <vt:lpstr>Päevakava - V päev</vt:lpstr>
      <vt:lpstr>Liikumisaktiivsuse aruanne</vt:lpstr>
      <vt:lpstr>Harjutus 2 Avaandmete kasutamine raportis: json formaadis töötlemine </vt:lpstr>
      <vt:lpstr>Import</vt:lpstr>
      <vt:lpstr>Andmete avamine jsonist</vt:lpstr>
      <vt:lpstr>Valitavad veerud</vt:lpstr>
      <vt:lpstr>Parent org leidmine</vt:lpstr>
      <vt:lpstr>Mudel</vt:lpstr>
      <vt:lpstr>Kestuse grupp: loo tabelid ja tee seosed</vt:lpstr>
      <vt:lpstr>Paus 10:30-10:45</vt:lpstr>
      <vt:lpstr>Liikumisaktiivsuse raport</vt:lpstr>
      <vt:lpstr>Lõunapaus 12:15-13:15</vt:lpstr>
      <vt:lpstr>Grupitöö: õpitud teemade kokkuvõte </vt:lpstr>
      <vt:lpstr>Paus 14:45-15:00</vt:lpstr>
      <vt:lpstr>Soovituslikud materjalid</vt:lpstr>
      <vt:lpstr>Edasi koolitus</vt:lpstr>
      <vt:lpstr>PowerPoint Presentation</vt:lpstr>
      <vt:lpstr>Tagasiside</vt:lpstr>
      <vt:lpstr>Lõputööd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17</cp:revision>
  <dcterms:created xsi:type="dcterms:W3CDTF">2021-08-27T11:35:28Z</dcterms:created>
  <dcterms:modified xsi:type="dcterms:W3CDTF">2026-09-04T14:36:14Z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