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479" r:id="rId2"/>
    <p:sldId id="256" r:id="rId3"/>
    <p:sldId id="266" r:id="rId4"/>
    <p:sldId id="480" r:id="rId5"/>
    <p:sldId id="258" r:id="rId6"/>
    <p:sldId id="263" r:id="rId7"/>
    <p:sldId id="264" r:id="rId8"/>
    <p:sldId id="488" r:id="rId9"/>
    <p:sldId id="482" r:id="rId10"/>
    <p:sldId id="484" r:id="rId11"/>
    <p:sldId id="485" r:id="rId12"/>
    <p:sldId id="486" r:id="rId13"/>
    <p:sldId id="487" r:id="rId14"/>
    <p:sldId id="489" r:id="rId15"/>
    <p:sldId id="490" r:id="rId16"/>
    <p:sldId id="49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47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2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e Abel" userId="20dec598-1860-40de-ab3f-181316cc4da6" providerId="ADAL" clId="{3EAE1975-14BE-41D5-9E3B-28573F0EE5DC}"/>
    <pc:docChg chg="custSel modSld">
      <pc:chgData name="Emilie Abel" userId="20dec598-1860-40de-ab3f-181316cc4da6" providerId="ADAL" clId="{3EAE1975-14BE-41D5-9E3B-28573F0EE5DC}" dt="2026-09-16T12:58:44.010" v="42" actId="20577"/>
      <pc:docMkLst>
        <pc:docMk/>
      </pc:docMkLst>
      <pc:sldChg chg="delSp mod">
        <pc:chgData name="Emilie Abel" userId="20dec598-1860-40de-ab3f-181316cc4da6" providerId="ADAL" clId="{3EAE1975-14BE-41D5-9E3B-28573F0EE5DC}" dt="2026-09-16T12:58:00.055" v="0" actId="478"/>
        <pc:sldMkLst>
          <pc:docMk/>
          <pc:sldMk cId="0" sldId="256"/>
        </pc:sldMkLst>
        <pc:spChg chg="del">
          <ac:chgData name="Emilie Abel" userId="20dec598-1860-40de-ab3f-181316cc4da6" providerId="ADAL" clId="{3EAE1975-14BE-41D5-9E3B-28573F0EE5DC}" dt="2026-09-16T12:58:00.055" v="0" actId="478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16T12:58:44.010" v="42" actId="20577"/>
        <pc:sldMkLst>
          <pc:docMk/>
          <pc:sldMk cId="0" sldId="257"/>
        </pc:sldMkLst>
        <pc:spChg chg="mod">
          <ac:chgData name="Emilie Abel" userId="20dec598-1860-40de-ab3f-181316cc4da6" providerId="ADAL" clId="{3EAE1975-14BE-41D5-9E3B-28573F0EE5DC}" dt="2026-09-16T12:58:44.010" v="42" actId="20577"/>
          <ac:spMkLst>
            <pc:docMk/>
            <pc:sldMk cId="0" sldId="25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E941F6-9D8D-4A15-9C93-1C66F398C183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FAF33-D0D0-4735-9A99-E737B02B0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237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) on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tarkvara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dokumentide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muude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failide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muudatuste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süstemaatiline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haldamine</a:t>
            </a:r>
            <a:r>
              <a:rPr lang="en-GB" dirty="0"/>
              <a:t>. See </a:t>
            </a:r>
            <a:r>
              <a:rPr lang="en-GB" dirty="0" err="1"/>
              <a:t>võimaldab</a:t>
            </a:r>
            <a:r>
              <a:rPr lang="en-GB" dirty="0"/>
              <a:t> </a:t>
            </a:r>
            <a:r>
              <a:rPr lang="en-GB" dirty="0" err="1"/>
              <a:t>jälgida</a:t>
            </a:r>
            <a:r>
              <a:rPr lang="en-GB" dirty="0"/>
              <a:t> </a:t>
            </a:r>
            <a:r>
              <a:rPr lang="en-GB" dirty="0" err="1"/>
              <a:t>failide</a:t>
            </a:r>
            <a:r>
              <a:rPr lang="en-GB" dirty="0"/>
              <a:t> </a:t>
            </a:r>
            <a:r>
              <a:rPr lang="en-GB" dirty="0" err="1"/>
              <a:t>ajalugu</a:t>
            </a:r>
            <a:r>
              <a:rPr lang="en-GB" dirty="0"/>
              <a:t>, </a:t>
            </a:r>
            <a:r>
              <a:rPr lang="en-GB" dirty="0" err="1"/>
              <a:t>vaadata</a:t>
            </a:r>
            <a:r>
              <a:rPr lang="en-GB" dirty="0"/>
              <a:t> </a:t>
            </a:r>
            <a:r>
              <a:rPr lang="en-GB" dirty="0" err="1"/>
              <a:t>tehtud</a:t>
            </a:r>
            <a:r>
              <a:rPr lang="en-GB" dirty="0"/>
              <a:t> </a:t>
            </a:r>
            <a:r>
              <a:rPr lang="en-GB" dirty="0" err="1"/>
              <a:t>muudatusi</a:t>
            </a:r>
            <a:r>
              <a:rPr lang="en-GB" dirty="0"/>
              <a:t>, </a:t>
            </a:r>
            <a:r>
              <a:rPr lang="en-GB" dirty="0" err="1"/>
              <a:t>vajadusel</a:t>
            </a:r>
            <a:r>
              <a:rPr lang="en-GB" dirty="0"/>
              <a:t> </a:t>
            </a:r>
            <a:r>
              <a:rPr lang="en-GB" dirty="0" err="1"/>
              <a:t>naasta</a:t>
            </a:r>
            <a:r>
              <a:rPr lang="en-GB" dirty="0"/>
              <a:t> </a:t>
            </a:r>
            <a:r>
              <a:rPr lang="en-GB" dirty="0" err="1"/>
              <a:t>vanade</a:t>
            </a:r>
            <a:r>
              <a:rPr lang="en-GB" dirty="0"/>
              <a:t> </a:t>
            </a:r>
            <a:r>
              <a:rPr lang="en-GB" dirty="0" err="1"/>
              <a:t>versioonide</a:t>
            </a:r>
            <a:r>
              <a:rPr lang="en-GB" dirty="0"/>
              <a:t> </a:t>
            </a:r>
            <a:r>
              <a:rPr lang="en-GB" dirty="0" err="1"/>
              <a:t>juurde</a:t>
            </a:r>
            <a:r>
              <a:rPr lang="en-GB" dirty="0"/>
              <a:t> </a:t>
            </a:r>
            <a:r>
              <a:rPr lang="en-GB" dirty="0" err="1"/>
              <a:t>ning</a:t>
            </a:r>
            <a:r>
              <a:rPr lang="en-GB" dirty="0"/>
              <a:t> </a:t>
            </a:r>
            <a:r>
              <a:rPr lang="en-GB" dirty="0" err="1"/>
              <a:t>teha</a:t>
            </a:r>
            <a:r>
              <a:rPr lang="en-GB" dirty="0"/>
              <a:t> </a:t>
            </a:r>
            <a:r>
              <a:rPr lang="en-GB" dirty="0" err="1"/>
              <a:t>sujuvalt</a:t>
            </a:r>
            <a:r>
              <a:rPr lang="en-GB" dirty="0"/>
              <a:t> </a:t>
            </a:r>
            <a:r>
              <a:rPr lang="en-GB" dirty="0" err="1"/>
              <a:t>koostööd</a:t>
            </a:r>
            <a:r>
              <a:rPr lang="en-GB" dirty="0"/>
              <a:t> </a:t>
            </a:r>
            <a:r>
              <a:rPr lang="en-GB" dirty="0" err="1"/>
              <a:t>teiste</a:t>
            </a:r>
            <a:r>
              <a:rPr lang="en-GB" dirty="0"/>
              <a:t> </a:t>
            </a:r>
            <a:r>
              <a:rPr lang="en-GB" dirty="0" err="1"/>
              <a:t>arendajate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autoritega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FAF33-D0D0-4735-9A99-E737B02B0BD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292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B0FC-D3C9-19BF-D8AB-DB4934E6D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4D2A2-6988-5012-2FED-9164F521E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FCF1B-A8E5-3E68-0FBC-D69A30ECC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) on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tarkvara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dokumentide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muude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failide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muudatuste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süstemaatiline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haldamine</a:t>
            </a:r>
            <a:r>
              <a:rPr lang="en-GB" dirty="0"/>
              <a:t>. See </a:t>
            </a:r>
            <a:r>
              <a:rPr lang="en-GB" dirty="0" err="1"/>
              <a:t>võimaldab</a:t>
            </a:r>
            <a:r>
              <a:rPr lang="en-GB" dirty="0"/>
              <a:t> </a:t>
            </a:r>
            <a:r>
              <a:rPr lang="en-GB" dirty="0" err="1"/>
              <a:t>jälgida</a:t>
            </a:r>
            <a:r>
              <a:rPr lang="en-GB" dirty="0"/>
              <a:t> </a:t>
            </a:r>
            <a:r>
              <a:rPr lang="en-GB" dirty="0" err="1"/>
              <a:t>failide</a:t>
            </a:r>
            <a:r>
              <a:rPr lang="en-GB" dirty="0"/>
              <a:t> </a:t>
            </a:r>
            <a:r>
              <a:rPr lang="en-GB" dirty="0" err="1"/>
              <a:t>ajalugu</a:t>
            </a:r>
            <a:r>
              <a:rPr lang="en-GB" dirty="0"/>
              <a:t>, </a:t>
            </a:r>
            <a:r>
              <a:rPr lang="en-GB" dirty="0" err="1"/>
              <a:t>vaadata</a:t>
            </a:r>
            <a:r>
              <a:rPr lang="en-GB" dirty="0"/>
              <a:t> </a:t>
            </a:r>
            <a:r>
              <a:rPr lang="en-GB" dirty="0" err="1"/>
              <a:t>tehtud</a:t>
            </a:r>
            <a:r>
              <a:rPr lang="en-GB" dirty="0"/>
              <a:t> </a:t>
            </a:r>
            <a:r>
              <a:rPr lang="en-GB" dirty="0" err="1"/>
              <a:t>muudatusi</a:t>
            </a:r>
            <a:r>
              <a:rPr lang="en-GB" dirty="0"/>
              <a:t>, </a:t>
            </a:r>
            <a:r>
              <a:rPr lang="en-GB" dirty="0" err="1"/>
              <a:t>vajadusel</a:t>
            </a:r>
            <a:r>
              <a:rPr lang="en-GB" dirty="0"/>
              <a:t> </a:t>
            </a:r>
            <a:r>
              <a:rPr lang="en-GB" dirty="0" err="1"/>
              <a:t>naasta</a:t>
            </a:r>
            <a:r>
              <a:rPr lang="en-GB" dirty="0"/>
              <a:t> </a:t>
            </a:r>
            <a:r>
              <a:rPr lang="en-GB" dirty="0" err="1"/>
              <a:t>vanade</a:t>
            </a:r>
            <a:r>
              <a:rPr lang="en-GB" dirty="0"/>
              <a:t> </a:t>
            </a:r>
            <a:r>
              <a:rPr lang="en-GB" dirty="0" err="1"/>
              <a:t>versioonide</a:t>
            </a:r>
            <a:r>
              <a:rPr lang="en-GB" dirty="0"/>
              <a:t> </a:t>
            </a:r>
            <a:r>
              <a:rPr lang="en-GB" dirty="0" err="1"/>
              <a:t>juurde</a:t>
            </a:r>
            <a:r>
              <a:rPr lang="en-GB" dirty="0"/>
              <a:t> </a:t>
            </a:r>
            <a:r>
              <a:rPr lang="en-GB" dirty="0" err="1"/>
              <a:t>ning</a:t>
            </a:r>
            <a:r>
              <a:rPr lang="en-GB" dirty="0"/>
              <a:t> </a:t>
            </a:r>
            <a:r>
              <a:rPr lang="en-GB" dirty="0" err="1"/>
              <a:t>teha</a:t>
            </a:r>
            <a:r>
              <a:rPr lang="en-GB" dirty="0"/>
              <a:t> </a:t>
            </a:r>
            <a:r>
              <a:rPr lang="en-GB" dirty="0" err="1"/>
              <a:t>sujuvalt</a:t>
            </a:r>
            <a:r>
              <a:rPr lang="en-GB" dirty="0"/>
              <a:t> </a:t>
            </a:r>
            <a:r>
              <a:rPr lang="en-GB" dirty="0" err="1"/>
              <a:t>koostööd</a:t>
            </a:r>
            <a:r>
              <a:rPr lang="en-GB" dirty="0"/>
              <a:t> </a:t>
            </a:r>
            <a:r>
              <a:rPr lang="en-GB" dirty="0" err="1"/>
              <a:t>teiste</a:t>
            </a:r>
            <a:r>
              <a:rPr lang="en-GB" dirty="0"/>
              <a:t> </a:t>
            </a:r>
            <a:r>
              <a:rPr lang="en-GB" dirty="0" err="1"/>
              <a:t>arendajate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autoritega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EE382-6871-1862-F127-8D632E864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FAF33-D0D0-4735-9A99-E737B02B0BD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141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558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5A53-B372-F3BA-80CE-868B25C5113D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81B92-BF94-BC0B-F543-759BA3C8D70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7A7CB9-AAA9-42AA-3B54-1CE2E4B4848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F1B44DF-2388-62C9-4D10-906C6024D94A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hyperlink" Target="https://desktop.github.com/download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2D32-F63A-E758-B4AD-98B1A2FF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E7A2D-F34A-AFF4-F094-9247F2654D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sz="3600" b="1" noProof="0" dirty="0">
                <a:ea typeface="+mj-lt"/>
                <a:cs typeface="+mj-lt"/>
              </a:rPr>
              <a:t>Päevakava - XV päev</a:t>
            </a:r>
            <a:endParaRPr lang="et-EE" noProof="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5E32B2B-E742-662F-CC36-DC7E268CAC3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025807901"/>
              </p:ext>
            </p:extLst>
          </p:nvPr>
        </p:nvGraphicFramePr>
        <p:xfrm>
          <a:off x="623888" y="1268413"/>
          <a:ext cx="11021261" cy="470849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021261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LÕUNALE –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mitu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inimest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tuleb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?</a:t>
                      </a:r>
                    </a:p>
                    <a:p>
                      <a:pPr marL="0" lvl="0" indent="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None/>
                      </a:pPr>
                      <a:endParaRPr lang="en-GB" sz="2400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</a:t>
                      </a: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10:30 –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Esineja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Priit Tamme / Delfi</a:t>
                      </a:r>
                      <a:endParaRPr lang="et-EE" sz="2400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Koolitus – </a:t>
                      </a:r>
                      <a:r>
                        <a:rPr lang="en-GB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Versioonihaldus</a:t>
                      </a:r>
                      <a:r>
                        <a:rPr lang="en-GB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ja</a:t>
                      </a:r>
                      <a:r>
                        <a:rPr lang="en-GB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harjutus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t-EE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 </a:t>
                      </a:r>
                      <a:endParaRPr lang="et-EE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Esineja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TEHIK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Tagasiside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ja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lõputööde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arutelu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: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teemade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valik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,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konsul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.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aegade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bron</a:t>
                      </a:r>
                      <a:endParaRPr lang="et-EE" sz="2400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234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49526"/>
                </a:solidFill>
                <a:latin typeface="Calibri"/>
              </a:rPr>
              <a:t>Andmetarkus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3600" b="1" dirty="0">
                <a:solidFill>
                  <a:srgbClr val="FFFFFF"/>
                </a:solidFill>
                <a:latin typeface="Calibri"/>
              </a:rPr>
              <a:t>VERSIOONIHALDUS</a:t>
            </a:r>
            <a:endParaRPr sz="3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2C41E-6724-6CAB-2075-337292EF0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AF4CED-56C1-8851-3284-B8C3A1EC385F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31CA1E-71A6-7F93-77DA-AF8FC0BFA0BF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CBA85-C0D8-E4D0-733C-1331BB1C6DF6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Calibri"/>
              </a:rPr>
              <a:t>VERSIOONIHALDUS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1375A5-8C11-D300-57F3-2FAC76E93734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6AB92-6E07-0B19-2A31-5A089A021F54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7DA17-D84D-AEC0-F489-BE156667EC7D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17C4E8F-EA49-F4CA-0DF5-FECD6DAEFBB3}"/>
              </a:ext>
            </a:extLst>
          </p:cNvPr>
          <p:cNvSpPr/>
          <p:nvPr/>
        </p:nvSpPr>
        <p:spPr>
          <a:xfrm>
            <a:off x="365760" y="1170432"/>
            <a:ext cx="114300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20B9C8-E0D9-ED2D-B3C6-FA4454DAD815}"/>
              </a:ext>
            </a:extLst>
          </p:cNvPr>
          <p:cNvSpPr/>
          <p:nvPr/>
        </p:nvSpPr>
        <p:spPr>
          <a:xfrm>
            <a:off x="365760" y="1170432"/>
            <a:ext cx="109728" cy="12070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AA27C1-57AA-8291-12A4-0291F2274254}"/>
              </a:ext>
            </a:extLst>
          </p:cNvPr>
          <p:cNvSpPr txBox="1"/>
          <p:nvPr/>
        </p:nvSpPr>
        <p:spPr>
          <a:xfrm>
            <a:off x="685800" y="1569309"/>
            <a:ext cx="2377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b="1" dirty="0" err="1"/>
              <a:t>Versioonihaldus</a:t>
            </a:r>
            <a:endParaRPr sz="20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047E6-5884-04A5-7D49-963ED634694C}"/>
              </a:ext>
            </a:extLst>
          </p:cNvPr>
          <p:cNvSpPr txBox="1"/>
          <p:nvPr/>
        </p:nvSpPr>
        <p:spPr>
          <a:xfrm>
            <a:off x="3200400" y="1476977"/>
            <a:ext cx="832104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dirty="0" err="1"/>
              <a:t>Tarkvara</a:t>
            </a:r>
            <a:r>
              <a:rPr lang="en-GB" sz="1600" dirty="0"/>
              <a:t>, </a:t>
            </a:r>
            <a:r>
              <a:rPr lang="en-GB" sz="1600" dirty="0" err="1"/>
              <a:t>dokumentide</a:t>
            </a:r>
            <a:r>
              <a:rPr lang="en-GB" sz="1600" dirty="0"/>
              <a:t> </a:t>
            </a:r>
            <a:r>
              <a:rPr lang="en-GB" sz="1600" dirty="0" err="1"/>
              <a:t>ja</a:t>
            </a:r>
            <a:r>
              <a:rPr lang="en-GB" sz="1600" dirty="0"/>
              <a:t> </a:t>
            </a:r>
            <a:r>
              <a:rPr lang="en-GB" sz="1600" dirty="0" err="1"/>
              <a:t>muude</a:t>
            </a:r>
            <a:r>
              <a:rPr lang="en-GB" sz="1600" dirty="0"/>
              <a:t> </a:t>
            </a:r>
            <a:r>
              <a:rPr lang="en-GB" sz="1600" dirty="0" err="1"/>
              <a:t>failide</a:t>
            </a:r>
            <a:r>
              <a:rPr lang="en-GB" sz="1600" dirty="0"/>
              <a:t> </a:t>
            </a:r>
            <a:r>
              <a:rPr lang="en-GB" sz="1600" b="1" dirty="0" err="1"/>
              <a:t>muudatuste</a:t>
            </a:r>
            <a:r>
              <a:rPr lang="en-GB" sz="1600" dirty="0"/>
              <a:t> </a:t>
            </a:r>
            <a:r>
              <a:rPr lang="en-GB" sz="1600" b="1" dirty="0" err="1"/>
              <a:t>süstemaatiline</a:t>
            </a:r>
            <a:r>
              <a:rPr lang="en-GB" sz="1600" b="1" dirty="0"/>
              <a:t> </a:t>
            </a:r>
            <a:r>
              <a:rPr lang="en-GB" sz="1600" b="1" dirty="0" err="1"/>
              <a:t>haldamine</a:t>
            </a:r>
            <a:r>
              <a:rPr lang="en-GB" sz="1600" b="1" dirty="0"/>
              <a:t>. </a:t>
            </a:r>
            <a:r>
              <a:rPr lang="en-GB" sz="1600" dirty="0" err="1"/>
              <a:t>Samas</a:t>
            </a:r>
            <a:r>
              <a:rPr lang="en-GB" sz="1600" dirty="0"/>
              <a:t> </a:t>
            </a:r>
            <a:r>
              <a:rPr lang="en-GB" sz="1600" dirty="0" err="1"/>
              <a:t>failis</a:t>
            </a:r>
            <a:r>
              <a:rPr lang="en-GB" sz="1600" dirty="0"/>
              <a:t> </a:t>
            </a:r>
            <a:r>
              <a:rPr lang="en-GB" sz="1600" dirty="0" err="1"/>
              <a:t>tegutsemine</a:t>
            </a:r>
            <a:r>
              <a:rPr lang="en-GB" sz="1600" dirty="0"/>
              <a:t> </a:t>
            </a:r>
            <a:r>
              <a:rPr lang="en-GB" sz="1600" dirty="0" err="1"/>
              <a:t>ja</a:t>
            </a:r>
            <a:r>
              <a:rPr lang="en-GB" sz="1600" dirty="0"/>
              <a:t> </a:t>
            </a:r>
            <a:r>
              <a:rPr lang="en-GB" sz="1600" dirty="0" err="1"/>
              <a:t>muudatuste</a:t>
            </a:r>
            <a:r>
              <a:rPr lang="en-GB" sz="1600" dirty="0"/>
              <a:t> </a:t>
            </a:r>
            <a:r>
              <a:rPr lang="en-GB" sz="1600" dirty="0" err="1"/>
              <a:t>organiseeritud</a:t>
            </a:r>
            <a:r>
              <a:rPr lang="en-GB" sz="1600" dirty="0"/>
              <a:t> </a:t>
            </a:r>
            <a:r>
              <a:rPr lang="en-GB" sz="1600" dirty="0" err="1"/>
              <a:t>lisamine</a:t>
            </a:r>
            <a:r>
              <a:rPr lang="en-GB" sz="1600" dirty="0"/>
              <a:t> </a:t>
            </a:r>
            <a:r>
              <a:rPr lang="en-GB" sz="1600" dirty="0" err="1"/>
              <a:t>kesksesse</a:t>
            </a:r>
            <a:r>
              <a:rPr lang="en-GB" sz="1600" dirty="0"/>
              <a:t> kotha.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FC14680-15D7-4EF7-9996-009F58376B0C}"/>
              </a:ext>
            </a:extLst>
          </p:cNvPr>
          <p:cNvSpPr/>
          <p:nvPr/>
        </p:nvSpPr>
        <p:spPr>
          <a:xfrm>
            <a:off x="365760" y="2560320"/>
            <a:ext cx="114300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43E32A-B09C-F14A-ED74-337BF60EB925}"/>
              </a:ext>
            </a:extLst>
          </p:cNvPr>
          <p:cNvSpPr/>
          <p:nvPr/>
        </p:nvSpPr>
        <p:spPr>
          <a:xfrm>
            <a:off x="365760" y="2468880"/>
            <a:ext cx="109728" cy="12070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C02F8-5EFB-B598-FFC7-A720E1A3540C}"/>
              </a:ext>
            </a:extLst>
          </p:cNvPr>
          <p:cNvSpPr txBox="1"/>
          <p:nvPr/>
        </p:nvSpPr>
        <p:spPr>
          <a:xfrm>
            <a:off x="685800" y="2867757"/>
            <a:ext cx="2377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Ajaloo</a:t>
            </a:r>
            <a:r>
              <a:rPr lang="en-GB" sz="20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säilitamine</a:t>
            </a:r>
            <a:endParaRPr sz="20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6E2216-D4FD-E398-F4C0-E0CE3B951D1B}"/>
              </a:ext>
            </a:extLst>
          </p:cNvPr>
          <p:cNvSpPr txBox="1"/>
          <p:nvPr/>
        </p:nvSpPr>
        <p:spPr>
          <a:xfrm>
            <a:off x="3200400" y="2775424"/>
            <a:ext cx="832104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dirty="0"/>
              <a:t>Iga </a:t>
            </a:r>
            <a:r>
              <a:rPr lang="en-GB" sz="1600" b="1" dirty="0" err="1"/>
              <a:t>muudatus</a:t>
            </a:r>
            <a:r>
              <a:rPr lang="en-GB" sz="1600" b="1" dirty="0"/>
              <a:t> </a:t>
            </a:r>
            <a:r>
              <a:rPr lang="en-GB" sz="1600" b="1" dirty="0" err="1"/>
              <a:t>salvestatakse</a:t>
            </a:r>
            <a:r>
              <a:rPr lang="en-GB" sz="1600" b="1" dirty="0"/>
              <a:t> </a:t>
            </a:r>
            <a:r>
              <a:rPr lang="en-GB" sz="1600" dirty="0" err="1"/>
              <a:t>eraldi</a:t>
            </a:r>
            <a:r>
              <a:rPr lang="en-GB" sz="1600" dirty="0"/>
              <a:t> </a:t>
            </a:r>
            <a:r>
              <a:rPr lang="en-GB" sz="1600" dirty="0" err="1"/>
              <a:t>sissekandena</a:t>
            </a:r>
            <a:r>
              <a:rPr lang="en-GB" sz="1600" dirty="0"/>
              <a:t> (</a:t>
            </a:r>
            <a:r>
              <a:rPr lang="en-GB" sz="1600" dirty="0" err="1"/>
              <a:t>kehtestus</a:t>
            </a:r>
            <a:r>
              <a:rPr lang="en-GB" sz="1600" dirty="0"/>
              <a:t> </a:t>
            </a:r>
            <a:r>
              <a:rPr lang="en-GB" sz="1600" dirty="0" err="1"/>
              <a:t>ehk</a:t>
            </a:r>
            <a:r>
              <a:rPr lang="en-GB" sz="1600" dirty="0"/>
              <a:t> commit). Sa </a:t>
            </a:r>
            <a:r>
              <a:rPr lang="en-GB" sz="1600" dirty="0" err="1"/>
              <a:t>tead</a:t>
            </a:r>
            <a:r>
              <a:rPr lang="en-GB" sz="1600" dirty="0"/>
              <a:t> </a:t>
            </a:r>
            <a:r>
              <a:rPr lang="en-GB" sz="1600" dirty="0" err="1"/>
              <a:t>alati</a:t>
            </a:r>
            <a:r>
              <a:rPr lang="en-GB" sz="1600" dirty="0"/>
              <a:t>, </a:t>
            </a:r>
            <a:r>
              <a:rPr lang="en-GB" sz="1600" dirty="0" err="1"/>
              <a:t>kes</a:t>
            </a:r>
            <a:r>
              <a:rPr lang="en-GB" sz="1600" dirty="0"/>
              <a:t>, </a:t>
            </a:r>
            <a:r>
              <a:rPr lang="en-GB" sz="1600" dirty="0" err="1"/>
              <a:t>mida</a:t>
            </a:r>
            <a:r>
              <a:rPr lang="en-GB" sz="1600" dirty="0"/>
              <a:t> </a:t>
            </a:r>
            <a:r>
              <a:rPr lang="en-GB" sz="1600" dirty="0" err="1"/>
              <a:t>ja</a:t>
            </a:r>
            <a:r>
              <a:rPr lang="en-GB" sz="1600" dirty="0"/>
              <a:t> </a:t>
            </a:r>
            <a:r>
              <a:rPr lang="en-GB" sz="1600" dirty="0" err="1"/>
              <a:t>millal</a:t>
            </a:r>
            <a:r>
              <a:rPr lang="en-GB" sz="1600" dirty="0"/>
              <a:t> </a:t>
            </a:r>
            <a:r>
              <a:rPr lang="en-GB" sz="1600" dirty="0" err="1"/>
              <a:t>muutis</a:t>
            </a:r>
            <a:r>
              <a:rPr lang="en-GB" sz="1600" dirty="0"/>
              <a:t>.</a:t>
            </a:r>
            <a:endParaRPr sz="1600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DF7BAB-4300-4B66-3C4C-AF166CAB8B44}"/>
              </a:ext>
            </a:extLst>
          </p:cNvPr>
          <p:cNvSpPr/>
          <p:nvPr/>
        </p:nvSpPr>
        <p:spPr>
          <a:xfrm>
            <a:off x="365760" y="3767328"/>
            <a:ext cx="114300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C3B076-43A0-F675-88BD-B2A6F599F30F}"/>
              </a:ext>
            </a:extLst>
          </p:cNvPr>
          <p:cNvSpPr/>
          <p:nvPr/>
        </p:nvSpPr>
        <p:spPr>
          <a:xfrm>
            <a:off x="365760" y="3767328"/>
            <a:ext cx="109728" cy="12070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718DAD-7EFF-6727-B040-823143D82619}"/>
              </a:ext>
            </a:extLst>
          </p:cNvPr>
          <p:cNvSpPr txBox="1"/>
          <p:nvPr/>
        </p:nvSpPr>
        <p:spPr>
          <a:xfrm>
            <a:off x="685800" y="4012317"/>
            <a:ext cx="23774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Turvalisus</a:t>
            </a:r>
            <a:r>
              <a:rPr lang="en-GB" sz="20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ja</a:t>
            </a:r>
            <a:r>
              <a:rPr lang="en-GB" sz="20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varundus</a:t>
            </a:r>
            <a:endParaRPr sz="20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8FEB5A-9346-EE50-D199-94FD4ABF7C98}"/>
              </a:ext>
            </a:extLst>
          </p:cNvPr>
          <p:cNvSpPr txBox="1"/>
          <p:nvPr/>
        </p:nvSpPr>
        <p:spPr>
          <a:xfrm>
            <a:off x="3200400" y="4135761"/>
            <a:ext cx="83210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dirty="0"/>
              <a:t>Kui </a:t>
            </a:r>
            <a:r>
              <a:rPr lang="en-GB" sz="1600" dirty="0" err="1"/>
              <a:t>uus</a:t>
            </a:r>
            <a:r>
              <a:rPr lang="en-GB" sz="1600" dirty="0"/>
              <a:t> </a:t>
            </a:r>
            <a:r>
              <a:rPr lang="en-GB" sz="1600" dirty="0" err="1"/>
              <a:t>kood</a:t>
            </a:r>
            <a:r>
              <a:rPr lang="en-GB" sz="1600" dirty="0"/>
              <a:t> </a:t>
            </a:r>
            <a:r>
              <a:rPr lang="en-GB" sz="1600" dirty="0" err="1"/>
              <a:t>või</a:t>
            </a:r>
            <a:r>
              <a:rPr lang="en-GB" sz="1600" dirty="0"/>
              <a:t> </a:t>
            </a:r>
            <a:r>
              <a:rPr lang="en-GB" sz="1600" dirty="0" err="1"/>
              <a:t>tekst</a:t>
            </a:r>
            <a:r>
              <a:rPr lang="en-GB" sz="1600" dirty="0"/>
              <a:t> </a:t>
            </a:r>
            <a:r>
              <a:rPr lang="en-GB" sz="1600" dirty="0" err="1"/>
              <a:t>lõhub</a:t>
            </a:r>
            <a:r>
              <a:rPr lang="en-GB" sz="1600" dirty="0"/>
              <a:t> </a:t>
            </a:r>
            <a:r>
              <a:rPr lang="en-GB" sz="1600" dirty="0" err="1"/>
              <a:t>midagi</a:t>
            </a:r>
            <a:r>
              <a:rPr lang="en-GB" sz="1600" dirty="0"/>
              <a:t> </a:t>
            </a:r>
            <a:r>
              <a:rPr lang="en-GB" sz="1600" dirty="0" err="1"/>
              <a:t>ära</a:t>
            </a:r>
            <a:r>
              <a:rPr lang="en-GB" sz="1600" dirty="0"/>
              <a:t>, </a:t>
            </a:r>
            <a:r>
              <a:rPr lang="en-GB" sz="1600" dirty="0" err="1"/>
              <a:t>saab</a:t>
            </a:r>
            <a:r>
              <a:rPr lang="en-GB" sz="1600" dirty="0"/>
              <a:t> </a:t>
            </a:r>
            <a:r>
              <a:rPr lang="en-GB" sz="1600" b="1" dirty="0" err="1"/>
              <a:t>taastada</a:t>
            </a:r>
            <a:r>
              <a:rPr lang="en-GB" sz="1600" b="1" dirty="0"/>
              <a:t> </a:t>
            </a:r>
            <a:r>
              <a:rPr lang="en-GB" sz="1600" b="1" dirty="0" err="1"/>
              <a:t>varasema</a:t>
            </a:r>
            <a:r>
              <a:rPr lang="en-GB" sz="1600" b="1" dirty="0"/>
              <a:t> </a:t>
            </a:r>
            <a:r>
              <a:rPr lang="en-GB" sz="1600" b="1" dirty="0" err="1"/>
              <a:t>töötava</a:t>
            </a:r>
            <a:r>
              <a:rPr lang="en-GB" sz="1600" b="1" dirty="0"/>
              <a:t> </a:t>
            </a:r>
            <a:r>
              <a:rPr lang="en-GB" sz="1600" b="1" dirty="0" err="1"/>
              <a:t>versiooni</a:t>
            </a:r>
            <a:r>
              <a:rPr lang="en-GB" sz="1600" dirty="0"/>
              <a:t>.</a:t>
            </a:r>
            <a:endParaRPr sz="1600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1E4384E-4E0A-5CA6-5DEC-3EC8987D52B7}"/>
              </a:ext>
            </a:extLst>
          </p:cNvPr>
          <p:cNvSpPr/>
          <p:nvPr/>
        </p:nvSpPr>
        <p:spPr>
          <a:xfrm>
            <a:off x="365760" y="5065776"/>
            <a:ext cx="114300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266C5C-6210-5003-B071-D08C53B34F63}"/>
              </a:ext>
            </a:extLst>
          </p:cNvPr>
          <p:cNvSpPr/>
          <p:nvPr/>
        </p:nvSpPr>
        <p:spPr>
          <a:xfrm>
            <a:off x="365760" y="5065776"/>
            <a:ext cx="109728" cy="12070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631643-3E86-175D-4C86-6A64696DB42B}"/>
              </a:ext>
            </a:extLst>
          </p:cNvPr>
          <p:cNvSpPr txBox="1"/>
          <p:nvPr/>
        </p:nvSpPr>
        <p:spPr>
          <a:xfrm>
            <a:off x="685800" y="5310765"/>
            <a:ext cx="23774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Koostöö</a:t>
            </a:r>
            <a:r>
              <a:rPr lang="en-GB" sz="20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ja</a:t>
            </a:r>
            <a:r>
              <a:rPr lang="en-GB" sz="20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harunemine</a:t>
            </a:r>
            <a:endParaRPr sz="20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E75E37-C99F-E58C-8BC4-0B791816BF13}"/>
              </a:ext>
            </a:extLst>
          </p:cNvPr>
          <p:cNvSpPr txBox="1"/>
          <p:nvPr/>
        </p:nvSpPr>
        <p:spPr>
          <a:xfrm>
            <a:off x="3200400" y="5249209"/>
            <a:ext cx="832104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b="1" dirty="0" err="1"/>
              <a:t>Mitme</a:t>
            </a:r>
            <a:r>
              <a:rPr lang="en-GB" sz="1600" b="1" dirty="0"/>
              <a:t> </a:t>
            </a:r>
            <a:r>
              <a:rPr lang="en-GB" sz="1600" b="1" dirty="0" err="1"/>
              <a:t>inimesega</a:t>
            </a:r>
            <a:r>
              <a:rPr lang="en-GB" sz="1600" b="1" dirty="0"/>
              <a:t> </a:t>
            </a:r>
            <a:r>
              <a:rPr lang="en-GB" sz="1600" dirty="0" err="1"/>
              <a:t>sama</a:t>
            </a:r>
            <a:r>
              <a:rPr lang="en-GB" sz="1600" dirty="0"/>
              <a:t> </a:t>
            </a:r>
            <a:r>
              <a:rPr lang="en-GB" sz="1600" dirty="0" err="1"/>
              <a:t>projekti</a:t>
            </a:r>
            <a:r>
              <a:rPr lang="en-GB" sz="1600" dirty="0"/>
              <a:t> </a:t>
            </a:r>
            <a:r>
              <a:rPr lang="en-GB" sz="1600" dirty="0" err="1"/>
              <a:t>kallal</a:t>
            </a:r>
            <a:r>
              <a:rPr lang="en-GB" sz="1600" dirty="0"/>
              <a:t> </a:t>
            </a:r>
            <a:r>
              <a:rPr lang="en-GB" sz="1600" dirty="0" err="1"/>
              <a:t>töötades</a:t>
            </a:r>
            <a:r>
              <a:rPr lang="en-GB" sz="1600" dirty="0"/>
              <a:t> </a:t>
            </a:r>
            <a:r>
              <a:rPr lang="en-GB" sz="1600" dirty="0" err="1"/>
              <a:t>võimaldab</a:t>
            </a:r>
            <a:r>
              <a:rPr lang="en-GB" sz="1600" dirty="0"/>
              <a:t> </a:t>
            </a:r>
            <a:r>
              <a:rPr lang="en-GB" sz="1600" dirty="0" err="1"/>
              <a:t>versioonihaldus</a:t>
            </a:r>
            <a:r>
              <a:rPr lang="en-GB" sz="1600" dirty="0"/>
              <a:t> </a:t>
            </a:r>
            <a:r>
              <a:rPr lang="en-GB" sz="1600" dirty="0" err="1"/>
              <a:t>luua</a:t>
            </a:r>
            <a:r>
              <a:rPr lang="en-GB" sz="1600" dirty="0"/>
              <a:t> "</a:t>
            </a:r>
            <a:r>
              <a:rPr lang="en-GB" sz="1600" dirty="0" err="1"/>
              <a:t>harusid</a:t>
            </a:r>
            <a:r>
              <a:rPr lang="en-GB" sz="1600" dirty="0"/>
              <a:t>" (branches). </a:t>
            </a:r>
            <a:r>
              <a:rPr lang="en-GB" sz="1600" dirty="0" err="1"/>
              <a:t>Igaüks</a:t>
            </a:r>
            <a:r>
              <a:rPr lang="en-GB" sz="1600" dirty="0"/>
              <a:t> </a:t>
            </a:r>
            <a:r>
              <a:rPr lang="en-GB" sz="1600" dirty="0" err="1"/>
              <a:t>saab</a:t>
            </a:r>
            <a:r>
              <a:rPr lang="en-GB" sz="1600" dirty="0"/>
              <a:t> </a:t>
            </a:r>
            <a:r>
              <a:rPr lang="en-GB" sz="1600" dirty="0" err="1"/>
              <a:t>töötada</a:t>
            </a:r>
            <a:r>
              <a:rPr lang="en-GB" sz="1600" dirty="0"/>
              <a:t> </a:t>
            </a:r>
            <a:r>
              <a:rPr lang="en-GB" sz="1600" dirty="0" err="1"/>
              <a:t>oma</a:t>
            </a:r>
            <a:r>
              <a:rPr lang="en-GB" sz="1600" dirty="0"/>
              <a:t> </a:t>
            </a:r>
            <a:r>
              <a:rPr lang="en-GB" sz="1600" dirty="0" err="1"/>
              <a:t>funktsiooni</a:t>
            </a:r>
            <a:r>
              <a:rPr lang="en-GB" sz="1600" dirty="0"/>
              <a:t> </a:t>
            </a:r>
            <a:r>
              <a:rPr lang="en-GB" sz="1600" dirty="0" err="1"/>
              <a:t>kallal</a:t>
            </a:r>
            <a:r>
              <a:rPr lang="en-GB" sz="1600" dirty="0"/>
              <a:t> </a:t>
            </a:r>
            <a:r>
              <a:rPr lang="en-GB" sz="1600" dirty="0" err="1"/>
              <a:t>ilma</a:t>
            </a:r>
            <a:r>
              <a:rPr lang="en-GB" sz="1600" dirty="0"/>
              <a:t> </a:t>
            </a:r>
            <a:r>
              <a:rPr lang="en-GB" sz="1600" dirty="0" err="1"/>
              <a:t>teiste</a:t>
            </a:r>
            <a:r>
              <a:rPr lang="en-GB" sz="1600" dirty="0"/>
              <a:t> </a:t>
            </a:r>
            <a:r>
              <a:rPr lang="en-GB" sz="1600" dirty="0" err="1"/>
              <a:t>tööd</a:t>
            </a:r>
            <a:r>
              <a:rPr lang="en-GB" sz="1600" dirty="0"/>
              <a:t> </a:t>
            </a:r>
            <a:r>
              <a:rPr lang="en-GB" sz="1600" dirty="0" err="1"/>
              <a:t>segamata</a:t>
            </a:r>
            <a:r>
              <a:rPr lang="en-GB" sz="1600" dirty="0"/>
              <a:t>, </a:t>
            </a:r>
            <a:r>
              <a:rPr lang="en-GB" sz="1600" dirty="0" err="1"/>
              <a:t>ja</a:t>
            </a:r>
            <a:r>
              <a:rPr lang="en-GB" sz="1600" dirty="0"/>
              <a:t> </a:t>
            </a:r>
            <a:r>
              <a:rPr lang="en-GB" sz="1600" dirty="0" err="1"/>
              <a:t>hiljem</a:t>
            </a:r>
            <a:r>
              <a:rPr lang="en-GB" sz="1600" dirty="0"/>
              <a:t> </a:t>
            </a:r>
            <a:r>
              <a:rPr lang="en-GB" sz="1600" dirty="0" err="1"/>
              <a:t>muudatused</a:t>
            </a:r>
            <a:r>
              <a:rPr lang="en-GB" sz="1600" dirty="0"/>
              <a:t> </a:t>
            </a:r>
            <a:r>
              <a:rPr lang="en-GB" sz="1600" dirty="0" err="1"/>
              <a:t>kokku</a:t>
            </a:r>
            <a:r>
              <a:rPr lang="en-GB" sz="1600" dirty="0"/>
              <a:t> </a:t>
            </a:r>
            <a:r>
              <a:rPr lang="en-GB" sz="1600" dirty="0" err="1"/>
              <a:t>sulatada</a:t>
            </a:r>
            <a:r>
              <a:rPr lang="en-GB" sz="1600" dirty="0"/>
              <a:t> (merge)</a:t>
            </a:r>
            <a:endParaRPr sz="1600" dirty="0"/>
          </a:p>
        </p:txBody>
      </p:sp>
      <p:pic>
        <p:nvPicPr>
          <p:cNvPr id="26" name="Graphic 25" descr="Group brainstorm outline">
            <a:extLst>
              <a:ext uri="{FF2B5EF4-FFF2-40B4-BE49-F238E27FC236}">
                <a16:creationId xmlns:a16="http://schemas.microsoft.com/office/drawing/2014/main" id="{46C12246-E1BF-2FCA-0278-53C4D89B24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1137" y="5337675"/>
            <a:ext cx="694943" cy="694943"/>
          </a:xfrm>
          <a:prstGeom prst="rect">
            <a:avLst/>
          </a:prstGeom>
        </p:spPr>
      </p:pic>
      <p:pic>
        <p:nvPicPr>
          <p:cNvPr id="28" name="Picture 27" descr="Abstract blue design with wavy lines and dots">
            <a:extLst>
              <a:ext uri="{FF2B5EF4-FFF2-40B4-BE49-F238E27FC236}">
                <a16:creationId xmlns:a16="http://schemas.microsoft.com/office/drawing/2014/main" id="{D5BE7748-99AC-C73D-5A03-41AFECF75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74113"/>
            <a:ext cx="2029121" cy="135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4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38FEC-4E5A-7E2C-65D9-B6688065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E05A46-370A-7C61-D831-B4D978279D85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DDD9F8-9F9A-834E-2BE7-62397F13143C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BEC4B-6F37-1D6D-5E16-BD6D0CAA65E9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Calibri"/>
              </a:rPr>
              <a:t>VERSIOONIHALDUS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124E6F-29BC-F74C-87A6-5C3165F8C16B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9F3F6-7A03-2D53-2127-59F2FCBF2F0B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8F9AC-C92E-E217-5AA2-43497EC5EA82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pic>
        <p:nvPicPr>
          <p:cNvPr id="27" name="Picture 26" descr="How Git Works: A Visual Guide with Code">
            <a:extLst>
              <a:ext uri="{FF2B5EF4-FFF2-40B4-BE49-F238E27FC236}">
                <a16:creationId xmlns:a16="http://schemas.microsoft.com/office/drawing/2014/main" id="{808B5565-8C5C-B815-443D-8CF580ECF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25" y="940693"/>
            <a:ext cx="4844519" cy="5634981"/>
          </a:xfrm>
          <a:prstGeom prst="rect">
            <a:avLst/>
          </a:prstGeom>
        </p:spPr>
      </p:pic>
      <p:pic>
        <p:nvPicPr>
          <p:cNvPr id="29" name="Picture 28" descr="How Does Git Work? {Git Workflows Explained}">
            <a:extLst>
              <a:ext uri="{FF2B5EF4-FFF2-40B4-BE49-F238E27FC236}">
                <a16:creationId xmlns:a16="http://schemas.microsoft.com/office/drawing/2014/main" id="{2D473622-C929-7971-8E42-F7C18A3A9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780" y="1085904"/>
            <a:ext cx="3895344" cy="1736206"/>
          </a:xfrm>
          <a:prstGeom prst="rect">
            <a:avLst/>
          </a:prstGeom>
        </p:spPr>
      </p:pic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3C75EC98-6073-D18D-F3BE-12B8BA91D4A7}"/>
              </a:ext>
            </a:extLst>
          </p:cNvPr>
          <p:cNvSpPr/>
          <p:nvPr/>
        </p:nvSpPr>
        <p:spPr>
          <a:xfrm>
            <a:off x="5191756" y="3682190"/>
            <a:ext cx="6753015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393601-5320-8B7B-7271-1F9927C75724}"/>
              </a:ext>
            </a:extLst>
          </p:cNvPr>
          <p:cNvSpPr/>
          <p:nvPr/>
        </p:nvSpPr>
        <p:spPr>
          <a:xfrm>
            <a:off x="5191757" y="2702422"/>
            <a:ext cx="109728" cy="12070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B42EBF-0B06-F33F-93E1-2E2B52B2B389}"/>
              </a:ext>
            </a:extLst>
          </p:cNvPr>
          <p:cNvSpPr txBox="1"/>
          <p:nvPr/>
        </p:nvSpPr>
        <p:spPr>
          <a:xfrm>
            <a:off x="5511797" y="3101299"/>
            <a:ext cx="2377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b="1" dirty="0"/>
              <a:t>Branch</a:t>
            </a:r>
            <a:endParaRPr sz="20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6AB070-580A-D995-5D0A-0A7E4F359A13}"/>
              </a:ext>
            </a:extLst>
          </p:cNvPr>
          <p:cNvSpPr txBox="1"/>
          <p:nvPr/>
        </p:nvSpPr>
        <p:spPr>
          <a:xfrm>
            <a:off x="5511797" y="3501408"/>
            <a:ext cx="6703907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dirty="0"/>
              <a:t>Branch </a:t>
            </a:r>
            <a:r>
              <a:rPr lang="en-GB" dirty="0" err="1"/>
              <a:t>ehk</a:t>
            </a:r>
            <a:r>
              <a:rPr lang="en-GB" dirty="0"/>
              <a:t> </a:t>
            </a:r>
            <a:r>
              <a:rPr lang="en-GB" dirty="0" err="1"/>
              <a:t>haru</a:t>
            </a:r>
            <a:r>
              <a:rPr lang="en-GB" dirty="0"/>
              <a:t> on </a:t>
            </a:r>
            <a:r>
              <a:rPr lang="en-GB" b="1" dirty="0" err="1"/>
              <a:t>projekti</a:t>
            </a:r>
            <a:r>
              <a:rPr lang="en-GB" b="1" dirty="0"/>
              <a:t> </a:t>
            </a:r>
            <a:r>
              <a:rPr lang="en-GB" b="1" dirty="0" err="1"/>
              <a:t>koodi</a:t>
            </a:r>
            <a:r>
              <a:rPr lang="en-GB" b="1" dirty="0"/>
              <a:t> </a:t>
            </a:r>
            <a:r>
              <a:rPr lang="en-GB" b="1" dirty="0" err="1"/>
              <a:t>või</a:t>
            </a:r>
            <a:r>
              <a:rPr lang="en-GB" b="1" dirty="0"/>
              <a:t> </a:t>
            </a:r>
            <a:r>
              <a:rPr lang="en-GB" b="1" dirty="0" err="1"/>
              <a:t>failide</a:t>
            </a:r>
            <a:r>
              <a:rPr lang="en-GB" b="1" dirty="0"/>
              <a:t> </a:t>
            </a:r>
            <a:r>
              <a:rPr lang="en-GB" b="1" dirty="0" err="1"/>
              <a:t>iseseisev</a:t>
            </a:r>
            <a:r>
              <a:rPr lang="en-GB" b="1" dirty="0"/>
              <a:t> </a:t>
            </a:r>
            <a:r>
              <a:rPr lang="en-GB" b="1" dirty="0" err="1"/>
              <a:t>koopia</a:t>
            </a:r>
            <a:r>
              <a:rPr lang="en-GB" b="1" dirty="0"/>
              <a:t> (</a:t>
            </a:r>
            <a:r>
              <a:rPr lang="en-GB" b="1" dirty="0" err="1"/>
              <a:t>kloon</a:t>
            </a:r>
            <a:r>
              <a:rPr lang="en-GB" b="1" dirty="0"/>
              <a:t>)</a:t>
            </a:r>
            <a:r>
              <a:rPr lang="en-GB" dirty="0"/>
              <a:t>, </a:t>
            </a:r>
            <a:r>
              <a:rPr lang="en-GB" dirty="0" err="1"/>
              <a:t>kus</a:t>
            </a:r>
            <a:r>
              <a:rPr lang="en-GB" dirty="0"/>
              <a:t> </a:t>
            </a:r>
            <a:r>
              <a:rPr lang="en-GB" dirty="0" err="1"/>
              <a:t>saab</a:t>
            </a:r>
            <a:r>
              <a:rPr lang="en-GB" dirty="0"/>
              <a:t> </a:t>
            </a:r>
            <a:r>
              <a:rPr lang="en-GB" dirty="0" err="1"/>
              <a:t>teha</a:t>
            </a:r>
            <a:r>
              <a:rPr lang="en-GB" dirty="0"/>
              <a:t> </a:t>
            </a:r>
            <a:r>
              <a:rPr lang="en-GB" dirty="0" err="1"/>
              <a:t>muudatusi</a:t>
            </a:r>
            <a:r>
              <a:rPr lang="en-GB" dirty="0"/>
              <a:t> </a:t>
            </a:r>
            <a:r>
              <a:rPr lang="en-GB" dirty="0" err="1"/>
              <a:t>ilma</a:t>
            </a:r>
            <a:r>
              <a:rPr lang="en-GB" dirty="0"/>
              <a:t> </a:t>
            </a:r>
            <a:r>
              <a:rPr lang="en-GB" dirty="0" err="1"/>
              <a:t>põhiprojekti</a:t>
            </a:r>
            <a:r>
              <a:rPr lang="en-GB" dirty="0"/>
              <a:t> </a:t>
            </a:r>
            <a:r>
              <a:rPr lang="en-GB" dirty="0" err="1"/>
              <a:t>mõjutamata</a:t>
            </a:r>
            <a:r>
              <a:rPr lang="en-GB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40ABA0-7309-01A6-2A02-483208A92EC6}"/>
              </a:ext>
            </a:extLst>
          </p:cNvPr>
          <p:cNvSpPr txBox="1"/>
          <p:nvPr/>
        </p:nvSpPr>
        <p:spPr>
          <a:xfrm>
            <a:off x="5511797" y="4669870"/>
            <a:ext cx="2377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b="1" dirty="0" err="1"/>
              <a:t>Töö</a:t>
            </a:r>
            <a:r>
              <a:rPr lang="en-GB" sz="2000" b="1" dirty="0"/>
              <a:t> </a:t>
            </a:r>
            <a:r>
              <a:rPr lang="en-GB" sz="2000" b="1" dirty="0" err="1"/>
              <a:t>ilma</a:t>
            </a:r>
            <a:r>
              <a:rPr lang="en-GB" sz="2000" b="1" dirty="0"/>
              <a:t> </a:t>
            </a:r>
            <a:r>
              <a:rPr lang="en-GB" sz="2000" b="1" dirty="0" err="1"/>
              <a:t>branchita</a:t>
            </a:r>
            <a:endParaRPr sz="20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B56C39-30BB-4BE6-8262-DD51E73AFFE5}"/>
              </a:ext>
            </a:extLst>
          </p:cNvPr>
          <p:cNvSpPr txBox="1"/>
          <p:nvPr/>
        </p:nvSpPr>
        <p:spPr>
          <a:xfrm>
            <a:off x="5511797" y="5069979"/>
            <a:ext cx="6703907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dirty="0"/>
              <a:t>On </a:t>
            </a:r>
            <a:r>
              <a:rPr lang="en-GB" dirty="0" err="1"/>
              <a:t>võimaliktöötada</a:t>
            </a:r>
            <a:r>
              <a:rPr lang="en-GB" dirty="0"/>
              <a:t> ka </a:t>
            </a:r>
            <a:r>
              <a:rPr lang="en-GB" dirty="0" err="1"/>
              <a:t>ainult</a:t>
            </a:r>
            <a:r>
              <a:rPr lang="en-GB" dirty="0"/>
              <a:t> ‘main’ </a:t>
            </a:r>
            <a:r>
              <a:rPr lang="en-GB" dirty="0" err="1"/>
              <a:t>harus</a:t>
            </a:r>
            <a:r>
              <a:rPr lang="en-GB" dirty="0"/>
              <a:t>. </a:t>
            </a:r>
            <a:r>
              <a:rPr lang="en-GB" dirty="0" err="1"/>
              <a:t>Siis</a:t>
            </a:r>
            <a:r>
              <a:rPr lang="en-GB" dirty="0"/>
              <a:t> </a:t>
            </a:r>
            <a:r>
              <a:rPr lang="en-GB" dirty="0" err="1"/>
              <a:t>kasutajad</a:t>
            </a:r>
            <a:r>
              <a:rPr lang="en-GB" dirty="0"/>
              <a:t> </a:t>
            </a:r>
            <a:r>
              <a:rPr lang="en-GB" dirty="0" err="1"/>
              <a:t>salvestavad</a:t>
            </a:r>
            <a:r>
              <a:rPr lang="en-GB" dirty="0"/>
              <a:t> </a:t>
            </a:r>
            <a:r>
              <a:rPr lang="en-GB" dirty="0" err="1"/>
              <a:t>oma</a:t>
            </a:r>
            <a:r>
              <a:rPr lang="en-GB" dirty="0"/>
              <a:t> </a:t>
            </a:r>
            <a:r>
              <a:rPr lang="en-GB" dirty="0" err="1"/>
              <a:t>muudatused</a:t>
            </a:r>
            <a:r>
              <a:rPr lang="en-GB" dirty="0"/>
              <a:t> </a:t>
            </a:r>
            <a:r>
              <a:rPr lang="en-GB" dirty="0" err="1"/>
              <a:t>otse</a:t>
            </a:r>
            <a:r>
              <a:rPr lang="en-GB" dirty="0"/>
              <a:t> </a:t>
            </a:r>
            <a:r>
              <a:rPr lang="en-GB" dirty="0" err="1"/>
              <a:t>peaharusse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3390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Github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– </a:t>
            </a:r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tasuta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versioon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365760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91440" cy="507492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252728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1" y="1618488"/>
            <a:ext cx="5586851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 err="1">
                <a:solidFill>
                  <a:srgbClr val="334155"/>
                </a:solidFill>
                <a:latin typeface="Calibri"/>
              </a:rPr>
              <a:t>Veebileht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github.com</a:t>
            </a:r>
          </a:p>
          <a:p>
            <a:pPr>
              <a:spcAft>
                <a:spcPts val="500"/>
              </a:spcAft>
            </a:pPr>
            <a:r>
              <a:rPr sz="1600" b="0" dirty="0" err="1">
                <a:solidFill>
                  <a:srgbClr val="334155"/>
                </a:solidFill>
                <a:latin typeface="Calibri"/>
              </a:rPr>
              <a:t>Siin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elab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Calibri"/>
              </a:rPr>
              <a:t>repositoorium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GB" sz="1600" b="1" dirty="0">
                <a:solidFill>
                  <a:srgbClr val="334155"/>
                </a:solidFill>
                <a:latin typeface="Calibri"/>
              </a:rPr>
              <a:t>K</a:t>
            </a:r>
            <a:r>
              <a:rPr sz="1600" b="1" dirty="0" err="1">
                <a:solidFill>
                  <a:srgbClr val="334155"/>
                </a:solidFill>
                <a:latin typeface="Calibri"/>
              </a:rPr>
              <a:t>asutaja</a:t>
            </a:r>
            <a:r>
              <a:rPr lang="en-GB" sz="1600" b="1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dirty="0" err="1">
                <a:solidFill>
                  <a:srgbClr val="334155"/>
                </a:solidFill>
                <a:latin typeface="Calibri"/>
              </a:rPr>
              <a:t>loomine</a:t>
            </a:r>
            <a:endParaRPr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Versioonide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muudatuste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ajaloo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hoidmine</a:t>
            </a:r>
            <a:endParaRPr lang="en-GB"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lang="en-GB" sz="1600" dirty="0" err="1">
                <a:solidFill>
                  <a:srgbClr val="334155"/>
                </a:solidFill>
                <a:latin typeface="Calibri"/>
              </a:rPr>
              <a:t>Repositooriumile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dirty="0" err="1">
                <a:solidFill>
                  <a:srgbClr val="334155"/>
                </a:solidFill>
                <a:latin typeface="Calibri"/>
              </a:rPr>
              <a:t>ligipääsude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dirty="0" err="1">
                <a:solidFill>
                  <a:srgbClr val="334155"/>
                </a:solidFill>
                <a:latin typeface="Calibri"/>
              </a:rPr>
              <a:t>haldamine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.</a:t>
            </a:r>
            <a:endParaRPr sz="16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51960" y="1143000"/>
            <a:ext cx="365760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74974" y="1143000"/>
            <a:ext cx="91440" cy="507492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40734" y="1174164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F203E"/>
                </a:solidFill>
                <a:latin typeface="Calibri"/>
              </a:rPr>
              <a:t>GitHub 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6454" y="1905684"/>
            <a:ext cx="324612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 err="1">
                <a:solidFill>
                  <a:srgbClr val="334155"/>
                </a:solidFill>
                <a:latin typeface="Calibri"/>
              </a:rPr>
              <a:t>Programm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su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arvutis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Graafiline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kasutajaliides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.</a:t>
            </a:r>
            <a:endParaRPr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Muudatuste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nägemine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haldus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4327922-EFB0-FDEB-A089-716B22F97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003" y="1376506"/>
            <a:ext cx="533474" cy="66684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FE1CCDB-7C45-107D-69E8-1FD581E9D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428" y="1682496"/>
            <a:ext cx="447737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92D050"/>
                </a:solidFill>
                <a:latin typeface="Calibri"/>
              </a:rPr>
              <a:t>NÄITAN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78992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Koolitaja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54480"/>
            <a:ext cx="8619214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1907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03E"/>
                </a:solidFill>
                <a:latin typeface="Calibri"/>
              </a:rPr>
              <a:t>Kasutaja ja programm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268932"/>
            <a:ext cx="76484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1. 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1" dirty="0">
                <a:solidFill>
                  <a:srgbClr val="334155"/>
                </a:solidFill>
                <a:latin typeface="Calibri"/>
              </a:rPr>
              <a:t>github.com 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→ Sign up.</a:t>
            </a: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2. 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desktop.github.com → Download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3. 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GitHub Desktop → Sign in</a:t>
            </a: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4.  File → New repository.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Repositooriumi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asukoha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valimine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arvutis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 Repo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veebis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nähtav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</a:t>
            </a:r>
            <a:endParaRPr sz="1500" b="0" dirty="0">
              <a:solidFill>
                <a:srgbClr val="3341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FF0000"/>
                </a:solidFill>
                <a:latin typeface="Calibri"/>
              </a:rPr>
              <a:t>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78992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Proovi 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5448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03E"/>
                </a:solidFill>
                <a:latin typeface="Calibri"/>
              </a:rPr>
              <a:t>Tee oma masinas: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11680"/>
            <a:ext cx="1143000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221992"/>
            <a:ext cx="1097280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dirty="0">
                <a:solidFill>
                  <a:srgbClr val="334155"/>
                </a:solidFill>
                <a:latin typeface="Calibri"/>
              </a:rPr>
              <a:t>1.  Loo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GitHubi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kasutaja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kinnita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e-post.</a:t>
            </a: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2000" dirty="0">
                <a:solidFill>
                  <a:srgbClr val="334155"/>
                </a:solidFill>
                <a:latin typeface="Calibri"/>
              </a:rPr>
              <a:t>	e-post,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logi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e-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posti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sisse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saad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koodi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kinnita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konto</a:t>
            </a: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20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334155"/>
                </a:solidFill>
                <a:latin typeface="Calibri"/>
              </a:rPr>
              <a:t>2.  Lae alla ja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paigalda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GitHub Desktop. </a:t>
            </a:r>
            <a:r>
              <a:rPr lang="en-GB" sz="2000" dirty="0">
                <a:solidFill>
                  <a:srgbClr val="334155"/>
                </a:solidFill>
                <a:hlinkClick r:id="rId2"/>
              </a:rPr>
              <a:t>https://desktop.github.com/download/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Installi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ja</a:t>
            </a:r>
            <a:r>
              <a:rPr lang="en-GB" sz="2000" dirty="0">
                <a:solidFill>
                  <a:srgbClr val="334155"/>
                </a:solidFill>
              </a:rPr>
              <a:t> l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ogi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sisse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334155"/>
                </a:solidFill>
                <a:latin typeface="Calibri"/>
              </a:rPr>
              <a:t>3.  Loo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repositoorium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.</a:t>
            </a: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20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2000" b="0" dirty="0">
                <a:solidFill>
                  <a:srgbClr val="334155"/>
                </a:solidFill>
                <a:latin typeface="Calibri"/>
              </a:rPr>
              <a:t>4.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Publitseeri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repo. </a:t>
            </a:r>
          </a:p>
          <a:p>
            <a:pPr>
              <a:spcAft>
                <a:spcPts val="800"/>
              </a:spcAft>
            </a:pP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2000" b="0" dirty="0">
                <a:solidFill>
                  <a:srgbClr val="334155"/>
                </a:solidFill>
                <a:latin typeface="Calibri"/>
              </a:rPr>
              <a:t>5.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Vaata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veebist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tulemust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endParaRPr sz="20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F951FC2-31E6-9B48-B22D-E614AD5DC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201" y="2000345"/>
            <a:ext cx="940967" cy="2767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216A8E-7C1C-8A96-9A00-65D804571C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734"/>
          <a:stretch>
            <a:fillRect/>
          </a:stretch>
        </p:blipFill>
        <p:spPr>
          <a:xfrm>
            <a:off x="2057697" y="1991306"/>
            <a:ext cx="775672" cy="29483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E6FF5CC-53FB-06BB-9080-394E1E6BF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410" y="647804"/>
            <a:ext cx="2853990" cy="26170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8036F14-4CC8-7635-C093-A2E638902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5625" y="3033978"/>
            <a:ext cx="3687958" cy="31595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D6970B8-5C1C-3748-9EAD-2CAF5EE90C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6812" y="3786899"/>
            <a:ext cx="3687959" cy="164078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BAB826F-318B-4005-56CA-B43D0DAB28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4440" y="3904968"/>
            <a:ext cx="2583722" cy="154933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4E4CDC6-7981-AF65-FD10-443D5254BD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2824" y="5162102"/>
            <a:ext cx="2176898" cy="101301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8D2628B-5787-6759-031A-9329FB0504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9722" y="5863536"/>
            <a:ext cx="1687579" cy="6926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5A953-0401-8659-6DB9-7C2E3C6B4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CAAFC-896F-360B-6DB8-E4617796B5C1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9E6CC6-A376-6C06-810E-B20993ECD213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E4064C-C3F8-6432-DD60-305582F8345B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</a:t>
            </a:r>
            <a:endParaRPr sz="2400" b="1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AC8F72-CE45-FD84-B564-C0ED1C8C36F8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85A475-EC28-800B-8ADF-FE168211F59D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C5069-8F99-4A31-B7D0-16951479AD6B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C47B11-8713-F64D-8544-BD8CCDB4D592}"/>
              </a:ext>
            </a:extLst>
          </p:cNvPr>
          <p:cNvSpPr/>
          <p:nvPr/>
        </p:nvSpPr>
        <p:spPr>
          <a:xfrm>
            <a:off x="365760" y="1554480"/>
            <a:ext cx="11318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88AE17-8995-8328-23D1-29A566D80232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Failid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527A0B-0C9D-790F-471A-7680F8FB8AC2}"/>
              </a:ext>
            </a:extLst>
          </p:cNvPr>
          <p:cNvSpPr txBox="1"/>
          <p:nvPr/>
        </p:nvSpPr>
        <p:spPr>
          <a:xfrm>
            <a:off x="365760" y="884249"/>
            <a:ext cx="8778240" cy="5409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GB" sz="1400" b="1" u="none" strike="noStrike" dirty="0">
                <a:effectLst/>
                <a:latin typeface="+mn-lt"/>
              </a:rPr>
              <a:t>GitHub </a:t>
            </a:r>
            <a:r>
              <a:rPr lang="en-GB" sz="1400" b="1" u="none" strike="noStrike" dirty="0" err="1">
                <a:effectLst/>
                <a:latin typeface="+mn-lt"/>
              </a:rPr>
              <a:t>näitab</a:t>
            </a:r>
            <a:r>
              <a:rPr lang="en-GB" sz="1400" b="1" u="none" strike="noStrike" dirty="0">
                <a:effectLst/>
                <a:latin typeface="+mn-lt"/>
              </a:rPr>
              <a:t> </a:t>
            </a:r>
            <a:r>
              <a:rPr lang="en-GB" sz="1400" b="1" u="none" strike="noStrike" dirty="0" err="1">
                <a:effectLst/>
                <a:latin typeface="+mn-lt"/>
              </a:rPr>
              <a:t>muudatusi</a:t>
            </a:r>
            <a:r>
              <a:rPr lang="en-GB" sz="1400" b="1" u="none" strike="noStrike" dirty="0">
                <a:effectLst/>
                <a:latin typeface="+mn-lt"/>
              </a:rPr>
              <a:t> (</a:t>
            </a:r>
            <a:r>
              <a:rPr lang="en-GB" sz="1400" b="1" u="none" strike="noStrike" dirty="0" err="1">
                <a:effectLst/>
                <a:latin typeface="+mn-lt"/>
              </a:rPr>
              <a:t>Tekstifailid</a:t>
            </a:r>
            <a:r>
              <a:rPr lang="en-GB" sz="1400" b="1" u="none" strike="noStrike" dirty="0">
                <a:effectLst/>
                <a:latin typeface="+mn-lt"/>
              </a:rPr>
              <a:t>)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GB" sz="1400" b="0" u="none" strike="noStrike" dirty="0">
                <a:effectLst/>
                <a:latin typeface="+mn-lt"/>
              </a:rPr>
              <a:t>Sisu </a:t>
            </a:r>
            <a:r>
              <a:rPr lang="en-GB" sz="1400" b="0" u="none" strike="noStrike" dirty="0" err="1">
                <a:effectLst/>
                <a:latin typeface="+mn-lt"/>
              </a:rPr>
              <a:t>näidatakse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rida-realt</a:t>
            </a:r>
            <a:r>
              <a:rPr lang="en-GB" sz="1400" b="0" u="none" strike="noStrike" dirty="0">
                <a:effectLst/>
                <a:latin typeface="+mn-lt"/>
              </a:rPr>
              <a:t> (</a:t>
            </a:r>
            <a:r>
              <a:rPr lang="en-GB" sz="1400" b="0" u="none" strike="noStrike" dirty="0" err="1">
                <a:effectLst/>
                <a:latin typeface="+mn-lt"/>
              </a:rPr>
              <a:t>rohelised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ja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punased</a:t>
            </a:r>
            <a:r>
              <a:rPr lang="en-GB" sz="1400" b="0" u="none" strike="noStrike" dirty="0">
                <a:effectLst/>
                <a:latin typeface="+mn-lt"/>
              </a:rPr>
              <a:t> read).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>
                <a:effectLst/>
                <a:latin typeface="+mn-lt"/>
              </a:rPr>
              <a:t>SQL:</a:t>
            </a:r>
            <a:r>
              <a:rPr lang="en-GB" sz="1400" b="0" u="none" strike="noStrike" dirty="0">
                <a:effectLst/>
                <a:latin typeface="+mn-lt"/>
              </a:rPr>
              <a:t> .</a:t>
            </a:r>
            <a:r>
              <a:rPr lang="en-GB" sz="1400" b="0" u="none" strike="noStrike" dirty="0" err="1">
                <a:effectLst/>
                <a:latin typeface="+mn-lt"/>
              </a:rPr>
              <a:t>sql</a:t>
            </a:r>
            <a:r>
              <a:rPr lang="en-GB" sz="1400" b="0" u="none" strike="noStrike" dirty="0">
                <a:effectLst/>
                <a:latin typeface="+mn-lt"/>
              </a:rPr>
              <a:t> (</a:t>
            </a:r>
            <a:r>
              <a:rPr lang="en-GB" sz="1400" b="0" u="none" strike="noStrike" dirty="0" err="1">
                <a:effectLst/>
                <a:latin typeface="+mn-lt"/>
              </a:rPr>
              <a:t>andmebaasi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päringud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ja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skriptid</a:t>
            </a:r>
            <a:r>
              <a:rPr lang="en-GB" sz="1400" b="0" u="none" strike="noStrike" dirty="0">
                <a:effectLst/>
                <a:latin typeface="+mn-lt"/>
              </a:rPr>
              <a:t>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 err="1">
                <a:effectLst/>
                <a:latin typeface="+mn-lt"/>
              </a:rPr>
              <a:t>Kood</a:t>
            </a:r>
            <a:r>
              <a:rPr lang="en-GB" sz="1400" b="1" u="none" strike="noStrike" dirty="0">
                <a:effectLst/>
                <a:latin typeface="+mn-lt"/>
              </a:rPr>
              <a:t>:</a:t>
            </a:r>
            <a:r>
              <a:rPr lang="en-GB" sz="1400" b="0" u="none" strike="noStrike" dirty="0">
                <a:effectLst/>
                <a:latin typeface="+mn-lt"/>
              </a:rPr>
              <a:t> .</a:t>
            </a:r>
            <a:r>
              <a:rPr lang="en-GB" sz="1400" b="0" u="none" strike="noStrike" dirty="0" err="1">
                <a:effectLst/>
                <a:latin typeface="+mn-lt"/>
              </a:rPr>
              <a:t>py</a:t>
            </a:r>
            <a:r>
              <a:rPr lang="en-GB" sz="1400" b="0" u="none" strike="noStrike" dirty="0">
                <a:effectLst/>
                <a:latin typeface="+mn-lt"/>
              </a:rPr>
              <a:t> (Python), .</a:t>
            </a:r>
            <a:r>
              <a:rPr lang="en-GB" sz="1400" b="0" u="none" strike="noStrike" dirty="0" err="1">
                <a:effectLst/>
                <a:latin typeface="+mn-lt"/>
              </a:rPr>
              <a:t>js</a:t>
            </a:r>
            <a:r>
              <a:rPr lang="en-GB" sz="1400" b="0" u="none" strike="noStrike" dirty="0">
                <a:effectLst/>
                <a:latin typeface="+mn-lt"/>
              </a:rPr>
              <a:t> (JavaScript), .html, .</a:t>
            </a:r>
            <a:r>
              <a:rPr lang="en-GB" sz="1400" b="0" u="none" strike="noStrike" dirty="0" err="1">
                <a:effectLst/>
                <a:latin typeface="+mn-lt"/>
              </a:rPr>
              <a:t>css</a:t>
            </a:r>
            <a:r>
              <a:rPr lang="en-GB" sz="1400" b="0" u="none" strike="noStrike" dirty="0">
                <a:effectLst/>
                <a:latin typeface="+mn-lt"/>
              </a:rPr>
              <a:t>, .java, .</a:t>
            </a:r>
            <a:r>
              <a:rPr lang="en-GB" sz="1400" b="0" u="none" strike="noStrike" dirty="0" err="1">
                <a:effectLst/>
                <a:latin typeface="+mn-lt"/>
              </a:rPr>
              <a:t>cpp</a:t>
            </a:r>
            <a:r>
              <a:rPr lang="en-GB" sz="1400" b="0" u="none" strike="noStrike" dirty="0">
                <a:effectLst/>
                <a:latin typeface="+mn-lt"/>
              </a:rPr>
              <a:t>, .</a:t>
            </a:r>
            <a:r>
              <a:rPr lang="en-GB" sz="1400" b="0" u="none" strike="noStrike" dirty="0" err="1">
                <a:effectLst/>
                <a:latin typeface="+mn-lt"/>
              </a:rPr>
              <a:t>pbip</a:t>
            </a:r>
            <a:r>
              <a:rPr lang="en-GB" sz="1400" b="0" u="none" strike="noStrike" dirty="0">
                <a:effectLst/>
                <a:latin typeface="+mn-lt"/>
              </a:rPr>
              <a:t> (Power BI project)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 err="1">
                <a:effectLst/>
                <a:latin typeface="+mn-lt"/>
              </a:rPr>
              <a:t>Andmed</a:t>
            </a:r>
            <a:r>
              <a:rPr lang="en-GB" sz="1400" b="1" u="none" strike="noStrike" dirty="0">
                <a:effectLst/>
                <a:latin typeface="+mn-lt"/>
              </a:rPr>
              <a:t> </a:t>
            </a:r>
            <a:r>
              <a:rPr lang="en-GB" sz="1400" b="1" u="none" strike="noStrike" dirty="0" err="1">
                <a:effectLst/>
                <a:latin typeface="+mn-lt"/>
              </a:rPr>
              <a:t>ja</a:t>
            </a:r>
            <a:r>
              <a:rPr lang="en-GB" sz="1400" b="1" u="none" strike="noStrike" dirty="0">
                <a:effectLst/>
                <a:latin typeface="+mn-lt"/>
              </a:rPr>
              <a:t> </a:t>
            </a:r>
            <a:r>
              <a:rPr lang="en-GB" sz="1400" b="1" u="none" strike="noStrike" dirty="0" err="1">
                <a:effectLst/>
                <a:latin typeface="+mn-lt"/>
              </a:rPr>
              <a:t>seaded</a:t>
            </a:r>
            <a:r>
              <a:rPr lang="en-GB" sz="1400" b="1" u="none" strike="noStrike" dirty="0">
                <a:effectLst/>
                <a:latin typeface="+mn-lt"/>
              </a:rPr>
              <a:t>:</a:t>
            </a:r>
            <a:r>
              <a:rPr lang="en-GB" sz="1400" b="0" u="none" strike="noStrike" dirty="0">
                <a:effectLst/>
                <a:latin typeface="+mn-lt"/>
              </a:rPr>
              <a:t> .</a:t>
            </a:r>
            <a:r>
              <a:rPr lang="en-GB" sz="1400" b="0" u="none" strike="noStrike" dirty="0" err="1">
                <a:effectLst/>
                <a:latin typeface="+mn-lt"/>
              </a:rPr>
              <a:t>json</a:t>
            </a:r>
            <a:r>
              <a:rPr lang="en-GB" sz="1400" b="0" u="none" strike="noStrike" dirty="0">
                <a:effectLst/>
                <a:latin typeface="+mn-lt"/>
              </a:rPr>
              <a:t>, .csv, .xml, .</a:t>
            </a:r>
            <a:r>
              <a:rPr lang="en-GB" sz="1400" b="0" u="none" strike="noStrike" dirty="0" err="1">
                <a:effectLst/>
                <a:latin typeface="+mn-lt"/>
              </a:rPr>
              <a:t>yaml</a:t>
            </a:r>
            <a:endParaRPr lang="en-GB" sz="1400" b="0" u="none" strike="noStrike" dirty="0">
              <a:effectLst/>
              <a:latin typeface="+mn-lt"/>
            </a:endParaRP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 err="1">
                <a:effectLst/>
                <a:latin typeface="+mn-lt"/>
              </a:rPr>
              <a:t>Dokumentatsioon</a:t>
            </a:r>
            <a:r>
              <a:rPr lang="en-GB" sz="1400" b="1" u="none" strike="noStrike" dirty="0">
                <a:effectLst/>
                <a:latin typeface="+mn-lt"/>
              </a:rPr>
              <a:t>:</a:t>
            </a:r>
            <a:r>
              <a:rPr lang="en-GB" sz="1400" b="0" u="none" strike="noStrike" dirty="0">
                <a:effectLst/>
                <a:latin typeface="+mn-lt"/>
              </a:rPr>
              <a:t> .md (Markdown), .txt (</a:t>
            </a:r>
            <a:r>
              <a:rPr lang="en-GB" sz="1400" b="0" u="none" strike="noStrike" dirty="0" err="1">
                <a:effectLst/>
                <a:latin typeface="+mn-lt"/>
              </a:rPr>
              <a:t>tavaline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tekst</a:t>
            </a:r>
            <a:r>
              <a:rPr lang="en-GB" sz="1400" b="0" u="none" strike="noStrike" dirty="0">
                <a:effectLst/>
                <a:latin typeface="+mn-lt"/>
              </a:rPr>
              <a:t>)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GB" sz="1400" b="1" u="none" strike="noStrike" dirty="0">
                <a:effectLst/>
                <a:latin typeface="+mn-lt"/>
              </a:rPr>
              <a:t>❌ GitHub EI </a:t>
            </a:r>
            <a:r>
              <a:rPr lang="en-GB" sz="1400" b="1" u="none" strike="noStrike" dirty="0" err="1">
                <a:effectLst/>
                <a:latin typeface="+mn-lt"/>
              </a:rPr>
              <a:t>näita</a:t>
            </a:r>
            <a:r>
              <a:rPr lang="en-GB" sz="1400" b="1" u="none" strike="noStrike" dirty="0">
                <a:effectLst/>
                <a:latin typeface="+mn-lt"/>
              </a:rPr>
              <a:t> </a:t>
            </a:r>
            <a:r>
              <a:rPr lang="en-GB" sz="1400" b="1" u="none" strike="noStrike" dirty="0" err="1">
                <a:effectLst/>
                <a:latin typeface="+mn-lt"/>
              </a:rPr>
              <a:t>muudatusi</a:t>
            </a:r>
            <a:r>
              <a:rPr lang="en-GB" sz="1400" b="1" u="none" strike="noStrike" dirty="0">
                <a:effectLst/>
                <a:latin typeface="+mn-lt"/>
              </a:rPr>
              <a:t> (</a:t>
            </a:r>
            <a:r>
              <a:rPr lang="en-GB" sz="1400" b="1" u="none" strike="noStrike" dirty="0" err="1">
                <a:effectLst/>
                <a:latin typeface="+mn-lt"/>
              </a:rPr>
              <a:t>Binaarsed</a:t>
            </a:r>
            <a:r>
              <a:rPr lang="en-GB" sz="1400" b="1" u="none" strike="noStrike" dirty="0">
                <a:effectLst/>
                <a:latin typeface="+mn-lt"/>
              </a:rPr>
              <a:t> </a:t>
            </a:r>
            <a:r>
              <a:rPr lang="en-GB" sz="1400" b="1" u="none" strike="noStrike" dirty="0" err="1">
                <a:effectLst/>
                <a:latin typeface="+mn-lt"/>
              </a:rPr>
              <a:t>failid</a:t>
            </a:r>
            <a:r>
              <a:rPr lang="en-GB" sz="1400" b="1" u="none" strike="noStrike" dirty="0">
                <a:effectLst/>
                <a:latin typeface="+mn-lt"/>
              </a:rPr>
              <a:t>)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GB" sz="1400" b="0" u="none" strike="noStrike" dirty="0">
                <a:effectLst/>
                <a:latin typeface="+mn-lt"/>
              </a:rPr>
              <a:t>GitHub </a:t>
            </a:r>
            <a:r>
              <a:rPr lang="en-GB" sz="1400" b="0" u="none" strike="noStrike" dirty="0" err="1">
                <a:effectLst/>
                <a:latin typeface="+mn-lt"/>
              </a:rPr>
              <a:t>näitab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ainult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seda</a:t>
            </a:r>
            <a:r>
              <a:rPr lang="en-GB" sz="1400" b="0" u="none" strike="noStrike" dirty="0">
                <a:effectLst/>
                <a:latin typeface="+mn-lt"/>
              </a:rPr>
              <a:t>, et </a:t>
            </a:r>
            <a:r>
              <a:rPr lang="en-GB" sz="1400" b="0" u="none" strike="noStrike" dirty="0" err="1">
                <a:effectLst/>
                <a:latin typeface="+mn-lt"/>
              </a:rPr>
              <a:t>faili</a:t>
            </a:r>
            <a:r>
              <a:rPr lang="en-GB" sz="1400" b="0" u="none" strike="noStrike" dirty="0">
                <a:effectLst/>
                <a:latin typeface="+mn-lt"/>
              </a:rPr>
              <a:t> on </a:t>
            </a:r>
            <a:r>
              <a:rPr lang="en-GB" sz="1400" b="0" u="none" strike="noStrike" dirty="0" err="1">
                <a:effectLst/>
                <a:latin typeface="+mn-lt"/>
              </a:rPr>
              <a:t>muudetud</a:t>
            </a:r>
            <a:r>
              <a:rPr lang="en-GB" sz="1400" b="0" u="none" strike="noStrike" dirty="0">
                <a:effectLst/>
                <a:latin typeface="+mn-lt"/>
              </a:rPr>
              <a:t>, aga sisu </a:t>
            </a:r>
            <a:r>
              <a:rPr lang="en-GB" sz="1400" b="0" u="none" strike="noStrike" dirty="0" err="1">
                <a:effectLst/>
                <a:latin typeface="+mn-lt"/>
              </a:rPr>
              <a:t>võrrelda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ei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oska</a:t>
            </a:r>
            <a:r>
              <a:rPr lang="en-GB" sz="14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>
                <a:effectLst/>
                <a:latin typeface="+mn-lt"/>
              </a:rPr>
              <a:t>Power BI:</a:t>
            </a:r>
            <a:r>
              <a:rPr lang="en-GB" sz="1400" b="0" u="none" strike="noStrike" dirty="0">
                <a:effectLst/>
                <a:latin typeface="+mn-lt"/>
              </a:rPr>
              <a:t> .</a:t>
            </a:r>
            <a:r>
              <a:rPr lang="en-GB" sz="1400" b="0" u="none" strike="noStrike" dirty="0" err="1">
                <a:effectLst/>
                <a:latin typeface="+mn-lt"/>
              </a:rPr>
              <a:t>pbix</a:t>
            </a:r>
            <a:r>
              <a:rPr lang="en-GB" sz="1400" b="0" u="none" strike="noStrike" dirty="0">
                <a:effectLst/>
                <a:latin typeface="+mn-lt"/>
              </a:rPr>
              <a:t> (Power BI </a:t>
            </a:r>
            <a:r>
              <a:rPr lang="en-GB" sz="1400" b="0" u="none" strike="noStrike" dirty="0" err="1">
                <a:effectLst/>
                <a:latin typeface="+mn-lt"/>
              </a:rPr>
              <a:t>projektid</a:t>
            </a:r>
            <a:r>
              <a:rPr lang="en-GB" sz="1400" b="0" u="none" strike="noStrike" dirty="0">
                <a:effectLst/>
                <a:latin typeface="+mn-lt"/>
              </a:rPr>
              <a:t> on </a:t>
            </a:r>
            <a:r>
              <a:rPr lang="en-GB" sz="1400" b="0" u="none" strike="noStrike" dirty="0" err="1">
                <a:effectLst/>
                <a:latin typeface="+mn-lt"/>
              </a:rPr>
              <a:t>pakitud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failid</a:t>
            </a:r>
            <a:r>
              <a:rPr lang="en-GB" sz="1400" b="0" u="none" strike="noStrike" dirty="0">
                <a:effectLst/>
                <a:latin typeface="+mn-lt"/>
              </a:rPr>
              <a:t>, sisu </a:t>
            </a:r>
            <a:r>
              <a:rPr lang="en-GB" sz="1400" b="0" u="none" strike="noStrike" dirty="0" err="1">
                <a:effectLst/>
                <a:latin typeface="+mn-lt"/>
              </a:rPr>
              <a:t>võrdlust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GitHubis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ei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näe</a:t>
            </a:r>
            <a:r>
              <a:rPr lang="en-GB" sz="1400" b="0" u="none" strike="noStrike" dirty="0">
                <a:effectLst/>
                <a:latin typeface="+mn-lt"/>
              </a:rPr>
              <a:t>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 err="1">
                <a:effectLst/>
                <a:latin typeface="+mn-lt"/>
              </a:rPr>
              <a:t>Kontorifailid</a:t>
            </a:r>
            <a:r>
              <a:rPr lang="en-GB" sz="1400" b="1" u="none" strike="noStrike" dirty="0">
                <a:effectLst/>
                <a:latin typeface="+mn-lt"/>
              </a:rPr>
              <a:t>:</a:t>
            </a:r>
            <a:r>
              <a:rPr lang="en-GB" sz="1400" b="0" u="none" strike="noStrike" dirty="0">
                <a:effectLst/>
                <a:latin typeface="+mn-lt"/>
              </a:rPr>
              <a:t> .docx (Word), .xlsx (Excel), .pptx (PowerPoint), .pdf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 err="1">
                <a:effectLst/>
                <a:latin typeface="+mn-lt"/>
              </a:rPr>
              <a:t>Meedia</a:t>
            </a:r>
            <a:r>
              <a:rPr lang="en-GB" sz="1400" b="1" u="none" strike="noStrike" dirty="0">
                <a:effectLst/>
                <a:latin typeface="+mn-lt"/>
              </a:rPr>
              <a:t>:</a:t>
            </a:r>
            <a:r>
              <a:rPr lang="en-GB" sz="1400" b="0" u="none" strike="noStrike" dirty="0">
                <a:effectLst/>
                <a:latin typeface="+mn-lt"/>
              </a:rPr>
              <a:t> .</a:t>
            </a:r>
            <a:r>
              <a:rPr lang="en-GB" sz="1400" b="0" u="none" strike="noStrike" dirty="0" err="1">
                <a:effectLst/>
                <a:latin typeface="+mn-lt"/>
              </a:rPr>
              <a:t>png</a:t>
            </a:r>
            <a:r>
              <a:rPr lang="en-GB" sz="1400" b="0" u="none" strike="noStrike" dirty="0">
                <a:effectLst/>
                <a:latin typeface="+mn-lt"/>
              </a:rPr>
              <a:t>, .jpg (</a:t>
            </a:r>
            <a:r>
              <a:rPr lang="en-GB" sz="1400" b="0" u="none" strike="noStrike" dirty="0" err="1">
                <a:effectLst/>
                <a:latin typeface="+mn-lt"/>
              </a:rPr>
              <a:t>pildid</a:t>
            </a:r>
            <a:r>
              <a:rPr lang="en-GB" sz="1400" b="0" u="none" strike="noStrike" dirty="0">
                <a:effectLst/>
                <a:latin typeface="+mn-lt"/>
              </a:rPr>
              <a:t>), .mp3 (heli), .mp4 (video)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 err="1">
                <a:effectLst/>
                <a:latin typeface="+mn-lt"/>
              </a:rPr>
              <a:t>Disain</a:t>
            </a:r>
            <a:r>
              <a:rPr lang="en-GB" sz="1400" b="1" u="none" strike="noStrike" dirty="0">
                <a:effectLst/>
                <a:latin typeface="+mn-lt"/>
              </a:rPr>
              <a:t>:</a:t>
            </a:r>
            <a:r>
              <a:rPr lang="en-GB" sz="1400" b="0" u="none" strike="noStrike" dirty="0">
                <a:effectLst/>
                <a:latin typeface="+mn-lt"/>
              </a:rPr>
              <a:t> .</a:t>
            </a:r>
            <a:r>
              <a:rPr lang="en-GB" sz="1400" b="0" u="none" strike="noStrike" dirty="0" err="1">
                <a:effectLst/>
                <a:latin typeface="+mn-lt"/>
              </a:rPr>
              <a:t>psd</a:t>
            </a:r>
            <a:r>
              <a:rPr lang="en-GB" sz="1400" b="0" u="none" strike="noStrike" dirty="0">
                <a:effectLst/>
                <a:latin typeface="+mn-lt"/>
              </a:rPr>
              <a:t> (Photoshop), .ai (Illustrator)</a:t>
            </a:r>
            <a:endParaRPr lang="en-GB" sz="1050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187296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4F6CB-4AA2-A66B-1B64-37AFB7B3C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033204-81C6-D5BB-68AB-A63FAD281BE7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C842F-5458-76E8-026A-50F82A927584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8B909-2919-68EA-AA01-056E30D6EB58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</a:t>
            </a:r>
            <a:endParaRPr sz="2400" b="1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65C4A5-3859-B1EC-5664-769E1306B44D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67679B-7AFE-B558-C00F-5C4960BAD4F0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3F141-A8B8-7BEF-21A2-2CA273C92628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49512E-80CB-95B3-2800-D02DB9FFE096}"/>
              </a:ext>
            </a:extLst>
          </p:cNvPr>
          <p:cNvSpPr/>
          <p:nvPr/>
        </p:nvSpPr>
        <p:spPr>
          <a:xfrm>
            <a:off x="365760" y="1078992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AB2B0-3A80-BCB2-49C6-A6A94EBEDC2E}"/>
              </a:ext>
            </a:extLst>
          </p:cNvPr>
          <p:cNvSpPr txBox="1"/>
          <p:nvPr/>
        </p:nvSpPr>
        <p:spPr>
          <a:xfrm>
            <a:off x="365760" y="107899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Koolitaja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C2B8DBE-0644-E7FC-298A-138A68BB79D1}"/>
              </a:ext>
            </a:extLst>
          </p:cNvPr>
          <p:cNvSpPr/>
          <p:nvPr/>
        </p:nvSpPr>
        <p:spPr>
          <a:xfrm>
            <a:off x="365760" y="1554480"/>
            <a:ext cx="11318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BF5C9C-7CF9-734A-0948-02F17B80B7BC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Teise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branchi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tegemine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E75B0C-A499-2196-7EDC-18C765821DBB}"/>
              </a:ext>
            </a:extLst>
          </p:cNvPr>
          <p:cNvSpPr txBox="1"/>
          <p:nvPr/>
        </p:nvSpPr>
        <p:spPr>
          <a:xfrm>
            <a:off x="594359" y="2148840"/>
            <a:ext cx="9650307" cy="299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Veebis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branch ‘dev’</a:t>
            </a:r>
          </a:p>
          <a:p>
            <a:pPr>
              <a:spcAft>
                <a:spcPts val="800"/>
              </a:spcAft>
            </a:pP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Desktopis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branch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arvutisse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</a:p>
          <a:p>
            <a:pPr>
              <a:spcAft>
                <a:spcPts val="800"/>
              </a:spcAft>
            </a:pP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tekstifail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github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kausta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Lisandunud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commit to ‘dev’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Muudatuste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valimine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kommentaar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Commit to ‘dev’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Vajuta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‘Push Origin’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Vajuta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‘Preview Pull request’, Compare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Merge ‘main’.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2948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ADEA6-452B-D33C-FE72-D5280A3C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97A8CE-BC2A-4059-760D-0B54BED3E340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DE1AB6-1270-EA7E-9E52-45FB0B2228F8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918EE-1FE6-BC45-B0B6-DA0EF6B49AD2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6EF75F-B4F0-426A-78E5-CBBFBFF7B90A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C7C6D6-0FF7-D0BD-1073-5BD10D0888B0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1D47C6-DDE5-7AA7-CE05-6A261DDBB658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3A25DE-0C8A-178A-97BD-7ABAA30CE2FE}"/>
              </a:ext>
            </a:extLst>
          </p:cNvPr>
          <p:cNvSpPr/>
          <p:nvPr/>
        </p:nvSpPr>
        <p:spPr>
          <a:xfrm>
            <a:off x="365760" y="1078992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FA656-D32B-5984-164B-E2233FC0B3EC}"/>
              </a:ext>
            </a:extLst>
          </p:cNvPr>
          <p:cNvSpPr txBox="1"/>
          <p:nvPr/>
        </p:nvSpPr>
        <p:spPr>
          <a:xfrm>
            <a:off x="365760" y="107899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Koolitaja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147ED9D-2F75-ACD7-A79C-DC3B49B6DCD5}"/>
              </a:ext>
            </a:extLst>
          </p:cNvPr>
          <p:cNvSpPr/>
          <p:nvPr/>
        </p:nvSpPr>
        <p:spPr>
          <a:xfrm>
            <a:off x="365760" y="1554480"/>
            <a:ext cx="11318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C255D6-7353-2174-2EA7-5F9C2BDFE627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Teise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branchi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tegemine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DF415C-2621-07E2-0E2A-27325A0FCA55}"/>
              </a:ext>
            </a:extLst>
          </p:cNvPr>
          <p:cNvSpPr txBox="1"/>
          <p:nvPr/>
        </p:nvSpPr>
        <p:spPr>
          <a:xfrm>
            <a:off x="309438" y="1658811"/>
            <a:ext cx="965030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500" b="0" dirty="0">
                <a:solidFill>
                  <a:srgbClr val="334155"/>
                </a:solidFill>
                <a:latin typeface="Calibri"/>
              </a:rPr>
              <a:t>1.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Veebis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branch ‘dev’,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tulemuseks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2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branchi</a:t>
            </a: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b="0" dirty="0">
                <a:solidFill>
                  <a:srgbClr val="334155"/>
                </a:solidFill>
                <a:latin typeface="Calibri"/>
              </a:rPr>
              <a:t>2.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Desktopis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tõmba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branch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arvutisse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</a:p>
          <a:p>
            <a:pPr marL="342900" indent="-342900">
              <a:spcAft>
                <a:spcPts val="800"/>
              </a:spcAft>
              <a:buAutoNum type="arabicPeriod" startAt="2"/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b="0" dirty="0">
                <a:solidFill>
                  <a:srgbClr val="334155"/>
                </a:solidFill>
                <a:latin typeface="Calibri"/>
              </a:rPr>
              <a:t>3. Loo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tühi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tekstifail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github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kausta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(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kuhu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repo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tegid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) 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4. Tee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Märgista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soovitud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muudatused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5. Pane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kommentaar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vajuta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Commit to ‘dev’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6. Saada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tulemus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githubi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Vajuta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‘Push Origin’,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kontrolli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et fail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oleks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veebis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repos branch ‘dev’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7. Vali Preview Pull request</a:t>
            </a: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Create Pull request.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Vaata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üle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tulemus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peab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olema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nüüd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‘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main’is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6A4ECE-B3FA-6630-607B-A75230B44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158" y="904480"/>
            <a:ext cx="2965203" cy="11536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4546DA-271E-ADE9-C9F0-4C92546B1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198" y="356444"/>
            <a:ext cx="1014012" cy="17017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0EF387-1643-75BE-EEDB-A50F8B858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782" y="2223276"/>
            <a:ext cx="2378009" cy="47498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958EF5F-174F-15E1-0090-5ACE48446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402" y="2727421"/>
            <a:ext cx="1285445" cy="96408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6C72E74-AAFB-CC4E-A8DB-06ACA817CA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402" y="3771383"/>
            <a:ext cx="2249878" cy="64151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74597C8-DDC5-3402-CD84-FE161FAD5C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7040" y="2899425"/>
            <a:ext cx="2569027" cy="179612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3B9AFBA-75C2-A940-EF41-DFB1CA5C37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2198" y="5033879"/>
            <a:ext cx="1423299" cy="527249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70AE872-C3B9-E218-6535-EEE997BE7C91}"/>
              </a:ext>
            </a:extLst>
          </p:cNvPr>
          <p:cNvCxnSpPr>
            <a:cxnSpLocks/>
          </p:cNvCxnSpPr>
          <p:nvPr/>
        </p:nvCxnSpPr>
        <p:spPr>
          <a:xfrm>
            <a:off x="4057374" y="4509937"/>
            <a:ext cx="3505987" cy="1241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30212DD-C8FD-205D-02C1-5FB76B7595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6083" y="5837619"/>
            <a:ext cx="1128494" cy="6004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16A6DF-9A32-E96B-A2E6-9BF7794547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015" y="5739715"/>
            <a:ext cx="2569027" cy="72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4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A6B73-133B-6171-44E0-C56053E65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E528CB-4F49-AA50-3ED4-213EC7CBBC3E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3844A2-D9CD-0D87-6144-5476ED357B2B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77DF3-7A63-1403-8C9E-862D63B4D167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</a:t>
            </a:r>
            <a:endParaRPr sz="2400" b="1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81F61-C868-CE79-4B93-D020B7F4130D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6B406-28AE-F6ED-8330-9A2263D3DA62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74EBF0-AAA4-9F1C-F73E-11607132D56E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949CBCE-A3F8-780B-82E2-FBB9E17D74BD}"/>
              </a:ext>
            </a:extLst>
          </p:cNvPr>
          <p:cNvSpPr/>
          <p:nvPr/>
        </p:nvSpPr>
        <p:spPr>
          <a:xfrm>
            <a:off x="365760" y="1554480"/>
            <a:ext cx="11318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153E05-0207-716E-C681-7A4ECBD92419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Teistele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ligipääsu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andmine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F36B7B-FE14-94EF-B9A3-3DF4CC394BB6}"/>
              </a:ext>
            </a:extLst>
          </p:cNvPr>
          <p:cNvSpPr txBox="1"/>
          <p:nvPr/>
        </p:nvSpPr>
        <p:spPr>
          <a:xfrm>
            <a:off x="365760" y="1746504"/>
            <a:ext cx="9650307" cy="299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Luuakse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1 repo (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keegi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on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autor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omanik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Õiguste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andmine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	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Vaikimisi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Collaborators</a:t>
            </a: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	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Piiratakse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Branch Rules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muutmine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ühe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poolt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muutmine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teise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poolt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Commit to ‘dev’</a:t>
            </a: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Preview pull request, Create pull request, Merge to ‘main’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586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C59FE-7C6F-6CDC-D284-55421ADAB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5F5911-F994-0C48-2B41-4A4FB5E24548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DFDAC6-1190-9A59-C5A2-2BAE01A62684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4EAB8-63DF-385C-AB82-444F5A7F95F0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ISE</a:t>
            </a:r>
            <a:endParaRPr sz="2400" b="1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88F5AA-DA84-F82A-462D-3E10001A4F7B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ABC72-3807-78FF-930D-1CA9007C0DD0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D33FED-BC79-3E41-3ED6-E71D0381926C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25CE51D-8BF9-9918-D2E2-14F6AE1BDE18}"/>
              </a:ext>
            </a:extLst>
          </p:cNvPr>
          <p:cNvSpPr/>
          <p:nvPr/>
        </p:nvSpPr>
        <p:spPr>
          <a:xfrm>
            <a:off x="365760" y="1554480"/>
            <a:ext cx="11318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6722ED-E7A2-AFC2-7A94-955F35565E7D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Teistele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ligipääsu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andmine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7D501F-905C-235F-15AC-B56AE4CC3B2D}"/>
              </a:ext>
            </a:extLst>
          </p:cNvPr>
          <p:cNvSpPr txBox="1"/>
          <p:nvPr/>
        </p:nvSpPr>
        <p:spPr>
          <a:xfrm>
            <a:off x="151752" y="884194"/>
            <a:ext cx="9650307" cy="565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Võtke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2-3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kaupa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1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loob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repo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desktopis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Push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githubi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Collaborator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õigused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teisele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muutmine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mõlema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poolt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Commit to ‘dev’, Push Origin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Võrdle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Võrdle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veebis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et ‘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dev’is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on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aga ‘main’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harus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veel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mitte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Ettepanek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(Pull request)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ühendada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oma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‘main’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haruga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Kirjuta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kommentaar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Merge pull request (repo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omanik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või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collaborator)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Kontrolli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et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mõlemas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harus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059CBF-4CFF-6616-9541-1F3EC3E52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358" y="1693517"/>
            <a:ext cx="1894757" cy="5743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7BBD44-4484-DBD2-AC09-153F955C0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291" y="1734431"/>
            <a:ext cx="1661110" cy="4767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089D08-66B3-8BA0-06BE-69758D527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044" y="1139115"/>
            <a:ext cx="3145484" cy="11187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99CC3BC-FF06-2160-5953-C9BBC2E78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198" y="2554886"/>
            <a:ext cx="986531" cy="6934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518067-3DF1-5900-2A3D-F312BFCB328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5291"/>
          <a:stretch>
            <a:fillRect/>
          </a:stretch>
        </p:blipFill>
        <p:spPr>
          <a:xfrm>
            <a:off x="4227401" y="2596178"/>
            <a:ext cx="4151281" cy="6934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B65FAD0-D95F-F61D-ABC2-8CF8674BCA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493" y="2831728"/>
            <a:ext cx="2466810" cy="4010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C28CC21-8061-8945-946A-1B0136B1ED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3210" y="3914365"/>
            <a:ext cx="1246633" cy="3181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6926869-AB24-6ADD-33E4-C13331B4D2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5317" y="3587828"/>
            <a:ext cx="3080085" cy="27209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843C7D6-5C0E-9A39-0B22-E5B9F14833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40211" y="4553206"/>
            <a:ext cx="2839230" cy="187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97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0A976-476C-D605-2339-8F2638DF0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54CB5C-AD1E-3D11-88BE-EE3FF8197E7F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C0E86-E35F-8C0D-13FC-1B0A676209FE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9B6B0-29A0-4354-7456-6706F9FC3807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</a:t>
            </a:r>
            <a:endParaRPr sz="2400" b="1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535749-6B12-B0B5-19CF-F268FCEE9640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2FA400-95B5-02BF-DF38-5C79ED02B818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AF1FD2-5E54-01F7-A61B-4A2011626737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5B48333-1BC6-A0F8-5F8B-358C34E3BDB4}"/>
              </a:ext>
            </a:extLst>
          </p:cNvPr>
          <p:cNvSpPr/>
          <p:nvPr/>
        </p:nvSpPr>
        <p:spPr>
          <a:xfrm>
            <a:off x="365760" y="1554480"/>
            <a:ext cx="11318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BB0577-A86E-EDC9-C3E4-EDCE60F74C4F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>
                <a:solidFill>
                  <a:schemeClr val="bg1"/>
                </a:solidFill>
                <a:latin typeface="Calibri"/>
              </a:rPr>
              <a:t>Power BI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versioonihaldus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3D8589-C253-0FF3-0907-76D510B37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015198"/>
            <a:ext cx="4474464" cy="13453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4EDD5F8-5071-22BF-899C-3387FEBB0E60}"/>
              </a:ext>
            </a:extLst>
          </p:cNvPr>
          <p:cNvSpPr txBox="1"/>
          <p:nvPr/>
        </p:nvSpPr>
        <p:spPr>
          <a:xfrm>
            <a:off x="292608" y="1130487"/>
            <a:ext cx="9650307" cy="299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Kui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.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pbix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siis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näe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sisu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.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pbip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jaotab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Power BI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raporti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eraldi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failideks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mille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sisu Git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näeb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.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pbip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failed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muutmine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muudatused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guthubis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5179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0D68C-7467-89E4-151D-3E3B4AA6D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6EB581-3483-A244-2814-F67339D67B82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AC1839-826F-EBCE-F3B7-5DBF42AAC911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D9CE04-7308-2F28-FED2-E1037BF9C383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013E4E-0CB8-3DDA-5D25-5BA9E2B9D3D5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54E9F8-B539-451B-A874-6D8564DD6098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D23945-B22A-1A82-BF06-FDD4FCD6448D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DA1735-5AF8-921C-ACD9-1B1144A38AE8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Teise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branchi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tegemine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E98ED7-BFA4-C9DC-1DA7-03E09FB36DEC}"/>
              </a:ext>
            </a:extLst>
          </p:cNvPr>
          <p:cNvSpPr txBox="1"/>
          <p:nvPr/>
        </p:nvSpPr>
        <p:spPr>
          <a:xfrm>
            <a:off x="365760" y="1128428"/>
            <a:ext cx="5663184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334155"/>
                </a:solidFill>
                <a:latin typeface="Calibri"/>
              </a:rPr>
              <a:t>Loo power bi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raport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oma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repo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kausta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r>
              <a:rPr lang="en-GB" sz="1500" dirty="0" err="1">
                <a:solidFill>
                  <a:srgbClr val="334155"/>
                </a:solidFill>
                <a:latin typeface="Calibri"/>
              </a:rPr>
              <a:t>Salvesta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raport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.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pbip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versioonis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raportit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vaata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github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desktopis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muudatusi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r>
              <a:rPr lang="en-GB" sz="1500" dirty="0">
                <a:solidFill>
                  <a:srgbClr val="334155"/>
                </a:solidFill>
                <a:latin typeface="Calibri"/>
              </a:rPr>
              <a:t>Lisa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leht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r>
              <a:rPr lang="en-GB" sz="1500" dirty="0">
                <a:solidFill>
                  <a:srgbClr val="334155"/>
                </a:solidFill>
                <a:latin typeface="Calibri"/>
              </a:rPr>
              <a:t>Lisa visual</a:t>
            </a:r>
          </a:p>
          <a:p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uuri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mida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github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desktop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näitab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r>
              <a:rPr lang="en-GB" sz="1500" dirty="0">
                <a:solidFill>
                  <a:srgbClr val="334155"/>
                </a:solidFill>
                <a:latin typeface="Calibri"/>
              </a:rPr>
              <a:t>Tee commit, Push origin, Create pull request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korduvalt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r>
              <a:rPr lang="en-GB" sz="1500" dirty="0">
                <a:solidFill>
                  <a:srgbClr val="334155"/>
                </a:solidFill>
                <a:latin typeface="Calibri"/>
              </a:rPr>
              <a:t>Loo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paarilisega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ühine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raport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muutke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erinevaid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asju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püüdke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muudatused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kokku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viia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Avage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aruanne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‘main’ branchiest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see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peab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sisaldama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mõlema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muudatusi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F51A51-F794-E617-13CC-6AE493F77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705" y="1204492"/>
            <a:ext cx="1534577" cy="7279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5073074-F0C0-6950-559D-D724750F4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904" y="2126540"/>
            <a:ext cx="4395216" cy="241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11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7B1893-76FD-B04C-852B-56C97E10D4BB}"/>
              </a:ext>
            </a:extLst>
          </p:cNvPr>
          <p:cNvSpPr txBox="1"/>
          <p:nvPr/>
        </p:nvSpPr>
        <p:spPr>
          <a:xfrm>
            <a:off x="902208" y="612844"/>
            <a:ext cx="103875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Tagasiside</a:t>
            </a:r>
            <a:endParaRPr lang="en-GB" sz="2400" b="0" i="0" noProof="0" dirty="0">
              <a:solidFill>
                <a:srgbClr val="121212"/>
              </a:solidFill>
              <a:effectLst/>
              <a:latin typeface="Inte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121212"/>
              </a:solidFill>
              <a:latin typeface="Inte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Lõputööde</a:t>
            </a:r>
            <a:r>
              <a:rPr lang="en-GB" sz="2400" b="0" i="0" noProof="0" dirty="0">
                <a:solidFill>
                  <a:srgbClr val="121212"/>
                </a:solidFill>
                <a:effectLst/>
                <a:latin typeface="Inter"/>
              </a:rPr>
              <a:t> </a:t>
            </a: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arutelu</a:t>
            </a:r>
            <a:r>
              <a:rPr lang="en-GB" sz="2400" b="0" i="0" noProof="0" dirty="0">
                <a:solidFill>
                  <a:srgbClr val="121212"/>
                </a:solidFill>
                <a:effectLst/>
                <a:latin typeface="Inter"/>
              </a:rPr>
              <a:t> 18.09 </a:t>
            </a: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tähtaeg</a:t>
            </a:r>
            <a:endParaRPr lang="en-GB" sz="2400" dirty="0">
              <a:solidFill>
                <a:srgbClr val="121212"/>
              </a:solidFill>
              <a:latin typeface="Int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Lõputöö</a:t>
            </a:r>
            <a:r>
              <a:rPr lang="en-GB" sz="2400" b="0" i="0" noProof="0" dirty="0">
                <a:solidFill>
                  <a:srgbClr val="121212"/>
                </a:solidFill>
                <a:effectLst/>
                <a:latin typeface="Inter"/>
              </a:rPr>
              <a:t> </a:t>
            </a: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osad</a:t>
            </a:r>
            <a:r>
              <a:rPr lang="en-GB" sz="2400" b="0" i="0" noProof="0" dirty="0">
                <a:solidFill>
                  <a:srgbClr val="121212"/>
                </a:solidFill>
                <a:effectLst/>
                <a:latin typeface="Inter"/>
              </a:rPr>
              <a:t> </a:t>
            </a: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ja</a:t>
            </a:r>
            <a:r>
              <a:rPr lang="en-GB" sz="2400" b="0" i="0" noProof="0" dirty="0">
                <a:solidFill>
                  <a:srgbClr val="121212"/>
                </a:solidFill>
                <a:effectLst/>
                <a:latin typeface="Inter"/>
              </a:rPr>
              <a:t> </a:t>
            </a: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ajakava</a:t>
            </a:r>
            <a:endParaRPr lang="en-GB" sz="2400" b="0" i="0" noProof="0" dirty="0">
              <a:solidFill>
                <a:srgbClr val="121212"/>
              </a:solidFill>
              <a:effectLst/>
              <a:latin typeface="Int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21212"/>
                </a:solidFill>
                <a:latin typeface="Inter"/>
              </a:rPr>
              <a:t>T</a:t>
            </a: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eemade</a:t>
            </a:r>
            <a:r>
              <a:rPr lang="en-GB" sz="2400" b="0" i="0" noProof="0" dirty="0">
                <a:solidFill>
                  <a:srgbClr val="121212"/>
                </a:solidFill>
                <a:effectLst/>
                <a:latin typeface="Inter"/>
              </a:rPr>
              <a:t> </a:t>
            </a: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valiku</a:t>
            </a:r>
            <a:r>
              <a:rPr lang="en-GB" sz="2400" b="0" i="0" noProof="0" dirty="0">
                <a:solidFill>
                  <a:srgbClr val="121212"/>
                </a:solidFill>
                <a:effectLst/>
                <a:latin typeface="Inter"/>
              </a:rPr>
              <a:t> </a:t>
            </a: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kinnitamine</a:t>
            </a:r>
            <a:endParaRPr lang="en-GB" sz="2400" b="0" i="0" noProof="0" dirty="0">
              <a:solidFill>
                <a:srgbClr val="121212"/>
              </a:solidFill>
              <a:effectLst/>
              <a:latin typeface="Int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121212"/>
                </a:solidFill>
                <a:latin typeface="Inter"/>
              </a:rPr>
              <a:t>Oluline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on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praktiseerida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andmetega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töötamise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oskuseid</a:t>
            </a:r>
            <a:endParaRPr lang="en-GB" sz="2400" dirty="0">
              <a:solidFill>
                <a:srgbClr val="121212"/>
              </a:solidFill>
              <a:latin typeface="Int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121212"/>
                </a:solidFill>
                <a:latin typeface="Inter"/>
              </a:rPr>
              <a:t>Töö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peab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sisaldama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kõiki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osi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121212"/>
                </a:solidFill>
                <a:latin typeface="Inter"/>
              </a:rPr>
              <a:t>Andmete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import (kas python, fail, API)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121212"/>
                </a:solidFill>
                <a:latin typeface="Inter"/>
              </a:rPr>
              <a:t>Andmete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töötlemine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(python/SQL, M keel, DAX)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121212"/>
                </a:solidFill>
                <a:latin typeface="Inter"/>
              </a:rPr>
              <a:t>Andmete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salvestamine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PostgreSQL (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vm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kui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võimalik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121212"/>
                </a:solidFill>
                <a:latin typeface="Inter"/>
              </a:rPr>
              <a:t>Andmete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visualiseerimine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(Power BI)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võib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lisaks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ka python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äppi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teha</a:t>
            </a:r>
            <a:endParaRPr lang="en-GB" sz="2400" dirty="0">
              <a:solidFill>
                <a:srgbClr val="121212"/>
              </a:solidFill>
              <a:latin typeface="Inter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21212"/>
                </a:solidFill>
                <a:latin typeface="Inter"/>
              </a:rPr>
              <a:t>Git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kasutamine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(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github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või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mõni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muu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kui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soovi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on)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121212"/>
                </a:solidFill>
                <a:latin typeface="Inter"/>
              </a:rPr>
              <a:t>Äriküsimus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peab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olema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,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kuid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sellele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vastuse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leidmine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lisavõimalus</a:t>
            </a:r>
            <a:endParaRPr lang="en-GB" sz="2400" dirty="0">
              <a:solidFill>
                <a:srgbClr val="121212"/>
              </a:solidFill>
              <a:latin typeface="Int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21212"/>
                </a:solidFill>
                <a:latin typeface="Inter"/>
              </a:rPr>
              <a:t>K</a:t>
            </a: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onsultatsiooni</a:t>
            </a:r>
            <a:r>
              <a:rPr lang="en-GB" sz="2400" b="0" i="0" noProof="0" dirty="0">
                <a:solidFill>
                  <a:srgbClr val="121212"/>
                </a:solidFill>
                <a:effectLst/>
                <a:latin typeface="Inter"/>
              </a:rPr>
              <a:t> </a:t>
            </a: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aegade</a:t>
            </a:r>
            <a:r>
              <a:rPr lang="en-GB" sz="2400" b="0" i="0" noProof="0" dirty="0">
                <a:solidFill>
                  <a:srgbClr val="121212"/>
                </a:solidFill>
                <a:effectLst/>
                <a:latin typeface="Inter"/>
              </a:rPr>
              <a:t> </a:t>
            </a:r>
            <a:r>
              <a:rPr lang="en-GB" sz="2400" b="0" i="0" noProof="0" dirty="0" err="1">
                <a:solidFill>
                  <a:srgbClr val="121212"/>
                </a:solidFill>
                <a:effectLst/>
                <a:latin typeface="Inter"/>
              </a:rPr>
              <a:t>broneerimine</a:t>
            </a:r>
            <a:endParaRPr lang="en-GB" sz="2400" b="0" i="0" noProof="0" dirty="0">
              <a:solidFill>
                <a:srgbClr val="121212"/>
              </a:solidFill>
              <a:effectLst/>
              <a:latin typeface="Int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121212"/>
                </a:solidFill>
                <a:latin typeface="Inter"/>
              </a:rPr>
              <a:t>Töö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kohapeal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samas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ruumis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,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laudu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võib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ringi</a:t>
            </a:r>
            <a:r>
              <a:rPr lang="en-GB" sz="2400" dirty="0">
                <a:solidFill>
                  <a:srgbClr val="121212"/>
                </a:solidFill>
                <a:latin typeface="Inter"/>
              </a:rPr>
              <a:t> </a:t>
            </a:r>
            <a:r>
              <a:rPr lang="en-GB" sz="2400" dirty="0" err="1">
                <a:solidFill>
                  <a:srgbClr val="121212"/>
                </a:solidFill>
                <a:latin typeface="Inter"/>
              </a:rPr>
              <a:t>paigutada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9725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1FB96-6788-A9A3-B854-28F76070C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60F605-1219-35CA-A96B-4E9B10562F8E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82F188-8A54-2021-0CFE-A91E26A4D624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DC305A-9872-B221-2034-B0914D5F40C6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3CDDA-77C7-0175-6F25-A2E0F7E87AED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4A4B38-4493-568C-CD16-12283E8A35C4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1FB1289-19FE-39B9-E731-16FFD6F8CD1F}"/>
              </a:ext>
            </a:extLst>
          </p:cNvPr>
          <p:cNvSpPr/>
          <p:nvPr/>
        </p:nvSpPr>
        <p:spPr>
          <a:xfrm>
            <a:off x="365760" y="1554480"/>
            <a:ext cx="11318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078A80-77EF-2B1F-3512-C8F9F8CB10BD}"/>
              </a:ext>
            </a:extLst>
          </p:cNvPr>
          <p:cNvSpPr txBox="1"/>
          <p:nvPr/>
        </p:nvSpPr>
        <p:spPr>
          <a:xfrm>
            <a:off x="292608" y="26349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>
                <a:solidFill>
                  <a:srgbClr val="92D050"/>
                </a:solidFill>
                <a:latin typeface="Calibri"/>
              </a:rPr>
              <a:t>LISAHARJUTUS – python + </a:t>
            </a:r>
            <a:r>
              <a:rPr lang="en-GB" sz="1800" b="1" dirty="0" err="1">
                <a:solidFill>
                  <a:srgbClr val="92D050"/>
                </a:solidFill>
                <a:latin typeface="Calibri"/>
              </a:rPr>
              <a:t>sql</a:t>
            </a:r>
            <a:r>
              <a:rPr lang="en-GB" sz="1800" b="1" dirty="0">
                <a:solidFill>
                  <a:srgbClr val="92D050"/>
                </a:solidFill>
                <a:latin typeface="Calibri"/>
              </a:rPr>
              <a:t> + power bi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C7A5A5-F7BE-892C-864B-96A9F91EC11F}"/>
              </a:ext>
            </a:extLst>
          </p:cNvPr>
          <p:cNvSpPr txBox="1"/>
          <p:nvPr/>
        </p:nvSpPr>
        <p:spPr>
          <a:xfrm>
            <a:off x="292608" y="1130487"/>
            <a:ext cx="965030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Githubis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kaust</a:t>
            </a:r>
            <a:r>
              <a:rPr lang="en-GB" sz="2000" dirty="0">
                <a:solidFill>
                  <a:srgbClr val="334155"/>
                </a:solidFill>
              </a:rPr>
              <a:t> ‘</a:t>
            </a:r>
            <a:r>
              <a:rPr lang="en-GB" sz="2000" dirty="0" err="1">
                <a:solidFill>
                  <a:srgbClr val="334155"/>
                </a:solidFill>
              </a:rPr>
              <a:t>python_sql_pbi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harjutus</a:t>
            </a:r>
            <a:r>
              <a:rPr lang="en-GB" sz="2000" dirty="0">
                <a:solidFill>
                  <a:srgbClr val="334155"/>
                </a:solidFill>
              </a:rPr>
              <a:t>’</a:t>
            </a:r>
          </a:p>
          <a:p>
            <a:pPr marL="285750" indent="-285750">
              <a:spcAft>
                <a:spcPts val="800"/>
              </a:spcAft>
              <a:buFontTx/>
              <a:buChar char="-"/>
            </a:pP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Pythoniga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liikumisaktiivsuse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org +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tegevused</a:t>
            </a: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 marL="285750" indent="-285750">
              <a:spcAft>
                <a:spcPts val="800"/>
              </a:spcAft>
              <a:buFontTx/>
              <a:buChar char="-"/>
            </a:pPr>
            <a:r>
              <a:rPr lang="en-GB" sz="2000" dirty="0" err="1">
                <a:solidFill>
                  <a:srgbClr val="334155"/>
                </a:solidFill>
                <a:latin typeface="Calibri"/>
              </a:rPr>
              <a:t>Sql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dim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fakt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loomiseks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(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protseduur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)</a:t>
            </a:r>
          </a:p>
          <a:p>
            <a:pPr marL="285750" indent="-285750">
              <a:spcAft>
                <a:spcPts val="800"/>
              </a:spcAft>
              <a:buFontTx/>
              <a:buChar char="-"/>
            </a:pPr>
            <a:r>
              <a:rPr lang="en-GB" sz="2000" b="0" dirty="0">
                <a:solidFill>
                  <a:srgbClr val="334155"/>
                </a:solidFill>
                <a:latin typeface="Calibri"/>
              </a:rPr>
              <a:t>Power bi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raport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postgre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pealt</a:t>
            </a:r>
            <a:endParaRPr lang="en-GB" sz="2000" b="0" dirty="0">
              <a:solidFill>
                <a:srgbClr val="33415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881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1235</Words>
  <Application>Microsoft Office PowerPoint</Application>
  <PresentationFormat>Widescreen</PresentationFormat>
  <Paragraphs>205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Google Sans</vt:lpstr>
      <vt:lpstr>Inter</vt:lpstr>
      <vt:lpstr>Office Theme</vt:lpstr>
      <vt:lpstr>Päevakava - XV päev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Emilie Abel</cp:lastModifiedBy>
  <cp:revision>12</cp:revision>
  <dcterms:created xsi:type="dcterms:W3CDTF">2013-01-27T09:14:16Z</dcterms:created>
  <dcterms:modified xsi:type="dcterms:W3CDTF">2026-10-02T07:47:47Z</dcterms:modified>
  <cp:category/>
</cp:coreProperties>
</file>