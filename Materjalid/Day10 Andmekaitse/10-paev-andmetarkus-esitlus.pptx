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493" r:id="rId5"/>
    <p:sldId id="514" r:id="rId6"/>
    <p:sldId id="259" r:id="rId7"/>
    <p:sldId id="670" r:id="rId8"/>
    <p:sldId id="260" r:id="rId9"/>
    <p:sldId id="518" r:id="rId10"/>
    <p:sldId id="519" r:id="rId11"/>
    <p:sldId id="675" r:id="rId12"/>
    <p:sldId id="676" r:id="rId13"/>
    <p:sldId id="265" r:id="rId14"/>
    <p:sldId id="261" r:id="rId15"/>
    <p:sldId id="677" r:id="rId16"/>
    <p:sldId id="504" r:id="rId17"/>
    <p:sldId id="679" r:id="rId18"/>
    <p:sldId id="440" r:id="rId19"/>
    <p:sldId id="524" r:id="rId20"/>
    <p:sldId id="671" r:id="rId21"/>
    <p:sldId id="262" r:id="rId22"/>
    <p:sldId id="646" r:id="rId23"/>
    <p:sldId id="523" r:id="rId24"/>
    <p:sldId id="672" r:id="rId25"/>
    <p:sldId id="268" r:id="rId26"/>
    <p:sldId id="267" r:id="rId27"/>
    <p:sldId id="673" r:id="rId28"/>
    <p:sldId id="674" r:id="rId29"/>
    <p:sldId id="521" r:id="rId30"/>
    <p:sldId id="680" r:id="rId31"/>
    <p:sldId id="490" r:id="rId32"/>
    <p:sldId id="576" r:id="rId33"/>
    <p:sldId id="681" r:id="rId34"/>
  </p:sldIdLst>
  <p:sldSz cx="12192000" cy="6858000"/>
  <p:notesSz cx="6858000" cy="9144000"/>
  <p:embeddedFontLst>
    <p:embeddedFont>
      <p:font typeface="Inter" panose="020B0604020202020204" charset="0"/>
      <p:regular r:id="rId37"/>
      <p:bold r:id="rId38"/>
      <p:italic r:id="rId39"/>
      <p:boldItalic r:id="rId40"/>
    </p:embeddedFont>
    <p:embeddedFont>
      <p:font typeface="Inter Bold" panose="020B0604020202020204" charset="0"/>
      <p:bold r:id="rId41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9276F-A3BE-4F18-A945-04EEB15F3F1C}" v="16" dt="2026-09-11T04:52:56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addSld delSld modSld sldOrd">
      <pc:chgData name="Emilie Abel" userId="20dec598-1860-40de-ab3f-181316cc4da6" providerId="ADAL" clId="{3EAE1975-14BE-41D5-9E3B-28573F0EE5DC}" dt="2026-09-11T04:53:21.033" v="232" actId="20577"/>
      <pc:docMkLst>
        <pc:docMk/>
      </pc:docMkLst>
      <pc:sldChg chg="modSp mod">
        <pc:chgData name="Emilie Abel" userId="20dec598-1860-40de-ab3f-181316cc4da6" providerId="ADAL" clId="{3EAE1975-14BE-41D5-9E3B-28573F0EE5DC}" dt="2026-09-11T03:51:48.229" v="54" actId="20577"/>
        <pc:sldMkLst>
          <pc:docMk/>
          <pc:sldMk cId="0" sldId="260"/>
        </pc:sldMkLst>
        <pc:graphicFrameChg chg="modGraphic">
          <ac:chgData name="Emilie Abel" userId="20dec598-1860-40de-ab3f-181316cc4da6" providerId="ADAL" clId="{3EAE1975-14BE-41D5-9E3B-28573F0EE5DC}" dt="2026-09-11T03:51:48.229" v="54" actId="20577"/>
          <ac:graphicFrameMkLst>
            <pc:docMk/>
            <pc:sldMk cId="0" sldId="260"/>
            <ac:graphicFrameMk id="9" creationId="{00000000-0000-0000-0000-000000000000}"/>
          </ac:graphicFrameMkLst>
        </pc:graphicFrameChg>
      </pc:sldChg>
      <pc:sldChg chg="addSp modSp mod">
        <pc:chgData name="Emilie Abel" userId="20dec598-1860-40de-ab3f-181316cc4da6" providerId="ADAL" clId="{3EAE1975-14BE-41D5-9E3B-28573F0EE5DC}" dt="2026-09-11T04:29:49.410" v="72"/>
        <pc:sldMkLst>
          <pc:docMk/>
          <pc:sldMk cId="0" sldId="261"/>
        </pc:sldMkLst>
        <pc:spChg chg="mod">
          <ac:chgData name="Emilie Abel" userId="20dec598-1860-40de-ab3f-181316cc4da6" providerId="ADAL" clId="{3EAE1975-14BE-41D5-9E3B-28573F0EE5DC}" dt="2026-09-11T04:29:49.206" v="5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29:49.268" v="62"/>
          <ac:spMkLst>
            <pc:docMk/>
            <pc:sldMk cId="0" sldId="261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29:49.240" v="5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29:49.287" v="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29:49.256" v="6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29:49.300" v="66"/>
          <ac:spMkLst>
            <pc:docMk/>
            <pc:sldMk cId="0" sldId="261"/>
            <ac:spMk id="20" creationId="{00000000-0000-0000-0000-000000000000}"/>
          </ac:spMkLst>
        </pc:spChg>
        <pc:picChg chg="add mod">
          <ac:chgData name="Emilie Abel" userId="20dec598-1860-40de-ab3f-181316cc4da6" providerId="ADAL" clId="{3EAE1975-14BE-41D5-9E3B-28573F0EE5DC}" dt="2026-09-11T04:29:49.357" v="68"/>
          <ac:picMkLst>
            <pc:docMk/>
            <pc:sldMk cId="0" sldId="261"/>
            <ac:picMk id="7" creationId="{9BA234BF-6143-7021-51C8-48DDA8B41FA0}"/>
          </ac:picMkLst>
        </pc:picChg>
        <pc:picChg chg="add mod">
          <ac:chgData name="Emilie Abel" userId="20dec598-1860-40de-ab3f-181316cc4da6" providerId="ADAL" clId="{3EAE1975-14BE-41D5-9E3B-28573F0EE5DC}" dt="2026-09-11T04:29:49.380" v="70"/>
          <ac:picMkLst>
            <pc:docMk/>
            <pc:sldMk cId="0" sldId="261"/>
            <ac:picMk id="22" creationId="{56CDA103-0A42-39A3-4D3D-AB0B180C5AC6}"/>
          </ac:picMkLst>
        </pc:picChg>
        <pc:picChg chg="add mod">
          <ac:chgData name="Emilie Abel" userId="20dec598-1860-40de-ab3f-181316cc4da6" providerId="ADAL" clId="{3EAE1975-14BE-41D5-9E3B-28573F0EE5DC}" dt="2026-09-11T04:29:49.410" v="72"/>
          <ac:picMkLst>
            <pc:docMk/>
            <pc:sldMk cId="0" sldId="261"/>
            <ac:picMk id="24" creationId="{7F37D039-0F8C-050D-0AED-E491F1E37615}"/>
          </ac:picMkLst>
        </pc:picChg>
      </pc:sldChg>
      <pc:sldChg chg="delSp modSp mod">
        <pc:chgData name="Emilie Abel" userId="20dec598-1860-40de-ab3f-181316cc4da6" providerId="ADAL" clId="{3EAE1975-14BE-41D5-9E3B-28573F0EE5DC}" dt="2026-09-11T04:53:21.033" v="232" actId="20577"/>
        <pc:sldMkLst>
          <pc:docMk/>
          <pc:sldMk cId="0" sldId="262"/>
        </pc:sldMkLst>
        <pc:spChg chg="del mod">
          <ac:chgData name="Emilie Abel" userId="20dec598-1860-40de-ab3f-181316cc4da6" providerId="ADAL" clId="{3EAE1975-14BE-41D5-9E3B-28573F0EE5DC}" dt="2026-09-11T04:53:02.368" v="217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53:21.033" v="232" actId="20577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11T04:41:21.839" v="112" actId="20577"/>
        <pc:sldMkLst>
          <pc:docMk/>
          <pc:sldMk cId="0" sldId="268"/>
        </pc:sldMkLst>
        <pc:spChg chg="mod">
          <ac:chgData name="Emilie Abel" userId="20dec598-1860-40de-ab3f-181316cc4da6" providerId="ADAL" clId="{3EAE1975-14BE-41D5-9E3B-28573F0EE5DC}" dt="2026-09-11T04:41:21.839" v="112" actId="20577"/>
          <ac:spMkLst>
            <pc:docMk/>
            <pc:sldMk cId="0" sldId="268"/>
            <ac:spMk id="14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11T03:50:25.926" v="41" actId="20577"/>
        <pc:sldMkLst>
          <pc:docMk/>
          <pc:sldMk cId="1135419376" sldId="493"/>
        </pc:sldMkLst>
        <pc:graphicFrameChg chg="modGraphic">
          <ac:chgData name="Emilie Abel" userId="20dec598-1860-40de-ab3f-181316cc4da6" providerId="ADAL" clId="{3EAE1975-14BE-41D5-9E3B-28573F0EE5DC}" dt="2026-09-11T03:50:25.926" v="41" actId="20577"/>
          <ac:graphicFrameMkLst>
            <pc:docMk/>
            <pc:sldMk cId="1135419376" sldId="493"/>
            <ac:graphicFrameMk id="5" creationId="{CBF1AB3B-1697-834A-B482-18B1385C686D}"/>
          </ac:graphicFrameMkLst>
        </pc:graphicFrameChg>
      </pc:sldChg>
      <pc:sldChg chg="add ord">
        <pc:chgData name="Emilie Abel" userId="20dec598-1860-40de-ab3f-181316cc4da6" providerId="ADAL" clId="{3EAE1975-14BE-41D5-9E3B-28573F0EE5DC}" dt="2026-09-11T04:43:09.023" v="118"/>
        <pc:sldMkLst>
          <pc:docMk/>
          <pc:sldMk cId="1640365156" sldId="504"/>
        </pc:sldMkLst>
      </pc:sldChg>
      <pc:sldChg chg="del">
        <pc:chgData name="Emilie Abel" userId="20dec598-1860-40de-ab3f-181316cc4da6" providerId="ADAL" clId="{3EAE1975-14BE-41D5-9E3B-28573F0EE5DC}" dt="2026-09-11T04:42:03.228" v="113" actId="2696"/>
        <pc:sldMkLst>
          <pc:docMk/>
          <pc:sldMk cId="2443866233" sldId="504"/>
        </pc:sldMkLst>
      </pc:sldChg>
      <pc:sldChg chg="modSp mod">
        <pc:chgData name="Emilie Abel" userId="20dec598-1860-40de-ab3f-181316cc4da6" providerId="ADAL" clId="{3EAE1975-14BE-41D5-9E3B-28573F0EE5DC}" dt="2026-09-11T03:50:37.453" v="52" actId="20577"/>
        <pc:sldMkLst>
          <pc:docMk/>
          <pc:sldMk cId="3637694684" sldId="514"/>
        </pc:sldMkLst>
        <pc:spChg chg="mod">
          <ac:chgData name="Emilie Abel" userId="20dec598-1860-40de-ab3f-181316cc4da6" providerId="ADAL" clId="{3EAE1975-14BE-41D5-9E3B-28573F0EE5DC}" dt="2026-09-11T03:50:37.453" v="52" actId="20577"/>
          <ac:spMkLst>
            <pc:docMk/>
            <pc:sldMk cId="3637694684" sldId="514"/>
            <ac:spMk id="12" creationId="{2E9B4962-FAD2-72FC-3C72-1983E533049A}"/>
          </ac:spMkLst>
        </pc:spChg>
      </pc:sldChg>
      <pc:sldChg chg="add">
        <pc:chgData name="Emilie Abel" userId="20dec598-1860-40de-ab3f-181316cc4da6" providerId="ADAL" clId="{3EAE1975-14BE-41D5-9E3B-28573F0EE5DC}" dt="2026-09-11T04:42:48.173" v="116"/>
        <pc:sldMkLst>
          <pc:docMk/>
          <pc:sldMk cId="357851997" sldId="576"/>
        </pc:sldMkLst>
      </pc:sldChg>
      <pc:sldChg chg="add del">
        <pc:chgData name="Emilie Abel" userId="20dec598-1860-40de-ab3f-181316cc4da6" providerId="ADAL" clId="{3EAE1975-14BE-41D5-9E3B-28573F0EE5DC}" dt="2026-09-11T04:42:42.655" v="115" actId="2696"/>
        <pc:sldMkLst>
          <pc:docMk/>
          <pc:sldMk cId="1004236082" sldId="576"/>
        </pc:sldMkLst>
      </pc:sldChg>
      <pc:sldChg chg="del">
        <pc:chgData name="Emilie Abel" userId="20dec598-1860-40de-ab3f-181316cc4da6" providerId="ADAL" clId="{3EAE1975-14BE-41D5-9E3B-28573F0EE5DC}" dt="2026-09-11T04:42:03.228" v="113" actId="2696"/>
        <pc:sldMkLst>
          <pc:docMk/>
          <pc:sldMk cId="2888773393" sldId="576"/>
        </pc:sldMkLst>
      </pc:sldChg>
      <pc:sldChg chg="modSp mod">
        <pc:chgData name="Emilie Abel" userId="20dec598-1860-40de-ab3f-181316cc4da6" providerId="ADAL" clId="{3EAE1975-14BE-41D5-9E3B-28573F0EE5DC}" dt="2026-09-11T04:38:34.702" v="102" actId="20577"/>
        <pc:sldMkLst>
          <pc:docMk/>
          <pc:sldMk cId="0" sldId="677"/>
        </pc:sldMkLst>
        <pc:spChg chg="mod">
          <ac:chgData name="Emilie Abel" userId="20dec598-1860-40de-ab3f-181316cc4da6" providerId="ADAL" clId="{3EAE1975-14BE-41D5-9E3B-28573F0EE5DC}" dt="2026-09-11T04:38:34.702" v="102" actId="20577"/>
          <ac:spMkLst>
            <pc:docMk/>
            <pc:sldMk cId="0" sldId="677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38:24.575" v="86" actId="20577"/>
          <ac:spMkLst>
            <pc:docMk/>
            <pc:sldMk cId="0" sldId="677"/>
            <ac:spMk id="8" creationId="{00000000-0000-0000-0000-000000000000}"/>
          </ac:spMkLst>
        </pc:spChg>
      </pc:sldChg>
      <pc:sldChg chg="add">
        <pc:chgData name="Emilie Abel" userId="20dec598-1860-40de-ab3f-181316cc4da6" providerId="ADAL" clId="{3EAE1975-14BE-41D5-9E3B-28573F0EE5DC}" dt="2026-09-11T04:40:44.348" v="105"/>
        <pc:sldMkLst>
          <pc:docMk/>
          <pc:sldMk cId="3250137005" sldId="678"/>
        </pc:sldMkLst>
      </pc:sldChg>
      <pc:sldChg chg="delSp modSp mod">
        <pc:chgData name="Emilie Abel" userId="20dec598-1860-40de-ab3f-181316cc4da6" providerId="ADAL" clId="{3EAE1975-14BE-41D5-9E3B-28573F0EE5DC}" dt="2026-09-11T04:51:49.530" v="205" actId="478"/>
        <pc:sldMkLst>
          <pc:docMk/>
          <pc:sldMk cId="0" sldId="679"/>
        </pc:sldMkLst>
        <pc:spChg chg="del">
          <ac:chgData name="Emilie Abel" userId="20dec598-1860-40de-ab3f-181316cc4da6" providerId="ADAL" clId="{3EAE1975-14BE-41D5-9E3B-28573F0EE5DC}" dt="2026-09-11T04:51:49.530" v="205" actId="478"/>
          <ac:spMkLst>
            <pc:docMk/>
            <pc:sldMk cId="0" sldId="679"/>
            <ac:spMk id="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11T04:51:37.028" v="204" actId="20577"/>
          <ac:spMkLst>
            <pc:docMk/>
            <pc:sldMk cId="0" sldId="679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T/TXT/HTML/?uri=CELEX:32016R0679#art_9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ki.ee/isikuandmed/andmetootlejale/tootlemise-oiguslikud-alused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03A9-ECA8-3DCD-B4F0-B2A925BB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33C5E-8F44-167D-6638-52B1F3CBB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0EAB0-05C9-E582-FBE5-0EA3ED0C9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0" dirty="0" err="1">
                <a:effectLst/>
              </a:rPr>
              <a:t>Kuigi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mõisteid</a:t>
            </a:r>
            <a:r>
              <a:rPr lang="en-GB" b="0" dirty="0">
                <a:effectLst/>
              </a:rPr>
              <a:t> </a:t>
            </a:r>
            <a:r>
              <a:rPr lang="en-GB" b="1" dirty="0" err="1">
                <a:effectLst/>
              </a:rPr>
              <a:t>andmehaldus</a:t>
            </a:r>
            <a:r>
              <a:rPr lang="en-GB" b="0" dirty="0">
                <a:effectLst/>
              </a:rPr>
              <a:t> (</a:t>
            </a:r>
            <a:r>
              <a:rPr lang="en-GB" b="0" i="1" dirty="0">
                <a:effectLst/>
              </a:rPr>
              <a:t>data management</a:t>
            </a:r>
            <a:r>
              <a:rPr lang="en-GB" b="0" dirty="0">
                <a:effectLst/>
              </a:rPr>
              <a:t>) </a:t>
            </a:r>
            <a:r>
              <a:rPr lang="en-GB" b="0" dirty="0" err="1">
                <a:effectLst/>
              </a:rPr>
              <a:t>ja</a:t>
            </a:r>
            <a:r>
              <a:rPr lang="en-GB" b="0" dirty="0">
                <a:effectLst/>
              </a:rPr>
              <a:t> </a:t>
            </a:r>
            <a:r>
              <a:rPr lang="en-GB" b="1" dirty="0" err="1">
                <a:effectLst/>
              </a:rPr>
              <a:t>andmekorraldus</a:t>
            </a:r>
            <a:r>
              <a:rPr lang="en-GB" b="0" dirty="0">
                <a:effectLst/>
              </a:rPr>
              <a:t> (</a:t>
            </a:r>
            <a:r>
              <a:rPr lang="en-GB" b="0" i="1" dirty="0">
                <a:effectLst/>
              </a:rPr>
              <a:t>data governance</a:t>
            </a:r>
            <a:r>
              <a:rPr lang="en-GB" b="0" dirty="0">
                <a:effectLst/>
              </a:rPr>
              <a:t>) </a:t>
            </a:r>
            <a:r>
              <a:rPr lang="en-GB" b="0" dirty="0" err="1">
                <a:effectLst/>
              </a:rPr>
              <a:t>kasutatakse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sageli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samatähenduslikult</a:t>
            </a:r>
            <a:r>
              <a:rPr lang="en-GB" b="0" dirty="0">
                <a:effectLst/>
              </a:rPr>
              <a:t>, on </a:t>
            </a:r>
            <a:r>
              <a:rPr lang="en-GB" b="0" dirty="0" err="1">
                <a:effectLst/>
              </a:rPr>
              <a:t>neil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sisuline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ja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oluline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vahe</a:t>
            </a:r>
            <a:r>
              <a:rPr lang="en-GB" b="0" dirty="0">
                <a:effectLst/>
              </a:rPr>
              <a:t>.</a:t>
            </a:r>
          </a:p>
          <a:p>
            <a:r>
              <a:rPr lang="en-GB" b="0" dirty="0" err="1">
                <a:effectLst/>
              </a:rPr>
              <a:t>Lühidalt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öeldes</a:t>
            </a:r>
            <a:r>
              <a:rPr lang="en-GB" b="0" dirty="0">
                <a:effectLst/>
              </a:rPr>
              <a:t>: </a:t>
            </a:r>
            <a:r>
              <a:rPr lang="en-GB" b="1" dirty="0" err="1">
                <a:effectLst/>
              </a:rPr>
              <a:t>andmekorraldus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määrab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reeglid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ja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strateegia</a:t>
            </a:r>
            <a:r>
              <a:rPr lang="en-GB" b="1" dirty="0">
                <a:effectLst/>
              </a:rPr>
              <a:t> (</a:t>
            </a:r>
            <a:r>
              <a:rPr lang="en-GB" b="1" dirty="0" err="1">
                <a:effectLst/>
              </a:rPr>
              <a:t>mida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ja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miks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tehakse</a:t>
            </a:r>
            <a:r>
              <a:rPr lang="en-GB" b="1" dirty="0">
                <a:effectLst/>
              </a:rPr>
              <a:t>), </a:t>
            </a:r>
            <a:r>
              <a:rPr lang="en-GB" b="1" dirty="0" err="1">
                <a:effectLst/>
              </a:rPr>
              <a:t>andmehaldus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viib</a:t>
            </a:r>
            <a:r>
              <a:rPr lang="en-GB" b="1" dirty="0">
                <a:effectLst/>
              </a:rPr>
              <a:t> need </a:t>
            </a:r>
            <a:r>
              <a:rPr lang="en-GB" b="1" dirty="0" err="1">
                <a:effectLst/>
              </a:rPr>
              <a:t>reeglid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ellu</a:t>
            </a:r>
            <a:r>
              <a:rPr lang="en-GB" b="1" dirty="0">
                <a:effectLst/>
              </a:rPr>
              <a:t> (</a:t>
            </a:r>
            <a:r>
              <a:rPr lang="en-GB" b="1" dirty="0" err="1">
                <a:effectLst/>
              </a:rPr>
              <a:t>kuidas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tehakse</a:t>
            </a:r>
            <a:r>
              <a:rPr lang="en-GB" b="1" dirty="0">
                <a:effectLst/>
              </a:rPr>
              <a:t>).</a:t>
            </a:r>
            <a:endParaRPr lang="en-GB" b="0" dirty="0">
              <a:effectLst/>
            </a:endParaRPr>
          </a:p>
          <a:p>
            <a:r>
              <a:rPr lang="en-GB" b="0" dirty="0" err="1">
                <a:effectLst/>
              </a:rPr>
              <a:t>Siin</a:t>
            </a:r>
            <a:r>
              <a:rPr lang="en-GB" b="0" dirty="0">
                <a:effectLst/>
              </a:rPr>
              <a:t> on </a:t>
            </a:r>
            <a:r>
              <a:rPr lang="en-GB" b="0" dirty="0" err="1">
                <a:effectLst/>
              </a:rPr>
              <a:t>nende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kahe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mõiste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täpsem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võrdlus</a:t>
            </a:r>
            <a:r>
              <a:rPr lang="en-GB" b="0" dirty="0">
                <a:effectLst/>
              </a:rPr>
              <a:t>:</a:t>
            </a:r>
          </a:p>
          <a:p>
            <a:pPr fontAlgn="t"/>
            <a:r>
              <a:rPr lang="en-GB" dirty="0" err="1">
                <a:effectLst/>
              </a:rPr>
              <a:t>Omadus</a:t>
            </a:r>
            <a:endParaRPr lang="en-GB" dirty="0">
              <a:effectLst/>
            </a:endParaRPr>
          </a:p>
          <a:p>
            <a:pPr fontAlgn="t"/>
            <a:r>
              <a:rPr lang="en-GB" dirty="0">
                <a:effectLst/>
              </a:rPr>
              <a:t>📊 </a:t>
            </a:r>
            <a:r>
              <a:rPr lang="en-GB" dirty="0" err="1">
                <a:effectLst/>
              </a:rPr>
              <a:t>Andmekorraldus</a:t>
            </a:r>
            <a:r>
              <a:rPr lang="en-GB" dirty="0">
                <a:effectLst/>
              </a:rPr>
              <a:t> (</a:t>
            </a:r>
            <a:r>
              <a:rPr lang="en-GB" i="1" dirty="0">
                <a:effectLst/>
              </a:rPr>
              <a:t>Data Governance</a:t>
            </a:r>
            <a:r>
              <a:rPr lang="en-GB" dirty="0">
                <a:effectLst/>
              </a:rPr>
              <a:t>)</a:t>
            </a:r>
          </a:p>
          <a:p>
            <a:pPr fontAlgn="t"/>
            <a:r>
              <a:rPr lang="en-GB" dirty="0">
                <a:effectLst/>
              </a:rPr>
              <a:t>🛠 </a:t>
            </a:r>
            <a:r>
              <a:rPr lang="en-GB" dirty="0" err="1">
                <a:effectLst/>
              </a:rPr>
              <a:t>Andmehaldus</a:t>
            </a:r>
            <a:r>
              <a:rPr lang="en-GB" dirty="0">
                <a:effectLst/>
              </a:rPr>
              <a:t> (</a:t>
            </a:r>
            <a:r>
              <a:rPr lang="en-GB" i="1" dirty="0">
                <a:effectLst/>
              </a:rPr>
              <a:t>Data Management</a:t>
            </a:r>
            <a:r>
              <a:rPr lang="en-GB" dirty="0">
                <a:effectLst/>
              </a:rPr>
              <a:t>)</a:t>
            </a:r>
          </a:p>
          <a:p>
            <a:r>
              <a:rPr lang="en-GB" b="1" dirty="0" err="1">
                <a:effectLst/>
              </a:rPr>
              <a:t>FookusStrateegia</a:t>
            </a:r>
            <a:r>
              <a:rPr lang="en-GB" b="1" dirty="0">
                <a:effectLst/>
              </a:rPr>
              <a:t>, </a:t>
            </a:r>
            <a:r>
              <a:rPr lang="en-GB" b="1" dirty="0" err="1">
                <a:effectLst/>
              </a:rPr>
              <a:t>reeglid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ja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õigused</a:t>
            </a:r>
            <a:r>
              <a:rPr lang="en-GB" b="1" dirty="0">
                <a:effectLst/>
              </a:rPr>
              <a:t>.</a:t>
            </a:r>
            <a:r>
              <a:rPr lang="en-GB" dirty="0">
                <a:effectLst/>
              </a:rPr>
              <a:t> Määrab </a:t>
            </a:r>
            <a:r>
              <a:rPr lang="en-GB" dirty="0" err="1">
                <a:effectLst/>
              </a:rPr>
              <a:t>kindlaks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kes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andmete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eest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vastutab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milliseid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reegleid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tuleb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täita.</a:t>
            </a:r>
            <a:r>
              <a:rPr lang="en-GB" b="1" dirty="0" err="1">
                <a:effectLst/>
              </a:rPr>
              <a:t>Täitmine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ja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tehnoloogia</a:t>
            </a:r>
            <a:r>
              <a:rPr lang="en-GB" b="1" dirty="0">
                <a:effectLst/>
              </a:rPr>
              <a:t>.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Tegeleb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andmete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igapäevase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kogumise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salvestamise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töötlemise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kaitsmisega</a:t>
            </a:r>
            <a:r>
              <a:rPr lang="en-GB" dirty="0">
                <a:effectLst/>
              </a:rPr>
              <a:t>.</a:t>
            </a:r>
          </a:p>
          <a:p>
            <a:r>
              <a:rPr lang="en-GB" b="1" dirty="0" err="1">
                <a:effectLst/>
              </a:rPr>
              <a:t>Peamine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küsimus</a:t>
            </a:r>
            <a:r>
              <a:rPr lang="en-GB" i="1" dirty="0" err="1">
                <a:effectLst/>
              </a:rPr>
              <a:t>Mida</a:t>
            </a:r>
            <a:r>
              <a:rPr lang="en-GB" i="1" dirty="0">
                <a:effectLst/>
              </a:rPr>
              <a:t> me </a:t>
            </a:r>
            <a:r>
              <a:rPr lang="en-GB" i="1" dirty="0" err="1">
                <a:effectLst/>
              </a:rPr>
              <a:t>tohime</a:t>
            </a:r>
            <a:r>
              <a:rPr lang="en-GB" i="1" dirty="0">
                <a:effectLst/>
              </a:rPr>
              <a:t> </a:t>
            </a:r>
            <a:r>
              <a:rPr lang="en-GB" i="1" dirty="0" err="1">
                <a:effectLst/>
              </a:rPr>
              <a:t>teha</a:t>
            </a:r>
            <a:r>
              <a:rPr lang="en-GB" i="1" dirty="0">
                <a:effectLst/>
              </a:rPr>
              <a:t> </a:t>
            </a:r>
            <a:r>
              <a:rPr lang="en-GB" i="1" dirty="0" err="1">
                <a:effectLst/>
              </a:rPr>
              <a:t>ja</a:t>
            </a:r>
            <a:r>
              <a:rPr lang="en-GB" i="1" dirty="0">
                <a:effectLst/>
              </a:rPr>
              <a:t> </a:t>
            </a:r>
            <a:r>
              <a:rPr lang="en-GB" i="1" dirty="0" err="1">
                <a:effectLst/>
              </a:rPr>
              <a:t>kes</a:t>
            </a:r>
            <a:r>
              <a:rPr lang="en-GB" i="1" dirty="0">
                <a:effectLst/>
              </a:rPr>
              <a:t> </a:t>
            </a:r>
            <a:r>
              <a:rPr lang="en-GB" i="1" dirty="0" err="1">
                <a:effectLst/>
              </a:rPr>
              <a:t>otsustab?Kuidas</a:t>
            </a:r>
            <a:r>
              <a:rPr lang="en-GB" i="1" dirty="0">
                <a:effectLst/>
              </a:rPr>
              <a:t> me </a:t>
            </a:r>
            <a:r>
              <a:rPr lang="en-GB" i="1" dirty="0" err="1">
                <a:effectLst/>
              </a:rPr>
              <a:t>seda</a:t>
            </a:r>
            <a:r>
              <a:rPr lang="en-GB" i="1" dirty="0">
                <a:effectLst/>
              </a:rPr>
              <a:t> </a:t>
            </a:r>
            <a:r>
              <a:rPr lang="en-GB" i="1" dirty="0" err="1">
                <a:effectLst/>
              </a:rPr>
              <a:t>tehniliselt</a:t>
            </a:r>
            <a:r>
              <a:rPr lang="en-GB" i="1" dirty="0">
                <a:effectLst/>
              </a:rPr>
              <a:t> </a:t>
            </a:r>
            <a:r>
              <a:rPr lang="en-GB" i="1" dirty="0" err="1">
                <a:effectLst/>
              </a:rPr>
              <a:t>teeme</a:t>
            </a:r>
            <a:r>
              <a:rPr lang="en-GB" i="1" dirty="0">
                <a:effectLst/>
              </a:rPr>
              <a:t>?</a:t>
            </a:r>
            <a:endParaRPr lang="en-GB" dirty="0">
              <a:effectLst/>
            </a:endParaRPr>
          </a:p>
          <a:p>
            <a:r>
              <a:rPr lang="en-GB" b="1" dirty="0" err="1">
                <a:effectLst/>
              </a:rPr>
              <a:t>Tegevused</a:t>
            </a:r>
            <a:r>
              <a:rPr lang="en-GB" dirty="0">
                <a:effectLst/>
              </a:rPr>
              <a:t>• </a:t>
            </a:r>
            <a:r>
              <a:rPr lang="en-GB" dirty="0" err="1">
                <a:effectLst/>
              </a:rPr>
              <a:t>Andmepoliitika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-</a:t>
            </a:r>
            <a:r>
              <a:rPr lang="en-GB" dirty="0" err="1">
                <a:effectLst/>
              </a:rPr>
              <a:t>standardite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loomine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• </a:t>
            </a:r>
            <a:r>
              <a:rPr lang="en-GB" dirty="0" err="1">
                <a:effectLst/>
              </a:rPr>
              <a:t>Ligipääsuõiguste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rollide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jagamine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• </a:t>
            </a:r>
            <a:r>
              <a:rPr lang="en-GB" dirty="0" err="1">
                <a:effectLst/>
              </a:rPr>
              <a:t>Turvalisuse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seaduseandluse</a:t>
            </a:r>
            <a:r>
              <a:rPr lang="en-GB" dirty="0">
                <a:effectLst/>
              </a:rPr>
              <a:t> (</a:t>
            </a:r>
            <a:r>
              <a:rPr lang="en-GB" dirty="0" err="1">
                <a:effectLst/>
              </a:rPr>
              <a:t>nt</a:t>
            </a:r>
            <a:r>
              <a:rPr lang="en-GB" dirty="0">
                <a:effectLst/>
              </a:rPr>
              <a:t> GDPR) </a:t>
            </a:r>
            <a:r>
              <a:rPr lang="en-GB" dirty="0" err="1">
                <a:effectLst/>
              </a:rPr>
              <a:t>järgimise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tagamine</a:t>
            </a:r>
            <a:r>
              <a:rPr lang="en-GB" dirty="0">
                <a:effectLst/>
              </a:rPr>
              <a:t>• </a:t>
            </a:r>
            <a:r>
              <a:rPr lang="en-GB" dirty="0" err="1">
                <a:effectLst/>
              </a:rPr>
              <a:t>Andmebaaside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seadistamine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varundamine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• </a:t>
            </a:r>
            <a:r>
              <a:rPr lang="en-GB" dirty="0" err="1">
                <a:effectLst/>
              </a:rPr>
              <a:t>Andmete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sisestamine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puhastamine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uuendamine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• SQL-</a:t>
            </a:r>
            <a:r>
              <a:rPr lang="en-GB" dirty="0" err="1">
                <a:effectLst/>
              </a:rPr>
              <a:t>päringute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tegemine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koodi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kirjutamine</a:t>
            </a:r>
            <a:endParaRPr lang="en-GB" dirty="0">
              <a:effectLst/>
            </a:endParaRPr>
          </a:p>
          <a:p>
            <a:r>
              <a:rPr lang="en-GB" b="1" dirty="0" err="1">
                <a:effectLst/>
              </a:rPr>
              <a:t>Tegijad</a:t>
            </a:r>
            <a:r>
              <a:rPr lang="en-GB" dirty="0" err="1">
                <a:effectLst/>
              </a:rPr>
              <a:t>Juhtkond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andmehaldurid</a:t>
            </a:r>
            <a:r>
              <a:rPr lang="en-GB" dirty="0">
                <a:effectLst/>
              </a:rPr>
              <a:t> (</a:t>
            </a:r>
            <a:r>
              <a:rPr lang="en-GB" i="1" dirty="0">
                <a:effectLst/>
              </a:rPr>
              <a:t>Data Stewards</a:t>
            </a:r>
            <a:r>
              <a:rPr lang="en-GB" dirty="0">
                <a:effectLst/>
              </a:rPr>
              <a:t>), </a:t>
            </a:r>
            <a:r>
              <a:rPr lang="en-GB" dirty="0" err="1">
                <a:effectLst/>
              </a:rPr>
              <a:t>juristid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infoturbe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juhid.Andmebaasi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administraatorid</a:t>
            </a:r>
            <a:r>
              <a:rPr lang="en-GB" dirty="0">
                <a:effectLst/>
              </a:rPr>
              <a:t> (DBA), </a:t>
            </a:r>
            <a:r>
              <a:rPr lang="en-GB" dirty="0" err="1">
                <a:effectLst/>
              </a:rPr>
              <a:t>andmeinsenerid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arendajad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analüütikud</a:t>
            </a:r>
            <a:r>
              <a:rPr lang="en-GB" dirty="0">
                <a:effectLst/>
              </a:rPr>
              <a:t>.</a:t>
            </a:r>
          </a:p>
          <a:p>
            <a:r>
              <a:rPr lang="en-GB" sz="1200" b="1" dirty="0">
                <a:effectLst/>
              </a:rPr>
              <a:t>💡 </a:t>
            </a:r>
            <a:r>
              <a:rPr lang="en-GB" sz="1200" b="1" dirty="0" err="1">
                <a:effectLst/>
              </a:rPr>
              <a:t>Lihtne</a:t>
            </a:r>
            <a:r>
              <a:rPr lang="en-GB" sz="1200" b="1" dirty="0">
                <a:effectLst/>
              </a:rPr>
              <a:t> </a:t>
            </a:r>
            <a:r>
              <a:rPr lang="en-GB" sz="1200" b="1" dirty="0" err="1">
                <a:effectLst/>
              </a:rPr>
              <a:t>näide</a:t>
            </a:r>
            <a:r>
              <a:rPr lang="en-GB" sz="1200" b="1" dirty="0">
                <a:effectLst/>
              </a:rPr>
              <a:t> </a:t>
            </a:r>
            <a:r>
              <a:rPr lang="en-GB" sz="1200" b="1" dirty="0" err="1">
                <a:effectLst/>
              </a:rPr>
              <a:t>elust</a:t>
            </a:r>
            <a:r>
              <a:rPr lang="en-GB" sz="1200" b="1" dirty="0">
                <a:effectLst/>
              </a:rPr>
              <a:t> </a:t>
            </a:r>
            <a:r>
              <a:rPr lang="en-GB" sz="1200" b="1" dirty="0" err="1">
                <a:effectLst/>
              </a:rPr>
              <a:t>enesest</a:t>
            </a:r>
            <a:r>
              <a:rPr lang="en-GB" sz="1200" b="1" dirty="0">
                <a:effectLst/>
              </a:rPr>
              <a:t>:</a:t>
            </a:r>
          </a:p>
          <a:p>
            <a:r>
              <a:rPr lang="en-GB" b="0" dirty="0" err="1">
                <a:effectLst/>
              </a:rPr>
              <a:t>Kujuta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ette</a:t>
            </a:r>
            <a:r>
              <a:rPr lang="en-GB" b="0" dirty="0">
                <a:effectLst/>
              </a:rPr>
              <a:t> </a:t>
            </a:r>
            <a:r>
              <a:rPr lang="en-GB" b="1" dirty="0" err="1">
                <a:effectLst/>
              </a:rPr>
              <a:t>raamatukogu</a:t>
            </a:r>
            <a:r>
              <a:rPr lang="en-GB" b="0" dirty="0">
                <a:effectLst/>
              </a:rPr>
              <a:t>:</a:t>
            </a:r>
          </a:p>
          <a:p>
            <a:pPr lvl="0"/>
            <a:r>
              <a:rPr lang="en-GB" b="1" dirty="0" err="1">
                <a:effectLst/>
              </a:rPr>
              <a:t>Andmekorraldus</a:t>
            </a:r>
            <a:r>
              <a:rPr lang="en-GB" dirty="0"/>
              <a:t> on </a:t>
            </a:r>
            <a:r>
              <a:rPr lang="en-GB" dirty="0" err="1"/>
              <a:t>raamatukogu</a:t>
            </a:r>
            <a:r>
              <a:rPr lang="en-GB" dirty="0"/>
              <a:t> </a:t>
            </a:r>
            <a:r>
              <a:rPr lang="en-GB" dirty="0" err="1"/>
              <a:t>sisekorraeeskiri</a:t>
            </a:r>
            <a:r>
              <a:rPr lang="en-GB" dirty="0"/>
              <a:t>: see </a:t>
            </a:r>
            <a:r>
              <a:rPr lang="en-GB" dirty="0" err="1"/>
              <a:t>määrab</a:t>
            </a:r>
            <a:r>
              <a:rPr lang="en-GB" dirty="0"/>
              <a:t> </a:t>
            </a:r>
            <a:r>
              <a:rPr lang="en-GB" dirty="0" err="1"/>
              <a:t>ära</a:t>
            </a:r>
            <a:r>
              <a:rPr lang="en-GB" dirty="0"/>
              <a:t>, </a:t>
            </a:r>
            <a:r>
              <a:rPr lang="en-GB" dirty="0" err="1"/>
              <a:t>kes</a:t>
            </a:r>
            <a:r>
              <a:rPr lang="en-GB" dirty="0"/>
              <a:t> </a:t>
            </a:r>
            <a:r>
              <a:rPr lang="en-GB" dirty="0" err="1"/>
              <a:t>saab</a:t>
            </a:r>
            <a:r>
              <a:rPr lang="en-GB" dirty="0"/>
              <a:t> </a:t>
            </a:r>
            <a:r>
              <a:rPr lang="en-GB" dirty="0" err="1"/>
              <a:t>lugejakaardi</a:t>
            </a:r>
            <a:r>
              <a:rPr lang="en-GB" dirty="0"/>
              <a:t>,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kaua</a:t>
            </a:r>
            <a:r>
              <a:rPr lang="en-GB" dirty="0"/>
              <a:t> </a:t>
            </a:r>
            <a:r>
              <a:rPr lang="en-GB" dirty="0" err="1"/>
              <a:t>tohib</a:t>
            </a:r>
            <a:r>
              <a:rPr lang="en-GB" dirty="0"/>
              <a:t> </a:t>
            </a:r>
            <a:r>
              <a:rPr lang="en-GB" dirty="0" err="1"/>
              <a:t>raamatuid</a:t>
            </a:r>
            <a:r>
              <a:rPr lang="en-GB" dirty="0"/>
              <a:t> </a:t>
            </a:r>
            <a:r>
              <a:rPr lang="en-GB" dirty="0" err="1"/>
              <a:t>käes</a:t>
            </a:r>
            <a:r>
              <a:rPr lang="en-GB" dirty="0"/>
              <a:t> </a:t>
            </a:r>
            <a:r>
              <a:rPr lang="en-GB" dirty="0" err="1"/>
              <a:t>hoida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mis </a:t>
            </a:r>
            <a:r>
              <a:rPr lang="en-GB" dirty="0" err="1"/>
              <a:t>juhtub</a:t>
            </a:r>
            <a:r>
              <a:rPr lang="en-GB" dirty="0"/>
              <a:t> </a:t>
            </a:r>
            <a:r>
              <a:rPr lang="en-GB" dirty="0" err="1"/>
              <a:t>siis</a:t>
            </a:r>
            <a:r>
              <a:rPr lang="en-GB" dirty="0"/>
              <a:t>,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raamat</a:t>
            </a:r>
            <a:r>
              <a:rPr lang="en-GB" dirty="0"/>
              <a:t> </a:t>
            </a:r>
            <a:r>
              <a:rPr lang="en-GB" dirty="0" err="1"/>
              <a:t>kaob</a:t>
            </a:r>
            <a:r>
              <a:rPr lang="en-GB" dirty="0"/>
              <a:t>.</a:t>
            </a:r>
          </a:p>
          <a:p>
            <a:pPr lvl="0"/>
            <a:r>
              <a:rPr lang="en-GB" b="1" dirty="0" err="1">
                <a:effectLst/>
              </a:rPr>
              <a:t>Andmehaldus</a:t>
            </a:r>
            <a:r>
              <a:rPr lang="en-GB" dirty="0"/>
              <a:t> on </a:t>
            </a:r>
            <a:r>
              <a:rPr lang="en-GB" dirty="0" err="1"/>
              <a:t>raamatukoguhoidja</a:t>
            </a:r>
            <a:r>
              <a:rPr lang="en-GB" dirty="0"/>
              <a:t> </a:t>
            </a:r>
            <a:r>
              <a:rPr lang="en-GB" dirty="0" err="1"/>
              <a:t>reaalne</a:t>
            </a:r>
            <a:r>
              <a:rPr lang="en-GB" dirty="0"/>
              <a:t> </a:t>
            </a:r>
            <a:r>
              <a:rPr lang="en-GB" dirty="0" err="1"/>
              <a:t>töö</a:t>
            </a:r>
            <a:r>
              <a:rPr lang="en-GB" dirty="0"/>
              <a:t>: </a:t>
            </a:r>
            <a:r>
              <a:rPr lang="en-GB" dirty="0" err="1"/>
              <a:t>tema</a:t>
            </a:r>
            <a:r>
              <a:rPr lang="en-GB" dirty="0"/>
              <a:t> </a:t>
            </a:r>
            <a:r>
              <a:rPr lang="en-GB" dirty="0" err="1"/>
              <a:t>paneb</a:t>
            </a:r>
            <a:r>
              <a:rPr lang="en-GB" dirty="0"/>
              <a:t> </a:t>
            </a:r>
            <a:r>
              <a:rPr lang="en-GB" dirty="0" err="1"/>
              <a:t>raamatud</a:t>
            </a:r>
            <a:r>
              <a:rPr lang="en-GB" dirty="0"/>
              <a:t> </a:t>
            </a:r>
            <a:r>
              <a:rPr lang="en-GB" dirty="0" err="1"/>
              <a:t>õigetele</a:t>
            </a:r>
            <a:r>
              <a:rPr lang="en-GB" dirty="0"/>
              <a:t> </a:t>
            </a:r>
            <a:r>
              <a:rPr lang="en-GB" dirty="0" err="1"/>
              <a:t>riiulitele</a:t>
            </a:r>
            <a:r>
              <a:rPr lang="en-GB" dirty="0"/>
              <a:t>, </a:t>
            </a:r>
            <a:r>
              <a:rPr lang="en-GB" dirty="0" err="1"/>
              <a:t>märgib</a:t>
            </a:r>
            <a:r>
              <a:rPr lang="en-GB" dirty="0"/>
              <a:t> </a:t>
            </a:r>
            <a:r>
              <a:rPr lang="en-GB" dirty="0" err="1"/>
              <a:t>arvutisüsteemis</a:t>
            </a:r>
            <a:r>
              <a:rPr lang="en-GB" dirty="0"/>
              <a:t> </a:t>
            </a:r>
            <a:r>
              <a:rPr lang="en-GB" dirty="0" err="1"/>
              <a:t>raamatu</a:t>
            </a:r>
            <a:r>
              <a:rPr lang="en-GB" dirty="0"/>
              <a:t> </a:t>
            </a:r>
            <a:r>
              <a:rPr lang="en-GB" dirty="0" err="1"/>
              <a:t>laenutatuks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pühib</a:t>
            </a:r>
            <a:r>
              <a:rPr lang="en-GB" dirty="0"/>
              <a:t> </a:t>
            </a:r>
            <a:r>
              <a:rPr lang="en-GB" dirty="0" err="1"/>
              <a:t>riiulitelt</a:t>
            </a:r>
            <a:r>
              <a:rPr lang="en-GB" dirty="0"/>
              <a:t> </a:t>
            </a:r>
            <a:r>
              <a:rPr lang="en-GB" dirty="0" err="1"/>
              <a:t>tolmu</a:t>
            </a:r>
            <a:r>
              <a:rPr lang="en-GB" dirty="0"/>
              <a:t>.</a:t>
            </a:r>
          </a:p>
          <a:p>
            <a:r>
              <a:rPr lang="en-GB" b="0" dirty="0">
                <a:effectLst/>
              </a:rPr>
              <a:t>Kas </a:t>
            </a:r>
            <a:r>
              <a:rPr lang="en-GB" b="0" dirty="0" err="1">
                <a:effectLst/>
              </a:rPr>
              <a:t>uurid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seda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erinevust</a:t>
            </a:r>
            <a:r>
              <a:rPr lang="en-GB" b="0" dirty="0">
                <a:effectLst/>
              </a:rPr>
              <a:t> </a:t>
            </a:r>
            <a:r>
              <a:rPr lang="en-GB" b="1" dirty="0" err="1">
                <a:effectLst/>
              </a:rPr>
              <a:t>töö</a:t>
            </a:r>
            <a:r>
              <a:rPr lang="en-GB" b="1" dirty="0">
                <a:effectLst/>
              </a:rPr>
              <a:t>/</a:t>
            </a:r>
            <a:r>
              <a:rPr lang="en-GB" b="1" dirty="0" err="1">
                <a:effectLst/>
              </a:rPr>
              <a:t>õpingute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tarbeks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või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soovid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luua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oma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ettevõttele</a:t>
            </a:r>
            <a:r>
              <a:rPr lang="en-GB" b="0" dirty="0">
                <a:effectLst/>
              </a:rPr>
              <a:t>/</a:t>
            </a:r>
            <a:r>
              <a:rPr lang="en-GB" b="0" dirty="0" err="1">
                <a:effectLst/>
              </a:rPr>
              <a:t>projektile</a:t>
            </a:r>
            <a:r>
              <a:rPr lang="en-GB" b="0" dirty="0">
                <a:effectLst/>
              </a:rPr>
              <a:t> </a:t>
            </a:r>
            <a:r>
              <a:rPr lang="en-GB" b="1" dirty="0" err="1">
                <a:effectLst/>
              </a:rPr>
              <a:t>andmesüsteemi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struktuuri</a:t>
            </a:r>
            <a:r>
              <a:rPr lang="en-GB" b="0" dirty="0">
                <a:effectLst/>
              </a:rPr>
              <a:t>? Vasta, </a:t>
            </a:r>
            <a:r>
              <a:rPr lang="en-GB" b="0" dirty="0" err="1">
                <a:effectLst/>
              </a:rPr>
              <a:t>ja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saan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tuua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spetsiifilisemaid</a:t>
            </a:r>
            <a:r>
              <a:rPr lang="en-GB" b="0" dirty="0">
                <a:effectLst/>
              </a:rPr>
              <a:t> </a:t>
            </a:r>
            <a:r>
              <a:rPr lang="en-GB" b="0" dirty="0" err="1">
                <a:effectLst/>
              </a:rPr>
              <a:t>näiteid</a:t>
            </a:r>
            <a:r>
              <a:rPr lang="en-GB" b="0" dirty="0">
                <a:effectLst/>
              </a:rPr>
              <a:t>!</a:t>
            </a:r>
          </a:p>
          <a:p>
            <a:br>
              <a:rPr lang="en-GB" dirty="0"/>
            </a:br>
            <a:endParaRPr lang="en-GB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A40AC-8620-B0E3-638A-21F97DC56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71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A0655A-2C27-4350-980E-7C7ABC5EC7D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120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5A944-BB47-1A58-3CB0-D1CB455C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A1C28-B7CC-35D6-5FA6-9C1862B70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98082-0F62-BC1A-EA05-302A29C4F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6B655-4C3E-C656-2FE7-D0163FB3C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573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4C136-E9A1-39D7-F79C-CEEE2320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BA1E5-B8B3-6643-5496-425548894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60BDD-B092-3449-80E6-2846760EB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6F886-B989-FC71-1437-6D516AAD2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65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4FFB-A163-D850-127E-1FB19E27E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D666A-7D37-B389-7EC2-0440E9309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CE3DB-E144-59DC-1809-36B9F1D4B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Isikuandmete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töötlemise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juures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toodud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välja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keeld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töödelda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eriliigilisi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isikuandmeid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välja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arvatud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teatud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juhtudel</a:t>
            </a:r>
            <a:r>
              <a:rPr lang="en-US">
                <a:ea typeface="Calibri"/>
                <a:cs typeface="Calibri"/>
              </a:rPr>
              <a:t>, mis on </a:t>
            </a:r>
            <a:r>
              <a:rPr lang="en-US" err="1">
                <a:ea typeface="Calibri"/>
                <a:cs typeface="Calibri"/>
              </a:rPr>
              <a:t>toodud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artikli</a:t>
            </a:r>
            <a:r>
              <a:rPr lang="en-US">
                <a:ea typeface="Calibri"/>
                <a:cs typeface="Calibri"/>
              </a:rPr>
              <a:t> 9 </a:t>
            </a:r>
            <a:r>
              <a:rPr lang="en-US" err="1">
                <a:ea typeface="Calibri"/>
                <a:cs typeface="Calibri"/>
              </a:rPr>
              <a:t>lõikes</a:t>
            </a:r>
            <a:r>
              <a:rPr lang="en-US">
                <a:ea typeface="Calibri"/>
                <a:cs typeface="Calibri"/>
              </a:rPr>
              <a:t>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132DF-C727-DFCC-8444-43B4524F6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00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022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67BB-5DE1-BF29-DD80-6C7A4889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32A0A-07CC-FB76-5ACC-4C2F62A712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730BA-C426-F2C5-A529-EBBB3DE2A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3495C-967F-5860-37D5-628B2A13D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129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4B34-B1DF-70B1-8306-DCE34DB1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19690-8A0E-B01B-C170-0D971A326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C24A0-33EE-D515-6162-18555207E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29587-C450-9CF4-AAF8-02AFEA5DA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335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575B-0F7E-9547-26BC-5BE121F5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CE877-3A54-10B0-1B14-D2B9750FB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CC4FC-F266-A1B6-11EF-FB57578C9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  <a:hlinkClick r:id="rId3"/>
              </a:rPr>
              <a:t>Isikuandmete kaitse üldmääruse artikkel 9 lõige 2</a:t>
            </a: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err="1">
                <a:solidFill>
                  <a:srgbClr val="000000"/>
                </a:solidFill>
              </a:rPr>
              <a:t>näeb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eriliigiliste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isikuandmete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töötlemise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õiguslike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alustena</a:t>
            </a:r>
            <a:r>
              <a:rPr lang="en-US">
                <a:solidFill>
                  <a:srgbClr val="000000"/>
                </a:solidFill>
              </a:rPr>
              <a:t>: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NÕUSOLEK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Inimene</a:t>
            </a:r>
            <a:r>
              <a:rPr lang="en-US"/>
              <a:t> on </a:t>
            </a:r>
            <a:r>
              <a:rPr lang="en-US" err="1"/>
              <a:t>andnud</a:t>
            </a:r>
            <a:r>
              <a:rPr lang="en-US"/>
              <a:t> </a:t>
            </a:r>
            <a:r>
              <a:rPr lang="en-US" err="1"/>
              <a:t>vabatahtliku</a:t>
            </a:r>
            <a:r>
              <a:rPr lang="en-US"/>
              <a:t> </a:t>
            </a:r>
            <a:r>
              <a:rPr lang="en-US" err="1"/>
              <a:t>selgesõnalise</a:t>
            </a:r>
            <a:r>
              <a:rPr lang="en-US"/>
              <a:t> </a:t>
            </a:r>
            <a:r>
              <a:rPr lang="en-US" err="1"/>
              <a:t>nõusoleku</a:t>
            </a:r>
            <a:r>
              <a:rPr lang="en-US"/>
              <a:t> </a:t>
            </a:r>
            <a:r>
              <a:rPr lang="en-US" err="1"/>
              <a:t>toiminguteks</a:t>
            </a:r>
            <a:r>
              <a:rPr lang="en-US"/>
              <a:t> </a:t>
            </a:r>
            <a:r>
              <a:rPr lang="en-US" err="1"/>
              <a:t>enda</a:t>
            </a:r>
            <a:r>
              <a:rPr lang="en-US"/>
              <a:t> </a:t>
            </a:r>
            <a:r>
              <a:rPr lang="en-US" err="1"/>
              <a:t>isikuandmetega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SEADUS VÕI MUU SISERIIKLIK ÕIGUSAKT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Isikuandmeid</a:t>
            </a:r>
            <a:r>
              <a:rPr lang="en-US"/>
              <a:t> </a:t>
            </a:r>
            <a:r>
              <a:rPr lang="en-US" err="1"/>
              <a:t>töödeldakse</a:t>
            </a:r>
            <a:r>
              <a:rPr lang="en-US"/>
              <a:t> </a:t>
            </a:r>
            <a:r>
              <a:rPr lang="en-US" err="1"/>
              <a:t>seaduse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mõne</a:t>
            </a:r>
            <a:r>
              <a:rPr lang="en-US"/>
              <a:t> </a:t>
            </a:r>
            <a:r>
              <a:rPr lang="en-US" err="1"/>
              <a:t>muu</a:t>
            </a:r>
            <a:r>
              <a:rPr lang="en-US"/>
              <a:t> </a:t>
            </a:r>
            <a:r>
              <a:rPr lang="en-US" err="1"/>
              <a:t>siseriikliku</a:t>
            </a:r>
            <a:r>
              <a:rPr lang="en-US"/>
              <a:t> </a:t>
            </a:r>
            <a:r>
              <a:rPr lang="en-US" err="1"/>
              <a:t>õigusakti</a:t>
            </a:r>
            <a:r>
              <a:rPr lang="en-US"/>
              <a:t> </a:t>
            </a:r>
            <a:r>
              <a:rPr lang="en-US" err="1"/>
              <a:t>alusel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ELULISTE HUVIDE KAITSMINE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inimese</a:t>
            </a:r>
            <a:r>
              <a:rPr lang="en-US"/>
              <a:t> </a:t>
            </a:r>
            <a:r>
              <a:rPr lang="en-US" err="1"/>
              <a:t>enda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teise</a:t>
            </a:r>
            <a:r>
              <a:rPr lang="en-US"/>
              <a:t> </a:t>
            </a:r>
            <a:r>
              <a:rPr lang="en-US" err="1"/>
              <a:t>füüsilise</a:t>
            </a:r>
            <a:r>
              <a:rPr lang="en-US"/>
              <a:t> </a:t>
            </a:r>
            <a:r>
              <a:rPr lang="en-US" err="1"/>
              <a:t>isiku</a:t>
            </a:r>
            <a:r>
              <a:rPr lang="en-US"/>
              <a:t> </a:t>
            </a:r>
            <a:r>
              <a:rPr lang="en-US" err="1"/>
              <a:t>eluliste</a:t>
            </a:r>
            <a:r>
              <a:rPr lang="en-US"/>
              <a:t> </a:t>
            </a:r>
            <a:r>
              <a:rPr lang="en-US" err="1"/>
              <a:t>huvide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</a:rPr>
              <a:t>kaitseks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kui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inimene</a:t>
            </a:r>
            <a:r>
              <a:rPr lang="en-US">
                <a:solidFill>
                  <a:srgbClr val="000000"/>
                </a:solidFill>
              </a:rPr>
              <a:t> on </a:t>
            </a:r>
            <a:r>
              <a:rPr lang="en-US" err="1">
                <a:solidFill>
                  <a:srgbClr val="000000"/>
                </a:solidFill>
              </a:rPr>
              <a:t>füüsiliselt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või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õiguslikult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võimetu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ise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nõusolekut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andma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ÕIGUSNÕUDE KOOSTAMINE, ESITAMINE VÕI KAITSMINE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õigusnõude</a:t>
            </a:r>
            <a:r>
              <a:rPr lang="en-US"/>
              <a:t> </a:t>
            </a:r>
            <a:r>
              <a:rPr lang="en-US" err="1"/>
              <a:t>koostamiseks</a:t>
            </a:r>
            <a:r>
              <a:rPr lang="en-US"/>
              <a:t>, </a:t>
            </a:r>
            <a:r>
              <a:rPr lang="en-US" err="1"/>
              <a:t>esitamiseks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kaitsmiseks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juhul</a:t>
            </a:r>
            <a:r>
              <a:rPr lang="en-US"/>
              <a:t>, </a:t>
            </a:r>
            <a:r>
              <a:rPr lang="en-US" err="1"/>
              <a:t>kui</a:t>
            </a:r>
            <a:r>
              <a:rPr lang="en-US"/>
              <a:t> </a:t>
            </a:r>
            <a:r>
              <a:rPr lang="en-US" err="1"/>
              <a:t>kohtud</a:t>
            </a:r>
            <a:r>
              <a:rPr lang="en-US"/>
              <a:t> </a:t>
            </a:r>
            <a:r>
              <a:rPr lang="en-US" err="1"/>
              <a:t>täidavad</a:t>
            </a:r>
            <a:r>
              <a:rPr lang="en-US"/>
              <a:t> </a:t>
            </a:r>
            <a:r>
              <a:rPr lang="en-US" err="1"/>
              <a:t>oma</a:t>
            </a:r>
            <a:r>
              <a:rPr lang="en-US"/>
              <a:t> </a:t>
            </a:r>
            <a:r>
              <a:rPr lang="en-US" err="1"/>
              <a:t>õigust</a:t>
            </a:r>
            <a:r>
              <a:rPr lang="en-US"/>
              <a:t> </a:t>
            </a:r>
            <a:r>
              <a:rPr lang="en-US" err="1"/>
              <a:t>mõistvat</a:t>
            </a:r>
            <a:r>
              <a:rPr lang="en-US"/>
              <a:t> </a:t>
            </a:r>
            <a:r>
              <a:rPr lang="en-US" err="1"/>
              <a:t>funktsiooni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ANDMESUBJEKT ON ISIKUANDMED ILMSELGELT AVALIKUSTANUD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Töödeldakse</a:t>
            </a:r>
            <a:r>
              <a:rPr lang="en-US"/>
              <a:t> </a:t>
            </a:r>
            <a:r>
              <a:rPr lang="en-US" err="1"/>
              <a:t>isikuandmeid</a:t>
            </a:r>
            <a:r>
              <a:rPr lang="en-US"/>
              <a:t>, </a:t>
            </a:r>
            <a:r>
              <a:rPr lang="en-US" err="1"/>
              <a:t>mille</a:t>
            </a:r>
            <a:r>
              <a:rPr lang="en-US"/>
              <a:t> </a:t>
            </a:r>
            <a:r>
              <a:rPr lang="en-US" err="1"/>
              <a:t>andmesubjekt</a:t>
            </a:r>
            <a:r>
              <a:rPr lang="en-US"/>
              <a:t> on </a:t>
            </a:r>
            <a:r>
              <a:rPr lang="en-US" err="1"/>
              <a:t>ilmselgelt</a:t>
            </a:r>
            <a:r>
              <a:rPr lang="en-US"/>
              <a:t> </a:t>
            </a:r>
            <a:r>
              <a:rPr lang="en-US" err="1"/>
              <a:t>avalikustanud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AVALIKES HUVIDES TÖÖTLEMINE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/>
              <a:t>töötlemine</a:t>
            </a:r>
            <a:r>
              <a:rPr lang="en-US"/>
              <a:t> on </a:t>
            </a:r>
            <a:r>
              <a:rPr lang="en-US" err="1"/>
              <a:t>võimalik</a:t>
            </a:r>
            <a:r>
              <a:rPr lang="en-US"/>
              <a:t> </a:t>
            </a:r>
            <a:r>
              <a:rPr lang="en-US" err="1"/>
              <a:t>siseriikliku</a:t>
            </a:r>
            <a:r>
              <a:rPr lang="en-US"/>
              <a:t> </a:t>
            </a:r>
            <a:r>
              <a:rPr lang="en-US" err="1"/>
              <a:t>õiguse</a:t>
            </a:r>
            <a:r>
              <a:rPr lang="en-US"/>
              <a:t> </a:t>
            </a:r>
            <a:r>
              <a:rPr lang="en-US" err="1"/>
              <a:t>alusel</a:t>
            </a:r>
            <a:r>
              <a:rPr lang="en-US"/>
              <a:t> ja </a:t>
            </a:r>
            <a:r>
              <a:rPr lang="en-US" err="1"/>
              <a:t>vajalik</a:t>
            </a:r>
            <a:r>
              <a:rPr lang="en-US"/>
              <a:t> </a:t>
            </a:r>
            <a:r>
              <a:rPr lang="en-US" err="1"/>
              <a:t>avalikes</a:t>
            </a:r>
            <a:r>
              <a:rPr lang="en-US"/>
              <a:t> </a:t>
            </a:r>
            <a:r>
              <a:rPr lang="en-US" err="1"/>
              <a:t>huvides</a:t>
            </a:r>
            <a:r>
              <a:rPr lang="en-US"/>
              <a:t> </a:t>
            </a:r>
            <a:r>
              <a:rPr lang="en-US" err="1"/>
              <a:t>ning</a:t>
            </a:r>
            <a:r>
              <a:rPr lang="en-US"/>
              <a:t> see </a:t>
            </a:r>
            <a:r>
              <a:rPr lang="en-US" err="1"/>
              <a:t>ei</a:t>
            </a:r>
            <a:r>
              <a:rPr lang="en-US"/>
              <a:t> </a:t>
            </a:r>
            <a:r>
              <a:rPr lang="en-US" err="1"/>
              <a:t>kahjusta</a:t>
            </a:r>
            <a:r>
              <a:rPr lang="en-US"/>
              <a:t> </a:t>
            </a:r>
            <a:r>
              <a:rPr lang="en-US" err="1"/>
              <a:t>ülemäära</a:t>
            </a:r>
            <a:r>
              <a:rPr lang="en-US"/>
              <a:t> </a:t>
            </a:r>
            <a:r>
              <a:rPr lang="en-US" err="1"/>
              <a:t>inimese</a:t>
            </a:r>
            <a:r>
              <a:rPr lang="en-US"/>
              <a:t> </a:t>
            </a:r>
            <a:r>
              <a:rPr lang="en-US" err="1"/>
              <a:t>õigusi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3087"/>
                </a:solidFill>
              </a:rPr>
              <a:t>ÕIGUSPÄRASE TEGEVUSE RAAMES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</a:rPr>
              <a:t>Teatud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isikuandmeid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milleks</a:t>
            </a:r>
            <a:r>
              <a:rPr lang="en-US">
                <a:solidFill>
                  <a:srgbClr val="000000"/>
                </a:solidFill>
              </a:rPr>
              <a:t> on </a:t>
            </a:r>
            <a:r>
              <a:rPr lang="en-US" err="1">
                <a:solidFill>
                  <a:srgbClr val="000000"/>
                </a:solidFill>
              </a:rPr>
              <a:t>filosoofiliste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religioossete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või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ametiühinguliste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sihtasutuste</a:t>
            </a:r>
            <a:r>
              <a:rPr lang="en-US"/>
              <a:t>, </a:t>
            </a:r>
            <a:r>
              <a:rPr lang="en-US" err="1"/>
              <a:t>ühenduste</a:t>
            </a:r>
            <a:r>
              <a:rPr lang="en-US"/>
              <a:t> ja MTÜ-de </a:t>
            </a:r>
            <a:r>
              <a:rPr lang="en-US" err="1"/>
              <a:t>liikmelisusega</a:t>
            </a:r>
            <a:r>
              <a:rPr lang="en-US"/>
              <a:t> </a:t>
            </a:r>
            <a:r>
              <a:rPr lang="en-US" err="1"/>
              <a:t>soetud</a:t>
            </a:r>
            <a:r>
              <a:rPr lang="en-US"/>
              <a:t> </a:t>
            </a:r>
            <a:r>
              <a:rPr lang="en-US" err="1"/>
              <a:t>andmed</a:t>
            </a:r>
            <a:r>
              <a:rPr lang="en-US"/>
              <a:t>, </a:t>
            </a:r>
            <a:r>
              <a:rPr lang="en-US" err="1"/>
              <a:t>töödeldakse</a:t>
            </a:r>
            <a:r>
              <a:rPr lang="en-US"/>
              <a:t> </a:t>
            </a:r>
            <a:r>
              <a:rPr lang="en-US" err="1"/>
              <a:t>õiguspärase</a:t>
            </a:r>
            <a:r>
              <a:rPr lang="en-US"/>
              <a:t> </a:t>
            </a:r>
            <a:r>
              <a:rPr lang="en-US" err="1"/>
              <a:t>tegevuse</a:t>
            </a:r>
            <a:r>
              <a:rPr lang="en-US"/>
              <a:t> </a:t>
            </a:r>
            <a:r>
              <a:rPr lang="en-US" err="1"/>
              <a:t>raames</a:t>
            </a:r>
            <a:r>
              <a:rPr lang="en-US"/>
              <a:t> ja </a:t>
            </a:r>
            <a:r>
              <a:rPr lang="en-US" err="1"/>
              <a:t>vajalikke</a:t>
            </a:r>
            <a:r>
              <a:rPr lang="en-US"/>
              <a:t> </a:t>
            </a:r>
            <a:r>
              <a:rPr lang="en-US" err="1"/>
              <a:t>kaitsemeetmeid</a:t>
            </a:r>
            <a:r>
              <a:rPr lang="en-US"/>
              <a:t> </a:t>
            </a:r>
            <a:r>
              <a:rPr lang="en-US" err="1"/>
              <a:t>rakendades</a:t>
            </a:r>
            <a:r>
              <a:rPr lang="en-US"/>
              <a:t>. </a:t>
            </a:r>
            <a:r>
              <a:rPr lang="en-US" err="1">
                <a:solidFill>
                  <a:srgbClr val="000000"/>
                </a:solidFill>
              </a:rPr>
              <a:t>Töötlemine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ei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laiene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/>
              <a:t>avalikustamisele</a:t>
            </a:r>
            <a:r>
              <a:rPr lang="en-US"/>
              <a:t> </a:t>
            </a:r>
            <a:r>
              <a:rPr lang="en-US" err="1"/>
              <a:t>ilma</a:t>
            </a:r>
            <a:r>
              <a:rPr lang="en-US"/>
              <a:t> </a:t>
            </a:r>
            <a:r>
              <a:rPr lang="en-US" err="1"/>
              <a:t>isiku</a:t>
            </a:r>
            <a:r>
              <a:rPr lang="en-US"/>
              <a:t> </a:t>
            </a:r>
            <a:r>
              <a:rPr lang="en-US" err="1"/>
              <a:t>nõusolekuta</a:t>
            </a:r>
            <a:r>
              <a:rPr lang="en-US">
                <a:solidFill>
                  <a:srgbClr val="000000"/>
                </a:solidFill>
              </a:rPr>
              <a:t>.</a:t>
            </a:r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err="1"/>
              <a:t>Reeglina</a:t>
            </a:r>
            <a:r>
              <a:rPr lang="en-US"/>
              <a:t> on </a:t>
            </a:r>
            <a:r>
              <a:rPr lang="en-US" err="1"/>
              <a:t>eriliigiliste</a:t>
            </a:r>
            <a:r>
              <a:rPr lang="en-US"/>
              <a:t> </a:t>
            </a:r>
            <a:r>
              <a:rPr lang="en-US" err="1"/>
              <a:t>isikuandmete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</a:rPr>
              <a:t>töötlemine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keelatud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välja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arvatud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juhul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kui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esineb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mõni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ülaltoodud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õiguslikest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alustest</a:t>
            </a:r>
            <a:r>
              <a:rPr lang="en-US"/>
              <a:t>.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Allikas: </a:t>
            </a:r>
            <a:r>
              <a:rPr lang="en-US">
                <a:hlinkClick r:id="rId4"/>
              </a:rPr>
              <a:t>https://www.aki.ee/isikuandmed/andmetootlejale/tootlemise-oiguslikud-alused</a:t>
            </a:r>
            <a:r>
              <a:rPr lang="en-US">
                <a:solidFill>
                  <a:srgbClr val="000000"/>
                </a:solidFill>
              </a:rPr>
              <a:t> 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3087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7F59C-9202-A949-3CB9-5E272F48B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8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02.10.2026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2251F0-CA99-C88E-85B0-5441ADA3D0E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4BCAB56F-CA1A-A7BC-7F18-1DF58B851F4E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ABA5E1C-0532-C55F-5A22-74C1BC6708F2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6C605EF-80A0-3897-48AF-A3528D4B10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.ee/et/andmehalduse-juhised" TargetMode="External"/><Relationship Id="rId2" Type="http://schemas.openxmlformats.org/officeDocument/2006/relationships/hyperlink" Target="https://www.kratid.ee/juhised" TargetMode="Externa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.ee/et/andmehalduse-juhised" TargetMode="External"/><Relationship Id="rId2" Type="http://schemas.openxmlformats.org/officeDocument/2006/relationships/hyperlink" Target="https://www.kratid.ee/juhised" TargetMode="Externa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www.riigiteataja.ee/akt/106032026010" TargetMode="External"/><Relationship Id="rId4" Type="http://schemas.openxmlformats.org/officeDocument/2006/relationships/hyperlink" Target="https://www.aki.ee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ocs.google.com/spreadsheets/d/1Fo_JCYD6QcJonDrOs0N8GbhpR_Cb7ZKq/edit?usp=sharing&amp;ouid=118113473030919100152&amp;rtpof=true&amp;sd=true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4EF6-AAC1-0083-5987-8FA2D7C8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0058-A289-F9F8-2CC8-43BAABEC6F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X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BF1AB3B-1697-834A-B482-18B1385C686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23085213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Andmekorraldus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harjutus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Harjutus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Power BI-s PostgreSQL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baasi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pealt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Kokkuvõtted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tagasiside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arutelu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15:00–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arutelu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41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17F2-CBA8-DC43-9806-DAC9C6A3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51E95C-1511-FA0A-9425-2445D5905073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D9444-740D-9061-21D6-9EC707339717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2C481-1E6F-B30F-8D2A-62A2D8F54249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400" b="1" dirty="0">
                <a:solidFill>
                  <a:srgbClr val="FFFFFF"/>
                </a:solidFill>
                <a:latin typeface="Calibri"/>
              </a:rPr>
              <a:t>ANDMEKORRALDUS / ANDMEHALDUS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5E791-E4C4-4762-FDFB-0371DA676B0B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E9B4962-FAD2-72FC-3C72-1983E533049A}"/>
              </a:ext>
            </a:extLst>
          </p:cNvPr>
          <p:cNvSpPr/>
          <p:nvPr/>
        </p:nvSpPr>
        <p:spPr>
          <a:xfrm>
            <a:off x="365760" y="1691640"/>
            <a:ext cx="11055096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sz="2400" b="1" dirty="0" err="1">
                <a:solidFill>
                  <a:srgbClr val="334155"/>
                </a:solidFill>
                <a:latin typeface="Calibri"/>
              </a:rPr>
              <a:t>Andmekorraldus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vastab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küsimustele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: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ingl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keeles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DATA GOVERNANCE</a:t>
            </a:r>
            <a:endParaRPr sz="24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334155"/>
                </a:solidFill>
                <a:latin typeface="Calibri"/>
              </a:rPr>
              <a:t>Kes on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omanik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? Mis on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käive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?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Millised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reeglid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kehtivad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? Kuhu number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minna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334155"/>
                </a:solidFill>
                <a:latin typeface="Calibri"/>
              </a:rPr>
              <a:t>Viis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osa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rollid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reeglid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kvaliteet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334155"/>
                </a:solidFill>
                <a:latin typeface="Calibri"/>
              </a:rPr>
              <a:t>metaandmed</a:t>
            </a:r>
            <a:r>
              <a:rPr sz="2400" b="0" dirty="0">
                <a:solidFill>
                  <a:srgbClr val="334155"/>
                </a:solidFill>
                <a:latin typeface="Calibri"/>
              </a:rPr>
              <a:t>, turve.</a:t>
            </a:r>
          </a:p>
          <a:p>
            <a:pPr>
              <a:spcAft>
                <a:spcPts val="800"/>
              </a:spcAft>
            </a:pPr>
            <a:endParaRPr lang="en-GB" sz="24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2400" b="1" dirty="0" err="1">
                <a:solidFill>
                  <a:srgbClr val="334155"/>
                </a:solidFill>
                <a:latin typeface="Calibri"/>
              </a:rPr>
              <a:t>Andmehaldus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Reaalsed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tegevused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andmete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kasutamisel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andmekorralduse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elluviimisel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047D43-D021-E715-E930-5EBB563C26F2}"/>
              </a:ext>
            </a:extLst>
          </p:cNvPr>
          <p:cNvSpPr/>
          <p:nvPr/>
        </p:nvSpPr>
        <p:spPr>
          <a:xfrm>
            <a:off x="306126" y="1085904"/>
            <a:ext cx="11236518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520987-D59E-5CEF-A5CC-7EE8DB95EA90}"/>
              </a:ext>
            </a:extLst>
          </p:cNvPr>
          <p:cNvSpPr txBox="1"/>
          <p:nvPr/>
        </p:nvSpPr>
        <p:spPr>
          <a:xfrm>
            <a:off x="306126" y="1106532"/>
            <a:ext cx="1104436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dirty="0" err="1">
                <a:solidFill>
                  <a:schemeClr val="bg1"/>
                </a:solidFill>
                <a:latin typeface="Calibri"/>
              </a:rPr>
              <a:t>Korraldus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on </a:t>
            </a:r>
            <a:r>
              <a:rPr sz="2000" b="1" dirty="0" err="1">
                <a:solidFill>
                  <a:schemeClr val="bg1"/>
                </a:solidFill>
                <a:latin typeface="Calibri"/>
              </a:rPr>
              <a:t>plaan</a:t>
            </a:r>
            <a:r>
              <a:rPr lang="en-GB" sz="20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chemeClr val="bg1"/>
                </a:solidFill>
                <a:latin typeface="Calibri"/>
              </a:rPr>
              <a:t>ja</a:t>
            </a:r>
            <a:r>
              <a:rPr lang="en-GB" sz="20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chemeClr val="bg1"/>
                </a:solidFill>
                <a:latin typeface="Calibri"/>
              </a:rPr>
              <a:t>reeglistik</a:t>
            </a:r>
            <a:r>
              <a:rPr lang="en-GB" sz="2000" dirty="0">
                <a:solidFill>
                  <a:schemeClr val="bg1"/>
                </a:solidFill>
                <a:latin typeface="Calibri"/>
              </a:rPr>
              <a:t>.</a:t>
            </a:r>
            <a:endParaRPr sz="2800" b="1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769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Calibri"/>
              </a:rPr>
              <a:t>Andmekorralduse osad — iga osa on küsimus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cxnSp>
        <p:nvCxnSpPr>
          <p:cNvPr id="9" name="Connector 8"/>
          <p:cNvCxnSpPr>
            <a:cxnSpLocks/>
            <a:stCxn id="42" idx="0"/>
            <a:endCxn id="19" idx="2"/>
          </p:cNvCxnSpPr>
          <p:nvPr/>
        </p:nvCxnSpPr>
        <p:spPr>
          <a:xfrm flipV="1">
            <a:off x="5500474" y="2642517"/>
            <a:ext cx="431893" cy="421340"/>
          </a:xfrm>
          <a:prstGeom prst="line">
            <a:avLst/>
          </a:prstGeom>
          <a:ln w="22225">
            <a:solidFill>
              <a:srgbClr val="BAC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  <a:stCxn id="44" idx="3"/>
            <a:endCxn id="21" idx="1"/>
          </p:cNvCxnSpPr>
          <p:nvPr/>
        </p:nvCxnSpPr>
        <p:spPr>
          <a:xfrm flipV="1">
            <a:off x="6471862" y="3205588"/>
            <a:ext cx="1711611" cy="772781"/>
          </a:xfrm>
          <a:prstGeom prst="line">
            <a:avLst/>
          </a:prstGeom>
          <a:ln w="22225">
            <a:solidFill>
              <a:srgbClr val="BAC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stCxn id="42" idx="5"/>
            <a:endCxn id="27" idx="2"/>
          </p:cNvCxnSpPr>
          <p:nvPr/>
        </p:nvCxnSpPr>
        <p:spPr>
          <a:xfrm>
            <a:off x="6163216" y="4663859"/>
            <a:ext cx="2093409" cy="238656"/>
          </a:xfrm>
          <a:prstGeom prst="line">
            <a:avLst/>
          </a:prstGeom>
          <a:ln w="22225">
            <a:solidFill>
              <a:srgbClr val="BAC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42" idx="3"/>
            <a:endCxn id="35" idx="3"/>
          </p:cNvCxnSpPr>
          <p:nvPr/>
        </p:nvCxnSpPr>
        <p:spPr>
          <a:xfrm flipH="1">
            <a:off x="3231289" y="4663859"/>
            <a:ext cx="1606442" cy="962425"/>
          </a:xfrm>
          <a:prstGeom prst="line">
            <a:avLst/>
          </a:prstGeom>
          <a:ln w="22225">
            <a:solidFill>
              <a:srgbClr val="BAC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43" idx="1"/>
            <a:endCxn id="41" idx="3"/>
          </p:cNvCxnSpPr>
          <p:nvPr/>
        </p:nvCxnSpPr>
        <p:spPr>
          <a:xfrm flipH="1" flipV="1">
            <a:off x="3203857" y="2739551"/>
            <a:ext cx="1359356" cy="1048732"/>
          </a:xfrm>
          <a:prstGeom prst="line">
            <a:avLst/>
          </a:prstGeom>
          <a:ln w="22225">
            <a:solidFill>
              <a:srgbClr val="BAC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2E3D05-91EE-4384-2DC0-E95F52FCD83A}"/>
              </a:ext>
            </a:extLst>
          </p:cNvPr>
          <p:cNvGrpSpPr/>
          <p:nvPr/>
        </p:nvGrpSpPr>
        <p:grpSpPr>
          <a:xfrm>
            <a:off x="4597343" y="1076428"/>
            <a:ext cx="2144894" cy="1566089"/>
            <a:chOff x="4983480" y="859536"/>
            <a:chExt cx="2144894" cy="1566089"/>
          </a:xfrm>
        </p:grpSpPr>
        <p:sp>
          <p:nvSpPr>
            <p:cNvPr id="15" name="Rectangle 14"/>
            <p:cNvSpPr/>
            <p:nvPr/>
          </p:nvSpPr>
          <p:spPr>
            <a:xfrm>
              <a:off x="4983480" y="859536"/>
              <a:ext cx="475488" cy="1207008"/>
            </a:xfrm>
            <a:prstGeom prst="rect">
              <a:avLst/>
            </a:prstGeom>
            <a:solidFill>
              <a:srgbClr val="00707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Aft>
                  <a:spcPts val="200"/>
                </a:spcAft>
              </a:pPr>
              <a:endParaRPr/>
            </a:p>
          </p:txBody>
        </p:sp>
        <p:sp>
          <p:nvSpPr>
            <p:cNvPr id="16" name="Oval 15"/>
            <p:cNvSpPr/>
            <p:nvPr/>
          </p:nvSpPr>
          <p:spPr>
            <a:xfrm>
              <a:off x="5093208" y="1115568"/>
              <a:ext cx="256032" cy="2560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16"/>
            <p:cNvSpPr/>
            <p:nvPr/>
          </p:nvSpPr>
          <p:spPr>
            <a:xfrm>
              <a:off x="5038344" y="1389888"/>
              <a:ext cx="365760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55606" y="969264"/>
              <a:ext cx="1572768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0F203E"/>
                  </a:solidFill>
                  <a:latin typeface="Calibri"/>
                </a:rPr>
                <a:t>Rollid</a:t>
              </a:r>
              <a:endParaRPr sz="1400" b="1" dirty="0">
                <a:solidFill>
                  <a:srgbClr val="0F203E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532120" y="1225296"/>
              <a:ext cx="1572768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1100" b="0" dirty="0">
                  <a:solidFill>
                    <a:srgbClr val="334155"/>
                  </a:solidFill>
                  <a:latin typeface="Calibri"/>
                </a:rPr>
                <a:t>Kes vastutab andmete eest?</a:t>
              </a:r>
              <a:endParaRPr lang="en-GB" sz="1200" b="0" dirty="0">
                <a:solidFill>
                  <a:srgbClr val="334155"/>
                </a:solidFill>
                <a:latin typeface="Calibri"/>
              </a:endParaRPr>
            </a:p>
            <a:p>
              <a:pPr>
                <a:spcAft>
                  <a:spcPts val="200"/>
                </a:spcAft>
              </a:pPr>
              <a:r>
                <a:rPr sz="1100" b="0" dirty="0">
                  <a:solidFill>
                    <a:srgbClr val="334155"/>
                  </a:solidFill>
                  <a:latin typeface="Calibri"/>
                </a:rPr>
                <a:t>Kes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tunneb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neid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andmeid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?</a:t>
              </a:r>
            </a:p>
            <a:p>
              <a:pPr>
                <a:spcAft>
                  <a:spcPts val="200"/>
                </a:spcAft>
              </a:pP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Kellega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kokku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leppida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muudatused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?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CEB1425-C658-695D-35F0-F6E34A5AE796}"/>
              </a:ext>
            </a:extLst>
          </p:cNvPr>
          <p:cNvGrpSpPr/>
          <p:nvPr/>
        </p:nvGrpSpPr>
        <p:grpSpPr>
          <a:xfrm>
            <a:off x="8183473" y="2602084"/>
            <a:ext cx="2121408" cy="1207008"/>
            <a:chOff x="7174988" y="2451759"/>
            <a:chExt cx="2121408" cy="1207008"/>
          </a:xfrm>
        </p:grpSpPr>
        <p:sp>
          <p:nvSpPr>
            <p:cNvPr id="21" name="Rectangle 20"/>
            <p:cNvSpPr/>
            <p:nvPr/>
          </p:nvSpPr>
          <p:spPr>
            <a:xfrm>
              <a:off x="7174988" y="2451759"/>
              <a:ext cx="475488" cy="1207008"/>
            </a:xfrm>
            <a:prstGeom prst="rect">
              <a:avLst/>
            </a:prstGeom>
            <a:solidFill>
              <a:srgbClr val="C495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Aft>
                  <a:spcPts val="200"/>
                </a:spcAft>
              </a:pPr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723628" y="2524911"/>
              <a:ext cx="1572768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0F203E"/>
                  </a:solidFill>
                  <a:latin typeface="Calibri"/>
                </a:rPr>
                <a:t>Reeglid</a:t>
              </a:r>
              <a:endParaRPr sz="1400" b="1" dirty="0">
                <a:solidFill>
                  <a:srgbClr val="0F203E"/>
                </a:solidFill>
                <a:latin typeface="Calibri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23628" y="2817519"/>
              <a:ext cx="1572768" cy="83099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lang="en-GB" sz="1100" b="0" dirty="0" err="1">
                  <a:solidFill>
                    <a:srgbClr val="334155"/>
                  </a:solidFill>
                  <a:latin typeface="Calibri"/>
                </a:rPr>
                <a:t>Mis on käive?</a:t>
              </a:r>
              <a:endParaRPr sz="1200" b="0" dirty="0">
                <a:solidFill>
                  <a:srgbClr val="334155"/>
                </a:solidFill>
                <a:latin typeface="Calibri"/>
              </a:endParaRPr>
            </a:p>
            <a:p>
              <a:pPr>
                <a:spcAft>
                  <a:spcPts val="200"/>
                </a:spcAft>
              </a:pP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Millises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vormis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peavad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andmed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olema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?</a:t>
              </a:r>
            </a:p>
            <a:p>
              <a:pPr>
                <a:spcAft>
                  <a:spcPts val="200"/>
                </a:spcAft>
              </a:pP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Millistele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reeglitele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sisend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ja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väljund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 </a:t>
              </a:r>
              <a:r>
                <a:rPr sz="1100" b="0" dirty="0" err="1">
                  <a:solidFill>
                    <a:srgbClr val="334155"/>
                  </a:solidFill>
                  <a:latin typeface="Calibri"/>
                </a:rPr>
                <a:t>vastavad</a:t>
              </a:r>
              <a:r>
                <a:rPr sz="1100" b="0" dirty="0">
                  <a:solidFill>
                    <a:srgbClr val="334155"/>
                  </a:solidFill>
                  <a:latin typeface="Calibri"/>
                </a:rPr>
                <a:t>?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6ACAADB-C8B7-BE92-60CB-7D87520596BE}"/>
              </a:ext>
            </a:extLst>
          </p:cNvPr>
          <p:cNvGrpSpPr/>
          <p:nvPr/>
        </p:nvGrpSpPr>
        <p:grpSpPr>
          <a:xfrm>
            <a:off x="8183473" y="4372163"/>
            <a:ext cx="2212848" cy="1207008"/>
            <a:chOff x="6337906" y="5028032"/>
            <a:chExt cx="2212848" cy="1207008"/>
          </a:xfrm>
        </p:grpSpPr>
        <p:sp>
          <p:nvSpPr>
            <p:cNvPr id="25" name="Rounded Rectangle 24"/>
            <p:cNvSpPr/>
            <p:nvPr/>
          </p:nvSpPr>
          <p:spPr>
            <a:xfrm>
              <a:off x="6337906" y="5028032"/>
              <a:ext cx="2212848" cy="120700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Aft>
                  <a:spcPts val="200"/>
                </a:spcAft>
              </a:pPr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337906" y="5028032"/>
              <a:ext cx="475488" cy="1207008"/>
            </a:xfrm>
            <a:prstGeom prst="rect">
              <a:avLst/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Oval 26"/>
            <p:cNvSpPr/>
            <p:nvPr/>
          </p:nvSpPr>
          <p:spPr>
            <a:xfrm>
              <a:off x="6411058" y="5393792"/>
              <a:ext cx="329184" cy="3291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Chevron 27"/>
            <p:cNvSpPr/>
            <p:nvPr/>
          </p:nvSpPr>
          <p:spPr>
            <a:xfrm>
              <a:off x="6484210" y="5466944"/>
              <a:ext cx="182880" cy="182880"/>
            </a:xfrm>
            <a:prstGeom prst="chevron">
              <a:avLst/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86546" y="5101184"/>
              <a:ext cx="1572768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0F203E"/>
                  </a:solidFill>
                  <a:latin typeface="Calibri"/>
                </a:rPr>
                <a:t>Kvaliteet</a:t>
              </a:r>
              <a:endParaRPr sz="1400" b="1" dirty="0">
                <a:solidFill>
                  <a:srgbClr val="0F203E"/>
                </a:solidFill>
                <a:latin typeface="Calibri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86546" y="5393792"/>
              <a:ext cx="1572768" cy="64633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lang="en-GB" sz="1100" b="0" dirty="0" err="1">
                  <a:solidFill>
                    <a:srgbClr val="334155"/>
                  </a:solidFill>
                  <a:latin typeface="Calibri"/>
                </a:rPr>
                <a:t>Kas ID on olemas ja värske?</a:t>
              </a:r>
              <a:endParaRPr sz="1200" b="0" dirty="0">
                <a:solidFill>
                  <a:srgbClr val="334155"/>
                </a:solidFill>
                <a:latin typeface="Calibri"/>
              </a:endParaRPr>
            </a:p>
            <a:p>
              <a:pPr>
                <a:spcAft>
                  <a:spcPts val="200"/>
                </a:spcAft>
              </a:pPr>
              <a:r>
                <a:rPr sz="1100" b="0">
                  <a:solidFill>
                    <a:srgbClr val="334155"/>
                  </a:solidFill>
                  <a:latin typeface="Calibri"/>
                </a:rPr>
                <a:t>Kas kontroll käib pidevalt?</a:t>
              </a:r>
            </a:p>
            <a:p>
              <a:pPr>
                <a:spcAft>
                  <a:spcPts val="200"/>
                </a:spcAft>
              </a:pPr>
              <a:r>
                <a:rPr sz="1100" b="0">
                  <a:solidFill>
                    <a:srgbClr val="334155"/>
                  </a:solidFill>
                  <a:latin typeface="Calibri"/>
                </a:rPr>
                <a:t>Mida teha, kui number ei klapi?</a:t>
              </a:r>
            </a:p>
          </p:txBody>
        </p:sp>
      </p:grpSp>
      <p:sp>
        <p:nvSpPr>
          <p:cNvPr id="33" name="Pentagon 32"/>
          <p:cNvSpPr/>
          <p:nvPr/>
        </p:nvSpPr>
        <p:spPr>
          <a:xfrm>
            <a:off x="3702205" y="5430368"/>
            <a:ext cx="329184" cy="292608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12D2F01-F77A-695A-198D-BA76D88EBD18}"/>
              </a:ext>
            </a:extLst>
          </p:cNvPr>
          <p:cNvGrpSpPr/>
          <p:nvPr/>
        </p:nvGrpSpPr>
        <p:grpSpPr>
          <a:xfrm>
            <a:off x="1109881" y="4752692"/>
            <a:ext cx="2121408" cy="1381423"/>
            <a:chOff x="3629053" y="5028032"/>
            <a:chExt cx="2121408" cy="1381423"/>
          </a:xfrm>
        </p:grpSpPr>
        <p:sp>
          <p:nvSpPr>
            <p:cNvPr id="32" name="Rectangle 31"/>
            <p:cNvSpPr/>
            <p:nvPr/>
          </p:nvSpPr>
          <p:spPr>
            <a:xfrm>
              <a:off x="3629053" y="5028032"/>
              <a:ext cx="475488" cy="1207008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Aft>
                  <a:spcPts val="200"/>
                </a:spcAft>
              </a:pPr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177693" y="5101184"/>
              <a:ext cx="1572768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0F203E"/>
                  </a:solidFill>
                  <a:latin typeface="Calibri"/>
                </a:rPr>
                <a:t>Metaandmed</a:t>
              </a:r>
              <a:endParaRPr sz="1400" b="1" dirty="0">
                <a:solidFill>
                  <a:srgbClr val="0F203E"/>
                </a:solidFill>
                <a:latin typeface="Calibri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177693" y="5393792"/>
              <a:ext cx="1572768" cy="10156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lang="en-GB" sz="1100" b="0" dirty="0">
                  <a:solidFill>
                    <a:srgbClr val="334155"/>
                  </a:solidFill>
                  <a:latin typeface="Calibri"/>
                </a:rPr>
                <a:t>Mida andmed tähendavad?</a:t>
              </a:r>
              <a:endParaRPr sz="1200" b="0" dirty="0">
                <a:solidFill>
                  <a:srgbClr val="334155"/>
                </a:solidFill>
                <a:latin typeface="Calibri"/>
              </a:endParaRPr>
            </a:p>
            <a:p>
              <a:pPr>
                <a:spcAft>
                  <a:spcPts val="200"/>
                </a:spcAft>
              </a:pPr>
              <a:r>
                <a:rPr sz="1100" b="0">
                  <a:solidFill>
                    <a:srgbClr val="334155"/>
                  </a:solidFill>
                  <a:latin typeface="Calibri"/>
                </a:rPr>
                <a:t>Kust andmed tulevad?</a:t>
              </a:r>
            </a:p>
            <a:p>
              <a:pPr>
                <a:spcAft>
                  <a:spcPts val="200"/>
                </a:spcAft>
              </a:pPr>
              <a:r>
                <a:rPr sz="1100" b="0">
                  <a:solidFill>
                    <a:srgbClr val="334155"/>
                  </a:solidFill>
                  <a:latin typeface="Calibri"/>
                </a:rPr>
                <a:t>Millega laaditakse ja töödeldakse?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06EB13B-40CB-1DB8-9CA9-6CAA4933D8CD}"/>
              </a:ext>
            </a:extLst>
          </p:cNvPr>
          <p:cNvGrpSpPr/>
          <p:nvPr/>
        </p:nvGrpSpPr>
        <p:grpSpPr>
          <a:xfrm>
            <a:off x="1082449" y="1865959"/>
            <a:ext cx="2148840" cy="1381423"/>
            <a:chOff x="2764539" y="2471215"/>
            <a:chExt cx="2148840" cy="1381423"/>
          </a:xfrm>
        </p:grpSpPr>
        <p:sp>
          <p:nvSpPr>
            <p:cNvPr id="40" name="TextBox 39"/>
            <p:cNvSpPr txBox="1"/>
            <p:nvPr/>
          </p:nvSpPr>
          <p:spPr>
            <a:xfrm>
              <a:off x="3340611" y="2524911"/>
              <a:ext cx="1572768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400" b="1" dirty="0">
                  <a:solidFill>
                    <a:srgbClr val="0F203E"/>
                  </a:solidFill>
                  <a:latin typeface="Calibri"/>
                </a:rPr>
                <a:t>Turve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30DDA4F-D158-DB21-5AA9-CB2ACB994C7A}"/>
                </a:ext>
              </a:extLst>
            </p:cNvPr>
            <p:cNvGrpSpPr/>
            <p:nvPr/>
          </p:nvGrpSpPr>
          <p:grpSpPr>
            <a:xfrm>
              <a:off x="2764539" y="2471215"/>
              <a:ext cx="2121408" cy="1381423"/>
              <a:chOff x="2791971" y="2451759"/>
              <a:chExt cx="2121408" cy="1381423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2791971" y="2451759"/>
                <a:ext cx="475488" cy="1207008"/>
              </a:xfrm>
              <a:prstGeom prst="rect">
                <a:avLst/>
              </a:prstGeom>
              <a:solidFill>
                <a:srgbClr val="0F203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Aft>
                    <a:spcPts val="200"/>
                  </a:spcAft>
                </a:pPr>
                <a:endParaRPr/>
              </a:p>
            </p:txBody>
          </p:sp>
          <p:sp>
            <p:nvSpPr>
              <p:cNvPr id="38" name="Donut 37"/>
              <p:cNvSpPr/>
              <p:nvPr/>
            </p:nvSpPr>
            <p:spPr>
              <a:xfrm>
                <a:off x="2919987" y="2744367"/>
                <a:ext cx="219456" cy="219456"/>
              </a:xfrm>
              <a:prstGeom prst="donu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2883411" y="2890671"/>
                <a:ext cx="292608" cy="292608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3340611" y="2817519"/>
                <a:ext cx="1572768" cy="101566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200"/>
                  </a:spcAft>
                </a:pPr>
                <a:r>
                  <a:rPr sz="1100" b="0" dirty="0">
                    <a:solidFill>
                      <a:srgbClr val="334155"/>
                    </a:solidFill>
                    <a:latin typeface="Calibri"/>
                  </a:rPr>
                  <a:t>Kes tohib andmeid näha?</a:t>
                </a:r>
                <a:endParaRPr lang="en-GB" sz="1200" b="0" dirty="0">
                  <a:solidFill>
                    <a:srgbClr val="334155"/>
                  </a:solidFill>
                  <a:latin typeface="Calibri"/>
                </a:endParaRPr>
              </a:p>
              <a:p>
                <a:pPr>
                  <a:spcAft>
                    <a:spcPts val="200"/>
                  </a:spcAft>
                </a:pPr>
                <a:r>
                  <a:rPr sz="1100" b="0">
                    <a:solidFill>
                      <a:srgbClr val="334155"/>
                    </a:solidFill>
                    <a:latin typeface="Calibri"/>
                  </a:rPr>
                  <a:t>Mida tohib juhtlauale panna?</a:t>
                </a:r>
              </a:p>
              <a:p>
                <a:pPr>
                  <a:spcAft>
                    <a:spcPts val="200"/>
                  </a:spcAft>
                </a:pPr>
                <a:r>
                  <a:rPr sz="1100" b="0">
                    <a:solidFill>
                      <a:srgbClr val="334155"/>
                    </a:solidFill>
                    <a:latin typeface="Calibri"/>
                  </a:rPr>
                  <a:t>Kus, kui kaua ja millistel tingimustel hoida?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DBE7A75-72E9-9F2A-3933-E6C8FC3676CC}"/>
              </a:ext>
            </a:extLst>
          </p:cNvPr>
          <p:cNvGrpSpPr/>
          <p:nvPr/>
        </p:nvGrpSpPr>
        <p:grpSpPr>
          <a:xfrm>
            <a:off x="4563213" y="3063857"/>
            <a:ext cx="1908649" cy="1874519"/>
            <a:chOff x="4953958" y="3772574"/>
            <a:chExt cx="1908649" cy="1874519"/>
          </a:xfrm>
        </p:grpSpPr>
        <p:sp>
          <p:nvSpPr>
            <p:cNvPr id="42" name="Oval 41"/>
            <p:cNvSpPr/>
            <p:nvPr/>
          </p:nvSpPr>
          <p:spPr>
            <a:xfrm>
              <a:off x="4953959" y="3772574"/>
              <a:ext cx="1874519" cy="1874519"/>
            </a:xfrm>
            <a:prstGeom prst="ellipse">
              <a:avLst/>
            </a:prstGeom>
            <a:solidFill>
              <a:srgbClr val="00707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53958" y="4332408"/>
              <a:ext cx="1874519" cy="32918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Calibri"/>
                </a:rPr>
                <a:t>ANDME-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988088" y="4517809"/>
              <a:ext cx="1874519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FFFFFF"/>
                  </a:solidFill>
                  <a:latin typeface="Calibri"/>
                </a:rPr>
                <a:t>KORRALDUS</a:t>
              </a:r>
              <a:endParaRPr sz="1600" b="1" dirty="0">
                <a:solidFill>
                  <a:srgbClr val="FFFFFF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BDD1-B588-2621-EEEF-0859570D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C859A2-8CA5-ACA5-82C6-752C1BD0E7F3}"/>
              </a:ext>
            </a:extLst>
          </p:cNvPr>
          <p:cNvSpPr txBox="1"/>
          <p:nvPr/>
        </p:nvSpPr>
        <p:spPr>
          <a:xfrm>
            <a:off x="379970" y="1242539"/>
            <a:ext cx="114083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https://www.kratid.ee/juhised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/>
              </a:rPr>
              <a:t>https://stat.ee/et/andmehalduse-juhised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A7FC4-D3B3-7980-484F-84C4354F3FFE}"/>
              </a:ext>
            </a:extLst>
          </p:cNvPr>
          <p:cNvSpPr/>
          <p:nvPr/>
        </p:nvSpPr>
        <p:spPr>
          <a:xfrm>
            <a:off x="123872" y="23109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F8BA9-CABF-392A-27B0-20C98C559098}"/>
              </a:ext>
            </a:extLst>
          </p:cNvPr>
          <p:cNvSpPr txBox="1"/>
          <p:nvPr/>
        </p:nvSpPr>
        <p:spPr>
          <a:xfrm>
            <a:off x="489632" y="231188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400" b="1" dirty="0">
                <a:solidFill>
                  <a:srgbClr val="FFFFFF"/>
                </a:solidFill>
                <a:latin typeface="Calibri"/>
              </a:rPr>
              <a:t>Eesti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kontekst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: mis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reguleerib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kus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on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infot</a:t>
            </a:r>
            <a:endParaRPr lang="en-GB" sz="24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4194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400" b="1" dirty="0">
                <a:solidFill>
                  <a:srgbClr val="FFFFFF"/>
                </a:solidFill>
                <a:latin typeface="Calibri"/>
              </a:rPr>
              <a:t>ROLLID — kes vastutab, kes otsustab, kellega rääkida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407041"/>
              </p:ext>
            </p:extLst>
          </p:nvPr>
        </p:nvGraphicFramePr>
        <p:xfrm>
          <a:off x="637492" y="1076839"/>
          <a:ext cx="10886535" cy="51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221">
                  <a:extLst>
                    <a:ext uri="{9D8B030D-6E8A-4147-A177-3AD203B41FA5}">
                      <a16:colId xmlns:a16="http://schemas.microsoft.com/office/drawing/2014/main" val="3872346651"/>
                    </a:ext>
                  </a:extLst>
                </a:gridCol>
                <a:gridCol w="1836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3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36576" marT="36576" marB="27432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Roll</a:t>
                      </a:r>
                    </a:p>
                  </a:txBody>
                  <a:tcPr marL="45720" marR="36576" marT="36576" marB="27432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Kes </a:t>
                      </a:r>
                      <a:r>
                        <a:rPr lang="en-GB"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ja</a:t>
                      </a:r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mida</a:t>
                      </a:r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teeb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Millistele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küsimustele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vastab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45720" marR="36576" marT="36576" marB="27432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5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03E"/>
                          </a:solidFill>
                          <a:latin typeface="Calibri"/>
                        </a:rPr>
                        <a:t>ÄRI</a:t>
                      </a: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Andmeomanik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Müügijuht</a:t>
                      </a: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Mis on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käive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? 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Kes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tahab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ja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peab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ja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võib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mida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näha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?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Tunneb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äri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tähendust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Omab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peamisi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tema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valdkonnas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olevate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tööprotsesside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andmeid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Valdkonnad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võivad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ristuda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, st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osa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töötaja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andmeid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võib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olla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nt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tootmisprotsessis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,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osa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personalihalduses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</a:t>
                      </a:r>
                      <a:endParaRPr sz="11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56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Andmekasutaja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Osakonnajuht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,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spetsialist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(</a:t>
                      </a:r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loeb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aruannet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Kasutab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andmeid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oma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tööprotsessis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ülevaate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saamiseks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ja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tsuste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tegemiseks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</a:t>
                      </a:r>
                      <a:endParaRPr sz="11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773875"/>
                  </a:ext>
                </a:extLst>
              </a:tr>
              <a:tr h="6133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Andmeandja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Kes </a:t>
                      </a:r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sisestab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tellimuse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>
                          <a:solidFill>
                            <a:srgbClr val="334155"/>
                          </a:solidFill>
                          <a:latin typeface="Calibri"/>
                        </a:rPr>
                        <a:t>alliksüsteemi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,nt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müügispetsialist</a:t>
                      </a:r>
                      <a:endParaRPr sz="12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Tekitab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andmeid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,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mida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hiljem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analüüsitakse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Vastutab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oma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tööprotsessi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raames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andmete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kvaliteedi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ja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tekitamise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eest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</a:t>
                      </a:r>
                      <a:endParaRPr sz="11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3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1" dirty="0" err="1">
                          <a:solidFill>
                            <a:srgbClr val="0F203E"/>
                          </a:solidFill>
                          <a:latin typeface="+mn-lt"/>
                        </a:rPr>
                        <a:t>Andmehaldur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Vastutab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talle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määratud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andmete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teekona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,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reeglitele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vastavuse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eest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.</a:t>
                      </a:r>
                      <a:endParaRPr sz="12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100" b="0" dirty="0">
                          <a:solidFill>
                            <a:srgbClr val="334155"/>
                          </a:solidFill>
                          <a:latin typeface="+mn-lt"/>
                        </a:rPr>
                        <a:t>Kas staatus ja kogus on tõesed? Kes korrastab allikat, kui analüütika leiab vea?</a:t>
                      </a:r>
                    </a:p>
                    <a:p>
                      <a:pPr algn="l"/>
                      <a:endParaRPr sz="11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51791"/>
                  </a:ext>
                </a:extLst>
              </a:tr>
              <a:tr h="613348">
                <a:tc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rgbClr val="0F203E"/>
                          </a:solidFill>
                          <a:latin typeface="Calibri"/>
                        </a:rPr>
                        <a:t>TEHNILINE </a:t>
                      </a:r>
                      <a:r>
                        <a:rPr sz="1200" b="1" dirty="0">
                          <a:solidFill>
                            <a:srgbClr val="0F203E"/>
                          </a:solidFill>
                          <a:latin typeface="Calibri"/>
                        </a:rPr>
                        <a:t>TEOSTUS</a:t>
                      </a: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Analüütik</a:t>
                      </a:r>
                      <a:r>
                        <a:rPr sz="1200" b="1" dirty="0">
                          <a:solidFill>
                            <a:srgbClr val="0F203E"/>
                          </a:solidFill>
                          <a:latin typeface="Calibri"/>
                        </a:rPr>
                        <a:t> / </a:t>
                      </a:r>
                      <a:r>
                        <a:rPr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andmeinsener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Vastutab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nõuete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analüüsi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ja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teostuse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eest</a:t>
                      </a:r>
                      <a:endParaRPr sz="12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Mida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telija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vajab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?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Kuidas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reegel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tehniliselt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teha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?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Teostab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töö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Dokumenteerib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töö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</a:t>
                      </a:r>
                      <a:endParaRPr sz="11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642">
                <a:tc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rgbClr val="0F203E"/>
                          </a:solidFill>
                          <a:latin typeface="Calibri"/>
                        </a:rPr>
                        <a:t>ANDMEKORRALDUS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Andme</a:t>
                      </a:r>
                      <a:r>
                        <a:rPr lang="en-GB"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korralduse</a:t>
                      </a:r>
                      <a:r>
                        <a:rPr sz="1200" b="1" dirty="0">
                          <a:solidFill>
                            <a:srgbClr val="0F203E"/>
                          </a:solidFill>
                          <a:latin typeface="Calibr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juht</a:t>
                      </a:r>
                      <a:r>
                        <a:rPr lang="en-GB" sz="1200" b="1" dirty="0">
                          <a:solidFill>
                            <a:srgbClr val="0F203E"/>
                          </a:solidFill>
                          <a:latin typeface="Calibri"/>
                        </a:rPr>
                        <a:t>/</a:t>
                      </a:r>
                      <a:r>
                        <a:rPr lang="en-GB"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vastutaja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Ettevõttes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eraldi</a:t>
                      </a:r>
                      <a:r>
                        <a:rPr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roll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, mis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võib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olla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jagatud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valdkondade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ja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etappide</a:t>
                      </a:r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kaupa</a:t>
                      </a:r>
                      <a:endParaRPr sz="12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Kes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hoiab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korda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rollid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reeglid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sõnastik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? Kas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plaan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on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leitav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?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Korraldab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andmekorralduse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en-GB"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parendamist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.</a:t>
                      </a:r>
                      <a:endParaRPr sz="11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039945"/>
                  </a:ext>
                </a:extLst>
              </a:tr>
              <a:tr h="613348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1" dirty="0" err="1">
                          <a:solidFill>
                            <a:srgbClr val="0F203E"/>
                          </a:solidFill>
                          <a:latin typeface="Calibri"/>
                        </a:rPr>
                        <a:t>Andmeturbespetsialist</a:t>
                      </a:r>
                      <a:endParaRPr sz="1200" b="1" dirty="0">
                        <a:solidFill>
                          <a:srgbClr val="0F203E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>
                          <a:solidFill>
                            <a:srgbClr val="334155"/>
                          </a:solidFill>
                          <a:latin typeface="Calibri"/>
                        </a:rPr>
                        <a:t>-’’-</a:t>
                      </a:r>
                      <a:endParaRPr sz="12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Kas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isikuandmed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on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seaduslikud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(GDPR/IKS)? Kes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tohib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nime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näha</a:t>
                      </a:r>
                      <a:r>
                        <a:rPr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?</a:t>
                      </a:r>
                      <a:r>
                        <a:rPr lang="en-GB" sz="1100" b="0" dirty="0">
                          <a:solidFill>
                            <a:srgbClr val="334155"/>
                          </a:solidFill>
                          <a:latin typeface="Calibri"/>
                        </a:rPr>
                        <a:t> </a:t>
                      </a:r>
                      <a:r>
                        <a:rPr lang="fi-FI" sz="1100" b="0" dirty="0">
                          <a:solidFill>
                            <a:srgbClr val="334155"/>
                          </a:solidFill>
                          <a:latin typeface="+mn-lt"/>
                        </a:rPr>
                        <a:t>Kui on määratud; muidu jurist + IT</a:t>
                      </a:r>
                    </a:p>
                    <a:p>
                      <a:pPr algn="l"/>
                      <a:endParaRPr sz="11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45720" marR="36576" marT="36576" marB="2743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3581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8EE5-6EBF-FA7C-7C1D-F6CDD15E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1A4E4B-8CFF-E759-5BFC-7F911A26D875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CCD59C-999A-2E7B-3D8E-F3095B1CD5A9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239DC-3DC2-0A1A-A6BB-6B6D035D09F1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400" b="1" dirty="0">
                <a:solidFill>
                  <a:srgbClr val="FFFFFF"/>
                </a:solidFill>
                <a:latin typeface="Calibri"/>
              </a:rPr>
              <a:t>REEGLID JA KVALITEET — kuidas peab vs kas on</a:t>
            </a:r>
            <a:endParaRPr sz="24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7D092-BBE5-F23E-59B3-3E5FB1ED6E30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D30896-4CE9-03ED-2A66-513161AB946E}"/>
              </a:ext>
            </a:extLst>
          </p:cNvPr>
          <p:cNvSpPr/>
          <p:nvPr/>
        </p:nvSpPr>
        <p:spPr>
          <a:xfrm>
            <a:off x="306126" y="1085904"/>
            <a:ext cx="11236518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E0B78-122D-CBB8-31F3-5C3AE465FD79}"/>
              </a:ext>
            </a:extLst>
          </p:cNvPr>
          <p:cNvSpPr txBox="1"/>
          <p:nvPr/>
        </p:nvSpPr>
        <p:spPr>
          <a:xfrm>
            <a:off x="306126" y="1137309"/>
            <a:ext cx="1104436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dirty="0" err="1">
                <a:solidFill>
                  <a:schemeClr val="bg1"/>
                </a:solidFill>
                <a:latin typeface="Calibri"/>
              </a:rPr>
              <a:t>Reegel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on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kokkulepe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.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Kvaliteet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on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kontroll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, kas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kokkulepe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peab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.</a:t>
            </a:r>
            <a:endParaRPr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691640"/>
            <a:ext cx="91440" cy="461772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1801368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Reeglid — kuidas PEAB olema?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167128"/>
            <a:ext cx="5257800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Mis on käive? Ainult staatus Täidetud, pärast allahindlust, ilma KM.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Millises vormis kuupäev? Alati AAAA-KK-PP (nt 2026-09-09).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Kuidas klienti ühendada? klient_id järgi, mitte nime järgi (kaks Kati Lepikut).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Millised staatused tohivad olla? Täidetud, Ootel, Tühistatud.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Kategooria JOIN: tooted.kategooria = kategooriad.nimetus.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Puuduv linn ei ole tühi «Blank» — märgi «määramata».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691640"/>
            <a:ext cx="91440" cy="4617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1801368"/>
            <a:ext cx="51663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Kvaliteet — kas päriselt 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167128"/>
            <a:ext cx="5120640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Kas klient_id ja tellimus_id on olemas? Tühjad võtmed ei tohi olla.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Kas tellimus on pärast liitumist? Kuupäev ei tohi olla enne liitumise_kuupäev.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Kas andmed on värsked? Koolitusel pärast CSV importi; päris elus tööpäevaks kell 07:00.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Mida teha muudatusega? Veeru nime või tüübi muutusest teavita haldurit 5 tööpäeva ette — muidu Power BI katki.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Kui kaks käivet ei klapi: ära paranda ainult visuaali. Mine noolt tagasi (filter, JOIN, CSV).</a:t>
            </a:r>
          </a:p>
        </p:txBody>
      </p:sp>
      <p:sp>
        <p:nvSpPr>
          <p:cNvPr id="2" name="Rounded Rectangle 14"/>
          <p:cNvSpPr/>
          <p:nvPr/>
        </p:nvSpPr>
        <p:spPr>
          <a:xfrm>
            <a:off x="365760" y="167112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91440" cy="461772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8932" y="1609344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 err="1">
                <a:solidFill>
                  <a:srgbClr val="0F203E"/>
                </a:solidFill>
                <a:latin typeface="Calibri"/>
              </a:rPr>
              <a:t>Reeglid</a:t>
            </a:r>
            <a:r>
              <a:rPr sz="1600" b="1" dirty="0">
                <a:solidFill>
                  <a:srgbClr val="0F203E"/>
                </a:solidFill>
                <a:latin typeface="Calibri"/>
              </a:rPr>
              <a:t> — </a:t>
            </a:r>
            <a:r>
              <a:rPr sz="1600" b="1" dirty="0" err="1">
                <a:solidFill>
                  <a:srgbClr val="0F203E"/>
                </a:solidFill>
                <a:latin typeface="Calibri"/>
              </a:rPr>
              <a:t>kuidas</a:t>
            </a:r>
            <a:r>
              <a:rPr sz="1600" b="1" dirty="0">
                <a:solidFill>
                  <a:srgbClr val="0F203E"/>
                </a:solidFill>
                <a:latin typeface="Calibri"/>
              </a:rPr>
              <a:t> PEAB </a:t>
            </a:r>
            <a:r>
              <a:rPr sz="1600" b="1" dirty="0" err="1">
                <a:solidFill>
                  <a:srgbClr val="0F203E"/>
                </a:solidFill>
                <a:latin typeface="Calibri"/>
              </a:rPr>
              <a:t>olema</a:t>
            </a:r>
            <a:r>
              <a:rPr sz="1600" b="1" dirty="0">
                <a:solidFill>
                  <a:srgbClr val="0F203E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1956816"/>
            <a:ext cx="5257800" cy="446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Mis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käive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staatus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pärast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allahindlust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ilma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KM.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Millises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vormis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kuupäev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Alati AAAA-KK-PP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2026-09-09).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Kuidas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klienti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ühendada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Kati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Lepikut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).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Millised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staatused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tohivad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olla?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Ootel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Tühistatud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Kategooria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JOIN: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tooted.kategooria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=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kategooriad.nimetus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Puuduv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linn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ole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tühi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«Blank» —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märgi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«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määramata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».</a:t>
            </a:r>
            <a:br>
              <a:rPr lang="en-GB" sz="1400" b="0" dirty="0">
                <a:solidFill>
                  <a:srgbClr val="334155"/>
                </a:solidFill>
                <a:latin typeface="Calibri"/>
              </a:rPr>
            </a:br>
            <a:br>
              <a:rPr lang="en-GB" sz="1400" b="0" dirty="0">
                <a:solidFill>
                  <a:srgbClr val="334155"/>
                </a:solidFill>
                <a:latin typeface="Calibri"/>
              </a:rPr>
            </a:br>
            <a:r>
              <a:rPr lang="en-GB" sz="1400" b="0" dirty="0">
                <a:solidFill>
                  <a:srgbClr val="334155"/>
                </a:solidFill>
                <a:latin typeface="Calibri"/>
              </a:rPr>
              <a:t>GRUPEERITUD: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4155"/>
                </a:solidFill>
                <a:latin typeface="Calibri"/>
              </a:rPr>
              <a:t>Üldised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reeglid</a:t>
            </a:r>
            <a:endParaRPr lang="en-GB" sz="1400" dirty="0">
              <a:solidFill>
                <a:srgbClr val="334155"/>
              </a:solidFill>
              <a:latin typeface="Calibri"/>
            </a:endParaRP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Valdkondade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kaupa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rgbClr val="334155"/>
                </a:solidFill>
                <a:latin typeface="Calibri"/>
              </a:rPr>
              <a:t>Andmekogude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kaupa</a:t>
            </a:r>
            <a:endParaRPr lang="en-GB" sz="1400" dirty="0">
              <a:solidFill>
                <a:srgbClr val="334155"/>
              </a:solidFill>
              <a:latin typeface="Calibri"/>
            </a:endParaRP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Aruannete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detailsed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reeglid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 err="1"/>
              <a:t>Reegel</a:t>
            </a:r>
            <a:r>
              <a:rPr lang="en-GB" sz="1400" dirty="0"/>
              <a:t> on </a:t>
            </a:r>
            <a:r>
              <a:rPr lang="en-GB" sz="1400" dirty="0" err="1"/>
              <a:t>otsus</a:t>
            </a:r>
            <a:r>
              <a:rPr lang="en-GB" sz="1400" dirty="0"/>
              <a:t>: </a:t>
            </a:r>
            <a:r>
              <a:rPr lang="en-GB" sz="1400" dirty="0" err="1"/>
              <a:t>nii</a:t>
            </a:r>
            <a:r>
              <a:rPr lang="en-GB" sz="1400" dirty="0"/>
              <a:t> on </a:t>
            </a:r>
            <a:r>
              <a:rPr lang="en-GB" sz="1400" dirty="0" err="1"/>
              <a:t>kokku</a:t>
            </a:r>
            <a:r>
              <a:rPr lang="en-GB" sz="1400" dirty="0"/>
              <a:t> </a:t>
            </a:r>
            <a:r>
              <a:rPr lang="en-GB" sz="1400" dirty="0" err="1"/>
              <a:t>lepitud</a:t>
            </a:r>
            <a:r>
              <a:rPr lang="en-GB" sz="1400" dirty="0"/>
              <a:t>, </a:t>
            </a:r>
            <a:r>
              <a:rPr lang="en-GB" sz="1400" dirty="0" err="1"/>
              <a:t>nii</a:t>
            </a:r>
            <a:r>
              <a:rPr lang="en-GB" sz="1400" dirty="0"/>
              <a:t> </a:t>
            </a:r>
            <a:r>
              <a:rPr lang="en-GB" sz="1400" dirty="0" err="1"/>
              <a:t>tohib</a:t>
            </a:r>
            <a:r>
              <a:rPr lang="en-GB" sz="1400" dirty="0"/>
              <a:t> </a:t>
            </a:r>
            <a:r>
              <a:rPr lang="en-GB" sz="1400" dirty="0" err="1"/>
              <a:t>arvutada</a:t>
            </a:r>
            <a:r>
              <a:rPr lang="en-GB" sz="1400" dirty="0"/>
              <a:t>. Kui </a:t>
            </a:r>
            <a:r>
              <a:rPr lang="en-GB" sz="1400" dirty="0" err="1"/>
              <a:t>keegi</a:t>
            </a:r>
            <a:r>
              <a:rPr lang="en-GB" sz="1400" dirty="0"/>
              <a:t> </a:t>
            </a:r>
            <a:r>
              <a:rPr lang="en-GB" sz="1400" dirty="0" err="1"/>
              <a:t>teeb</a:t>
            </a:r>
            <a:r>
              <a:rPr lang="en-GB" sz="1400" dirty="0"/>
              <a:t> </a:t>
            </a:r>
            <a:r>
              <a:rPr lang="en-GB" sz="1400" dirty="0" err="1"/>
              <a:t>käibe</a:t>
            </a:r>
            <a:r>
              <a:rPr lang="en-GB" sz="1400" dirty="0"/>
              <a:t> </a:t>
            </a:r>
            <a:r>
              <a:rPr lang="en-GB" sz="1400" dirty="0" err="1"/>
              <a:t>Ootel</a:t>
            </a:r>
            <a:r>
              <a:rPr lang="en-GB" sz="1400" dirty="0"/>
              <a:t> </a:t>
            </a:r>
            <a:r>
              <a:rPr lang="en-GB" sz="1400" dirty="0" err="1"/>
              <a:t>ridadest</a:t>
            </a:r>
            <a:r>
              <a:rPr lang="en-GB" sz="1400" dirty="0"/>
              <a:t>, </a:t>
            </a:r>
            <a:r>
              <a:rPr lang="en-GB" sz="1400" dirty="0" err="1"/>
              <a:t>rikub</a:t>
            </a:r>
            <a:r>
              <a:rPr lang="en-GB" sz="1400" dirty="0"/>
              <a:t> ta </a:t>
            </a:r>
            <a:r>
              <a:rPr lang="en-GB" sz="1400" dirty="0" err="1"/>
              <a:t>reeglit</a:t>
            </a:r>
            <a:r>
              <a:rPr lang="en-GB" sz="1400" dirty="0"/>
              <a:t>.</a:t>
            </a:r>
            <a:endParaRPr sz="14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18"/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91440" cy="4617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801368"/>
            <a:ext cx="51663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Kvaliteet — kas päriselt 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167128"/>
            <a:ext cx="5120640" cy="3213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Kas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tellimus_id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olemas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Tühjad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võtmed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tohi olla.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Kas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tellimus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pärast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liitumist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Kuupäev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tohi olla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enne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liitumise_kuupäev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Kas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andmed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värsked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Koolitusel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pärast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CSV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importi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;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päris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elus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tööpäevaks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kell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07:00.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Mida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teha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muudatusega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Veeru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tüübi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muutusest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teavita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haldurit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5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tööpäeva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ette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Power BI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katki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Kui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käivet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klapi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ära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paranda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visuaali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 Mine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noolt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tagasi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(filter, JOIN, CSV).</a:t>
            </a:r>
            <a:br>
              <a:rPr lang="en-GB" sz="1400" b="0" dirty="0">
                <a:solidFill>
                  <a:srgbClr val="334155"/>
                </a:solidFill>
                <a:latin typeface="Calibri"/>
              </a:rPr>
            </a:br>
            <a:br>
              <a:rPr lang="en-GB" sz="1400" b="0" dirty="0">
                <a:solidFill>
                  <a:srgbClr val="334155"/>
                </a:solidFill>
                <a:latin typeface="Calibri"/>
              </a:rPr>
            </a:br>
            <a:r>
              <a:rPr lang="en-GB" sz="1400" b="1" dirty="0">
                <a:solidFill>
                  <a:srgbClr val="FF0000"/>
                </a:solidFill>
                <a:latin typeface="Calibri"/>
              </a:rPr>
              <a:t>REGULAARNE KONTROLL! </a:t>
            </a:r>
            <a:r>
              <a:rPr lang="en-GB" sz="1400" b="1" dirty="0" err="1">
                <a:solidFill>
                  <a:srgbClr val="FF0000"/>
                </a:solidFill>
                <a:latin typeface="Calibri"/>
              </a:rPr>
              <a:t>Andmekorraldus</a:t>
            </a:r>
            <a:r>
              <a:rPr lang="en-GB" sz="14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alibri"/>
              </a:rPr>
              <a:t>tööriistad</a:t>
            </a:r>
            <a:br>
              <a:rPr lang="en-GB" sz="1400" b="0" dirty="0">
                <a:solidFill>
                  <a:srgbClr val="334155"/>
                </a:solidFill>
                <a:latin typeface="Calibri"/>
              </a:rPr>
            </a:b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Kuidas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seda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teostatakse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algn="l">
              <a:spcAft>
                <a:spcPts val="500"/>
              </a:spcAft>
            </a:pPr>
            <a:r>
              <a:rPr lang="en-GB" sz="1400" dirty="0" err="1">
                <a:solidFill>
                  <a:srgbClr val="334155"/>
                </a:solidFill>
                <a:latin typeface="Calibri"/>
              </a:rPr>
              <a:t>Selleks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töövahendid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.</a:t>
            </a:r>
            <a:endParaRPr sz="14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197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30BB7-532F-71EC-7269-7F4C962F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C7D4BC-826E-874B-E1D0-032A2773B6BA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6A8EC-6000-F651-BC07-1CD1E5514E37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390BE-4FD2-3039-0F95-207995943A59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400" b="1" dirty="0">
                <a:solidFill>
                  <a:srgbClr val="FFFFFF"/>
                </a:solidFill>
                <a:latin typeface="Calibri"/>
              </a:rPr>
              <a:t>METAANDMED — tähendus, päritolu, tehnoloogia</a:t>
            </a:r>
            <a:endParaRPr sz="24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ABCA2-59EE-36F1-9CCD-35056525D44E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7DC4A-0601-D7FB-0ED8-3DD347B4E9CF}"/>
              </a:ext>
            </a:extLst>
          </p:cNvPr>
          <p:cNvSpPr/>
          <p:nvPr/>
        </p:nvSpPr>
        <p:spPr>
          <a:xfrm>
            <a:off x="306126" y="1085904"/>
            <a:ext cx="11236518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C6059-0B55-0DB3-ACDB-616D0EC51633}"/>
              </a:ext>
            </a:extLst>
          </p:cNvPr>
          <p:cNvSpPr txBox="1"/>
          <p:nvPr/>
        </p:nvSpPr>
        <p:spPr>
          <a:xfrm>
            <a:off x="210048" y="1148495"/>
            <a:ext cx="1104436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0" dirty="0" err="1">
                <a:solidFill>
                  <a:schemeClr val="bg1"/>
                </a:solidFill>
                <a:latin typeface="Calibri"/>
              </a:rPr>
              <a:t>Andmed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andmete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kohta</a:t>
            </a:r>
            <a:r>
              <a:rPr b="0" dirty="0">
                <a:solidFill>
                  <a:schemeClr val="bg1"/>
                </a:solidFill>
                <a:latin typeface="Calibri"/>
              </a:rPr>
              <a:t>.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Sõnastik</a:t>
            </a:r>
            <a:r>
              <a:rPr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ütleb</a:t>
            </a:r>
            <a:r>
              <a:rPr b="0" dirty="0">
                <a:solidFill>
                  <a:schemeClr val="bg1"/>
                </a:solidFill>
                <a:latin typeface="Calibri"/>
              </a:rPr>
              <a:t>,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mida</a:t>
            </a:r>
            <a:r>
              <a:rPr b="0" dirty="0">
                <a:solidFill>
                  <a:schemeClr val="bg1"/>
                </a:solidFill>
                <a:latin typeface="Calibri"/>
              </a:rPr>
              <a:t> number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tähendab</a:t>
            </a:r>
            <a:r>
              <a:rPr b="0" dirty="0">
                <a:solidFill>
                  <a:schemeClr val="bg1"/>
                </a:solidFill>
                <a:latin typeface="Calibri"/>
              </a:rPr>
              <a:t>;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päritolu</a:t>
            </a:r>
            <a:r>
              <a:rPr b="0" dirty="0">
                <a:solidFill>
                  <a:schemeClr val="bg1"/>
                </a:solidFill>
                <a:latin typeface="Calibri"/>
              </a:rPr>
              <a:t>,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kust</a:t>
            </a:r>
            <a:r>
              <a:rPr b="0" dirty="0">
                <a:solidFill>
                  <a:schemeClr val="bg1"/>
                </a:solidFill>
                <a:latin typeface="Calibri"/>
              </a:rPr>
              <a:t> ja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millega</a:t>
            </a:r>
            <a:r>
              <a:rPr b="0" dirty="0">
                <a:solidFill>
                  <a:schemeClr val="bg1"/>
                </a:solidFill>
                <a:latin typeface="Calibri"/>
              </a:rPr>
              <a:t> ta </a:t>
            </a:r>
            <a:r>
              <a:rPr b="0" dirty="0" err="1">
                <a:solidFill>
                  <a:schemeClr val="bg1"/>
                </a:solidFill>
                <a:latin typeface="Calibri"/>
              </a:rPr>
              <a:t>tuli</a:t>
            </a:r>
            <a:r>
              <a:rPr b="0" dirty="0">
                <a:solidFill>
                  <a:schemeClr val="bg1"/>
                </a:solidFill>
                <a:latin typeface="Calibri"/>
              </a:rPr>
              <a:t>.</a:t>
            </a:r>
            <a:endParaRPr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1691640"/>
            <a:ext cx="3749039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691640"/>
            <a:ext cx="91440" cy="4617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1801368"/>
            <a:ext cx="3383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Mida andmed tähendavad?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167128"/>
            <a:ext cx="3337559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Ärisõnastik: käive, ostukorv, klient — ilma tabelinimeta.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Andmesõnastik: veerg, tüüp, võti.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Meil: käive = Täidetud, neto, pärast allahindlust.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Kirjuta üles: COMMENT SQL-is, Description Power BI-s.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691640"/>
            <a:ext cx="3749039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1691640"/>
            <a:ext cx="91440" cy="461772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53712" y="1801368"/>
            <a:ext cx="3383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Kust andmed tulevad?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167128"/>
            <a:ext cx="3337559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Päritolu (lineage): nool allikast aruandeni.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Meil: CSV → PostgreSQL tabelid → vaated fact_muuk / dim_* → Power BI mudel → aruanne «E-poe müük».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Kui number on vale, mine noolt tagasi — ära paranda ainult graafikut.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691640"/>
            <a:ext cx="36118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3879" y="1691640"/>
            <a:ext cx="91440" cy="46177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39911" y="1801368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Millega laaditakse ja töödeldakse?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1" y="2167128"/>
            <a:ext cx="3200400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Milliseid tehnoloogiaid kasutati laadimisel ja töötlemisel?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Meil: PostgreSQL (tabelid, CREATE VIEW), Power BI (mudel, aruanne).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Siia kuulub ka: milline skript, milline vaade, milline mõõdik.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See ei ole reegel (mis on käive) ega kvaliteet (kas ID on olemas).</a:t>
            </a:r>
          </a:p>
        </p:txBody>
      </p:sp>
      <p:sp>
        <p:nvSpPr>
          <p:cNvPr id="2" name="Rounded Rectangle 14"/>
          <p:cNvSpPr/>
          <p:nvPr/>
        </p:nvSpPr>
        <p:spPr>
          <a:xfrm>
            <a:off x="365760" y="1691640"/>
            <a:ext cx="3749039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91440" cy="4617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3383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Mida andmed tähendavad?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67128"/>
            <a:ext cx="3337559" cy="256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1" dirty="0" err="1">
                <a:solidFill>
                  <a:srgbClr val="334155"/>
                </a:solidFill>
                <a:latin typeface="Calibri"/>
              </a:rPr>
              <a:t>Ärisõnastik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käive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ostukorv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ilma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tabelinimeta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1" dirty="0" err="1">
                <a:solidFill>
                  <a:srgbClr val="334155"/>
                </a:solidFill>
                <a:latin typeface="Calibri"/>
              </a:rPr>
              <a:t>Andmesõnastik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veerg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tüüp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võti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käive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=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neto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pärast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allahindlust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Kirjuta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üles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õiges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kohas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: COMMENT SQL-is, Description Power BI-s.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rgbClr val="334155"/>
                </a:solidFill>
                <a:latin typeface="Calibri"/>
              </a:rPr>
              <a:t>Töö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nähtavale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võimalikult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kasutuse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lähedal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aruandes</a:t>
            </a:r>
            <a:endParaRPr lang="en-GB" sz="1400" dirty="0">
              <a:solidFill>
                <a:srgbClr val="334155"/>
              </a:solidFill>
              <a:latin typeface="Calibri"/>
            </a:endParaRP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GB" sz="14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0" name="Rounded Rectangle 18"/>
          <p:cNvSpPr/>
          <p:nvPr/>
        </p:nvSpPr>
        <p:spPr>
          <a:xfrm>
            <a:off x="4297680" y="1691640"/>
            <a:ext cx="3749039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91440" cy="461772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801368"/>
            <a:ext cx="3383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Kust andmed tulevad?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167128"/>
            <a:ext cx="3337559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b="1" dirty="0" err="1">
                <a:solidFill>
                  <a:srgbClr val="334155"/>
                </a:solidFill>
                <a:latin typeface="Calibri"/>
              </a:rPr>
              <a:t>Päritolu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(lineage):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nool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allikast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aruandeni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Meil: CSV → PostgreSQL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→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vaated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fact_muuk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/ dim_* → Power BI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mudel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→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«E-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poe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müük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».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endParaRPr lang="en-GB" sz="1400" dirty="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Aitab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lahendada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olukordi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: “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katki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!” - &gt;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kuidas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andmed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tulevad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-&gt;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milliseid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töötlusi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puhastust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läbivad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-&gt;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kus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originaalandmed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sisestatakse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lang="en-GB" sz="1400" dirty="0">
                <a:solidFill>
                  <a:srgbClr val="334155"/>
                </a:solidFill>
                <a:latin typeface="Calibri"/>
              </a:rPr>
              <a:t>Kas on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tehtud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viimati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alliksüsteemis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muudatusi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, 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lisatud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tehingutüüpe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jne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.</a:t>
            </a:r>
            <a:endParaRPr sz="14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28" name="Rounded Rectangle 22"/>
          <p:cNvSpPr/>
          <p:nvPr/>
        </p:nvSpPr>
        <p:spPr>
          <a:xfrm>
            <a:off x="8183879" y="1691640"/>
            <a:ext cx="36118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1691640"/>
            <a:ext cx="91440" cy="46177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1" y="1801368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Millega laaditakse ja töödeldakse?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1" y="2167128"/>
            <a:ext cx="320040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Milliseid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334155"/>
                </a:solidFill>
                <a:latin typeface="Calibri"/>
              </a:rPr>
              <a:t>tehnoloogiaid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kasutati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laadimisel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töötlemisel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Meil: PostgreSQL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CREATE VIEW), Power BI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mudel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).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endParaRPr sz="1400" b="0" dirty="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Siia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kuulub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ka: milline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skript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milline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vaade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milline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mõõdik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See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ole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reegel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(mis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käive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)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ega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kvaliteet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(kas ID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olemas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).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C23129-EF8C-3A46-6DAF-7B91F89634F4}"/>
              </a:ext>
            </a:extLst>
          </p:cNvPr>
          <p:cNvSpPr/>
          <p:nvPr/>
        </p:nvSpPr>
        <p:spPr>
          <a:xfrm>
            <a:off x="346736" y="5882025"/>
            <a:ext cx="9867112" cy="89130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4CEBC1-3D20-887B-304F-A2BB40ADE777}"/>
              </a:ext>
            </a:extLst>
          </p:cNvPr>
          <p:cNvSpPr txBox="1"/>
          <p:nvPr/>
        </p:nvSpPr>
        <p:spPr>
          <a:xfrm>
            <a:off x="152991" y="5929765"/>
            <a:ext cx="11044362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b="0" dirty="0">
                <a:solidFill>
                  <a:schemeClr val="bg1"/>
                </a:solidFill>
                <a:latin typeface="Calibri"/>
              </a:rPr>
              <a:t>Hea </a:t>
            </a:r>
            <a:r>
              <a:rPr lang="en-GB" b="0" dirty="0" err="1">
                <a:solidFill>
                  <a:schemeClr val="bg1"/>
                </a:solidFill>
                <a:latin typeface="Calibri"/>
              </a:rPr>
              <a:t>andmekorraldus</a:t>
            </a:r>
            <a:r>
              <a:rPr lang="en-GB" b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b="0" dirty="0" err="1">
                <a:solidFill>
                  <a:schemeClr val="bg1"/>
                </a:solidFill>
                <a:latin typeface="Calibri"/>
              </a:rPr>
              <a:t>tööriist</a:t>
            </a:r>
            <a:r>
              <a:rPr lang="en-GB" b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b="0" dirty="0" err="1">
                <a:solidFill>
                  <a:schemeClr val="bg1"/>
                </a:solidFill>
                <a:latin typeface="Calibri"/>
              </a:rPr>
              <a:t>seob</a:t>
            </a:r>
            <a:r>
              <a:rPr lang="en-GB" b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b="0" dirty="0" err="1">
                <a:solidFill>
                  <a:schemeClr val="bg1"/>
                </a:solidFill>
                <a:latin typeface="Calibri"/>
              </a:rPr>
              <a:t>selle</a:t>
            </a:r>
            <a:r>
              <a:rPr lang="en-GB" b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b="0" dirty="0" err="1">
                <a:solidFill>
                  <a:schemeClr val="bg1"/>
                </a:solidFill>
                <a:latin typeface="Calibri"/>
              </a:rPr>
              <a:t>üheks</a:t>
            </a:r>
            <a:r>
              <a:rPr lang="en-GB" b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b="0" dirty="0" err="1">
                <a:solidFill>
                  <a:schemeClr val="bg1"/>
                </a:solidFill>
                <a:latin typeface="Calibri"/>
              </a:rPr>
              <a:t>tervikuks</a:t>
            </a:r>
            <a:r>
              <a:rPr lang="en-GB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ctr">
              <a:spcAft>
                <a:spcPts val="0"/>
              </a:spcAft>
            </a:pPr>
            <a:r>
              <a:rPr lang="en-GB" sz="2800" dirty="0">
                <a:solidFill>
                  <a:schemeClr val="bg1"/>
                </a:solidFill>
                <a:latin typeface="Calibri"/>
              </a:rPr>
              <a:t>NÄITED: Microsoft Purview, </a:t>
            </a:r>
            <a:r>
              <a:rPr lang="en-GB" sz="2800" dirty="0" err="1">
                <a:solidFill>
                  <a:schemeClr val="bg1"/>
                </a:solidFill>
                <a:latin typeface="Calibri"/>
              </a:rPr>
              <a:t>SelectZero</a:t>
            </a:r>
            <a:endParaRPr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D9E603-6982-D866-5B81-8D764565FB64}"/>
              </a:ext>
            </a:extLst>
          </p:cNvPr>
          <p:cNvSpPr txBox="1"/>
          <p:nvPr/>
        </p:nvSpPr>
        <p:spPr>
          <a:xfrm>
            <a:off x="396241" y="5247531"/>
            <a:ext cx="1152923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400" dirty="0" err="1"/>
              <a:t>Metaandmed</a:t>
            </a:r>
            <a:r>
              <a:rPr lang="en-GB" sz="1400" dirty="0"/>
              <a:t> on </a:t>
            </a:r>
            <a:r>
              <a:rPr lang="en-GB" sz="1400" dirty="0" err="1"/>
              <a:t>reeglid</a:t>
            </a:r>
            <a:r>
              <a:rPr lang="en-GB" sz="1400" dirty="0"/>
              <a:t> </a:t>
            </a:r>
            <a:r>
              <a:rPr lang="en-GB" sz="1400" dirty="0" err="1"/>
              <a:t>kirja</a:t>
            </a:r>
            <a:r>
              <a:rPr lang="en-GB" sz="1400" dirty="0"/>
              <a:t> </a:t>
            </a:r>
            <a:r>
              <a:rPr lang="en-GB" sz="1400" dirty="0" err="1"/>
              <a:t>pandud</a:t>
            </a:r>
            <a:r>
              <a:rPr lang="en-GB" sz="1400" dirty="0"/>
              <a:t> </a:t>
            </a:r>
            <a:r>
              <a:rPr lang="en-GB" sz="1400" dirty="0" err="1"/>
              <a:t>sinna</a:t>
            </a:r>
            <a:r>
              <a:rPr lang="en-GB" sz="1400" dirty="0"/>
              <a:t>, </a:t>
            </a:r>
            <a:r>
              <a:rPr lang="en-GB" sz="1400" dirty="0" err="1"/>
              <a:t>kus</a:t>
            </a:r>
            <a:r>
              <a:rPr lang="en-GB" sz="1400" dirty="0"/>
              <a:t> </a:t>
            </a:r>
            <a:r>
              <a:rPr lang="en-GB" sz="1400" dirty="0" err="1"/>
              <a:t>inimene</a:t>
            </a:r>
            <a:r>
              <a:rPr lang="en-GB" sz="1400" dirty="0"/>
              <a:t> </a:t>
            </a:r>
            <a:r>
              <a:rPr lang="en-GB" sz="1400" dirty="0" err="1"/>
              <a:t>andmeid</a:t>
            </a:r>
            <a:r>
              <a:rPr lang="en-GB" sz="1400" dirty="0"/>
              <a:t> </a:t>
            </a:r>
            <a:r>
              <a:rPr lang="en-GB" sz="1400" dirty="0" err="1"/>
              <a:t>kasutab</a:t>
            </a:r>
            <a:r>
              <a:rPr lang="en-GB" sz="1400" dirty="0"/>
              <a:t>: COMMENT, Description, Info-</a:t>
            </a:r>
            <a:r>
              <a:rPr lang="en-GB" sz="1400" dirty="0" err="1"/>
              <a:t>leht</a:t>
            </a:r>
            <a:r>
              <a:rPr lang="en-GB" sz="1400" dirty="0"/>
              <a:t>, «milline </a:t>
            </a:r>
            <a:r>
              <a:rPr lang="en-GB" sz="1400" dirty="0" err="1"/>
              <a:t>mõõdik</a:t>
            </a:r>
            <a:r>
              <a:rPr lang="en-GB" sz="1400" dirty="0"/>
              <a:t> </a:t>
            </a:r>
            <a:r>
              <a:rPr lang="en-GB" sz="1400" dirty="0" err="1"/>
              <a:t>seda</a:t>
            </a:r>
            <a:r>
              <a:rPr lang="en-GB" sz="1400" dirty="0"/>
              <a:t> </a:t>
            </a:r>
            <a:r>
              <a:rPr lang="en-GB" sz="1400" dirty="0" err="1"/>
              <a:t>teeb</a:t>
            </a:r>
            <a:r>
              <a:rPr lang="en-GB" sz="1400" dirty="0"/>
              <a:t>». Kui </a:t>
            </a:r>
            <a:r>
              <a:rPr lang="en-GB" sz="1400" dirty="0" err="1"/>
              <a:t>keegi</a:t>
            </a:r>
            <a:r>
              <a:rPr lang="en-GB" sz="1400" dirty="0"/>
              <a:t> </a:t>
            </a:r>
            <a:r>
              <a:rPr lang="en-GB" sz="1400" dirty="0" err="1"/>
              <a:t>ei</a:t>
            </a:r>
            <a:r>
              <a:rPr lang="en-GB" sz="1400" dirty="0"/>
              <a:t> tea, </a:t>
            </a:r>
            <a:r>
              <a:rPr lang="en-GB" sz="1400" dirty="0" err="1"/>
              <a:t>kuidas</a:t>
            </a:r>
            <a:r>
              <a:rPr lang="en-GB" sz="1400" dirty="0"/>
              <a:t> </a:t>
            </a:r>
            <a:r>
              <a:rPr lang="en-GB" sz="1400" dirty="0" err="1"/>
              <a:t>käivet</a:t>
            </a:r>
            <a:r>
              <a:rPr lang="en-GB" sz="1400" dirty="0"/>
              <a:t> </a:t>
            </a:r>
            <a:r>
              <a:rPr lang="en-GB" sz="1400" dirty="0" err="1"/>
              <a:t>tehakse</a:t>
            </a:r>
            <a:r>
              <a:rPr lang="en-GB" sz="1400" dirty="0"/>
              <a:t>, </a:t>
            </a:r>
            <a:r>
              <a:rPr lang="en-GB" sz="1400" dirty="0" err="1"/>
              <a:t>puuduvad</a:t>
            </a:r>
            <a:r>
              <a:rPr lang="en-GB" sz="1400" dirty="0"/>
              <a:t> </a:t>
            </a:r>
            <a:r>
              <a:rPr lang="en-GB" sz="1400" dirty="0" err="1"/>
              <a:t>tal</a:t>
            </a:r>
            <a:r>
              <a:rPr lang="en-GB" sz="1400" dirty="0"/>
              <a:t> </a:t>
            </a:r>
            <a:r>
              <a:rPr lang="en-GB" sz="1400" dirty="0" err="1"/>
              <a:t>metaandmed</a:t>
            </a:r>
            <a:r>
              <a:rPr lang="en-GB" sz="1400" dirty="0"/>
              <a:t> — </a:t>
            </a:r>
            <a:r>
              <a:rPr lang="en-GB" sz="1400" dirty="0" err="1"/>
              <a:t>reegel</a:t>
            </a:r>
            <a:r>
              <a:rPr lang="en-GB" sz="1400" dirty="0"/>
              <a:t> </a:t>
            </a:r>
            <a:r>
              <a:rPr lang="en-GB" sz="1400" dirty="0" err="1"/>
              <a:t>võib</a:t>
            </a:r>
            <a:r>
              <a:rPr lang="en-GB" sz="1400" dirty="0"/>
              <a:t> </a:t>
            </a:r>
            <a:r>
              <a:rPr lang="en-GB" sz="1400" dirty="0" err="1"/>
              <a:t>kuskil</a:t>
            </a:r>
            <a:r>
              <a:rPr lang="en-GB" sz="1400" dirty="0"/>
              <a:t> </a:t>
            </a:r>
            <a:r>
              <a:rPr lang="en-GB" sz="1400" dirty="0" err="1"/>
              <a:t>olemas</a:t>
            </a:r>
            <a:r>
              <a:rPr lang="en-GB" sz="1400" dirty="0"/>
              <a:t> olla, aga </a:t>
            </a:r>
            <a:r>
              <a:rPr lang="en-GB" sz="1400" dirty="0" err="1"/>
              <a:t>teda</a:t>
            </a:r>
            <a:r>
              <a:rPr lang="en-GB" sz="1400" dirty="0"/>
              <a:t> </a:t>
            </a:r>
            <a:r>
              <a:rPr lang="en-GB" sz="1400" dirty="0" err="1"/>
              <a:t>ei</a:t>
            </a:r>
            <a:r>
              <a:rPr lang="en-GB" sz="1400" dirty="0"/>
              <a:t> </a:t>
            </a:r>
            <a:r>
              <a:rPr lang="en-GB" sz="1400" dirty="0" err="1"/>
              <a:t>näe</a:t>
            </a:r>
            <a:r>
              <a:rPr lang="en-GB" sz="1400" dirty="0"/>
              <a:t>.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52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Mida andmed tähendavad — näide meie poest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24128"/>
            <a:ext cx="571500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91440" cy="221284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1097280"/>
            <a:ext cx="5385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Ärisõnastik — ilma tabelinimeta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408176"/>
            <a:ext cx="53675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Käive — raha, mis päriselt laekus (mitte ootel ega tühistatud).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Ostukorv — üks tellimus, mitte üks rida arvel.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Klient — inimene. Kaks Kati Lepikut (id 5 ja 25) on kaks klienti.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24128"/>
            <a:ext cx="566928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024128"/>
            <a:ext cx="91440" cy="2212848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097280"/>
            <a:ext cx="5340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Andmesõnastik — veerg, tüüp, võti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408176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klient_id — täisarv, võti. Liidab müügi inimesega, mitte nimega.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taidetud — tekst: «Täidetud» või tühi.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rida_allahindlusega_ilma_km — number; see on käibe tükk.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346704"/>
            <a:ext cx="11521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346704"/>
            <a:ext cx="91440" cy="132588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7" y="3419856"/>
            <a:ext cx="11192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Meil: käive = Täidetud, neto, pärast allahindlust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3730752"/>
            <a:ext cx="11173967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SUM(rida_allahindlusega_ilma_km), ainult read, kus taidetud = Täidetud.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Näide: 3 rida Täidetud + 1 Ootel → käive on nende 3 rea summa, mitte nelja.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782312"/>
            <a:ext cx="5715000" cy="1453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782312"/>
            <a:ext cx="91440" cy="166420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7" y="4855464"/>
            <a:ext cx="5385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Kirjuta üles õiges kohas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5166360"/>
            <a:ext cx="5367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34155"/>
                </a:solidFill>
                <a:latin typeface="Calibri"/>
              </a:rPr>
              <a:t>SQL: COMMENT ON COLUMN … IS '…';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4155"/>
                </a:solidFill>
                <a:latin typeface="Calibri"/>
              </a:rPr>
              <a:t>Power BI: sama tekst Description väljal.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Muidu elab definitsioon ainult slaidil.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669280" cy="1453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4782312"/>
            <a:ext cx="91440" cy="16642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4855464"/>
            <a:ext cx="5340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Töö nähtavale kasutuse lähedal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5166360"/>
            <a:ext cx="53218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Aruande Info-leht, visuaali pealkiri, mõõdiku Description.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Mitte ainult skript, mida keegi ei ava.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Millega laaditakse ja töödeldakse — näide meie poest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21440" cy="43891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See ei ole reegel (mis on käive) ega kvaliteet (kas ID on olemas). See on: millega number tehti.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54480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91440" cy="23317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" y="1627632"/>
            <a:ext cx="5385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Tehnoloogiad — laadimine ja töötlus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938528"/>
            <a:ext cx="5367528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PostgreSQL — tabelid (kliendid, tooted, tellimused, tellimuse_read).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CREATE VIEW — fact_myyk, dim_klient, dim_toode, dim_aeg.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Power BI — mudel Myygiraport ja aruanne «E-poe müük».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6692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54480"/>
            <a:ext cx="91440" cy="233172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627632"/>
            <a:ext cx="5340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Milline skript?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38528"/>
            <a:ext cx="5321808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create_tabelid.sql — toored tabelid CSV-st.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create_tahtskeem_vaated.sql — tähtskeemi vaated.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analytics_veergude_kommentaarid.sql — COMMENT-id kataloogi.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005072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005072"/>
            <a:ext cx="91440" cy="23317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4078224"/>
            <a:ext cx="5385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Milline vaade?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4389120"/>
            <a:ext cx="5367528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fact_myyk — üks rida = üks müügirida (mitte tellimus).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dim_klient — inimene; nimi võib olla tärnidena.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dim_aeg — kalender ka päevadeks, mil müüki ei olnud.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05072"/>
            <a:ext cx="56692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005072"/>
            <a:ext cx="91440" cy="233172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078224"/>
            <a:ext cx="5340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Milline mõõdik?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389120"/>
            <a:ext cx="5321808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Käive — SUM(rida_allahindlusega_ilma_km), ainult Täidetud.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Tellimuste arv — COUNT DISTINCT tellimus_id, mitte COUNT(*).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Elab Power BI mõõdikus, mitte CSV-veerus.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Calibri"/>
              </a:rPr>
              <a:t>Päritolu meie poes — kust number tuleb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270662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706624" cy="34747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16261"/>
            <a:ext cx="270662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dirty="0" err="1">
                <a:solidFill>
                  <a:srgbClr val="FFFFFF"/>
                </a:solidFill>
                <a:latin typeface="Calibri"/>
              </a:rPr>
              <a:t>Tabelid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müügisüsteem</a:t>
            </a:r>
            <a:r>
              <a:rPr lang="en-GB" sz="1300" b="1" dirty="0">
                <a:solidFill>
                  <a:srgbClr val="FFFFFF"/>
                </a:solidFill>
                <a:latin typeface="Calibri"/>
              </a:rPr>
              <a:t> PostgreSQL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" y="1572768"/>
            <a:ext cx="2560320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, tooted</a:t>
            </a: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kategooriad</a:t>
            </a:r>
            <a:endParaRPr sz="12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tellimused</a:t>
            </a:r>
            <a:endParaRPr sz="12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tellimuse_read</a:t>
            </a:r>
            <a:endParaRPr sz="12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26664" y="2007107"/>
            <a:ext cx="320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1188720"/>
            <a:ext cx="2706624" cy="347472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73552" y="1208567"/>
            <a:ext cx="270662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Calibri"/>
              </a:rPr>
              <a:t>Vaated</a:t>
            </a:r>
            <a:r>
              <a:rPr lang="en-GB" sz="1400" b="1" dirty="0">
                <a:solidFill>
                  <a:srgbClr val="FFFFFF"/>
                </a:solidFill>
                <a:latin typeface="Calibri"/>
              </a:rPr>
              <a:t>: PostgreSQL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6704" y="1572768"/>
            <a:ext cx="2560320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dim_klient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dim_toode</a:t>
            </a:r>
            <a:endParaRPr sz="12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dim_aeg</a:t>
            </a:r>
            <a:endParaRPr sz="12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fact_muuk</a:t>
            </a:r>
            <a:endParaRPr sz="12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fact_tellimused</a:t>
            </a:r>
            <a:endParaRPr sz="12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34456" y="2007107"/>
            <a:ext cx="320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188720"/>
            <a:ext cx="2706624" cy="34747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1188720"/>
            <a:ext cx="27066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47808"/>
            <a:ext cx="2560320" cy="6976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tähtskeem</a:t>
            </a:r>
            <a:endParaRPr sz="12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seob</a:t>
            </a:r>
            <a:endParaRPr lang="en-GB" sz="12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lang="en-GB" sz="1200" dirty="0" err="1">
                <a:solidFill>
                  <a:srgbClr val="334155"/>
                </a:solidFill>
                <a:latin typeface="Calibri"/>
              </a:rPr>
              <a:t>Arvutused</a:t>
            </a:r>
            <a:endParaRPr sz="12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42247" y="2007107"/>
            <a:ext cx="320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1188720"/>
            <a:ext cx="2706624" cy="34747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89136" y="1188720"/>
            <a:ext cx="27066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Aruanne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1572768"/>
            <a:ext cx="2560320" cy="4873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0" dirty="0">
                <a:solidFill>
                  <a:srgbClr val="334155"/>
                </a:solidFill>
                <a:latin typeface="Calibri"/>
              </a:rPr>
              <a:t>«E-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poe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müük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»</a:t>
            </a: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334155"/>
                </a:solidFill>
                <a:latin typeface="Calibri"/>
              </a:rPr>
              <a:t>käive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ostukorv</a:t>
            </a:r>
            <a:endParaRPr sz="12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91440" cy="28803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" y="3493008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 err="1">
                <a:solidFill>
                  <a:srgbClr val="0F203E"/>
                </a:solidFill>
                <a:latin typeface="Calibri"/>
              </a:rPr>
              <a:t>fact_m</a:t>
            </a:r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yy</a:t>
            </a:r>
            <a:r>
              <a:rPr sz="1600" b="1" dirty="0">
                <a:solidFill>
                  <a:srgbClr val="0F203E"/>
                </a:solidFill>
                <a:latin typeface="Calibri"/>
              </a:rPr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840480"/>
            <a:ext cx="52578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Oluline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reegel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mudeli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334155"/>
                </a:solidFill>
                <a:latin typeface="Calibri"/>
              </a:rPr>
              <a:t>kohta</a:t>
            </a:r>
            <a:r>
              <a:rPr lang="en-GB" sz="1400" b="0" dirty="0">
                <a:solidFill>
                  <a:srgbClr val="334155"/>
                </a:solidFill>
                <a:latin typeface="Calibri"/>
              </a:rPr>
              <a:t>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rida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=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müügirida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ole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rgbClr val="334155"/>
                </a:solidFill>
                <a:latin typeface="Calibri"/>
              </a:rPr>
              <a:t>Täpne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veergude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vastavus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, et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jõuda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alliksüsteemini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välja</a:t>
            </a:r>
            <a:endParaRPr lang="en-GB" sz="160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Milliseid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arvutusi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tehtud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allahindlus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KM)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Mida need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arvutused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tähendavad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rida_ilma_km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=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käibe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tükk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Kas need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arvutused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igal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pool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samad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uuendatud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383280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3383280"/>
            <a:ext cx="91440" cy="288036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9672" y="3493008"/>
            <a:ext cx="51663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dim_klient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3840480"/>
            <a:ext cx="51206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rida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=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inimene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 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Laadimine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laadimise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ajal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liidetakse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teine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klienditabel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lisainfo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jaoks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.</a:t>
            </a:r>
            <a:endParaRPr lang="en-GB" sz="160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Nimi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maskeeritud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tärnidega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(repeat).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400" b="1" dirty="0">
                <a:solidFill>
                  <a:srgbClr val="FFFFFF"/>
                </a:solidFill>
                <a:latin typeface="Calibri"/>
              </a:rPr>
              <a:t>ANDMETURVE — kes tohib näha, mida tohib kuvada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749039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91440" cy="2871216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836928"/>
            <a:ext cx="3383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 err="1">
                <a:solidFill>
                  <a:srgbClr val="0F203E"/>
                </a:solidFill>
                <a:latin typeface="Calibri"/>
              </a:rPr>
              <a:t>Isikuandmed</a:t>
            </a:r>
            <a:endParaRPr sz="16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" y="2184400"/>
            <a:ext cx="3337559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Kas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inimese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saab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ära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tunda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?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Kas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ära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tunda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?</a:t>
            </a:r>
            <a:endParaRPr sz="1500" b="0" dirty="0" err="1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Meil: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nimi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linn,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nimi+linn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klient_id+nimi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Veel: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isikukood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e-post,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telefon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palk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sünniaeg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pilt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IP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logis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GDPR + IKS.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Analüütikasse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juhtlauale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,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vaja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Avalikule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juhtlauale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täisnime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panda.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43000"/>
            <a:ext cx="3749039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91440" cy="28712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836928"/>
            <a:ext cx="3383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 err="1">
                <a:solidFill>
                  <a:srgbClr val="0F203E"/>
                </a:solidFill>
                <a:latin typeface="Calibri"/>
              </a:rPr>
              <a:t>Eriliigilised / delikaatsed</a:t>
            </a:r>
            <a:endParaRPr sz="16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49140" y="2458719"/>
            <a:ext cx="3337559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T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ervis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usk, ametiühing, poliitika, geneetika, biomeetria?</a:t>
            </a: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diagnoos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haigusleht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ametiühingu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liikmesus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Tavajuhtudel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analüütikasse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tohi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tulla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— ka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«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igaks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juhuks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».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Vastava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valdkonna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analüütikas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(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selle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kaupa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analüüs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).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83879" y="114300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06739" y="1143000"/>
            <a:ext cx="68580" cy="2660904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1" y="1836928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Tundlikud</a:t>
            </a:r>
            <a:r>
              <a:rPr lang="en-GB" sz="16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äriandmed</a:t>
            </a:r>
            <a:endParaRPr sz="16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9911" y="21844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Kas see on saladus, kuigi mitte GDPR?</a:t>
            </a:r>
          </a:p>
          <a:p>
            <a:pPr>
              <a:spcAft>
                <a:spcPts val="5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Müük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ostuhind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müügihind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),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tarnija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leping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varude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jääk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Raha: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eelarve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marginaal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palgafond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kokku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Tehnika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andmebaasi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parool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API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võti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kunagi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raportisse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Tundlik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äri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kokkuleppe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õiguste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alusel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7BE0C-4B8E-7CB1-01E2-575E23E327D9}"/>
              </a:ext>
            </a:extLst>
          </p:cNvPr>
          <p:cNvSpPr txBox="1"/>
          <p:nvPr/>
        </p:nvSpPr>
        <p:spPr>
          <a:xfrm>
            <a:off x="606552" y="5108517"/>
            <a:ext cx="6989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LISAKS:</a:t>
            </a:r>
          </a:p>
          <a:p>
            <a:pPr>
              <a:spcAft>
                <a:spcPts val="6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Kui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kaua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andmeid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säilitada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? </a:t>
            </a:r>
          </a:p>
          <a:p>
            <a:pPr>
              <a:spcAft>
                <a:spcPts val="6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Kas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andmetest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mitteametlikke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töökoopiaid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?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Kuidas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nendega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toimida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? </a:t>
            </a:r>
          </a:p>
          <a:p>
            <a:pPr>
              <a:spcAft>
                <a:spcPts val="6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Millised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regulaarsed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tegevused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puudujääkide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kõrvaldamiseks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?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A234BF-6143-7021-51C8-48DDA8B41FA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193800"/>
            <a:ext cx="6096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6CDA103-0A42-39A3-4D3D-AB0B180C5AC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1193800"/>
            <a:ext cx="609600" cy="609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37D039-0F8C-050D-0AED-E491F1E3761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11938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98935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Andmete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liigitus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21440" cy="38404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51670"/>
            <a:ext cx="112471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1300" b="0" dirty="0" err="1">
                <a:solidFill>
                  <a:srgbClr val="FFFFFF"/>
                </a:solidFill>
                <a:latin typeface="Calibri"/>
              </a:rPr>
              <a:t>Müügiandmestik</a:t>
            </a:r>
            <a:endParaRPr sz="13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" y="1499616"/>
            <a:ext cx="5715000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99616"/>
            <a:ext cx="91440" cy="239572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" y="1572768"/>
            <a:ext cx="53858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Isikuandmed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920240"/>
            <a:ext cx="5367528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kliendid.nimi — Kati Lepik; kaks inimest, sama nimi.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kliendid.linn — koos nimega tunneb inimese ära.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dim_klient.nimi — sama isikuandmed Power BI mudelis.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kliendid.klient_id — identifikaator (id 5 ≠ id 25).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99616"/>
            <a:ext cx="5669280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499616"/>
            <a:ext cx="91440" cy="2395728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572768"/>
            <a:ext cx="5340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Eriliigilised / delikaatsed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20240"/>
            <a:ext cx="5321808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334155"/>
                </a:solidFill>
                <a:latin typeface="Calibri"/>
              </a:rPr>
              <a:t>Meie poe tabelites neid veerge ei ole — see on õige.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Näited, kui keegi tahaks «igaks juhuks» lisada: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kliendi.diagnoos  ·  haigusleht  ·  ametiühingu_liige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Analüütikasse ei tohi tulla.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023360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023360"/>
            <a:ext cx="91440" cy="233172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4096512"/>
            <a:ext cx="53858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Tundlikud äriandmed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4443984"/>
            <a:ext cx="5367528" cy="1819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Andmebaasi parool / API võti — ei ole veerg, ära pane raportisse.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ostuhind — tarnija hind; meil on tooted.hind = müügihind.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palgad / palgafond — meie CSV-s ei ole.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Ainult kokkuleppe ja õiguste alusel.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6692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023360"/>
            <a:ext cx="91440" cy="2331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096512"/>
            <a:ext cx="5340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Ilma liigituseta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443984"/>
            <a:ext cx="5321808" cy="1819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fact_myyk.taidetud  ·  tellimused.staatus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fact_myyk.rida_allahindlusega_ilma_km  (müügisumma)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tellimused.tarneviis  ·  tellimuse_read.kogus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tooted.nimetus  ·  tooted.kategooria  ·  dim_aeg.aasta_kuu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EEB9-CD9F-308B-51A4-57F7B3F9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Eriliiki isikuandmed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" y="1051560"/>
            <a:ext cx="11237976" cy="47548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10881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Isikuandmete kaitse üldmäärus artikkel 9 lõige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1691640"/>
            <a:ext cx="114300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1691640"/>
            <a:ext cx="91440" cy="132588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1801368"/>
            <a:ext cx="11045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Artikkel 9 lg 1 hõlmab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2194560"/>
            <a:ext cx="1101852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Rassiline või etniline päritolu, poliitilised vaated, usulised või filosoofilised veendumused, ametiühingusse kuulumine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20040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3200400"/>
            <a:ext cx="91440" cy="31089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336499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840480"/>
            <a:ext cx="23774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Geneetilised andmed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55264" y="320040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55264" y="3200400"/>
            <a:ext cx="91440" cy="31089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56432" y="336499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6432" y="3840480"/>
            <a:ext cx="23774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Biomeetrilised andmed, millega füüsilist isikut kordumatult tuvastatakse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320040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44768" y="3200400"/>
            <a:ext cx="91440" cy="31089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5936" y="336499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3840480"/>
            <a:ext cx="23774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Terviseandmed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34272" y="320040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034272" y="3200400"/>
            <a:ext cx="91440" cy="31089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35440" y="336499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840480"/>
            <a:ext cx="23774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Andmed seksuaalelu ja seksuaalse sättumuse kohta</a:t>
            </a:r>
          </a:p>
        </p:txBody>
      </p:sp>
    </p:spTree>
    <p:extLst>
      <p:ext uri="{BB962C8B-B14F-4D97-AF65-F5344CB8AC3E}">
        <p14:creationId xmlns:p14="http://schemas.microsoft.com/office/powerpoint/2010/main" val="1640365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Tundlikud äriandmed — saladus, kuigi mitte GDPR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21440" cy="40233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53119"/>
            <a:ext cx="11247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Calibri"/>
              </a:rPr>
              <a:t>Ainult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kokkuleppe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ja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õiguste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alusel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.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Ettevõttesiseselt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vastavalt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rollidele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kohustustele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määratletud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kokku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0" dirty="0" err="1">
                <a:solidFill>
                  <a:srgbClr val="FFFFFF"/>
                </a:solidFill>
                <a:latin typeface="Calibri"/>
              </a:rPr>
              <a:t>lepitud</a:t>
            </a:r>
            <a:r>
              <a:rPr lang="en-GB" sz="1400" b="0" dirty="0">
                <a:solidFill>
                  <a:srgbClr val="FFFFFF"/>
                </a:solidFill>
                <a:latin typeface="Calibri"/>
              </a:rPr>
              <a:t>.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" y="1517904"/>
            <a:ext cx="5715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517904"/>
            <a:ext cx="91440" cy="23317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" y="1591056"/>
            <a:ext cx="53858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Müük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920240"/>
            <a:ext cx="5367528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Ostuhind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tarnijale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makstud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),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müügihind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Tarnija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leping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varude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jääk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Meil: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tooted.hind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=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müügihind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Asus 950 €) — see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aruandesse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Ostuhinda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lepingut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ega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lao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jääki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meie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CSV-s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17904"/>
            <a:ext cx="56692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17904"/>
            <a:ext cx="91440" cy="233172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591056"/>
            <a:ext cx="53400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Raha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20240"/>
            <a:ext cx="5321808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Eelarve, marginaal, palgafond kokku.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Marginaal = müügihind miinus ostuhind — ilma ostuhinnata ei arvuta.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Meil palgafondi ja eelarvet ei ole. Käive (Täidetud, neto) ei ole palgafond.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986784"/>
            <a:ext cx="5715000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986784"/>
            <a:ext cx="91440" cy="235915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4059936"/>
            <a:ext cx="53858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Tehnika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4389120"/>
            <a:ext cx="536752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334155"/>
                </a:solidFill>
                <a:latin typeface="Calibri"/>
              </a:rPr>
              <a:t>Andmebaasi parool, API võti — mitte kunagi raportisse.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Ka mitte visuaali pealkirja, Description'i ega slaidi peale.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Meil: PostgreSQL / Power BI ühenduse parool. Näita, et väli on tühi, mitte väärtust.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86784"/>
            <a:ext cx="5669280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986784"/>
            <a:ext cx="91440" cy="2359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059936"/>
            <a:ext cx="53400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rgbClr val="0F203E"/>
                </a:solidFill>
                <a:latin typeface="Calibri"/>
              </a:rPr>
              <a:t>Meie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poes</a:t>
            </a:r>
            <a:r>
              <a:rPr sz="1400" b="1" dirty="0">
                <a:solidFill>
                  <a:srgbClr val="0F203E"/>
                </a:solidFill>
                <a:latin typeface="Calibri"/>
              </a:rPr>
              <a:t> vs </a:t>
            </a:r>
            <a:r>
              <a:rPr sz="1400" b="1" dirty="0" err="1">
                <a:solidFill>
                  <a:srgbClr val="0F203E"/>
                </a:solidFill>
                <a:latin typeface="Calibri"/>
              </a:rPr>
              <a:t>saladus</a:t>
            </a:r>
            <a:endParaRPr sz="14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3368" y="4389120"/>
            <a:ext cx="532180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tooted.nimetus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tooted.hind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käive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staatus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tarneviis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Ei tohi,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kui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oleks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ostuhind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varude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jääk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palgad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parool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GDPR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siin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otsusta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otsustab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kokkulepe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õigus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3559-513B-5E00-2FEA-31930911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Isikuandmete töötlemise põhimõtted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1078992"/>
            <a:ext cx="361188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1078992"/>
            <a:ext cx="91440" cy="25786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1188719"/>
            <a:ext cx="32278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Seaduslik, õiglane ja läbipaistev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1581912"/>
            <a:ext cx="3200400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Töötlemine peab olema seaduslik, õiglane ja inimesele arusaadav.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1078992"/>
            <a:ext cx="361188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60520" y="1078992"/>
            <a:ext cx="91440" cy="25786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16552" y="1188719"/>
            <a:ext cx="3227832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>
                <a:solidFill>
                  <a:srgbClr val="FF0000"/>
                </a:solidFill>
                <a:latin typeface="Calibri"/>
              </a:rPr>
              <a:t>Eesmärgipärane</a:t>
            </a:r>
            <a:endParaRPr sz="15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416552" y="1581912"/>
            <a:ext cx="3200400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Andmeid kogutakse ja kasutatakse ainult kindlal, selgel eesmärgil.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1078992"/>
            <a:ext cx="361188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955279" y="1078992"/>
            <a:ext cx="91440" cy="25786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11311" y="1188719"/>
            <a:ext cx="3227832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>
                <a:solidFill>
                  <a:srgbClr val="FF0000"/>
                </a:solidFill>
                <a:latin typeface="Calibri"/>
              </a:rPr>
              <a:t>Minimaalne</a:t>
            </a:r>
            <a:endParaRPr sz="15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11311" y="1581912"/>
            <a:ext cx="3200400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Kogutakse võimalikult vähe andmeid — ainult see, mida eesmärk tegelikult vajab.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794760"/>
            <a:ext cx="361188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65760" y="3794760"/>
            <a:ext cx="91440" cy="25786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1792" y="3904488"/>
            <a:ext cx="32278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Õigsus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297680"/>
            <a:ext cx="3200400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Isikuandmed on õiged ja vajaduse korral ajakohastatud.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Ebaõiged andmed kustutatakse või parandatakse viivitamata.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Isikul on õigus tutvuda oma andmetega ning paluda parandamist ja kustutamist.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60520" y="3794760"/>
            <a:ext cx="361188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160520" y="3794760"/>
            <a:ext cx="91440" cy="25786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16552" y="3904488"/>
            <a:ext cx="3227832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>
                <a:solidFill>
                  <a:srgbClr val="FF0000"/>
                </a:solidFill>
                <a:latin typeface="Calibri"/>
              </a:rPr>
              <a:t>Säilitamise</a:t>
            </a:r>
            <a:r>
              <a:rPr sz="15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0000"/>
                </a:solidFill>
                <a:latin typeface="Calibri"/>
              </a:rPr>
              <a:t>piirang</a:t>
            </a:r>
            <a:endParaRPr sz="15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416552" y="4297680"/>
            <a:ext cx="3200400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Andmeid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hoitakse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tuvastataval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kujul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seni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kuni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see on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eesmärgi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täitmiseks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vajalik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55279" y="3794760"/>
            <a:ext cx="361188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955279" y="3794760"/>
            <a:ext cx="91440" cy="25786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11311" y="3904488"/>
            <a:ext cx="32278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Usaldusväärsus ja konfidentsiaalsus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11311" y="4297680"/>
            <a:ext cx="3200400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Andmeid kaitstakse loata ligipääsu, kadumise ja väärkasutuse eest.</a:t>
            </a:r>
          </a:p>
        </p:txBody>
      </p:sp>
    </p:spTree>
    <p:extLst>
      <p:ext uri="{BB962C8B-B14F-4D97-AF65-F5344CB8AC3E}">
        <p14:creationId xmlns:p14="http://schemas.microsoft.com/office/powerpoint/2010/main" val="1393602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Eesti kontekst: mis reguleerib ja kus on infot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78992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78992"/>
            <a:ext cx="91440" cy="214884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188719"/>
            <a:ext cx="52852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Juhised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07073"/>
                </a:solidFill>
                <a:latin typeface="Calibri"/>
                <a:hlinkClick r:id="rId2"/>
              </a:rPr>
              <a:t>kratid.ee/juhised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7073"/>
                </a:solidFill>
                <a:latin typeface="Calibri"/>
                <a:hlinkClick r:id="rId3"/>
              </a:rPr>
              <a:t>stat.ee — andmehalduse juhised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78992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078992"/>
            <a:ext cx="91440" cy="214884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188719"/>
            <a:ext cx="5148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Andmekaitse Inspektsioon (AKI)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581912"/>
            <a:ext cx="51206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Eesti riiklik järelevalveasutus.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Praktilised juhendid IAKS-i ja GDPR-i täitmiseks.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07073"/>
                </a:solidFill>
                <a:latin typeface="Calibri"/>
                <a:hlinkClick r:id="rId4"/>
              </a:rPr>
              <a:t>www.aki.ee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83280"/>
            <a:ext cx="56692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91440" cy="306324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493008"/>
            <a:ext cx="52852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Isikuandmete kaitse seadus (IAKS)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886200"/>
            <a:ext cx="5257800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Eesti riiklik seadus, mis täpsustab ja täiendab EL-i üldmäärust seal, kus riikidele on jäetud otsustusõigus.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Näiteks: töötlemine ajakirjanduslikul eesmärgil; lapse nõusoleku vanusepiirang e-teenustes.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806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7073"/>
                </a:solidFill>
                <a:latin typeface="Calibri"/>
                <a:hlinkClick r:id="rId5"/>
              </a:rPr>
              <a:t>Riigi Teataja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83280"/>
            <a:ext cx="55321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91440" cy="306324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3493008"/>
            <a:ext cx="5148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Isikuandmete kaitse üldmäärus (IKÜM / GDPR)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886200"/>
            <a:ext cx="5120640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Otsekohalduv EL-i määrus (EL) 2016/679 — andmekaitse vundament.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Seab reeglid ettevõtetele ja asutustele ning annab eraisikule kontrolli oma andmete üle.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Allikas: EUR-Lex.</a:t>
            </a:r>
          </a:p>
        </p:txBody>
      </p:sp>
    </p:spTree>
    <p:extLst>
      <p:ext uri="{BB962C8B-B14F-4D97-AF65-F5344CB8AC3E}">
        <p14:creationId xmlns:p14="http://schemas.microsoft.com/office/powerpoint/2010/main" val="363795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Lõimitud andmekaitse põhimõtted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1051560"/>
            <a:ext cx="553212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1051560"/>
            <a:ext cx="91440" cy="248716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" y="1161288"/>
            <a:ext cx="5148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Enneta, ära tegele ainult tagajärgedega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1554480"/>
            <a:ext cx="512064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Andmekaitse on tegevusse ja infosüsteemidesse sisse ehitatud enne, kui isikuandmete töötlemine algab.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1051560"/>
            <a:ext cx="553212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63640" y="1051560"/>
            <a:ext cx="91440" cy="248716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9672" y="1161288"/>
            <a:ext cx="5148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Korrapärasus ja süsteemsus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9672" y="1554480"/>
            <a:ext cx="512064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Andmekaitse on osa disainist, arhitektuurist ja äritegevusest — tuumfunktsioon, mitte lisa.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Töötleja hindab ohte korrapäraselt ja lisab vajadusel kaitsemeetmeid.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3703320"/>
            <a:ext cx="553212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" y="3703320"/>
            <a:ext cx="91440" cy="248716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3813048"/>
            <a:ext cx="5148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Turvaline algusest lõpuni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4206240"/>
            <a:ext cx="512064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Alates esmasest kogumisest kuni hävitamiseni on kasutusel asjakohased ja ajakohastatud turvameetmed.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3703320"/>
            <a:ext cx="553212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263640" y="3703320"/>
            <a:ext cx="91440" cy="248716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19672" y="3813048"/>
            <a:ext cx="5148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E"/>
                </a:solidFill>
                <a:latin typeface="Calibri"/>
              </a:rPr>
              <a:t>Läbipaistev ja vastutustundlik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4206240"/>
            <a:ext cx="512064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Kõigile asjaosalistele on selge, mis on töötlemise eesmärk.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Andmesubjekt saab teabe eesmärgi ja oma õiguste kohta — kergesti kättesaadav, lihtsas keeles.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Koostööpartneritega on sõlmitud õiguspärased andmetöötluslepingud.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121908"/>
            <a:ext cx="1143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4748B"/>
                </a:solidFill>
                <a:latin typeface="Calibri"/>
              </a:rPr>
              <a:t>Allikas: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Isikuandmete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töötleja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Calibri"/>
              </a:rPr>
              <a:t>üldjuhend</a:t>
            </a:r>
            <a:endParaRPr sz="1200" b="0" dirty="0">
              <a:solidFill>
                <a:srgbClr val="64748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5425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liigita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veerud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GRUPITÖÖ </a:t>
            </a:r>
            <a:r>
              <a:rPr lang="en-GB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74519"/>
            <a:ext cx="56692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47187"/>
            <a:ext cx="91440" cy="43434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1325879"/>
            <a:ext cx="5029200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US" sz="1500" dirty="0" err="1">
                <a:solidFill>
                  <a:srgbClr val="334155"/>
                </a:solidFill>
                <a:latin typeface="Calibri"/>
              </a:rPr>
              <a:t>Liigita</a:t>
            </a:r>
            <a:r>
              <a:rPr lang="en-US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Calibri"/>
              </a:rPr>
              <a:t>andmed</a:t>
            </a:r>
            <a:r>
              <a:rPr lang="en-US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Calibri"/>
              </a:rPr>
              <a:t>failis</a:t>
            </a:r>
            <a:r>
              <a:rPr lang="en-US" sz="1500" dirty="0">
                <a:solidFill>
                  <a:srgbClr val="334155"/>
                </a:solidFill>
                <a:latin typeface="Calibri"/>
              </a:rPr>
              <a:t> HR_dataset.csv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fi-FI" sz="1400" dirty="0">
                <a:solidFill>
                  <a:srgbClr val="334155"/>
                </a:solidFill>
                <a:latin typeface="Calibri"/>
              </a:rPr>
              <a:t>Kas tohib Power BI raportisse? </a:t>
            </a:r>
          </a:p>
          <a:p>
            <a:pPr>
              <a:spcAft>
                <a:spcPts val="600"/>
              </a:spcAft>
            </a:pPr>
            <a:r>
              <a:rPr lang="fi-FI" sz="1400" dirty="0">
                <a:solidFill>
                  <a:srgbClr val="334155"/>
                </a:solidFill>
                <a:latin typeface="Calibri"/>
              </a:rPr>
              <a:t>Kuidas kaitsta?</a:t>
            </a:r>
          </a:p>
          <a:p>
            <a:pPr>
              <a:spcAft>
                <a:spcPts val="600"/>
              </a:spcAft>
            </a:pPr>
            <a:endParaRPr lang="en-GB" sz="14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334155"/>
                </a:solidFill>
                <a:latin typeface="Calibri"/>
              </a:rPr>
              <a:t>Nimetage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olukordi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,mis on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juhtunud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mis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võib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400" dirty="0" err="1">
                <a:solidFill>
                  <a:srgbClr val="334155"/>
                </a:solidFill>
                <a:latin typeface="Calibri"/>
              </a:rPr>
              <a:t>juhtuda</a:t>
            </a:r>
            <a:r>
              <a:rPr lang="en-GB" sz="1400" dirty="0">
                <a:solidFill>
                  <a:srgbClr val="334155"/>
                </a:solidFill>
                <a:latin typeface="Calibri"/>
              </a:rPr>
              <a:t>.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102412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Kas tohid selle veeru avalikule juhtlauale? Märgi: isikuandmed, eriliigiline, tundlik äri või tavaline äriandme.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5760" y="102412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Kas tohid selle veeru avalikule juhtlauale? Märgi: isikuandmed, eriliigiline, tundlik äri või tavaline äriandme.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Isikuandmete peitmine — anonümiseerimine vs pseudonümiseerimine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78992"/>
            <a:ext cx="566928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78992"/>
            <a:ext cx="91440" cy="52578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188719"/>
            <a:ext cx="52852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Anonümiseerimine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81912"/>
            <a:ext cx="5257800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Eemaldab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kõik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seosed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millega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isiku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saaks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tuvastada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 Seda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saa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tagasi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pöörata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Andmeid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saa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enam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konkreetse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inimesega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siduda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Näide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isikuandmed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asendatakse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juhuslike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koodidega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seost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originaaliga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säilitata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78992"/>
            <a:ext cx="553212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078992"/>
            <a:ext cx="91440" cy="525780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188719"/>
            <a:ext cx="5148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Pseudonümiseerimine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581912"/>
            <a:ext cx="5120640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Asendab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isikuandmed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pseudonüümidega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aga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tuvastamine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täiendava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teabe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abil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endiselt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võimalik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Näide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uuringus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asendatakse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nimed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koodidega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aga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võti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hoitakse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eraldi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turvalises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kohas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671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3468"/>
            <a:ext cx="114300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ANDMEINSENEERIA —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mida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saab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200" b="1" dirty="0" err="1">
                <a:solidFill>
                  <a:srgbClr val="FFFFFF"/>
                </a:solidFill>
                <a:latin typeface="Calibri"/>
              </a:rPr>
              <a:t>andmekaitseks</a:t>
            </a:r>
            <a:r>
              <a:rPr lang="en-GB"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200" b="1" dirty="0" err="1">
                <a:solidFill>
                  <a:srgbClr val="FFFFFF"/>
                </a:solidFill>
                <a:latin typeface="Calibri"/>
              </a:rPr>
              <a:t>teha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03E"/>
                </a:solidFill>
                <a:latin typeface="Calibri"/>
              </a:rPr>
              <a:t>Turve küsib: kes tohib? Inseneeria paneb selle tehniliselt peale — muidu jääb kokkulepe slaidile.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53312"/>
            <a:ext cx="3794760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91440" cy="239572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1426464"/>
            <a:ext cx="34838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RLS · rea turve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1755648"/>
            <a:ext cx="3447288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Kes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näeb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milliseid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ridu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Tartu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juht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näeb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Tartut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Filter on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mudelis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visuaalil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muidu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saab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filtri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maha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võtta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353312"/>
            <a:ext cx="3794760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353312"/>
            <a:ext cx="91440" cy="2395728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7" y="1426464"/>
            <a:ext cx="34838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Column security · veeru turve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1755648"/>
            <a:ext cx="3447288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Kes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näeb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milliseid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veerge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Nimi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peidus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;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Power BI-s OLS: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peida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tabel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veerg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Parooli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veergu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mudelisse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too.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53312"/>
            <a:ext cx="376732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353312"/>
            <a:ext cx="91440" cy="2395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1426464"/>
            <a:ext cx="34564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Item security · objekti turve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1755648"/>
            <a:ext cx="341985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Kes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avab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millise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aruande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andmestiku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Avalik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juhtlaud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≠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müügijuhi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Workspace: Viewer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loeb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muuda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Õigus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esemel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failil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886200"/>
            <a:ext cx="379476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886200"/>
            <a:ext cx="91440" cy="248716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3959352"/>
            <a:ext cx="34838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Maskeerimine vaates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4288536"/>
            <a:ext cx="3447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Täisnimi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lahku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allikast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dim_klient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tärnid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(repeat).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Faktis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ole.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Avalik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leht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loeb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vaadet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tabelit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886200"/>
            <a:ext cx="379476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0" y="3886200"/>
            <a:ext cx="91440" cy="248716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07407" y="3959352"/>
            <a:ext cx="34838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GRANT · vähim õigus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4288536"/>
            <a:ext cx="3447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Kes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tohib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SQL-is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mida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teha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334155"/>
                </a:solidFill>
                <a:latin typeface="Calibri"/>
              </a:rPr>
              <a:t>Analüütik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: SELECT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vaatelt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fact_muuk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/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dim_klient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Mitte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kogu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tabel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Excel «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igaks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juhuks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».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886200"/>
            <a:ext cx="3767328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3886200"/>
            <a:ext cx="91440" cy="2487168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3608" y="3959352"/>
            <a:ext cx="34564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E"/>
                </a:solidFill>
                <a:latin typeface="Calibri"/>
              </a:rPr>
              <a:t>Töötlus ühes kohas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288536"/>
            <a:ext cx="3419856" cy="73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334155"/>
                </a:solidFill>
                <a:latin typeface="Calibri"/>
              </a:rPr>
              <a:t>Kus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arvutus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päriselt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34155"/>
                </a:solidFill>
                <a:latin typeface="Calibri"/>
              </a:rPr>
              <a:t>elab</a:t>
            </a:r>
            <a:r>
              <a:rPr sz="1300" b="0" dirty="0">
                <a:solidFill>
                  <a:srgbClr val="334155"/>
                </a:solidFill>
                <a:latin typeface="Calibri"/>
              </a:rPr>
              <a:t>?</a:t>
            </a:r>
            <a:endParaRPr lang="en-GB" sz="1300" b="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334155"/>
                </a:solidFill>
                <a:latin typeface="Calibri"/>
              </a:rPr>
              <a:t>Kas </a:t>
            </a:r>
            <a:r>
              <a:rPr lang="en-GB" sz="1300" dirty="0" err="1">
                <a:solidFill>
                  <a:srgbClr val="334155"/>
                </a:solidFill>
                <a:latin typeface="Calibri"/>
              </a:rPr>
              <a:t>delikaatsed</a:t>
            </a:r>
            <a:r>
              <a:rPr lang="en-GB" sz="13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300" dirty="0" err="1">
                <a:solidFill>
                  <a:srgbClr val="334155"/>
                </a:solidFill>
                <a:latin typeface="Calibri"/>
              </a:rPr>
              <a:t>äri</a:t>
            </a:r>
            <a:r>
              <a:rPr lang="en-GB" sz="1300" dirty="0">
                <a:solidFill>
                  <a:srgbClr val="334155"/>
                </a:solidFill>
                <a:latin typeface="Calibri"/>
              </a:rPr>
              <a:t>- </a:t>
            </a:r>
            <a:r>
              <a:rPr lang="en-GB" sz="130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lang="en-GB" sz="13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300" dirty="0" err="1">
                <a:solidFill>
                  <a:srgbClr val="334155"/>
                </a:solidFill>
                <a:latin typeface="Calibri"/>
              </a:rPr>
              <a:t>isikandmed</a:t>
            </a:r>
            <a:r>
              <a:rPr lang="en-GB" sz="130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300" dirty="0" err="1">
                <a:solidFill>
                  <a:srgbClr val="334155"/>
                </a:solidFill>
                <a:latin typeface="Calibri"/>
              </a:rPr>
              <a:t>peidetud</a:t>
            </a:r>
            <a:r>
              <a:rPr lang="en-GB" sz="13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300" dirty="0" err="1">
                <a:solidFill>
                  <a:srgbClr val="334155"/>
                </a:solidFill>
                <a:latin typeface="Calibri"/>
              </a:rPr>
              <a:t>igalpool</a:t>
            </a:r>
            <a:endParaRPr sz="1300" b="0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B096-1037-E212-F077-91D908A6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A24AB2-8317-E3F7-D3FD-57EC6160938C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5B815-9038-9498-E72E-C1A376D8F310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E3EF-8F7D-2DA7-7B60-3990407DA177}"/>
              </a:ext>
            </a:extLst>
          </p:cNvPr>
          <p:cNvSpPr txBox="1"/>
          <p:nvPr/>
        </p:nvSpPr>
        <p:spPr>
          <a:xfrm>
            <a:off x="365760" y="146525"/>
            <a:ext cx="1143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faktis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nime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ei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ole;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vaates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tärnid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 · 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200" dirty="0">
                <a:solidFill>
                  <a:srgbClr val="92D050"/>
                </a:solidFill>
                <a:latin typeface="Calibri"/>
              </a:rPr>
              <a:t>NÄITAN</a:t>
            </a:r>
            <a:endParaRPr sz="2400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943E7-56D7-4EFE-D711-6A7D51B92462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BBDE6-95B2-8F41-DC40-C433E014B233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9. päev · andmehaldus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B49B8-2BC9-9547-4EC8-51A6F26099FF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EE717D-F07C-AC21-620E-296EC76EEE2D}"/>
              </a:ext>
            </a:extLst>
          </p:cNvPr>
          <p:cNvSpPr/>
          <p:nvPr/>
        </p:nvSpPr>
        <p:spPr>
          <a:xfrm>
            <a:off x="365760" y="1042415"/>
            <a:ext cx="603504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89918D-8542-C4A2-9E0B-40BAAC005115}"/>
              </a:ext>
            </a:extLst>
          </p:cNvPr>
          <p:cNvSpPr/>
          <p:nvPr/>
        </p:nvSpPr>
        <p:spPr>
          <a:xfrm>
            <a:off x="365760" y="1508760"/>
            <a:ext cx="56692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BB86E5-1BC4-FD13-7DF4-3736A3A66553}"/>
              </a:ext>
            </a:extLst>
          </p:cNvPr>
          <p:cNvSpPr/>
          <p:nvPr/>
        </p:nvSpPr>
        <p:spPr>
          <a:xfrm>
            <a:off x="365760" y="1508760"/>
            <a:ext cx="91440" cy="47091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E18AA-9F70-399D-FF03-E115A44FA62C}"/>
              </a:ext>
            </a:extLst>
          </p:cNvPr>
          <p:cNvSpPr txBox="1"/>
          <p:nvPr/>
        </p:nvSpPr>
        <p:spPr>
          <a:xfrm>
            <a:off x="621792" y="1618488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Kliendi</a:t>
            </a:r>
            <a:r>
              <a:rPr lang="en-GB" sz="16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nime</a:t>
            </a:r>
            <a:r>
              <a:rPr lang="en-GB" sz="16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peitmine</a:t>
            </a:r>
            <a:endParaRPr sz="16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E142E-DD3B-501F-9FCF-C6963DD15C88}"/>
              </a:ext>
            </a:extLst>
          </p:cNvPr>
          <p:cNvSpPr txBox="1"/>
          <p:nvPr/>
        </p:nvSpPr>
        <p:spPr>
          <a:xfrm>
            <a:off x="621792" y="1965960"/>
            <a:ext cx="10528808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334155"/>
                </a:solidFill>
              </a:rPr>
              <a:t>Peida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kliendi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nimi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dimensioonis</a:t>
            </a:r>
            <a:r>
              <a:rPr lang="en-GB" sz="1600" dirty="0">
                <a:solidFill>
                  <a:srgbClr val="334155"/>
                </a:solidFill>
              </a:rPr>
              <a:t> ‘</a:t>
            </a:r>
            <a:r>
              <a:rPr lang="en-GB" sz="1600" dirty="0" err="1">
                <a:solidFill>
                  <a:srgbClr val="334155"/>
                </a:solidFill>
              </a:rPr>
              <a:t>dim_klient</a:t>
            </a:r>
            <a:r>
              <a:rPr lang="en-GB" sz="1600" dirty="0">
                <a:solidFill>
                  <a:srgbClr val="334155"/>
                </a:solidFill>
              </a:rPr>
              <a:t>’: </a:t>
            </a:r>
            <a:r>
              <a:rPr lang="en-GB" sz="1600" dirty="0" err="1">
                <a:solidFill>
                  <a:srgbClr val="334155"/>
                </a:solidFill>
              </a:rPr>
              <a:t>nimi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tärnidena</a:t>
            </a:r>
            <a:r>
              <a:rPr lang="en-GB" sz="1600" dirty="0">
                <a:solidFill>
                  <a:srgbClr val="334155"/>
                </a:solidFill>
              </a:rPr>
              <a:t> (repeat, </a:t>
            </a:r>
            <a:r>
              <a:rPr lang="en-GB" sz="1600" dirty="0" err="1">
                <a:solidFill>
                  <a:srgbClr val="334155"/>
                </a:solidFill>
              </a:rPr>
              <a:t>pikkus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jääb</a:t>
            </a:r>
            <a:r>
              <a:rPr lang="en-GB" sz="1600" dirty="0">
                <a:solidFill>
                  <a:srgbClr val="334155"/>
                </a:solidFill>
              </a:rPr>
              <a:t>). </a:t>
            </a:r>
            <a:r>
              <a:rPr lang="en-GB" sz="1600" dirty="0" err="1">
                <a:solidFill>
                  <a:srgbClr val="334155"/>
                </a:solidFill>
              </a:rPr>
              <a:t>klient_id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ja</a:t>
            </a:r>
            <a:r>
              <a:rPr lang="en-GB" sz="1600" dirty="0">
                <a:solidFill>
                  <a:srgbClr val="334155"/>
                </a:solidFill>
              </a:rPr>
              <a:t> linn </a:t>
            </a:r>
            <a:r>
              <a:rPr lang="en-GB" sz="1600" dirty="0" err="1">
                <a:solidFill>
                  <a:srgbClr val="334155"/>
                </a:solidFill>
              </a:rPr>
              <a:t>jäävad</a:t>
            </a:r>
            <a:r>
              <a:rPr lang="en-GB" sz="1600" dirty="0">
                <a:solidFill>
                  <a:srgbClr val="334155"/>
                </a:solidFill>
              </a:rPr>
              <a:t>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4155"/>
                </a:solidFill>
              </a:rPr>
              <a:t>Pane </a:t>
            </a:r>
            <a:r>
              <a:rPr lang="en-GB" sz="1600" dirty="0" err="1">
                <a:solidFill>
                  <a:srgbClr val="334155"/>
                </a:solidFill>
              </a:rPr>
              <a:t>dim_klient</a:t>
            </a:r>
            <a:r>
              <a:rPr lang="en-GB" sz="1600" dirty="0">
                <a:solidFill>
                  <a:srgbClr val="334155"/>
                </a:solidFill>
              </a:rPr>
              <a:t> view’s see </a:t>
            </a:r>
            <a:r>
              <a:rPr lang="en-GB" sz="1600" dirty="0" err="1">
                <a:solidFill>
                  <a:srgbClr val="334155"/>
                </a:solidFill>
              </a:rPr>
              <a:t>õigesse</a:t>
            </a:r>
            <a:r>
              <a:rPr lang="en-GB" sz="1600" dirty="0">
                <a:solidFill>
                  <a:srgbClr val="334155"/>
                </a:solidFill>
              </a:rPr>
              <a:t> kotha </a:t>
            </a:r>
            <a:r>
              <a:rPr lang="en-GB" sz="1600" dirty="0" err="1">
                <a:solidFill>
                  <a:srgbClr val="334155"/>
                </a:solidFill>
              </a:rPr>
              <a:t>ja</a:t>
            </a:r>
            <a:r>
              <a:rPr lang="en-GB" sz="1600" dirty="0">
                <a:solidFill>
                  <a:srgbClr val="334155"/>
                </a:solidFill>
              </a:rPr>
              <a:t> loo view </a:t>
            </a:r>
            <a:r>
              <a:rPr lang="en-GB" sz="1600" dirty="0" err="1">
                <a:solidFill>
                  <a:srgbClr val="334155"/>
                </a:solidFill>
              </a:rPr>
              <a:t>uuesti</a:t>
            </a:r>
            <a:endParaRPr lang="en-GB" sz="1600" dirty="0">
              <a:solidFill>
                <a:srgbClr val="334155"/>
              </a:solidFill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334155"/>
                </a:solidFill>
              </a:rPr>
              <a:t>repeat('*', length(</a:t>
            </a:r>
            <a:r>
              <a:rPr lang="en-GB" sz="1600" b="1" dirty="0" err="1">
                <a:solidFill>
                  <a:srgbClr val="334155"/>
                </a:solidFill>
              </a:rPr>
              <a:t>nimi</a:t>
            </a:r>
            <a:r>
              <a:rPr lang="en-GB" sz="1600" b="1" dirty="0">
                <a:solidFill>
                  <a:srgbClr val="334155"/>
                </a:solidFill>
              </a:rPr>
              <a:t>))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9554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525"/>
            <a:ext cx="1143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faktis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nime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ei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ole;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vaates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tärnid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 · 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</a:rPr>
              <a:t>ISE</a:t>
            </a:r>
            <a:endParaRPr sz="24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9. päev · andmehaldus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603504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Kuni 11:30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1472185"/>
            <a:ext cx="56692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91440" cy="47091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1618488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Kliendi</a:t>
            </a:r>
            <a:r>
              <a:rPr lang="en-GB" sz="16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nime</a:t>
            </a:r>
            <a:r>
              <a:rPr lang="en-GB" sz="16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peitmine</a:t>
            </a:r>
            <a:endParaRPr sz="16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1965960"/>
            <a:ext cx="4389120" cy="463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Kontrolli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, et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fact_myyk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sisaldaks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ega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linna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4155"/>
                </a:solidFill>
                <a:latin typeface="Calibri"/>
              </a:rPr>
              <a:t>VIEW -&gt;Generate SQL -&gt; DDL, copy</a:t>
            </a: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4155"/>
                </a:solidFill>
                <a:latin typeface="Calibri"/>
              </a:rPr>
              <a:t>NEW SQL script, paste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334155"/>
                </a:solidFill>
                <a:latin typeface="Calibri"/>
              </a:rPr>
              <a:t>Muuda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nimi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- &gt;</a:t>
            </a:r>
            <a:r>
              <a:rPr lang="en-GB" sz="1600" b="1" dirty="0">
                <a:solidFill>
                  <a:srgbClr val="334155"/>
                </a:solidFill>
              </a:rPr>
              <a:t>repeat('*', length(</a:t>
            </a:r>
            <a:r>
              <a:rPr lang="en-GB" sz="1600" b="1" dirty="0" err="1">
                <a:solidFill>
                  <a:srgbClr val="334155"/>
                </a:solidFill>
              </a:rPr>
              <a:t>nimi</a:t>
            </a:r>
            <a:r>
              <a:rPr lang="en-GB" sz="1600" b="1" dirty="0">
                <a:solidFill>
                  <a:srgbClr val="334155"/>
                </a:solidFill>
              </a:rPr>
              <a:t>))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334155"/>
                </a:solidFill>
              </a:rPr>
              <a:t>Kontrolli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tulemust</a:t>
            </a:r>
            <a:r>
              <a:rPr lang="en-GB" sz="1600" dirty="0">
                <a:solidFill>
                  <a:srgbClr val="334155"/>
                </a:solidFill>
              </a:rPr>
              <a:t>. </a:t>
            </a:r>
            <a:r>
              <a:rPr lang="en-GB" sz="1600" dirty="0" err="1">
                <a:solidFill>
                  <a:srgbClr val="334155"/>
                </a:solidFill>
              </a:rPr>
              <a:t>Avalik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juhtlaud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ei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sisalda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nime</a:t>
            </a:r>
            <a:r>
              <a:rPr lang="en-GB" sz="1600" dirty="0">
                <a:solidFill>
                  <a:srgbClr val="334155"/>
                </a:solidFill>
              </a:rPr>
              <a:t>, </a:t>
            </a:r>
            <a:r>
              <a:rPr lang="en-GB" sz="1600" dirty="0" err="1">
                <a:solidFill>
                  <a:srgbClr val="334155"/>
                </a:solidFill>
              </a:rPr>
              <a:t>andmemudel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sisaldab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maskeeritud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nime</a:t>
            </a:r>
            <a:r>
              <a:rPr lang="en-GB" sz="1600" dirty="0">
                <a:solidFill>
                  <a:srgbClr val="334155"/>
                </a:solidFill>
              </a:rPr>
              <a:t>, </a:t>
            </a:r>
            <a:r>
              <a:rPr lang="en-GB" sz="1600" dirty="0" err="1">
                <a:solidFill>
                  <a:srgbClr val="334155"/>
                </a:solidFill>
              </a:rPr>
              <a:t>mitte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täisnime</a:t>
            </a:r>
            <a:r>
              <a:rPr lang="en-GB" sz="1600" dirty="0">
                <a:solidFill>
                  <a:srgbClr val="334155"/>
                </a:solidFill>
              </a:rPr>
              <a:t>. </a:t>
            </a:r>
            <a:r>
              <a:rPr lang="en-GB" sz="1600" dirty="0" err="1">
                <a:solidFill>
                  <a:srgbClr val="334155"/>
                </a:solidFill>
              </a:rPr>
              <a:t>Peida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võimalikult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vara</a:t>
            </a:r>
            <a:r>
              <a:rPr lang="en-GB" sz="1600" dirty="0">
                <a:solidFill>
                  <a:srgbClr val="334155"/>
                </a:solidFill>
              </a:rPr>
              <a:t>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FF0000"/>
                </a:solidFill>
              </a:rPr>
              <a:t>Tehisaru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abil</a:t>
            </a:r>
            <a:r>
              <a:rPr lang="en-GB" sz="2400" dirty="0">
                <a:solidFill>
                  <a:srgbClr val="FF0000"/>
                </a:solidFill>
              </a:rPr>
              <a:t>: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334155"/>
                </a:solidFill>
              </a:rPr>
              <a:t>Esitähed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suured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ja</a:t>
            </a:r>
            <a:r>
              <a:rPr lang="en-GB" sz="1600" dirty="0">
                <a:solidFill>
                  <a:srgbClr val="334155"/>
                </a:solidFill>
              </a:rPr>
              <a:t> 3 </a:t>
            </a:r>
            <a:r>
              <a:rPr lang="en-GB" sz="1600" dirty="0" err="1">
                <a:solidFill>
                  <a:srgbClr val="334155"/>
                </a:solidFill>
              </a:rPr>
              <a:t>tärni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nimes</a:t>
            </a:r>
            <a:endParaRPr lang="en-GB" sz="1600" dirty="0">
              <a:solidFill>
                <a:srgbClr val="334155"/>
              </a:solidFill>
            </a:endParaRP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334155"/>
                </a:solidFill>
              </a:rPr>
              <a:t>Nimed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pseudonüümidega</a:t>
            </a:r>
            <a:endParaRPr lang="en-GB" sz="1600" dirty="0">
              <a:solidFill>
                <a:srgbClr val="334155"/>
              </a:solidFill>
            </a:endParaRP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334155"/>
                </a:solidFill>
              </a:rPr>
              <a:t>Müügisumma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jagatud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suvalise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arvuga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vahemikus</a:t>
            </a:r>
            <a:r>
              <a:rPr lang="en-GB" sz="1600" dirty="0">
                <a:solidFill>
                  <a:srgbClr val="334155"/>
                </a:solidFill>
              </a:rPr>
              <a:t> 1-5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570BD4-164F-AB94-58F4-AD21D0FD11FF}"/>
              </a:ext>
            </a:extLst>
          </p:cNvPr>
          <p:cNvGrpSpPr/>
          <p:nvPr/>
        </p:nvGrpSpPr>
        <p:grpSpPr>
          <a:xfrm>
            <a:off x="5713200" y="914400"/>
            <a:ext cx="5764319" cy="2598840"/>
            <a:chOff x="5361983" y="1641347"/>
            <a:chExt cx="6035040" cy="442862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16D4609-0CDD-9AEB-634A-2BEAE1584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1983" y="1641347"/>
              <a:ext cx="6035040" cy="4428627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36809B-5C59-706B-88E1-72C280E24B80}"/>
                </a:ext>
              </a:extLst>
            </p:cNvPr>
            <p:cNvSpPr/>
            <p:nvPr/>
          </p:nvSpPr>
          <p:spPr>
            <a:xfrm>
              <a:off x="9418320" y="5687568"/>
              <a:ext cx="1517904" cy="329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D0C8340-596A-1348-E2D4-F6941CA0A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814" y="3631258"/>
            <a:ext cx="2438740" cy="16194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75433B-C7CB-D944-5203-03458B83D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376" y="3698289"/>
            <a:ext cx="2210108" cy="17147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754044-61DF-FF1A-7534-E30EF1203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245" y="5555141"/>
            <a:ext cx="6379146" cy="7755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D32D2F9-90C2-8DDB-2673-CF260BCFD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2484" y="4863254"/>
            <a:ext cx="1769293" cy="8412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kontroll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(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näide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9. päev · andmehaldus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97280"/>
            <a:ext cx="11521440" cy="5212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756" y="1333521"/>
            <a:ext cx="1122883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dirty="0" err="1">
                <a:solidFill>
                  <a:srgbClr val="E2E8F0"/>
                </a:solidFill>
                <a:latin typeface="Calibri"/>
              </a:rPr>
              <a:t>Faktis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 on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klient_id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. Nimi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elab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dim_klientis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. Kati Lepik → **********</a:t>
            </a:r>
          </a:p>
          <a:p>
            <a:pPr>
              <a:spcAft>
                <a:spcPts val="200"/>
              </a:spcAft>
            </a:pPr>
            <a:endParaRPr sz="1300" b="0" dirty="0">
              <a:solidFill>
                <a:srgbClr val="E2E8F0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CREATE OR REPLACE VIEW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dim_klient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 AS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SELECT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klient_id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repeat('*', length(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nimi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)) AS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nimi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linn,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CASE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    WHEN linn IN ('Tallinn', 'Tartu') THEN linn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    ELSE '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muu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'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END AS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piirkond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   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liitumise_kuupäev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,</a:t>
            </a:r>
          </a:p>
          <a:p>
            <a:r>
              <a:rPr sz="1300" b="0" dirty="0">
                <a:solidFill>
                  <a:srgbClr val="E2E8F0"/>
                </a:solidFill>
                <a:latin typeface="Calibri"/>
              </a:rPr>
              <a:t>    EXTRACT(YEAR FROM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liitumise_kuupäev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)::integer AS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liitumise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_</a:t>
            </a:r>
            <a:r>
              <a:rPr lang="en-GB" sz="1300" b="0" dirty="0">
                <a:solidFill>
                  <a:srgbClr val="E2E8F0"/>
                </a:solidFill>
                <a:latin typeface="Calibri"/>
              </a:rPr>
              <a:t>A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asta</a:t>
            </a:r>
            <a:r>
              <a:rPr lang="en-GB" sz="1300" b="0" dirty="0">
                <a:solidFill>
                  <a:srgbClr val="E2E8F0"/>
                </a:solidFill>
                <a:latin typeface="Calibri"/>
              </a:rPr>
              <a:t>,</a:t>
            </a:r>
            <a:endParaRPr lang="en-GB" dirty="0"/>
          </a:p>
          <a:p>
            <a:r>
              <a:rPr lang="en-GB" dirty="0"/>
              <a:t>(</a:t>
            </a:r>
            <a:r>
              <a:rPr lang="en-GB" sz="1300" dirty="0">
                <a:solidFill>
                  <a:srgbClr val="E2E8F0"/>
                </a:solidFill>
                <a:latin typeface="Calibri"/>
              </a:rPr>
              <a:t>CURRENT_DATE - </a:t>
            </a:r>
            <a:r>
              <a:rPr lang="en-GB" sz="1300" dirty="0" err="1">
                <a:solidFill>
                  <a:srgbClr val="E2E8F0"/>
                </a:solidFill>
                <a:latin typeface="Calibri"/>
              </a:rPr>
              <a:t>liitumise_kuupäev</a:t>
            </a:r>
            <a:r>
              <a:rPr lang="en-GB" sz="1300" dirty="0">
                <a:solidFill>
                  <a:srgbClr val="E2E8F0"/>
                </a:solidFill>
                <a:latin typeface="Calibri"/>
              </a:rPr>
              <a:t>) AS </a:t>
            </a:r>
            <a:r>
              <a:rPr lang="en-GB" sz="1300" dirty="0" err="1">
                <a:solidFill>
                  <a:srgbClr val="E2E8F0"/>
                </a:solidFill>
                <a:latin typeface="Calibri"/>
              </a:rPr>
              <a:t>paevi_liitumisest</a:t>
            </a:r>
            <a:endParaRPr lang="en-GB" sz="1300" dirty="0">
              <a:solidFill>
                <a:srgbClr val="E2E8F0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300" b="0" dirty="0">
                <a:solidFill>
                  <a:srgbClr val="E2E8F0"/>
                </a:solidFill>
                <a:latin typeface="Calibri"/>
              </a:rPr>
              <a:t>FROM </a:t>
            </a:r>
            <a:r>
              <a:rPr sz="1300" b="0" dirty="0" err="1">
                <a:solidFill>
                  <a:srgbClr val="E2E8F0"/>
                </a:solidFill>
                <a:latin typeface="Calibri"/>
              </a:rPr>
              <a:t>kliendid</a:t>
            </a:r>
            <a:r>
              <a:rPr sz="1300" b="0" dirty="0">
                <a:solidFill>
                  <a:srgbClr val="E2E8F0"/>
                </a:solidFill>
                <a:latin typeface="Calibri"/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Power BI katsetamine: staatilised rollid  ·  </a:t>
            </a:r>
            <a:r>
              <a:rPr sz="2400" b="1">
                <a:solidFill>
                  <a:srgbClr val="92D050"/>
                </a:solidFill>
                <a:latin typeface="Calibri"/>
              </a:rPr>
              <a:t>NÄITAN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78992"/>
            <a:ext cx="114300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78992"/>
            <a:ext cx="91440" cy="3977639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188719"/>
            <a:ext cx="11045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Sammud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27632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1.  Ava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«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Liikumisaktiivsuse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».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2.  Modeling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vahekaart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→ Manage Roles.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3.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roll (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Sots min), filter: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    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Organisatsioon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[Parent organization]=“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Sotsiaalministeerium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”.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4.  View 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21208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5212080"/>
            <a:ext cx="91440" cy="109728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394960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Calibri"/>
              </a:rPr>
              <a:t>NB! Power BI service’is määratakse inimesed sellesse rolli.</a:t>
            </a:r>
          </a:p>
        </p:txBody>
      </p:sp>
    </p:spTree>
    <p:extLst>
      <p:ext uri="{BB962C8B-B14F-4D97-AF65-F5344CB8AC3E}">
        <p14:creationId xmlns:p14="http://schemas.microsoft.com/office/powerpoint/2010/main" val="1324654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F876-9944-1320-47E7-3490CDDE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F5FEBF-0B9E-42CF-49A0-E17FB6D4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7" y="1268413"/>
            <a:ext cx="657317" cy="2934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4773D-279E-7BF1-54C0-219A94AE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05" y="2865688"/>
            <a:ext cx="2337484" cy="1287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46AACD-FE11-4810-6601-ADD1AAF6F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784" y="2865688"/>
            <a:ext cx="5758066" cy="22782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47CC1-9FF1-1675-44E2-7FE4BC585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70" y="5149533"/>
            <a:ext cx="3142954" cy="12347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DADF10-5BB5-F581-290F-D9D219368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775" y="5255377"/>
            <a:ext cx="2126510" cy="11288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330D55-A536-1226-9771-65FE46CEEB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851963"/>
            <a:ext cx="3343742" cy="6954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32B162-8135-0DD7-0857-5EDC4DBE77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8656" y="5658792"/>
            <a:ext cx="4791744" cy="10764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Power BI katsetamine: staatilised rollid  ·  </a:t>
            </a:r>
            <a:r>
              <a:rPr sz="2400" b="1">
                <a:solidFill>
                  <a:srgbClr val="FF0000"/>
                </a:solidFill>
                <a:latin typeface="Calibri"/>
              </a:rPr>
              <a:t>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987552"/>
            <a:ext cx="109728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987552"/>
            <a:ext cx="91440" cy="178308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1060704"/>
            <a:ext cx="10561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Ava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«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Liikumisaktiivsuse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»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päev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5).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Modeling → Manage Roles. Loo roll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Sots min).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Filter: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Organisatsioon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[Parent organization]=“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Sotsiaalministeerium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”.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Salvesta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View as.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Service’is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määratakse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inimesed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rolli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34875-5EC6-83F9-014D-3D5691FF94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268" y="-43365"/>
            <a:ext cx="3855460" cy="33161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B04DE2-96F6-D6DD-8644-6494E29B0EB0}"/>
              </a:ext>
            </a:extLst>
          </p:cNvPr>
          <p:cNvSpPr/>
          <p:nvPr/>
        </p:nvSpPr>
        <p:spPr>
          <a:xfrm>
            <a:off x="8119872" y="2900674"/>
            <a:ext cx="3456432" cy="3728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233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Harjutus: arutelu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78992"/>
            <a:ext cx="1143000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78992"/>
            <a:ext cx="91440" cy="52578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188719"/>
            <a:ext cx="11045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Arutelu küsimused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27632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1.  Millised osad võiksid veel andmekorralduses olla?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2.  Millised probleemid tekivad andmete kasutamise ajal?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3.  Kui on palju allikaid, laadimisprotsesse ja raporteid — kuidas hoida dokumentatsioon ühes kohas?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4.  Kuidas teha tähendus nähtavaks just seal, kus inimene andmeid kasutab (SQL COMMENT, Power BI Description)?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5.  Milline võiks olla kergesti loetav, arusaadav ja hallatav andmekorralduse info?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6.  Veel innovatiivseid ja konstruktiivseid ideid.</a:t>
            </a:r>
          </a:p>
        </p:txBody>
      </p:sp>
    </p:spTree>
    <p:extLst>
      <p:ext uri="{BB962C8B-B14F-4D97-AF65-F5344CB8AC3E}">
        <p14:creationId xmlns:p14="http://schemas.microsoft.com/office/powerpoint/2010/main" val="1306568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497DF-330A-CE2A-2E82-642A9E0EB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C49151-7F48-CDDC-8FAE-4BBE1EDF933E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35F4DA-7E0A-1739-D16B-5360B9C871BF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CFF2A-3F52-13EA-8F84-A73D768D7026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t-EE" sz="2400" b="1" dirty="0">
                <a:solidFill>
                  <a:srgbClr val="FFFFFF"/>
                </a:solidFill>
                <a:latin typeface="Calibri"/>
              </a:rPr>
              <a:t>GRUPITÖÖ ISE ja esitlus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48BA2-E3B6-DEC9-ADA4-6CB001AC2033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5DE63A-064F-F552-CD80-9969316CC7E4}"/>
              </a:ext>
            </a:extLst>
          </p:cNvPr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10BC1-14E2-411B-571B-7612F28B000B}"/>
              </a:ext>
            </a:extLst>
          </p:cNvPr>
          <p:cNvSpPr/>
          <p:nvPr/>
        </p:nvSpPr>
        <p:spPr>
          <a:xfrm>
            <a:off x="306126" y="1085904"/>
            <a:ext cx="11236518" cy="75152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22E54-3DB2-6BF6-EF84-293174F6D04D}"/>
              </a:ext>
            </a:extLst>
          </p:cNvPr>
          <p:cNvSpPr txBox="1"/>
          <p:nvPr/>
        </p:nvSpPr>
        <p:spPr>
          <a:xfrm>
            <a:off x="306126" y="1023711"/>
            <a:ext cx="1104436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2400" b="1" dirty="0">
                <a:solidFill>
                  <a:schemeClr val="bg1"/>
                </a:solidFill>
                <a:latin typeface="Calibri"/>
              </a:rPr>
              <a:t>Tee Power BI-s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aruanne</a:t>
            </a:r>
            <a:r>
              <a:rPr lang="en-GB" sz="2400" b="1" dirty="0">
                <a:solidFill>
                  <a:schemeClr val="bg1"/>
                </a:solidFill>
                <a:latin typeface="Calibri"/>
              </a:rPr>
              <a:t>, </a:t>
            </a:r>
          </a:p>
          <a:p>
            <a:pPr algn="ctr">
              <a:spcAft>
                <a:spcPts val="0"/>
              </a:spcAft>
            </a:pPr>
            <a:r>
              <a:rPr lang="en-GB" sz="2400" b="1" dirty="0">
                <a:solidFill>
                  <a:schemeClr val="bg1"/>
                </a:solidFill>
                <a:latin typeface="Calibri"/>
              </a:rPr>
              <a:t> tee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mudel</a:t>
            </a:r>
            <a:r>
              <a:rPr lang="en-GB" sz="2400" b="1" dirty="0">
                <a:solidFill>
                  <a:schemeClr val="bg1"/>
                </a:solidFill>
                <a:latin typeface="Calibri"/>
              </a:rPr>
              <a:t>, tee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töötlus</a:t>
            </a:r>
            <a:r>
              <a:rPr lang="en-GB" sz="2400" b="1" dirty="0">
                <a:solidFill>
                  <a:schemeClr val="bg1"/>
                </a:solidFill>
                <a:latin typeface="Calibri"/>
              </a:rPr>
              <a:t>, loo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aruanne</a:t>
            </a:r>
            <a:endParaRPr lang="en-GB"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1FCAE-B4CF-90D6-8B95-86661915CDC2}"/>
              </a:ext>
            </a:extLst>
          </p:cNvPr>
          <p:cNvSpPr txBox="1"/>
          <p:nvPr/>
        </p:nvSpPr>
        <p:spPr>
          <a:xfrm>
            <a:off x="396240" y="2241352"/>
            <a:ext cx="105163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dirty="0" err="1">
                <a:solidFill>
                  <a:srgbClr val="334155"/>
                </a:solidFill>
                <a:latin typeface="Calibri"/>
              </a:rPr>
              <a:t>Ühendu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andmebaasiga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kasuta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VIEW’sid</a:t>
            </a:r>
            <a:endParaRPr lang="en-GB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b="0" dirty="0">
                <a:solidFill>
                  <a:srgbClr val="334155"/>
                </a:solidFill>
                <a:latin typeface="Calibri"/>
              </a:rPr>
              <a:t>Tee dim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mudel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, loo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seosed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, lo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objektid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määra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objektide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omadused</a:t>
            </a:r>
            <a:endParaRPr lang="en-GB" b="0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sz="1600" dirty="0" err="1">
                <a:solidFill>
                  <a:srgbClr val="334155"/>
                </a:solidFill>
              </a:rPr>
              <a:t>Kirjelda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mõõdikud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ja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objektid</a:t>
            </a:r>
            <a:r>
              <a:rPr lang="en-GB" sz="1600" dirty="0">
                <a:solidFill>
                  <a:srgbClr val="334155"/>
                </a:solidFill>
              </a:rPr>
              <a:t> Power BI-s (Description).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sz="1600" dirty="0">
                <a:solidFill>
                  <a:srgbClr val="334155"/>
                </a:solidFill>
              </a:rPr>
              <a:t>Tee MEASURES </a:t>
            </a:r>
            <a:r>
              <a:rPr lang="en-GB" sz="1600" dirty="0" err="1">
                <a:solidFill>
                  <a:srgbClr val="334155"/>
                </a:solidFill>
              </a:rPr>
              <a:t>tabel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1640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576ED-9A5F-DBB2-F64A-597FC316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E88589-3DCC-D42F-758F-5F0E2EA313BA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DFA83A-16C5-11C8-D84A-8623EB011DE2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18E1C-0794-09E7-85DB-11BC4F30E161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t-EE" sz="2400" b="1" dirty="0">
                <a:solidFill>
                  <a:srgbClr val="FFFFFF"/>
                </a:solidFill>
                <a:latin typeface="Calibri"/>
              </a:rPr>
              <a:t>GRUPITÖÖ ISE ja esitlus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siis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DCA43-5246-CDA2-B23A-033DB68AB43A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5DCA92-FC18-962F-843F-114884F57E4A}"/>
              </a:ext>
            </a:extLst>
          </p:cNvPr>
          <p:cNvSpPr/>
          <p:nvPr/>
        </p:nvSpPr>
        <p:spPr>
          <a:xfrm>
            <a:off x="306126" y="1085904"/>
            <a:ext cx="11236518" cy="75152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9DA74-6266-9666-C373-78AA482D8475}"/>
              </a:ext>
            </a:extLst>
          </p:cNvPr>
          <p:cNvSpPr txBox="1"/>
          <p:nvPr/>
        </p:nvSpPr>
        <p:spPr>
          <a:xfrm>
            <a:off x="306126" y="1023711"/>
            <a:ext cx="1104436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2400" b="1" dirty="0">
                <a:solidFill>
                  <a:schemeClr val="bg1"/>
                </a:solidFill>
                <a:latin typeface="Calibri"/>
              </a:rPr>
              <a:t>Tee Power BI-s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aruanne</a:t>
            </a:r>
            <a:r>
              <a:rPr lang="en-GB" sz="2400" b="1" dirty="0">
                <a:solidFill>
                  <a:schemeClr val="bg1"/>
                </a:solidFill>
                <a:latin typeface="Calibri"/>
              </a:rPr>
              <a:t>, </a:t>
            </a:r>
          </a:p>
          <a:p>
            <a:pPr algn="ctr">
              <a:spcAft>
                <a:spcPts val="0"/>
              </a:spcAft>
            </a:pPr>
            <a:r>
              <a:rPr lang="en-GB" sz="2400" b="1" dirty="0">
                <a:solidFill>
                  <a:schemeClr val="bg1"/>
                </a:solidFill>
                <a:latin typeface="Calibri"/>
              </a:rPr>
              <a:t> tee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mudel</a:t>
            </a:r>
            <a:r>
              <a:rPr lang="en-GB" sz="2400" b="1" dirty="0">
                <a:solidFill>
                  <a:schemeClr val="bg1"/>
                </a:solidFill>
                <a:latin typeface="Calibri"/>
              </a:rPr>
              <a:t>, tee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töötlus</a:t>
            </a:r>
            <a:r>
              <a:rPr lang="en-GB" sz="2400" b="1" dirty="0">
                <a:solidFill>
                  <a:schemeClr val="bg1"/>
                </a:solidFill>
                <a:latin typeface="Calibri"/>
              </a:rPr>
              <a:t>, loo </a:t>
            </a:r>
            <a:r>
              <a:rPr lang="en-GB" sz="2400" b="1" dirty="0" err="1">
                <a:solidFill>
                  <a:schemeClr val="bg1"/>
                </a:solidFill>
                <a:latin typeface="Calibri"/>
              </a:rPr>
              <a:t>aruanne</a:t>
            </a:r>
            <a:endParaRPr lang="en-GB"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7C0FCD-1A39-CCF1-41DC-3DC9CE0C88DD}"/>
              </a:ext>
            </a:extLst>
          </p:cNvPr>
          <p:cNvSpPr txBox="1"/>
          <p:nvPr/>
        </p:nvSpPr>
        <p:spPr>
          <a:xfrm>
            <a:off x="462501" y="1986444"/>
            <a:ext cx="3158523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b="1" dirty="0">
                <a:solidFill>
                  <a:srgbClr val="FF0000"/>
                </a:solidFill>
                <a:latin typeface="Calibri"/>
              </a:rPr>
              <a:t>VALI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siit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vähemalt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 3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küsimust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 (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võib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 ka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rohkem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)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lang="en-GB" sz="1400" b="0" dirty="0">
                <a:solidFill>
                  <a:srgbClr val="334155"/>
                </a:solidFill>
                <a:latin typeface="Calibri"/>
              </a:rPr>
              <a:t>Milline osakond müüs kõige rohkem?</a:t>
            </a:r>
            <a:endParaRPr lang="et-EE" sz="1400" dirty="0">
              <a:solidFill>
                <a:srgbClr val="334155"/>
              </a:solidFill>
            </a:endParaRP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Milline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kuu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oli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kõige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tugevam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Kas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odavaid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keskmisi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kalleid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tooteid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osteti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Kas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ostjaid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Tallinnast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Tartust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mujalt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Millist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tarneviisi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kasutatakse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kõige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Kui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palju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raha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andsime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soodustuseks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Mis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nädalapäeval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ostetakse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kõige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Kes on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meie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suurimad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mitte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nimi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)</a:t>
            </a:r>
          </a:p>
          <a:p>
            <a:pPr marL="285750" indent="-285750">
              <a:spcAft>
                <a:spcPts val="400"/>
              </a:spcAft>
              <a:buFontTx/>
              <a:buChar char="☑"/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Milline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toode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toob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kõige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raha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47815-4282-5027-1C4D-633D79103A66}"/>
              </a:ext>
            </a:extLst>
          </p:cNvPr>
          <p:cNvSpPr txBox="1"/>
          <p:nvPr/>
        </p:nvSpPr>
        <p:spPr>
          <a:xfrm>
            <a:off x="4005072" y="2026212"/>
            <a:ext cx="8305800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dirty="0" err="1">
                <a:solidFill>
                  <a:srgbClr val="334155"/>
                </a:solidFill>
                <a:latin typeface="Calibri"/>
              </a:rPr>
              <a:t>Ühendu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andmebaasiga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kasuta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VIEW’sid</a:t>
            </a:r>
            <a:br>
              <a:rPr lang="en-GB" dirty="0">
                <a:solidFill>
                  <a:srgbClr val="334155"/>
                </a:solidFill>
                <a:latin typeface="Calibri"/>
              </a:rPr>
            </a:br>
            <a:r>
              <a:rPr lang="en-GB" dirty="0" err="1">
                <a:solidFill>
                  <a:srgbClr val="334155"/>
                </a:solidFill>
                <a:latin typeface="Calibri"/>
              </a:rPr>
              <a:t>kasutajanimi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: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postgres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parool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: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andmed</a:t>
            </a:r>
            <a:endParaRPr lang="en-GB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sz="1600" dirty="0">
                <a:solidFill>
                  <a:srgbClr val="334155"/>
                </a:solidFill>
              </a:rPr>
              <a:t>Too </a:t>
            </a:r>
            <a:r>
              <a:rPr lang="en-GB" sz="1600" dirty="0" err="1">
                <a:solidFill>
                  <a:srgbClr val="334155"/>
                </a:solidFill>
              </a:rPr>
              <a:t>sisse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lisaks</a:t>
            </a:r>
            <a:r>
              <a:rPr lang="en-GB" sz="1600" dirty="0">
                <a:solidFill>
                  <a:srgbClr val="334155"/>
                </a:solidFill>
              </a:rPr>
              <a:t> ka </a:t>
            </a:r>
            <a:r>
              <a:rPr lang="en-GB" dirty="0" err="1"/>
              <a:t>analytics.v_view_column_descriptions</a:t>
            </a:r>
            <a:r>
              <a:rPr lang="en-GB" dirty="0"/>
              <a:t> </a:t>
            </a:r>
            <a:endParaRPr lang="en-GB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b="0" dirty="0">
                <a:solidFill>
                  <a:srgbClr val="334155"/>
                </a:solidFill>
                <a:latin typeface="Calibri"/>
              </a:rPr>
              <a:t>Tee dim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mudel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, loo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seosed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, lo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objektid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määra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objektide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omadused</a:t>
            </a:r>
            <a:endParaRPr lang="en-GB" b="0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dirty="0">
                <a:solidFill>
                  <a:srgbClr val="334155"/>
                </a:solidFill>
                <a:latin typeface="Calibri"/>
              </a:rPr>
              <a:t>Loo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mõõdikud</a:t>
            </a:r>
            <a:endParaRPr lang="en-GB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b="0" dirty="0">
                <a:solidFill>
                  <a:srgbClr val="334155"/>
                </a:solidFill>
                <a:latin typeface="Calibri"/>
              </a:rPr>
              <a:t>Loo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: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en-GB" dirty="0" err="1">
                <a:solidFill>
                  <a:srgbClr val="334155"/>
                </a:solidFill>
                <a:latin typeface="Calibri"/>
              </a:rPr>
              <a:t>Kasuta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andmelugu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, too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esile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olulised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br>
              <a:rPr lang="en-GB" dirty="0">
                <a:solidFill>
                  <a:srgbClr val="334155"/>
                </a:solidFill>
                <a:latin typeface="Calibri"/>
              </a:rPr>
            </a:br>
            <a:r>
              <a:rPr lang="en-GB" dirty="0" err="1">
                <a:solidFill>
                  <a:srgbClr val="334155"/>
                </a:solidFill>
                <a:latin typeface="Calibri"/>
              </a:rPr>
              <a:t>kohad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(conditional formatting)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en-GB" sz="1600" dirty="0" err="1">
                <a:solidFill>
                  <a:srgbClr val="334155"/>
                </a:solidFill>
              </a:rPr>
              <a:t>Kirjelda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tabelite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pealkirjades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visuaalide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loogikat</a:t>
            </a:r>
            <a:r>
              <a:rPr lang="en-GB" sz="1600" dirty="0">
                <a:solidFill>
                  <a:srgbClr val="334155"/>
                </a:solidFill>
              </a:rPr>
              <a:t>.</a:t>
            </a:r>
            <a:endParaRPr lang="en-GB" sz="1600" dirty="0">
              <a:solidFill>
                <a:srgbClr val="334155"/>
              </a:solidFill>
              <a:latin typeface="Calibri"/>
            </a:endParaRP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en-GB" b="0" dirty="0" err="1">
                <a:solidFill>
                  <a:srgbClr val="334155"/>
                </a:solidFill>
                <a:latin typeface="Calibri"/>
              </a:rPr>
              <a:t>Kasuta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 vis.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soovitusi</a:t>
            </a:r>
            <a:r>
              <a:rPr lang="en-GB" b="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b="0" dirty="0" err="1">
                <a:solidFill>
                  <a:srgbClr val="334155"/>
                </a:solidFill>
                <a:latin typeface="Calibri"/>
              </a:rPr>
              <a:t>interaktsioone</a:t>
            </a:r>
            <a:endParaRPr lang="en-GB" b="0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sz="1600" dirty="0" err="1">
                <a:solidFill>
                  <a:srgbClr val="334155"/>
                </a:solidFill>
              </a:rPr>
              <a:t>Kirjelda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mõõdikud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ja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objektid</a:t>
            </a:r>
            <a:r>
              <a:rPr lang="en-GB" sz="1600" dirty="0">
                <a:solidFill>
                  <a:srgbClr val="334155"/>
                </a:solidFill>
              </a:rPr>
              <a:t> Power BI-s (</a:t>
            </a:r>
            <a:r>
              <a:rPr lang="en-GB" sz="1600" b="1" dirty="0">
                <a:solidFill>
                  <a:srgbClr val="334155"/>
                </a:solidFill>
              </a:rPr>
              <a:t>Description</a:t>
            </a:r>
            <a:r>
              <a:rPr lang="en-GB" sz="1600" dirty="0">
                <a:solidFill>
                  <a:srgbClr val="334155"/>
                </a:solidFill>
              </a:rPr>
              <a:t>).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sz="1600" dirty="0">
                <a:solidFill>
                  <a:srgbClr val="334155"/>
                </a:solidFill>
              </a:rPr>
              <a:t>Tee </a:t>
            </a:r>
            <a:r>
              <a:rPr lang="en-GB" sz="1600" b="1" dirty="0">
                <a:solidFill>
                  <a:srgbClr val="334155"/>
                </a:solidFill>
              </a:rPr>
              <a:t>MEASURES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dirty="0" err="1">
                <a:solidFill>
                  <a:srgbClr val="334155"/>
                </a:solidFill>
              </a:rPr>
              <a:t>tabel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GB" sz="2400" dirty="0">
                <a:solidFill>
                  <a:srgbClr val="334155"/>
                </a:solidFill>
                <a:latin typeface="Calibri"/>
              </a:rPr>
              <a:t>Loo </a:t>
            </a:r>
            <a:r>
              <a:rPr lang="en-GB" sz="2400" b="1" dirty="0">
                <a:solidFill>
                  <a:srgbClr val="334155"/>
                </a:solidFill>
                <a:latin typeface="Calibri"/>
              </a:rPr>
              <a:t>Info</a:t>
            </a:r>
            <a:r>
              <a:rPr lang="en-GB" sz="2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dirty="0" err="1">
                <a:solidFill>
                  <a:srgbClr val="334155"/>
                </a:solidFill>
                <a:latin typeface="Calibri"/>
              </a:rPr>
              <a:t>leht</a:t>
            </a:r>
            <a:r>
              <a:rPr lang="en-GB" sz="2400" dirty="0">
                <a:solidFill>
                  <a:srgbClr val="334155"/>
                </a:solidFill>
                <a:latin typeface="Calibri"/>
              </a:rPr>
              <a:t>: </a:t>
            </a:r>
            <a:r>
              <a:rPr lang="en-GB" sz="2400" dirty="0" err="1">
                <a:solidFill>
                  <a:srgbClr val="334155"/>
                </a:solidFill>
                <a:latin typeface="Calibri"/>
              </a:rPr>
              <a:t>kus</a:t>
            </a:r>
            <a:r>
              <a:rPr lang="en-GB" sz="2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dirty="0" err="1">
                <a:solidFill>
                  <a:srgbClr val="334155"/>
                </a:solidFill>
                <a:latin typeface="Calibri"/>
              </a:rPr>
              <a:t>kirjas</a:t>
            </a:r>
            <a:r>
              <a:rPr lang="en-GB" sz="24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dirty="0" err="1">
                <a:solidFill>
                  <a:srgbClr val="334155"/>
                </a:solidFill>
                <a:latin typeface="Calibri"/>
              </a:rPr>
              <a:t>vajalik</a:t>
            </a:r>
            <a:r>
              <a:rPr lang="en-GB" sz="2400" dirty="0">
                <a:solidFill>
                  <a:srgbClr val="334155"/>
                </a:solidFill>
                <a:latin typeface="Calibri"/>
              </a:rPr>
              <a:t> info</a:t>
            </a:r>
            <a:endParaRPr lang="en-GB" sz="24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AFF99-D39F-C121-C81B-496C4D63E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716" y="88734"/>
            <a:ext cx="2619012" cy="23230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451B45-EFBA-DE8C-8896-3341F6B07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35" y="3617224"/>
            <a:ext cx="2498993" cy="12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10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1136-F650-0313-A1DC-5996467B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Eriliigiliste isikuandmete töötlemise alused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" y="1051560"/>
            <a:ext cx="11237976" cy="47548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10881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Isikuandmete kaitse üldmäärus artikkel 9 lõige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169164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5760" y="1691640"/>
            <a:ext cx="91440" cy="21945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185623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237744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Nõusolek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1840" y="169164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91840" y="1691640"/>
            <a:ext cx="91440" cy="21945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93008" y="185623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47872" y="237744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Seadusjärgse kohustuse täitmine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69164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0" y="1691640"/>
            <a:ext cx="91440" cy="21945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19088" y="185623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237744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Eluliste huvide kaitsmine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169164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4000" y="1691640"/>
            <a:ext cx="91440" cy="21945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45168" y="185623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0032" y="2377440"/>
            <a:ext cx="22402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Õigusnõude koostamine, esitamine või kaitsmine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406908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65760" y="4069080"/>
            <a:ext cx="91440" cy="21945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6928" y="42336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" y="4754880"/>
            <a:ext cx="333755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Andmesubjekt on andmed ise avalikustanud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97680" y="406908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297680" y="4069080"/>
            <a:ext cx="91440" cy="21945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498848" y="42336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53712" y="4754880"/>
            <a:ext cx="333755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Avalikes huvides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9600" y="40690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29600" y="4069080"/>
            <a:ext cx="91440" cy="219456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0768" y="42336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73"/>
                </a:solidFill>
                <a:latin typeface="Calibri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85632" y="4754880"/>
            <a:ext cx="31546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Õiguspärase tegevuse raames</a:t>
            </a:r>
          </a:p>
        </p:txBody>
      </p:sp>
    </p:spTree>
    <p:extLst>
      <p:ext uri="{BB962C8B-B14F-4D97-AF65-F5344CB8AC3E}">
        <p14:creationId xmlns:p14="http://schemas.microsoft.com/office/powerpoint/2010/main" val="357851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B5B3-8BA3-170D-1120-623130EF71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Kokkuvõtted</a:t>
            </a:r>
            <a:r>
              <a:rPr lang="en-GB" dirty="0"/>
              <a:t>, </a:t>
            </a:r>
            <a:r>
              <a:rPr lang="en-GB" dirty="0" err="1"/>
              <a:t>tagasiside</a:t>
            </a:r>
            <a:r>
              <a:rPr lang="en-GB" dirty="0"/>
              <a:t>, </a:t>
            </a:r>
            <a:r>
              <a:rPr lang="en-GB" dirty="0" err="1"/>
              <a:t>plaanid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919D1-5659-EAA3-CC0C-86314F4F09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449496" cy="4465637"/>
          </a:xfrm>
        </p:spPr>
        <p:txBody>
          <a:bodyPr/>
          <a:lstStyle/>
          <a:p>
            <a:pPr lvl="0"/>
            <a:r>
              <a:rPr lang="en-GB" sz="2400" dirty="0" err="1"/>
              <a:t>Tagasiside</a:t>
            </a:r>
            <a:endParaRPr lang="en-GB" sz="2400" dirty="0"/>
          </a:p>
          <a:p>
            <a:pPr lvl="0"/>
            <a:r>
              <a:rPr lang="en-GB" sz="2400" dirty="0"/>
              <a:t>3. </a:t>
            </a:r>
            <a:r>
              <a:rPr lang="en-GB" sz="2400" dirty="0" err="1"/>
              <a:t>nädala</a:t>
            </a:r>
            <a:r>
              <a:rPr lang="en-GB" sz="2400" dirty="0"/>
              <a:t> kava: </a:t>
            </a:r>
          </a:p>
          <a:p>
            <a:pPr lvl="1"/>
            <a:r>
              <a:rPr lang="en-GB" sz="2400" dirty="0"/>
              <a:t>E-N python</a:t>
            </a:r>
          </a:p>
          <a:p>
            <a:pPr lvl="1"/>
            <a:r>
              <a:rPr lang="en-GB" sz="2400" dirty="0"/>
              <a:t>R 9:15 – Delfi </a:t>
            </a:r>
            <a:r>
              <a:rPr lang="en-GB" sz="2400" dirty="0" err="1"/>
              <a:t>Meedia</a:t>
            </a:r>
            <a:endParaRPr lang="en-GB" sz="2400" dirty="0"/>
          </a:p>
          <a:p>
            <a:pPr lvl="1"/>
            <a:r>
              <a:rPr lang="en-GB" sz="2400" dirty="0"/>
              <a:t>R 13:00 TEHIK</a:t>
            </a:r>
          </a:p>
          <a:p>
            <a:pPr lvl="1"/>
            <a:r>
              <a:rPr lang="en-GB" sz="2400" dirty="0" err="1"/>
              <a:t>teemade</a:t>
            </a:r>
            <a:r>
              <a:rPr lang="en-GB" sz="2400" dirty="0"/>
              <a:t> </a:t>
            </a:r>
            <a:r>
              <a:rPr lang="en-GB" sz="2400" dirty="0" err="1"/>
              <a:t>kinnitamine</a:t>
            </a:r>
            <a:r>
              <a:rPr lang="en-GB" sz="2400" dirty="0"/>
              <a:t> + </a:t>
            </a:r>
            <a:r>
              <a:rPr lang="en-GB" sz="2400" dirty="0" err="1"/>
              <a:t>versioonihaldus</a:t>
            </a:r>
            <a:endParaRPr lang="en-GB" sz="2400" dirty="0"/>
          </a:p>
          <a:p>
            <a:r>
              <a:rPr lang="en-GB" sz="2400" dirty="0" err="1"/>
              <a:t>Slacki</a:t>
            </a:r>
            <a:r>
              <a:rPr lang="en-GB" sz="2400" dirty="0"/>
              <a:t> </a:t>
            </a:r>
            <a:r>
              <a:rPr lang="en-GB" sz="2400" dirty="0" err="1"/>
              <a:t>kanalid</a:t>
            </a:r>
            <a:r>
              <a:rPr lang="en-GB" sz="2400" dirty="0"/>
              <a:t>: </a:t>
            </a:r>
            <a:r>
              <a:rPr lang="en-GB" sz="2400" dirty="0" err="1"/>
              <a:t>töökuulutused</a:t>
            </a:r>
            <a:r>
              <a:rPr lang="en-GB" sz="2400" dirty="0"/>
              <a:t> </a:t>
            </a:r>
            <a:r>
              <a:rPr lang="en-GB" sz="2400" dirty="0" err="1"/>
              <a:t>jne</a:t>
            </a:r>
            <a:endParaRPr lang="en-GB" sz="2400" dirty="0"/>
          </a:p>
          <a:p>
            <a:r>
              <a:rPr lang="en-GB" sz="2400" dirty="0"/>
              <a:t>Teemade </a:t>
            </a:r>
            <a:r>
              <a:rPr lang="en-GB" sz="2400" dirty="0" err="1"/>
              <a:t>valiku</a:t>
            </a:r>
            <a:r>
              <a:rPr lang="en-GB" sz="2400" dirty="0"/>
              <a:t> </a:t>
            </a:r>
            <a:r>
              <a:rPr lang="en-GB" sz="2400" dirty="0" err="1"/>
              <a:t>hetkeseis</a:t>
            </a:r>
            <a:r>
              <a:rPr lang="en-GB" sz="2400" dirty="0"/>
              <a:t> </a:t>
            </a:r>
            <a:r>
              <a:rPr lang="en-GB" sz="2400" dirty="0">
                <a:hlinkClick r:id="rId2"/>
              </a:rPr>
              <a:t>Google sheets</a:t>
            </a:r>
            <a:r>
              <a:rPr lang="en-GB" sz="2400" dirty="0"/>
              <a:t> </a:t>
            </a:r>
            <a:r>
              <a:rPr lang="en-GB" sz="2400" dirty="0" err="1"/>
              <a:t>slackis</a:t>
            </a:r>
            <a:r>
              <a:rPr lang="en-GB" sz="2400" dirty="0"/>
              <a:t> </a:t>
            </a:r>
          </a:p>
          <a:p>
            <a:r>
              <a:rPr lang="en-GB" sz="2400" dirty="0" err="1"/>
              <a:t>Suhtlemine</a:t>
            </a:r>
            <a:r>
              <a:rPr lang="en-GB" sz="2400" dirty="0"/>
              <a:t> </a:t>
            </a:r>
            <a:r>
              <a:rPr lang="en-GB" sz="2400" dirty="0" err="1"/>
              <a:t>teemade</a:t>
            </a:r>
            <a:r>
              <a:rPr lang="en-GB" sz="2400" dirty="0"/>
              <a:t> </a:t>
            </a:r>
            <a:r>
              <a:rPr lang="en-GB" sz="2400" dirty="0" err="1"/>
              <a:t>kontaktisikutega</a:t>
            </a:r>
            <a:endParaRPr lang="en-GB" sz="2400" dirty="0"/>
          </a:p>
          <a:p>
            <a:pPr lvl="0"/>
            <a:r>
              <a:rPr lang="en-GB" sz="2400" dirty="0" err="1"/>
              <a:t>Lõputöö</a:t>
            </a:r>
            <a:r>
              <a:rPr lang="en-GB" sz="2400" dirty="0"/>
              <a:t> </a:t>
            </a:r>
            <a:r>
              <a:rPr lang="en-GB" sz="2400" dirty="0" err="1"/>
              <a:t>osad</a:t>
            </a:r>
            <a:endParaRPr lang="en-GB" sz="2400" dirty="0"/>
          </a:p>
          <a:p>
            <a:pPr lvl="0"/>
            <a:r>
              <a:rPr lang="en-GB" sz="2400" dirty="0"/>
              <a:t>Teemade </a:t>
            </a:r>
            <a:r>
              <a:rPr lang="en-GB" sz="2400" dirty="0" err="1"/>
              <a:t>kinnitamine</a:t>
            </a:r>
            <a:r>
              <a:rPr lang="en-GB" sz="2400" dirty="0"/>
              <a:t> 18.09 </a:t>
            </a:r>
          </a:p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19380-7F01-BC7C-97D6-E31608DBD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076" y="4603696"/>
            <a:ext cx="4937860" cy="12815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706D4B-84A6-5DEB-6384-8638B787E58A}"/>
              </a:ext>
            </a:extLst>
          </p:cNvPr>
          <p:cNvSpPr/>
          <p:nvPr/>
        </p:nvSpPr>
        <p:spPr>
          <a:xfrm>
            <a:off x="10360152" y="4768977"/>
            <a:ext cx="1764792" cy="475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623795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4447</Words>
  <Application>Microsoft Office PowerPoint</Application>
  <PresentationFormat>Widescreen</PresentationFormat>
  <Paragraphs>558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Inter Bold</vt:lpstr>
      <vt:lpstr>Inter</vt:lpstr>
      <vt:lpstr>Calibri</vt:lpstr>
      <vt:lpstr>Arial</vt:lpstr>
      <vt:lpstr>BCS</vt:lpstr>
      <vt:lpstr>Päevakava - X päev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Kokkuvõtted, tagasiside, plaanid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179</cp:revision>
  <dcterms:created xsi:type="dcterms:W3CDTF">2021-08-27T11:35:28Z</dcterms:created>
  <dcterms:modified xsi:type="dcterms:W3CDTF">2026-10-02T07:46:11Z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