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493" r:id="rId5"/>
    <p:sldId id="514" r:id="rId6"/>
    <p:sldId id="259" r:id="rId7"/>
    <p:sldId id="670" r:id="rId8"/>
    <p:sldId id="260" r:id="rId9"/>
    <p:sldId id="518" r:id="rId10"/>
    <p:sldId id="519" r:id="rId11"/>
    <p:sldId id="675" r:id="rId12"/>
    <p:sldId id="676" r:id="rId13"/>
    <p:sldId id="265" r:id="rId14"/>
    <p:sldId id="261" r:id="rId15"/>
    <p:sldId id="677" r:id="rId16"/>
    <p:sldId id="504" r:id="rId17"/>
    <p:sldId id="679" r:id="rId18"/>
    <p:sldId id="440" r:id="rId19"/>
    <p:sldId id="524" r:id="rId20"/>
    <p:sldId id="671" r:id="rId21"/>
    <p:sldId id="262" r:id="rId22"/>
    <p:sldId id="646" r:id="rId23"/>
    <p:sldId id="523" r:id="rId24"/>
    <p:sldId id="672" r:id="rId25"/>
    <p:sldId id="268" r:id="rId26"/>
    <p:sldId id="267" r:id="rId27"/>
    <p:sldId id="673" r:id="rId28"/>
    <p:sldId id="674" r:id="rId29"/>
    <p:sldId id="521" r:id="rId30"/>
    <p:sldId id="680" r:id="rId31"/>
    <p:sldId id="490" r:id="rId32"/>
    <p:sldId id="576" r:id="rId33"/>
    <p:sldId id="681" r:id="rId34"/>
  </p:sldIdLst>
  <p:sldSz cx="12192000" cy="6858000"/>
  <p:notesSz cx="6858000" cy="9144000"/>
  <p:embeddedFontLst>
    <p:embeddedFont>
      <p:font typeface="Inter" panose="020B0604020202020204" charset="0"/>
      <p:regular r:id="rId37"/>
      <p:bold r:id="rId38"/>
      <p:italic r:id="rId39"/>
      <p:boldItalic r:id="rId40"/>
    </p:embeddedFont>
    <p:embeddedFont>
      <p:font typeface="Inter Bold" panose="020B0604020202020204" charset="0"/>
      <p:bold r:id="rId41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59276F-A3BE-4F18-A945-04EEB15F3F1C}" v="16" dt="2026-09-11T04:52:56.6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3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2.fntdata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addSld delSld modSld sldOrd">
      <pc:chgData name="Emilie Abel" userId="20dec598-1860-40de-ab3f-181316cc4da6" providerId="ADAL" clId="{3EAE1975-14BE-41D5-9E3B-28573F0EE5DC}" dt="2026-09-11T04:53:21.033" v="232" actId="20577"/>
      <pc:docMkLst>
        <pc:docMk/>
      </pc:docMkLst>
      <pc:sldChg chg="modSp mod">
        <pc:chgData name="Emilie Abel" userId="20dec598-1860-40de-ab3f-181316cc4da6" providerId="ADAL" clId="{3EAE1975-14BE-41D5-9E3B-28573F0EE5DC}" dt="2026-09-11T03:51:48.229" v="54" actId="20577"/>
        <pc:sldMkLst>
          <pc:docMk/>
          <pc:sldMk cId="0" sldId="260"/>
        </pc:sldMkLst>
        <pc:graphicFrameChg chg="modGraphic">
          <ac:chgData name="Emilie Abel" userId="20dec598-1860-40de-ab3f-181316cc4da6" providerId="ADAL" clId="{3EAE1975-14BE-41D5-9E3B-28573F0EE5DC}" dt="2026-09-11T03:51:48.229" v="54" actId="20577"/>
          <ac:graphicFrameMkLst>
            <pc:docMk/>
            <pc:sldMk cId="0" sldId="260"/>
            <ac:graphicFrameMk id="9" creationId="{00000000-0000-0000-0000-000000000000}"/>
          </ac:graphicFrameMkLst>
        </pc:graphicFrameChg>
      </pc:sldChg>
      <pc:sldChg chg="addSp modSp mod">
        <pc:chgData name="Emilie Abel" userId="20dec598-1860-40de-ab3f-181316cc4da6" providerId="ADAL" clId="{3EAE1975-14BE-41D5-9E3B-28573F0EE5DC}" dt="2026-09-11T04:29:49.410" v="72"/>
        <pc:sldMkLst>
          <pc:docMk/>
          <pc:sldMk cId="0" sldId="261"/>
        </pc:sldMkLst>
        <pc:spChg chg="mod">
          <ac:chgData name="Emilie Abel" userId="20dec598-1860-40de-ab3f-181316cc4da6" providerId="ADAL" clId="{3EAE1975-14BE-41D5-9E3B-28573F0EE5DC}" dt="2026-09-11T04:29:49.206" v="5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68" v="62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40" v="5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87" v="64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56" v="6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300" v="66"/>
          <ac:spMkLst>
            <pc:docMk/>
            <pc:sldMk cId="0" sldId="261"/>
            <ac:spMk id="20" creationId="{00000000-0000-0000-0000-000000000000}"/>
          </ac:spMkLst>
        </pc:spChg>
        <pc:picChg chg="add mod">
          <ac:chgData name="Emilie Abel" userId="20dec598-1860-40de-ab3f-181316cc4da6" providerId="ADAL" clId="{3EAE1975-14BE-41D5-9E3B-28573F0EE5DC}" dt="2026-09-11T04:29:49.357" v="68"/>
          <ac:picMkLst>
            <pc:docMk/>
            <pc:sldMk cId="0" sldId="261"/>
            <ac:picMk id="7" creationId="{9BA234BF-6143-7021-51C8-48DDA8B41FA0}"/>
          </ac:picMkLst>
        </pc:picChg>
        <pc:picChg chg="add mod">
          <ac:chgData name="Emilie Abel" userId="20dec598-1860-40de-ab3f-181316cc4da6" providerId="ADAL" clId="{3EAE1975-14BE-41D5-9E3B-28573F0EE5DC}" dt="2026-09-11T04:29:49.380" v="70"/>
          <ac:picMkLst>
            <pc:docMk/>
            <pc:sldMk cId="0" sldId="261"/>
            <ac:picMk id="22" creationId="{56CDA103-0A42-39A3-4D3D-AB0B180C5AC6}"/>
          </ac:picMkLst>
        </pc:picChg>
        <pc:picChg chg="add mod">
          <ac:chgData name="Emilie Abel" userId="20dec598-1860-40de-ab3f-181316cc4da6" providerId="ADAL" clId="{3EAE1975-14BE-41D5-9E3B-28573F0EE5DC}" dt="2026-09-11T04:29:49.410" v="72"/>
          <ac:picMkLst>
            <pc:docMk/>
            <pc:sldMk cId="0" sldId="261"/>
            <ac:picMk id="24" creationId="{7F37D039-0F8C-050D-0AED-E491F1E37615}"/>
          </ac:picMkLst>
        </pc:picChg>
      </pc:sldChg>
      <pc:sldChg chg="delSp modSp mod">
        <pc:chgData name="Emilie Abel" userId="20dec598-1860-40de-ab3f-181316cc4da6" providerId="ADAL" clId="{3EAE1975-14BE-41D5-9E3B-28573F0EE5DC}" dt="2026-09-11T04:53:21.033" v="232" actId="20577"/>
        <pc:sldMkLst>
          <pc:docMk/>
          <pc:sldMk cId="0" sldId="262"/>
        </pc:sldMkLst>
        <pc:spChg chg="del mod">
          <ac:chgData name="Emilie Abel" userId="20dec598-1860-40de-ab3f-181316cc4da6" providerId="ADAL" clId="{3EAE1975-14BE-41D5-9E3B-28573F0EE5DC}" dt="2026-09-11T04:53:02.368" v="217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3:21.033" v="232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4:41:21.839" v="112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11T04:41:21.839" v="112" actId="20577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3:50:25.926" v="41" actId="20577"/>
        <pc:sldMkLst>
          <pc:docMk/>
          <pc:sldMk cId="1135419376" sldId="493"/>
        </pc:sldMkLst>
        <pc:graphicFrameChg chg="modGraphic">
          <ac:chgData name="Emilie Abel" userId="20dec598-1860-40de-ab3f-181316cc4da6" providerId="ADAL" clId="{3EAE1975-14BE-41D5-9E3B-28573F0EE5DC}" dt="2026-09-11T03:50:25.926" v="41" actId="20577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add ord">
        <pc:chgData name="Emilie Abel" userId="20dec598-1860-40de-ab3f-181316cc4da6" providerId="ADAL" clId="{3EAE1975-14BE-41D5-9E3B-28573F0EE5DC}" dt="2026-09-11T04:43:09.023" v="118"/>
        <pc:sldMkLst>
          <pc:docMk/>
          <pc:sldMk cId="1640365156" sldId="504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443866233" sldId="504"/>
        </pc:sldMkLst>
      </pc:sldChg>
      <pc:sldChg chg="modSp mod">
        <pc:chgData name="Emilie Abel" userId="20dec598-1860-40de-ab3f-181316cc4da6" providerId="ADAL" clId="{3EAE1975-14BE-41D5-9E3B-28573F0EE5DC}" dt="2026-09-11T03:50:37.453" v="52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11T03:50:37.453" v="52" actId="20577"/>
          <ac:spMkLst>
            <pc:docMk/>
            <pc:sldMk cId="3637694684" sldId="514"/>
            <ac:spMk id="12" creationId="{2E9B4962-FAD2-72FC-3C72-1983E533049A}"/>
          </ac:spMkLst>
        </pc:spChg>
      </pc:sldChg>
      <pc:sldChg chg="add">
        <pc:chgData name="Emilie Abel" userId="20dec598-1860-40de-ab3f-181316cc4da6" providerId="ADAL" clId="{3EAE1975-14BE-41D5-9E3B-28573F0EE5DC}" dt="2026-09-11T04:42:48.173" v="116"/>
        <pc:sldMkLst>
          <pc:docMk/>
          <pc:sldMk cId="357851997" sldId="576"/>
        </pc:sldMkLst>
      </pc:sldChg>
      <pc:sldChg chg="add del">
        <pc:chgData name="Emilie Abel" userId="20dec598-1860-40de-ab3f-181316cc4da6" providerId="ADAL" clId="{3EAE1975-14BE-41D5-9E3B-28573F0EE5DC}" dt="2026-09-11T04:42:42.655" v="115" actId="2696"/>
        <pc:sldMkLst>
          <pc:docMk/>
          <pc:sldMk cId="1004236082" sldId="576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888773393" sldId="576"/>
        </pc:sldMkLst>
      </pc:sldChg>
      <pc:sldChg chg="modSp mod">
        <pc:chgData name="Emilie Abel" userId="20dec598-1860-40de-ab3f-181316cc4da6" providerId="ADAL" clId="{3EAE1975-14BE-41D5-9E3B-28573F0EE5DC}" dt="2026-09-11T04:38:34.702" v="102" actId="20577"/>
        <pc:sldMkLst>
          <pc:docMk/>
          <pc:sldMk cId="0" sldId="677"/>
        </pc:sldMkLst>
        <pc:spChg chg="mod">
          <ac:chgData name="Emilie Abel" userId="20dec598-1860-40de-ab3f-181316cc4da6" providerId="ADAL" clId="{3EAE1975-14BE-41D5-9E3B-28573F0EE5DC}" dt="2026-09-11T04:38:34.702" v="102" actId="20577"/>
          <ac:spMkLst>
            <pc:docMk/>
            <pc:sldMk cId="0" sldId="6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38:24.575" v="86" actId="20577"/>
          <ac:spMkLst>
            <pc:docMk/>
            <pc:sldMk cId="0" sldId="677"/>
            <ac:spMk id="8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11T04:40:44.348" v="105"/>
        <pc:sldMkLst>
          <pc:docMk/>
          <pc:sldMk cId="3250137005" sldId="678"/>
        </pc:sldMkLst>
      </pc:sldChg>
      <pc:sldChg chg="delSp modSp mod">
        <pc:chgData name="Emilie Abel" userId="20dec598-1860-40de-ab3f-181316cc4da6" providerId="ADAL" clId="{3EAE1975-14BE-41D5-9E3B-28573F0EE5DC}" dt="2026-09-11T04:51:49.530" v="205" actId="478"/>
        <pc:sldMkLst>
          <pc:docMk/>
          <pc:sldMk cId="0" sldId="679"/>
        </pc:sldMkLst>
        <pc:spChg chg="del">
          <ac:chgData name="Emilie Abel" userId="20dec598-1860-40de-ab3f-181316cc4da6" providerId="ADAL" clId="{3EAE1975-14BE-41D5-9E3B-28573F0EE5DC}" dt="2026-09-11T04:51:49.530" v="205" actId="478"/>
          <ac:spMkLst>
            <pc:docMk/>
            <pc:sldMk cId="0" sldId="67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1:37.028" v="204" actId="20577"/>
          <ac:spMkLst>
            <pc:docMk/>
            <pc:sldMk cId="0" sldId="679"/>
            <ac:spMk id="8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00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022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67BB-5DE1-BF29-DD80-6C7A48898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832A0A-07CC-FB76-5ACC-4C2F62A712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730BA-C426-F2C5-A529-EBBB3DE2A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3495C-967F-5860-37D5-628B2A13D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129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81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11.09.2026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Relationship Id="rId5" Type="http://schemas.openxmlformats.org/officeDocument/2006/relationships/hyperlink" Target="https://www.riigiteataja.ee/akt/106032026010" TargetMode="External"/><Relationship Id="rId4" Type="http://schemas.openxmlformats.org/officeDocument/2006/relationships/hyperlink" Target="https://www.aki.ee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42308521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Andmekorraldus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Power BI-s PostgreSQL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baasi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pealt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Kokkuvõtted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ingl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keeles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DATA GOVERNANCE</a:t>
            </a:r>
            <a:endParaRPr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1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0"/>
            <a:endCxn id="19" idx="2"/>
          </p:cNvCxnSpPr>
          <p:nvPr/>
        </p:nvCxnSpPr>
        <p:spPr>
          <a:xfrm flipV="1">
            <a:off x="5500474" y="2642517"/>
            <a:ext cx="431893" cy="421340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 flipV="1">
            <a:off x="6471862" y="3205588"/>
            <a:ext cx="1711611" cy="772781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2093409" cy="238656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4597343" y="1076428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8183473" y="2602084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8183473" y="4372163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Kvaliteet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806605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>
                          <a:solidFill>
                            <a:srgbClr val="334155"/>
                          </a:solidFill>
                          <a:latin typeface="Calibri"/>
                        </a:rPr>
                        <a:t>alliksüsteemi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Analüütik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/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andmeinsener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446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/>
              <a:t>Reegel</a:t>
            </a:r>
            <a:r>
              <a:rPr lang="en-GB" sz="1400" dirty="0"/>
              <a:t> on </a:t>
            </a:r>
            <a:r>
              <a:rPr lang="en-GB" sz="1400" dirty="0" err="1"/>
              <a:t>otsus</a:t>
            </a:r>
            <a:r>
              <a:rPr lang="en-GB" sz="1400" dirty="0"/>
              <a:t>: </a:t>
            </a:r>
            <a:r>
              <a:rPr lang="en-GB" sz="1400" dirty="0" err="1"/>
              <a:t>nii</a:t>
            </a:r>
            <a:r>
              <a:rPr lang="en-GB" sz="1400" dirty="0"/>
              <a:t> on </a:t>
            </a:r>
            <a:r>
              <a:rPr lang="en-GB" sz="1400" dirty="0" err="1"/>
              <a:t>kokku</a:t>
            </a:r>
            <a:r>
              <a:rPr lang="en-GB" sz="1400" dirty="0"/>
              <a:t> </a:t>
            </a:r>
            <a:r>
              <a:rPr lang="en-GB" sz="1400" dirty="0" err="1"/>
              <a:t>lepitud</a:t>
            </a:r>
            <a:r>
              <a:rPr lang="en-GB" sz="1400" dirty="0"/>
              <a:t>, </a:t>
            </a:r>
            <a:r>
              <a:rPr lang="en-GB" sz="1400" dirty="0" err="1"/>
              <a:t>nii</a:t>
            </a:r>
            <a:r>
              <a:rPr lang="en-GB" sz="1400" dirty="0"/>
              <a:t> </a:t>
            </a:r>
            <a:r>
              <a:rPr lang="en-GB" sz="1400" dirty="0" err="1"/>
              <a:t>tohib</a:t>
            </a:r>
            <a:r>
              <a:rPr lang="en-GB" sz="1400" dirty="0"/>
              <a:t> </a:t>
            </a:r>
            <a:r>
              <a:rPr lang="en-GB" sz="1400" dirty="0" err="1"/>
              <a:t>arvutada</a:t>
            </a:r>
            <a:r>
              <a:rPr lang="en-GB" sz="1400" dirty="0"/>
              <a:t>. Kui </a:t>
            </a:r>
            <a:r>
              <a:rPr lang="en-GB" sz="1400" dirty="0" err="1"/>
              <a:t>keegi</a:t>
            </a:r>
            <a:r>
              <a:rPr lang="en-GB" sz="1400" dirty="0"/>
              <a:t> </a:t>
            </a:r>
            <a:r>
              <a:rPr lang="en-GB" sz="1400" dirty="0" err="1"/>
              <a:t>teeb</a:t>
            </a:r>
            <a:r>
              <a:rPr lang="en-GB" sz="1400" dirty="0"/>
              <a:t> </a:t>
            </a:r>
            <a:r>
              <a:rPr lang="en-GB" sz="1400" dirty="0" err="1"/>
              <a:t>käibe</a:t>
            </a:r>
            <a:r>
              <a:rPr lang="en-GB" sz="1400" dirty="0"/>
              <a:t> </a:t>
            </a:r>
            <a:r>
              <a:rPr lang="en-GB" sz="1400" dirty="0" err="1"/>
              <a:t>Ootel</a:t>
            </a:r>
            <a:r>
              <a:rPr lang="en-GB" sz="1400" dirty="0"/>
              <a:t> </a:t>
            </a:r>
            <a:r>
              <a:rPr lang="en-GB" sz="1400" dirty="0" err="1"/>
              <a:t>ridadest</a:t>
            </a:r>
            <a:r>
              <a:rPr lang="en-GB" sz="1400" dirty="0"/>
              <a:t>, </a:t>
            </a:r>
            <a:r>
              <a:rPr lang="en-GB" sz="1400" dirty="0" err="1"/>
              <a:t>rikub</a:t>
            </a:r>
            <a:r>
              <a:rPr lang="en-GB" sz="1400" dirty="0"/>
              <a:t> ta </a:t>
            </a:r>
            <a:r>
              <a:rPr lang="en-GB" sz="1400" dirty="0" err="1"/>
              <a:t>reeglit</a:t>
            </a:r>
            <a:r>
              <a:rPr lang="en-GB" sz="1400" dirty="0"/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1" dirty="0">
                <a:solidFill>
                  <a:srgbClr val="FF0000"/>
                </a:solidFill>
                <a:latin typeface="Calibri"/>
              </a:rPr>
              <a:t>REGULAARNE KONTROLL! </a:t>
            </a:r>
            <a:r>
              <a:rPr lang="en-GB" sz="1400" b="1" dirty="0" err="1">
                <a:solidFill>
                  <a:srgbClr val="FF0000"/>
                </a:solidFill>
                <a:latin typeface="Calibri"/>
              </a:rPr>
              <a:t>Andmekorraldus</a:t>
            </a:r>
            <a:r>
              <a:rPr lang="en-GB"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1400" b="1" dirty="0" err="1">
                <a:solidFill>
                  <a:srgbClr val="FF0000"/>
                </a:solidFill>
                <a:latin typeface="Calibri"/>
              </a:rPr>
              <a:t>tööriistad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567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en-GB"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D9E603-6982-D866-5B81-8D764565FB64}"/>
              </a:ext>
            </a:extLst>
          </p:cNvPr>
          <p:cNvSpPr txBox="1"/>
          <p:nvPr/>
        </p:nvSpPr>
        <p:spPr>
          <a:xfrm>
            <a:off x="396241" y="5247531"/>
            <a:ext cx="11529232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/>
              <a:t>Metaandmed</a:t>
            </a:r>
            <a:r>
              <a:rPr lang="en-GB" sz="1400" dirty="0"/>
              <a:t> on </a:t>
            </a:r>
            <a:r>
              <a:rPr lang="en-GB" sz="1400" dirty="0" err="1"/>
              <a:t>reeglid</a:t>
            </a:r>
            <a:r>
              <a:rPr lang="en-GB" sz="1400" dirty="0"/>
              <a:t> </a:t>
            </a:r>
            <a:r>
              <a:rPr lang="en-GB" sz="1400" dirty="0" err="1"/>
              <a:t>kirja</a:t>
            </a:r>
            <a:r>
              <a:rPr lang="en-GB" sz="1400" dirty="0"/>
              <a:t> </a:t>
            </a:r>
            <a:r>
              <a:rPr lang="en-GB" sz="1400" dirty="0" err="1"/>
              <a:t>pandud</a:t>
            </a:r>
            <a:r>
              <a:rPr lang="en-GB" sz="1400" dirty="0"/>
              <a:t> </a:t>
            </a:r>
            <a:r>
              <a:rPr lang="en-GB" sz="1400" dirty="0" err="1"/>
              <a:t>sinna</a:t>
            </a:r>
            <a:r>
              <a:rPr lang="en-GB" sz="1400" dirty="0"/>
              <a:t>, </a:t>
            </a:r>
            <a:r>
              <a:rPr lang="en-GB" sz="1400" dirty="0" err="1"/>
              <a:t>kus</a:t>
            </a:r>
            <a:r>
              <a:rPr lang="en-GB" sz="1400" dirty="0"/>
              <a:t> </a:t>
            </a:r>
            <a:r>
              <a:rPr lang="en-GB" sz="1400" dirty="0" err="1"/>
              <a:t>inimene</a:t>
            </a:r>
            <a:r>
              <a:rPr lang="en-GB" sz="1400" dirty="0"/>
              <a:t> </a:t>
            </a:r>
            <a:r>
              <a:rPr lang="en-GB" sz="1400" dirty="0" err="1"/>
              <a:t>andmeid</a:t>
            </a:r>
            <a:r>
              <a:rPr lang="en-GB" sz="1400" dirty="0"/>
              <a:t> </a:t>
            </a:r>
            <a:r>
              <a:rPr lang="en-GB" sz="1400" dirty="0" err="1"/>
              <a:t>kasutab</a:t>
            </a:r>
            <a:r>
              <a:rPr lang="en-GB" sz="1400" dirty="0"/>
              <a:t>: COMMENT, Description, Info-</a:t>
            </a:r>
            <a:r>
              <a:rPr lang="en-GB" sz="1400" dirty="0" err="1"/>
              <a:t>leht</a:t>
            </a:r>
            <a:r>
              <a:rPr lang="en-GB" sz="1400" dirty="0"/>
              <a:t>, «milline </a:t>
            </a:r>
            <a:r>
              <a:rPr lang="en-GB" sz="1400" dirty="0" err="1"/>
              <a:t>mõõdik</a:t>
            </a:r>
            <a:r>
              <a:rPr lang="en-GB" sz="1400" dirty="0"/>
              <a:t> </a:t>
            </a:r>
            <a:r>
              <a:rPr lang="en-GB" sz="1400" dirty="0" err="1"/>
              <a:t>seda</a:t>
            </a:r>
            <a:r>
              <a:rPr lang="en-GB" sz="1400" dirty="0"/>
              <a:t> </a:t>
            </a:r>
            <a:r>
              <a:rPr lang="en-GB" sz="1400" dirty="0" err="1"/>
              <a:t>teeb</a:t>
            </a:r>
            <a:r>
              <a:rPr lang="en-GB" sz="1400" dirty="0"/>
              <a:t>». Kui </a:t>
            </a:r>
            <a:r>
              <a:rPr lang="en-GB" sz="1400" dirty="0" err="1"/>
              <a:t>keegi</a:t>
            </a:r>
            <a:r>
              <a:rPr lang="en-GB" sz="1400" dirty="0"/>
              <a:t> </a:t>
            </a:r>
            <a:r>
              <a:rPr lang="en-GB" sz="1400" dirty="0" err="1"/>
              <a:t>ei</a:t>
            </a:r>
            <a:r>
              <a:rPr lang="en-GB" sz="1400" dirty="0"/>
              <a:t> tea, </a:t>
            </a:r>
            <a:r>
              <a:rPr lang="en-GB" sz="1400" dirty="0" err="1"/>
              <a:t>kuidas</a:t>
            </a:r>
            <a:r>
              <a:rPr lang="en-GB" sz="1400" dirty="0"/>
              <a:t> </a:t>
            </a:r>
            <a:r>
              <a:rPr lang="en-GB" sz="1400" dirty="0" err="1"/>
              <a:t>käivet</a:t>
            </a:r>
            <a:r>
              <a:rPr lang="en-GB" sz="1400" dirty="0"/>
              <a:t> </a:t>
            </a:r>
            <a:r>
              <a:rPr lang="en-GB" sz="1400" dirty="0" err="1"/>
              <a:t>tehakse</a:t>
            </a:r>
            <a:r>
              <a:rPr lang="en-GB" sz="1400" dirty="0"/>
              <a:t>, </a:t>
            </a:r>
            <a:r>
              <a:rPr lang="en-GB" sz="1400" dirty="0" err="1"/>
              <a:t>puuduvad</a:t>
            </a:r>
            <a:r>
              <a:rPr lang="en-GB" sz="1400" dirty="0"/>
              <a:t> </a:t>
            </a:r>
            <a:r>
              <a:rPr lang="en-GB" sz="1400" dirty="0" err="1"/>
              <a:t>tal</a:t>
            </a:r>
            <a:r>
              <a:rPr lang="en-GB" sz="1400" dirty="0"/>
              <a:t> </a:t>
            </a:r>
            <a:r>
              <a:rPr lang="en-GB" sz="1400" dirty="0" err="1"/>
              <a:t>metaandmed</a:t>
            </a:r>
            <a:r>
              <a:rPr lang="en-GB" sz="1400" dirty="0"/>
              <a:t> — </a:t>
            </a:r>
            <a:r>
              <a:rPr lang="en-GB" sz="1400" dirty="0" err="1"/>
              <a:t>reegel</a:t>
            </a:r>
            <a:r>
              <a:rPr lang="en-GB" sz="1400" dirty="0"/>
              <a:t> </a:t>
            </a:r>
            <a:r>
              <a:rPr lang="en-GB" sz="1400" dirty="0" err="1"/>
              <a:t>võib</a:t>
            </a:r>
            <a:r>
              <a:rPr lang="en-GB" sz="1400" dirty="0"/>
              <a:t> </a:t>
            </a:r>
            <a:r>
              <a:rPr lang="en-GB" sz="1400" dirty="0" err="1"/>
              <a:t>kuskil</a:t>
            </a:r>
            <a:r>
              <a:rPr lang="en-GB" sz="1400" dirty="0"/>
              <a:t> </a:t>
            </a:r>
            <a:r>
              <a:rPr lang="en-GB" sz="1400" dirty="0" err="1"/>
              <a:t>olemas</a:t>
            </a:r>
            <a:r>
              <a:rPr lang="en-GB" sz="1400" dirty="0"/>
              <a:t> olla, aga </a:t>
            </a:r>
            <a:r>
              <a:rPr lang="en-GB" sz="1400" dirty="0" err="1"/>
              <a:t>teda</a:t>
            </a:r>
            <a:r>
              <a:rPr lang="en-GB" sz="1400" dirty="0"/>
              <a:t> </a:t>
            </a:r>
            <a:r>
              <a:rPr lang="en-GB" sz="1400" dirty="0" err="1"/>
              <a:t>ei</a:t>
            </a:r>
            <a:r>
              <a:rPr lang="en-GB" sz="1400" dirty="0"/>
              <a:t> </a:t>
            </a:r>
            <a:r>
              <a:rPr lang="en-GB" sz="1400" dirty="0" err="1"/>
              <a:t>näe</a:t>
            </a:r>
            <a:r>
              <a:rPr lang="en-GB" sz="1400" dirty="0"/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Mida andmed tähendavad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24128"/>
            <a:ext cx="571500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024128"/>
            <a:ext cx="91440" cy="221284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7" y="1097280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Ärisõnastik — ilma tabelinimeta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08176"/>
            <a:ext cx="536752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raha, mis päriselt laekus (mitte ootel ega tühistatud).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Ostukorv — üks tellimus, mitte üks rida arvel.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 — inimene. Kaks Kati Lepikut (id 5 ja 25) on kaks klienti.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24128"/>
            <a:ext cx="566928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024128"/>
            <a:ext cx="91440" cy="221284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Andmesõnastik — veerg, tüüp, võti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408176"/>
            <a:ext cx="53218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klient_id — täisarv, võti. Liidab müügi inimesega, mitte nimega.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taidetud — tekst: «Täidetud» või tühi.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rida_allahindlusega_ilma_km — number; see on käibe tükk.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346704"/>
            <a:ext cx="11521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7" y="3419856"/>
            <a:ext cx="11192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Meil: käive = Täidetud, neto, pärast allahindlust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" y="3730752"/>
            <a:ext cx="11173967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SUM(rida_allahindlusega_ilma_km), ainult read, kus taidetud =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Näide: 3 rida Täidetud + 1 Ootel → käive on nende 3 rea summa, mitte nelja.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782312"/>
            <a:ext cx="571500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4782312"/>
            <a:ext cx="91440" cy="166420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7" y="485546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Kirjuta üles õiges kohas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" y="5166360"/>
            <a:ext cx="53675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SQL: COMMENT ON COLUMN … IS '…';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Power BI: sama tekst Description väljal.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Muidu elab definitsioon ainult slaidil.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66928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4782312"/>
            <a:ext cx="91440" cy="16642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485546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Töö nähtavale kasutuse lähedal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5166360"/>
            <a:ext cx="53218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Aruande Info-leht, visuaali pealkiri, mõõdiku Description.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Mitte ainult skript, mida keegi ei ava.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Millega laaditakse ja töödeldakse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3891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See ei ole reegel (mis on käive) ega kvaliteet (kas ID on olemas). See on: millega number tehti.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5448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5448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627632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Tehnoloogiad — laadimine ja töötlus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38528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PostgreSQL — tabelid (kliendid, tooted, tellimused, tellimuse_read).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 VIEW — fact_myyk, dim_klient, dim_toode, dim_aeg.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Power BI — mudel Myygiraport ja aruanne «E-poe müük».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54480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627632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skript?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38528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create_tabelid.sql — toored tabelid CSV-st.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create_tahtskeem_vaated.sql — tähtskeemi vaated.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analytics_veergude_kommentaarid.sql — COMMENT-id kataloogi.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05072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05072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7822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vaade?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 — üks rida = üks müügirida (mitte tellimus).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 — inimene; nimi võib olla tärnidena.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dim_aeg — kalender ka päevadeks, mil müüki ei olnud.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05072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05072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7822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mõõdik?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SUM(rida_allahindlusega_ilma_km), ainult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Tellimuste arv — COUNT DISTINCT tellimus_id, mitte COUNT(*).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Elab Power BI mõõdikus, mitte CSV-veerus.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8369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2184400"/>
            <a:ext cx="3337559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inimese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tunda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 err="1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8369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2458719"/>
            <a:ext cx="3337559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T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ervis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Vastava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valdkonna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analüütikas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selle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).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8369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21844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tarnija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Raha: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eelarve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marginaal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palgafond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Tehnika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andmebaasi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API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kunagi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raportisse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Tundlik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606552" y="5393504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A234BF-6143-7021-51C8-48DDA8B41FA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0" y="1193800"/>
            <a:ext cx="609600" cy="6096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6CDA103-0A42-39A3-4D3D-AB0B180C5AC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861050" y="1193800"/>
            <a:ext cx="609600" cy="6096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37D039-0F8C-050D-0AED-E491F1E3761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677400" y="1193800"/>
            <a:ext cx="6096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9893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Andmete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liigitus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1670"/>
            <a:ext cx="1124712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1300" b="0" dirty="0" err="1">
                <a:solidFill>
                  <a:srgbClr val="FFFFFF"/>
                </a:solidFill>
                <a:latin typeface="Calibri"/>
              </a:rPr>
              <a:t>Müügiandmestik</a:t>
            </a:r>
            <a:endParaRPr sz="13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499616"/>
            <a:ext cx="571500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99616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72768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Isikuandmed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kliendid.nimi — Kati Lepik; kaks inimest, sama nimi.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kliendid.linn — koos nimega tunneb inimese ära.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dim_klient.nimi — sama isikuandmed Power BI mudelis.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kliendid.klient_id — identifikaator (id 5 ≠ id 25).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99616"/>
            <a:ext cx="566928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499616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72768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Eriliigilised / delikaatsed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Meie poe tabelites neid veerge ei ole — see on õige.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Näited, kui keegi tahaks «igaks juhuks» lisada: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kliendi.diagnoos  ·  haigusleht  ·  ametiühingu_liige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Analüütikasse ei tohi tulla.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2336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23360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96512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Tundlikud äriandmed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443984"/>
            <a:ext cx="536752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Andmebaasi parool / API võti — ei ole veerg, ära pane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ostuhind — tarnija hind; meil on tooted.hind = müügihind.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palgad / palgafond — meie CSV-s ei ole.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Ainult kokkuleppe ja õiguste alusel.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23360"/>
            <a:ext cx="91440" cy="2331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96512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Ilma liigituseta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443984"/>
            <a:ext cx="532180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fact_myyk.taidetud  ·  tellimused.staatus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fact_myyk.rida_allahindlusega_ilma_km  (müügisumma)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tellimused.tarneviis  ·  tellimuse_read.kogus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tooted.nimetus  ·  tooted.kategooria  ·  dim_aeg.aasta_kuu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Eriliiki isikuandmed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1691640"/>
            <a:ext cx="114300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1691640"/>
            <a:ext cx="91440" cy="1325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1801368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Artikkel 9 lg 1 hõlmab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2194560"/>
            <a:ext cx="1101852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Rassiline või etniline päritolu, poliitilised vaated, usulised või filosoofilised veendumused, ametiühingusse kuulumine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Geneetilised andmed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55264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55264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56432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Biomeetrilised andmed, millega füüsilist isikut kordumatult tuvastatakse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44768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45936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5936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Terviseandmed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4272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34272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35440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Andmed seksuaalelu ja seksuaalse sättumuse kohta</a:t>
            </a:r>
          </a:p>
        </p:txBody>
      </p:sp>
    </p:spTree>
    <p:extLst>
      <p:ext uri="{BB962C8B-B14F-4D97-AF65-F5344CB8AC3E}">
        <p14:creationId xmlns:p14="http://schemas.microsoft.com/office/powerpoint/2010/main" val="1640365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Tundlikud äriandmed — saladus, kuigi mitte GDPR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0233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3119"/>
            <a:ext cx="1124712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.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Ettevõttesiseselt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vastavalt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rollidele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kohustustele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määratletud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kokku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lepitud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.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517904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17904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9105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Müük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tarnijale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makstud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Tarnija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Asus 950 €) — see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lao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CSV-s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17904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17904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9105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Raha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Eelarve, marginaal, palgafond kokku.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Marginaal = müügihind miinus ostuhind — ilma ostuhinnata ei arvuta.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 palgafondi ja eelarvet ei ole. Käive (Täidetud, neto) ei ole palgafond.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986784"/>
            <a:ext cx="571500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986784"/>
            <a:ext cx="91440" cy="235915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5993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Tehnika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Andmebaasi parool, API võti — mitte kunagi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Ka mitte visuaali pealkirja, Description'i ega slaidi peale.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Meil: PostgreSQL / Power BI ühenduse parool. Näita, et väli on tühi, mitte väärtust.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986784"/>
            <a:ext cx="566928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986784"/>
            <a:ext cx="91440" cy="2359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5993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 err="1">
                <a:solidFill>
                  <a:srgbClr val="0F203E"/>
                </a:solidFill>
                <a:latin typeface="Calibri"/>
              </a:rPr>
              <a:t>Meie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poes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vs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saladus</a:t>
            </a:r>
            <a:endParaRPr sz="14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tooted.nimetus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Ei tohi,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palgad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GDPR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kokkulepe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Isikuandmete töötlemise põhimõtted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Seaduslik, õiglane ja läbipaistev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Töötlemine peab olema seaduslik, õiglane ja inimesele arusaadav.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6052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16552" y="1188719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Eesmärgipärane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41655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kogutakse ja kasutatakse ainult kindlal, selgel eesmärgil.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11311" y="1188719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Minimaalne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11311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Kogutakse võimalikult vähe andmeid — ainult see, mida eesmärk tegelikult vajab.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6576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Õigsus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Isikuandmed on õiged ja vajaduse korral ajakohastatud.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Ebaõiged andmed kustutatakse või parandatakse viivitamata.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Isikul on õigus tutvuda oma andmetega ning paluda parandamist ja kustutamist.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6052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16052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16552" y="3904488"/>
            <a:ext cx="3227832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 err="1">
                <a:solidFill>
                  <a:srgbClr val="FF0000"/>
                </a:solidFill>
                <a:latin typeface="Calibri"/>
              </a:rPr>
              <a:t>Säilitamise</a:t>
            </a:r>
            <a:r>
              <a:rPr sz="15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500" b="1" dirty="0" err="1">
                <a:solidFill>
                  <a:srgbClr val="FF0000"/>
                </a:solidFill>
                <a:latin typeface="Calibri"/>
              </a:rPr>
              <a:t>piirang</a:t>
            </a:r>
            <a:endParaRPr sz="15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41655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hoitakse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tuvastataval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kujul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seni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kuni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see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eesmärgi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täitmiseks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55279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955279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11311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Usaldusväärsus ja konfidentsiaalsus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1311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kaitstakse loata ligipääsu, kadumise ja väärkasutuse eest.</a:t>
            </a:r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Eesti kontekst: mis reguleerib ja kus on infot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Juhised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2"/>
              </a:rPr>
              <a:t>kratid.ee/juhised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3"/>
              </a:rPr>
              <a:t>stat.ee — andmehalduse juhised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Andmekaitse Inspektsioon (AKI)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Eesti riiklik järelevalveasutus.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Praktilised juhendid IAKS-i ja GDPR-i täitmiseks.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06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07073"/>
                </a:solidFill>
                <a:latin typeface="Calibri"/>
                <a:hlinkClick r:id="rId4"/>
              </a:rPr>
              <a:t>www.aki.ee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5669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3493008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seadus (IAKS)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886200"/>
            <a:ext cx="525780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Eesti riiklik seadus, mis täpsustab ja täiendab EL-i üldmäärust seal, kus riikidele on jäetud otsustusõigus.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Näiteks: töötlemine ajakirjanduslikul eesmärgil; lapse nõusoleku vanusepiirang e-teenustes.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06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07073"/>
                </a:solidFill>
                <a:latin typeface="Calibri"/>
                <a:hlinkClick r:id="rId5"/>
              </a:rPr>
              <a:t>Riigi Teataja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83280"/>
            <a:ext cx="55321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349300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üldmäärus (IKÜM / GDPR)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886200"/>
            <a:ext cx="512064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Otsekohalduv EL-i määrus (EL) 2016/679 — andmekaitse vundament.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Seab reeglid ettevõtetele ja asutustele ning annab eraisikule kontrolli oma andmete üle.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Allikas: EUR-Lex.</a:t>
            </a: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Lõimitud andmekaitse põhimõtted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Enneta, ära tegele ainult tagajärgedega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tegevusse ja infosüsteemidesse sisse ehitatud enne, kui isikuandmete töötlemine algab.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6364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1967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Korrapärasus ja süsteemsus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osa disainist, arhitektuurist ja äritegevusest — tuumfunktsioon, mitte lisa.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Töötleja hindab ohte korrapäraselt ja lisab vajadusel kaitsemeetmeid.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6576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Turvaline algusest lõpuni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Alates esmasest kogumisest kuni hävitamiseni on kasutusel asjakohased ja ajakohastatud turvameetmed.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26364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1967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Läbipaistev ja vastutustundlik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Kõigile asjaosalistele on selge, mis on töötlemise eesmärk.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Andmesubjekt saab teabe eesmärgi ja oma õiguste kohta — kergesti kättesaadav, lihtsas keeles.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Koostööpartneritega on sõlmitud õiguspärased andmetöötluslepingud.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29107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Allikas: 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3385425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47187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1325879"/>
            <a:ext cx="5029200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US" sz="1500" dirty="0" err="1">
                <a:solidFill>
                  <a:srgbClr val="334155"/>
                </a:solidFill>
                <a:latin typeface="Calibri"/>
              </a:rPr>
              <a:t>Liigita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HR_dataset.csv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fi-FI" sz="1400" dirty="0">
                <a:solidFill>
                  <a:srgbClr val="334155"/>
                </a:solidFill>
                <a:latin typeface="Calibri"/>
              </a:rPr>
              <a:t>Kas tohib Power BI raportisse? </a:t>
            </a:r>
          </a:p>
          <a:p>
            <a:pPr>
              <a:spcAft>
                <a:spcPts val="600"/>
              </a:spcAft>
            </a:pPr>
            <a:r>
              <a:rPr lang="fi-FI" sz="1400" dirty="0">
                <a:solidFill>
                  <a:srgbClr val="334155"/>
                </a:solidFill>
                <a:latin typeface="Calibri"/>
              </a:rPr>
              <a:t>Kuidas kaitsta?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Isikuandmete peitmine — anonümiseerimine vs pseudonümiseerimine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Anonümiseerimine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581912"/>
            <a:ext cx="525780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Eemaldab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tuvastada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Seda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pöörata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saa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enam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konkreetse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inimesega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Näide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isikuandmed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asendatakse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juhuslike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koodidega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seost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originaaliga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säilitata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52578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Pseudonümiseerimine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Asendab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isikuandmed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pseudonüümidega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tuvastamine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täiendava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teabe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abil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endiselt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võimalik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Näide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uuringus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asendatakse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koodidega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hoitakse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turvalises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rgbClr val="FF0000"/>
                </a:solidFill>
              </a:rPr>
              <a:t>Kuni 11:30</a:t>
            </a:r>
            <a:endParaRPr sz="2400" dirty="0">
              <a:solidFill>
                <a:srgbClr val="FF0000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65760" y="1472185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4389120" cy="4950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sisaldaks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VIEW -&gt;Generate SQL -&gt; DDL, copy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NEW SQL script, paste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 &gt;</a:t>
            </a: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FF0000"/>
                </a:solidFill>
              </a:rPr>
              <a:t>Tehisaru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 err="1">
                <a:solidFill>
                  <a:srgbClr val="FF0000"/>
                </a:solidFill>
              </a:rPr>
              <a:t>abil</a:t>
            </a:r>
            <a:r>
              <a:rPr lang="en-GB" sz="2400" dirty="0">
                <a:solidFill>
                  <a:srgbClr val="FF0000"/>
                </a:solidFill>
              </a:rPr>
              <a:t>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Esitähed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suured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3 </a:t>
            </a:r>
            <a:r>
              <a:rPr lang="en-GB" sz="1600" dirty="0" err="1">
                <a:solidFill>
                  <a:srgbClr val="334155"/>
                </a:solidFill>
              </a:rPr>
              <a:t>tärni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nimes</a:t>
            </a:r>
            <a:endParaRPr lang="en-GB" sz="1600" dirty="0">
              <a:solidFill>
                <a:srgbClr val="334155"/>
              </a:solidFill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Nimed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pseudonüümidega</a:t>
            </a:r>
            <a:endParaRPr lang="en-GB" sz="1600" dirty="0">
              <a:solidFill>
                <a:srgbClr val="334155"/>
              </a:solidFill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Müügisumma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jagatud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suvalise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arvuga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vahemikus</a:t>
            </a:r>
            <a:r>
              <a:rPr lang="en-GB" sz="1600" dirty="0">
                <a:solidFill>
                  <a:srgbClr val="334155"/>
                </a:solidFill>
              </a:rPr>
              <a:t> 1-5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Mõtle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veel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variante</a:t>
            </a:r>
            <a:endParaRPr sz="1600" dirty="0">
              <a:solidFill>
                <a:srgbClr val="334155"/>
              </a:solidFill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8570BD4-164F-AB94-58F4-AD21D0FD11FF}"/>
              </a:ext>
            </a:extLst>
          </p:cNvPr>
          <p:cNvGrpSpPr/>
          <p:nvPr/>
        </p:nvGrpSpPr>
        <p:grpSpPr>
          <a:xfrm>
            <a:off x="5713200" y="914400"/>
            <a:ext cx="5764319" cy="2598840"/>
            <a:chOff x="5361983" y="1641347"/>
            <a:chExt cx="6035040" cy="442862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16D4609-0CDD-9AEB-634A-2BEAE1584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1983" y="1641347"/>
              <a:ext cx="6035040" cy="442862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A36809B-5C59-706B-88E1-72C280E24B80}"/>
                </a:ext>
              </a:extLst>
            </p:cNvPr>
            <p:cNvSpPr/>
            <p:nvPr/>
          </p:nvSpPr>
          <p:spPr>
            <a:xfrm>
              <a:off x="9418320" y="5687568"/>
              <a:ext cx="1517904" cy="3291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DD0C8340-596A-1348-E2D4-F6941CA0A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814" y="3631258"/>
            <a:ext cx="2438740" cy="161947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5433B-C7CB-D944-5203-03458B83D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2376" y="3698289"/>
            <a:ext cx="2210108" cy="171473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C754044-61DF-FF1A-7534-E30EF1203F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8245" y="5555141"/>
            <a:ext cx="6379146" cy="77556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D32D2F9-90C2-8DDB-2673-CF260BCFD4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2484" y="4863254"/>
            <a:ext cx="1769293" cy="84124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(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3977639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Sammud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1.  Ava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Liikumisaktiivsuse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».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2.  Modeling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vahekaart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→ Manage Roles.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roll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Sots min), filter: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    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Organisatsioon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[Parent organization]=“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Sotsiaalministeerium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”.</a:t>
            </a:r>
          </a:p>
          <a:p>
            <a:pPr>
              <a:spcAft>
                <a:spcPts val="10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4.  View 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212080"/>
            <a:ext cx="11430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5212080"/>
            <a:ext cx="91440" cy="10972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394960"/>
            <a:ext cx="10789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</a:rPr>
              <a:t>NB! Power BI service’is määratakse inimesed sellesse rolli.</a:t>
            </a:r>
          </a:p>
        </p:txBody>
      </p:sp>
    </p:spTree>
    <p:extLst>
      <p:ext uri="{BB962C8B-B14F-4D97-AF65-F5344CB8AC3E}">
        <p14:creationId xmlns:p14="http://schemas.microsoft.com/office/powerpoint/2010/main" val="13246541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987552"/>
            <a:ext cx="109728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" y="987552"/>
            <a:ext cx="91440" cy="17830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1060704"/>
            <a:ext cx="105613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Liikumisaktiivsuse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5).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Modeling → Manage Roles. Loo roll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Sots min).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Filter: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Organisatsioon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[Parent organization]=“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Sotsiaalministeerium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”.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Salvesta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View as.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Service’is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määratakse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rolli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F34875-5EC6-83F9-014D-3D5691FF94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38268" y="-43365"/>
            <a:ext cx="3855460" cy="331613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0B04DE2-96F6-D6DD-8644-6494E29B0EB0}"/>
              </a:ext>
            </a:extLst>
          </p:cNvPr>
          <p:cNvSpPr/>
          <p:nvPr/>
        </p:nvSpPr>
        <p:spPr>
          <a:xfrm>
            <a:off x="8119872" y="2900674"/>
            <a:ext cx="3456432" cy="3728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Harjutus: arutelu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Arutelu küsimused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 Millised osad võiksid veel andmekorralduses olla?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 Millised probleemid tekivad andmete kasutamise ajal?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3.  Kui on palju allikaid, laadimisprotsesse ja raporteid — kuidas hoida dokumentatsioon ühes kohas?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4.  Kuidas teha tähendus nähtavaks just seal, kus inimene andmeid kasutab (SQL COMMENT, Power BI Description)?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5.  Milline võiks olla kergesti loetav, arusaadav ja hallatav andmekorralduse info?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6.  Veel innovatiivseid ja konstruktiivseid ideid.</a:t>
            </a: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497DF-330A-CE2A-2E82-642A9E0EB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C49151-7F48-CDDC-8FAE-4BBE1EDF933E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35F4DA-7E0A-1739-D16B-5360B9C871BF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CFF2A-3F52-13EA-8F84-A73D768D7026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D48BA2-E3B6-DEC9-ADA4-6CB001AC20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D5DE63A-064F-F552-CD80-9969316CC7E4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F10BC1-14E2-411B-571B-7612F28B000B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22E54-3DB2-6BF6-EF84-293174F6D04D}"/>
              </a:ext>
            </a:extLst>
          </p:cNvPr>
          <p:cNvSpPr txBox="1"/>
          <p:nvPr/>
        </p:nvSpPr>
        <p:spPr>
          <a:xfrm>
            <a:off x="306126" y="1023711"/>
            <a:ext cx="1104436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</a:t>
            </a:r>
          </a:p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mudel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töötlus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loo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endParaRPr lang="en-GB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41FCAE-B4CF-90D6-8B95-86661915CDC2}"/>
              </a:ext>
            </a:extLst>
          </p:cNvPr>
          <p:cNvSpPr txBox="1"/>
          <p:nvPr/>
        </p:nvSpPr>
        <p:spPr>
          <a:xfrm>
            <a:off x="396240" y="2241352"/>
            <a:ext cx="1051639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MEASURES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516405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023711"/>
            <a:ext cx="11044362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</a:t>
            </a:r>
          </a:p>
          <a:p>
            <a:pPr algn="ctr">
              <a:spcAft>
                <a:spcPts val="0"/>
              </a:spcAft>
            </a:pPr>
            <a:r>
              <a:rPr lang="en-GB" sz="2400" b="1" dirty="0">
                <a:solidFill>
                  <a:schemeClr val="bg1"/>
                </a:solidFill>
                <a:latin typeface="Calibri"/>
              </a:rPr>
              <a:t>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mudel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tee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töötlus</a:t>
            </a:r>
            <a:r>
              <a:rPr lang="en-GB" sz="2400" b="1" dirty="0">
                <a:solidFill>
                  <a:schemeClr val="bg1"/>
                </a:solidFill>
                <a:latin typeface="Calibri"/>
              </a:rPr>
              <a:t>, loo </a:t>
            </a:r>
            <a:r>
              <a:rPr lang="en-GB" sz="2400" b="1" dirty="0" err="1">
                <a:solidFill>
                  <a:schemeClr val="bg1"/>
                </a:solidFill>
                <a:latin typeface="Calibri"/>
              </a:rPr>
              <a:t>aruanne</a:t>
            </a:r>
            <a:endParaRPr lang="en-GB"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3158523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b="1" dirty="0">
                <a:solidFill>
                  <a:srgbClr val="FF0000"/>
                </a:solidFill>
                <a:latin typeface="Calibri"/>
              </a:rPr>
              <a:t>VALI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siit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vähemalt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3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küsimust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(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võib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ka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sz="1400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sz="14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4005072" y="2026212"/>
            <a:ext cx="8305800" cy="4719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dirty="0" err="1">
                <a:solidFill>
                  <a:srgbClr val="334155"/>
                </a:solidFill>
                <a:latin typeface="Calibri"/>
              </a:rPr>
              <a:t>kasutajanimi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postgres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Too </a:t>
            </a:r>
            <a:r>
              <a:rPr lang="en-GB" sz="1600" dirty="0" err="1">
                <a:solidFill>
                  <a:srgbClr val="334155"/>
                </a:solidFill>
              </a:rPr>
              <a:t>sisse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lisaks</a:t>
            </a:r>
            <a:r>
              <a:rPr lang="en-GB" sz="1600" dirty="0">
                <a:solidFill>
                  <a:srgbClr val="334155"/>
                </a:solidFill>
              </a:rPr>
              <a:t> ka </a:t>
            </a:r>
            <a:r>
              <a:rPr lang="en-GB" dirty="0" err="1"/>
              <a:t>analytics.v_view_column_descriptions</a:t>
            </a:r>
            <a:r>
              <a:rPr lang="en-GB" dirty="0"/>
              <a:t> 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too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esile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(conditional formatting)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tabelite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pealkirjades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visuaalide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loogikat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</a:t>
            </a:r>
            <a:r>
              <a:rPr lang="en-GB" sz="1600" b="1" dirty="0">
                <a:solidFill>
                  <a:srgbClr val="334155"/>
                </a:solidFill>
              </a:rPr>
              <a:t>Description</a:t>
            </a:r>
            <a:r>
              <a:rPr lang="en-GB" sz="1600" dirty="0">
                <a:solidFill>
                  <a:srgbClr val="334155"/>
                </a:solidFill>
              </a:rPr>
              <a:t>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</a:t>
            </a:r>
            <a:r>
              <a:rPr lang="en-GB" sz="1600" b="1" dirty="0">
                <a:solidFill>
                  <a:srgbClr val="334155"/>
                </a:solidFill>
              </a:rPr>
              <a:t>MEASURES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Info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info</a:t>
            </a:r>
            <a:endParaRPr lang="en-GB" sz="24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AFF99-D39F-C121-C81B-496C4D63E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4716" y="88734"/>
            <a:ext cx="2619012" cy="23230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451B45-EFBA-DE8C-8896-3341F6B07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4735" y="3617224"/>
            <a:ext cx="2498993" cy="129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Eriliigiliste isikuandmete töötlemise alused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Nõusolek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9184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9300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4787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Seadusjärgse kohustuse täitmine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1792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1908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395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Eluliste huvide kaitsmine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169164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4400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34516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0032" y="2377440"/>
            <a:ext cx="22402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Õigusnõude koostamine, esitamine või kaitsmine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6576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692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Andmesubjekt on andmed ise avalikustanud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29768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9884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Avalikes huvides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06908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22960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3076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5632" y="4754880"/>
            <a:ext cx="31546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Õiguspärase tegevuse raames</a:t>
            </a:r>
          </a:p>
        </p:txBody>
      </p:sp>
    </p:spTree>
    <p:extLst>
      <p:ext uri="{BB962C8B-B14F-4D97-AF65-F5344CB8AC3E}">
        <p14:creationId xmlns:p14="http://schemas.microsoft.com/office/powerpoint/2010/main" val="35785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1B5B3-8BA3-170D-1120-623130EF71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Kokkuvõtted</a:t>
            </a:r>
            <a:r>
              <a:rPr lang="en-GB" dirty="0"/>
              <a:t>, </a:t>
            </a:r>
            <a:r>
              <a:rPr lang="en-GB" dirty="0" err="1"/>
              <a:t>tagasiside</a:t>
            </a:r>
            <a:r>
              <a:rPr lang="en-GB" dirty="0"/>
              <a:t>, </a:t>
            </a:r>
            <a:r>
              <a:rPr lang="en-GB" dirty="0" err="1"/>
              <a:t>plaanid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919D1-5659-EAA3-CC0C-86314F4F091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449496" cy="4465637"/>
          </a:xfrm>
        </p:spPr>
        <p:txBody>
          <a:bodyPr/>
          <a:lstStyle/>
          <a:p>
            <a:pPr lvl="0"/>
            <a:r>
              <a:rPr lang="en-GB" sz="2400" dirty="0" err="1"/>
              <a:t>Tagasiside</a:t>
            </a:r>
            <a:endParaRPr lang="en-GB" sz="2400" dirty="0"/>
          </a:p>
          <a:p>
            <a:pPr lvl="0"/>
            <a:r>
              <a:rPr lang="en-GB" sz="2400" dirty="0"/>
              <a:t>3. </a:t>
            </a:r>
            <a:r>
              <a:rPr lang="en-GB" sz="2400" dirty="0" err="1"/>
              <a:t>nädala</a:t>
            </a:r>
            <a:r>
              <a:rPr lang="en-GB" sz="2400" dirty="0"/>
              <a:t> kava: </a:t>
            </a:r>
          </a:p>
          <a:p>
            <a:pPr lvl="1"/>
            <a:r>
              <a:rPr lang="en-GB" sz="2400" dirty="0"/>
              <a:t>E-N python</a:t>
            </a:r>
          </a:p>
          <a:p>
            <a:pPr lvl="1"/>
            <a:r>
              <a:rPr lang="en-GB" sz="2400" dirty="0"/>
              <a:t>R 9:15 – Delfi </a:t>
            </a:r>
            <a:r>
              <a:rPr lang="en-GB" sz="2400" dirty="0" err="1"/>
              <a:t>Meedia</a:t>
            </a:r>
            <a:endParaRPr lang="en-GB" sz="2400" dirty="0"/>
          </a:p>
          <a:p>
            <a:pPr lvl="1"/>
            <a:r>
              <a:rPr lang="en-GB" sz="2400" dirty="0"/>
              <a:t>R 13:00 TEHIK</a:t>
            </a:r>
          </a:p>
          <a:p>
            <a:pPr lvl="1"/>
            <a:r>
              <a:rPr lang="en-GB" sz="2400" dirty="0" err="1"/>
              <a:t>teemade</a:t>
            </a:r>
            <a:r>
              <a:rPr lang="en-GB" sz="2400" dirty="0"/>
              <a:t> </a:t>
            </a:r>
            <a:r>
              <a:rPr lang="en-GB" sz="2400" dirty="0" err="1"/>
              <a:t>kinnitamine</a:t>
            </a:r>
            <a:r>
              <a:rPr lang="en-GB" sz="2400" dirty="0"/>
              <a:t> + </a:t>
            </a:r>
            <a:r>
              <a:rPr lang="en-GB" sz="2400" dirty="0" err="1"/>
              <a:t>versioonihaldus</a:t>
            </a:r>
            <a:endParaRPr lang="en-GB" sz="2400" dirty="0"/>
          </a:p>
          <a:p>
            <a:r>
              <a:rPr lang="en-GB" sz="2400" dirty="0" err="1"/>
              <a:t>Teemade</a:t>
            </a:r>
            <a:r>
              <a:rPr lang="en-GB" sz="2400" dirty="0"/>
              <a:t> </a:t>
            </a:r>
            <a:r>
              <a:rPr lang="en-GB" sz="2400" dirty="0" err="1"/>
              <a:t>valiku</a:t>
            </a:r>
            <a:r>
              <a:rPr lang="en-GB" sz="2400" dirty="0"/>
              <a:t> </a:t>
            </a:r>
            <a:r>
              <a:rPr lang="en-GB" sz="2400" dirty="0" err="1"/>
              <a:t>hetkeseis</a:t>
            </a:r>
            <a:r>
              <a:rPr lang="en-GB" sz="2400" dirty="0"/>
              <a:t> https://docs.google.com/spreadsheets/d/1Fo_JCYD6QcJonDrOs0N8GbhpR_Cb7ZKq/edit?usp=sharing&amp;ouid=118113473030919100152&amp;rtpof=true&amp;sd=true</a:t>
            </a:r>
          </a:p>
          <a:p>
            <a:pPr lvl="0"/>
            <a:r>
              <a:rPr lang="en-GB" sz="2400" dirty="0" err="1"/>
              <a:t>Suhtlemine</a:t>
            </a:r>
            <a:r>
              <a:rPr lang="en-GB" sz="2400" dirty="0"/>
              <a:t> </a:t>
            </a:r>
            <a:r>
              <a:rPr lang="en-GB" sz="2400" dirty="0" err="1"/>
              <a:t>teemade</a:t>
            </a:r>
            <a:r>
              <a:rPr lang="en-GB" sz="2400" dirty="0"/>
              <a:t> </a:t>
            </a:r>
            <a:r>
              <a:rPr lang="en-GB" sz="2400" dirty="0" err="1"/>
              <a:t>kontaktisikutega</a:t>
            </a:r>
            <a:endParaRPr lang="en-GB" sz="2400" dirty="0"/>
          </a:p>
          <a:p>
            <a:pPr lvl="0"/>
            <a:r>
              <a:rPr lang="en-GB" sz="2400" dirty="0" err="1"/>
              <a:t>Lõputöö</a:t>
            </a:r>
            <a:r>
              <a:rPr lang="en-GB" sz="2400" dirty="0"/>
              <a:t> </a:t>
            </a:r>
            <a:r>
              <a:rPr lang="en-GB" sz="2400" dirty="0" err="1"/>
              <a:t>osad</a:t>
            </a:r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86623795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4474</Words>
  <Application>Microsoft Office PowerPoint</Application>
  <PresentationFormat>Widescreen</PresentationFormat>
  <Paragraphs>557</Paragraphs>
  <Slides>30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Inter Bold</vt:lpstr>
      <vt:lpstr>Arial</vt:lpstr>
      <vt:lpstr>Calibri</vt:lpstr>
      <vt:lpstr>Inter</vt:lpstr>
      <vt:lpstr>BCS</vt:lpstr>
      <vt:lpstr>Päevakava - 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Kokkuvõtted, tagasiside, plaanid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177</cp:revision>
  <dcterms:created xsi:type="dcterms:W3CDTF">2021-08-27T11:35:28Z</dcterms:created>
  <dcterms:modified xsi:type="dcterms:W3CDTF">2026-09-11T12:07:57Z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