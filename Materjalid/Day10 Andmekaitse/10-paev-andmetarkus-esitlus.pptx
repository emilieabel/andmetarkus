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35"/>
  </p:notesMasterIdLst>
  <p:handoutMasterIdLst>
    <p:handoutMasterId r:id="rId36"/>
  </p:handoutMasterIdLst>
  <p:sldIdLst>
    <p:sldId id="417" r:id="rId5"/>
    <p:sldId id="493" r:id="rId6"/>
    <p:sldId id="439" r:id="rId7"/>
    <p:sldId id="642" r:id="rId8"/>
    <p:sldId id="646" r:id="rId9"/>
    <p:sldId id="440" r:id="rId10"/>
    <p:sldId id="501" r:id="rId11"/>
    <p:sldId id="575" r:id="rId12"/>
    <p:sldId id="504" r:id="rId13"/>
    <p:sldId id="576" r:id="rId14"/>
    <p:sldId id="666" r:id="rId15"/>
    <p:sldId id="441" r:id="rId16"/>
    <p:sldId id="566" r:id="rId17"/>
    <p:sldId id="614" r:id="rId18"/>
    <p:sldId id="615" r:id="rId19"/>
    <p:sldId id="616" r:id="rId20"/>
    <p:sldId id="617" r:id="rId21"/>
    <p:sldId id="618" r:id="rId22"/>
    <p:sldId id="569" r:id="rId23"/>
    <p:sldId id="577" r:id="rId24"/>
    <p:sldId id="668" r:id="rId25"/>
    <p:sldId id="568" r:id="rId26"/>
    <p:sldId id="647" r:id="rId27"/>
    <p:sldId id="649" r:id="rId28"/>
    <p:sldId id="651" r:id="rId29"/>
    <p:sldId id="667" r:id="rId30"/>
    <p:sldId id="574" r:id="rId31"/>
    <p:sldId id="645" r:id="rId32"/>
    <p:sldId id="538" r:id="rId33"/>
    <p:sldId id="650" r:id="rId34"/>
  </p:sldIdLst>
  <p:sldSz cx="12192000" cy="6858000"/>
  <p:notesSz cx="6858000" cy="9144000"/>
  <p:embeddedFontLst>
    <p:embeddedFont>
      <p:font typeface="Inter" panose="020B0604020202020204" charset="0"/>
      <p:regular r:id="rId37"/>
      <p:bold r:id="rId38"/>
      <p:italic r:id="rId39"/>
      <p:boldItalic r:id="rId40"/>
    </p:embeddedFont>
    <p:embeddedFont>
      <p:font typeface="Inter Bold" panose="020B0604020202020204" charset="0"/>
      <p:bold r:id="rId41"/>
    </p:embeddedFont>
    <p:embeddedFont>
      <p:font typeface="Noto Serif" panose="02020600060500020200" pitchFamily="18" charset="0"/>
      <p:regular r:id="rId42"/>
      <p:bold r:id="rId43"/>
      <p:italic r:id="rId44"/>
      <p:boldItalic r:id="rId45"/>
    </p:embeddedFont>
    <p:embeddedFont>
      <p:font typeface="Poppins SemiBold" panose="00000700000000000000" pitchFamily="2" charset="-70"/>
      <p:bold r:id="rId46"/>
      <p:boldItalic r:id="rId47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898" y="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3.fntdata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font" Target="fonts/font6.fntdata"/><Relationship Id="rId47" Type="http://schemas.openxmlformats.org/officeDocument/2006/relationships/font" Target="fonts/font11.fntdata"/><Relationship Id="rId50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font" Target="fonts/font9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49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8.fntdata"/><Relationship Id="rId52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43" Type="http://schemas.openxmlformats.org/officeDocument/2006/relationships/font" Target="fonts/font7.fntdata"/><Relationship Id="rId48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font" Target="fonts/font2.fntdata"/><Relationship Id="rId46" Type="http://schemas.openxmlformats.org/officeDocument/2006/relationships/font" Target="fonts/font10.fntdata"/><Relationship Id="rId20" Type="http://schemas.openxmlformats.org/officeDocument/2006/relationships/slide" Target="slides/slide16.xml"/><Relationship Id="rId41" Type="http://schemas.openxmlformats.org/officeDocument/2006/relationships/font" Target="fonts/font5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11:52:31.307" v="26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11:52:31.307" v="26" actId="20577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11:52:31.307" v="26" actId="20577"/>
          <ac:spMkLst>
            <pc:docMk/>
            <pc:sldMk cId="4169291970" sldId="417"/>
            <ac:spMk id="5" creationId="{3496B8E7-2B01-285F-88ED-B3ADE66A3D31}"/>
          </ac:spMkLst>
        </pc:spChg>
        <pc:picChg chg="del">
          <ac:chgData name="Emilie Abel" userId="20dec598-1860-40de-ab3f-181316cc4da6" providerId="ADAL" clId="{3EAE1975-14BE-41D5-9E3B-28573F0EE5DC}" dt="2026-08-18T11:52:20.198" v="0" actId="478"/>
          <ac:picMkLst>
            <pc:docMk/>
            <pc:sldMk cId="4169291970" sldId="417"/>
            <ac:picMk id="3" creationId="{59426EB3-96A0-6F7B-BD8A-B89C052D49B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28.08.2026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ki.ee/isikuandmed/juhendid/oigustatud-huvi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aki.ee/isikuandmed/andmetootlejale/tootlemise-oiguslikud-alused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aki.ee/isikuandmed/andmetootlejale/tootlemise-oiguslikud-alused" TargetMode="Externa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Kes on </a:t>
            </a:r>
            <a:r>
              <a:rPr lang="en-US" err="1">
                <a:ea typeface="Calibri"/>
                <a:cs typeface="Calibri"/>
              </a:rPr>
              <a:t>andmesubjekt</a:t>
            </a:r>
            <a:r>
              <a:rPr lang="en-US">
                <a:ea typeface="Calibri"/>
                <a:cs typeface="Calibri"/>
              </a:rPr>
              <a:t>?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Isikuandmete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kaitse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seadus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reguleerib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lisaks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IKÜMile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Viktoriin</a:t>
            </a:r>
            <a:r>
              <a:rPr lang="en-US">
                <a:ea typeface="Calibri"/>
                <a:cs typeface="Calibri"/>
              </a:rPr>
              <a:t> – kas on </a:t>
            </a:r>
            <a:r>
              <a:rPr lang="en-US" err="1">
                <a:ea typeface="Calibri"/>
                <a:cs typeface="Calibri"/>
              </a:rPr>
              <a:t>isikuandmed</a:t>
            </a:r>
            <a:r>
              <a:rPr lang="en-US">
                <a:ea typeface="Calibri"/>
                <a:cs typeface="Calibri"/>
              </a:rPr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5742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4F0E9-07AE-0CD2-A825-3600D7BB8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C5C036-60BB-2163-3CFE-ED5F6A5BE5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312E31-CE65-64FA-8E2C-25D81D30B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NÕUSOLEK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Inimene</a:t>
            </a:r>
            <a:r>
              <a:rPr lang="en-US"/>
              <a:t> on </a:t>
            </a:r>
            <a:r>
              <a:rPr lang="en-US" err="1"/>
              <a:t>andnud</a:t>
            </a:r>
            <a:r>
              <a:rPr lang="en-US"/>
              <a:t> </a:t>
            </a:r>
            <a:r>
              <a:rPr lang="en-US" err="1"/>
              <a:t>vabatahtliku</a:t>
            </a:r>
            <a:r>
              <a:rPr lang="en-US"/>
              <a:t> </a:t>
            </a:r>
            <a:r>
              <a:rPr lang="en-US" err="1"/>
              <a:t>selgesõnalise</a:t>
            </a:r>
            <a:r>
              <a:rPr lang="en-US"/>
              <a:t> </a:t>
            </a:r>
            <a:r>
              <a:rPr lang="en-US" err="1"/>
              <a:t>nõusoleku</a:t>
            </a:r>
            <a:r>
              <a:rPr lang="en-US"/>
              <a:t> </a:t>
            </a:r>
            <a:r>
              <a:rPr lang="en-US" err="1"/>
              <a:t>toiminguteks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isikuandmetega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LEPINGU TÄITMINE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inimesega</a:t>
            </a:r>
            <a:r>
              <a:rPr lang="en-US"/>
              <a:t> </a:t>
            </a:r>
            <a:r>
              <a:rPr lang="en-US" err="1"/>
              <a:t>sõlmitud</a:t>
            </a:r>
            <a:r>
              <a:rPr lang="en-US"/>
              <a:t> </a:t>
            </a:r>
            <a:r>
              <a:rPr lang="en-US" err="1"/>
              <a:t>lepingu</a:t>
            </a:r>
            <a:r>
              <a:rPr lang="en-US"/>
              <a:t> </a:t>
            </a:r>
            <a:r>
              <a:rPr lang="en-US" err="1"/>
              <a:t>täitmiseks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lepingu</a:t>
            </a:r>
            <a:r>
              <a:rPr lang="en-US"/>
              <a:t> </a:t>
            </a:r>
            <a:r>
              <a:rPr lang="en-US" err="1"/>
              <a:t>sõlmimisele</a:t>
            </a:r>
            <a:r>
              <a:rPr lang="en-US"/>
              <a:t> </a:t>
            </a:r>
            <a:r>
              <a:rPr lang="en-US" err="1"/>
              <a:t>eelnevate</a:t>
            </a:r>
            <a:r>
              <a:rPr lang="en-US"/>
              <a:t> </a:t>
            </a:r>
            <a:r>
              <a:rPr lang="en-US" err="1"/>
              <a:t>meetmete</a:t>
            </a:r>
            <a:r>
              <a:rPr lang="en-US"/>
              <a:t> </a:t>
            </a:r>
            <a:r>
              <a:rPr lang="en-US" err="1"/>
              <a:t>võtmiseks</a:t>
            </a:r>
            <a:r>
              <a:rPr lang="en-US"/>
              <a:t> </a:t>
            </a:r>
            <a:r>
              <a:rPr lang="en-US" err="1"/>
              <a:t>vastavalt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taotlusele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SEADUSEJÄRGSE KOHUSTUSE TÄITMINE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Isikuandmete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on </a:t>
            </a:r>
            <a:r>
              <a:rPr lang="en-US" err="1">
                <a:solidFill>
                  <a:srgbClr val="000000"/>
                </a:solidFill>
              </a:rPr>
              <a:t>vajalik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vastutava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töötleja</a:t>
            </a:r>
            <a:r>
              <a:rPr lang="en-US"/>
              <a:t> </a:t>
            </a:r>
            <a:r>
              <a:rPr lang="en-US" err="1"/>
              <a:t>juriidilise</a:t>
            </a:r>
            <a:r>
              <a:rPr lang="en-US"/>
              <a:t> </a:t>
            </a:r>
            <a:r>
              <a:rPr lang="en-US" err="1"/>
              <a:t>ehk</a:t>
            </a:r>
            <a:r>
              <a:rPr lang="en-US"/>
              <a:t> </a:t>
            </a:r>
            <a:r>
              <a:rPr lang="en-US" err="1"/>
              <a:t>seadusjärgse</a:t>
            </a:r>
            <a:r>
              <a:rPr lang="en-US"/>
              <a:t> </a:t>
            </a:r>
            <a:r>
              <a:rPr lang="en-US" err="1"/>
              <a:t>kohustuse</a:t>
            </a:r>
            <a:r>
              <a:rPr lang="en-US"/>
              <a:t> </a:t>
            </a:r>
            <a:r>
              <a:rPr lang="en-US" err="1"/>
              <a:t>täitmiseks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ELULISTE HUVIDE KAITSMINE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mõne</a:t>
            </a:r>
            <a:r>
              <a:rPr lang="en-US"/>
              <a:t> </a:t>
            </a:r>
            <a:r>
              <a:rPr lang="en-US" err="1"/>
              <a:t>muu</a:t>
            </a:r>
            <a:r>
              <a:rPr lang="en-US"/>
              <a:t> </a:t>
            </a:r>
            <a:r>
              <a:rPr lang="en-US" err="1"/>
              <a:t>füüsilise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eluliste</a:t>
            </a:r>
            <a:r>
              <a:rPr lang="en-US"/>
              <a:t> </a:t>
            </a:r>
            <a:r>
              <a:rPr lang="en-US" err="1"/>
              <a:t>huvide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kaitsmiseks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AVALIKES HUVIDES OLEVA ÜLESANDE TÄITMINE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</a:t>
            </a:r>
            <a:r>
              <a:rPr lang="en-US" err="1"/>
              <a:t>avalikes</a:t>
            </a:r>
            <a:r>
              <a:rPr lang="en-US"/>
              <a:t> </a:t>
            </a:r>
            <a:r>
              <a:rPr lang="en-US" err="1"/>
              <a:t>huvides</a:t>
            </a:r>
            <a:r>
              <a:rPr lang="en-US"/>
              <a:t> </a:t>
            </a:r>
            <a:r>
              <a:rPr lang="en-US" err="1"/>
              <a:t>oleva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ülesande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täitmiseks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vastutava</a:t>
            </a:r>
            <a:r>
              <a:rPr lang="en-US"/>
              <a:t> </a:t>
            </a:r>
            <a:r>
              <a:rPr lang="en-US" err="1"/>
              <a:t>töötleja</a:t>
            </a:r>
            <a:r>
              <a:rPr lang="en-US"/>
              <a:t> </a:t>
            </a:r>
            <a:r>
              <a:rPr lang="en-US" err="1"/>
              <a:t>avaliku</a:t>
            </a:r>
            <a:r>
              <a:rPr lang="en-US"/>
              <a:t> </a:t>
            </a:r>
            <a:r>
              <a:rPr lang="en-US" err="1"/>
              <a:t>võimu</a:t>
            </a:r>
            <a:r>
              <a:rPr lang="en-US"/>
              <a:t> </a:t>
            </a:r>
            <a:r>
              <a:rPr lang="en-US" err="1"/>
              <a:t>teostamiseks</a:t>
            </a:r>
            <a:r>
              <a:rPr lang="en-US"/>
              <a:t> on </a:t>
            </a:r>
            <a:r>
              <a:rPr lang="en-US" err="1"/>
              <a:t>reguleeritud</a:t>
            </a:r>
            <a:r>
              <a:rPr lang="en-US"/>
              <a:t> </a:t>
            </a:r>
            <a:r>
              <a:rPr lang="en-US" err="1"/>
              <a:t>siseriiklikus</a:t>
            </a:r>
            <a:r>
              <a:rPr lang="en-US"/>
              <a:t> </a:t>
            </a:r>
            <a:r>
              <a:rPr lang="en-US" err="1"/>
              <a:t>õiguses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ÕIGUSTATUD HUVI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vastutava</a:t>
            </a:r>
            <a:r>
              <a:rPr lang="en-US"/>
              <a:t> </a:t>
            </a:r>
            <a:r>
              <a:rPr lang="en-US" err="1"/>
              <a:t>töötleja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kolmanda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õigustatud</a:t>
            </a:r>
            <a:r>
              <a:rPr lang="en-US"/>
              <a:t> </a:t>
            </a:r>
            <a:r>
              <a:rPr lang="en-US" err="1"/>
              <a:t>huvi</a:t>
            </a:r>
            <a:r>
              <a:rPr lang="en-US"/>
              <a:t> </a:t>
            </a:r>
            <a:r>
              <a:rPr lang="en-US" err="1"/>
              <a:t>korral</a:t>
            </a:r>
            <a:r>
              <a:rPr lang="en-US"/>
              <a:t> </a:t>
            </a:r>
            <a:r>
              <a:rPr lang="en-US" err="1"/>
              <a:t>ning</a:t>
            </a:r>
            <a:r>
              <a:rPr lang="en-US"/>
              <a:t> </a:t>
            </a:r>
            <a:r>
              <a:rPr lang="en-US" err="1"/>
              <a:t>juhul</a:t>
            </a:r>
            <a:r>
              <a:rPr lang="en-US"/>
              <a:t>, </a:t>
            </a:r>
            <a:r>
              <a:rPr lang="en-US" err="1"/>
              <a:t>kui</a:t>
            </a:r>
            <a:r>
              <a:rPr lang="en-US"/>
              <a:t> see </a:t>
            </a:r>
            <a:r>
              <a:rPr lang="en-US" err="1"/>
              <a:t>kaalub</a:t>
            </a:r>
            <a:r>
              <a:rPr lang="en-US"/>
              <a:t> </a:t>
            </a:r>
            <a:r>
              <a:rPr lang="en-US" err="1"/>
              <a:t>üles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põhiõigused</a:t>
            </a:r>
            <a:r>
              <a:rPr lang="en-US"/>
              <a:t> ja – </a:t>
            </a:r>
            <a:r>
              <a:rPr lang="en-US" err="1"/>
              <a:t>vabadused</a:t>
            </a:r>
            <a:r>
              <a:rPr lang="en-US"/>
              <a:t>. </a:t>
            </a:r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Hinnang</a:t>
            </a:r>
            <a:r>
              <a:rPr lang="en-US"/>
              <a:t>, kas </a:t>
            </a:r>
            <a:r>
              <a:rPr lang="en-US" err="1"/>
              <a:t>Teie</a:t>
            </a:r>
            <a:r>
              <a:rPr lang="en-US"/>
              <a:t> </a:t>
            </a:r>
            <a:r>
              <a:rPr lang="en-US" err="1"/>
              <a:t>õigustatud</a:t>
            </a:r>
            <a:r>
              <a:rPr lang="en-US"/>
              <a:t> </a:t>
            </a:r>
            <a:r>
              <a:rPr lang="en-US" err="1"/>
              <a:t>huvi</a:t>
            </a:r>
            <a:r>
              <a:rPr lang="en-US"/>
              <a:t> </a:t>
            </a:r>
            <a:r>
              <a:rPr lang="en-US" err="1"/>
              <a:t>töödelda</a:t>
            </a:r>
            <a:r>
              <a:rPr lang="en-US"/>
              <a:t> </a:t>
            </a:r>
            <a:r>
              <a:rPr lang="en-US" err="1"/>
              <a:t>kaalub</a:t>
            </a:r>
            <a:r>
              <a:rPr lang="en-US"/>
              <a:t> </a:t>
            </a:r>
            <a:r>
              <a:rPr lang="en-US" err="1"/>
              <a:t>üles</a:t>
            </a:r>
            <a:r>
              <a:rPr lang="en-US"/>
              <a:t> </a:t>
            </a:r>
            <a:r>
              <a:rPr lang="en-US" err="1"/>
              <a:t>teiste</a:t>
            </a:r>
            <a:r>
              <a:rPr lang="en-US"/>
              <a:t> </a:t>
            </a:r>
            <a:r>
              <a:rPr lang="en-US" err="1"/>
              <a:t>inimeste</a:t>
            </a:r>
            <a:r>
              <a:rPr lang="en-US"/>
              <a:t> </a:t>
            </a:r>
            <a:r>
              <a:rPr lang="en-US" err="1"/>
              <a:t>huvid</a:t>
            </a:r>
            <a:r>
              <a:rPr lang="en-US"/>
              <a:t>, </a:t>
            </a:r>
            <a:r>
              <a:rPr lang="en-US" err="1"/>
              <a:t>tuleb</a:t>
            </a:r>
            <a:r>
              <a:rPr lang="en-US"/>
              <a:t> </a:t>
            </a:r>
            <a:r>
              <a:rPr lang="en-US" err="1"/>
              <a:t>anda</a:t>
            </a:r>
            <a:r>
              <a:rPr lang="en-US"/>
              <a:t> </a:t>
            </a:r>
            <a:r>
              <a:rPr lang="en-US" err="1"/>
              <a:t>konkreetse</a:t>
            </a:r>
            <a:r>
              <a:rPr lang="en-US"/>
              <a:t> </a:t>
            </a:r>
            <a:r>
              <a:rPr lang="en-US" err="1"/>
              <a:t>juhtumi</a:t>
            </a:r>
            <a:r>
              <a:rPr lang="en-US"/>
              <a:t> </a:t>
            </a:r>
            <a:r>
              <a:rPr lang="en-US" err="1"/>
              <a:t>asjaolude</a:t>
            </a:r>
            <a:r>
              <a:rPr lang="en-US"/>
              <a:t> </a:t>
            </a:r>
            <a:r>
              <a:rPr lang="en-US" err="1"/>
              <a:t>põhjal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/>
              <a:t>Loe </a:t>
            </a:r>
            <a:r>
              <a:rPr lang="en-US" err="1"/>
              <a:t>täpsemalt</a:t>
            </a:r>
            <a:r>
              <a:rPr lang="en-US"/>
              <a:t> </a:t>
            </a:r>
            <a:r>
              <a:rPr lang="en-US">
                <a:solidFill>
                  <a:srgbClr val="003087"/>
                </a:solidFill>
                <a:hlinkClick r:id="rId3"/>
              </a:rPr>
              <a:t>õigustatud huvist</a:t>
            </a:r>
            <a:r>
              <a:rPr lang="en-US">
                <a:solidFill>
                  <a:srgbClr val="003087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Avaliku</a:t>
            </a:r>
            <a:r>
              <a:rPr lang="en-US"/>
              <a:t> </a:t>
            </a:r>
            <a:r>
              <a:rPr lang="en-US" err="1"/>
              <a:t>sektori</a:t>
            </a:r>
            <a:r>
              <a:rPr lang="en-US"/>
              <a:t> </a:t>
            </a:r>
            <a:r>
              <a:rPr lang="en-US" err="1"/>
              <a:t>asutus</a:t>
            </a:r>
            <a:r>
              <a:rPr lang="en-US"/>
              <a:t> </a:t>
            </a:r>
            <a:r>
              <a:rPr lang="en-US" err="1"/>
              <a:t>ei</a:t>
            </a:r>
            <a:r>
              <a:rPr lang="en-US"/>
              <a:t> </a:t>
            </a:r>
            <a:r>
              <a:rPr lang="en-US" err="1"/>
              <a:t>saa</a:t>
            </a:r>
            <a:r>
              <a:rPr lang="en-US"/>
              <a:t> </a:t>
            </a:r>
            <a:r>
              <a:rPr lang="en-US" err="1"/>
              <a:t>kohaldada</a:t>
            </a:r>
            <a:r>
              <a:rPr lang="en-US"/>
              <a:t> </a:t>
            </a:r>
            <a:r>
              <a:rPr lang="en-US" err="1"/>
              <a:t>õigustatud</a:t>
            </a:r>
            <a:r>
              <a:rPr lang="en-US"/>
              <a:t> </a:t>
            </a:r>
            <a:r>
              <a:rPr lang="en-US" err="1"/>
              <a:t>huvi</a:t>
            </a:r>
            <a:r>
              <a:rPr lang="en-US"/>
              <a:t> </a:t>
            </a:r>
            <a:r>
              <a:rPr lang="en-US" err="1"/>
              <a:t>oma</a:t>
            </a:r>
            <a:r>
              <a:rPr lang="en-US"/>
              <a:t> </a:t>
            </a:r>
            <a:r>
              <a:rPr lang="en-US" err="1"/>
              <a:t>ülesannete</a:t>
            </a:r>
            <a:r>
              <a:rPr lang="en-US"/>
              <a:t> </a:t>
            </a:r>
            <a:r>
              <a:rPr lang="en-US" err="1"/>
              <a:t>täitmisel</a:t>
            </a:r>
            <a:r>
              <a:rPr lang="en-US"/>
              <a:t>.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Allikas: </a:t>
            </a:r>
            <a:r>
              <a:rPr lang="en-US">
                <a:solidFill>
                  <a:srgbClr val="000000"/>
                </a:solidFill>
                <a:ea typeface="Calibri"/>
                <a:cs typeface="Calibri"/>
                <a:hlinkClick r:id="rId4"/>
              </a:rPr>
              <a:t>https://www.aki.ee/isikuandmed/andmetootlejale/tootlemise-oiguslikud-alused</a:t>
            </a:r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F2EAB-5BCF-0D8F-0B27-38749D980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2495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A4FFB-A163-D850-127E-1FB19E27E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2D666A-7D37-B389-7EC2-0440E93095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FCE3DB-E144-59DC-1809-36B9F1D4B8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Isikuandmete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töötlemise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juures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keeld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töödelda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eriliigilisi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isikuandmeid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arvatud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juhtudel</a:t>
            </a:r>
            <a:r>
              <a:rPr lang="en-US">
                <a:ea typeface="Calibri"/>
                <a:cs typeface="Calibri"/>
              </a:rPr>
              <a:t>, mis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artikli</a:t>
            </a:r>
            <a:r>
              <a:rPr lang="en-US">
                <a:ea typeface="Calibri"/>
                <a:cs typeface="Calibri"/>
              </a:rPr>
              <a:t> 9 </a:t>
            </a:r>
            <a:r>
              <a:rPr lang="en-US" err="1">
                <a:ea typeface="Calibri"/>
                <a:cs typeface="Calibri"/>
              </a:rPr>
              <a:t>lõikes</a:t>
            </a:r>
            <a:r>
              <a:rPr lang="en-US">
                <a:ea typeface="Calibri"/>
                <a:cs typeface="Calibri"/>
              </a:rPr>
              <a:t> 2.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E132DF-C727-DFCC-8444-43B4524F6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3004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F575B-0F7E-9547-26BC-5BE121F5D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CE877-3A54-10B0-1B14-D2B9750FB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CC4FC-F266-A1B6-11EF-FB57578C9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  <a:hlinkClick r:id="rId3"/>
              </a:rPr>
              <a:t>Isikuandmete kaitse üldmääruse artikkel 9 lõige 2</a:t>
            </a:r>
            <a:r>
              <a:rPr lang="en-US">
                <a:solidFill>
                  <a:srgbClr val="000000"/>
                </a:solidFill>
              </a:rPr>
              <a:t> </a:t>
            </a:r>
            <a:r>
              <a:rPr lang="en-US" err="1">
                <a:solidFill>
                  <a:srgbClr val="000000"/>
                </a:solidFill>
              </a:rPr>
              <a:t>näeb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eriliigiliste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töötlemise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alustena</a:t>
            </a:r>
            <a:r>
              <a:rPr lang="en-US">
                <a:solidFill>
                  <a:srgbClr val="000000"/>
                </a:solidFill>
              </a:rPr>
              <a:t>: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NÕUSOLEK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Inimene</a:t>
            </a:r>
            <a:r>
              <a:rPr lang="en-US"/>
              <a:t> on </a:t>
            </a:r>
            <a:r>
              <a:rPr lang="en-US" err="1"/>
              <a:t>andnud</a:t>
            </a:r>
            <a:r>
              <a:rPr lang="en-US"/>
              <a:t> </a:t>
            </a:r>
            <a:r>
              <a:rPr lang="en-US" err="1"/>
              <a:t>vabatahtliku</a:t>
            </a:r>
            <a:r>
              <a:rPr lang="en-US"/>
              <a:t> </a:t>
            </a:r>
            <a:r>
              <a:rPr lang="en-US" err="1"/>
              <a:t>selgesõnalise</a:t>
            </a:r>
            <a:r>
              <a:rPr lang="en-US"/>
              <a:t> </a:t>
            </a:r>
            <a:r>
              <a:rPr lang="en-US" err="1"/>
              <a:t>nõusoleku</a:t>
            </a:r>
            <a:r>
              <a:rPr lang="en-US"/>
              <a:t> </a:t>
            </a:r>
            <a:r>
              <a:rPr lang="en-US" err="1"/>
              <a:t>toiminguteks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isikuandmetega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SEADUS VÕI MUU SISERIIKLIK ÕIGUSAKT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Isikuandmeid</a:t>
            </a:r>
            <a:r>
              <a:rPr lang="en-US"/>
              <a:t>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seaduse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mõne</a:t>
            </a:r>
            <a:r>
              <a:rPr lang="en-US"/>
              <a:t> </a:t>
            </a:r>
            <a:r>
              <a:rPr lang="en-US" err="1"/>
              <a:t>muu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õigusakti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ELULISTE HUVIDE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teise</a:t>
            </a:r>
            <a:r>
              <a:rPr lang="en-US"/>
              <a:t> </a:t>
            </a:r>
            <a:r>
              <a:rPr lang="en-US" err="1"/>
              <a:t>füüsilise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eluliste</a:t>
            </a:r>
            <a:r>
              <a:rPr lang="en-US"/>
              <a:t> </a:t>
            </a:r>
            <a:r>
              <a:rPr lang="en-US" err="1"/>
              <a:t>huvide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kaitseks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inimene</a:t>
            </a:r>
            <a:r>
              <a:rPr lang="en-US">
                <a:solidFill>
                  <a:srgbClr val="000000"/>
                </a:solidFill>
              </a:rPr>
              <a:t> on </a:t>
            </a:r>
            <a:r>
              <a:rPr lang="en-US" err="1">
                <a:solidFill>
                  <a:srgbClr val="000000"/>
                </a:solidFill>
              </a:rPr>
              <a:t>füüsiliselt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õiguslikult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võimetu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nõusolekut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andma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ÕIGUSNÕUDE KOOSTAMINE, ESITAMINE VÕI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õigusnõude</a:t>
            </a:r>
            <a:r>
              <a:rPr lang="en-US"/>
              <a:t> </a:t>
            </a:r>
            <a:r>
              <a:rPr lang="en-US" err="1"/>
              <a:t>koostamiseks</a:t>
            </a:r>
            <a:r>
              <a:rPr lang="en-US"/>
              <a:t>, </a:t>
            </a:r>
            <a:r>
              <a:rPr lang="en-US" err="1"/>
              <a:t>esitamiseks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kaitsmiseks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juhul</a:t>
            </a:r>
            <a:r>
              <a:rPr lang="en-US"/>
              <a:t>, </a:t>
            </a:r>
            <a:r>
              <a:rPr lang="en-US" err="1"/>
              <a:t>kui</a:t>
            </a:r>
            <a:r>
              <a:rPr lang="en-US"/>
              <a:t> </a:t>
            </a:r>
            <a:r>
              <a:rPr lang="en-US" err="1"/>
              <a:t>kohtud</a:t>
            </a:r>
            <a:r>
              <a:rPr lang="en-US"/>
              <a:t> </a:t>
            </a:r>
            <a:r>
              <a:rPr lang="en-US" err="1"/>
              <a:t>täidavad</a:t>
            </a:r>
            <a:r>
              <a:rPr lang="en-US"/>
              <a:t> </a:t>
            </a:r>
            <a:r>
              <a:rPr lang="en-US" err="1"/>
              <a:t>oma</a:t>
            </a:r>
            <a:r>
              <a:rPr lang="en-US"/>
              <a:t> </a:t>
            </a:r>
            <a:r>
              <a:rPr lang="en-US" err="1"/>
              <a:t>õigust</a:t>
            </a:r>
            <a:r>
              <a:rPr lang="en-US"/>
              <a:t> </a:t>
            </a:r>
            <a:r>
              <a:rPr lang="en-US" err="1"/>
              <a:t>mõistvat</a:t>
            </a:r>
            <a:r>
              <a:rPr lang="en-US"/>
              <a:t> </a:t>
            </a:r>
            <a:r>
              <a:rPr lang="en-US" err="1"/>
              <a:t>funktsiooni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ANDMESUBJEKT ON ISIKUANDMED ILMSELGELT AVALIKUSTANUD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isikuandmeid</a:t>
            </a:r>
            <a:r>
              <a:rPr lang="en-US"/>
              <a:t>, </a:t>
            </a:r>
            <a:r>
              <a:rPr lang="en-US" err="1"/>
              <a:t>mille</a:t>
            </a:r>
            <a:r>
              <a:rPr lang="en-US"/>
              <a:t> </a:t>
            </a:r>
            <a:r>
              <a:rPr lang="en-US" err="1"/>
              <a:t>andmesubjekt</a:t>
            </a:r>
            <a:r>
              <a:rPr lang="en-US"/>
              <a:t> on </a:t>
            </a:r>
            <a:r>
              <a:rPr lang="en-US" err="1"/>
              <a:t>ilmselgelt</a:t>
            </a:r>
            <a:r>
              <a:rPr lang="en-US"/>
              <a:t> </a:t>
            </a:r>
            <a:r>
              <a:rPr lang="en-US" err="1"/>
              <a:t>avalikustanud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AVALIKES HUVIDES TÖÖTLEMINE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võimalik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õiguse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 ja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avalikes</a:t>
            </a:r>
            <a:r>
              <a:rPr lang="en-US"/>
              <a:t> </a:t>
            </a:r>
            <a:r>
              <a:rPr lang="en-US" err="1"/>
              <a:t>huvides</a:t>
            </a:r>
            <a:r>
              <a:rPr lang="en-US"/>
              <a:t> </a:t>
            </a:r>
            <a:r>
              <a:rPr lang="en-US" err="1"/>
              <a:t>ning</a:t>
            </a:r>
            <a:r>
              <a:rPr lang="en-US"/>
              <a:t> see </a:t>
            </a:r>
            <a:r>
              <a:rPr lang="en-US" err="1"/>
              <a:t>ei</a:t>
            </a:r>
            <a:r>
              <a:rPr lang="en-US"/>
              <a:t> </a:t>
            </a:r>
            <a:r>
              <a:rPr lang="en-US" err="1"/>
              <a:t>kahjusta</a:t>
            </a:r>
            <a:r>
              <a:rPr lang="en-US"/>
              <a:t> </a:t>
            </a:r>
            <a:r>
              <a:rPr lang="en-US" err="1"/>
              <a:t>ülemäära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 </a:t>
            </a:r>
            <a:r>
              <a:rPr lang="en-US" err="1"/>
              <a:t>õigusi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ÕIGUSPÄRASE TEGEVUSE RAAMES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Teatud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isikuandmeid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milleks</a:t>
            </a:r>
            <a:r>
              <a:rPr lang="en-US">
                <a:solidFill>
                  <a:srgbClr val="000000"/>
                </a:solidFill>
              </a:rPr>
              <a:t> on </a:t>
            </a:r>
            <a:r>
              <a:rPr lang="en-US" err="1">
                <a:solidFill>
                  <a:srgbClr val="000000"/>
                </a:solidFill>
              </a:rPr>
              <a:t>filosoofiliste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religioossete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ametiühinguliste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sihtasutuste</a:t>
            </a:r>
            <a:r>
              <a:rPr lang="en-US"/>
              <a:t>, </a:t>
            </a:r>
            <a:r>
              <a:rPr lang="en-US" err="1"/>
              <a:t>ühenduste</a:t>
            </a:r>
            <a:r>
              <a:rPr lang="en-US"/>
              <a:t> ja MTÜ-de </a:t>
            </a:r>
            <a:r>
              <a:rPr lang="en-US" err="1"/>
              <a:t>liikmelisusega</a:t>
            </a:r>
            <a:r>
              <a:rPr lang="en-US"/>
              <a:t> </a:t>
            </a:r>
            <a:r>
              <a:rPr lang="en-US" err="1"/>
              <a:t>soetud</a:t>
            </a:r>
            <a:r>
              <a:rPr lang="en-US"/>
              <a:t> </a:t>
            </a:r>
            <a:r>
              <a:rPr lang="en-US" err="1"/>
              <a:t>andmed</a:t>
            </a:r>
            <a:r>
              <a:rPr lang="en-US"/>
              <a:t>,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õiguspärase</a:t>
            </a:r>
            <a:r>
              <a:rPr lang="en-US"/>
              <a:t> </a:t>
            </a:r>
            <a:r>
              <a:rPr lang="en-US" err="1"/>
              <a:t>tegevuse</a:t>
            </a:r>
            <a:r>
              <a:rPr lang="en-US"/>
              <a:t> </a:t>
            </a:r>
            <a:r>
              <a:rPr lang="en-US" err="1"/>
              <a:t>raames</a:t>
            </a:r>
            <a:r>
              <a:rPr lang="en-US"/>
              <a:t> ja </a:t>
            </a:r>
            <a:r>
              <a:rPr lang="en-US" err="1"/>
              <a:t>vajalikke</a:t>
            </a:r>
            <a:r>
              <a:rPr lang="en-US"/>
              <a:t> </a:t>
            </a:r>
            <a:r>
              <a:rPr lang="en-US" err="1"/>
              <a:t>kaitsemeetmeid</a:t>
            </a:r>
            <a:r>
              <a:rPr lang="en-US"/>
              <a:t> </a:t>
            </a:r>
            <a:r>
              <a:rPr lang="en-US" err="1"/>
              <a:t>rakendades</a:t>
            </a:r>
            <a:r>
              <a:rPr lang="en-US"/>
              <a:t>.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laiene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avalikustamisele</a:t>
            </a:r>
            <a:r>
              <a:rPr lang="en-US"/>
              <a:t> </a:t>
            </a:r>
            <a:r>
              <a:rPr lang="en-US" err="1"/>
              <a:t>ilma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nõusolekuta</a:t>
            </a:r>
            <a:r>
              <a:rPr lang="en-US">
                <a:solidFill>
                  <a:srgbClr val="000000"/>
                </a:solidFill>
              </a:rPr>
              <a:t>.</a:t>
            </a:r>
            <a:r>
              <a:rPr lang="en-US"/>
              <a:t> 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Reeglina</a:t>
            </a:r>
            <a:r>
              <a:rPr lang="en-US"/>
              <a:t> on </a:t>
            </a:r>
            <a:r>
              <a:rPr lang="en-US" err="1"/>
              <a:t>eriliigiliste</a:t>
            </a:r>
            <a:r>
              <a:rPr lang="en-US"/>
              <a:t> </a:t>
            </a: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keelatud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välja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arvatud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juhul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esineb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mõni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ülaltoodud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õiguslikest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alustest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0000"/>
                </a:solidFill>
              </a:rPr>
              <a:t>Allikas: </a:t>
            </a:r>
            <a:r>
              <a:rPr lang="en-US">
                <a:hlinkClick r:id="rId4"/>
              </a:rPr>
              <a:t>https://www.aki.ee/isikuandmed/andmetootlejale/tootlemise-oiguslikud-alused</a:t>
            </a:r>
            <a:r>
              <a:rPr lang="en-US">
                <a:solidFill>
                  <a:srgbClr val="000000"/>
                </a:solidFill>
              </a:rPr>
              <a:t> </a:t>
            </a: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3087"/>
              </a:solidFill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7F59C-9202-A949-3CB9-5E272F48B1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2051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24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106780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25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61615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DA34C-149A-57A8-DCCE-482263E20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12C817-AC27-CA90-93C2-204C3230E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FC1774-130A-2B62-BCFA-16A9E5D066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Milleks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vajalik</a:t>
            </a:r>
            <a:r>
              <a:rPr lang="en-US">
                <a:ea typeface="Calibri"/>
                <a:cs typeface="Calibri"/>
              </a:rPr>
              <a:t>? - Nii </a:t>
            </a:r>
            <a:r>
              <a:rPr lang="en-US" err="1">
                <a:ea typeface="Calibri"/>
                <a:cs typeface="Calibri"/>
              </a:rPr>
              <a:t>enda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kui</a:t>
            </a:r>
            <a:r>
              <a:rPr lang="en-US">
                <a:ea typeface="Calibri"/>
                <a:cs typeface="Calibri"/>
              </a:rPr>
              <a:t> ka </a:t>
            </a:r>
            <a:r>
              <a:rPr lang="en-US" err="1">
                <a:ea typeface="Calibri"/>
                <a:cs typeface="Calibri"/>
              </a:rPr>
              <a:t>kolleegide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jaoks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kirjeldamine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teada</a:t>
            </a:r>
            <a:r>
              <a:rPr lang="en-US">
                <a:ea typeface="Calibri"/>
                <a:cs typeface="Calibri"/>
              </a:rPr>
              <a:t>, et </a:t>
            </a:r>
            <a:r>
              <a:rPr lang="en-US" err="1">
                <a:ea typeface="Calibri"/>
                <a:cs typeface="Calibri"/>
              </a:rPr>
              <a:t>miks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kuidas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mingeid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otsuseid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muutusi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tehtud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2428F6-B692-59EB-721A-51F223C670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6132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28.08.2026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dprinfo.eu/et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www.riigiteataja.ee/akt/104012019011?leiaKehtiv" TargetMode="External"/><Relationship Id="rId4" Type="http://schemas.openxmlformats.org/officeDocument/2006/relationships/hyperlink" Target="https://www.edpb.europa.eu/sme-data-protection-guide/faq-frequently-asked-questions_en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6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ki.ee/sites/default/files/dokumendid/isikuandmete_tootleja_uldjuhend.pdf" TargetMode="External"/><Relationship Id="rId2" Type="http://schemas.openxmlformats.org/officeDocument/2006/relationships/hyperlink" Target="https://www.aki.ee/kiirelt-katte/andmekaitse-abc" TargetMode="Externa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F6-AAC1-0083-5987-8FA2D7C85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10058-A289-F9F8-2CC8-43BAABEC6F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X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BF1AB3B-1697-834A-B482-18B1385C686D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633252050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Andmekaitse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põhimõtted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Andmekaitse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organisatsioonikultuurina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15:15 – Koolitus – </a:t>
                      </a:r>
                      <a:r>
                        <a:rPr lang="et-EE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Versioonihaldus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15:15 – 15:30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15:30 – 16:30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projektidega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alustamine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5419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228FF-8F2E-5210-1E51-C5B71DFE1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D2EE0-DAF0-D014-1B9C-E5A2B2D517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Andmekaitse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90F2F-9A95-2356-2F41-6D1F85E5FA2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</a:rPr>
              <a:t>Andmesubjekt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peab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teadma</a:t>
            </a:r>
            <a:r>
              <a:rPr lang="en-US" sz="2000" dirty="0">
                <a:ea typeface="Inter"/>
                <a:cs typeface="Arial"/>
              </a:rPr>
              <a:t>, mis </a:t>
            </a:r>
            <a:r>
              <a:rPr lang="en-US" sz="2000" dirty="0" err="1">
                <a:ea typeface="Inter"/>
                <a:cs typeface="Arial"/>
              </a:rPr>
              <a:t>andmeid</a:t>
            </a:r>
            <a:r>
              <a:rPr lang="en-US" sz="2000" dirty="0">
                <a:ea typeface="Inter"/>
                <a:cs typeface="Arial"/>
              </a:rPr>
              <a:t>, mis </a:t>
            </a:r>
            <a:r>
              <a:rPr lang="en-US" sz="2000" dirty="0" err="1">
                <a:ea typeface="Inter"/>
                <a:cs typeface="Arial"/>
              </a:rPr>
              <a:t>eesmärgiga</a:t>
            </a:r>
            <a:r>
              <a:rPr lang="en-US" sz="2000" dirty="0">
                <a:ea typeface="Inter"/>
                <a:cs typeface="Arial"/>
              </a:rPr>
              <a:t> ja </a:t>
            </a:r>
            <a:r>
              <a:rPr lang="en-US" sz="2000" dirty="0" err="1">
                <a:ea typeface="Inter"/>
                <a:cs typeface="Arial"/>
              </a:rPr>
              <a:t>kui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kaua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kogutakse</a:t>
            </a:r>
            <a:r>
              <a:rPr lang="en-US" sz="2000" dirty="0">
                <a:ea typeface="Inter"/>
                <a:cs typeface="Arial"/>
              </a:rPr>
              <a:t>, </a:t>
            </a:r>
            <a:r>
              <a:rPr lang="en-US" sz="2000" dirty="0" err="1">
                <a:ea typeface="Inter"/>
                <a:cs typeface="Arial"/>
              </a:rPr>
              <a:t>töödeldakse</a:t>
            </a:r>
            <a:r>
              <a:rPr lang="en-US" sz="2000" dirty="0">
                <a:ea typeface="Inter"/>
                <a:cs typeface="Arial"/>
              </a:rPr>
              <a:t> (</a:t>
            </a:r>
            <a:r>
              <a:rPr lang="en-US" sz="2000" dirty="0" err="1">
                <a:ea typeface="Inter"/>
                <a:cs typeface="Arial"/>
              </a:rPr>
              <a:t>sh</a:t>
            </a:r>
            <a:r>
              <a:rPr lang="en-US" sz="2000" dirty="0">
                <a:ea typeface="Inter"/>
                <a:cs typeface="Arial"/>
              </a:rPr>
              <a:t> </a:t>
            </a:r>
            <a:r>
              <a:rPr lang="en-US" sz="2000" dirty="0" err="1">
                <a:ea typeface="Inter"/>
                <a:cs typeface="Arial"/>
              </a:rPr>
              <a:t>vaadatakse</a:t>
            </a:r>
            <a:r>
              <a:rPr lang="en-US" sz="2000" dirty="0">
                <a:ea typeface="Inter"/>
                <a:cs typeface="Arial"/>
              </a:rPr>
              <a:t>) ja </a:t>
            </a:r>
            <a:r>
              <a:rPr lang="en-US" sz="2000" dirty="0" err="1">
                <a:ea typeface="Inter"/>
                <a:cs typeface="Arial"/>
              </a:rPr>
              <a:t>hoiustatakse</a:t>
            </a:r>
            <a:r>
              <a:rPr lang="en-US" sz="2000" dirty="0">
                <a:ea typeface="Inter"/>
                <a:cs typeface="Arial"/>
              </a:rPr>
              <a:t>.</a:t>
            </a:r>
            <a:endParaRPr lang="en-US" sz="200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  <a:cs typeface="Arial"/>
              </a:rPr>
              <a:t>Andmesubjekt</a:t>
            </a:r>
            <a:r>
              <a:rPr lang="en-US" sz="2000" dirty="0">
                <a:ea typeface="Inter"/>
                <a:cs typeface="Arial"/>
              </a:rPr>
              <a:t> - </a:t>
            </a:r>
            <a:r>
              <a:rPr lang="en-US" sz="2000" dirty="0" err="1">
                <a:ea typeface="Inter"/>
                <a:cs typeface="Arial"/>
              </a:rPr>
              <a:t>füüsiline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isik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ehk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inimene</a:t>
            </a:r>
            <a:r>
              <a:rPr lang="en-US" sz="2000" dirty="0">
                <a:ea typeface="Inter"/>
                <a:cs typeface="Arial"/>
              </a:rPr>
              <a:t>, </a:t>
            </a:r>
            <a:r>
              <a:rPr lang="en-US" sz="2000" dirty="0" err="1">
                <a:ea typeface="Inter"/>
                <a:cs typeface="Arial"/>
              </a:rPr>
              <a:t>kelle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andmeid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töödeldakse</a:t>
            </a:r>
            <a:r>
              <a:rPr lang="en-US" sz="2000" dirty="0">
                <a:ea typeface="Inter"/>
                <a:cs typeface="Arial"/>
              </a:rPr>
              <a:t>.</a:t>
            </a:r>
            <a:endParaRPr lang="en-US" sz="2000" dirty="0">
              <a:solidFill>
                <a:srgbClr val="121212"/>
              </a:solidFill>
              <a:latin typeface="Inter"/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  <a:hlinkClick r:id="rId3"/>
              </a:rPr>
              <a:t>Isikuandmete</a:t>
            </a:r>
            <a:r>
              <a:rPr lang="en-US" sz="2000" dirty="0">
                <a:ea typeface="Inter"/>
                <a:cs typeface="Arial"/>
                <a:hlinkClick r:id="rId3"/>
              </a:rPr>
              <a:t> </a:t>
            </a:r>
            <a:r>
              <a:rPr lang="en-US" sz="2000" dirty="0" err="1">
                <a:ea typeface="Inter"/>
                <a:cs typeface="Arial"/>
                <a:hlinkClick r:id="rId3"/>
              </a:rPr>
              <a:t>üldkaitse</a:t>
            </a:r>
            <a:r>
              <a:rPr lang="en-US" sz="2000" dirty="0">
                <a:ea typeface="Inter"/>
                <a:cs typeface="Arial"/>
                <a:hlinkClick r:id="rId3"/>
              </a:rPr>
              <a:t> </a:t>
            </a:r>
            <a:r>
              <a:rPr lang="en-US" sz="2000" dirty="0" err="1">
                <a:ea typeface="Inter"/>
                <a:cs typeface="Arial"/>
                <a:hlinkClick r:id="rId3"/>
              </a:rPr>
              <a:t>määrus</a:t>
            </a:r>
            <a:r>
              <a:rPr lang="en-US" sz="2000" dirty="0">
                <a:ea typeface="Inter"/>
                <a:cs typeface="Arial"/>
                <a:hlinkClick r:id="rId3"/>
              </a:rPr>
              <a:t> (IKÜM)</a:t>
            </a:r>
            <a:endParaRPr lang="en-US" sz="2000" dirty="0">
              <a:ea typeface="Inter"/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  <a:cs typeface="Arial"/>
              </a:rPr>
              <a:t>Euroopa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Liidu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määrus</a:t>
            </a:r>
            <a:r>
              <a:rPr lang="en-US" sz="2000" dirty="0">
                <a:ea typeface="Inter"/>
                <a:cs typeface="Arial"/>
              </a:rPr>
              <a:t>, </a:t>
            </a:r>
            <a:r>
              <a:rPr lang="en-US" sz="2000" dirty="0" err="1">
                <a:ea typeface="Inter"/>
                <a:cs typeface="Arial"/>
              </a:rPr>
              <a:t>mida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kohaldatakse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Eestis</a:t>
            </a:r>
            <a:r>
              <a:rPr lang="en-US" sz="2000" dirty="0">
                <a:ea typeface="Inter"/>
                <a:cs typeface="Arial"/>
              </a:rPr>
              <a:t> 2018. </a:t>
            </a:r>
            <a:r>
              <a:rPr lang="en-US" sz="2000" dirty="0" err="1">
                <a:ea typeface="Inter"/>
                <a:cs typeface="Arial"/>
              </a:rPr>
              <a:t>aastast</a:t>
            </a:r>
            <a:endParaRPr lang="en-US" sz="2000" dirty="0"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  <a:cs typeface="Arial"/>
              </a:rPr>
              <a:t>Isikuandmed</a:t>
            </a:r>
            <a:r>
              <a:rPr lang="en-US" sz="2000" dirty="0">
                <a:ea typeface="Inter"/>
                <a:cs typeface="Arial"/>
              </a:rPr>
              <a:t> – </a:t>
            </a:r>
            <a:r>
              <a:rPr lang="en-US" sz="2000" dirty="0" err="1">
                <a:ea typeface="Inter"/>
                <a:cs typeface="Arial"/>
              </a:rPr>
              <a:t>andmed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b="1" dirty="0" err="1">
                <a:ea typeface="Inter"/>
                <a:cs typeface="Arial"/>
              </a:rPr>
              <a:t>füüsilise</a:t>
            </a:r>
            <a:r>
              <a:rPr lang="en-US" sz="2000" b="1" dirty="0">
                <a:ea typeface="Inter"/>
                <a:cs typeface="Arial"/>
              </a:rPr>
              <a:t> </a:t>
            </a:r>
            <a:r>
              <a:rPr lang="en-US" sz="2000" b="1" dirty="0" err="1">
                <a:ea typeface="Inter"/>
                <a:cs typeface="Arial"/>
              </a:rPr>
              <a:t>isiku</a:t>
            </a:r>
            <a:r>
              <a:rPr lang="en-US" sz="2000" b="1" dirty="0">
                <a:ea typeface="Inter"/>
                <a:cs typeface="Arial"/>
              </a:rPr>
              <a:t> </a:t>
            </a:r>
            <a:r>
              <a:rPr lang="en-US" sz="2000" b="1" dirty="0" err="1">
                <a:ea typeface="Inter"/>
                <a:cs typeface="Arial"/>
              </a:rPr>
              <a:t>kohta</a:t>
            </a:r>
            <a:r>
              <a:rPr lang="en-US" sz="2000" dirty="0">
                <a:ea typeface="Inter"/>
                <a:cs typeface="Arial"/>
              </a:rPr>
              <a:t>, </a:t>
            </a:r>
            <a:r>
              <a:rPr lang="en-US" sz="2000" dirty="0" err="1">
                <a:ea typeface="Inter"/>
                <a:cs typeface="Arial"/>
              </a:rPr>
              <a:t>mille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abil</a:t>
            </a:r>
            <a:r>
              <a:rPr lang="en-US" sz="2000" dirty="0">
                <a:ea typeface="Inter"/>
                <a:cs typeface="Arial"/>
              </a:rPr>
              <a:t> on </a:t>
            </a:r>
            <a:r>
              <a:rPr lang="en-US" sz="2000" dirty="0" err="1">
                <a:ea typeface="Inter"/>
                <a:cs typeface="Arial"/>
              </a:rPr>
              <a:t>isikut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otseselt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või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kaudselt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võimalik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tuvastada</a:t>
            </a:r>
            <a:endParaRPr lang="en-US" sz="2000" dirty="0">
              <a:ea typeface="Inter"/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dirty="0" err="1">
                <a:ea typeface="Inter"/>
                <a:cs typeface="Arial"/>
              </a:rPr>
              <a:t>Lisainfo</a:t>
            </a:r>
            <a:r>
              <a:rPr lang="en-US" dirty="0">
                <a:ea typeface="Inter"/>
                <a:cs typeface="Arial"/>
              </a:rPr>
              <a:t>: </a:t>
            </a:r>
            <a:r>
              <a:rPr lang="en-US" dirty="0">
                <a:ea typeface="Inter"/>
                <a:cs typeface="Arial"/>
                <a:hlinkClick r:id="rId4"/>
              </a:rPr>
              <a:t>https://www.edpb.europa.eu/sme-data-protection-guide/faq-frequently-asked-questions_en</a:t>
            </a:r>
            <a:r>
              <a:rPr lang="en-US" dirty="0">
                <a:ea typeface="Inter"/>
                <a:cs typeface="Arial"/>
              </a:rPr>
              <a:t> </a:t>
            </a:r>
            <a:endParaRPr lang="en-US" dirty="0">
              <a:cs typeface="Arial"/>
            </a:endParaRPr>
          </a:p>
          <a:p>
            <a:pPr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  <a:hlinkClick r:id="rId5"/>
              </a:rPr>
              <a:t>Isikuandmete</a:t>
            </a:r>
            <a:r>
              <a:rPr lang="en-US" sz="2000" dirty="0">
                <a:ea typeface="Inter"/>
                <a:cs typeface="Arial"/>
                <a:hlinkClick r:id="rId5"/>
              </a:rPr>
              <a:t> </a:t>
            </a:r>
            <a:r>
              <a:rPr lang="en-US" sz="2000" dirty="0" err="1">
                <a:ea typeface="Inter"/>
                <a:cs typeface="Arial"/>
                <a:hlinkClick r:id="rId5"/>
              </a:rPr>
              <a:t>kaitse</a:t>
            </a:r>
            <a:r>
              <a:rPr lang="en-US" sz="2000" dirty="0">
                <a:ea typeface="Inter"/>
                <a:cs typeface="Arial"/>
                <a:hlinkClick r:id="rId5"/>
              </a:rPr>
              <a:t> </a:t>
            </a:r>
            <a:r>
              <a:rPr lang="en-US" sz="2000" dirty="0" err="1">
                <a:ea typeface="Inter"/>
                <a:cs typeface="Arial"/>
                <a:hlinkClick r:id="rId5"/>
              </a:rPr>
              <a:t>seadus</a:t>
            </a:r>
            <a:endParaRPr lang="en-US" sz="2000" dirty="0">
              <a:ea typeface="Inter"/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  <a:cs typeface="Arial"/>
              </a:rPr>
              <a:t>Täpsustab ja </a:t>
            </a:r>
            <a:r>
              <a:rPr lang="en-US" sz="2000" dirty="0" err="1">
                <a:ea typeface="Inter"/>
                <a:cs typeface="Arial"/>
              </a:rPr>
              <a:t>täiendab</a:t>
            </a:r>
            <a:r>
              <a:rPr lang="en-US" sz="2000" dirty="0">
                <a:ea typeface="Inter"/>
                <a:cs typeface="Arial"/>
              </a:rPr>
              <a:t> IKÜM-</a:t>
            </a:r>
            <a:r>
              <a:rPr lang="en-US" sz="2000" dirty="0" err="1">
                <a:ea typeface="Inter"/>
                <a:cs typeface="Arial"/>
              </a:rPr>
              <a:t>i</a:t>
            </a:r>
            <a:endParaRPr lang="en-US" sz="2000" dirty="0"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</a:rPr>
              <a:t>Eestis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teostab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järelvalvet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Andmekaitse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Inspektsioon</a:t>
            </a:r>
            <a:endParaRPr lang="en-US" sz="200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dirty="0"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  <a:buFont typeface="Arial" panose="020B0502030000000004" pitchFamily="34" charset="0"/>
              <a:buChar char="•"/>
            </a:pPr>
            <a:endParaRPr lang="en-US" sz="280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23049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1F3C8-9808-10FB-7E77-00666D6A0C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Harjutus</a:t>
            </a:r>
            <a:r>
              <a:rPr lang="en-US" dirty="0"/>
              <a:t> - </a:t>
            </a:r>
            <a:r>
              <a:rPr lang="en-US" dirty="0" err="1"/>
              <a:t>töötajate</a:t>
            </a:r>
            <a:r>
              <a:rPr lang="en-US" dirty="0"/>
              <a:t> </a:t>
            </a:r>
            <a:r>
              <a:rPr lang="en-US" dirty="0" err="1"/>
              <a:t>andmestik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1D5B4-C589-0639-1E36-78C95C29E60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Millised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andmed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isikuandmed</a:t>
            </a:r>
            <a:r>
              <a:rPr lang="en-US" sz="2400" dirty="0">
                <a:ea typeface="Inter"/>
              </a:rPr>
              <a:t>?</a:t>
            </a:r>
            <a:endParaRPr lang="en-US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Inter"/>
              </a:rPr>
              <a:t>Isikuandmed</a:t>
            </a:r>
            <a:r>
              <a:rPr lang="en-US" sz="2400" dirty="0">
                <a:ea typeface="Inter"/>
              </a:rPr>
              <a:t> – </a:t>
            </a:r>
            <a:r>
              <a:rPr lang="en-US" sz="2400" dirty="0" err="1">
                <a:ea typeface="Inter"/>
              </a:rPr>
              <a:t>andmed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füüsilise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isiku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kohta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mille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abil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isikut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otseselt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või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kaudselt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võimalik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tuvastada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Day4 --&gt; HR_dataset.csv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Inter"/>
              </a:rPr>
              <a:t>Millised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tulbad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sisaldavad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isikuandmeid</a:t>
            </a:r>
            <a:r>
              <a:rPr lang="en-US" sz="2400" dirty="0">
                <a:ea typeface="Inter"/>
              </a:rPr>
              <a:t>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94503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BCD4B-5EAC-3CF6-4E27-2999E0F3EB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000" dirty="0" err="1"/>
              <a:t>Isikuandmete</a:t>
            </a:r>
            <a:r>
              <a:rPr lang="en-US" sz="2000" dirty="0"/>
              <a:t> </a:t>
            </a:r>
            <a:r>
              <a:rPr lang="en-US" sz="2000" dirty="0" err="1"/>
              <a:t>peitmine</a:t>
            </a:r>
            <a:r>
              <a:rPr lang="en-US" sz="2000" dirty="0"/>
              <a:t> - </a:t>
            </a:r>
            <a:r>
              <a:rPr lang="en-US" sz="2000" b="1" dirty="0"/>
              <a:t>a</a:t>
            </a:r>
            <a:r>
              <a:rPr lang="et-EE" sz="2000" b="1" dirty="0" err="1"/>
              <a:t>nonümiseerimine</a:t>
            </a:r>
            <a:r>
              <a:rPr lang="et-EE" sz="2000" b="1" dirty="0"/>
              <a:t> vs </a:t>
            </a:r>
            <a:r>
              <a:rPr lang="et-EE" sz="2000" b="1" dirty="0" err="1"/>
              <a:t>pseudonümiseerimine</a:t>
            </a:r>
            <a:br>
              <a:rPr lang="et-EE" b="1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205D-3E9E-F4F8-FD74-89B0632FAA6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1800" b="1" dirty="0" err="1"/>
              <a:t>Anonümiseerimine</a:t>
            </a:r>
            <a:r>
              <a:rPr lang="et-EE" sz="1800" dirty="0"/>
              <a:t> eemaldab kõik seosed, mis võimaldaksid isiku tuvastamist, ja seda ei saa tagasi pöörata. See tähendab, et andmed muudetakse täielikult anonüümseks ja neid ei saa enam seostada konkreetse isikuga. </a:t>
            </a:r>
            <a:endParaRPr lang="en-US" sz="1800" dirty="0"/>
          </a:p>
          <a:p>
            <a:pPr lvl="1"/>
            <a:r>
              <a:rPr lang="et-EE" sz="1800" dirty="0"/>
              <a:t>Näiteks võib see hõlmata isikuandmete asendamist juhuslike koodidega, mille puhul ei säilitata seost originaalandmetega.</a:t>
            </a:r>
            <a:endParaRPr lang="en-US" sz="1800" dirty="0"/>
          </a:p>
          <a:p>
            <a:pPr marL="0" indent="0">
              <a:buNone/>
            </a:pPr>
            <a:endParaRPr lang="et-EE" sz="1800" dirty="0"/>
          </a:p>
          <a:p>
            <a:r>
              <a:rPr lang="et-EE" sz="1800" b="1" dirty="0" err="1"/>
              <a:t>Pseudonümiseerimine</a:t>
            </a:r>
            <a:r>
              <a:rPr lang="et-EE" sz="1800" dirty="0"/>
              <a:t> asendab isikuandmed pseudonüümidega, kuid säilitab võimaluse isiku tuvastamiseks täiendava teabe abil. </a:t>
            </a:r>
            <a:endParaRPr lang="en-US" sz="1800" dirty="0"/>
          </a:p>
          <a:p>
            <a:pPr lvl="1"/>
            <a:r>
              <a:rPr lang="et-EE" sz="1800" dirty="0"/>
              <a:t>Näiteks võib meditsiiniuuringus patsientide nimed asendada koodidega, kuid säilitada eraldi turvalises kohas võtme, mis võimaldab koode nimedega siduda.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41516711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33559-513B-5E00-2FEA-319309110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18FF-6B11-091F-7B66-8FD3F07B7D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Isikuandmete</a:t>
            </a:r>
            <a:r>
              <a:rPr lang="en-US" sz="3600" b="1"/>
              <a:t> </a:t>
            </a:r>
            <a:r>
              <a:rPr lang="en-US" sz="3600" b="1" err="1"/>
              <a:t>töötlemise</a:t>
            </a:r>
            <a:r>
              <a:rPr lang="en-US" sz="3600" b="1"/>
              <a:t> </a:t>
            </a:r>
            <a:r>
              <a:rPr lang="en-US" sz="3600" b="1" err="1"/>
              <a:t>põhimõtted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250B90-97E7-0D4E-EA85-CAFDF56872F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Seaduslik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õiglane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läbipaistev</a:t>
            </a:r>
            <a:endParaRPr lang="en-US" sz="2000" dirty="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Eesmärgipärane</a:t>
            </a:r>
            <a:endParaRPr lang="en-US" sz="2000" dirty="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Minimaalne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–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kogutakse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võimalikult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vähe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andmeid</a:t>
            </a:r>
          </a:p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Õigsus</a:t>
            </a:r>
            <a:endParaRPr lang="en-US" sz="2000" dirty="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 lvl="1" indent="-228600">
              <a:lnSpc>
                <a:spcPct val="100000"/>
              </a:lnSpc>
              <a:buFont typeface="Arial,Sans-Serif" panose="020B0502030000000004" pitchFamily="34" charset="0"/>
              <a:buChar char="o"/>
            </a:pP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on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õiged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vajaduse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korral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ajakohastatud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ning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et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võetakse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kõik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mõistlikud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meetmed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et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töötlemise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eesmärgi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seisukohast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ebaõiged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kustutaks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või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parandataks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viivitamata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.</a:t>
            </a:r>
          </a:p>
          <a:p>
            <a:pPr lvl="1" indent="-228600">
              <a:lnSpc>
                <a:spcPct val="100000"/>
              </a:lnSpc>
              <a:buFont typeface="Arial,Sans-Serif" panose="020B0502030000000004" pitchFamily="34" charset="0"/>
              <a:buChar char="o"/>
            </a:pP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Isikul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on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tutvuda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oma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andmetega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paluda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nende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parandamist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ning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kustutamist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.</a:t>
            </a: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Säilitamise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piirang</a:t>
            </a:r>
            <a:endParaRPr lang="en-US" sz="2000" dirty="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 lvl="1" indent="-228600">
              <a:lnSpc>
                <a:spcPct val="100000"/>
              </a:lnSpc>
              <a:buFont typeface="Arial,Sans-Serif" panose="020B0502030000000004" pitchFamily="34" charset="0"/>
              <a:buChar char="o"/>
            </a:pP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Isikuandmeid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säilitatakse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kujul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mis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võimaldab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andmesubjekte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tuvastada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ainult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seni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kuni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see on vajalik selle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eesmärgi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täitmiseks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milleks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isikuandmeid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töödeldakse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.</a:t>
            </a: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Usaldusväärsus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konfidentsiaalsus</a:t>
            </a:r>
            <a:endParaRPr lang="en-US" sz="2000" dirty="0">
              <a:solidFill>
                <a:srgbClr val="121212"/>
              </a:solidFill>
              <a:latin typeface="Inter" panose="02000503000000020004" pitchFamily="2" charset="0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solidFill>
                <a:srgbClr val="121212"/>
              </a:solidFill>
              <a:latin typeface="Inter"/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 dirty="0"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393602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F6A9C-D90E-64B2-6533-0B27B1FDE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0A482-1407-2D38-6603-1037FEF8D3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Isiku</a:t>
            </a:r>
            <a:r>
              <a:rPr lang="en-US" sz="3600" b="1"/>
              <a:t> </a:t>
            </a:r>
            <a:r>
              <a:rPr lang="en-US" sz="3600" b="1" err="1"/>
              <a:t>õigused</a:t>
            </a:r>
            <a:r>
              <a:rPr lang="en-US" sz="3600" b="1"/>
              <a:t> </a:t>
            </a:r>
            <a:r>
              <a:rPr lang="en-US" sz="3600" b="1" err="1"/>
              <a:t>seoses</a:t>
            </a:r>
            <a:r>
              <a:rPr lang="en-US" sz="3600" b="1"/>
              <a:t> </a:t>
            </a:r>
            <a:r>
              <a:rPr lang="en-US" sz="3600" b="1" err="1"/>
              <a:t>isikuandmetega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FBB59-8E20-D1FA-42BC-79130E9DFF4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olla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unustatud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oma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andmeid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pärida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paluda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viia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need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üle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teise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teenuspakkuja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juurde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paluda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andmeid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muuta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 sz="2000">
              <a:solidFill>
                <a:srgbClr val="202020"/>
              </a:solidFill>
              <a:ea typeface="Noto Serif"/>
              <a:cs typeface="Noto Serif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 sz="2000">
              <a:solidFill>
                <a:srgbClr val="202020"/>
              </a:solidFill>
              <a:ea typeface="Noto Serif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solidFill>
                <a:srgbClr val="121212"/>
              </a:solidFill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65121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328DC-AFAE-684E-49BE-951535E77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5575A-160C-1C33-FFED-0BF7A25094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Isikuandmete</a:t>
            </a:r>
            <a:r>
              <a:rPr lang="en-US" sz="3600" b="1"/>
              <a:t> </a:t>
            </a:r>
            <a:r>
              <a:rPr lang="en-US" sz="3600" b="1" err="1"/>
              <a:t>töötlemise</a:t>
            </a:r>
            <a:r>
              <a:rPr lang="en-US" sz="3600" b="1"/>
              <a:t> </a:t>
            </a:r>
            <a:r>
              <a:rPr lang="en-US" sz="3600" b="1" err="1"/>
              <a:t>seaduslik</a:t>
            </a:r>
            <a:r>
              <a:rPr lang="en-US" sz="3600" b="1"/>
              <a:t> alus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CAB5AB-AF15-477E-FE41-9721611B4E9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1570451" cy="4465637"/>
          </a:xfrm>
        </p:spPr>
        <p:txBody>
          <a:bodyPr/>
          <a:lstStyle/>
          <a:p>
            <a:pPr>
              <a:buFont typeface="Inter"/>
            </a:pPr>
            <a:r>
              <a:rPr lang="en-US" sz="2400">
                <a:ea typeface="+mn-lt"/>
                <a:cs typeface="+mn-lt"/>
                <a:hlinkClick r:id="rId3"/>
              </a:rPr>
              <a:t>Isikuandmete kaitse üldmäärus artikkel 6 lõige 1</a:t>
            </a:r>
            <a:r>
              <a:rPr lang="en-US" sz="2400">
                <a:ea typeface="+mn-lt"/>
                <a:cs typeface="+mn-lt"/>
              </a:rPr>
              <a:t>: </a:t>
            </a:r>
            <a:endParaRPr lang="en-US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Nõusolek</a:t>
            </a:r>
            <a:endParaRPr lang="en-US" sz="2000">
              <a:ea typeface="Inter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Lepingu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täitmine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Seadusjärgse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kohustuse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täitmine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Eluliste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huvide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kaitsmine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Avalikes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huvides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oleva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ülesande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täitmine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Õigustatud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huvi</a:t>
            </a:r>
            <a:endParaRPr lang="en-US" sz="2000" err="1">
              <a:cs typeface="+mn-lt"/>
            </a:endParaRPr>
          </a:p>
          <a:p>
            <a:pPr lvl="1">
              <a:buFont typeface="Courier New"/>
              <a:buChar char="o"/>
            </a:pPr>
            <a:endParaRPr lang="en-US" sz="2000">
              <a:cs typeface="+mn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89218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CEEB9-CD9F-308B-51A4-57F7B3F90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A7AD0-F255-B3B4-9613-AF33EBA905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Eriliiki</a:t>
            </a:r>
            <a:r>
              <a:rPr lang="en-US" sz="3600" b="1"/>
              <a:t> </a:t>
            </a:r>
            <a:r>
              <a:rPr lang="en-US" sz="3600" b="1" err="1"/>
              <a:t>isikuandmed</a:t>
            </a:r>
            <a:endParaRPr lang="en-US" err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EB2844-3EB4-8C98-BAC1-04AB054DC61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1570451" cy="4465637"/>
          </a:xfrm>
        </p:spPr>
        <p:txBody>
          <a:bodyPr/>
          <a:lstStyle/>
          <a:p>
            <a:pPr>
              <a:lnSpc>
                <a:spcPct val="150000"/>
              </a:lnSpc>
              <a:buFont typeface="Inter"/>
            </a:pPr>
            <a:r>
              <a:rPr lang="en-US" sz="2400">
                <a:ea typeface="+mn-lt"/>
                <a:cs typeface="+mn-lt"/>
                <a:hlinkClick r:id="rId3"/>
              </a:rPr>
              <a:t>Isikuandmete kaitse üldmäärus artikkel 9 lõige 1</a:t>
            </a:r>
            <a:r>
              <a:rPr lang="en-US" sz="2400">
                <a:ea typeface="+mn-lt"/>
                <a:cs typeface="+mn-lt"/>
              </a:rPr>
              <a:t>: </a:t>
            </a:r>
            <a:endParaRPr lang="en-US" sz="2400" err="1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millest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ilmneb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rassiline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või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etniline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päritolu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poliitilised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vaated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usulised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või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filosoofilised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veendumused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või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ametiühingusse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kuulumine</a:t>
            </a:r>
            <a:endParaRPr lang="en-US" err="1">
              <a:solidFill>
                <a:srgbClr val="121212"/>
              </a:solidFill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geneetilised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endParaRPr lang="en-US" sz="24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füüsilise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isiku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kordumatuks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tuvastamiseks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kasutatavad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biomeetrilised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endParaRPr lang="en-US" sz="24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terviseandmed</a:t>
            </a:r>
            <a:endParaRPr lang="en-US" sz="24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füüsilise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isiku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seksuaalelu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ja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seksuaalse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sättumuse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kohta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.</a:t>
            </a:r>
            <a:endParaRPr lang="en-US"/>
          </a:p>
          <a:p>
            <a:pPr>
              <a:buFont typeface="Inter"/>
            </a:pPr>
            <a:endParaRPr lang="en-US" sz="2400">
              <a:ea typeface="+mn-lt"/>
              <a:cs typeface="+mn-lt"/>
            </a:endParaRPr>
          </a:p>
          <a:p>
            <a:pPr>
              <a:buFont typeface="Inter"/>
              <a:buChar char="‣"/>
            </a:pPr>
            <a:endParaRPr lang="en-US" sz="2400"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43866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11136-F650-0313-A1DC-5996467BA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195A1-410B-63D4-BD13-EE2F752DE0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Eriliigiliste</a:t>
            </a:r>
            <a:r>
              <a:rPr lang="en-US" sz="3600" b="1"/>
              <a:t> </a:t>
            </a:r>
            <a:r>
              <a:rPr lang="en-US" sz="3600" b="1" err="1"/>
              <a:t>isikuandmete</a:t>
            </a:r>
            <a:r>
              <a:rPr lang="en-US" sz="3600" b="1"/>
              <a:t> </a:t>
            </a:r>
            <a:r>
              <a:rPr lang="en-US" sz="3600" b="1" err="1"/>
              <a:t>töötlemise</a:t>
            </a:r>
            <a:r>
              <a:rPr lang="en-US" sz="3600" b="1"/>
              <a:t> </a:t>
            </a:r>
            <a:r>
              <a:rPr lang="en-US" sz="3600" b="1" err="1"/>
              <a:t>alused</a:t>
            </a:r>
            <a:endParaRPr lang="en-US" err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7DBE44-F9A7-A669-2BB8-033DCC92543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1570451" cy="4465637"/>
          </a:xfrm>
        </p:spPr>
        <p:txBody>
          <a:bodyPr/>
          <a:lstStyle/>
          <a:p>
            <a:pPr>
              <a:buFont typeface="Inter"/>
            </a:pPr>
            <a:r>
              <a:rPr lang="en-US" sz="2400">
                <a:ea typeface="+mn-lt"/>
                <a:cs typeface="+mn-lt"/>
                <a:hlinkClick r:id="rId3"/>
              </a:rPr>
              <a:t>Isikuandmete kaitse üldmäärus artikkel 9 lõige 2</a:t>
            </a:r>
            <a:r>
              <a:rPr lang="en-US" sz="2400">
                <a:ea typeface="+mn-lt"/>
                <a:cs typeface="+mn-lt"/>
              </a:rPr>
              <a:t>: </a:t>
            </a:r>
            <a:endParaRPr lang="en-US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Nõusolek</a:t>
            </a:r>
            <a:endParaRPr lang="en-US" sz="2000">
              <a:ea typeface="Inter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Seadusjärgse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kohustuse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täitmine</a:t>
            </a:r>
            <a:endParaRPr lang="en-US" sz="2000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Eluliste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huvide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kaitsmine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Õigusnõude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koostamine</a:t>
            </a:r>
            <a:r>
              <a:rPr lang="en-US" sz="2000">
                <a:ea typeface="Inter"/>
                <a:cs typeface="+mn-lt"/>
              </a:rPr>
              <a:t>, </a:t>
            </a:r>
            <a:r>
              <a:rPr lang="en-US" sz="2000" err="1">
                <a:ea typeface="Inter"/>
                <a:cs typeface="+mn-lt"/>
              </a:rPr>
              <a:t>esitamine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või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kaitsmine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Andmesubjekt</a:t>
            </a:r>
            <a:r>
              <a:rPr lang="en-US" sz="2000">
                <a:ea typeface="Inter"/>
                <a:cs typeface="+mn-lt"/>
              </a:rPr>
              <a:t> on </a:t>
            </a:r>
            <a:r>
              <a:rPr lang="en-US" sz="2000" err="1">
                <a:ea typeface="Inter"/>
                <a:cs typeface="+mn-lt"/>
              </a:rPr>
              <a:t>isikuandmed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ise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avalikastanud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Avalikes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huvides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Õiguspärase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tegevuse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raames</a:t>
            </a:r>
            <a:endParaRPr lang="en-US" sz="2000" err="1">
              <a:cs typeface="+mn-lt"/>
            </a:endParaRPr>
          </a:p>
          <a:p>
            <a:pPr lvl="1">
              <a:buFont typeface="Courier New"/>
              <a:buChar char="o"/>
            </a:pPr>
            <a:endParaRPr lang="en-US" sz="2000">
              <a:cs typeface="+mn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88773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16866-C2D4-7EB2-C742-4CECC09608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Kas tegu on isikuandmete töötlemise rikkumisega?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5A51D-F719-DB7E-B5A7-4CFB6B8E6B7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t-EE" sz="2000" noProof="0" dirty="0"/>
              <a:t>Teenusepakkuja kogub kliendi e-posti aadressi, et saata talle arveid. Hiljem hakkab sama ettevõte seda aadressi kasutama ka </a:t>
            </a:r>
            <a:r>
              <a:rPr lang="et-EE" sz="2000" noProof="0" dirty="0" err="1"/>
              <a:t>poliitreklaamiks</a:t>
            </a:r>
            <a:r>
              <a:rPr lang="et-EE" sz="2000" noProof="0" dirty="0"/>
              <a:t>, ilma kliendi nõusolekuta.</a:t>
            </a:r>
          </a:p>
          <a:p>
            <a:pPr marL="342900" indent="-342900">
              <a:buFont typeface="+mj-lt"/>
              <a:buAutoNum type="arabicPeriod"/>
            </a:pPr>
            <a:endParaRPr lang="et-EE" sz="2000" noProof="0" dirty="0"/>
          </a:p>
          <a:p>
            <a:pPr marL="342900" indent="-342900">
              <a:buFont typeface="+mj-lt"/>
              <a:buAutoNum type="arabicPeriod"/>
            </a:pPr>
            <a:r>
              <a:rPr lang="et-EE" sz="2000" noProof="0" dirty="0"/>
              <a:t>Uue rakenduse kasutaja registreerib end teenusesse ja rakendus küsib temalt suurt hulka isikuandmeid (näiteks usk, poliitilised vaated, laste arv), kuigi teenuse toimimiseks piisaks ainult e-posti aadressist. </a:t>
            </a:r>
          </a:p>
          <a:p>
            <a:pPr marL="342900" indent="-342900">
              <a:buFont typeface="+mj-lt"/>
              <a:buAutoNum type="arabicPeriod"/>
            </a:pPr>
            <a:endParaRPr lang="et-EE" sz="2000" noProof="0" dirty="0"/>
          </a:p>
          <a:p>
            <a:pPr marL="342900" indent="-342900">
              <a:buFont typeface="+mj-lt"/>
              <a:buAutoNum type="arabicPeriod"/>
            </a:pPr>
            <a:r>
              <a:rPr lang="et-EE" sz="2000" noProof="0" dirty="0"/>
              <a:t>Ettevõte hakkab saatma klientidele arveid ettevõtte uuelt e-posti aadressilt.</a:t>
            </a:r>
          </a:p>
          <a:p>
            <a:pPr marL="342900" indent="-342900">
              <a:buFont typeface="+mj-lt"/>
              <a:buAutoNum type="arabicPeriod"/>
            </a:pPr>
            <a:endParaRPr lang="et-EE" sz="2000" noProof="0" dirty="0"/>
          </a:p>
          <a:p>
            <a:pPr marL="342900" indent="-342900">
              <a:buFont typeface="+mj-lt"/>
              <a:buAutoNum type="arabicPeriod"/>
            </a:pPr>
            <a:r>
              <a:rPr lang="et-EE" sz="2000" noProof="0" dirty="0"/>
              <a:t>Statistikaamet avaldab kokkuvõtlikud tabelid usulise kuuluvuse kohta. </a:t>
            </a:r>
          </a:p>
        </p:txBody>
      </p:sp>
    </p:spTree>
    <p:extLst>
      <p:ext uri="{BB962C8B-B14F-4D97-AF65-F5344CB8AC3E}">
        <p14:creationId xmlns:p14="http://schemas.microsoft.com/office/powerpoint/2010/main" val="1220852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30DB7-ABBC-6536-EAED-E2B074AA9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F5AFE-F9E5-518B-9C79-BE297FF225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err="1"/>
              <a:t>Andmekaitsetingimused</a:t>
            </a:r>
            <a:r>
              <a:rPr lang="en-US" b="1"/>
              <a:t> (</a:t>
            </a:r>
            <a:r>
              <a:rPr lang="en-US" b="1" err="1"/>
              <a:t>Privaatsuspoliitika</a:t>
            </a:r>
            <a:r>
              <a:rPr lang="en-US" b="1"/>
              <a:t>)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F1978-1A6C-E6EA-3F37-9A3C9D36EE6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Dokument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andmesubjektile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info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andmiseks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andmete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töötlemise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kohta</a:t>
            </a: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Peab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sisaldama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:</a:t>
            </a:r>
            <a:endParaRPr lang="en-US"/>
          </a:p>
          <a:p>
            <a:pPr lvl="1" indent="-3429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Milliseid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kogutakse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–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nimi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, e-mail,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asukoht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, IP-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aadress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 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Kuidas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kasutatakse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–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turundustegevuseks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,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teenuste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osutamiseks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 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Kellega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jagatakse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– kas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edastatakse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kolmandatele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osapooltele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(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Meta)?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 indent="-2286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Kuidas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ja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kui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kaua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hoiustatakse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ning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kas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nende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hoiustamine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on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turvaline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 indent="-2286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Kas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kodulehel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kasutatakse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küpsiseid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ehk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külastaja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tegevuse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jälgimise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tehnoloogiaid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</a:t>
            </a:r>
            <a:endParaRPr lang="en-US"/>
          </a:p>
          <a:p>
            <a:pPr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Andmesubjektil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on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õigus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oma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nõusolek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andmete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töötlemiseks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igal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ajal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tagasi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võtta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 </a:t>
            </a:r>
            <a:endParaRPr lang="en-US" sz="2000">
              <a:solidFill>
                <a:srgbClr val="17172F"/>
              </a:solidFill>
              <a:latin typeface="Inter" panose="02000503000000020004" pitchFamily="2" charset="0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431318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45178-9EA6-04AF-41FB-F00766ED6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D0B33-2A0E-8759-0001-AFD2ECD182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624C10-1BA8-8DB0-67FC-6BB9563330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9171174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4CE1C-0873-F3D2-FEA0-382D8F6147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Lõimitud</a:t>
            </a:r>
            <a:r>
              <a:rPr lang="en-US"/>
              <a:t> </a:t>
            </a:r>
            <a:r>
              <a:rPr lang="en-US" err="1"/>
              <a:t>andmekaitse</a:t>
            </a:r>
            <a:r>
              <a:rPr lang="en-US"/>
              <a:t> </a:t>
            </a:r>
            <a:r>
              <a:rPr lang="en-US" err="1"/>
              <a:t>põhimõtted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17D6-25D3-ADA4-0D38-F2A0C17192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en-US" sz="2000" err="1">
                <a:ea typeface="+mn-lt"/>
                <a:cs typeface="+mn-lt"/>
              </a:rPr>
              <a:t>Enneta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mitte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ära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tegele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tagajärgedega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/>
          </a:p>
          <a:p>
            <a:pPr lvl="1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Andmekaitse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organisatsiooni</a:t>
            </a:r>
            <a:r>
              <a:rPr lang="en-US">
                <a:ea typeface="+mn-lt"/>
                <a:cs typeface="+mn-lt"/>
              </a:rPr>
              <a:t> tegevusse ning tema infosüsteemidesse sisse ehitatud enne isikuandmete töötlemisega alustamist; </a:t>
            </a:r>
            <a:endParaRPr lang="en-US">
              <a:cs typeface="+mn-lt"/>
            </a:endParaRPr>
          </a:p>
          <a:p>
            <a:pPr marL="342900" indent="-342900">
              <a:buClr>
                <a:srgbClr val="121212"/>
              </a:buClr>
              <a:buAutoNum type="arabicPeriod"/>
            </a:pP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korrapärasus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süsteemsus</a:t>
            </a:r>
            <a:r>
              <a:rPr lang="en-US">
                <a:ea typeface="+mn-lt"/>
                <a:cs typeface="+mn-lt"/>
              </a:rPr>
              <a:t>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Andmekaitse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sisse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ehitatud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infosüsteemide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disaini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arhitektuuri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äritegevusse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olles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osa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tuumfunktsionaalsusest</a:t>
            </a:r>
            <a:r>
              <a:rPr lang="en-US">
                <a:ea typeface="+mn-lt"/>
                <a:cs typeface="+mn-lt"/>
              </a:rPr>
              <a:t>. </a:t>
            </a:r>
            <a:r>
              <a:rPr lang="en-US" err="1">
                <a:ea typeface="+mn-lt"/>
                <a:cs typeface="+mn-lt"/>
              </a:rPr>
              <a:t>Andmetöötleja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hindab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korrapäraselt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võimalikke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ohte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rakendab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vastavalt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olukorrale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täiendavaid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kaitsemeetmeid</a:t>
            </a:r>
            <a:r>
              <a:rPr lang="en-US">
                <a:ea typeface="+mn-lt"/>
                <a:cs typeface="+mn-lt"/>
              </a:rPr>
              <a:t>. </a:t>
            </a:r>
            <a:endParaRPr lang="en-US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Andmetöötlus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olgu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algusest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lõpuni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turvaline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Alates </a:t>
            </a:r>
            <a:r>
              <a:rPr lang="en-US" err="1">
                <a:ea typeface="+mn-lt"/>
                <a:cs typeface="+mn-lt"/>
              </a:rPr>
              <a:t>isikuandmete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esmasest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kogumisest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kuni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hävitamiseni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rakendatud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asjakohased</a:t>
            </a:r>
            <a:r>
              <a:rPr lang="en-US">
                <a:ea typeface="+mn-lt"/>
                <a:cs typeface="+mn-lt"/>
              </a:rPr>
              <a:t> ja </a:t>
            </a:r>
            <a:r>
              <a:rPr lang="en-US" err="1">
                <a:ea typeface="+mn-lt"/>
                <a:cs typeface="+mn-lt"/>
              </a:rPr>
              <a:t>ajakohastatud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turvameetmed</a:t>
            </a:r>
            <a:r>
              <a:rPr lang="en-US">
                <a:ea typeface="+mn-lt"/>
                <a:cs typeface="+mn-lt"/>
              </a:rPr>
              <a:t>. </a:t>
            </a:r>
            <a:endParaRPr lang="en-US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Andmetöötlus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olgu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läbipaistev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vastutustundlik</a:t>
            </a:r>
            <a:r>
              <a:rPr lang="en-US">
                <a:ea typeface="+mn-lt"/>
                <a:cs typeface="+mn-lt"/>
              </a:rPr>
              <a:t>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Kõigile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organisatsiooni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andmetöötlusse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kaasatud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isikutele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koostööpartneritele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peab</a:t>
            </a:r>
            <a:r>
              <a:rPr lang="en-US">
                <a:ea typeface="+mn-lt"/>
                <a:cs typeface="+mn-lt"/>
              </a:rPr>
              <a:t> olema üheselt arusaadav, mis on andmetöötluse eesmärk.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Andmesubjektile on </a:t>
            </a:r>
            <a:r>
              <a:rPr lang="en-US" err="1">
                <a:ea typeface="+mn-lt"/>
                <a:cs typeface="+mn-lt"/>
              </a:rPr>
              <a:t>tagatud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teave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tema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töötlemise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eesmärgi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kui</a:t>
            </a:r>
            <a:r>
              <a:rPr lang="en-US">
                <a:ea typeface="+mn-lt"/>
                <a:cs typeface="+mn-lt"/>
              </a:rPr>
              <a:t> ta õiguste </a:t>
            </a:r>
            <a:r>
              <a:rPr lang="en-US" err="1">
                <a:ea typeface="+mn-lt"/>
                <a:cs typeface="+mn-lt"/>
              </a:rPr>
              <a:t>kohta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selle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töötlemise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suhtes</a:t>
            </a:r>
            <a:r>
              <a:rPr lang="en-US">
                <a:ea typeface="+mn-lt"/>
                <a:cs typeface="+mn-lt"/>
              </a:rPr>
              <a:t>. </a:t>
            </a:r>
            <a:r>
              <a:rPr lang="en-US" err="1">
                <a:ea typeface="+mn-lt"/>
                <a:cs typeface="+mn-lt"/>
              </a:rPr>
              <a:t>Teave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kergelt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kättesaadav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selgelt</a:t>
            </a:r>
            <a:r>
              <a:rPr lang="en-US">
                <a:ea typeface="+mn-lt"/>
                <a:cs typeface="+mn-lt"/>
              </a:rPr>
              <a:t> ja </a:t>
            </a:r>
            <a:r>
              <a:rPr lang="en-US" err="1">
                <a:ea typeface="+mn-lt"/>
                <a:cs typeface="+mn-lt"/>
              </a:rPr>
              <a:t>lihtsalt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sõnastatud</a:t>
            </a:r>
            <a:r>
              <a:rPr lang="en-US">
                <a:ea typeface="+mn-lt"/>
                <a:cs typeface="+mn-lt"/>
              </a:rPr>
              <a:t>.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Organisatsioon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sõlminud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koostööpartneritega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õiguspärased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andmetöötluslepingud</a:t>
            </a:r>
            <a:r>
              <a:rPr lang="en-US">
                <a:ea typeface="+mn-lt"/>
                <a:cs typeface="+mn-lt"/>
              </a:rPr>
              <a:t>. 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DC6A04-A27A-59D3-2C9E-1FE4F0E95AEF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04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BA2B6-2FA5-96F5-681E-7E41C9F60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300D5-9B3C-162A-4B58-FF55402E5E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Vaikimisi</a:t>
            </a:r>
            <a:r>
              <a:rPr lang="en-US"/>
              <a:t> </a:t>
            </a:r>
            <a:r>
              <a:rPr lang="en-US" err="1"/>
              <a:t>andmekaitse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43538C-F300-EDBC-ADF6-B19FCB8385E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sz="2000">
                <a:ea typeface="+mn-lt"/>
                <a:cs typeface="+mn-lt"/>
              </a:rPr>
              <a:t> = </a:t>
            </a:r>
            <a:r>
              <a:rPr lang="en-US" sz="2000" err="1">
                <a:ea typeface="+mn-lt"/>
                <a:cs typeface="+mn-lt"/>
              </a:rPr>
              <a:t>vaikelahendusena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algseadistusena</a:t>
            </a:r>
            <a:r>
              <a:rPr lang="en-US" sz="2000">
                <a:ea typeface="+mn-lt"/>
                <a:cs typeface="+mn-lt"/>
              </a:rPr>
              <a:t>) </a:t>
            </a:r>
            <a:r>
              <a:rPr lang="en-US" sz="2000" err="1">
                <a:ea typeface="+mn-lt"/>
                <a:cs typeface="+mn-lt"/>
              </a:rPr>
              <a:t>sätestatud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tingimused</a:t>
            </a:r>
            <a:endParaRPr lang="en-US" sz="2000">
              <a:ea typeface="+mn-lt"/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00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Vaikelahendus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peab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olema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kõige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privaatsussõbralikum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kõige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väiksemate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ohtudega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Suuremaid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ohte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sisaldavad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valikud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peaksid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olema</a:t>
            </a:r>
            <a:r>
              <a:rPr lang="en-US" sz="2000">
                <a:ea typeface="+mn-lt"/>
                <a:cs typeface="+mn-lt"/>
              </a:rPr>
              <a:t> need, </a:t>
            </a:r>
            <a:r>
              <a:rPr lang="en-US" sz="2000" err="1">
                <a:ea typeface="+mn-lt"/>
                <a:cs typeface="+mn-lt"/>
              </a:rPr>
              <a:t>mida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inimene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valib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vaikelahenduse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asemele</a:t>
            </a:r>
            <a:r>
              <a:rPr lang="en-US" sz="2000">
                <a:ea typeface="+mn-lt"/>
                <a:cs typeface="+mn-lt"/>
              </a:rPr>
              <a:t>. 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Vaikimisi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tuleb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nõuda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hädavajalikku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minimaalteavet</a:t>
            </a:r>
            <a:r>
              <a:rPr lang="en-US" sz="2000">
                <a:ea typeface="+mn-lt"/>
                <a:cs typeface="+mn-lt"/>
              </a:rPr>
              <a:t>. </a:t>
            </a: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614930-731E-5DEE-1CD9-F87FB3285F83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55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0367F-3396-082B-66D9-839F00A13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9AD4F-1363-83EA-B854-BE0B8A17CC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Andmekaitsespetsialisti</a:t>
            </a:r>
            <a:r>
              <a:rPr lang="en-US"/>
              <a:t> roll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9FFC2-F0D8-A263-0E3B-B4059232302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>
                <a:ea typeface="+mn-lt"/>
                <a:cs typeface="+mn-lt"/>
              </a:rPr>
              <a:t>olla </a:t>
            </a:r>
            <a:r>
              <a:rPr lang="en-US" sz="2000" err="1">
                <a:ea typeface="+mn-lt"/>
                <a:cs typeface="+mn-lt"/>
              </a:rPr>
              <a:t>andmesubjektidele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kontaktisikuks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kõigis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küsimustes</a:t>
            </a:r>
            <a:r>
              <a:rPr lang="en-US" sz="2000">
                <a:ea typeface="+mn-lt"/>
                <a:cs typeface="+mn-lt"/>
              </a:rPr>
              <a:t>, mis on </a:t>
            </a:r>
            <a:r>
              <a:rPr lang="en-US" sz="2000" err="1">
                <a:ea typeface="+mn-lt"/>
                <a:cs typeface="+mn-lt"/>
              </a:rPr>
              <a:t>seotud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nende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töötlemise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nende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andmekaitseliste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õiguste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kasutamisega</a:t>
            </a:r>
            <a:r>
              <a:rPr lang="en-US" sz="2000">
                <a:ea typeface="+mn-lt"/>
                <a:cs typeface="+mn-lt"/>
              </a:rPr>
              <a:t>; </a:t>
            </a:r>
            <a:endParaRPr lang="en-US" sz="2000" err="1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teavitada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nõustada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organisatsiooni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vajadusel</a:t>
            </a:r>
            <a:r>
              <a:rPr lang="en-US" sz="2000">
                <a:ea typeface="+mn-lt"/>
                <a:cs typeface="+mn-lt"/>
              </a:rPr>
              <a:t> ka </a:t>
            </a:r>
            <a:r>
              <a:rPr lang="en-US" sz="2000" err="1">
                <a:ea typeface="+mn-lt"/>
                <a:cs typeface="+mn-lt"/>
              </a:rPr>
              <a:t>selle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partnerite</a:t>
            </a:r>
            <a:r>
              <a:rPr lang="en-US" sz="2000">
                <a:ea typeface="+mn-lt"/>
                <a:cs typeface="+mn-lt"/>
              </a:rPr>
              <a:t>) </a:t>
            </a:r>
            <a:r>
              <a:rPr lang="en-US" sz="2000" err="1">
                <a:ea typeface="+mn-lt"/>
                <a:cs typeface="+mn-lt"/>
              </a:rPr>
              <a:t>juhtkonda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personali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alal</a:t>
            </a:r>
            <a:r>
              <a:rPr lang="en-US" sz="2000">
                <a:ea typeface="+mn-lt"/>
                <a:cs typeface="+mn-lt"/>
              </a:rPr>
              <a:t>; 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jälgida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andmekaitsenormide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rakendamist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sealhulgas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vastutusvaldkondade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jaotamist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personali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teadlikkust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koolitamist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andmekaitselist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auditeerimist</a:t>
            </a:r>
            <a:r>
              <a:rPr lang="en-US" sz="2000">
                <a:ea typeface="+mn-lt"/>
                <a:cs typeface="+mn-lt"/>
              </a:rPr>
              <a:t>; 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anda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nõu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seoses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andmekaitsealase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mõjuhinnanguga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jälgida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selle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toimimist</a:t>
            </a:r>
            <a:r>
              <a:rPr lang="en-US" sz="2000">
                <a:ea typeface="+mn-lt"/>
                <a:cs typeface="+mn-lt"/>
              </a:rPr>
              <a:t>;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teha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koostööd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Inspektsiooniga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olles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tööandja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kontaktisikuks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72513E-C58D-C395-84EF-B8B11D7EA09C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201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7BA15-FE95-ED4A-59C1-CBF905252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7F57B-5641-1979-CECB-A828F9903D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Andmekaitsespetsialisti</a:t>
            </a:r>
            <a:r>
              <a:rPr lang="en-US"/>
              <a:t> </a:t>
            </a:r>
            <a:r>
              <a:rPr lang="en-US" err="1"/>
              <a:t>määramise</a:t>
            </a:r>
            <a:r>
              <a:rPr lang="en-US"/>
              <a:t> </a:t>
            </a:r>
            <a:r>
              <a:rPr lang="en-US" err="1"/>
              <a:t>kohustus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1ADC98-99E4-0C63-4015-CAD0B618458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Andmekaitsespetsialisti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peavad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määrama</a:t>
            </a:r>
          </a:p>
          <a:p>
            <a:pPr marL="857250" lvl="1" indent="-457200">
              <a:lnSpc>
                <a:spcPct val="150000"/>
              </a:lnSpc>
              <a:buAutoNum type="arabicPeriod"/>
            </a:pPr>
            <a:r>
              <a:rPr lang="en-US" sz="2000" err="1">
                <a:ea typeface="+mn-lt"/>
                <a:cs typeface="+mn-lt"/>
              </a:rPr>
              <a:t>kõik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avaliku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sektori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asutused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organid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v.a.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kohtud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õigusemõistmise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osas</a:t>
            </a:r>
            <a:r>
              <a:rPr lang="en-US" sz="2000">
                <a:ea typeface="+mn-lt"/>
                <a:cs typeface="+mn-lt"/>
              </a:rPr>
              <a:t>);</a:t>
            </a:r>
            <a:endParaRPr lang="en-US" sz="2000">
              <a:cs typeface="+mn-lt"/>
            </a:endParaRPr>
          </a:p>
          <a:p>
            <a:pPr marL="857250" lvl="1" indent="-457200">
              <a:lnSpc>
                <a:spcPct val="150000"/>
              </a:lnSpc>
              <a:buAutoNum type="arabicPeriod"/>
            </a:pPr>
            <a:r>
              <a:rPr lang="en-US" sz="2000">
                <a:ea typeface="+mn-lt"/>
                <a:cs typeface="+mn-lt"/>
              </a:rPr>
              <a:t>need,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jälgivad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inimesi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põhitegevuse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raames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korrapäraselt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süsteemselt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sealjuures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ulatuslikult</a:t>
            </a:r>
            <a:r>
              <a:rPr lang="en-US" sz="2000">
                <a:ea typeface="+mn-lt"/>
                <a:cs typeface="+mn-lt"/>
              </a:rPr>
              <a:t>;</a:t>
            </a:r>
            <a:endParaRPr lang="en-US" sz="2000">
              <a:cs typeface="+mn-lt"/>
            </a:endParaRPr>
          </a:p>
          <a:p>
            <a:pPr marL="857250" lvl="1" indent="-457200">
              <a:lnSpc>
                <a:spcPct val="150000"/>
              </a:lnSpc>
              <a:buAutoNum type="arabicPeriod"/>
            </a:pPr>
            <a:r>
              <a:rPr lang="en-US" sz="2000">
                <a:ea typeface="+mn-lt"/>
                <a:cs typeface="+mn-lt"/>
              </a:rPr>
              <a:t>need,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eriliike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või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süüteoandmeid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süüdimõistavaid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kohtuotsuseid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põhitegevuse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raames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sealjuures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ulatuslikult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929059-A2F9-6FC5-5F53-5CC770523F9F}"/>
              </a:ext>
            </a:extLst>
          </p:cNvPr>
          <p:cNvSpPr txBox="1"/>
          <p:nvPr/>
        </p:nvSpPr>
        <p:spPr>
          <a:xfrm>
            <a:off x="3719764" y="6015789"/>
            <a:ext cx="784057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 ja </a:t>
            </a:r>
            <a:r>
              <a:rPr lang="en-US" err="1">
                <a:ea typeface="Inter"/>
              </a:rPr>
              <a:t>rohkem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infot</a:t>
            </a:r>
            <a:r>
              <a:rPr lang="en-US">
                <a:ea typeface="Inter"/>
              </a:rPr>
              <a:t>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242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63DD9-0882-AD0B-6772-D5A3DE02D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54023-6D97-4D40-E848-E0E0901C3E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Vastutav</a:t>
            </a:r>
            <a:r>
              <a:rPr lang="en-US"/>
              <a:t> ja </a:t>
            </a:r>
            <a:r>
              <a:rPr lang="en-US" err="1"/>
              <a:t>volitav</a:t>
            </a:r>
            <a:r>
              <a:rPr lang="en-US"/>
              <a:t> </a:t>
            </a:r>
            <a:r>
              <a:rPr lang="en-US" err="1"/>
              <a:t>töötleja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3C07A-F125-3E4C-9D1D-040C8E417C7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vastutav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töötleja</a:t>
            </a:r>
            <a:r>
              <a:rPr lang="en-US" sz="2000">
                <a:ea typeface="+mn-lt"/>
                <a:cs typeface="+mn-lt"/>
              </a:rPr>
              <a:t> on see </a:t>
            </a:r>
            <a:r>
              <a:rPr lang="en-US" sz="2000" err="1">
                <a:ea typeface="+mn-lt"/>
                <a:cs typeface="+mn-lt"/>
              </a:rPr>
              <a:t>ettevõte</a:t>
            </a:r>
            <a:r>
              <a:rPr lang="en-US" sz="2000">
                <a:ea typeface="+mn-lt"/>
                <a:cs typeface="+mn-lt"/>
              </a:rPr>
              <a:t>/</a:t>
            </a:r>
            <a:r>
              <a:rPr lang="en-US" sz="2000" err="1">
                <a:ea typeface="+mn-lt"/>
                <a:cs typeface="+mn-lt"/>
              </a:rPr>
              <a:t>asutus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määrab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kindlaks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eesmärgid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vahendid</a:t>
            </a:r>
            <a:r>
              <a:rPr lang="en-US" sz="2000">
                <a:ea typeface="+mn-lt"/>
                <a:cs typeface="+mn-lt"/>
              </a:rPr>
              <a:t>. </a:t>
            </a:r>
            <a:endParaRPr lang="en-US">
              <a:cs typeface="+mn-lt"/>
            </a:endParaRPr>
          </a:p>
          <a:p>
            <a:pPr lvl="1" indent="-342900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tellija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juriidilise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isikuna</a:t>
            </a:r>
            <a:endParaRPr lang="en-US" sz="180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Volitatud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töötleja</a:t>
            </a:r>
            <a:r>
              <a:rPr lang="en-US" sz="2000">
                <a:ea typeface="+mn-lt"/>
                <a:cs typeface="+mn-lt"/>
              </a:rPr>
              <a:t> on see,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vastutava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töötleja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nimel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ülesandel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töötleb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>
              <a:cs typeface="+mn-lt"/>
            </a:endParaRPr>
          </a:p>
          <a:p>
            <a:pPr lvl="1" indent="-342900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läbiviija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juriidilise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isikuna</a:t>
            </a:r>
            <a:endParaRPr lang="en-US" sz="180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>
                <a:ea typeface="+mn-lt"/>
                <a:cs typeface="+mn-lt"/>
              </a:rPr>
              <a:t> </a:t>
            </a:r>
            <a:r>
              <a:rPr lang="en-US" sz="2000" err="1">
                <a:ea typeface="+mn-lt"/>
                <a:cs typeface="+mn-lt"/>
              </a:rPr>
              <a:t>Vastuvõtja</a:t>
            </a:r>
            <a:r>
              <a:rPr lang="en-US" sz="2000">
                <a:ea typeface="+mn-lt"/>
                <a:cs typeface="+mn-lt"/>
              </a:rPr>
              <a:t> on </a:t>
            </a:r>
            <a:r>
              <a:rPr lang="en-US" sz="2000" err="1">
                <a:ea typeface="+mn-lt"/>
                <a:cs typeface="+mn-lt"/>
              </a:rPr>
              <a:t>iga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või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asutus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kellele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avaldatakse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>
              <a:cs typeface="+mn-lt"/>
            </a:endParaRPr>
          </a:p>
          <a:p>
            <a:pPr lvl="1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tellija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juriidilise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isikuna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kui</a:t>
            </a:r>
            <a:r>
              <a:rPr lang="en-US" sz="1800">
                <a:ea typeface="+mn-lt"/>
                <a:cs typeface="+mn-lt"/>
              </a:rPr>
              <a:t> ka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tellija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juures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töötavad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füüsilised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isikud</a:t>
            </a:r>
            <a:endParaRPr lang="en-US" sz="1800">
              <a:ea typeface="+mn-lt"/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038BD2-0AEC-7390-168D-7F3E71691C93}"/>
              </a:ext>
            </a:extLst>
          </p:cNvPr>
          <p:cNvSpPr txBox="1"/>
          <p:nvPr/>
        </p:nvSpPr>
        <p:spPr>
          <a:xfrm>
            <a:off x="3719764" y="6015789"/>
            <a:ext cx="784057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 ja </a:t>
            </a:r>
            <a:r>
              <a:rPr lang="en-US" err="1">
                <a:ea typeface="Inter"/>
              </a:rPr>
              <a:t>rohkem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infot</a:t>
            </a:r>
            <a:r>
              <a:rPr lang="en-US">
                <a:ea typeface="Inter"/>
              </a:rPr>
              <a:t>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472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F7EED-C7C3-A543-597B-884CD5C66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0E785-FD21-250F-EA36-3D00F0FD6D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err="1"/>
              <a:t>Andmekaitse</a:t>
            </a:r>
            <a:r>
              <a:rPr lang="en-US" sz="2800"/>
              <a:t> </a:t>
            </a:r>
            <a:r>
              <a:rPr lang="en-US" sz="2800" err="1"/>
              <a:t>kokkuvõte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F15C8-BFC0-462A-CF64-448D5904B69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Peab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alati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olema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eesmärgipärane</a:t>
            </a:r>
            <a:r>
              <a:rPr lang="en-US" sz="2000">
                <a:ea typeface="Inter"/>
              </a:rPr>
              <a:t> ja </a:t>
            </a:r>
            <a:r>
              <a:rPr lang="en-US" sz="2000" err="1">
                <a:ea typeface="Inter"/>
              </a:rPr>
              <a:t>seaduslik</a:t>
            </a:r>
          </a:p>
          <a:p>
            <a:pPr>
              <a:lnSpc>
                <a:spcPct val="150000"/>
              </a:lnSpc>
            </a:pPr>
            <a:r>
              <a:rPr lang="en-US" sz="2000">
                <a:ea typeface="Inter"/>
              </a:rPr>
              <a:t>Kui </a:t>
            </a:r>
            <a:r>
              <a:rPr lang="en-US" sz="2000" err="1">
                <a:ea typeface="Inter"/>
              </a:rPr>
              <a:t>ettevõttes</a:t>
            </a:r>
            <a:r>
              <a:rPr lang="en-US" sz="2000">
                <a:ea typeface="Inter"/>
              </a:rPr>
              <a:t> on </a:t>
            </a:r>
            <a:r>
              <a:rPr lang="en-US" sz="2000" err="1">
                <a:ea typeface="Inter"/>
              </a:rPr>
              <a:t>määratud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andmekaitsespetsialist</a:t>
            </a:r>
            <a:r>
              <a:rPr lang="en-US" sz="2000">
                <a:ea typeface="Inter"/>
              </a:rPr>
              <a:t>, </a:t>
            </a:r>
            <a:r>
              <a:rPr lang="en-US" sz="2000" err="1">
                <a:ea typeface="Inter"/>
              </a:rPr>
              <a:t>siis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pöördu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alati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kahtluse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korral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tema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poole</a:t>
            </a:r>
            <a:r>
              <a:rPr lang="en-US" sz="2000">
                <a:ea typeface="Inter"/>
              </a:rPr>
              <a:t>. </a:t>
            </a:r>
          </a:p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41040314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E9D1A-D010-A2FD-742D-5F5DB359D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315A1-2EB7-0018-E763-B73E367604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err="1"/>
              <a:t>Lisamaterjale</a:t>
            </a:r>
            <a:r>
              <a:rPr lang="en-US" sz="2800"/>
              <a:t> </a:t>
            </a:r>
            <a:r>
              <a:rPr lang="en-US" sz="2800" err="1"/>
              <a:t>andmekaitse</a:t>
            </a:r>
            <a:r>
              <a:rPr lang="en-US" sz="2800"/>
              <a:t> </a:t>
            </a:r>
            <a:r>
              <a:rPr lang="en-US" sz="2800" err="1"/>
              <a:t>kohta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E086A-9AC8-70D7-09C0-66D170C0AB7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8E1D98-B1F7-F3A1-53F6-04E762FE62F5}"/>
              </a:ext>
            </a:extLst>
          </p:cNvPr>
          <p:cNvSpPr txBox="1"/>
          <p:nvPr/>
        </p:nvSpPr>
        <p:spPr>
          <a:xfrm>
            <a:off x="635431" y="1149828"/>
            <a:ext cx="11034325" cy="11355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dirty="0" err="1">
                <a:ea typeface="Inter"/>
              </a:rPr>
              <a:t>Andmekaitse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inspektsioon</a:t>
            </a:r>
            <a:r>
              <a:rPr lang="en-US" sz="2400" dirty="0">
                <a:ea typeface="Inter"/>
              </a:rPr>
              <a:t>: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>
                <a:ea typeface="Inter"/>
                <a:hlinkClick r:id="rId2"/>
              </a:rPr>
              <a:t>Andmekaitse ABC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400" dirty="0">
                <a:ea typeface="Inter"/>
                <a:hlinkClick r:id="rId3"/>
              </a:rPr>
              <a:t>Isikuandmete töötleja üldjuhend</a:t>
            </a:r>
          </a:p>
        </p:txBody>
      </p:sp>
    </p:spTree>
    <p:extLst>
      <p:ext uri="{BB962C8B-B14F-4D97-AF65-F5344CB8AC3E}">
        <p14:creationId xmlns:p14="http://schemas.microsoft.com/office/powerpoint/2010/main" val="29689607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CC9D2-131C-7510-37F5-A18740C279F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Andmete kaitsmine töövahendites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B1556-C616-8047-E6FB-0B045B3524A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Object level</a:t>
            </a:r>
          </a:p>
          <a:p>
            <a:r>
              <a:rPr lang="et-EE" dirty="0"/>
              <a:t>Item level</a:t>
            </a:r>
          </a:p>
          <a:p>
            <a:r>
              <a:rPr lang="et-EE" dirty="0"/>
              <a:t>Row level</a:t>
            </a:r>
          </a:p>
          <a:p>
            <a:r>
              <a:rPr lang="et-EE" dirty="0"/>
              <a:t>Column level </a:t>
            </a:r>
          </a:p>
          <a:p>
            <a:r>
              <a:rPr lang="et-EE" dirty="0"/>
              <a:t>Power BI</a:t>
            </a:r>
          </a:p>
          <a:p>
            <a:r>
              <a:rPr lang="et-EE"/>
              <a:t>SQL</a:t>
            </a:r>
          </a:p>
        </p:txBody>
      </p:sp>
    </p:spTree>
    <p:extLst>
      <p:ext uri="{BB962C8B-B14F-4D97-AF65-F5344CB8AC3E}">
        <p14:creationId xmlns:p14="http://schemas.microsoft.com/office/powerpoint/2010/main" val="7275026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DB218-5E3A-367F-021B-630DDB201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7611B-EDDD-19FC-1455-EECFE20A7D7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5D50AD9-8154-F045-E96F-F3431C7727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4061485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47BC0-79F6-AB62-E18D-E728B50E092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Versioonihaldus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F04F-79CF-D596-2442-C7AA52CDBB4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sz="3200" dirty="0"/>
              <a:t>Loome oma kontod ja repositooriumid</a:t>
            </a:r>
          </a:p>
          <a:p>
            <a:pPr marL="0" indent="0">
              <a:buNone/>
            </a:pPr>
            <a:r>
              <a:rPr lang="et-EE" sz="3200" dirty="0"/>
              <a:t>Jagame grupitöö liikmetega või teeme avalikuks (kui on lubatud)</a:t>
            </a:r>
          </a:p>
          <a:p>
            <a:pPr marL="0" indent="0">
              <a:buNone/>
            </a:pPr>
            <a:r>
              <a:rPr lang="et-EE" sz="3200"/>
              <a:t>Lisame failid ja seome kohalike ketastega (Github desktop)</a:t>
            </a:r>
            <a:endParaRPr lang="et-EE" sz="3200" dirty="0"/>
          </a:p>
        </p:txBody>
      </p:sp>
    </p:spTree>
    <p:extLst>
      <p:ext uri="{BB962C8B-B14F-4D97-AF65-F5344CB8AC3E}">
        <p14:creationId xmlns:p14="http://schemas.microsoft.com/office/powerpoint/2010/main" val="18719666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AEDE8-4802-6D47-FC8C-0D71004BF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F3FF4-C04B-25BA-46AE-8BE14DC04A1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02593E-1699-CD76-2AB7-FB29D7F743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88768" y="2657045"/>
            <a:ext cx="6575007" cy="357043"/>
          </a:xfrm>
        </p:spPr>
        <p:txBody>
          <a:bodyPr/>
          <a:lstStyle/>
          <a:p>
            <a:r>
              <a:rPr lang="en-US" dirty="0"/>
              <a:t>Paus 15:00-15:15</a:t>
            </a:r>
          </a:p>
        </p:txBody>
      </p:sp>
    </p:spTree>
    <p:extLst>
      <p:ext uri="{BB962C8B-B14F-4D97-AF65-F5344CB8AC3E}">
        <p14:creationId xmlns:p14="http://schemas.microsoft.com/office/powerpoint/2010/main" val="32672415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434A3-72D8-5D29-2448-58E6D1B714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B47EC-5600-1AFF-8D51-BA5BBCCFFAA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200" dirty="0" err="1"/>
              <a:t>Lõputööde</a:t>
            </a:r>
            <a:r>
              <a:rPr lang="en-US" sz="3200" dirty="0"/>
              <a:t> </a:t>
            </a:r>
            <a:r>
              <a:rPr lang="en-US" sz="3200" dirty="0" err="1"/>
              <a:t>teemade</a:t>
            </a:r>
            <a:r>
              <a:rPr lang="en-US" sz="3200" dirty="0"/>
              <a:t> </a:t>
            </a:r>
            <a:r>
              <a:rPr lang="en-US" sz="3200" dirty="0" err="1"/>
              <a:t>valik</a:t>
            </a:r>
            <a:endParaRPr lang="et-EE" sz="3200" dirty="0"/>
          </a:p>
        </p:txBody>
      </p:sp>
    </p:spTree>
    <p:extLst>
      <p:ext uri="{BB962C8B-B14F-4D97-AF65-F5344CB8AC3E}">
        <p14:creationId xmlns:p14="http://schemas.microsoft.com/office/powerpoint/2010/main" val="40404954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6A996-23D2-B576-6510-367A13604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1C437-2748-44B4-FECA-B0781AA359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7AB89A-331D-46B7-10E3-87ABBD0779F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200" dirty="0" err="1"/>
              <a:t>Kliendiga</a:t>
            </a:r>
            <a:r>
              <a:rPr lang="en-US" sz="3200" dirty="0"/>
              <a:t> </a:t>
            </a:r>
            <a:r>
              <a:rPr lang="en-US" sz="3200" dirty="0" err="1"/>
              <a:t>kohtumise</a:t>
            </a:r>
            <a:r>
              <a:rPr lang="en-US" sz="3200" dirty="0"/>
              <a:t> </a:t>
            </a:r>
            <a:r>
              <a:rPr lang="en-US" sz="3200" dirty="0" err="1"/>
              <a:t>ajad</a:t>
            </a:r>
            <a:r>
              <a:rPr lang="en-US" sz="3200" dirty="0"/>
              <a:t> </a:t>
            </a:r>
            <a:r>
              <a:rPr lang="en-US" sz="3200" dirty="0" err="1"/>
              <a:t>teisipäevaks</a:t>
            </a:r>
            <a:endParaRPr lang="et-EE" sz="3200" dirty="0"/>
          </a:p>
        </p:txBody>
      </p:sp>
    </p:spTree>
    <p:extLst>
      <p:ext uri="{BB962C8B-B14F-4D97-AF65-F5344CB8AC3E}">
        <p14:creationId xmlns:p14="http://schemas.microsoft.com/office/powerpoint/2010/main" val="26629550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916F-3A2C-85BA-9906-09B4A79C0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25537-CB3E-C083-F8A7-F00B6AE12D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dirty="0" err="1"/>
              <a:t>Lõputöö</a:t>
            </a:r>
            <a:r>
              <a:rPr lang="en-US" b="1" dirty="0"/>
              <a:t> </a:t>
            </a:r>
            <a:r>
              <a:rPr lang="en-US" b="1" dirty="0" err="1"/>
              <a:t>osad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CFECB-31FC-C645-D35E-8C1758638C0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sz="2000" err="1">
                <a:ea typeface="Inter"/>
                <a:cs typeface="Noto Serif"/>
              </a:rPr>
              <a:t>Ettevõtte</a:t>
            </a:r>
            <a:r>
              <a:rPr lang="en-US" sz="2000">
                <a:ea typeface="Inter"/>
                <a:cs typeface="Noto Serif"/>
              </a:rPr>
              <a:t> ja </a:t>
            </a:r>
            <a:r>
              <a:rPr lang="en-US" sz="2000" err="1">
                <a:ea typeface="Inter"/>
                <a:cs typeface="Noto Serif"/>
              </a:rPr>
              <a:t>uurimisprobleemi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tutvustus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Uurimisplaan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Andmekaitse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kirjeldus</a:t>
            </a:r>
            <a:r>
              <a:rPr lang="en-US" sz="2000">
                <a:ea typeface="Inter"/>
                <a:cs typeface="Noto Serif"/>
              </a:rPr>
              <a:t> – mis </a:t>
            </a:r>
            <a:r>
              <a:rPr lang="en-US" sz="2000" err="1">
                <a:ea typeface="Inter"/>
                <a:cs typeface="Noto Serif"/>
              </a:rPr>
              <a:t>alustel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andmeid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töödeldakse</a:t>
            </a:r>
            <a:r>
              <a:rPr lang="en-US" sz="2000">
                <a:ea typeface="Inter"/>
                <a:cs typeface="Noto Serif"/>
              </a:rPr>
              <a:t>?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Ärisõnastik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andmemudel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andmesõnastik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Andmevoog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Näidisandmestiku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loomine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kvaliteedi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kontroll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eksploratiivne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statistiline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Kirjeldav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raport</a:t>
            </a:r>
            <a:r>
              <a:rPr lang="en-US" sz="2000">
                <a:ea typeface="Inter"/>
                <a:cs typeface="Noto Serif"/>
              </a:rPr>
              <a:t> /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Andmelugu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järeldused</a:t>
            </a:r>
            <a:endParaRPr lang="en-US" sz="2000" err="1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n-US" sz="240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n-US" sz="24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6450176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024B8-E587-E3FE-2649-C69E942C1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62382-376F-D403-218E-FAD6D454E7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dirty="0" err="1"/>
              <a:t>Lõputöö</a:t>
            </a:r>
            <a:r>
              <a:rPr lang="en-US" b="1" dirty="0"/>
              <a:t> - GitHub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F7352-F93B-EE31-220C-F9E2EC9BDA2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Looge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GitHubi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projekt</a:t>
            </a:r>
            <a:r>
              <a:rPr lang="en-US" sz="2400" dirty="0">
                <a:ea typeface="Inter"/>
                <a:cs typeface="Noto Serif"/>
              </a:rPr>
              <a:t> – </a:t>
            </a:r>
            <a:r>
              <a:rPr lang="en-US" sz="2400" dirty="0" err="1">
                <a:ea typeface="Inter"/>
                <a:cs typeface="Noto Serif"/>
              </a:rPr>
              <a:t>avalik</a:t>
            </a:r>
            <a:r>
              <a:rPr lang="en-US" sz="2400" dirty="0">
                <a:ea typeface="Inter"/>
                <a:cs typeface="Noto Serif"/>
              </a:rPr>
              <a:t> repository </a:t>
            </a:r>
            <a:r>
              <a:rPr lang="en-US" sz="2400" dirty="0" err="1">
                <a:ea typeface="Inter"/>
                <a:cs typeface="Noto Serif"/>
              </a:rPr>
              <a:t>mõne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grupiliikme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GitHubis</a:t>
            </a:r>
            <a:endParaRPr lang="en-US" sz="2400" dirty="0">
              <a:ea typeface="Inter"/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Lisage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teised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grupiliikmed</a:t>
            </a:r>
            <a:r>
              <a:rPr lang="en-US" sz="2400" dirty="0">
                <a:ea typeface="Inter"/>
                <a:cs typeface="Noto Serif"/>
              </a:rPr>
              <a:t> Collaborators </a:t>
            </a:r>
            <a:r>
              <a:rPr lang="en-US" sz="2400" dirty="0" err="1">
                <a:ea typeface="Inter"/>
                <a:cs typeface="Noto Serif"/>
              </a:rPr>
              <a:t>alla</a:t>
            </a:r>
            <a:endParaRPr lang="en-US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>
                <a:ea typeface="Inter"/>
                <a:cs typeface="Noto Serif"/>
              </a:rPr>
              <a:t>Clone repository </a:t>
            </a:r>
            <a:r>
              <a:rPr lang="en-US" sz="2400" dirty="0" err="1">
                <a:ea typeface="Inter"/>
                <a:cs typeface="Noto Serif"/>
              </a:rPr>
              <a:t>oma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kohalikku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arvutisse</a:t>
            </a:r>
            <a:endParaRPr lang="en-US" sz="2400" dirty="0" err="1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Leppige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kokku</a:t>
            </a:r>
            <a:r>
              <a:rPr lang="en-US" sz="2400" dirty="0">
                <a:ea typeface="Inter"/>
                <a:cs typeface="Noto Serif"/>
              </a:rPr>
              <a:t>, </a:t>
            </a:r>
            <a:r>
              <a:rPr lang="en-US" sz="2400" dirty="0" err="1">
                <a:ea typeface="Inter"/>
                <a:cs typeface="Noto Serif"/>
              </a:rPr>
              <a:t>kuidas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muutusi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üles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laete</a:t>
            </a:r>
            <a:endParaRPr lang="en-US" sz="2400" dirty="0" err="1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n-US" sz="2400" dirty="0" err="1">
                <a:ea typeface="Inter"/>
                <a:cs typeface="Noto Serif"/>
              </a:rPr>
              <a:t>Nt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iga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uue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funktsionaalsuse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jaoks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eraldi</a:t>
            </a:r>
            <a:r>
              <a:rPr lang="en-US" sz="2400" dirty="0">
                <a:ea typeface="Inter"/>
                <a:cs typeface="Noto Serif"/>
              </a:rPr>
              <a:t> "feature/..." Branch</a:t>
            </a:r>
            <a:endParaRPr lang="en-US" sz="2400" dirty="0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n-US" sz="2400" dirty="0">
                <a:ea typeface="Inter"/>
                <a:cs typeface="Noto Serif"/>
              </a:rPr>
              <a:t>Kui </a:t>
            </a:r>
            <a:r>
              <a:rPr lang="en-US" sz="2400" dirty="0" err="1">
                <a:ea typeface="Inter"/>
                <a:cs typeface="Noto Serif"/>
              </a:rPr>
              <a:t>iga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funktsionaalsuse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jaoks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eraldi</a:t>
            </a:r>
            <a:r>
              <a:rPr lang="en-US" sz="2400" dirty="0">
                <a:ea typeface="Inter"/>
                <a:cs typeface="Noto Serif"/>
              </a:rPr>
              <a:t> branch, </a:t>
            </a:r>
            <a:r>
              <a:rPr lang="en-US" sz="2400" dirty="0" err="1">
                <a:ea typeface="Inter"/>
                <a:cs typeface="Noto Serif"/>
              </a:rPr>
              <a:t>siis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pärast</a:t>
            </a:r>
            <a:r>
              <a:rPr lang="en-US" sz="2400" dirty="0">
                <a:ea typeface="Inter"/>
                <a:cs typeface="Noto Serif"/>
              </a:rPr>
              <a:t> Pull </a:t>
            </a:r>
            <a:r>
              <a:rPr lang="en-US" sz="2400" dirty="0" err="1">
                <a:ea typeface="Inter"/>
                <a:cs typeface="Noto Serif"/>
              </a:rPr>
              <a:t>Request'I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kustutada</a:t>
            </a:r>
            <a:r>
              <a:rPr lang="en-US" sz="2400" dirty="0">
                <a:ea typeface="Inter"/>
                <a:cs typeface="Noto Serif"/>
              </a:rPr>
              <a:t> feature branch</a:t>
            </a:r>
            <a:endParaRPr lang="en-US" sz="240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6740790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0EE9B-3020-A266-14D5-3A10FD23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B3CE6-A314-B235-7804-1DB6617CEB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Versioonihaldus</a:t>
            </a:r>
            <a:r>
              <a:rPr lang="en-US" dirty="0"/>
              <a:t> – </a:t>
            </a:r>
            <a:r>
              <a:rPr lang="en-US" dirty="0" err="1"/>
              <a:t>muutuste</a:t>
            </a:r>
            <a:r>
              <a:rPr lang="en-US" dirty="0"/>
              <a:t> </a:t>
            </a:r>
            <a:r>
              <a:rPr lang="en-US" dirty="0" err="1"/>
              <a:t>üles</a:t>
            </a:r>
            <a:r>
              <a:rPr lang="en-US" dirty="0"/>
              <a:t> </a:t>
            </a:r>
            <a:r>
              <a:rPr lang="en-US" dirty="0" err="1"/>
              <a:t>laadimine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773C7E-895D-19CD-768D-5D677901F55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Tee </a:t>
            </a:r>
            <a:r>
              <a:rPr lang="en-US" sz="2400" dirty="0" err="1">
                <a:ea typeface="Inter"/>
              </a:rPr>
              <a:t>muutused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kohalikus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kaustas</a:t>
            </a:r>
            <a:endParaRPr lang="en-US" sz="2400" dirty="0">
              <a:ea typeface="Inter"/>
            </a:endParaRP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Vali </a:t>
            </a:r>
            <a:r>
              <a:rPr lang="en-US" sz="2400" dirty="0" err="1">
                <a:ea typeface="Inter"/>
              </a:rPr>
              <a:t>enda</a:t>
            </a:r>
            <a:r>
              <a:rPr lang="en-US" sz="2400" dirty="0">
                <a:ea typeface="Inter"/>
              </a:rPr>
              <a:t> Branch </a:t>
            </a:r>
            <a:r>
              <a:rPr lang="en-US" sz="2400" dirty="0" err="1">
                <a:ea typeface="Inter"/>
              </a:rPr>
              <a:t>või</a:t>
            </a:r>
            <a:r>
              <a:rPr lang="en-US" sz="2400" dirty="0">
                <a:ea typeface="Inter"/>
              </a:rPr>
              <a:t> loo </a:t>
            </a:r>
            <a:r>
              <a:rPr lang="en-US" sz="2400" dirty="0" err="1">
                <a:ea typeface="Inter"/>
              </a:rPr>
              <a:t>uus</a:t>
            </a:r>
            <a:r>
              <a:rPr lang="en-US" sz="2400" dirty="0">
                <a:ea typeface="Inter"/>
              </a:rPr>
              <a:t> “feature/..” branch</a:t>
            </a:r>
            <a:endParaRPr lang="en-US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Pull from main</a:t>
            </a:r>
            <a:endParaRPr lang="en-US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Lisa </a:t>
            </a:r>
            <a:r>
              <a:rPr lang="en-US" sz="2400" dirty="0" err="1">
                <a:ea typeface="Inter"/>
              </a:rPr>
              <a:t>kommentaar</a:t>
            </a:r>
            <a:r>
              <a:rPr lang="en-US" sz="2400" dirty="0">
                <a:ea typeface="Inter"/>
              </a:rPr>
              <a:t> ja Commit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Sync Changes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Vali </a:t>
            </a:r>
            <a:r>
              <a:rPr lang="en-US" sz="2400" dirty="0" err="1">
                <a:ea typeface="Inter"/>
              </a:rPr>
              <a:t>loodud</a:t>
            </a:r>
            <a:r>
              <a:rPr lang="en-US" sz="2400" dirty="0">
                <a:ea typeface="Inter"/>
              </a:rPr>
              <a:t> Branch</a:t>
            </a: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 err="1">
                <a:ea typeface="Inter"/>
              </a:rPr>
              <a:t>Kliki</a:t>
            </a:r>
            <a:r>
              <a:rPr lang="en-US" sz="2400" dirty="0">
                <a:ea typeface="Inter"/>
              </a:rPr>
              <a:t> "This branch is 1 commit ahead"</a:t>
            </a: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GitHub: Create Pull Request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GitHub: Merge Pull Request</a:t>
            </a:r>
            <a:endParaRPr lang="en-US" sz="2400" dirty="0"/>
          </a:p>
          <a:p>
            <a:pPr>
              <a:buClr>
                <a:srgbClr val="121212"/>
              </a:buClr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4942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AD8D0-6DB4-575E-917E-EF17163568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04898-1A89-32D0-7964-55457B42E94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2400" dirty="0" err="1"/>
              <a:t>Leppime</a:t>
            </a:r>
            <a:r>
              <a:rPr lang="en-US" sz="2400" dirty="0"/>
              <a:t> </a:t>
            </a:r>
            <a:r>
              <a:rPr lang="en-US" sz="2400" dirty="0" err="1"/>
              <a:t>kokku</a:t>
            </a:r>
            <a:r>
              <a:rPr lang="en-US" sz="2400" dirty="0"/>
              <a:t> </a:t>
            </a:r>
            <a:r>
              <a:rPr lang="en-US" sz="2400" dirty="0" err="1"/>
              <a:t>kohtumise</a:t>
            </a:r>
            <a:r>
              <a:rPr lang="en-US" sz="2400" dirty="0"/>
              <a:t> </a:t>
            </a:r>
            <a:r>
              <a:rPr lang="en-US" sz="2400" dirty="0" err="1"/>
              <a:t>ajad</a:t>
            </a:r>
            <a:r>
              <a:rPr lang="en-US" sz="2400" dirty="0"/>
              <a:t> </a:t>
            </a:r>
            <a:r>
              <a:rPr lang="en-US" sz="2400" dirty="0" err="1"/>
              <a:t>kliendiga</a:t>
            </a:r>
            <a:endParaRPr lang="et-EE" sz="2400" dirty="0"/>
          </a:p>
        </p:txBody>
      </p:sp>
    </p:spTree>
    <p:extLst>
      <p:ext uri="{BB962C8B-B14F-4D97-AF65-F5344CB8AC3E}">
        <p14:creationId xmlns:p14="http://schemas.microsoft.com/office/powerpoint/2010/main" val="1519353560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400</TotalTime>
  <Words>1767</Words>
  <Application>Microsoft Office PowerPoint</Application>
  <PresentationFormat>Widescreen</PresentationFormat>
  <Paragraphs>259</Paragraphs>
  <Slides>30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40" baseType="lpstr">
      <vt:lpstr>Inter</vt:lpstr>
      <vt:lpstr>Calibri</vt:lpstr>
      <vt:lpstr>Courier New</vt:lpstr>
      <vt:lpstr>Poppins SemiBold</vt:lpstr>
      <vt:lpstr>Arial,Sans-Serif</vt:lpstr>
      <vt:lpstr>Inter Bold</vt:lpstr>
      <vt:lpstr>Courier New,monospace</vt:lpstr>
      <vt:lpstr>Noto Serif</vt:lpstr>
      <vt:lpstr>Arial</vt:lpstr>
      <vt:lpstr>BCS</vt:lpstr>
      <vt:lpstr>Vali Andmetarkus!</vt:lpstr>
      <vt:lpstr>Päevakava - X päev</vt:lpstr>
      <vt:lpstr>Andmekaitse</vt:lpstr>
      <vt:lpstr>Harjutus - töötajate andmestik</vt:lpstr>
      <vt:lpstr>Isikuandmete peitmine - anonümiseerimine vs pseudonümiseerimine </vt:lpstr>
      <vt:lpstr>Isikuandmete töötlemise põhimõtted</vt:lpstr>
      <vt:lpstr>Isiku õigused seoses isikuandmetega</vt:lpstr>
      <vt:lpstr>Isikuandmete töötlemise seaduslik alus</vt:lpstr>
      <vt:lpstr>Eriliiki isikuandmed</vt:lpstr>
      <vt:lpstr>Eriliigiliste isikuandmete töötlemise alused</vt:lpstr>
      <vt:lpstr>Kas tegu on isikuandmete töötlemise rikkumisega?</vt:lpstr>
      <vt:lpstr>Andmekaitsetingimused (Privaatsuspoliitika)</vt:lpstr>
      <vt:lpstr>Paus 10:30-10:45</vt:lpstr>
      <vt:lpstr>Lõimitud andmekaitse põhimõtted</vt:lpstr>
      <vt:lpstr>Vaikimisi andmekaitse</vt:lpstr>
      <vt:lpstr>Andmekaitsespetsialisti roll</vt:lpstr>
      <vt:lpstr>Andmekaitsespetsialisti määramise kohustus</vt:lpstr>
      <vt:lpstr>Vastutav ja volitav töötleja</vt:lpstr>
      <vt:lpstr>Andmekaitse kokkuvõte</vt:lpstr>
      <vt:lpstr>Lisamaterjale andmekaitse kohta</vt:lpstr>
      <vt:lpstr>Andmete kaitsmine töövahendites</vt:lpstr>
      <vt:lpstr>Lõunapaus 12:15-13:15</vt:lpstr>
      <vt:lpstr>Versioonihaldus</vt:lpstr>
      <vt:lpstr>Paus 15:00-15:15</vt:lpstr>
      <vt:lpstr>PowerPoint Presentation</vt:lpstr>
      <vt:lpstr>PowerPoint Presentation</vt:lpstr>
      <vt:lpstr>Lõputöö osad</vt:lpstr>
      <vt:lpstr>Lõputöö - GitHub</vt:lpstr>
      <vt:lpstr>Versioonihaldus – muutuste üles laadimine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165</cp:revision>
  <dcterms:created xsi:type="dcterms:W3CDTF">2021-08-27T11:35:28Z</dcterms:created>
  <dcterms:modified xsi:type="dcterms:W3CDTF">2026-08-28T19:17:44Z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