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417" r:id="rId5"/>
    <p:sldId id="493" r:id="rId6"/>
    <p:sldId id="439" r:id="rId7"/>
    <p:sldId id="642" r:id="rId8"/>
    <p:sldId id="646" r:id="rId9"/>
    <p:sldId id="440" r:id="rId10"/>
    <p:sldId id="501" r:id="rId11"/>
    <p:sldId id="575" r:id="rId12"/>
    <p:sldId id="504" r:id="rId13"/>
    <p:sldId id="576" r:id="rId14"/>
    <p:sldId id="666" r:id="rId15"/>
    <p:sldId id="441" r:id="rId16"/>
    <p:sldId id="566" r:id="rId17"/>
    <p:sldId id="614" r:id="rId18"/>
    <p:sldId id="615" r:id="rId19"/>
    <p:sldId id="616" r:id="rId20"/>
    <p:sldId id="617" r:id="rId21"/>
    <p:sldId id="618" r:id="rId22"/>
    <p:sldId id="569" r:id="rId23"/>
    <p:sldId id="577" r:id="rId24"/>
    <p:sldId id="668" r:id="rId25"/>
    <p:sldId id="568" r:id="rId26"/>
    <p:sldId id="647" r:id="rId27"/>
    <p:sldId id="649" r:id="rId28"/>
    <p:sldId id="651" r:id="rId29"/>
    <p:sldId id="667" r:id="rId30"/>
    <p:sldId id="574" r:id="rId31"/>
    <p:sldId id="645" r:id="rId32"/>
    <p:sldId id="538" r:id="rId33"/>
    <p:sldId id="650" r:id="rId34"/>
  </p:sldIdLst>
  <p:sldSz cx="12192000" cy="6858000"/>
  <p:notesSz cx="6858000" cy="9144000"/>
  <p:embeddedFontLst>
    <p:embeddedFont>
      <p:font typeface="Inter" panose="020B0604020202020204" charset="0"/>
      <p:regular r:id="rId37"/>
      <p:bold r:id="rId38"/>
      <p:italic r:id="rId39"/>
      <p:boldItalic r:id="rId40"/>
    </p:embeddedFont>
    <p:embeddedFont>
      <p:font typeface="Inter Bold" panose="020B0604020202020204" charset="0"/>
      <p:bold r:id="rId41"/>
    </p:embeddedFont>
    <p:embeddedFont>
      <p:font typeface="Noto Serif" panose="02020600060500020200" pitchFamily="18" charset="0"/>
      <p:regular r:id="rId42"/>
      <p:bold r:id="rId43"/>
      <p:italic r:id="rId44"/>
      <p:boldItalic r:id="rId45"/>
    </p:embeddedFont>
    <p:embeddedFont>
      <p:font typeface="Poppins SemiBold" panose="00000700000000000000" pitchFamily="2" charset="-70"/>
      <p:bold r:id="rId46"/>
      <p:boldItalic r:id="rId47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898" y="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3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8.fntdata"/><Relationship Id="rId52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7.fntdata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6.xml"/><Relationship Id="rId41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52:31.307" v="26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11:52:31.307" v="2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52:31.307" v="26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52:20.198" v="0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27.08.2026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isikuandmed/juhendid/oigustatud-huvi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Kes on </a:t>
            </a:r>
            <a:r>
              <a:rPr lang="en-US" err="1">
                <a:ea typeface="Calibri"/>
                <a:cs typeface="Calibri"/>
              </a:rPr>
              <a:t>andmesubjekt</a:t>
            </a:r>
            <a:r>
              <a:rPr lang="en-US">
                <a:ea typeface="Calibri"/>
                <a:cs typeface="Calibri"/>
              </a:rPr>
              <a:t>?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kaitse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seadus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reguleerib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lisaks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IKÜMile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Viktoriin</a:t>
            </a:r>
            <a:r>
              <a:rPr lang="en-US">
                <a:ea typeface="Calibri"/>
                <a:cs typeface="Calibri"/>
              </a:rPr>
              <a:t> – kas on </a:t>
            </a:r>
            <a:r>
              <a:rPr lang="en-US" err="1">
                <a:ea typeface="Calibri"/>
                <a:cs typeface="Calibri"/>
              </a:rPr>
              <a:t>isikuandmed</a:t>
            </a:r>
            <a:r>
              <a:rPr lang="en-US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57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F0E9-07AE-0CD2-A825-3600D7B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5C036-60BB-2163-3CFE-ED5F6A5BE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12E31-CE65-64FA-8E2C-25D81D30B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 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LEPINGU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inimesega</a:t>
            </a:r>
            <a:r>
              <a:rPr lang="en-US"/>
              <a:t> </a:t>
            </a:r>
            <a:r>
              <a:rPr lang="en-US" err="1"/>
              <a:t>sõlmitud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sõlmimisele</a:t>
            </a:r>
            <a:r>
              <a:rPr lang="en-US"/>
              <a:t> </a:t>
            </a:r>
            <a:r>
              <a:rPr lang="en-US" err="1"/>
              <a:t>eelnevate</a:t>
            </a:r>
            <a:r>
              <a:rPr lang="en-US"/>
              <a:t> </a:t>
            </a:r>
            <a:r>
              <a:rPr lang="en-US" err="1"/>
              <a:t>meetmete</a:t>
            </a:r>
            <a:r>
              <a:rPr lang="en-US"/>
              <a:t> </a:t>
            </a:r>
            <a:r>
              <a:rPr lang="en-US" err="1"/>
              <a:t>võtmiseks</a:t>
            </a:r>
            <a:r>
              <a:rPr lang="en-US"/>
              <a:t> </a:t>
            </a:r>
            <a:r>
              <a:rPr lang="en-US" err="1"/>
              <a:t>vastavalt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taotlusele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SEADUSEJÄRGSE KOHUSTUSE TÄITMINE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vajalik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vastutava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juriidilise</a:t>
            </a:r>
            <a:r>
              <a:rPr lang="en-US"/>
              <a:t> </a:t>
            </a:r>
            <a:r>
              <a:rPr lang="en-US" err="1"/>
              <a:t>ehk</a:t>
            </a:r>
            <a:r>
              <a:rPr lang="en-US"/>
              <a:t> </a:t>
            </a:r>
            <a:r>
              <a:rPr lang="en-US" err="1"/>
              <a:t>seadusjärgse</a:t>
            </a:r>
            <a:r>
              <a:rPr lang="en-US"/>
              <a:t> </a:t>
            </a:r>
            <a:r>
              <a:rPr lang="en-US" err="1"/>
              <a:t>kohustuse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OLEVA ÜLESANDE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 </a:t>
            </a:r>
            <a:r>
              <a:rPr lang="en-US" err="1"/>
              <a:t>huvides</a:t>
            </a:r>
            <a:r>
              <a:rPr lang="en-US"/>
              <a:t> </a:t>
            </a:r>
            <a:r>
              <a:rPr lang="en-US" err="1"/>
              <a:t>oleva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ülesande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täitmiseks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 </a:t>
            </a: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võimu</a:t>
            </a:r>
            <a:r>
              <a:rPr lang="en-US"/>
              <a:t> </a:t>
            </a:r>
            <a:r>
              <a:rPr lang="en-US" err="1"/>
              <a:t>teostamiseks</a:t>
            </a:r>
            <a:r>
              <a:rPr lang="en-US"/>
              <a:t> on </a:t>
            </a:r>
            <a:r>
              <a:rPr lang="en-US" err="1"/>
              <a:t>reguleeritud</a:t>
            </a:r>
            <a:r>
              <a:rPr lang="en-US"/>
              <a:t> </a:t>
            </a:r>
            <a:r>
              <a:rPr lang="en-US" err="1"/>
              <a:t>siseriiklikus</a:t>
            </a:r>
            <a:r>
              <a:rPr lang="en-US"/>
              <a:t> </a:t>
            </a:r>
            <a:r>
              <a:rPr lang="en-US" err="1"/>
              <a:t>õiguses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ÕIGUSTATUD HUVI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kolmanda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korral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 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see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põhiõigused</a:t>
            </a:r>
            <a:r>
              <a:rPr lang="en-US"/>
              <a:t> ja – </a:t>
            </a:r>
            <a:r>
              <a:rPr lang="en-US" err="1"/>
              <a:t>vabadused</a:t>
            </a:r>
            <a:r>
              <a:rPr lang="en-US"/>
              <a:t>. </a:t>
            </a:r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Hinnang</a:t>
            </a:r>
            <a:r>
              <a:rPr lang="en-US"/>
              <a:t>, kas </a:t>
            </a:r>
            <a:r>
              <a:rPr lang="en-US" err="1"/>
              <a:t>Teie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töödelda</a:t>
            </a:r>
            <a:r>
              <a:rPr lang="en-US"/>
              <a:t>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teiste</a:t>
            </a:r>
            <a:r>
              <a:rPr lang="en-US"/>
              <a:t> </a:t>
            </a:r>
            <a:r>
              <a:rPr lang="en-US" err="1"/>
              <a:t>inimeste</a:t>
            </a:r>
            <a:r>
              <a:rPr lang="en-US"/>
              <a:t> </a:t>
            </a:r>
            <a:r>
              <a:rPr lang="en-US" err="1"/>
              <a:t>huvid</a:t>
            </a:r>
            <a:r>
              <a:rPr lang="en-US"/>
              <a:t>, </a:t>
            </a:r>
            <a:r>
              <a:rPr lang="en-US" err="1"/>
              <a:t>tuleb</a:t>
            </a:r>
            <a:r>
              <a:rPr lang="en-US"/>
              <a:t> </a:t>
            </a:r>
            <a:r>
              <a:rPr lang="en-US" err="1"/>
              <a:t>anda</a:t>
            </a:r>
            <a:r>
              <a:rPr lang="en-US"/>
              <a:t> </a:t>
            </a:r>
            <a:r>
              <a:rPr lang="en-US" err="1"/>
              <a:t>konkreetse</a:t>
            </a:r>
            <a:r>
              <a:rPr lang="en-US"/>
              <a:t> </a:t>
            </a:r>
            <a:r>
              <a:rPr lang="en-US" err="1"/>
              <a:t>juhtumi</a:t>
            </a:r>
            <a:r>
              <a:rPr lang="en-US"/>
              <a:t> </a:t>
            </a:r>
            <a:r>
              <a:rPr lang="en-US" err="1"/>
              <a:t>asjaolude</a:t>
            </a:r>
            <a:r>
              <a:rPr lang="en-US"/>
              <a:t> </a:t>
            </a:r>
            <a:r>
              <a:rPr lang="en-US" err="1"/>
              <a:t>põhjal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/>
              <a:t>Loe </a:t>
            </a:r>
            <a:r>
              <a:rPr lang="en-US" err="1"/>
              <a:t>täpsemalt</a:t>
            </a:r>
            <a:r>
              <a:rPr lang="en-US"/>
              <a:t> </a:t>
            </a:r>
            <a:r>
              <a:rPr lang="en-US">
                <a:solidFill>
                  <a:srgbClr val="003087"/>
                </a:solidFill>
                <a:hlinkClick r:id="rId3"/>
              </a:rPr>
              <a:t>õigustatud huvist</a:t>
            </a:r>
            <a:r>
              <a:rPr lang="en-US">
                <a:solidFill>
                  <a:srgbClr val="00308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sektori</a:t>
            </a:r>
            <a:r>
              <a:rPr lang="en-US"/>
              <a:t> </a:t>
            </a:r>
            <a:r>
              <a:rPr lang="en-US" err="1"/>
              <a:t>asutus</a:t>
            </a:r>
            <a:r>
              <a:rPr lang="en-US"/>
              <a:t>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saa</a:t>
            </a:r>
            <a:r>
              <a:rPr lang="en-US"/>
              <a:t> </a:t>
            </a:r>
            <a:r>
              <a:rPr lang="en-US" err="1"/>
              <a:t>kohaldada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ülesannete</a:t>
            </a:r>
            <a:r>
              <a:rPr lang="en-US"/>
              <a:t> </a:t>
            </a:r>
            <a:r>
              <a:rPr lang="en-US" err="1"/>
              <a:t>täitmisel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Allikas: 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F2EAB-5BCF-0D8F-0B27-38749D980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49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00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05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24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10678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61615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DA34C-149A-57A8-DCCE-482263E2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2C817-AC27-CA90-93C2-204C3230E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1774-130A-2B62-BCFA-16A9E5D066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Milleks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? - Nii </a:t>
            </a:r>
            <a:r>
              <a:rPr lang="en-US" err="1">
                <a:ea typeface="Calibri"/>
                <a:cs typeface="Calibri"/>
              </a:rPr>
              <a:t>enda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kui</a:t>
            </a:r>
            <a:r>
              <a:rPr lang="en-US">
                <a:ea typeface="Calibri"/>
                <a:cs typeface="Calibri"/>
              </a:rPr>
              <a:t> ka </a:t>
            </a:r>
            <a:r>
              <a:rPr lang="en-US" err="1">
                <a:ea typeface="Calibri"/>
                <a:cs typeface="Calibri"/>
              </a:rPr>
              <a:t>kolleegide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jaoks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kirjeldamine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teada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kuidas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mingeid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otsuseid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muutusi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tehtud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428F6-B692-59EB-721A-51F223C67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3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27.08.2026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info.eu/e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riigiteataja.ee/akt/104012019011?leiaKehtiv" TargetMode="External"/><Relationship Id="rId4" Type="http://schemas.openxmlformats.org/officeDocument/2006/relationships/hyperlink" Target="https://www.edpb.europa.eu/sme-data-protection-guide/faq-frequently-asked-questions_en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6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sites/default/files/dokumendid/isikuandmete_tootleja_uldjuhend.pdf" TargetMode="External"/><Relationship Id="rId2" Type="http://schemas.openxmlformats.org/officeDocument/2006/relationships/hyperlink" Target="https://www.aki.ee/kiirelt-katte/andmekaitse-abc" TargetMode="Externa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578815032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põhimõtted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organisatsioonikultuurina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15:15 – Koolitus – Kristina </a:t>
                      </a:r>
                      <a:r>
                        <a:rPr lang="et-EE" sz="2400" dirty="0"/>
                        <a:t>Korobova 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(Bolt)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15:15 – 15:30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15:30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projektidega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alustamine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228FF-8F2E-5210-1E51-C5B71DFE1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D2EE0-DAF0-D014-1B9C-E5A2B2D517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Andmekaitse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90F2F-9A95-2356-2F41-6D1F85E5FA2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Andmesubjekt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peab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teadma</a:t>
            </a:r>
            <a:r>
              <a:rPr lang="en-US" sz="2000" dirty="0">
                <a:ea typeface="Inter"/>
                <a:cs typeface="Arial"/>
              </a:rPr>
              <a:t>, mis </a:t>
            </a:r>
            <a:r>
              <a:rPr lang="en-US" sz="2000" dirty="0" err="1">
                <a:ea typeface="Inter"/>
                <a:cs typeface="Arial"/>
              </a:rPr>
              <a:t>andmeid</a:t>
            </a:r>
            <a:r>
              <a:rPr lang="en-US" sz="2000" dirty="0">
                <a:ea typeface="Inter"/>
                <a:cs typeface="Arial"/>
              </a:rPr>
              <a:t>, mis </a:t>
            </a:r>
            <a:r>
              <a:rPr lang="en-US" sz="2000" dirty="0" err="1">
                <a:ea typeface="Inter"/>
                <a:cs typeface="Arial"/>
              </a:rPr>
              <a:t>eesmärgiga</a:t>
            </a:r>
            <a:r>
              <a:rPr lang="en-US" sz="2000" dirty="0">
                <a:ea typeface="Inter"/>
                <a:cs typeface="Arial"/>
              </a:rPr>
              <a:t> ja </a:t>
            </a:r>
            <a:r>
              <a:rPr lang="en-US" sz="2000" dirty="0" err="1">
                <a:ea typeface="Inter"/>
                <a:cs typeface="Arial"/>
              </a:rPr>
              <a:t>kui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kaua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kogutakse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töödeldakse</a:t>
            </a:r>
            <a:r>
              <a:rPr lang="en-US" sz="2000" dirty="0">
                <a:ea typeface="Inter"/>
                <a:cs typeface="Arial"/>
              </a:rPr>
              <a:t> (</a:t>
            </a:r>
            <a:r>
              <a:rPr lang="en-US" sz="2000" dirty="0" err="1">
                <a:ea typeface="Inter"/>
                <a:cs typeface="Arial"/>
              </a:rPr>
              <a:t>sh</a:t>
            </a:r>
            <a:r>
              <a:rPr lang="en-US" sz="2000" dirty="0">
                <a:ea typeface="Inter"/>
                <a:cs typeface="Arial"/>
              </a:rPr>
              <a:t> </a:t>
            </a:r>
            <a:r>
              <a:rPr lang="en-US" sz="2000" dirty="0" err="1">
                <a:ea typeface="Inter"/>
                <a:cs typeface="Arial"/>
              </a:rPr>
              <a:t>vaadatakse</a:t>
            </a:r>
            <a:r>
              <a:rPr lang="en-US" sz="2000" dirty="0">
                <a:ea typeface="Inter"/>
                <a:cs typeface="Arial"/>
              </a:rPr>
              <a:t>) ja </a:t>
            </a:r>
            <a:r>
              <a:rPr lang="en-US" sz="2000" dirty="0" err="1">
                <a:ea typeface="Inter"/>
                <a:cs typeface="Arial"/>
              </a:rPr>
              <a:t>hoiustatakse</a:t>
            </a:r>
            <a:r>
              <a:rPr lang="en-US" sz="2000" dirty="0">
                <a:ea typeface="Inter"/>
                <a:cs typeface="Arial"/>
              </a:rPr>
              <a:t>.</a:t>
            </a:r>
            <a:endParaRPr lang="en-US" sz="20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Andmesubjekt</a:t>
            </a:r>
            <a:r>
              <a:rPr lang="en-US" sz="2000" dirty="0">
                <a:ea typeface="Inter"/>
                <a:cs typeface="Arial"/>
              </a:rPr>
              <a:t> - </a:t>
            </a:r>
            <a:r>
              <a:rPr lang="en-US" sz="2000" dirty="0" err="1">
                <a:ea typeface="Inter"/>
                <a:cs typeface="Arial"/>
              </a:rPr>
              <a:t>füüsiline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isik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ehk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inimene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kelle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andmeid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töödeldakse</a:t>
            </a:r>
            <a:r>
              <a:rPr lang="en-US" sz="2000" dirty="0">
                <a:ea typeface="Inter"/>
                <a:cs typeface="Arial"/>
              </a:rPr>
              <a:t>.</a:t>
            </a:r>
            <a:endParaRPr lang="en-US" sz="2000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  <a:hlinkClick r:id="rId3"/>
              </a:rPr>
              <a:t>Isikuandmete</a:t>
            </a:r>
            <a:r>
              <a:rPr lang="en-US" sz="2000" dirty="0">
                <a:ea typeface="Inter"/>
                <a:cs typeface="Arial"/>
                <a:hlinkClick r:id="rId3"/>
              </a:rPr>
              <a:t> </a:t>
            </a:r>
            <a:r>
              <a:rPr lang="en-US" sz="2000" dirty="0" err="1">
                <a:ea typeface="Inter"/>
                <a:cs typeface="Arial"/>
                <a:hlinkClick r:id="rId3"/>
              </a:rPr>
              <a:t>üldkaitse</a:t>
            </a:r>
            <a:r>
              <a:rPr lang="en-US" sz="2000" dirty="0">
                <a:ea typeface="Inter"/>
                <a:cs typeface="Arial"/>
                <a:hlinkClick r:id="rId3"/>
              </a:rPr>
              <a:t> </a:t>
            </a:r>
            <a:r>
              <a:rPr lang="en-US" sz="2000" dirty="0" err="1">
                <a:ea typeface="Inter"/>
                <a:cs typeface="Arial"/>
                <a:hlinkClick r:id="rId3"/>
              </a:rPr>
              <a:t>määrus</a:t>
            </a:r>
            <a:r>
              <a:rPr lang="en-US" sz="2000" dirty="0">
                <a:ea typeface="Inter"/>
                <a:cs typeface="Arial"/>
                <a:hlinkClick r:id="rId3"/>
              </a:rPr>
              <a:t> (IKÜM)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Euroopa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Liidu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määrus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mida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kohaldatakse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Eestis</a:t>
            </a:r>
            <a:r>
              <a:rPr lang="en-US" sz="2000" dirty="0">
                <a:ea typeface="Inter"/>
                <a:cs typeface="Arial"/>
              </a:rPr>
              <a:t> 2018. </a:t>
            </a:r>
            <a:r>
              <a:rPr lang="en-US" sz="2000" dirty="0" err="1">
                <a:ea typeface="Inter"/>
                <a:cs typeface="Arial"/>
              </a:rPr>
              <a:t>aastast</a:t>
            </a:r>
            <a:endParaRPr lang="en-US" sz="2000" dirty="0"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Isikuandmed</a:t>
            </a:r>
            <a:r>
              <a:rPr lang="en-US" sz="2000" dirty="0">
                <a:ea typeface="Inter"/>
                <a:cs typeface="Arial"/>
              </a:rPr>
              <a:t> – </a:t>
            </a:r>
            <a:r>
              <a:rPr lang="en-US" sz="2000" dirty="0" err="1">
                <a:ea typeface="Inter"/>
                <a:cs typeface="Arial"/>
              </a:rPr>
              <a:t>andmed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füüsilise</a:t>
            </a:r>
            <a:r>
              <a:rPr lang="en-US" sz="2000" b="1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isiku</a:t>
            </a:r>
            <a:r>
              <a:rPr lang="en-US" sz="2000" b="1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kohta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mille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abil</a:t>
            </a:r>
            <a:r>
              <a:rPr lang="en-US" sz="2000" dirty="0">
                <a:ea typeface="Inter"/>
                <a:cs typeface="Arial"/>
              </a:rPr>
              <a:t> on </a:t>
            </a:r>
            <a:r>
              <a:rPr lang="en-US" sz="2000" dirty="0" err="1">
                <a:ea typeface="Inter"/>
                <a:cs typeface="Arial"/>
              </a:rPr>
              <a:t>isikut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otseselt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või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kaudselt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võimalik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tuvastada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dirty="0" err="1">
                <a:ea typeface="Inter"/>
                <a:cs typeface="Arial"/>
              </a:rPr>
              <a:t>Lisainfo</a:t>
            </a:r>
            <a:r>
              <a:rPr lang="en-US" dirty="0">
                <a:ea typeface="Inter"/>
                <a:cs typeface="Arial"/>
              </a:rPr>
              <a:t>: </a:t>
            </a:r>
            <a:r>
              <a:rPr lang="en-US" dirty="0">
                <a:ea typeface="Inter"/>
                <a:cs typeface="Arial"/>
                <a:hlinkClick r:id="rId4"/>
              </a:rPr>
              <a:t>https://www.edpb.europa.eu/sme-data-protection-guide/faq-frequently-asked-questions_en</a:t>
            </a:r>
            <a:r>
              <a:rPr lang="en-US" dirty="0">
                <a:ea typeface="Inter"/>
                <a:cs typeface="Arial"/>
              </a:rPr>
              <a:t> </a:t>
            </a:r>
            <a:endParaRPr lang="en-US" dirty="0">
              <a:cs typeface="Arial"/>
            </a:endParaRPr>
          </a:p>
          <a:p>
            <a:pPr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  <a:hlinkClick r:id="rId5"/>
              </a:rPr>
              <a:t>Isikuandmete</a:t>
            </a:r>
            <a:r>
              <a:rPr lang="en-US" sz="2000" dirty="0">
                <a:ea typeface="Inter"/>
                <a:cs typeface="Arial"/>
                <a:hlinkClick r:id="rId5"/>
              </a:rPr>
              <a:t> </a:t>
            </a:r>
            <a:r>
              <a:rPr lang="en-US" sz="2000" dirty="0" err="1">
                <a:ea typeface="Inter"/>
                <a:cs typeface="Arial"/>
                <a:hlinkClick r:id="rId5"/>
              </a:rPr>
              <a:t>kaitse</a:t>
            </a:r>
            <a:r>
              <a:rPr lang="en-US" sz="2000" dirty="0">
                <a:ea typeface="Inter"/>
                <a:cs typeface="Arial"/>
                <a:hlinkClick r:id="rId5"/>
              </a:rPr>
              <a:t> </a:t>
            </a:r>
            <a:r>
              <a:rPr lang="en-US" sz="2000" dirty="0" err="1">
                <a:ea typeface="Inter"/>
                <a:cs typeface="Arial"/>
                <a:hlinkClick r:id="rId5"/>
              </a:rPr>
              <a:t>seadus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  <a:cs typeface="Arial"/>
              </a:rPr>
              <a:t>Täpsustab ja </a:t>
            </a:r>
            <a:r>
              <a:rPr lang="en-US" sz="2000" dirty="0" err="1">
                <a:ea typeface="Inter"/>
                <a:cs typeface="Arial"/>
              </a:rPr>
              <a:t>täiendab</a:t>
            </a:r>
            <a:r>
              <a:rPr lang="en-US" sz="2000" dirty="0">
                <a:ea typeface="Inter"/>
                <a:cs typeface="Arial"/>
              </a:rPr>
              <a:t> IKÜM-</a:t>
            </a:r>
            <a:r>
              <a:rPr lang="en-US" sz="2000" dirty="0" err="1">
                <a:ea typeface="Inter"/>
                <a:cs typeface="Arial"/>
              </a:rPr>
              <a:t>i</a:t>
            </a:r>
            <a:endParaRPr lang="en-US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Eestis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teostab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järelvalvet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Andmekaitse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Inspektsioon</a:t>
            </a:r>
            <a:endParaRPr lang="en-US" sz="20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  <a:buFont typeface="Arial" panose="020B0502030000000004" pitchFamily="34" charset="0"/>
              <a:buChar char="•"/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30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1F3C8-9808-10FB-7E77-00666D6A0C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- </a:t>
            </a:r>
            <a:r>
              <a:rPr lang="en-US" dirty="0" err="1"/>
              <a:t>töötajate</a:t>
            </a:r>
            <a:r>
              <a:rPr lang="en-US" dirty="0"/>
              <a:t> </a:t>
            </a:r>
            <a:r>
              <a:rPr lang="en-US" dirty="0" err="1"/>
              <a:t>andmestik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1D5B4-C589-0639-1E36-78C95C29E6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?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füüsilise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kohta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mille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abil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otseselt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kaudselt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võimalik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tuvastada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Day4 --&gt; HR_dataset.csv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sisaldavad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isikuandmeid</a:t>
            </a:r>
            <a:r>
              <a:rPr lang="en-US" sz="2400" dirty="0">
                <a:ea typeface="Inter"/>
              </a:rPr>
              <a:t>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94503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BCD4B-5EAC-3CF6-4E27-2999E0F3EB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000" dirty="0" err="1"/>
              <a:t>Isikuandmete</a:t>
            </a:r>
            <a:r>
              <a:rPr lang="en-US" sz="2000" dirty="0"/>
              <a:t> </a:t>
            </a:r>
            <a:r>
              <a:rPr lang="en-US" sz="2000" dirty="0" err="1"/>
              <a:t>peitmine</a:t>
            </a:r>
            <a:r>
              <a:rPr lang="en-US" sz="2000" dirty="0"/>
              <a:t> - </a:t>
            </a:r>
            <a:r>
              <a:rPr lang="en-US" sz="2000" b="1" dirty="0"/>
              <a:t>a</a:t>
            </a:r>
            <a:r>
              <a:rPr lang="et-EE" sz="2000" b="1" dirty="0" err="1"/>
              <a:t>nonümiseerimine</a:t>
            </a:r>
            <a:r>
              <a:rPr lang="et-EE" sz="2000" b="1" dirty="0"/>
              <a:t> vs </a:t>
            </a:r>
            <a:r>
              <a:rPr lang="et-EE" sz="2000" b="1" dirty="0" err="1"/>
              <a:t>pseudonümiseerimine</a:t>
            </a:r>
            <a:br>
              <a:rPr lang="et-EE" b="1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205D-3E9E-F4F8-FD74-89B0632FAA6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1800" b="1" dirty="0" err="1"/>
              <a:t>Anonümiseerimine</a:t>
            </a:r>
            <a:r>
              <a:rPr lang="et-EE" sz="1800" dirty="0"/>
              <a:t> eemaldab kõik seosed, mis võimaldaksid isiku tuvastamist, ja seda ei saa tagasi pöörata. See tähendab, et andmed muudetakse täielikult anonüümseks ja neid ei saa enam seostada konkreetse isikuga. </a:t>
            </a:r>
            <a:endParaRPr lang="en-US" sz="1800" dirty="0"/>
          </a:p>
          <a:p>
            <a:pPr lvl="1"/>
            <a:r>
              <a:rPr lang="et-EE" sz="1800" dirty="0"/>
              <a:t>Näiteks võib see hõlmata isikuandmete asendamist juhuslike koodidega, mille puhul ei säilitata seost originaalandmetega.</a:t>
            </a:r>
            <a:endParaRPr lang="en-US" sz="1800" dirty="0"/>
          </a:p>
          <a:p>
            <a:pPr marL="0" indent="0">
              <a:buNone/>
            </a:pPr>
            <a:endParaRPr lang="et-EE" sz="1800" dirty="0"/>
          </a:p>
          <a:p>
            <a:r>
              <a:rPr lang="et-EE" sz="1800" b="1" dirty="0" err="1"/>
              <a:t>Pseudonümiseerimine</a:t>
            </a:r>
            <a:r>
              <a:rPr lang="et-EE" sz="1800" dirty="0"/>
              <a:t> asendab isikuandmed pseudonüümidega, kuid säilitab võimaluse isiku tuvastamiseks täiendava teabe abil. </a:t>
            </a:r>
            <a:endParaRPr lang="en-US" sz="1800" dirty="0"/>
          </a:p>
          <a:p>
            <a:pPr lvl="1"/>
            <a:r>
              <a:rPr lang="et-EE" sz="1800" dirty="0"/>
              <a:t>Näiteks võib meditsiiniuuringus patsientide nimed asendada koodidega, kuid säilitada eraldi turvalises kohas võtme, mis võimaldab koode nimedega siduda.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18FF-6B11-091F-7B66-8FD3F07B7D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50B90-97E7-0D4E-EA85-CAFDF56872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Seaduslik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õiglane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läbipaistev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Eesmärgipärane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Minimaalne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–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kogutakse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võimalikult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vähe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andmeid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Õigsus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vajaduse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korral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ajakohastatud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et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võetakse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kõik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mõistlikud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meetmed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et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töötlemise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seisukohast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ebaõiged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või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parandataks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viivitamata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tutvuda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andmetega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nende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parandamist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kustutamist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Säilitamise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piirang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säilitatakse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kujul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mis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võimaldab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andmesubjekte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tuvastada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ainult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seni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kuni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see on vajalik selle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täitmiseks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milleks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töödeldakse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Usaldusväärsus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konfidentsiaalsus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solidFill>
                <a:srgbClr val="121212"/>
              </a:solidFill>
              <a:latin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6A9C-D90E-64B2-6533-0B27B1FD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0A482-1407-2D38-6603-1037FEF8D3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</a:t>
            </a:r>
            <a:r>
              <a:rPr lang="en-US" sz="3600" b="1"/>
              <a:t> </a:t>
            </a:r>
            <a:r>
              <a:rPr lang="en-US" sz="3600" b="1" err="1"/>
              <a:t>õigused</a:t>
            </a:r>
            <a:r>
              <a:rPr lang="en-US" sz="3600" b="1"/>
              <a:t> </a:t>
            </a:r>
            <a:r>
              <a:rPr lang="en-US" sz="3600" b="1" err="1"/>
              <a:t>seoses</a:t>
            </a:r>
            <a:r>
              <a:rPr lang="en-US" sz="3600" b="1"/>
              <a:t> </a:t>
            </a:r>
            <a:r>
              <a:rPr lang="en-US" sz="3600" b="1" err="1"/>
              <a:t>isikuandmetega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BB59-8E20-D1FA-42BC-79130E9DFF4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olla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unustatud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pärida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need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üle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teise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teenuspakkuja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juurde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muuta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solidFill>
                <a:srgbClr val="121212"/>
              </a:solidFill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51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328DC-AFAE-684E-49BE-951535E7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575A-160C-1C33-FFED-0BF7A25094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seaduslik</a:t>
            </a:r>
            <a:r>
              <a:rPr lang="en-US" sz="3600" b="1"/>
              <a:t> alus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CAB5AB-AF15-477E-FE41-9721611B4E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6 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Lepingu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oleva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ülesande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täitmine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Õigustatud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89218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A7AD0-F255-B3B4-9613-AF33EBA90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Eriliiki</a:t>
            </a:r>
            <a:r>
              <a:rPr lang="en-US" sz="3600" b="1"/>
              <a:t> </a:t>
            </a:r>
            <a:r>
              <a:rPr lang="en-US" sz="3600" b="1" err="1"/>
              <a:t>isikuandmed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B2844-3EB4-8C98-BAC1-04AB054DC6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lnSpc>
                <a:spcPct val="150000"/>
              </a:lnSpc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 sz="2400" err="1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millest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ilmneb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rassiline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etniline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päritolu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poliitilised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vaated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usulised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filosoofilised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veendumused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ametiühingusse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kuulumine</a:t>
            </a:r>
            <a:endParaRPr lang="en-US" err="1">
              <a:solidFill>
                <a:srgbClr val="121212"/>
              </a:solidFill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geneetilised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kordumatuks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tuvastamiseks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kasutatavad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biomeetrilised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terviseandmed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seksuaalelu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ja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sättumuse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kohta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.</a:t>
            </a:r>
            <a:endParaRPr lang="en-US"/>
          </a:p>
          <a:p>
            <a:pPr>
              <a:buFont typeface="Inter"/>
            </a:pPr>
            <a:endParaRPr lang="en-US" sz="2400">
              <a:ea typeface="+mn-lt"/>
              <a:cs typeface="+mn-lt"/>
            </a:endParaRPr>
          </a:p>
          <a:p>
            <a:pPr>
              <a:buFont typeface="Inter"/>
              <a:buChar char="‣"/>
            </a:pPr>
            <a:endParaRPr lang="en-US" sz="2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4386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95A1-410B-63D4-BD13-EE2F752DE0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Eriliigiliste</a:t>
            </a:r>
            <a:r>
              <a:rPr lang="en-US" sz="3600" b="1"/>
              <a:t> </a:t>
            </a:r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alused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DBE44-F9A7-A669-2BB8-033DCC9254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2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Õigusnõude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koostamine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esitamine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või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kaitsmine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Andmesubjekt</a:t>
            </a:r>
            <a:r>
              <a:rPr lang="en-US" sz="2000">
                <a:ea typeface="Inter"/>
                <a:cs typeface="+mn-lt"/>
              </a:rPr>
              <a:t> on </a:t>
            </a:r>
            <a:r>
              <a:rPr lang="en-US" sz="2000" err="1">
                <a:ea typeface="Inter"/>
                <a:cs typeface="+mn-lt"/>
              </a:rPr>
              <a:t>isikuandmed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ise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avalikastanud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Õiguspärase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tegevuse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raames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77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16866-C2D4-7EB2-C742-4CECC09608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Kas tegu on isikuandmete töötlemise rikkumisega?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5A51D-F719-DB7E-B5A7-4CFB6B8E6B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Teenusepakkuja kogub kliendi e-posti aadressi, et saata talle arveid. Hiljem hakkab sama ettevõte seda aadressi kasutama ka </a:t>
            </a:r>
            <a:r>
              <a:rPr lang="et-EE" sz="2000" noProof="0" dirty="0" err="1"/>
              <a:t>poliitreklaamiks</a:t>
            </a:r>
            <a:r>
              <a:rPr lang="et-EE" sz="2000" noProof="0" dirty="0"/>
              <a:t>, ilma kliendi nõusolekuta.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Uue rakenduse kasutaja registreerib end teenusesse ja rakendus küsib temalt suurt hulka isikuandmeid (näiteks usk, poliitilised vaated, laste arv), kuigi teenuse toimimiseks piisaks ainult e-posti aadressist. 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Ettevõte hakkab saatma klientidele arveid ettevõtte uuelt e-posti aadressilt.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Statistikaamet avaldab kokkuvõtlikud tabelid usulise kuuluvuse kohta. </a:t>
            </a:r>
          </a:p>
        </p:txBody>
      </p:sp>
    </p:spTree>
    <p:extLst>
      <p:ext uri="{BB962C8B-B14F-4D97-AF65-F5344CB8AC3E}">
        <p14:creationId xmlns:p14="http://schemas.microsoft.com/office/powerpoint/2010/main" val="122085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30DB7-ABBC-6536-EAED-E2B074AA9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5AFE-F9E5-518B-9C79-BE297FF22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Andmekaitsetingimused</a:t>
            </a:r>
            <a:r>
              <a:rPr lang="en-US" b="1"/>
              <a:t> (</a:t>
            </a:r>
            <a:r>
              <a:rPr lang="en-US" b="1" err="1"/>
              <a:t>Privaatsuspoliitika</a:t>
            </a:r>
            <a:r>
              <a:rPr lang="en-US" b="1"/>
              <a:t>)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F1978-1A6C-E6EA-3F37-9A3C9D36EE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Dokument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andmesubjektile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info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andmiseks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töötlemise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kohta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Peab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sisaldama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:</a:t>
            </a:r>
            <a:endParaRPr lang="en-US"/>
          </a:p>
          <a:p>
            <a:pPr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Milliseid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kogutakse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nimi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e-mail,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asukoht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IP-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aadress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turundustegevuseks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teenuste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osutamiseks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Kellega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jagatakse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edastatakse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kolmandatele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osapooltele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(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Meta)?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ja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kaua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ning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nende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hoiustamine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turvaline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kodulehel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küpsiseid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ehk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külastaja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tegevuse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jälgimise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tehnoloogiaid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/>
          </a:p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Andmesubjektil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õigus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oma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nõusolek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töötlemiseks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igal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ajal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tagasi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võtta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7172F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3131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45178-9EA6-04AF-41FB-F00766ED6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D0B33-2A0E-8759-0001-AFD2ECD182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624C10-1BA8-8DB0-67FC-6BB9563330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17117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sz="2000" err="1">
                <a:ea typeface="+mn-lt"/>
                <a:cs typeface="+mn-lt"/>
              </a:rPr>
              <a:t>Enneta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mitte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ära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tegele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tagajärgedega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tegevusse ning tema infosüsteemidesse sisse ehitatud enne isikuandmete töötlemisega alustamist; </a:t>
            </a:r>
            <a:endParaRPr lang="en-US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korrapärasus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süsteemsus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sisse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ehitatud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infosüsteemide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disaini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arhitektuuri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äritegevusse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olles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tuumfunktsionaalsusest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Andmetöötleja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hindab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korrapäraselt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võimalikke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ohte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rakendab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vastavalt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olukorrale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täiendavaid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kaitsemeetmeid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algusest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lõpuni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turvaline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Alates </a:t>
            </a:r>
            <a:r>
              <a:rPr lang="en-US" err="1">
                <a:ea typeface="+mn-lt"/>
                <a:cs typeface="+mn-lt"/>
              </a:rPr>
              <a:t>isikuandmete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esmasest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kogumisest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hävitamiseni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rakendatud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asjakohased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ajakohastatud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turvameetmed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läbipaistev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vastutustundlik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Kõigile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kaasatud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isikutele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peab</a:t>
            </a:r>
            <a:r>
              <a:rPr lang="en-US">
                <a:ea typeface="+mn-lt"/>
                <a:cs typeface="+mn-lt"/>
              </a:rPr>
              <a:t> olema üheselt arusaadav, mis on andmetöötluse eesmärk.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Andmesubjektile on </a:t>
            </a:r>
            <a:r>
              <a:rPr lang="en-US" err="1">
                <a:ea typeface="+mn-lt"/>
                <a:cs typeface="+mn-lt"/>
              </a:rPr>
              <a:t>tagatud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tema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eesmärgi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kui</a:t>
            </a:r>
            <a:r>
              <a:rPr lang="en-US">
                <a:ea typeface="+mn-lt"/>
                <a:cs typeface="+mn-lt"/>
              </a:rPr>
              <a:t> ta õiguste </a:t>
            </a:r>
            <a:r>
              <a:rPr lang="en-US" err="1">
                <a:ea typeface="+mn-lt"/>
                <a:cs typeface="+mn-lt"/>
              </a:rPr>
              <a:t>kohta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suhtes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kergelt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kättesaadav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selgelt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lihtsalt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sõnastatud</a:t>
            </a:r>
            <a:r>
              <a:rPr lang="en-US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Organisatsioon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sõlminud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koostööpartneritega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õiguspärased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andmetöötluslepingud</a:t>
            </a:r>
            <a:r>
              <a:rPr lang="en-US">
                <a:ea typeface="+mn-lt"/>
                <a:cs typeface="+mn-lt"/>
              </a:rPr>
              <a:t>. 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A2B6-2FA5-96F5-681E-7E41C9F60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300D5-9B3C-162A-4B58-FF55402E5E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Vaikimisi</a:t>
            </a:r>
            <a:r>
              <a:rPr lang="en-US"/>
              <a:t> </a:t>
            </a:r>
            <a:r>
              <a:rPr lang="en-US" err="1"/>
              <a:t>andmekaitse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3538C-F300-EDBC-ADF6-B19FCB8385E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>
                <a:ea typeface="+mn-lt"/>
                <a:cs typeface="+mn-lt"/>
              </a:rPr>
              <a:t> = </a:t>
            </a:r>
            <a:r>
              <a:rPr lang="en-US" sz="2000" err="1">
                <a:ea typeface="+mn-lt"/>
                <a:cs typeface="+mn-lt"/>
              </a:rPr>
              <a:t>vaikelahendusena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algseadistusena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sätestatud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tingimused</a:t>
            </a:r>
            <a:endParaRPr lang="en-US" sz="20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Vaikelahendus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privaatsussõbralikum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väiksemate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ohtudega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Suuremaid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sisaldavad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valikud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peaksid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need, </a:t>
            </a:r>
            <a:r>
              <a:rPr lang="en-US" sz="2000" err="1">
                <a:ea typeface="+mn-lt"/>
                <a:cs typeface="+mn-lt"/>
              </a:rPr>
              <a:t>mida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vaikelahenduse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asemele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Vaikimisi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tuleb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hädavajalikku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minimaalteavet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614930-731E-5DEE-1CD9-F87FB3285F83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367F-3396-082B-66D9-839F00A13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9AD4F-1363-83EA-B854-BE0B8A17CC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roll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FFC2-F0D8-A263-0E3B-B405923230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olla </a:t>
            </a:r>
            <a:r>
              <a:rPr lang="en-US" sz="2000" err="1">
                <a:ea typeface="+mn-lt"/>
                <a:cs typeface="+mn-lt"/>
              </a:rPr>
              <a:t>andmesubjektidele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kõigis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küsimustes</a:t>
            </a:r>
            <a:r>
              <a:rPr lang="en-US" sz="2000">
                <a:ea typeface="+mn-lt"/>
                <a:cs typeface="+mn-lt"/>
              </a:rPr>
              <a:t>, mis on </a:t>
            </a:r>
            <a:r>
              <a:rPr lang="en-US" sz="2000" err="1">
                <a:ea typeface="+mn-lt"/>
                <a:cs typeface="+mn-lt"/>
              </a:rPr>
              <a:t>seotud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töötlemise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kasutamisega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 err="1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teavitada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nõustada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organisatsiooni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vajadusel</a:t>
            </a:r>
            <a:r>
              <a:rPr lang="en-US" sz="2000">
                <a:ea typeface="+mn-lt"/>
                <a:cs typeface="+mn-lt"/>
              </a:rPr>
              <a:t> ka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partnerite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juhtkonda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alal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andmekaitsenormide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rakendamist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sealhulgas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vastutusvaldkondade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jaotamist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teadlikkust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koolitamist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auditeerimist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seoses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andmekaitsealase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mõjuhinnanguga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toimimist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teha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koostööd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Inspektsiooniga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olles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tööandja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72513E-C58D-C395-84EF-B8B11D7EA09C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20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7BA15-FE95-ED4A-59C1-CBF905252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7F57B-5641-1979-CECB-A828F9903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</a:t>
            </a:r>
            <a:r>
              <a:rPr lang="en-US" err="1"/>
              <a:t>määramise</a:t>
            </a:r>
            <a:r>
              <a:rPr lang="en-US"/>
              <a:t> </a:t>
            </a:r>
            <a:r>
              <a:rPr lang="en-US" err="1"/>
              <a:t>kohustus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ADC98-99E4-0C63-4015-CAD0B61845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Andmekaitsespetsialisti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määrama</a:t>
            </a: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+mn-lt"/>
                <a:cs typeface="+mn-lt"/>
              </a:rPr>
              <a:t>kõik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avaliku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sektori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asutused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organid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v.a.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õigusemõistmise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osas</a:t>
            </a:r>
            <a:r>
              <a:rPr lang="en-US" sz="2000">
                <a:ea typeface="+mn-lt"/>
                <a:cs typeface="+mn-lt"/>
              </a:rPr>
              <a:t>);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korrapäraselt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süsteemselt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eriliike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süüteoandmeid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süüdimõistavaid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kohtuotsuseid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29059-A2F9-6FC5-5F53-5CC770523F9F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24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63DD9-0882-AD0B-6772-D5A3DE02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4023-6D97-4D40-E848-E0E0901C3E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Vastutav</a:t>
            </a:r>
            <a:r>
              <a:rPr lang="en-US"/>
              <a:t> ja </a:t>
            </a:r>
            <a:r>
              <a:rPr lang="en-US" err="1"/>
              <a:t>volitav</a:t>
            </a:r>
            <a:r>
              <a:rPr lang="en-US"/>
              <a:t> </a:t>
            </a:r>
            <a:r>
              <a:rPr lang="en-US" err="1"/>
              <a:t>töötleja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3C07A-F125-3E4C-9D1D-040C8E417C7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 </a:t>
            </a:r>
            <a:r>
              <a:rPr lang="en-US" sz="2000" err="1">
                <a:ea typeface="+mn-lt"/>
                <a:cs typeface="+mn-lt"/>
              </a:rPr>
              <a:t>ettevõte</a:t>
            </a:r>
            <a:r>
              <a:rPr lang="en-US" sz="2000">
                <a:ea typeface="+mn-lt"/>
                <a:cs typeface="+mn-lt"/>
              </a:rPr>
              <a:t>/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kindlaks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eesmärgid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vahendid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Volitatud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nimel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ülesandel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töötleb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läbiviija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 </a:t>
            </a:r>
            <a:r>
              <a:rPr lang="en-US" sz="2000" err="1">
                <a:ea typeface="+mn-lt"/>
                <a:cs typeface="+mn-lt"/>
              </a:rPr>
              <a:t>Vastuvõtja</a:t>
            </a:r>
            <a:r>
              <a:rPr lang="en-US" sz="2000">
                <a:ea typeface="+mn-lt"/>
                <a:cs typeface="+mn-lt"/>
              </a:rPr>
              <a:t> on </a:t>
            </a:r>
            <a:r>
              <a:rPr lang="en-US" sz="2000" err="1">
                <a:ea typeface="+mn-lt"/>
                <a:cs typeface="+mn-lt"/>
              </a:rPr>
              <a:t>iga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kellele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avaldatakse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kui</a:t>
            </a:r>
            <a:r>
              <a:rPr lang="en-US" sz="1800">
                <a:ea typeface="+mn-lt"/>
                <a:cs typeface="+mn-lt"/>
              </a:rPr>
              <a:t> ka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juures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töötavad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füüsilised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isikud</a:t>
            </a:r>
            <a:endParaRPr lang="en-US" sz="18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38BD2-0AEC-7390-168D-7F3E71691C93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72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7EED-C7C3-A543-597B-884CD5C6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0E785-FD21-250F-EA36-3D00F0FD6D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kokkuvõte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F15C8-BFC0-462A-CF64-448D5904B69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Peab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olema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eesmärgipärane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seaduslik</a:t>
            </a:r>
          </a:p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Kui </a:t>
            </a:r>
            <a:r>
              <a:rPr lang="en-US" sz="2000" err="1">
                <a:ea typeface="Inter"/>
              </a:rPr>
              <a:t>ettevõttes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määratud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andmekaitsespetsialist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siis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pöördu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kahtluse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korral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poole</a:t>
            </a:r>
            <a:r>
              <a:rPr lang="en-US" sz="2000">
                <a:ea typeface="Inter"/>
              </a:rPr>
              <a:t>. 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104031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E9D1A-D010-A2FD-742D-5F5DB359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315A1-2EB7-0018-E763-B73E367604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Lisamaterjale</a:t>
            </a:r>
            <a:r>
              <a:rPr lang="en-US" sz="2800"/>
              <a:t> </a:t>
            </a:r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kohta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E086A-9AC8-70D7-09C0-66D170C0AB7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8E1D98-B1F7-F3A1-53F6-04E762FE62F5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 err="1">
                <a:ea typeface="Inter"/>
              </a:rPr>
              <a:t>Andmekaitse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inspektsioon</a:t>
            </a:r>
            <a:r>
              <a:rPr lang="en-US" sz="2400" dirty="0">
                <a:ea typeface="Inter"/>
              </a:rPr>
              <a:t>: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>
                <a:ea typeface="Inter"/>
                <a:hlinkClick r:id="rId2"/>
              </a:rPr>
              <a:t>Andmekaitse ABC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400" dirty="0">
                <a:ea typeface="Inter"/>
                <a:hlinkClick r:id="rId3"/>
              </a:rPr>
              <a:t>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2968960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CC9D2-131C-7510-37F5-A18740C279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Andmete kaitsmine töövahendites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B1556-C616-8047-E6FB-0B045B3524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Object level</a:t>
            </a:r>
          </a:p>
          <a:p>
            <a:r>
              <a:rPr lang="et-EE" dirty="0"/>
              <a:t>Item level</a:t>
            </a:r>
          </a:p>
          <a:p>
            <a:r>
              <a:rPr lang="et-EE" dirty="0"/>
              <a:t>Row level</a:t>
            </a:r>
          </a:p>
          <a:p>
            <a:r>
              <a:rPr lang="et-EE" dirty="0"/>
              <a:t>Column level </a:t>
            </a:r>
          </a:p>
          <a:p>
            <a:r>
              <a:rPr lang="et-EE" dirty="0"/>
              <a:t>Power BI</a:t>
            </a:r>
          </a:p>
          <a:p>
            <a:r>
              <a:rPr lang="et-EE"/>
              <a:t>SQL</a:t>
            </a:r>
          </a:p>
        </p:txBody>
      </p:sp>
    </p:spTree>
    <p:extLst>
      <p:ext uri="{BB962C8B-B14F-4D97-AF65-F5344CB8AC3E}">
        <p14:creationId xmlns:p14="http://schemas.microsoft.com/office/powerpoint/2010/main" val="7275026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DB218-5E3A-367F-021B-630DDB20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611B-EDDD-19FC-1455-EECFE20A7D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5D50AD9-8154-F045-E96F-F3431C772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406148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47BC0-79F6-AB62-E18D-E728B50E09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F04F-79CF-D596-2442-C7AA52CDBB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 err="1"/>
              <a:t>Külalisesineja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18719666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AEDE8-4802-6D47-FC8C-0D71004B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F3FF4-C04B-25BA-46AE-8BE14DC04A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02593E-1699-CD76-2AB7-FB29D7F74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8768" y="2657045"/>
            <a:ext cx="6575007" cy="357043"/>
          </a:xfrm>
        </p:spPr>
        <p:txBody>
          <a:bodyPr/>
          <a:lstStyle/>
          <a:p>
            <a:r>
              <a:rPr lang="en-US" dirty="0"/>
              <a:t>Paus 15:00-15:15</a:t>
            </a:r>
          </a:p>
        </p:txBody>
      </p:sp>
    </p:spTree>
    <p:extLst>
      <p:ext uri="{BB962C8B-B14F-4D97-AF65-F5344CB8AC3E}">
        <p14:creationId xmlns:p14="http://schemas.microsoft.com/office/powerpoint/2010/main" val="32672415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34A3-72D8-5D29-2448-58E6D1B71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B47EC-5600-1AFF-8D51-BA5BBCCFFA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Lõputööde</a:t>
            </a:r>
            <a:r>
              <a:rPr lang="en-US" sz="3200" dirty="0"/>
              <a:t> </a:t>
            </a:r>
            <a:r>
              <a:rPr lang="en-US" sz="3200" dirty="0" err="1"/>
              <a:t>teemade</a:t>
            </a:r>
            <a:r>
              <a:rPr lang="en-US" sz="3200" dirty="0"/>
              <a:t> </a:t>
            </a:r>
            <a:r>
              <a:rPr lang="en-US" sz="3200" dirty="0" err="1"/>
              <a:t>valik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40404954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6A996-23D2-B576-6510-367A13604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1C437-2748-44B4-FECA-B0781AA359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AB89A-331D-46B7-10E3-87ABBD0779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Kliendiga</a:t>
            </a:r>
            <a:r>
              <a:rPr lang="en-US" sz="3200" dirty="0"/>
              <a:t> </a:t>
            </a:r>
            <a:r>
              <a:rPr lang="en-US" sz="3200" dirty="0" err="1"/>
              <a:t>kohtumise</a:t>
            </a:r>
            <a:r>
              <a:rPr lang="en-US" sz="3200" dirty="0"/>
              <a:t> </a:t>
            </a:r>
            <a:r>
              <a:rPr lang="en-US" sz="3200" dirty="0" err="1"/>
              <a:t>ajad</a:t>
            </a:r>
            <a:r>
              <a:rPr lang="en-US" sz="3200" dirty="0"/>
              <a:t> </a:t>
            </a:r>
            <a:r>
              <a:rPr lang="en-US" sz="3200" dirty="0" err="1"/>
              <a:t>teisipäevaks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26629550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</a:t>
            </a:r>
            <a:r>
              <a:rPr lang="en-US" b="1" dirty="0" err="1"/>
              <a:t>osad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  <a:cs typeface="Noto Serif"/>
              </a:rPr>
              <a:t>Ettevõtte</a:t>
            </a:r>
            <a:r>
              <a:rPr lang="en-US" sz="2000">
                <a:ea typeface="Inter"/>
                <a:cs typeface="Noto Serif"/>
              </a:rPr>
              <a:t> ja </a:t>
            </a:r>
            <a:r>
              <a:rPr lang="en-US" sz="2000" err="1">
                <a:ea typeface="Inter"/>
                <a:cs typeface="Noto Serif"/>
              </a:rPr>
              <a:t>uurimisprobleemi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tutvustus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Uurimisplaan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Andmekaitse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kirjeldus</a:t>
            </a:r>
            <a:r>
              <a:rPr lang="en-US" sz="2000">
                <a:ea typeface="Inter"/>
                <a:cs typeface="Noto Serif"/>
              </a:rPr>
              <a:t> – mis </a:t>
            </a:r>
            <a:r>
              <a:rPr lang="en-US" sz="2000" err="1">
                <a:ea typeface="Inter"/>
                <a:cs typeface="Noto Serif"/>
              </a:rPr>
              <a:t>alustel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andmeid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töödeldakse</a:t>
            </a:r>
            <a:r>
              <a:rPr lang="en-US" sz="2000">
                <a:ea typeface="Inter"/>
                <a:cs typeface="Noto Serif"/>
              </a:rPr>
              <a:t>?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Ärisõnastik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andmemudel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andmesõnastik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Andmevoog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Näidisandmestiku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kvaliteedi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kontroll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eksploratiivne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statistiline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Kirjeldav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raport</a:t>
            </a:r>
            <a:r>
              <a:rPr lang="en-US" sz="2000">
                <a:ea typeface="Inter"/>
                <a:cs typeface="Noto Serif"/>
              </a:rPr>
              <a:t> /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Andmelugu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järeldused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024B8-E587-E3FE-2649-C69E942C1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62382-376F-D403-218E-FAD6D454E7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- GitHub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F7352-F93B-EE31-220C-F9E2EC9BDA2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Looge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projekt</a:t>
            </a:r>
            <a:r>
              <a:rPr lang="en-US" sz="2400" dirty="0">
                <a:ea typeface="Inter"/>
                <a:cs typeface="Noto Serif"/>
              </a:rPr>
              <a:t> – </a:t>
            </a:r>
            <a:r>
              <a:rPr lang="en-US" sz="2400" dirty="0" err="1">
                <a:ea typeface="Inter"/>
                <a:cs typeface="Noto Serif"/>
              </a:rPr>
              <a:t>avalik</a:t>
            </a:r>
            <a:r>
              <a:rPr lang="en-US" sz="2400" dirty="0">
                <a:ea typeface="Inter"/>
                <a:cs typeface="Noto Serif"/>
              </a:rPr>
              <a:t> repository </a:t>
            </a:r>
            <a:r>
              <a:rPr lang="en-US" sz="2400" dirty="0" err="1">
                <a:ea typeface="Inter"/>
                <a:cs typeface="Noto Serif"/>
              </a:rPr>
              <a:t>mõne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GitHubis</a:t>
            </a:r>
            <a:endParaRPr lang="en-US" sz="240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Lisage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teised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grupiliikmed</a:t>
            </a:r>
            <a:r>
              <a:rPr lang="en-US" sz="2400" dirty="0">
                <a:ea typeface="Inter"/>
                <a:cs typeface="Noto Serif"/>
              </a:rPr>
              <a:t> Collaborators </a:t>
            </a:r>
            <a:r>
              <a:rPr lang="en-US" sz="2400" dirty="0" err="1">
                <a:ea typeface="Inter"/>
                <a:cs typeface="Noto Serif"/>
              </a:rPr>
              <a:t>alla</a:t>
            </a:r>
            <a:endParaRPr lang="en-US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</a:rPr>
              <a:t>Clone repository </a:t>
            </a:r>
            <a:r>
              <a:rPr lang="en-US" sz="2400" dirty="0" err="1">
                <a:ea typeface="Inter"/>
                <a:cs typeface="Noto Serif"/>
              </a:rPr>
              <a:t>oma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kohalikku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arvutisse</a:t>
            </a:r>
            <a:endParaRPr lang="en-US" sz="2400" dirty="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Leppige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kokku</a:t>
            </a:r>
            <a:r>
              <a:rPr lang="en-US" sz="2400" dirty="0">
                <a:ea typeface="Inter"/>
                <a:cs typeface="Noto Serif"/>
              </a:rPr>
              <a:t>, </a:t>
            </a:r>
            <a:r>
              <a:rPr lang="en-US" sz="2400" dirty="0" err="1">
                <a:ea typeface="Inter"/>
                <a:cs typeface="Noto Serif"/>
              </a:rPr>
              <a:t>kuidas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muutusi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üles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laete</a:t>
            </a:r>
            <a:endParaRPr lang="en-US" sz="2400" dirty="0" err="1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 err="1">
                <a:ea typeface="Inter"/>
                <a:cs typeface="Noto Serif"/>
              </a:rPr>
              <a:t>Nt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uue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"feature/..." Branch</a:t>
            </a:r>
            <a:endParaRPr lang="en-US" sz="240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>
                <a:ea typeface="Inter"/>
                <a:cs typeface="Noto Serif"/>
              </a:rPr>
              <a:t>Kui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branch, </a:t>
            </a:r>
            <a:r>
              <a:rPr lang="en-US" sz="2400" dirty="0" err="1">
                <a:ea typeface="Inter"/>
                <a:cs typeface="Noto Serif"/>
              </a:rPr>
              <a:t>siis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pärast</a:t>
            </a:r>
            <a:r>
              <a:rPr lang="en-US" sz="2400" dirty="0">
                <a:ea typeface="Inter"/>
                <a:cs typeface="Noto Serif"/>
              </a:rPr>
              <a:t> Pull </a:t>
            </a:r>
            <a:r>
              <a:rPr lang="en-US" sz="2400" dirty="0" err="1">
                <a:ea typeface="Inter"/>
                <a:cs typeface="Noto Serif"/>
              </a:rPr>
              <a:t>Request'I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kustutada</a:t>
            </a:r>
            <a:r>
              <a:rPr lang="en-US" sz="2400" dirty="0">
                <a:ea typeface="Inter"/>
                <a:cs typeface="Noto Serif"/>
              </a:rPr>
              <a:t> feature branch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740790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0EE9B-3020-A266-14D5-3A10FD23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3CE6-A314-B235-7804-1DB6617CEB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Versioonihaldus</a:t>
            </a:r>
            <a:r>
              <a:rPr lang="en-US" dirty="0"/>
              <a:t> – </a:t>
            </a:r>
            <a:r>
              <a:rPr lang="en-US" dirty="0" err="1"/>
              <a:t>muutuste</a:t>
            </a:r>
            <a:r>
              <a:rPr lang="en-US" dirty="0"/>
              <a:t> </a:t>
            </a:r>
            <a:r>
              <a:rPr lang="en-US" dirty="0" err="1"/>
              <a:t>üles</a:t>
            </a:r>
            <a:r>
              <a:rPr lang="en-US" dirty="0"/>
              <a:t> </a:t>
            </a:r>
            <a:r>
              <a:rPr lang="en-US" dirty="0" err="1"/>
              <a:t>laadimine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73C7E-895D-19CD-768D-5D677901F5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Tee </a:t>
            </a:r>
            <a:r>
              <a:rPr lang="en-US" sz="2400" dirty="0" err="1">
                <a:ea typeface="Inter"/>
              </a:rPr>
              <a:t>muutused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kohalikus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kaustas</a:t>
            </a:r>
            <a:endParaRPr lang="en-US" sz="2400" dirty="0">
              <a:ea typeface="Inter"/>
            </a:endParaRP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Vali </a:t>
            </a:r>
            <a:r>
              <a:rPr lang="en-US" sz="2400" dirty="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loo </a:t>
            </a:r>
            <a:r>
              <a:rPr lang="en-US" sz="2400" dirty="0" err="1">
                <a:ea typeface="Inter"/>
              </a:rPr>
              <a:t>uus</a:t>
            </a:r>
            <a:r>
              <a:rPr lang="en-US" sz="2400" dirty="0">
                <a:ea typeface="Inter"/>
              </a:rPr>
              <a:t> “feature/..” branch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Pull from main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Lisa </a:t>
            </a:r>
            <a:r>
              <a:rPr lang="en-US" sz="2400" dirty="0" err="1">
                <a:ea typeface="Inter"/>
              </a:rPr>
              <a:t>kommentaar</a:t>
            </a:r>
            <a:r>
              <a:rPr lang="en-US" sz="2400" dirty="0">
                <a:ea typeface="Inter"/>
              </a:rPr>
              <a:t> ja Commit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Sync Changes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Vali </a:t>
            </a:r>
            <a:r>
              <a:rPr lang="en-US" sz="2400" dirty="0" err="1">
                <a:ea typeface="Inter"/>
              </a:rPr>
              <a:t>loodud</a:t>
            </a:r>
            <a:r>
              <a:rPr lang="en-US" sz="2400" dirty="0">
                <a:ea typeface="Inter"/>
              </a:rPr>
              <a:t> Branch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Kliki</a:t>
            </a:r>
            <a:r>
              <a:rPr lang="en-US" sz="2400" dirty="0">
                <a:ea typeface="Inter"/>
              </a:rPr>
              <a:t> "This branch is 1 commit ahead"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Create Pull Request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Merge Pull Request</a:t>
            </a:r>
            <a:endParaRPr lang="en-US" sz="2400" dirty="0"/>
          </a:p>
          <a:p>
            <a:pPr>
              <a:buClr>
                <a:srgbClr val="121212"/>
              </a:buClr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942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D8D0-6DB4-575E-917E-EF17163568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4898-1A89-32D0-7964-55457B42E9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 err="1"/>
              <a:t>Leppime</a:t>
            </a:r>
            <a:r>
              <a:rPr lang="en-US" sz="2400" dirty="0"/>
              <a:t> </a:t>
            </a:r>
            <a:r>
              <a:rPr lang="en-US" sz="2400" dirty="0" err="1"/>
              <a:t>kokku</a:t>
            </a:r>
            <a:r>
              <a:rPr lang="en-US" sz="2400" dirty="0"/>
              <a:t> </a:t>
            </a:r>
            <a:r>
              <a:rPr lang="en-US" sz="2400" dirty="0" err="1"/>
              <a:t>kohtumise</a:t>
            </a:r>
            <a:r>
              <a:rPr lang="en-US" sz="2400" dirty="0"/>
              <a:t> </a:t>
            </a:r>
            <a:r>
              <a:rPr lang="en-US" sz="2400" dirty="0" err="1"/>
              <a:t>ajad</a:t>
            </a:r>
            <a:r>
              <a:rPr lang="en-US" sz="2400" dirty="0"/>
              <a:t> </a:t>
            </a:r>
            <a:r>
              <a:rPr lang="en-US" sz="2400" dirty="0" err="1"/>
              <a:t>kliendiga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51935356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1745</Words>
  <Application>Microsoft Office PowerPoint</Application>
  <PresentationFormat>Widescreen</PresentationFormat>
  <Paragraphs>256</Paragraphs>
  <Slides>30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0" baseType="lpstr">
      <vt:lpstr>Inter</vt:lpstr>
      <vt:lpstr>Poppins SemiBold</vt:lpstr>
      <vt:lpstr>Courier New,monospace</vt:lpstr>
      <vt:lpstr>Arial</vt:lpstr>
      <vt:lpstr>Arial,Sans-Serif</vt:lpstr>
      <vt:lpstr>Inter Bold</vt:lpstr>
      <vt:lpstr>Noto Serif</vt:lpstr>
      <vt:lpstr>Courier New</vt:lpstr>
      <vt:lpstr>Calibri</vt:lpstr>
      <vt:lpstr>BCS</vt:lpstr>
      <vt:lpstr>Vali Andmetarkus!</vt:lpstr>
      <vt:lpstr>Päevakava - X päev</vt:lpstr>
      <vt:lpstr>Andmekaitse</vt:lpstr>
      <vt:lpstr>Harjutus - töötajate andmestik</vt:lpstr>
      <vt:lpstr>Isikuandmete peitmine - anonümiseerimine vs pseudonümiseerimine </vt:lpstr>
      <vt:lpstr>Isikuandmete töötlemise põhimõtted</vt:lpstr>
      <vt:lpstr>Isiku õigused seoses isikuandmetega</vt:lpstr>
      <vt:lpstr>Isikuandmete töötlemise seaduslik alus</vt:lpstr>
      <vt:lpstr>Eriliiki isikuandmed</vt:lpstr>
      <vt:lpstr>Eriliigiliste isikuandmete töötlemise alused</vt:lpstr>
      <vt:lpstr>Kas tegu on isikuandmete töötlemise rikkumisega?</vt:lpstr>
      <vt:lpstr>Andmekaitsetingimused (Privaatsuspoliitika)</vt:lpstr>
      <vt:lpstr>Paus 10:30-10:45</vt:lpstr>
      <vt:lpstr>Lõimitud andmekaitse põhimõtted</vt:lpstr>
      <vt:lpstr>Vaikimisi andmekaitse</vt:lpstr>
      <vt:lpstr>Andmekaitsespetsialisti roll</vt:lpstr>
      <vt:lpstr>Andmekaitsespetsialisti määramise kohustus</vt:lpstr>
      <vt:lpstr>Vastutav ja volitav töötleja</vt:lpstr>
      <vt:lpstr>Andmekaitse kokkuvõte</vt:lpstr>
      <vt:lpstr>Lisamaterjale andmekaitse kohta</vt:lpstr>
      <vt:lpstr>Andmete kaitsmine töövahendites</vt:lpstr>
      <vt:lpstr>Lõunapaus 12:15-13:15</vt:lpstr>
      <vt:lpstr>PowerPoint Presentation</vt:lpstr>
      <vt:lpstr>Paus 15:00-15:15</vt:lpstr>
      <vt:lpstr>PowerPoint Presentation</vt:lpstr>
      <vt:lpstr>PowerPoint Presentation</vt:lpstr>
      <vt:lpstr>Lõputöö osad</vt:lpstr>
      <vt:lpstr>Lõputöö - GitHub</vt:lpstr>
      <vt:lpstr>Versioonihaldus – muutuste üles laadimine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163</cp:revision>
  <dcterms:created xsi:type="dcterms:W3CDTF">2021-08-27T11:35:28Z</dcterms:created>
  <dcterms:modified xsi:type="dcterms:W3CDTF">2026-08-27T18:13:08Z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