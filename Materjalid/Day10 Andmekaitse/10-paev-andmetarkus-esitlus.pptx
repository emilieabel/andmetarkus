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493" r:id="rId5"/>
    <p:sldId id="514" r:id="rId6"/>
    <p:sldId id="259" r:id="rId7"/>
    <p:sldId id="670" r:id="rId8"/>
    <p:sldId id="260" r:id="rId9"/>
    <p:sldId id="518" r:id="rId10"/>
    <p:sldId id="519" r:id="rId11"/>
    <p:sldId id="265" r:id="rId12"/>
    <p:sldId id="261" r:id="rId13"/>
    <p:sldId id="440" r:id="rId14"/>
    <p:sldId id="524" r:id="rId15"/>
    <p:sldId id="671" r:id="rId16"/>
    <p:sldId id="262" r:id="rId17"/>
    <p:sldId id="646" r:id="rId18"/>
    <p:sldId id="672" r:id="rId19"/>
    <p:sldId id="268" r:id="rId20"/>
    <p:sldId id="267" r:id="rId21"/>
    <p:sldId id="523" r:id="rId22"/>
    <p:sldId id="673" r:id="rId23"/>
    <p:sldId id="674" r:id="rId24"/>
    <p:sldId id="521" r:id="rId25"/>
    <p:sldId id="504" r:id="rId26"/>
    <p:sldId id="576" r:id="rId27"/>
    <p:sldId id="490" r:id="rId28"/>
  </p:sldIdLst>
  <p:sldSz cx="12192000" cy="6858000"/>
  <p:notesSz cx="6858000" cy="9144000"/>
  <p:embeddedFontLst>
    <p:embeddedFont>
      <p:font typeface="Inter" panose="020B0604020202020204" charset="0"/>
      <p:regular r:id="rId31"/>
      <p:bold r:id="rId32"/>
      <p:italic r:id="rId33"/>
      <p:boldItalic r:id="rId34"/>
    </p:embeddedFont>
    <p:embeddedFont>
      <p:font typeface="Inter Bold" panose="020B0604020202020204" charset="0"/>
      <p:bold r:id="rId35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openxmlformats.org/officeDocument/2006/relationships/font" Target="fonts/font5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2:31.307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2:31.307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2:31.307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2:20.198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10.09.2026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Relationship Id="rId5" Type="http://schemas.openxmlformats.org/officeDocument/2006/relationships/hyperlink" Target="https://www.riigiteataja.ee/akt/106032026010" TargetMode="External"/><Relationship Id="rId4" Type="http://schemas.openxmlformats.org/officeDocument/2006/relationships/hyperlink" Target="https://www.aki.ee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78611949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Andmehaldus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Power BI-s PostgreSQL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baasi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pealt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Isikuandmete töötlemise põhimõtted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Seaduslik, õiglane ja läbipaistev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Töötlemine peab olema seaduslik, õiglane ja inimesele arusaadav.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6052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16552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Eesmärgipärane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655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kogutakse ja kasutatakse ainult kindlal, selgel eesmärgil.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11311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Minimaalne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1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Kogutakse võimalikult vähe andmeid — ainult see, mida eesmärk tegelikult vajab.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6576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Õigsus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Isikuandmed on õiged ja vajaduse korral ajakohastatud.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Ebaõiged andmed kustutatakse või parandatakse viivitamata.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Isikul on õigus tutvuda oma andmetega ning paluda parandamist ja kustutamist.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6052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16052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16552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Säilitamise piirang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655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hoitakse tuvastataval kujul ainult seni, kuni see on eesmärgi täitmiseks vajalik.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55279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955279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11311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Usaldusväärsus ja konfidentsiaalsus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1311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kaitstakse loata ligipääsu, kadumise ja väärkasutuse eest.</a:t>
            </a:r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Eesti kontekst: mis reguleerib ja kus on infot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Juhised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2"/>
              </a:rPr>
              <a:t>kratid.ee/juhised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3"/>
              </a:rPr>
              <a:t>stat.ee — andmehalduse juhised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Andmekaitse Inspektsioon (AKI)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Eesti riiklik järelevalveasutus.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Praktilised juhendid IAKS-i ja GDPR-i täitmiseks.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06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07073"/>
                </a:solidFill>
                <a:latin typeface="Calibri"/>
                <a:hlinkClick r:id="rId4"/>
              </a:rPr>
              <a:t>www.aki.ee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5669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3493008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seadus (IAKS)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886200"/>
            <a:ext cx="525780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Eesti riiklik seadus, mis täpsustab ja täiendab EL-i üldmäärust seal, kus riikidele on jäetud otsustusõigus.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Näiteks: töötlemine ajakirjanduslikul eesmärgil; lapse nõusoleku vanusepiirang e-teenustes.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06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07073"/>
                </a:solidFill>
                <a:latin typeface="Calibri"/>
                <a:hlinkClick r:id="rId5"/>
              </a:rPr>
              <a:t>Riigi Teataja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83280"/>
            <a:ext cx="55321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349300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üldmäärus (IKÜM / GDPR)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886200"/>
            <a:ext cx="512064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Otsekohalduv EL-i määrus (EL) 2016/679 — andmekaitse vundament.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Seab reeglid ettevõtetele ja asutustele ning annab eraisikule kontrolli oma andmete üle.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Allikas: EUR-Lex.</a:t>
            </a: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Lõimitud andmekaitse põhimõtted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Enneta, ära tegele ainult tagajärgedega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tegevusse ja infosüsteemidesse sisse ehitatud enne, kui isikuandmete töötlemine algab.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6364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1967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Korrapärasus ja süsteemsus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osa disainist, arhitektuurist ja äritegevusest — tuumfunktsioon, mitte lisa.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Töötleja hindab ohte korrapäraselt ja lisab vajadusel kaitsemeetmeid.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6576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Turvaline algusest lõpuni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Alates esmasest kogumisest kuni hävitamiseni on kasutusel asjakohased ja ajakohastatud turvameetmed.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26364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1967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Läbipaistev ja vastutustundlik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Kõigile asjaosalistele on selge, mis on töötlemise eesmärk.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Andmesubjekt saab teabe eesmärgi ja oma õiguste kohta — kergesti kättesaadav, lihtsas keeles.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Koostööpartneritega on sõlmitud õiguspärased andmetöötluslepingud.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29107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Allikas: 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3385425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47187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617220"/>
            <a:ext cx="5212080" cy="4152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kliendid.nimi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kliendid.linn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fact_muuk.rida_ilma_km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fact_muuk.taidetud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dim_klient.klient_id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6. 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dim_klient.nimi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(Power BI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7. 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kirjelduste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8. 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Andmebaasi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parool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9. 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Müügisumma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10.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Palgad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fi-FI" sz="1600" dirty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019" y="1647187"/>
            <a:ext cx="502920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lang="en-US" sz="1500" dirty="0" err="1">
                <a:solidFill>
                  <a:srgbClr val="334155"/>
                </a:solidFill>
                <a:latin typeface="Calibri"/>
              </a:rPr>
              <a:t>Liigita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HR_dataset.csv</a:t>
            </a:r>
          </a:p>
          <a:p>
            <a:pPr>
              <a:spcAft>
                <a:spcPts val="500"/>
              </a:spcAft>
            </a:pPr>
            <a:r>
              <a:rPr lang="en-US" sz="1500" dirty="0" err="1">
                <a:solidFill>
                  <a:srgbClr val="334155"/>
                </a:solidFill>
                <a:latin typeface="Calibri"/>
              </a:rPr>
              <a:t>Liigita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veerud</a:t>
            </a:r>
            <a:endParaRPr lang="en-US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Isikuandmete peitmine — anonümiseerimine vs pseudonümiseerimine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Anonümiseerimine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581912"/>
            <a:ext cx="525780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Eemaldab kõik seosed, millega isiku saaks tuvastada. Seda ei saa tagasi pöörata.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Andmeid ei saa enam konkreetse inimesega siduda.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Näide: isikuandmed asendatakse juhuslike koodidega ja seost originaaliga ei säilitata.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52578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Pseudonümiseerimine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Asendab isikuandmed pseudonüümidega, aga tuvastamine on täiendava teabe abil endiselt võimalik.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Näide: uuringus asendatakse nimed koodidega, aga võti hoitakse eraldi turvalises kohas.</a:t>
            </a:r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3977639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Sammud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1.  Ava aruanne «Liikumisaktiivsuse aruanne».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2.  Modeling vahekaart → Manage Roles.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3.  Uus roll (nt Sots min), filter: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      Organisatsioon[Parent organization]=“Sotsiaalministeerium”.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4.  View 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212080"/>
            <a:ext cx="11430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5212080"/>
            <a:ext cx="91440" cy="10972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394960"/>
            <a:ext cx="10789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</a:rPr>
              <a:t>NB! Power BI service’is määratakse inimesed sellesse rolli.</a:t>
            </a:r>
          </a:p>
        </p:txBody>
      </p:sp>
    </p:spTree>
    <p:extLst>
      <p:ext uri="{BB962C8B-B14F-4D97-AF65-F5344CB8AC3E}">
        <p14:creationId xmlns:p14="http://schemas.microsoft.com/office/powerpoint/2010/main" val="1324654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987552"/>
            <a:ext cx="109728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" y="987552"/>
            <a:ext cx="91440" cy="17830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1060704"/>
            <a:ext cx="10561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Ava aruanne «Liikumisaktiivsuse aruanne» (päev 4–5).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Modeling → Manage Roles. Loo roll (nt Sots min).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Filter: Organisatsioon[Parent organization]=“Sotsiaalministeerium”. Salvesta.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View as. Service’is määratakse inimesed rolli.</a:t>
            </a:r>
          </a:p>
        </p:txBody>
      </p:sp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Harjutus: arutelu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Arutelu küsimused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 Millised osad võiksid veel andmekorralduses olla?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 Millised probleemid tekivad andmete kasutamise ajal?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3.  Kui on palju allikaid, laadimisprotsesse ja raporteid — kuidas hoida dokumentatsioon ühes kohas?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4.  Kuidas teha tähendus nähtavaks just seal, kus inimene andmeid kasutab (SQL COMMENT, Power BI Description)?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5.  Milline võiks olla kergesti loetav, arusaadav ja hallatav andmekorralduse info?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6.  Veel innovatiivseid ja konstruktiivseid ideid.</a:t>
            </a: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Eriliiki isikuandmed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1691640"/>
            <a:ext cx="114300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1691640"/>
            <a:ext cx="91440" cy="1325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1801368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Artikkel 9 lg 1 hõlmab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2194560"/>
            <a:ext cx="1101852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Rassiline või etniline päritolu, poliitilised vaated, usulised või filosoofilised veendumused, ametiühingusse kuulumine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Geneetilised andmed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55264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55264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56432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Biomeetrilised andmed, millega füüsilist isikut kordumatult tuvastatakse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44768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45936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5936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Terviseandmed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4272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34272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35440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Andmed seksuaalelu ja seksuaalse sättumuse kohta</a:t>
            </a: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Eriliigiliste isikuandmete töötlemise alused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Nõusolek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9184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9300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4787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Seadusjärgse kohustuse täitmine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1792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1908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395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Eluliste huvide kaitsmine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169164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4400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34516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0032" y="2377440"/>
            <a:ext cx="22402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Õigusnõude koostamine, esitamine või kaitsmine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6576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692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Andmesubjekt on andmed ise avalikustanud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29768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9884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Avalikes huvides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06908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22960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3076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5632" y="4754880"/>
            <a:ext cx="31546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Õiguspärase tegevuse raames</a:t>
            </a: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16043"/>
            <a:ext cx="11044362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, mis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võimaldab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vastata</a:t>
            </a:r>
            <a:endParaRPr lang="en-GB" b="1" dirty="0">
              <a:solidFill>
                <a:schemeClr val="bg1"/>
              </a:solidFill>
              <a:latin typeface="Calibri"/>
            </a:endParaRPr>
          </a:p>
          <a:p>
            <a:pPr algn="ctr">
              <a:spcAft>
                <a:spcPts val="0"/>
              </a:spcAft>
            </a:pPr>
            <a:r>
              <a:rPr lang="et-EE" sz="1800" b="1" dirty="0">
                <a:solidFill>
                  <a:schemeClr val="bg1"/>
                </a:solidFill>
                <a:latin typeface="Calibri"/>
              </a:rPr>
              <a:t> tee mudel, tee töötlus, loo aruanne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5957914" y="1935039"/>
            <a:ext cx="487759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tabelite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pealkirjades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visuaalide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loogikat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MEASURES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Info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3563</Words>
  <Application>Microsoft Office PowerPoint</Application>
  <PresentationFormat>Widescreen</PresentationFormat>
  <Paragraphs>456</Paragraphs>
  <Slides>24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Inter</vt:lpstr>
      <vt:lpstr>Calibri</vt:lpstr>
      <vt:lpstr>Inter Bold</vt:lpstr>
      <vt:lpstr>BCS</vt:lpstr>
      <vt:lpstr>Päevakava - 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172</cp:revision>
  <dcterms:created xsi:type="dcterms:W3CDTF">2021-08-27T11:35:28Z</dcterms:created>
  <dcterms:modified xsi:type="dcterms:W3CDTF">2026-09-10T16:04:51Z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