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493" r:id="rId5"/>
    <p:sldId id="514" r:id="rId6"/>
    <p:sldId id="259" r:id="rId7"/>
    <p:sldId id="670" r:id="rId8"/>
    <p:sldId id="260" r:id="rId9"/>
    <p:sldId id="518" r:id="rId10"/>
    <p:sldId id="519" r:id="rId11"/>
    <p:sldId id="675" r:id="rId12"/>
    <p:sldId id="676" r:id="rId13"/>
    <p:sldId id="265" r:id="rId14"/>
    <p:sldId id="261" r:id="rId15"/>
    <p:sldId id="504" r:id="rId16"/>
    <p:sldId id="679" r:id="rId17"/>
    <p:sldId id="677" r:id="rId18"/>
    <p:sldId id="440" r:id="rId19"/>
    <p:sldId id="524" r:id="rId20"/>
    <p:sldId id="671" r:id="rId21"/>
    <p:sldId id="262" r:id="rId22"/>
    <p:sldId id="646" r:id="rId23"/>
    <p:sldId id="678" r:id="rId24"/>
    <p:sldId id="672" r:id="rId25"/>
    <p:sldId id="268" r:id="rId26"/>
    <p:sldId id="267" r:id="rId27"/>
    <p:sldId id="523" r:id="rId28"/>
    <p:sldId id="673" r:id="rId29"/>
    <p:sldId id="674" r:id="rId30"/>
    <p:sldId id="521" r:id="rId31"/>
    <p:sldId id="490" r:id="rId32"/>
    <p:sldId id="576" r:id="rId33"/>
  </p:sldIdLst>
  <p:sldSz cx="12192000" cy="6858000"/>
  <p:notesSz cx="6858000" cy="9144000"/>
  <p:embeddedFontLst>
    <p:embeddedFont>
      <p:font typeface="Inter" panose="020B0604020202020204" charset="0"/>
      <p:regular r:id="rId36"/>
      <p:bold r:id="rId37"/>
      <p:italic r:id="rId38"/>
      <p:boldItalic r:id="rId39"/>
    </p:embeddedFont>
    <p:embeddedFont>
      <p:font typeface="Inter Bold" panose="020B0604020202020204" charset="0"/>
      <p:bold r:id="rId40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59276F-A3BE-4F18-A945-04EEB15F3F1C}" v="16" dt="2026-09-11T04:52:56.6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addSld delSld modSld sldOrd">
      <pc:chgData name="Emilie Abel" userId="20dec598-1860-40de-ab3f-181316cc4da6" providerId="ADAL" clId="{3EAE1975-14BE-41D5-9E3B-28573F0EE5DC}" dt="2026-09-11T04:53:21.033" v="232" actId="20577"/>
      <pc:docMkLst>
        <pc:docMk/>
      </pc:docMkLst>
      <pc:sldChg chg="modSp mod">
        <pc:chgData name="Emilie Abel" userId="20dec598-1860-40de-ab3f-181316cc4da6" providerId="ADAL" clId="{3EAE1975-14BE-41D5-9E3B-28573F0EE5DC}" dt="2026-09-11T03:51:48.229" v="54" actId="20577"/>
        <pc:sldMkLst>
          <pc:docMk/>
          <pc:sldMk cId="0" sldId="260"/>
        </pc:sldMkLst>
        <pc:graphicFrameChg chg="modGraphic">
          <ac:chgData name="Emilie Abel" userId="20dec598-1860-40de-ab3f-181316cc4da6" providerId="ADAL" clId="{3EAE1975-14BE-41D5-9E3B-28573F0EE5DC}" dt="2026-09-11T03:51:48.229" v="54" actId="20577"/>
          <ac:graphicFrameMkLst>
            <pc:docMk/>
            <pc:sldMk cId="0" sldId="260"/>
            <ac:graphicFrameMk id="9" creationId="{00000000-0000-0000-0000-000000000000}"/>
          </ac:graphicFrameMkLst>
        </pc:graphicFrameChg>
      </pc:sldChg>
      <pc:sldChg chg="addSp modSp mod">
        <pc:chgData name="Emilie Abel" userId="20dec598-1860-40de-ab3f-181316cc4da6" providerId="ADAL" clId="{3EAE1975-14BE-41D5-9E3B-28573F0EE5DC}" dt="2026-09-11T04:29:49.410" v="72"/>
        <pc:sldMkLst>
          <pc:docMk/>
          <pc:sldMk cId="0" sldId="261"/>
        </pc:sldMkLst>
        <pc:spChg chg="mod">
          <ac:chgData name="Emilie Abel" userId="20dec598-1860-40de-ab3f-181316cc4da6" providerId="ADAL" clId="{3EAE1975-14BE-41D5-9E3B-28573F0EE5DC}" dt="2026-09-11T04:29:49.206" v="5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68" v="62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40" v="5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87" v="64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256" v="6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29:49.300" v="66"/>
          <ac:spMkLst>
            <pc:docMk/>
            <pc:sldMk cId="0" sldId="261"/>
            <ac:spMk id="20" creationId="{00000000-0000-0000-0000-000000000000}"/>
          </ac:spMkLst>
        </pc:spChg>
        <pc:picChg chg="add mod">
          <ac:chgData name="Emilie Abel" userId="20dec598-1860-40de-ab3f-181316cc4da6" providerId="ADAL" clId="{3EAE1975-14BE-41D5-9E3B-28573F0EE5DC}" dt="2026-09-11T04:29:49.357" v="68"/>
          <ac:picMkLst>
            <pc:docMk/>
            <pc:sldMk cId="0" sldId="261"/>
            <ac:picMk id="7" creationId="{9BA234BF-6143-7021-51C8-48DDA8B41FA0}"/>
          </ac:picMkLst>
        </pc:picChg>
        <pc:picChg chg="add mod">
          <ac:chgData name="Emilie Abel" userId="20dec598-1860-40de-ab3f-181316cc4da6" providerId="ADAL" clId="{3EAE1975-14BE-41D5-9E3B-28573F0EE5DC}" dt="2026-09-11T04:29:49.380" v="70"/>
          <ac:picMkLst>
            <pc:docMk/>
            <pc:sldMk cId="0" sldId="261"/>
            <ac:picMk id="22" creationId="{56CDA103-0A42-39A3-4D3D-AB0B180C5AC6}"/>
          </ac:picMkLst>
        </pc:picChg>
        <pc:picChg chg="add mod">
          <ac:chgData name="Emilie Abel" userId="20dec598-1860-40de-ab3f-181316cc4da6" providerId="ADAL" clId="{3EAE1975-14BE-41D5-9E3B-28573F0EE5DC}" dt="2026-09-11T04:29:49.410" v="72"/>
          <ac:picMkLst>
            <pc:docMk/>
            <pc:sldMk cId="0" sldId="261"/>
            <ac:picMk id="24" creationId="{7F37D039-0F8C-050D-0AED-E491F1E37615}"/>
          </ac:picMkLst>
        </pc:picChg>
      </pc:sldChg>
      <pc:sldChg chg="delSp modSp mod">
        <pc:chgData name="Emilie Abel" userId="20dec598-1860-40de-ab3f-181316cc4da6" providerId="ADAL" clId="{3EAE1975-14BE-41D5-9E3B-28573F0EE5DC}" dt="2026-09-11T04:53:21.033" v="232" actId="20577"/>
        <pc:sldMkLst>
          <pc:docMk/>
          <pc:sldMk cId="0" sldId="262"/>
        </pc:sldMkLst>
        <pc:spChg chg="del mod">
          <ac:chgData name="Emilie Abel" userId="20dec598-1860-40de-ab3f-181316cc4da6" providerId="ADAL" clId="{3EAE1975-14BE-41D5-9E3B-28573F0EE5DC}" dt="2026-09-11T04:53:02.368" v="217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3:21.033" v="232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4:41:21.839" v="112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11T04:41:21.839" v="112" actId="20577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1T03:50:25.926" v="41" actId="20577"/>
        <pc:sldMkLst>
          <pc:docMk/>
          <pc:sldMk cId="1135419376" sldId="493"/>
        </pc:sldMkLst>
        <pc:graphicFrameChg chg="modGraphic">
          <ac:chgData name="Emilie Abel" userId="20dec598-1860-40de-ab3f-181316cc4da6" providerId="ADAL" clId="{3EAE1975-14BE-41D5-9E3B-28573F0EE5DC}" dt="2026-09-11T03:50:25.926" v="41" actId="20577"/>
          <ac:graphicFrameMkLst>
            <pc:docMk/>
            <pc:sldMk cId="1135419376" sldId="493"/>
            <ac:graphicFrameMk id="5" creationId="{CBF1AB3B-1697-834A-B482-18B1385C686D}"/>
          </ac:graphicFrameMkLst>
        </pc:graphicFrameChg>
      </pc:sldChg>
      <pc:sldChg chg="add ord">
        <pc:chgData name="Emilie Abel" userId="20dec598-1860-40de-ab3f-181316cc4da6" providerId="ADAL" clId="{3EAE1975-14BE-41D5-9E3B-28573F0EE5DC}" dt="2026-09-11T04:43:09.023" v="118"/>
        <pc:sldMkLst>
          <pc:docMk/>
          <pc:sldMk cId="1640365156" sldId="504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443866233" sldId="504"/>
        </pc:sldMkLst>
      </pc:sldChg>
      <pc:sldChg chg="modSp mod">
        <pc:chgData name="Emilie Abel" userId="20dec598-1860-40de-ab3f-181316cc4da6" providerId="ADAL" clId="{3EAE1975-14BE-41D5-9E3B-28573F0EE5DC}" dt="2026-09-11T03:50:37.453" v="52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11T03:50:37.453" v="52" actId="20577"/>
          <ac:spMkLst>
            <pc:docMk/>
            <pc:sldMk cId="3637694684" sldId="514"/>
            <ac:spMk id="12" creationId="{2E9B4962-FAD2-72FC-3C72-1983E533049A}"/>
          </ac:spMkLst>
        </pc:spChg>
      </pc:sldChg>
      <pc:sldChg chg="add">
        <pc:chgData name="Emilie Abel" userId="20dec598-1860-40de-ab3f-181316cc4da6" providerId="ADAL" clId="{3EAE1975-14BE-41D5-9E3B-28573F0EE5DC}" dt="2026-09-11T04:42:48.173" v="116"/>
        <pc:sldMkLst>
          <pc:docMk/>
          <pc:sldMk cId="357851997" sldId="576"/>
        </pc:sldMkLst>
      </pc:sldChg>
      <pc:sldChg chg="add del">
        <pc:chgData name="Emilie Abel" userId="20dec598-1860-40de-ab3f-181316cc4da6" providerId="ADAL" clId="{3EAE1975-14BE-41D5-9E3B-28573F0EE5DC}" dt="2026-09-11T04:42:42.655" v="115" actId="2696"/>
        <pc:sldMkLst>
          <pc:docMk/>
          <pc:sldMk cId="1004236082" sldId="576"/>
        </pc:sldMkLst>
      </pc:sldChg>
      <pc:sldChg chg="del">
        <pc:chgData name="Emilie Abel" userId="20dec598-1860-40de-ab3f-181316cc4da6" providerId="ADAL" clId="{3EAE1975-14BE-41D5-9E3B-28573F0EE5DC}" dt="2026-09-11T04:42:03.228" v="113" actId="2696"/>
        <pc:sldMkLst>
          <pc:docMk/>
          <pc:sldMk cId="2888773393" sldId="576"/>
        </pc:sldMkLst>
      </pc:sldChg>
      <pc:sldChg chg="modSp mod">
        <pc:chgData name="Emilie Abel" userId="20dec598-1860-40de-ab3f-181316cc4da6" providerId="ADAL" clId="{3EAE1975-14BE-41D5-9E3B-28573F0EE5DC}" dt="2026-09-11T04:38:34.702" v="102" actId="20577"/>
        <pc:sldMkLst>
          <pc:docMk/>
          <pc:sldMk cId="0" sldId="677"/>
        </pc:sldMkLst>
        <pc:spChg chg="mod">
          <ac:chgData name="Emilie Abel" userId="20dec598-1860-40de-ab3f-181316cc4da6" providerId="ADAL" clId="{3EAE1975-14BE-41D5-9E3B-28573F0EE5DC}" dt="2026-09-11T04:38:34.702" v="102" actId="20577"/>
          <ac:spMkLst>
            <pc:docMk/>
            <pc:sldMk cId="0" sldId="6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38:24.575" v="86" actId="20577"/>
          <ac:spMkLst>
            <pc:docMk/>
            <pc:sldMk cId="0" sldId="677"/>
            <ac:spMk id="8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11T04:40:44.348" v="105"/>
        <pc:sldMkLst>
          <pc:docMk/>
          <pc:sldMk cId="3250137005" sldId="678"/>
        </pc:sldMkLst>
      </pc:sldChg>
      <pc:sldChg chg="delSp modSp mod">
        <pc:chgData name="Emilie Abel" userId="20dec598-1860-40de-ab3f-181316cc4da6" providerId="ADAL" clId="{3EAE1975-14BE-41D5-9E3B-28573F0EE5DC}" dt="2026-09-11T04:51:49.530" v="205" actId="478"/>
        <pc:sldMkLst>
          <pc:docMk/>
          <pc:sldMk cId="0" sldId="679"/>
        </pc:sldMkLst>
        <pc:spChg chg="del">
          <ac:chgData name="Emilie Abel" userId="20dec598-1860-40de-ab3f-181316cc4da6" providerId="ADAL" clId="{3EAE1975-14BE-41D5-9E3B-28573F0EE5DC}" dt="2026-09-11T04:51:49.530" v="205" actId="478"/>
          <ac:spMkLst>
            <pc:docMk/>
            <pc:sldMk cId="0" sldId="67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11T04:51:37.028" v="204" actId="20577"/>
          <ac:spMkLst>
            <pc:docMk/>
            <pc:sldMk cId="0" sldId="679"/>
            <ac:spMk id="8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300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81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11.09.2026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17.xml"/><Relationship Id="rId5" Type="http://schemas.openxmlformats.org/officeDocument/2006/relationships/hyperlink" Target="https://www.riigiteataja.ee/akt/106032026010" TargetMode="External"/><Relationship Id="rId4" Type="http://schemas.openxmlformats.org/officeDocument/2006/relationships/hyperlink" Target="https://www.aki.ee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49521152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Andmekorraldus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Power BI-s PostgreSQL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baasi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pealt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9747224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>
                          <a:solidFill>
                            <a:srgbClr val="334155"/>
                          </a:solidFill>
                          <a:latin typeface="Calibri"/>
                        </a:rPr>
                        <a:t>alliksüsteemi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Mida andmed tähendavad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24128"/>
            <a:ext cx="571500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024128"/>
            <a:ext cx="91440" cy="221284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7" y="1097280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Ärisõnastik — ilma tabelinimeta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08176"/>
            <a:ext cx="536752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raha, mis päriselt laekus (mitte ootel ega tühistatud).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Ostukorv — üks tellimus, mitte üks rida arvel.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 — inimene. Kaks Kati Lepikut (id 5 ja 25) on kaks klienti.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24128"/>
            <a:ext cx="5669280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024128"/>
            <a:ext cx="91440" cy="221284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1097280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Andmesõnastik — veerg, tüüp, võti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408176"/>
            <a:ext cx="53218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klient_id — täisarv, võti. Liidab müügi inimesega, mitte nimega.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taidetud — tekst: «Täidetud» või tühi.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rida_allahindlusega_ilma_km — number; see on käibe tükk.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346704"/>
            <a:ext cx="115214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7" y="3419856"/>
            <a:ext cx="11192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Meil: käive = Täidetud, neto, pärast allahindlust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" y="3730752"/>
            <a:ext cx="11173967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SUM(rida_allahindlusega_ilma_km), ainult read, kus taidetud =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Näide: 3 rida Täidetud + 1 Ootel → käive on nende 3 rea summa, mitte nelja.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782312"/>
            <a:ext cx="571500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4782312"/>
            <a:ext cx="91440" cy="166420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7" y="485546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Kirjuta üles õiges kohas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" y="5166360"/>
            <a:ext cx="53675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SQL: COMMENT ON COLUMN … IS '…';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Power BI: sama tekst Description väljal.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Muidu elab definitsioon ainult slaidil.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66928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4782312"/>
            <a:ext cx="91440" cy="16642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485546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Töö nähtavale kasutuse lähedal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5166360"/>
            <a:ext cx="532180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Aruande Info-leht, visuaali pealkiri, mõõdiku Description.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Mitte ainult skript, mida keegi ei ava.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Millega laaditakse ja töödeldakse — näide meie poest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3891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See ei ole reegel (mis on käive) ega kvaliteet (kas ID on olemas). See on: millega number tehti.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55448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5448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627632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Tehnoloogiad — laadimine ja töötlus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38528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PostgreSQL — tabelid (kliendid, tooted, tellimused, tellimuse_read).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 VIEW — fact_myyk, dim_klient, dim_toode, dim_aeg.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Power BI — mudel Myygiraport ja aruanne «E-poe müük».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54480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627632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skript?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38528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create_tabelid.sql — toored tabelid CSV-st.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create_tahtskeem_vaated.sql — tähtskeemi vaated.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analytics_veergude_kommentaarid.sql — COMMENT-id kataloogi.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05072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05072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78224"/>
            <a:ext cx="538581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vaade?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 — üks rida = üks müügirida (mitte tellimus).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 — inimene; nimi võib olla tärnidena.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dim_aeg — kalender ka päevadeks, mil müüki ei olnud.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05072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05072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78224"/>
            <a:ext cx="5340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Milline mõõdik?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Käive — SUM(rida_allahindlusega_ilma_km), ainult Täidetud.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Tellimuste arv — COUNT DISTINCT tellimus_id, mitte COUNT(*).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Elab Power BI mõõdikus, mitte CSV-veerus.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8369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21844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8369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24587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8369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21844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tarnija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Raha: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eelarve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marginaal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palgafond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Tehnika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andmebaasi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API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kunagi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raportisse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Tundlik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A234BF-6143-7021-51C8-48DDA8B41FA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0" y="1193800"/>
            <a:ext cx="609600" cy="6096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6CDA103-0A42-39A3-4D3D-AB0B180C5AC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861050" y="1193800"/>
            <a:ext cx="609600" cy="6096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37D039-0F8C-050D-0AED-E491F1E3761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677400" y="1193800"/>
            <a:ext cx="6096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Eriliiki isikuandmed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1691640"/>
            <a:ext cx="114300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1691640"/>
            <a:ext cx="91440" cy="1325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1801368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Artikkel 9 lg 1 hõlmab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2194560"/>
            <a:ext cx="1101852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Rassiline või etniline päritolu, poliitilised vaated, usulised või filosoofilised veendumused, ametiühingusse kuulumine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Geneetilised andmed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55264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55264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56432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Biomeetrilised andmed, millega füüsilist isikut kordumatult tuvastatakse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44768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45936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5936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Terviseandmed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4272" y="32004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34272" y="3200400"/>
            <a:ext cx="91440" cy="31089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35440" y="336499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840480"/>
            <a:ext cx="237744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Andmed seksuaalelu ja seksuaalse sättumuse kohta</a:t>
            </a:r>
          </a:p>
        </p:txBody>
      </p:sp>
    </p:spTree>
    <p:extLst>
      <p:ext uri="{BB962C8B-B14F-4D97-AF65-F5344CB8AC3E}">
        <p14:creationId xmlns:p14="http://schemas.microsoft.com/office/powerpoint/2010/main" val="1640365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Tundlikud äriandmed — saladus, kuigi mitte GDPR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40233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3119"/>
            <a:ext cx="1124712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kokkuleppe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õiguste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alusel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.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Ettevõttesiseselt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vastavalt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rollidele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kohustustele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määratletud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kokku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FFFFFF"/>
                </a:solidFill>
                <a:latin typeface="Calibri"/>
              </a:rPr>
              <a:t>lepitud</a:t>
            </a:r>
            <a:r>
              <a:rPr lang="en-GB" sz="1400" b="0" dirty="0">
                <a:solidFill>
                  <a:srgbClr val="FFFFFF"/>
                </a:solidFill>
                <a:latin typeface="Calibri"/>
              </a:rPr>
              <a:t>.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517904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517904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9105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Müük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tarnijale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makstud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),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Tarnija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Asus 950 €) — see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Ostuhinda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lepingut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lao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CSV-s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17904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517904"/>
            <a:ext cx="91440" cy="2331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9105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Raha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3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Eelarve, marginaal, palgafond kokku.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Marginaal = müügihind miinus ostuhind — ilma ostuhinnata ei arvuta.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 palgafondi ja eelarvet ei ole. Käive (Täidetud, neto) ei ole palgafond.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986784"/>
            <a:ext cx="571500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986784"/>
            <a:ext cx="91440" cy="235915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59936"/>
            <a:ext cx="53858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Tehnika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389120"/>
            <a:ext cx="536752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Andmebaasi parool, API võti — mitte kunagi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Ka mitte visuaali pealkirja, Description'i ega slaidi peale.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Meil: PostgreSQL / Power BI ühenduse parool. Näita, et väli on tühi, mitte väärtust.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986784"/>
            <a:ext cx="5669280" cy="2359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986784"/>
            <a:ext cx="91440" cy="2359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59936"/>
            <a:ext cx="53400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 err="1">
                <a:solidFill>
                  <a:srgbClr val="0F203E"/>
                </a:solidFill>
                <a:latin typeface="Calibri"/>
              </a:rPr>
              <a:t>Meie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poes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vs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saladus</a:t>
            </a:r>
            <a:endParaRPr sz="14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73368" y="4389120"/>
            <a:ext cx="5321808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tooted.nimetus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tooted.hind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Ei tohi,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ostuhind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varude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jääk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palgad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GDPR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otsustab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kokkulepe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9893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Andmete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liigitus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15214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51670"/>
            <a:ext cx="1124712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1300" b="0" dirty="0" err="1">
                <a:solidFill>
                  <a:srgbClr val="FFFFFF"/>
                </a:solidFill>
                <a:latin typeface="Calibri"/>
              </a:rPr>
              <a:t>Müügiandmestik</a:t>
            </a:r>
            <a:endParaRPr sz="13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0040" y="1499616"/>
            <a:ext cx="571500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499616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" y="1572768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Isikuandmed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920240"/>
            <a:ext cx="536752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kliendid.nimi — Kati Lepik; kaks inimest, sama nimi.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kliendid.linn — koos nimega tunneb inimese ära.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dim_klient.nimi — sama isikuandmed Power BI mudelis.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kliendid.klient_id — identifikaator (id 5 ≠ id 25).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99616"/>
            <a:ext cx="566928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499616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572768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Eriliigilised / delikaatsed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20240"/>
            <a:ext cx="5321808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Calibri"/>
              </a:rPr>
              <a:t>Meie poe tabelites neid veerge ei ole — see on õige.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Näited, kui keegi tahaks «igaks juhuks» lisada: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kliendi.diagnoos  ·  haigusleht  ·  ametiühingu_liige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Analüütikasse ei tohi tulla.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023360"/>
            <a:ext cx="5715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4023360"/>
            <a:ext cx="91440" cy="23317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7" y="4096512"/>
            <a:ext cx="538581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Tundlikud äriandmed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" y="4443984"/>
            <a:ext cx="536752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Andmebaasi parool / API võti — ei ole veerg, ära pane raportisse.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ostuhind — tarnija hind; meil on tooted.hind = müügihind.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palgad / palgafond — meie CSV-s ei ole.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Ainult kokkuleppe ja õiguste alusel.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23360"/>
            <a:ext cx="56692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4023360"/>
            <a:ext cx="91440" cy="2331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096512"/>
            <a:ext cx="5340096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Ilma liigituseta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443984"/>
            <a:ext cx="5321808" cy="1819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fact_myyk.taidetud  ·  tellimused.staatus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fact_myyk.rida_allahindlusega_ilma_km  (müügisumma)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tellimused.tarneviis  ·  tellimuse_read.kogus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tooted.nimetus  ·  tooted.kategooria  ·  dim_aeg.aasta_kuu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Isikuandmete töötlemise põhimõtted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Seaduslik, õiglane ja läbipaistev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Töötlemine peab olema seaduslik, õiglane ja inimesele arusaadav.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60520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60520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16552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Eesmärgipärane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6552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kogutakse ja kasutatakse ainult kindlal, selgel eesmärgil.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1078992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1078992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11311" y="1188719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Minimaalne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1" y="1581912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Kogutakse võimalikult vähe andmeid — ainult see, mida eesmärk tegelikult vajab.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6576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Õigsus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Isikuandmed on õiged ja vajaduse korral ajakohastatud.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Ebaõiged andmed kustutatakse või parandatakse viivitamata.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Isikul on õigus tutvuda oma andmetega ning paluda parandamist ja kustutamist.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60520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160520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16552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Säilitamise piirang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6552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hoitakse tuvastataval kujul ainult seni, kuni see on eesmärgi täitmiseks vajalik.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955279" y="3794760"/>
            <a:ext cx="3611880" cy="2578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955279" y="3794760"/>
            <a:ext cx="91440" cy="25786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11311" y="3904488"/>
            <a:ext cx="32278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Usaldusväärsus ja konfidentsiaalsus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1311" y="4297680"/>
            <a:ext cx="3200400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Andmeid kaitstakse loata ligipääsu, kadumise ja väärkasutuse eest.</a:t>
            </a:r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Eesti kontekst: mis reguleerib ja kus on infot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Juhised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5212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2"/>
              </a:rPr>
              <a:t>kratid.ee/juhised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7073"/>
                </a:solidFill>
                <a:latin typeface="Calibri"/>
                <a:hlinkClick r:id="rId3"/>
              </a:rPr>
              <a:t>stat.ee — andmehalduse juhised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21488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Andmekaitse Inspektsioon (AKI)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Eesti riiklik järelevalveasutus.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Praktilised juhendid IAKS-i ja GDPR-i täitmiseks.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06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07073"/>
                </a:solidFill>
                <a:latin typeface="Calibri"/>
                <a:hlinkClick r:id="rId4"/>
              </a:rPr>
              <a:t>www.aki.ee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56692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3493008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seadus (IAKS)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886200"/>
            <a:ext cx="525780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Eesti riiklik seadus, mis täpsustab ja täiendab EL-i üldmäärust seal, kus riikidele on jäetud otsustusõigus.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Näiteks: töötlemine ajakirjanduslikul eesmärgil; lapse nõusoleku vanusepiirang e-teenustes.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06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07073"/>
                </a:solidFill>
                <a:latin typeface="Calibri"/>
                <a:hlinkClick r:id="rId5"/>
              </a:rPr>
              <a:t>Riigi Teataja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83280"/>
            <a:ext cx="55321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383280"/>
            <a:ext cx="91440" cy="3063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349300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Isikuandmete kaitse üldmäärus (IKÜM / GDPR)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886200"/>
            <a:ext cx="5120640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Otsekohalduv EL-i määrus (EL) 2016/679 — andmekaitse vundament.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Seab reeglid ettevõtetele ja asutustele ning annab eraisikule kontrolli oma andmete üle.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Allikas: EUR-Lex.</a:t>
            </a: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Lõimitud andmekaitse põhimõtted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Enneta, ära tegele ainult tagajärgedega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tegevusse ja infosüsteemidesse sisse ehitatud enne, kui isikuandmete töötlemine algab.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105156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63640" y="105156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19672" y="116128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Korrapärasus ja süsteemsus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155448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Andmekaitse on osa disainist, arhitektuurist ja äritegevusest — tuumfunktsioon, mitte lisa.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Töötleja hindab ohte korrapäraselt ja lisab vajadusel kaitsemeetmeid.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6576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Turvaline algusest lõpuni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Alates esmasest kogumisest kuni hävitamiseni on kasutusel asjakohased ja ajakohastatud turvameetmed.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3703320"/>
            <a:ext cx="553212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263640" y="370332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19672" y="3813048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Läbipaistev ja vastutustundlik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4206240"/>
            <a:ext cx="5120640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Kõigile asjaosalistele on selge, mis on töötlemise eesmärk.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Andmesubjekt saab teabe eesmärgi ja oma õiguste kohta — kergesti kättesaadav, lihtsas keeles.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4155"/>
                </a:solidFill>
                <a:latin typeface="Calibri"/>
              </a:rPr>
              <a:t>Koostööpartneritega on sõlmitud õiguspärased andmetöötluslepingud.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291072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Allikas: 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3385425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47187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1325879"/>
            <a:ext cx="5029200" cy="1777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US" sz="1500" dirty="0" err="1">
                <a:solidFill>
                  <a:srgbClr val="334155"/>
                </a:solidFill>
                <a:latin typeface="Calibri"/>
              </a:rPr>
              <a:t>Liigita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US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US" sz="1500" dirty="0">
                <a:solidFill>
                  <a:srgbClr val="334155"/>
                </a:solidFill>
                <a:latin typeface="Calibri"/>
              </a:rPr>
              <a:t> HR_dataset.csv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fi-FI" sz="1400" dirty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  <a:p>
            <a:pPr>
              <a:spcAft>
                <a:spcPts val="6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Isikuandmete peitmine — anonümiseerimine vs pseudonümiseerimine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566928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528523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Anonümiseerimine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581912"/>
            <a:ext cx="525780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Eemaldab kõik seosed, millega isiku saaks tuvastada. Seda ei saa tagasi pöörata.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Andmeid ei saa enam konkreetse inimesega siduda.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Näide: isikuandmed asendatakse juhuslike koodidega ja seost originaaliga ei säilitata.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78992"/>
            <a:ext cx="553212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078992"/>
            <a:ext cx="91440" cy="52578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1188719"/>
            <a:ext cx="51480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Pseudonümiseerimine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581912"/>
            <a:ext cx="5120640" cy="4636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Asendab isikuandmed pseudonüümidega, aga tuvastamine on täiendava teabe abil endiselt võimalik.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Näide: uuringus asendatakse nimed koodidega, aga võti hoitakse eraldi turvalises kohas.</a:t>
            </a:r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5ED3A-4653-4E10-AD51-BD85E9342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639471-CC75-E85B-39A1-E1CC7FAB594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EBF8ED-2673-8676-A5F7-4A280CD1134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DA307-5BE9-FBC0-982E-F35D28E511E5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9EDB87-9C77-51B3-C842-0EE2BD0C5D4F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4C52AC-031E-2470-0EF6-B4D719170119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C6D451-2CDE-95B2-C3E6-5DD7F427816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3EDDAEF-6825-BEA4-209B-813BFA74CE43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D3C2431-1E6B-A1FC-9D83-E26A43C04F86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B220FB-87EB-5571-FC49-4BAEBDCDAF46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38E67B-1B06-3035-A1AE-CC0A38DEBACB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3E2EDD-330A-59C3-AE47-ED1A0508ADF5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01370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777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kohta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3977639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Sammud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1.  Ava aruanne «Liikumisaktiivsuse aruanne».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2.  Modeling vahekaart → Manage Roles.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3.  Uus roll (nt Sots min), filter: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      Organisatsioon[Parent organization]=“Sotsiaalministeerium”.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4.  View 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212080"/>
            <a:ext cx="114300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5212080"/>
            <a:ext cx="91440" cy="10972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394960"/>
            <a:ext cx="10789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</a:rPr>
              <a:t>NB! Power BI service’is määratakse inimesed sellesse rolli.</a:t>
            </a:r>
          </a:p>
        </p:txBody>
      </p:sp>
    </p:spTree>
    <p:extLst>
      <p:ext uri="{BB962C8B-B14F-4D97-AF65-F5344CB8AC3E}">
        <p14:creationId xmlns:p14="http://schemas.microsoft.com/office/powerpoint/2010/main" val="13246541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Power BI katsetamine: staatilised rollid  ·  </a:t>
            </a:r>
            <a:r>
              <a:rPr sz="2400" b="1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987552"/>
            <a:ext cx="109728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" y="987552"/>
            <a:ext cx="91440" cy="178308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1060704"/>
            <a:ext cx="10561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Ava aruanne «Liikumisaktiivsuse aruanne» (päev 4–5).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Modeling → Manage Roles. Loo roll (nt Sots min).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Filter: Organisatsioon[Parent organization]=“Sotsiaalministeerium”. Salvesta.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View as. Service’is määratakse inimesed rolli.</a:t>
            </a:r>
          </a:p>
        </p:txBody>
      </p:sp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Harjutus: arutelu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78992"/>
            <a:ext cx="11430000" cy="5257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078992"/>
            <a:ext cx="91440" cy="52578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188719"/>
            <a:ext cx="11045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Arutelu küsimused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27632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 Millised osad võiksid veel andmekorralduses olla?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 Millised probleemid tekivad andmete kasutamise ajal?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3.  Kui on palju allikaid, laadimisprotsesse ja raporteid — kuidas hoida dokumentatsioon ühes kohas?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4.  Kuidas teha tähendus nähtavaks just seal, kus inimene andmeid kasutab (SQL COMMENT, Power BI Description)?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5.  Milline võiks olla kergesti loetav, arusaadav ja hallatav andmekorralduse info?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6.  Veel innovatiivseid ja konstruktiivseid ideid.</a:t>
            </a: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16043"/>
            <a:ext cx="11044362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, mis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võimaldab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vastata</a:t>
            </a:r>
            <a:endParaRPr lang="en-GB" b="1" dirty="0">
              <a:solidFill>
                <a:schemeClr val="bg1"/>
              </a:solidFill>
              <a:latin typeface="Calibri"/>
            </a:endParaRPr>
          </a:p>
          <a:p>
            <a:pPr algn="ctr">
              <a:spcAft>
                <a:spcPts val="0"/>
              </a:spcAft>
            </a:pPr>
            <a:r>
              <a:rPr lang="et-EE" sz="1800" b="1" dirty="0">
                <a:solidFill>
                  <a:schemeClr val="bg1"/>
                </a:solidFill>
                <a:latin typeface="Calibri"/>
              </a:rPr>
              <a:t> tee mudel, tee töötlus, loo aruanne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5957914" y="1935039"/>
            <a:ext cx="487759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tabelite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pealkirjades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visuaalide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loogikat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Kirjelda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mõõdikud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objektid</a:t>
            </a:r>
            <a:r>
              <a:rPr lang="en-GB" sz="1600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sz="1600" dirty="0">
                <a:solidFill>
                  <a:srgbClr val="334155"/>
                </a:solidFill>
              </a:rPr>
              <a:t>Tee MEASURES </a:t>
            </a:r>
            <a:r>
              <a:rPr lang="en-GB" sz="1600" dirty="0" err="1">
                <a:solidFill>
                  <a:srgbClr val="334155"/>
                </a:solidFill>
              </a:rPr>
              <a:t>tabel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Info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Eriliigiliste isikuandmete töötlemise alused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6324" y="1051560"/>
            <a:ext cx="11237976" cy="47548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10881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Isikuandmete kaitse üldmäärus artikkel 9 lõige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Nõusolek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9184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9300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4787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Seadusjärgse kohustuse täitmine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169164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1792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1908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3952" y="237744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Eluliste huvide kaitsmine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169164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44000" y="169164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345168" y="185623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0032" y="2377440"/>
            <a:ext cx="22402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Õigusnõude koostamine, esitamine või kaitsmine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6576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6692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Andmesubjekt on andmed ise avalikustanud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06908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29768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9884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4754880"/>
            <a:ext cx="33375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Avalikes huvides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06908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229600" y="4069080"/>
            <a:ext cx="91440" cy="21945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30768" y="4233672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5632" y="4754880"/>
            <a:ext cx="315467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Õiguspärase tegevuse raames</a:t>
            </a:r>
          </a:p>
        </p:txBody>
      </p:sp>
    </p:spTree>
    <p:extLst>
      <p:ext uri="{BB962C8B-B14F-4D97-AF65-F5344CB8AC3E}">
        <p14:creationId xmlns:p14="http://schemas.microsoft.com/office/powerpoint/2010/main" val="357851997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4302</Words>
  <Application>Microsoft Office PowerPoint</Application>
  <PresentationFormat>Widescreen</PresentationFormat>
  <Paragraphs>535</Paragraphs>
  <Slides>29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Inter</vt:lpstr>
      <vt:lpstr>Arial</vt:lpstr>
      <vt:lpstr>Calibri</vt:lpstr>
      <vt:lpstr>Inter Bold</vt:lpstr>
      <vt:lpstr>BCS</vt:lpstr>
      <vt:lpstr>Päevakava - 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172</cp:revision>
  <dcterms:created xsi:type="dcterms:W3CDTF">2021-08-27T11:35:28Z</dcterms:created>
  <dcterms:modified xsi:type="dcterms:W3CDTF">2026-09-11T04:53:25Z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