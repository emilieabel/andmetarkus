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[TRENERILE · 3 tundi · kogu jutt on notes’is]</a:t>
            </a:r>
          </a:p>
          <a:p>
            <a:r>
              <a:rPr sz="1400">
                <a:latin typeface="Calibri"/>
              </a:rPr>
              <a:t>Ajakava: ava 12 min · seadusandlus andmetöös 38 · paus 10 · põhimõtted päringus/mudelis/aruandes 40 · paus 10 · lõimitud/vaikimisi disain 32 · DPO koostöö 28 · kokkuvõte 10. Kui arutelu venib, lühenda näiteid, mitte harjutusi. Esinejavaade: F5. See ei ole juriidiline nõu.</a:t>
            </a:r>
          </a:p>
          <a:p/>
          <a:p>
            <a:r>
              <a:rPr sz="1400">
                <a:latin typeface="Calibri"/>
              </a:rPr>
              <a:t>Tere! Tere tulemast Andmetarkuse kursuse andmekaitse päevale.</a:t>
            </a:r>
          </a:p>
          <a:p/>
          <a:p>
            <a:r>
              <a:rPr sz="1400">
                <a:latin typeface="Calibri"/>
              </a:rPr>
              <a:t>Minu nimi on [NIMI]. Täna ei ole eesmärk teha teist juriste. Eesmärk on, et te oskaksite andmekaitset rakendada selles töös, mida te sellel kursusel õpite: päring, andmete puhastus, mudel, aruanne, andmevoog, jagamine.</a:t>
            </a:r>
          </a:p>
          <a:p/>
          <a:p>
            <a:r>
              <a:rPr sz="1400">
                <a:latin typeface="Calibri"/>
              </a:rPr>
              <a:t>Teist saavad või juba on andmeanalüütikud, BI-analüütikud, andmeinsenerid, aruandjad, keegi, kes „käib SQL-ist korra läbi“. Just teie käed puudutavad kõige rohkem ridu. Jurist kirjutab poliitika. Teie teete SELECT-i, liidate tabeleid, avaldate töölauda, tõmbate CSV-d, panete andmed järve või andmeaita. Seadus jõuab inimeseni teie töö kaudu.</a:t>
            </a:r>
          </a:p>
          <a:p/>
          <a:p>
            <a:r>
              <a:rPr sz="1400">
                <a:latin typeface="Calibri"/>
              </a:rPr>
              <a:t>Neli teemat jäävad samaks: seadusandlus, põhimõtted, lõimitud ja vaikimisi andmekaitse, andmekaitsespetsialisti roll. Aga me räägime neid keeles, milles te tegelikult töötate: veerg, võti, liitmine, värskendus, õigused, väljavõte, testkeskkond.</a:t>
            </a:r>
          </a:p>
          <a:p/>
          <a:p>
            <a:r>
              <a:rPr sz="1400">
                <a:latin typeface="Calibri"/>
              </a:rPr>
              <a:t>Ma ei anna täna juriidilist nõu teie asutuse konkreetse andmekogu kohta. Kui on päris juhtum, on koht Andmekaitse Inspektsioon, teie andmekaitsespetsialist või jurist. Täna ehitame harjumuse: enne „kuidas selle tabeli kätte saan“ küsida „kelle andmed need on ja miks ma neid vajan“.</a:t>
            </a:r>
          </a:p>
          <a:p/>
          <a:p>
            <a:r>
              <a:rPr sz="1400">
                <a:latin typeface="Calibri"/>
              </a:rPr>
              <a:t>Lähme õpieesmärkide juurde.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Vaadake neid viit rida. See on tänane leping.</a:t>
            </a:r>
          </a:p>
          <a:p/>
          <a:p>
            <a:r>
              <a:rPr sz="1400">
                <a:latin typeface="Calibri"/>
              </a:rPr>
              <a:t>Esiteks: te ei küsi ainult „kas see on KPI“. Te küsite, kas selles faktitabelis, dimensioonis või allalaadimises on inimesi. Paljud lekked ei alga häkkerist, vaid aruandest, milles oli nimi, isikukood või kliendikood, ja link oli liiga avatud.</a:t>
            </a:r>
          </a:p>
          <a:p/>
          <a:p>
            <a:r>
              <a:rPr sz="1400">
                <a:latin typeface="Calibri"/>
              </a:rPr>
              <a:t>Teiseks: teie ei ole automaatselt „vastutav töötleja“. Tavaliselt on seda asutus või ettevõte. Aga teie olete selle käed. Kui te avaldate Power BI tööalasse, kuhu pääseb kogu maja, olete teie teinud töötlemise otsuse kättesaadavuse kohta. Seda peab oskama nimetada.</a:t>
            </a:r>
          </a:p>
          <a:p/>
          <a:p>
            <a:r>
              <a:rPr sz="1400">
                <a:latin typeface="Calibri"/>
              </a:rPr>
              <a:t>Kolmandaks: seitse põhimõtet ei ole poster seinal. Need on küsimused enne päringut: kas mul on alus, kas eesmärk on selge, kas ma võin SELECT * asemel võtta kuus veergu, kas väljavõte sureb.</a:t>
            </a:r>
          </a:p>
          <a:p/>
          <a:p>
            <a:r>
              <a:rPr sz="1400">
                <a:latin typeface="Calibri"/>
              </a:rPr>
              <a:t>Neljandaks: lõimitud ja vaikimisi kaitse tähendab teie keeles mudeli disaini. Koond on vaikevaade. Rida-realt on erand. Testis ei ole toodangu isikukoode.</a:t>
            </a:r>
          </a:p>
          <a:p/>
          <a:p>
            <a:r>
              <a:rPr sz="1400">
                <a:latin typeface="Calibri"/>
              </a:rPr>
              <a:t>Viiendaks: andmekaitsespetsialist ei ole pidur, kelle eest projekti peita. Ta on see, kellele te näitate andmevoo joonist enne, kui liidate kliendid, veebilogi ja palga.</a:t>
            </a:r>
          </a:p>
          <a:p/>
          <a:p>
            <a:r>
              <a:rPr sz="1400">
                <a:latin typeface="Calibri"/>
              </a:rPr>
              <a:t>[KÜSI] Kes teist juba kirjutab päringuid, teeb Power BI-d, Exceli mudeleid või andmevooge? Tõstke käsi. — Täpselt. Täna räägime teie tööriistadest, mitte üldisest „ärge jagage paroole“ loengust.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Kolm tundi, neli plokki, kaks pausi.</a:t>
            </a:r>
          </a:p>
          <a:p/>
          <a:p>
            <a:r>
              <a:rPr sz="1400">
                <a:latin typeface="Calibri"/>
              </a:rPr>
              <a:t>Esimene plokk on seadus, aga mitte rida-realt. Me teeme kaardi: IKÜM, IKS, AKI — ja tõlgime need kohe teie töösse. Mis on isikuandmed dim_customeris. Mis on töötlemine, kui värskendus jookseb öösel. Kes on kes, kui andmed on lakehouse’is ja aruanne on teenuses.</a:t>
            </a:r>
          </a:p>
          <a:p/>
          <a:p>
            <a:r>
              <a:rPr sz="1400">
                <a:latin typeface="Calibri"/>
              </a:rPr>
              <a:t>Teine plokk on põhimõtted. See on süda. Iga põhimõte saab näite: SELECT *, vale liitmine, vana CSV, avalik link, dokumenteerimata andmestik.</a:t>
            </a:r>
          </a:p>
          <a:p/>
          <a:p>
            <a:r>
              <a:rPr sz="1400">
                <a:latin typeface="Calibri"/>
              </a:rPr>
              <a:t>Kolmas on disain: kuidas ehitada kaitse mudelisse ja vaikimisi õigustesse, mitte kleebisena lõppu.</a:t>
            </a:r>
          </a:p>
          <a:p/>
          <a:p>
            <a:r>
              <a:rPr sz="1400">
                <a:latin typeface="Calibri"/>
              </a:rPr>
              <a:t>Neljas: millal teie rollis on DPO kohustuslik asutusele, ja kuidas teie teda kasutate — mitte kuidas temast saab jurist.</a:t>
            </a:r>
          </a:p>
          <a:p/>
          <a:p>
            <a:r>
              <a:rPr sz="1400">
                <a:latin typeface="Calibri"/>
              </a:rPr>
              <a:t>Harjutused on andmetöö stsenaariumid. Palun olge pausidelt täpselt tagasi.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Andmetarkuse kursusel ei ole te ainult „üks amet“. Mõni teist jääb analüütikuks, mõni teeb juhtimisaruandeid, mõni ehitab torusid. Seadus ei tee vahet pealkirjal. Ta teeb vahet toimingul.</a:t>
            </a:r>
          </a:p>
          <a:p/>
          <a:p>
            <a:r>
              <a:rPr sz="1400">
                <a:latin typeface="Calibri"/>
              </a:rPr>
              <a:t>Analüütik on see, kes küsib uue küsimuse ja läheb andmete kallale. Oht: liita kolm allikat, sest oskate, mitte sest tohib. Oht: tõmmata täispilt „et vaatan kodus“.</a:t>
            </a:r>
          </a:p>
          <a:p/>
          <a:p>
            <a:r>
              <a:rPr sz="1400">
                <a:latin typeface="Calibri"/>
              </a:rPr>
              <a:t>BI-analüütik teeb selle nähtavaks. Oht: mudelis on veerud, mida visuaal ei näita, aga Exceli allalaadimine näitab. Oht: tööala on „kogu asutus“, sest nii on lihtsam. Oht: ekraanipilt koolitusse.</a:t>
            </a:r>
          </a:p>
          <a:p/>
          <a:p>
            <a:r>
              <a:rPr sz="1400">
                <a:latin typeface="Calibri"/>
              </a:rPr>
              <a:t>Andmeinsener otsustab, kus andmed elavad ja kes neile ligi pääseb. Oht: toodangu koopia testis. Oht: varukoopia ilma samade õigusteta. Oht: logides on päringud koos isikukoodiga, ja logidele pääseb pool IT-st.</a:t>
            </a:r>
          </a:p>
          <a:p/>
          <a:p>
            <a:r>
              <a:rPr sz="1400">
                <a:latin typeface="Calibri"/>
              </a:rPr>
              <a:t>Täna räägime kõigile kolmele. Kui näide on Power BI, tõlkige see oma tööriista. Kui näide on SQL, tõlkige DAX-i või Pythonisse. Põhimõte on sama.</a:t>
            </a:r>
          </a:p>
          <a:p/>
          <a:p>
            <a:r>
              <a:rPr sz="1400">
                <a:latin typeface="Calibri"/>
              </a:rPr>
              <a:t>Kuldreegel ruumis: räägime põhimõtetest ja näidistabelitest, mitte kolleegi palgast ega päris kliendi isikukoodist.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[SOOJENDUS, umbes 4 minutit]</a:t>
            </a:r>
          </a:p>
          <a:p/>
          <a:p>
            <a:r>
              <a:rPr sz="1400">
                <a:latin typeface="Calibri"/>
              </a:rPr>
              <a:t>Tõstke käsi, kui see kehtib teie töö või õpingute kohta viimase kuu jooksul.</a:t>
            </a:r>
          </a:p>
          <a:p/>
          <a:p>
            <a:r>
              <a:rPr sz="1400">
                <a:latin typeface="Calibri"/>
              </a:rPr>
              <a:t>Esimene: olete teinud päringu või ekspordi, kus on inimese tunnus. — See on isikuandmete töötlemine. Mitte „ainult analüüs“.</a:t>
            </a:r>
          </a:p>
          <a:p/>
          <a:p>
            <a:r>
              <a:rPr sz="1400">
                <a:latin typeface="Calibri"/>
              </a:rPr>
              <a:t>Teine: olete avaldanud või jaganud aruannet. — Kättesaadavus on artikli 25 vaikimisi küsimus. Kes näeb, on juba andmekaitseotsus.</a:t>
            </a:r>
          </a:p>
          <a:p/>
          <a:p>
            <a:r>
              <a:rPr sz="1400">
                <a:latin typeface="Calibri"/>
              </a:rPr>
              <a:t>Kolmas: olete liitnud tabeleid. — Uus ühendamine võib olla uus eesmärk ja uus profiil. Seadus ei kiida automaatselt heaks seda, et teie oskate JOIN-i.</a:t>
            </a:r>
          </a:p>
          <a:p/>
          <a:p>
            <a:r>
              <a:rPr sz="1400">
                <a:latin typeface="Calibri"/>
              </a:rPr>
              <a:t>Neljas: koopia. Analüütiku kõige tavalisem variandirisk. Ametlik baas võib olla turvaline; teie allalaadimiste kaust ei ole.</a:t>
            </a:r>
          </a:p>
          <a:p/>
          <a:p>
            <a:r>
              <a:rPr sz="1400">
                <a:latin typeface="Calibri"/>
              </a:rPr>
              <a:t>Viies: uudishimu. „Vaatan, kas klapib.“ Ilma eesmärgita isikuandmete uudistamine on halb harjumus, mitte andmetarkus.</a:t>
            </a:r>
          </a:p>
          <a:p/>
          <a:p>
            <a:r>
              <a:rPr sz="1400">
                <a:latin typeface="Calibri"/>
              </a:rPr>
              <a:t>Kui käsi käis mitu korda üles, olete täpselt õiges loengus. Andmekaitse ei ole HR-i teema kuskil kõrval. See on teie sprint, teie backlog, teie merge.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See on tänase päeva põhisõnum.</a:t>
            </a:r>
          </a:p>
          <a:p/>
          <a:p>
            <a:r>
              <a:rPr sz="1400">
                <a:latin typeface="Calibri"/>
              </a:rPr>
              <a:t>Andmetarkuse kursusel õpite te tegema asju, mis on võimsad: puhastada, ühendada, visualiseerida, automatiseerida. Võim ilma piirideta on oht. Rida andmebaasis ei ole „datapunkt“. Kui sealt saab inimese kätte, on see kellegi eraelu, palk, ost, tervis, asukoht või töötulemus.</a:t>
            </a:r>
          </a:p>
          <a:p/>
          <a:p>
            <a:r>
              <a:rPr sz="1400">
                <a:latin typeface="Calibri"/>
              </a:rPr>
              <a:t>Seadus ei keela analüüsi. IKÜM ütleb ise, et isikuandmete kaitse ei ole absoluutne. Te võite ja peate andmeid kasutama otsuste jaoks. Aga te peate oskama öelda miks, millisel alusel, kui kitsalt, kui kaua, kes näeb, ja kuidas te seda hiljem tõendate.</a:t>
            </a:r>
          </a:p>
          <a:p/>
          <a:p>
            <a:r>
              <a:rPr sz="1400">
                <a:latin typeface="Calibri"/>
              </a:rPr>
              <a:t>Kui te ühe harjumuse koju viite, siis see: enne kui kirjutate SELECT, kirjutate mõõdiku või avaldame töölauda, nimetage inimene, kelle rida see on — klient, töötaja, õpilane, patsient — ja nimetage otsus, mida see rida toetab. Kui te ei oska, ärge jookske päringut.</a:t>
            </a:r>
          </a:p>
          <a:p/>
          <a:p>
            <a:r>
              <a:rPr sz="1400">
                <a:latin typeface="Calibri"/>
              </a:rPr>
              <a:t>Läheme seadusandluse juurde, kohe teie tööriistade keeles.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Esimene plokk: mis reeglid Eestis kehtivad, ja mida need tähendavad, kui teie käsi on andmetel.</a:t>
            </a:r>
          </a:p>
          <a:p/>
          <a:p>
            <a:r>
              <a:rPr sz="1400">
                <a:latin typeface="Calibri"/>
              </a:rPr>
              <a:t>Me ei loe paragrahve järjest. Me teeme kiire kaardi — põhiseadus, IKÜM, IKS, AKI — ja siis tõlgime iga mõiste andmetöö keelde. Pärast seda oskate te öelda, kas teie dim-tabel on isikuandmed, kas öine värskendus on töötlemine, ja kelle poole minna, kui link läks valeks.</a:t>
            </a:r>
          </a:p>
          <a:p/>
          <a:p>
            <a:r>
              <a:rPr sz="1400">
                <a:latin typeface="Calibri"/>
              </a:rPr>
              <a:t>Alustame lühidalt õiguspildist, siis kohe näidetest, mis teie ekraanil tegelikult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Kolm lühendit, siis liigume edasi — me ei jää ajalukku.</a:t>
            </a:r>
          </a:p>
          <a:p/>
          <a:p>
            <a:r>
              <a:rPr sz="1400">
                <a:latin typeface="Calibri"/>
              </a:rPr>
              <a:t>IKÜM on Euroopa määrus. Määrus kehtib otse. Te ei saa öelda „meie Eesti firmas GDPR ei kehti, sest me teeme ainult sisemisi aruandeid“. Kui töötlete isikuandmeid, kehtib. Analüüs, BI, ETL ei ole erand.</a:t>
            </a:r>
          </a:p>
          <a:p/>
          <a:p>
            <a:r>
              <a:rPr sz="1400">
                <a:latin typeface="Calibri"/>
              </a:rPr>
              <a:t>IKS on Eesti seadus, mis täidab kohad, mille Euroopa jätab riigile: kuidas AKI töötab, 13-aastase nõusolek infoühiskonna teenustes, ajakirjandus, teadusuuring, avaliku sektori erisused. Avalikus sektoris puutute kokku ka avaliku teabe seadusega: juht tahab aruannet avalikuks, teie näete, et tabelis on nimed. See pinge on just teie laual.</a:t>
            </a:r>
          </a:p>
          <a:p/>
          <a:p>
            <a:r>
              <a:rPr sz="1400">
                <a:latin typeface="Calibri"/>
              </a:rPr>
              <a:t>AKI on järelevalve. Nende juhendid on praktilised. Esimene soovitus andmetöötajale: aki.ee on sõber. Teine: kui lekib, ärge vaadake kõrvale.</a:t>
            </a:r>
          </a:p>
          <a:p/>
          <a:p>
            <a:r>
              <a:rPr sz="1400">
                <a:latin typeface="Calibri"/>
              </a:rPr>
              <a:t>Põhiseaduse § 26 — eraelu puutumatus — on vundament. Teie tabel on selle põhiõiguse praktiline koht. Õigus ei ole absoluutne: maks, ravi, statistika, leping võivad andmeid nõuda. Küsimus on kuidas, mitte kas andmed üldse tohivad eksisteerida.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Isikuandmed on teave tuvastatud või tuvastatava inimese kohta. Andmetöös on see tähtis, sest teie tabelites on harva veerg nimega „isikuandmed“. Seal on võtmed.</a:t>
            </a:r>
          </a:p>
          <a:p/>
          <a:p>
            <a:r>
              <a:rPr sz="1400">
                <a:latin typeface="Calibri"/>
              </a:rPr>
              <a:t>Customer_id teie CRM-is on isikuandmed, kui selle taga on inimene. Employee_nr palgamudelis samuti. IP veebilogis võib olla, eriti teenuseosutajale või kui logi liidetakse kontoga. Küpsise-ID, seadme sõrmejälg, asukohapunktid — kaudne tuvastamine.</a:t>
            </a:r>
          </a:p>
          <a:p/>
          <a:p>
            <a:r>
              <a:rPr sz="1400">
                <a:latin typeface="Calibri"/>
              </a:rPr>
              <a:t>Eestis on liitmine eriti ohtlik, sest rahvastik on väike. Te eemaldate nime, jätate ameti ja valla — Kihnus on üks naisarst. Power BI ruudus n=1 on tuvastamine, mitte statistika.</a:t>
            </a:r>
          </a:p>
          <a:p/>
          <a:p>
            <a:r>
              <a:rPr sz="1400">
                <a:latin typeface="Calibri"/>
              </a:rPr>
              <a:t>Kui te asendate nime koodiga ja tõlketabel on kõrval või lakehouse’is, on see pseudonüüm. IKÜM kehtib edasi. Anonüümne on ainult pöördumatu olukord, kus teie ega keegi teine mõistlike pingutustega inimest kätte ei saa. „Eemaldasime nime“ ei ole anonüümimine.</a:t>
            </a:r>
          </a:p>
          <a:p/>
          <a:p>
            <a:r>
              <a:rPr sz="1400">
                <a:latin typeface="Calibri"/>
              </a:rPr>
              <a:t>OÜ registrikood ei ole isikuandmed. FIE on hallim. Töötaja nimi müügi edetabelis on isikuandmed — lubatud võib olla, aga see ei ole vaba tsoon.</a:t>
            </a:r>
          </a:p>
          <a:p/>
          <a:p>
            <a:r>
              <a:rPr sz="1400">
                <a:latin typeface="Calibri"/>
              </a:rPr>
              <a:t>Teie tööküsimus enne mudeli koostamist: milliste veergude või kombinatsioonidega saab inimese kätte? Kahtluse korral kohtle isikuandmetena.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Andmeinsenerid mõtlevad kihtides. Andmekaitse peab ka nii mõtlema.</a:t>
            </a:r>
          </a:p>
          <a:p/>
          <a:p>
            <a:r>
              <a:rPr sz="1400">
                <a:latin typeface="Calibri"/>
              </a:rPr>
              <a:t>Allikas võib olla hästi hallatud: õigused, logid, leping. Siis teie toru kopeerib samad read stagingusse, Parquet’isse, mudelisse. Iga koopia on töötlemine. Iga kiht, kus õigused on laiemad kui allikas, on regressioon. Klassikaline viga: operatiivsüsteemis näeb kliendi aadressi kolm inimest; andmejärves näeb sada, sest „analüütikutel on vaja“.</a:t>
            </a:r>
          </a:p>
          <a:p/>
          <a:p>
            <a:r>
              <a:rPr sz="1400">
                <a:latin typeface="Calibri"/>
              </a:rPr>
              <a:t>Tarbimiskiht on BI ja analüütiku kodu. Visuaal võib näidata tulpa; allalaadimine näitab ridu. Notebookis on täispilt, sest „mudel õpib paremini“.</a:t>
            </a:r>
          </a:p>
          <a:p/>
          <a:p>
            <a:r>
              <a:rPr sz="1400">
                <a:latin typeface="Calibri"/>
              </a:rPr>
              <a:t>Vari on andmetarkuse tegelik epidemioloogia. Projekt sai otsa, CSV jäi Teams-kausta. Keegi saatis manuse. Keegi tõmbas koju, sest VPN oli aeglane. Need failid ei ole „mitteametlikud, seega seadus ei kehti“. Seadus kehtib. Need on lihtsalt halvemini kaitstud.</a:t>
            </a:r>
          </a:p>
          <a:p/>
          <a:p>
            <a:r>
              <a:rPr sz="1400">
                <a:latin typeface="Calibri"/>
              </a:rPr>
              <a:t>Varukoopia: Apotheka loo üks õppetund oli, et vanad koopiad on ikka andmed. „See on arhiiv“ ei vähenda isikukoodi ohtu. Unustatud fail on kaitsmata fail.</a:t>
            </a:r>
          </a:p>
          <a:p/>
          <a:p>
            <a:r>
              <a:rPr sz="1400">
                <a:latin typeface="Calibri"/>
              </a:rPr>
              <a:t>Kui te esmaspäeval ühe kaardi joonistate, joonistage: allikas → toru → mudel → aruanne → allalaadimine → vari. Iga nool tahab peremeest, eesmärki ja õigusi.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[HARJUTUS 6 min]</a:t>
            </a:r>
          </a:p>
          <a:p/>
          <a:p>
            <a:r>
              <a:rPr sz="1400">
                <a:latin typeface="Calibri"/>
              </a:rPr>
              <a:t>Töötage paarides. Iga rea juurde: jah, ei või oleneb. Ärge avage veel vastuseid. Küsimus ei ole „kas meil on ilus KPI“, vaid „kas inimese saab kätte — otseselt või koos muu infoga, mis analüütikul tavaliselt on“.</a:t>
            </a:r>
          </a:p>
          <a:p/>
          <a:p>
            <a:r>
              <a:rPr sz="1400">
                <a:latin typeface="Calibri"/>
              </a:rPr>
              <a:t>Kui jääte rea 4 (IP) või 6 (küsitlus) juurde kinni, on see hea — need on hallid. Märkige „oleneb“ ja kirjutage, millest oleneb.</a:t>
            </a:r>
          </a:p>
          <a:p/>
          <a:p>
            <a:r>
              <a:rPr sz="1400">
                <a:latin typeface="Calibri"/>
              </a:rPr>
              <a:t>Pärast kuut minutit koguge kolm-neli rida valjusti, siis avage vastuste slaid. Ma ei oota täiuslikku skoori. Ma ootan, et te hakkaksite artefakti vaadates küsima tuvastatavuse, mitte veeru pealkirja järgi.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Kiiresti üle.</a:t>
            </a:r>
          </a:p>
          <a:p/>
          <a:p>
            <a:r>
              <a:rPr sz="1400">
                <a:latin typeface="Calibri"/>
              </a:rPr>
              <a:t>Üks: jah. E-post ja sünniaeg on klassika; võti teeb ühendamise lihtsaks.</a:t>
            </a:r>
          </a:p>
          <a:p/>
          <a:p>
            <a:r>
              <a:rPr sz="1400">
                <a:latin typeface="Calibri"/>
              </a:rPr>
              <a:t>Kaks: koond maakonna ja kuu kaupa on tavaliselt statistika. Aga Hiiumaa pluss üks tehing võib olla üks klient. Filtrid tapavad koondi.</a:t>
            </a:r>
          </a:p>
          <a:p/>
          <a:p>
            <a:r>
              <a:rPr sz="1400">
                <a:latin typeface="Calibri"/>
              </a:rPr>
              <a:t>Kolm: müüja nimi teljel on töötaja isikuandmed. Võib olla õigustatud töösuhtes, aga vajab alust, kitsast ringi ja eesmärki. See ei ole „lihtsalt müügigraafik“.</a:t>
            </a:r>
          </a:p>
          <a:p/>
          <a:p>
            <a:r>
              <a:rPr sz="1400">
                <a:latin typeface="Calibri"/>
              </a:rPr>
              <a:t>Neli: paljad logid on hall ala. Sideettevõttele on IP kliendi tunnus. Teie analüütikas, kui te liidete logi kontole, on see selge jah. Juba enne liitmist võib olla tuvastatav.</a:t>
            </a:r>
          </a:p>
          <a:p/>
          <a:p>
            <a:r>
              <a:rPr sz="1400">
                <a:latin typeface="Calibri"/>
              </a:rPr>
              <a:t>Viis: puudumise põhjus on tihti tervis. Eriliik. Kolm inimest osakonnas — teate, kes on kes.</a:t>
            </a:r>
          </a:p>
          <a:p/>
          <a:p>
            <a:r>
              <a:rPr sz="1400">
                <a:latin typeface="Calibri"/>
              </a:rPr>
              <a:t>Kuus: „anonüümne küsitlus“ on andmetarkuse sagedane enesepettus.</a:t>
            </a:r>
          </a:p>
          <a:p/>
          <a:p>
            <a:r>
              <a:rPr sz="1400">
                <a:latin typeface="Calibri"/>
              </a:rPr>
              <a:t>Seitse: testkeskkond täiskoopiaga on toodangu risk laiema ligipääsuga. Inseneri teema.</a:t>
            </a:r>
          </a:p>
          <a:p/>
          <a:p>
            <a:r>
              <a:rPr sz="1400">
                <a:latin typeface="Calibri"/>
              </a:rPr>
              <a:t>Kaheksa: „ainult vaatamiseks“ ei ole õiguslik kategooria. Fail, mis saab kettale, saab edasi minna.</a:t>
            </a:r>
          </a:p>
          <a:p/>
          <a:p>
            <a:r>
              <a:rPr sz="1400">
                <a:latin typeface="Calibri"/>
              </a:rPr>
              <a:t>Kui teie paar vaidleks ridade 2, 4 või 6 üle, on see hea. Hall ala on teie tegelik töö.</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Inimesed ütlevad: „ma ei töötle, ma ainult vaatan / ainult hoian / ainult värskendan“. Seaduse keeles on töötlemine igasugune toiming.</a:t>
            </a:r>
          </a:p>
          <a:p/>
          <a:p>
            <a:r>
              <a:rPr sz="1400">
                <a:latin typeface="Calibri"/>
              </a:rPr>
              <a:t>Teie tööpäev on töötlemise kataloog. SELECT on päring. Power Query samm on muutmine. Liitmine on ühendamine. Värskendus on kogumine ja salvestamine. Jagamine on edastamine. Versiooniajalugu on säilitamine. Kui te kustutate aruande, aga andmestik elab teenuses edasi, ei ole te kustutanud.</a:t>
            </a:r>
          </a:p>
          <a:p/>
          <a:p>
            <a:r>
              <a:rPr sz="1400">
                <a:latin typeface="Calibri"/>
              </a:rPr>
              <a:t>See ei ole keelatud. See on nimetatav. Keelatud on töötlemine ilma aluseta ja põhimõtteid rikkudes.</a:t>
            </a:r>
          </a:p>
          <a:p/>
          <a:p>
            <a:r>
              <a:rPr sz="1400">
                <a:latin typeface="Calibri"/>
              </a:rPr>
              <a:t>Praktiline järeldus: iga automatiseeritud toru on korduv töötlemine. Kui te panete ajastatud värskenduse, olete otsustanud, et see töötlus toimub iga öö. Keegi peab teadma, millisel eesmärgil ja millise tähtajaga.</a:t>
            </a:r>
          </a:p>
          <a:p/>
          <a:p>
            <a:r>
              <a:rPr sz="1400">
                <a:latin typeface="Calibri"/>
              </a:rPr>
              <a:t>Teine järeldus: „ma tegin koopia, et kiiremini töötada“ on teadlik uus töötlus. Valige keskkond, mis on lepinguga kaetud, mitte isiklik Gmail ja USB.</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Rollid on andmeplatvormil kerged sassi minema, sest tehniliselt „andmed on Azures“.</a:t>
            </a:r>
          </a:p>
          <a:p/>
          <a:p>
            <a:r>
              <a:rPr sz="1400">
                <a:latin typeface="Calibri"/>
              </a:rPr>
              <a:t>Vastutav töötleja on see, kes otsustab eesmärgi. Kool, haigla, e-pood, ministeerium. Serveri asukoht ei vabasta. „Meie Fabric on Iirimaal“ ei muuda kooli mittevastutavaks.</a:t>
            </a:r>
          </a:p>
          <a:p/>
          <a:p>
            <a:r>
              <a:rPr sz="1400">
                <a:latin typeface="Calibri"/>
              </a:rPr>
              <a:t>Volitatud töötleja töötab teie asutuse nimel. Power BI teenus, Snowflake, palgafirm, küsitluskeskkond. Peab olema leping: mis andmeid, mis otstarve, allhankijad, kustutamine. Andmeinsener: ärge ühendage uut SaaS-i isikuandmetega enne, kui hanget ja lepingut on vaadatud. Analüütik: ärge kleepige isikuandmeid avalikku ChatGPT-sse — see võib olla edastamine volitamata töötlejale.</a:t>
            </a:r>
          </a:p>
          <a:p/>
          <a:p>
            <a:r>
              <a:rPr sz="1400">
                <a:latin typeface="Calibri"/>
              </a:rPr>
              <a:t>Kaasvastutus tuleb ette, kui kaks asutust otsustavad koos, näiteks ühine haridusaruanne. Siis peab olema kokkulepe, kes mida teeb.</a:t>
            </a:r>
          </a:p>
          <a:p/>
          <a:p>
            <a:r>
              <a:rPr sz="1400">
                <a:latin typeface="Calibri"/>
              </a:rPr>
              <a:t>[KÜSI] Kui teie avaldate aruande tööalasse „kogu ettevõte“: kes otsustas kättesaadavuse? Tavaliselt teie, asutuse nimel. See on täpselt see koht, kus analüütik teeb andmekaitseotsuse ilma seda märkamata.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See on seadusploki nurgakivi andmetöötajale.</a:t>
            </a:r>
          </a:p>
          <a:p/>
          <a:p>
            <a:r>
              <a:rPr sz="1400">
                <a:latin typeface="Calibri"/>
              </a:rPr>
              <a:t>Iga isikuandmete töötlus vajab artikli 6 alust. „Juht käskis“, „nõnda on alati tehtud“, „meil on andmed juba olemas“ ei ole alused.</a:t>
            </a:r>
          </a:p>
          <a:p/>
          <a:p>
            <a:r>
              <a:rPr sz="1400">
                <a:latin typeface="Calibri"/>
              </a:rPr>
              <a:t>Operatiivne töötlus — palga maksmine, paki saatmine, e-retsept — on sageli leping või seadus. Analüütika on tihti teine eesmärk. Kliendi aadress tarneks ei anna automaatselt luba teha temast turundusprofiili või käitumismudelit. Töötaja puudumise kanne palgaarvestuseks ei anna luba teha osakonna „tervise edetabelit“.</a:t>
            </a:r>
          </a:p>
          <a:p/>
          <a:p>
            <a:r>
              <a:rPr sz="1400">
                <a:latin typeface="Calibri"/>
              </a:rPr>
              <a:t>Eraettevõttes on analüütika sagedane alus õigustatud huvi: mõistlik äriline vajadus, mis ei kaalu üle inimese õigusi. See nõuab kaalumist kirjas: mis kasu, mis oht, kas saaks koondiga, kas inimene võiks oodata. Inimesel on õigus esitada vastuväide. Avalikus sektoris on sagedamini avalik ülesanne või seadus — „meil on õigustatud huvi“ ei ole asutuse imevits.</a:t>
            </a:r>
          </a:p>
          <a:p/>
          <a:p>
            <a:r>
              <a:rPr sz="1400">
                <a:latin typeface="Calibri"/>
              </a:rPr>
              <a:t>Nõusolekut ärge küsige, kui te tegelikult töötlete lepingu või seaduse tõttu. Ja ärge ehitage BI-d nõusoleku peale, kui töötaja ei saa tegelikult keelduda — see ei ole vaba.</a:t>
            </a:r>
          </a:p>
          <a:p/>
          <a:p>
            <a:r>
              <a:rPr sz="1400">
                <a:latin typeface="Calibri"/>
              </a:rPr>
              <a:t>Teie tööreegel: enne uue veeru, uue allika või uue liitmise lisamist küsige, milline kuuest alusest selle katab. Kui ükski ei kata, ärge lisage. Kui katab, aga eesmärk on uus, rääkige DPO või juristiga.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Analüütikud arvavad, et eriliik on „meditsiinitöötajate teema“. Tegelikult tuleb see teie mudelisse külgukse kaudu.</a:t>
            </a:r>
          </a:p>
          <a:p/>
          <a:p>
            <a:r>
              <a:rPr sz="1400">
                <a:latin typeface="Calibri"/>
              </a:rPr>
              <a:t>Apteegi ostuajalugu võib AKI käsitluses olla terviseandmed. Haiguslehe tunnus HR-kuubikus on tervis. Kooli „tugimeetme“ lipp võib olla erivajadus. Klienditeeninduse vaba tekst: „klient on rase, tarne ukse taha“. See üks veerg saastab kogu faktitabeli.</a:t>
            </a:r>
          </a:p>
          <a:p/>
          <a:p>
            <a:r>
              <a:rPr sz="1400">
                <a:latin typeface="Calibri"/>
              </a:rPr>
              <a:t>Eriliigi töötlus on reeglina keelatud. Erandid on kitsad: ravi, seadus, selge nõusolek, oluline avalik huvi jne. „Juht tahab näha, kes haigestub kõige rohkem“ ei ole erand.</a:t>
            </a:r>
          </a:p>
          <a:p/>
          <a:p>
            <a:r>
              <a:rPr sz="1400">
                <a:latin typeface="Calibri"/>
              </a:rPr>
              <a:t>Praktika teie rollides: ärge tooge eriliiki semantilisse mudelisse, mida kasutab turundus või kogu juhtkond. Eraldage. Maskeerige testis. Kui projekt on ulatuslik, on peaaegu kindlasti vaja mõjuhinnangut ja DPO-d.</a:t>
            </a:r>
          </a:p>
          <a:p/>
          <a:p>
            <a:r>
              <a:rPr sz="1400">
                <a:latin typeface="Calibri"/>
              </a:rPr>
              <a:t>Süüteoandmed on artiklis 10. Ärge Google'ist „taustakontrolli“ ja pange see HR-analüüsi.</a:t>
            </a:r>
          </a:p>
          <a:p/>
          <a:p>
            <a:r>
              <a:rPr sz="1400">
                <a:latin typeface="Calibri"/>
              </a:rPr>
              <a:t>Kui teie pipeline’i sisendis on vaba tekst, küsige, kas seal võib olla tervis või muu eriliik. Kui võib, on see disainiprobleem, mitte „hiljem filtrime“.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Andmesubjekti õigused tunduvad „klienditoe teema“. Tegelikult on see andmeinseneri ja analüütiku kataloogiprobleem.</a:t>
            </a:r>
          </a:p>
          <a:p/>
          <a:p>
            <a:r>
              <a:rPr sz="1400">
                <a:latin typeface="Calibri"/>
              </a:rPr>
              <a:t>Kui inimene küsib: mis andmeid te minust peate, peab asutus ühe kuu jooksul vastama. Keegi tuleb teie juurde: kus ta on? Kui vastus on „me ei tea, meil on kaksteist järve, kolm mudelit ja hunnik CSV-sid“, on vastutus põhimõte katki ja tähtaeg läheb.</a:t>
            </a:r>
          </a:p>
          <a:p/>
          <a:p>
            <a:r>
              <a:rPr sz="1400">
                <a:latin typeface="Calibri"/>
              </a:rPr>
              <a:t>Parandamine allikas ei aita, kui teie ait hoiab vana dimensiooni ilma uuenduseta, või kui analüütiku väljavõte elab OneDrive’is. Kustutamine samuti: „õigus olla unustatud“ ei ole absoluutne — seadus võib säilitamist nõuda — aga kus te tohib kustutada, peab kustutus jõudma torusse, mudelisse ja varjudesse.</a:t>
            </a:r>
          </a:p>
          <a:p/>
          <a:p>
            <a:r>
              <a:rPr sz="1400">
                <a:latin typeface="Calibri"/>
              </a:rPr>
              <a:t>Otseturunduse keeld peab olema tunnus, mida teie kampaaniaaruanne austab, mitte kiri, mida turundus unustab.</a:t>
            </a:r>
          </a:p>
          <a:p/>
          <a:p>
            <a:r>
              <a:rPr sz="1400">
                <a:latin typeface="Calibri"/>
              </a:rPr>
              <a:t>Skoorid ja mudelid: kui laen või töökuulutus keelatakse ainult masinaga, on erireeglid. Andmetarkuse ajastul see ainult kasvab.</a:t>
            </a:r>
          </a:p>
          <a:p/>
          <a:p>
            <a:r>
              <a:rPr sz="1400">
                <a:latin typeface="Calibri"/>
              </a:rPr>
              <a:t>Teie praktiline kohustus: andmestikel on omanik ja kirjeldus. Ilma andmekaardita ei ole õigusi võimalik täita. See on andmekaitse ja andmehaldus ühes.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Andmetöötaja lekke tüüppilt ei ole Hollywood. See on: keegi avaldas aruande valesse tööalasse; keegi kopeeris palgafaili chatti; RLS ei töötanud filtriga; notebooki commit läks reposse; praktikant sai lingi „vaata, kui ilus“.</a:t>
            </a:r>
          </a:p>
          <a:p/>
          <a:p>
            <a:r>
              <a:rPr sz="1400">
                <a:latin typeface="Calibri"/>
              </a:rPr>
              <a:t>Rikkumine on konfidentsiaalsuse, tervikluse või käideldavuse kadu. Vale inimene nägi. Andmeid muudeti. Lunavara lukustas.</a:t>
            </a:r>
          </a:p>
          <a:p/>
          <a:p>
            <a:r>
              <a:rPr sz="1400">
                <a:latin typeface="Calibri"/>
              </a:rPr>
              <a:t>72 tundi algab teadasaamisest. Reede õhtul avastatud vale link ei oota esmaspäeva. Öelge kohe.</a:t>
            </a:r>
          </a:p>
          <a:p/>
          <a:p>
            <a:r>
              <a:rPr sz="1400">
                <a:latin typeface="Calibri"/>
              </a:rPr>
              <a:t>Dokumenteerige ka need juhud, kus otsustate mitte teavitada — seadus nõuab rikkumiste registrit. „Tundus väike“ peab olema hinnang, mitte unustus.</a:t>
            </a:r>
          </a:p>
          <a:p/>
          <a:p>
            <a:r>
              <a:rPr sz="1400">
                <a:latin typeface="Calibri"/>
              </a:rPr>
              <a:t>Volitatud töötleja (pilveteenus, väline insener) peab teid kiiresti teavitama — see kuulub lepingusse. Kui teie olete see väline, ärge oodake, kuni klient ise avastab.</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Ma toon ühe Eesti näite, et see ei jääks „Iirimaa ja Facebooki asjaks“.</a:t>
            </a:r>
          </a:p>
          <a:p/>
          <a:p>
            <a:r>
              <a:rPr sz="1400">
                <a:latin typeface="Calibri"/>
              </a:rPr>
              <a:t>2024. aasta alguses lekkis Apotheka lojaalsusprogrammi andmeid üle 750 000 inimese kohta. Lisaks nimele ja isikukoodile ostuajalugu — ravimid, rasedustestid, kuulmis- ja nahatooted. AKI käsitles seda terviseandmetena. 2025 määrati Allium UPI-le 3 miljoni euro trahv; 2026 septembris jättis Harju maakohus trahvi jõusse. Ettevõte on rääkinud edasisest vaidlusest. Me ei ole kohtunikud. Me võtame avalikust järelevalvest õppetunni.</a:t>
            </a:r>
          </a:p>
          <a:p/>
          <a:p>
            <a:r>
              <a:rPr sz="1400">
                <a:latin typeface="Calibri"/>
              </a:rPr>
              <a:t>Andmeinsener: varukoopiad on andmed; logimine ja rollid ei ole ilu. Jagatud administraatorikonto on täpselt see, mida teie platvormil ei tohi olla.</a:t>
            </a:r>
          </a:p>
          <a:p/>
          <a:p>
            <a:r>
              <a:rPr sz="1400">
                <a:latin typeface="Calibri"/>
              </a:rPr>
              <a:t>Analüütik: ostuajalugu ei ole „lihtsalt faktitabel“. See võib olla eriliik. Ärge tõmmake täispilti sest „saab ilusa mudeli“.</a:t>
            </a:r>
          </a:p>
          <a:p/>
          <a:p>
            <a:r>
              <a:rPr sz="1400">
                <a:latin typeface="Calibri"/>
              </a:rPr>
              <a:t>BI: kes pääseb, kes laeb alla, kas vanad andmestikud elavad teenuses edasi ilma peremeheta.</a:t>
            </a:r>
          </a:p>
          <a:p/>
          <a:p>
            <a:r>
              <a:rPr sz="1400">
                <a:latin typeface="Calibri"/>
              </a:rPr>
              <a:t>See näide seob kogu tänase: seadus, konfidentsiaalsuse põhimõte, artikkel 25, vastutus. Tuleme tagasi.</a:t>
            </a:r>
          </a:p>
          <a:p/>
          <a:p>
            <a:r>
              <a:rPr sz="1400">
                <a:latin typeface="Calibri"/>
              </a:rPr>
              <a:t>Enne pausi kokkuvõte.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Esimene plokk kinni.</a:t>
            </a:r>
          </a:p>
          <a:p/>
          <a:p>
            <a:r>
              <a:rPr sz="1400">
                <a:latin typeface="Calibri"/>
              </a:rPr>
              <a:t>Te ei pea paragrahve pähe. Te peate oskama oma artefakti kohta öelda: kas siin on inimene, mis toiming see on, kes vastutab, mis alus, kas on eriliik, kas me oskame inimesele vastata, mida teeme kui lekib.</a:t>
            </a:r>
          </a:p>
          <a:p/>
          <a:p>
            <a:r>
              <a:rPr sz="1400">
                <a:latin typeface="Calibri"/>
              </a:rPr>
              <a:t>[KÜSI 2 min] Tüüpilised küsimused:</a:t>
            </a:r>
          </a:p>
          <a:p>
            <a:r>
              <a:rPr sz="1400">
                <a:latin typeface="Calibri"/>
              </a:rPr>
              <a:t>— Kas töö e-post on isikuandmed? Jah.</a:t>
            </a:r>
          </a:p>
          <a:p>
            <a:r>
              <a:rPr sz="1400">
                <a:latin typeface="Calibri"/>
              </a:rPr>
              <a:t>— Kas koond KPI on? Tavaliselt ei, kuni filter viib n=1-ni.</a:t>
            </a:r>
          </a:p>
          <a:p>
            <a:r>
              <a:rPr sz="1400">
                <a:latin typeface="Calibri"/>
              </a:rPr>
              <a:t>— Kas surnud kliendi rida? IKÜM kaitseb elavaid; praktiliselt hoidke sama distsipliini ja küsige juristilt, kui on arhiiv.</a:t>
            </a:r>
          </a:p>
          <a:p/>
          <a:p>
            <a:r>
              <a:rPr sz="1400">
                <a:latin typeface="Calibri"/>
              </a:rPr>
              <a:t>Paus kümme minutit. Tagasi [KELLAAEG]. Järgmine on kõige praktilisem: põhimõtted teie päringus.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[PAUSE 10 min]</a:t>
            </a:r>
          </a:p>
          <a:p/>
          <a:p>
            <a:r>
              <a:rPr sz="1400">
                <a:latin typeface="Calibri"/>
              </a:rPr>
              <a:t>Öelge kellaaeg tahvlile. Ärge laske pausil üle 12 minuti minna.</a:t>
            </a:r>
          </a:p>
          <a:p/>
          <a:p>
            <a:r>
              <a:rPr sz="1400">
                <a:latin typeface="Calibri"/>
              </a:rPr>
              <a:t>Kui keegi küsib „kas meil tohib seda aruannet teha“, ärge andke asutuse-põhist juriidilist nõu. Öelge: pärast pausi tulevad seitse küsimust, millega saate ise esimese filtri teha; lõplikuks vastuseks on DPO või AKI.</a:t>
            </a:r>
          </a:p>
          <a:p/>
          <a:p>
            <a:r>
              <a:rPr sz="1400">
                <a:latin typeface="Calibri"/>
              </a:rPr>
              <a:t>Alustage, kui enamus on ruumis. Üks lause: järgmine plokk on teie igapäevane kontrollnimekiri, mitte teooria.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Tere tagasi. Esimene pool oli kaart: seadus, isikuandmed, rollid, alus. Nüüd kompass.</a:t>
            </a:r>
          </a:p>
          <a:p/>
          <a:p>
            <a:r>
              <a:rPr sz="1400">
                <a:latin typeface="Calibri"/>
              </a:rPr>
              <a:t>Artikkel 5 on lühike ja see on kogu andmekaitse süda. Me ei õpi seda posterina. Me õpime seda kui kontrollnimekirja, mille te käite läbi enne SELECT-i, enne uue mõõdiku lisamist, enne tööala õiguste klikki, enne CSV eksporti.</a:t>
            </a:r>
          </a:p>
          <a:p/>
          <a:p>
            <a:r>
              <a:rPr sz="1400">
                <a:latin typeface="Calibri"/>
              </a:rPr>
              <a:t>Iga põhimõtte juures on analüütiku, BI ja inseneri näide. Siis harjutus nelja stsenaariumiga. See osa on see, mida te esmaspäeval päriselt kasutate.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Seitse, mitte kuus. Kuus esimest on kuidas töödelda. Seitsmes on suuda tõendada.</a:t>
            </a:r>
          </a:p>
          <a:p/>
          <a:p>
            <a:r>
              <a:rPr sz="1400">
                <a:latin typeface="Calibri"/>
              </a:rPr>
              <a:t>Rütm, mis jääb meelde: seaduslikult. Ainult selleks otstarbeks. Nii vähe veerge kui võimalik. Õige inimene. Mitte igavesti. Õigete inimeste ees. Ja kirjas.</a:t>
            </a:r>
          </a:p>
          <a:p/>
          <a:p>
            <a:r>
              <a:rPr sz="1400">
                <a:latin typeface="Calibri"/>
              </a:rPr>
              <a:t>Kui te unustate artiklinumbrid, jätke need seitse küsimust. Need mahuvad sprinti valmis-definitsiooni, pull requesti mallile või aruande avaldamise checklistile. See ei ole bürokraatia. See on sama distsipliin, mida te juba kasutate andmekvaliteedi jaoks — lihtsalt küsimus on „kelle rida“.</a:t>
            </a:r>
          </a:p>
          <a:p/>
          <a:p>
            <a:r>
              <a:rPr sz="1400">
                <a:latin typeface="Calibri"/>
              </a:rPr>
              <a:t>Analüütik kuuleb neid enne päringut. BI-analüütik enne Publish. Andmeinsener enne, kui uus allikas torusse ühendatakse. Sama seadus, kolm nuppu.</a:t>
            </a:r>
          </a:p>
          <a:p/>
          <a:p>
            <a:r>
              <a:rPr sz="1400">
                <a:latin typeface="Calibri"/>
              </a:rPr>
              <a:t>Võtame ükshaaval. Palun ärge pange veel sülearvutit tööle — see osa on see, mida te esmaspäeval kasutate.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Seaduslikkus viitab alusele, millest rääkisime. Kui kliendiandmed on lepingu jaoks, ei ole see automaatselt alus teha neist käitumisskoor kogu personalile vaatamiseks.</a:t>
            </a:r>
          </a:p>
          <a:p/>
          <a:p>
            <a:r>
              <a:rPr sz="1400">
                <a:latin typeface="Calibri"/>
              </a:rPr>
              <a:t>Õiglus on see, mida tehniline inimene unustab. Te võite formaalselt midagi tohtida, aga teha ebausalt. Näide: logid on „turbe jaoks“, aga te mõõdate, kes kui kaua dokumenti luges, ja teete edetabeli. Näide: küsitlus „töökeskkond“, aga vastuseid kasutatakse koondamise otsuses.</a:t>
            </a:r>
          </a:p>
          <a:p/>
          <a:p>
            <a:r>
              <a:rPr sz="1400">
                <a:latin typeface="Calibri"/>
              </a:rPr>
              <a:t>Läbipaistvus andmetöös: privaatsusteade peab katma analüütika, kui te teete midagi, mida inimene ei oska oodata. Sisemises BI-s tähendab see ka, et töötaja teab, millised töötulemuse aruanded juhil on — mitte et te ehitate varjatud jälgimist.</a:t>
            </a:r>
          </a:p>
          <a:p/>
          <a:p>
            <a:r>
              <a:rPr sz="1400">
                <a:latin typeface="Calibri"/>
              </a:rPr>
              <a:t>[KÜSI] Kus teie töös sünnib analüüs, millest andmesubjekt ei teaks? Tihti: liidetud logid, HR-i „inimese 360“, kliendi skoor. Need on kohad, kus läbipaistvus ja alus tuleb enne koodi paika.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Eesmärgi piirang on analüütiku kiusatuse vastane põhimõte.</a:t>
            </a:r>
          </a:p>
          <a:p/>
          <a:p>
            <a:r>
              <a:rPr sz="1400">
                <a:latin typeface="Calibri"/>
              </a:rPr>
              <a:t>Te oskate liita. Seepärast tahab iga uus äriline küsimus uut JOIN-i. Seadus küsib: kas see on ikka seesama eesmärk, millega andmed koguti, või uus? Uus eesmärk vajab uut alust või selget ühilduvust. Ühilduvus ei ole „meil on huvi“.</a:t>
            </a:r>
          </a:p>
          <a:p/>
          <a:p>
            <a:r>
              <a:rPr sz="1400">
                <a:latin typeface="Calibri"/>
              </a:rPr>
              <a:t>Näited teie laual. Kliendi tarneaadress on leping. Sama aadressi kasutamine, et arvutada „elustiili segment“ ja müüa kolmandale, on teine eesmärk. Töötaja puudumine palgaarvestuseks on seadus/leping. Sama rea viimine turundusele „tervisepakettideks“ on eesmärgi rikkumine ja sageli eriliik.</a:t>
            </a:r>
          </a:p>
          <a:p/>
          <a:p>
            <a:r>
              <a:rPr sz="1400">
                <a:latin typeface="Calibri"/>
              </a:rPr>
              <a:t>Andmeinsener: ärge looge üht hiigeltabelit „kõik inimese kohta“, millest igaüks ammutab oma küsimuse. See arhitektuur on eesmärgi piirangu vaenlane. Eraldage domeenid: klienditeenindus, HR, tervis, turundus.</a:t>
            </a:r>
          </a:p>
          <a:p/>
          <a:p>
            <a:r>
              <a:rPr sz="1400">
                <a:latin typeface="Calibri"/>
              </a:rPr>
              <a:t>BI: uus aruanne uuele publikule on uus kättesaadavus ja tihti uus eesmärk. „Paneme sama andmestiku ka müügile“ võib olla lubatud, võib mitte.</a:t>
            </a:r>
          </a:p>
          <a:p/>
          <a:p>
            <a:r>
              <a:rPr sz="1400">
                <a:latin typeface="Calibri"/>
              </a:rPr>
              <a:t>Enne iga uut päringut: mis otsust see toetab? Kui ei oska vastata, ärge jookske isikuandmetel.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Minimeerimine on teie lemmik, sest see on konkreetne ja parandab ka mudeli kiirust.</a:t>
            </a:r>
          </a:p>
          <a:p/>
          <a:p>
            <a:r>
              <a:rPr sz="1400">
                <a:latin typeface="Calibri"/>
              </a:rPr>
              <a:t>SELECT * allikast, kuhu on aastate jooksul kogunenud 80 veergu, on „igaks juhuks kogumine“ toru kujul. AKI ütleb otse: igaks juhuks kogumine on ebaseaduslik. Andmeid, mida teil ei ole, ei saa lekkida — ja teie aruanne on ka kiirem.</a:t>
            </a:r>
          </a:p>
          <a:p/>
          <a:p>
            <a:r>
              <a:rPr sz="1400">
                <a:latin typeface="Calibri"/>
              </a:rPr>
              <a:t>BI: ärge tooge semantilisse mudelisse veerge, mida ükski visuaal ei kasuta. Keegi laeb Excelisse ja saab isikukoodid kätte. Peida veerg ei ole minimeerimine, kui allalaadimine selle ikkagi annab.</a:t>
            </a:r>
          </a:p>
          <a:p/>
          <a:p>
            <a:r>
              <a:rPr sz="1400">
                <a:latin typeface="Calibri"/>
              </a:rPr>
              <a:t>Analüütik: kas juht vajab nime või vanuserühma? Kas tarneks on vaja tänavat või piisab maakonnast logistikakaardil? Kas treeningandmeteks on vaja täispopulatsiooni?</a:t>
            </a:r>
          </a:p>
          <a:p/>
          <a:p>
            <a:r>
              <a:rPr sz="1400">
                <a:latin typeface="Calibri"/>
              </a:rPr>
              <a:t>Vaba tekst on minimeerimise vaenlane number kaks. Märkused, pileti sisu, chat — sinna kirjutatakse tervis ja pere. Kui eesmärk ei nõua, ärge võtke.</a:t>
            </a:r>
          </a:p>
          <a:p/>
          <a:p>
            <a:r>
              <a:rPr sz="1400">
                <a:latin typeface="Calibri"/>
              </a:rPr>
              <a:t>Isikukood on Eestis tulirelv. Ärge pange seda vaikeväljaks. Ühendamiseks kasutage sisemist võtit; isikukood jäägu kitsasse, logitud tsooni.</a:t>
            </a:r>
          </a:p>
          <a:p/>
          <a:p>
            <a:r>
              <a:rPr sz="1400">
                <a:latin typeface="Calibri"/>
              </a:rPr>
              <a:t>Mini-arutelu järgmisel slaidil.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[MINI-ARUTELU 4 min]</a:t>
            </a:r>
          </a:p>
          <a:p/>
          <a:p>
            <a:r>
              <a:rPr sz="1400">
                <a:latin typeface="Calibri"/>
              </a:rPr>
              <a:t>Eesmärk on udune — see on osa õppetunnist. Suunake:</a:t>
            </a:r>
          </a:p>
          <a:p>
            <a:r>
              <a:rPr sz="1400">
                <a:latin typeface="Calibri"/>
              </a:rPr>
              <a:t>— Paluge eesmärk täpsustada: vanus, maakond, kordusost, käive? Ilma selleta kogute liiga palju.</a:t>
            </a:r>
          </a:p>
          <a:p>
            <a:r>
              <a:rPr sz="1400">
                <a:latin typeface="Calibri"/>
              </a:rPr>
              <a:t>— Isikukood juhtkonna aruandesse ei kuulu. Vanuserühm piisab.</a:t>
            </a:r>
          </a:p>
          <a:p>
            <a:r>
              <a:rPr sz="1400">
                <a:latin typeface="Calibri"/>
              </a:rPr>
              <a:t>— Nimi ei ole vaja, kui küsimus on segment, mitte võlg.</a:t>
            </a:r>
          </a:p>
          <a:p>
            <a:r>
              <a:rPr sz="1400">
                <a:latin typeface="Calibri"/>
              </a:rPr>
              <a:t>— Aadress → maakond, kui ei saadeta pakki sellest aruandest.</a:t>
            </a:r>
          </a:p>
          <a:p>
            <a:r>
              <a:rPr sz="1400">
                <a:latin typeface="Calibri"/>
              </a:rPr>
              <a:t>— Märkused: jah, tagauks eriliigile. Ärge tooge BI-sse.</a:t>
            </a:r>
          </a:p>
          <a:p>
            <a:r>
              <a:rPr sz="1400">
                <a:latin typeface="Calibri"/>
              </a:rPr>
              <a:t>— Rida-realt: näiteks võlgade tiim kitsa RLS-iga, mitte „kogu juhtkond“.</a:t>
            </a:r>
          </a:p>
          <a:p/>
          <a:p>
            <a:r>
              <a:rPr sz="1400">
                <a:latin typeface="Calibri"/>
              </a:rPr>
              <a:t>Tänage. Õppetund: minimeerimine algab eesmärgi täpsustamisest, mitte veergude kustutamisest lõpus.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Te teate juba, et praht sisse, praht välja. Seadus lisab: praht isikuandmetes on õigusrikkumine, mitte ainult kehv KPI.</a:t>
            </a:r>
          </a:p>
          <a:p/>
          <a:p>
            <a:r>
              <a:rPr sz="1400">
                <a:latin typeface="Calibri"/>
              </a:rPr>
              <a:t>Eestis on nimepõhine liitmine eriti halb mõte. Mari Maasikaid on palju, Aivar Kivisid samuti. Kui te ühendate ilma stabiilse võtmeta, toodate valet inimest ja levitate seda aruandena. See on nii andmekvaliteet kui andmekaitse.</a:t>
            </a:r>
          </a:p>
          <a:p/>
          <a:p>
            <a:r>
              <a:rPr sz="1400">
                <a:latin typeface="Calibri"/>
              </a:rPr>
              <a:t>Näited: vale võlg krediidimudelis, vale hinne õppearuanne, kaks klienti üheks kokku liidetud, surnud aadress, kuhu läheb kiri — see võib olla rikkumine.</a:t>
            </a:r>
          </a:p>
          <a:p/>
          <a:p>
            <a:r>
              <a:rPr sz="1400">
                <a:latin typeface="Calibri"/>
              </a:rPr>
              <a:t>Insener: SCD ja värskenduse loogika. Kui inimene parandab e-posti, kui kiiresti teie dim muutub? Kui teie ait on nädal aega maas, elab vale kontakt aruandes.</a:t>
            </a:r>
          </a:p>
          <a:p/>
          <a:p>
            <a:r>
              <a:rPr sz="1400">
                <a:latin typeface="Calibri"/>
              </a:rPr>
              <a:t>Analüütik: ärge siluge auke nii, et teete inimesest vale järelduse. Puuduv väärtus ei ole „0 ostu“ kui see on tegelikult „ei tea“.</a:t>
            </a:r>
          </a:p>
          <a:p/>
          <a:p>
            <a:r>
              <a:rPr sz="1400">
                <a:latin typeface="Calibri"/>
              </a:rPr>
              <a:t>Kui ühendus on fuzzy, ärge esitage tulemust kui fakti juhtkonnale. See on õiglus ja õigsus koos.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Ükski isikuandmete hulk ei tohi olla igavene. Andmetöös on tegelik probleem vari, mitte register.</a:t>
            </a:r>
          </a:p>
          <a:p/>
          <a:p>
            <a:r>
              <a:rPr sz="1400">
                <a:latin typeface="Calibri"/>
              </a:rPr>
              <a:t>Allikas võib kustutada 7 aasta pärast. Teie 2019. aasta dump elab notebookis. Power BI andmestik, mida keegi ei julge kustutada. Delta Time Travel. Git LFS-is on CSV. See kõik on säilitamine.</a:t>
            </a:r>
          </a:p>
          <a:p/>
          <a:p>
            <a:r>
              <a:rPr sz="1400">
                <a:latin typeface="Calibri"/>
              </a:rPr>
              <a:t>Insener: snapshot-poliitika on andmekaitseotsus. Kui te hoiate iga päeva täiskoopiat isikuandmetest kolm aastat, olete teadlikult valinud pika säilituse. Põhjendage või lühendage. Varukoopia peab saama ka kustutada, mitte ainult taastada.</a:t>
            </a:r>
          </a:p>
          <a:p/>
          <a:p>
            <a:r>
              <a:rPr sz="1400">
                <a:latin typeface="Calibri"/>
              </a:rPr>
              <a:t>Analüütik: iga eksport on laps, kes ei oska ise surra. Pange failinimesse kuupäev. Pange Teams-kausta reegel. Ärge hoidke isikuandmetega dump’e portfoolios ega kodukettas.</a:t>
            </a:r>
          </a:p>
          <a:p/>
          <a:p>
            <a:r>
              <a:rPr sz="1400">
                <a:latin typeface="Calibri"/>
              </a:rPr>
              <a:t>BI: vanad rakendused teenuses. Kord kvartalis: mis andmestikud on ilma omanikuta? See on säilitamise põhimõtte hügieen.</a:t>
            </a:r>
          </a:p>
          <a:p/>
          <a:p>
            <a:r>
              <a:rPr sz="1400">
                <a:latin typeface="Calibri"/>
              </a:rPr>
              <a:t>Apotheka õppetund: vana ei ole ohutu. Vana on unustatud, unustatud on kaitsmata.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See on põhimõte, mille rikkumise eest Allium UPI muu hulgas trahvi sai: usaldusväärsus ja konfidentsiaalsus. Meetmed peavad vastama ohule.</a:t>
            </a:r>
          </a:p>
          <a:p/>
          <a:p>
            <a:r>
              <a:rPr sz="1400">
                <a:latin typeface="Calibri"/>
              </a:rPr>
              <a:t>BI-analüütiku argipäev: Power BI tööala. „Kogu asutus“ on vaikimisi halb. Row-level security on lõimitud kaitse tööriist: piirkonnajuht näeb oma ridu, mitte kogu riiki. Aga RLS, mis ei kehti Exceli allalaadimisele või build-õigusele, on vale turvatunne. Testige allalaadimist.</a:t>
            </a:r>
          </a:p>
          <a:p/>
          <a:p>
            <a:r>
              <a:rPr sz="1400">
                <a:latin typeface="Calibri"/>
              </a:rPr>
              <a:t>Analüütik: ärge pange palgafaili chatti. Ärge kasutage „kõik, kellel on link“. Enne jagamist vaadake, kes kaustas juba on — praktikant, väline, terve osakond.</a:t>
            </a:r>
          </a:p>
          <a:p/>
          <a:p>
            <a:r>
              <a:rPr sz="1400">
                <a:latin typeface="Calibri"/>
              </a:rPr>
              <a:t>Insener: least privilege. Service principal ei pea lugema HR-tsooni. Logid ei pea sisaldama täispäringut isikukoodiga laiale admin-ringile. Testis maskeeritud andmed. Krüpteering, MFA, eraldi admin-kontod — Apotheka loo vastand.</a:t>
            </a:r>
          </a:p>
          <a:p/>
          <a:p>
            <a:r>
              <a:rPr sz="1400">
                <a:latin typeface="Calibri"/>
              </a:rPr>
              <a:t>Koolitus ja demo: sünteetilised andmed. Kadreerige. See on konfidentsiaalsus, mitte ilu.</a:t>
            </a:r>
          </a:p>
          <a:p/>
          <a:p>
            <a:r>
              <a:rPr sz="1400">
                <a:latin typeface="Calibri"/>
              </a:rPr>
              <a:t>Proportsioon: kohaloleku nimekiri ei nõua sama mis 750 000 terviserea. Aga ka väike nimekiri lekib.</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Artikkel 5 lõige 2: vastutav töötleja peab suutma vastavust tõendada. Teie olete selle tõenduse tootjad.</a:t>
            </a:r>
          </a:p>
          <a:p/>
          <a:p>
            <a:r>
              <a:rPr sz="1400">
                <a:latin typeface="Calibri"/>
              </a:rPr>
              <a:t>Kui AKI või DPO küsib: milliseid isikuandmeid see aruanne töötleb, peab olema vastus. Kui vastus on „vaatame koodist“, olete juba hiljaks jäänud.</a:t>
            </a:r>
          </a:p>
          <a:p/>
          <a:p>
            <a:r>
              <a:rPr sz="1400">
                <a:latin typeface="Calibri"/>
              </a:rPr>
              <a:t>Praktiline miinimum igale andmestikule: omanik, allikad, eesmärk, õiguslik alus ühe lausega, kas on eriliik, säilitus, kes pääseb, kas allalaadimine on lubatud. See mahub README-sse või kataloogi. See on andmehaldus, mis on samal ajal andmekaitse.</a:t>
            </a:r>
          </a:p>
          <a:p/>
          <a:p>
            <a:r>
              <a:rPr sz="1400">
                <a:latin typeface="Calibri"/>
              </a:rPr>
              <a:t>Insener: andmekataloog ja lineage ei ole luksus. Need on artikli 5 ja andmesubjekti õiguste eeldus.</a:t>
            </a:r>
          </a:p>
          <a:p/>
          <a:p>
            <a:r>
              <a:rPr sz="1400">
                <a:latin typeface="Calibri"/>
              </a:rPr>
              <a:t>Analüütik: kui te otsustate veeru välja jätta, kirjutage see otsus. Muidu tuleb järgmine inimene ja lisab isikukoodi tagasi, sest „kuidas muidu ühendada“.</a:t>
            </a:r>
          </a:p>
          <a:p/>
          <a:p>
            <a:r>
              <a:rPr sz="1400">
                <a:latin typeface="Calibri"/>
              </a:rPr>
              <a:t>Lause seinale: kui seda ei ole kirjas, ei ole seda andmekaitse mõttes olemas.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See on slaid, mille te pildistate. Seitse põhimõtet nupule vajutamise keeles.</a:t>
            </a:r>
          </a:p>
          <a:p/>
          <a:p>
            <a:r>
              <a:rPr sz="1400">
                <a:latin typeface="Calibri"/>
              </a:rPr>
              <a:t>Run — analüütiku päring ja notebook. Publish — BI andmestik ja rakendus. Share — link, kaust, tööala, plus inseneri ACL järves. Kolm nuppu, sama nimekiri. Kolmkümmend sekundit enne klikki. See säästab nädalaid menetlust.</a:t>
            </a:r>
          </a:p>
          <a:p/>
          <a:p>
            <a:r>
              <a:rPr sz="1400">
                <a:latin typeface="Calibri"/>
              </a:rPr>
              <a:t>Pange see pull requesti mallile, Power BI avaldamise juhisesse, analüütikatiimi wiki. Kui teie tiimis on juba andmekvaliteedi checklist, lisage need read sinna — ärge tehke eraldi „andmekaitse dokumenti, mida keegi ei ava“.</a:t>
            </a:r>
          </a:p>
          <a:p/>
          <a:p>
            <a:r>
              <a:rPr sz="1400">
                <a:latin typeface="Calibri"/>
              </a:rPr>
              <a:t>Andmekaitse ebaõnnestub harva teadmise, sagedamini kiirustamise tõttu: sprinti lõpp, juht ootab, „panen lingi korra laiali“. Nimekiri on selle hetke jaoks.</a:t>
            </a:r>
          </a:p>
          <a:p/>
          <a:p>
            <a:r>
              <a:rPr sz="1400">
                <a:latin typeface="Calibri"/>
              </a:rPr>
              <a:t>Järgmine: vead, mida just teie kolm rolli teevad — et ära tunda, mitte häbeneda.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Noogutage, kui olete näinud. Ilma häbita — et ära tunda.</a:t>
            </a:r>
          </a:p>
          <a:p/>
          <a:p>
            <a:r>
              <a:rPr sz="1400">
                <a:latin typeface="Calibri"/>
              </a:rPr>
              <a:t>Esimene: kanal. Tööandmed kuuluvad lepinguga kaetud keskkonda. Avalik suurem keelemudel isikuandmetega on edastamine kuhugi, kuhu te ei tea.</a:t>
            </a:r>
          </a:p>
          <a:p/>
          <a:p>
            <a:r>
              <a:rPr sz="1400">
                <a:latin typeface="Calibri"/>
              </a:rPr>
              <a:t>Teine: vale turvatunne visuaalist. Alati kontrollige, mida Export ja Analyze in Excel tegelikult annavad.</a:t>
            </a:r>
          </a:p>
          <a:p/>
          <a:p>
            <a:r>
              <a:rPr sz="1400">
                <a:latin typeface="Calibri"/>
              </a:rPr>
              <a:t>Kolmas: ekraanipilt. Juhid ja koolitajad teevad seda. Kadreerige või kasutage demot.</a:t>
            </a:r>
          </a:p>
          <a:p/>
          <a:p>
            <a:r>
              <a:rPr sz="1400">
                <a:latin typeface="Calibri"/>
              </a:rPr>
              <a:t>Neljas: n=1. Eestis tihti. Peitke või ühendage rühmad. Statistikaamet oskab; teie aruanne peab ka.</a:t>
            </a:r>
          </a:p>
          <a:p/>
          <a:p>
            <a:r>
              <a:rPr sz="1400">
                <a:latin typeface="Calibri"/>
              </a:rPr>
              <a:t>Viies: test. „Sünteetika ei käitu õigesti“ — siis maskeerige, ärge avage haigla toodangut kogu IT-le.</a:t>
            </a:r>
          </a:p>
          <a:p/>
          <a:p>
            <a:r>
              <a:rPr sz="1400">
                <a:latin typeface="Calibri"/>
              </a:rPr>
              <a:t>Kuues: peremeheta vara. Pipeline, mida keegi ei julge kinni panna. See on säilitamine ja vastutus.</a:t>
            </a:r>
          </a:p>
          <a:p/>
          <a:p>
            <a:r>
              <a:rPr sz="1400">
                <a:latin typeface="Calibri"/>
              </a:rPr>
              <a:t>Esmaspäeva tegu: leidke üks CSV või üks liiga avatud andmestik.</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[HARJUTUS 8 min]</a:t>
            </a:r>
          </a:p>
          <a:p/>
          <a:p>
            <a:r>
              <a:rPr sz="1400">
                <a:latin typeface="Calibri"/>
              </a:rPr>
              <a:t>Neli gruppi, üks lugu. Millised põhimõtted? Mis oleks õige tegu? 3 min arutelu, 60 s tagasiside.</a:t>
            </a:r>
          </a:p>
          <a:p/>
          <a:p>
            <a:r>
              <a:rPr sz="1400">
                <a:latin typeface="Calibri"/>
              </a:rPr>
              <a:t>A: eesmärgi piirang + eriliik + seaduslikkus. Õige: ära tee. Vabatahtlik registreerumine, mitte haiguslehtede nimekiri.</a:t>
            </a:r>
          </a:p>
          <a:p/>
          <a:p>
            <a:r>
              <a:rPr sz="1400">
                <a:latin typeface="Calibri"/>
              </a:rPr>
              <a:t>B: säilitamine + minimeerimine + konfidentsiaalsus. Õige: sünteetika või kitsas minimeeritud komplekt asutuse keskkonnas, krüptitud masin, tähtaeg.</a:t>
            </a:r>
          </a:p>
          <a:p/>
          <a:p>
            <a:r>
              <a:rPr sz="1400">
                <a:latin typeface="Calibri"/>
              </a:rPr>
              <a:t>C: konfidentsiaalsus + minimeerimine. Õige: koond, rollipõhine ligipääs, mitte avalik link. Praktikant ei ole „kõik töötajad“.</a:t>
            </a:r>
          </a:p>
          <a:p/>
          <a:p>
            <a:r>
              <a:rPr sz="1400">
                <a:latin typeface="Calibri"/>
              </a:rPr>
              <a:t>D: minimeerimine + lõimitud kaitse (järgmine plokk). Õige: võta järve need väljad, mida eesmärk vajab; ärge peegelda kogu allikat sest „toru on lihtsam“.</a:t>
            </a:r>
          </a:p>
          <a:p/>
          <a:p>
            <a:r>
              <a:rPr sz="1400">
                <a:latin typeface="Calibri"/>
              </a:rPr>
              <a:t>Tihti on rikutud mitu põhimõtet. Nad on seotud.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Kõik kuulsid sama järeldust, ka kui arutasite teist lugu. See on taotluslik: päriselus on rikkumine harva „üks paragrahv“. Haigusleht turundusse on korraga vale eesmärk, eriliik ja aluse puudumine. Avatud palgalink on konfidentsiaalsus ja minimeerimine. SELECT * on minimeerimine ja lõimitud kaitse.</a:t>
            </a:r>
          </a:p>
          <a:p/>
          <a:p>
            <a:r>
              <a:rPr sz="1400">
                <a:latin typeface="Calibri"/>
              </a:rPr>
              <a:t>[KÜSI] Kas keegi nägi oma töös sarnast, üldistatult, ilma asutuse ja inimeste nimedeta? Üks-kaks lauset. Kui mitte, liikuge edasi.</a:t>
            </a:r>
          </a:p>
          <a:p/>
          <a:p>
            <a:r>
              <a:rPr sz="1400">
                <a:latin typeface="Calibri"/>
              </a:rPr>
              <a:t>Järgmine täpsustus, mida algajad otsivad: kas piisab õiguslikust alusest või piisab „meil on RLS“. Vastus: kumbki üksi ei piisa.</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Algajad otsivad üht linnukest. Andmekaitse on ja: alus ja põhimõtted.</a:t>
            </a:r>
          </a:p>
          <a:p/>
          <a:p>
            <a:r>
              <a:rPr sz="1400">
                <a:latin typeface="Calibri"/>
              </a:rPr>
              <a:t>Teil võib olla seaduslik alus palga maksmiseks. See ei luba palgaedetabelit kogu majale. Teil võib olla õigustatud huvi müügianalüüsiks. See ei luba hoida 2014. aasta täisdump’i sülearvutis.</a:t>
            </a:r>
          </a:p>
          <a:p/>
          <a:p>
            <a:r>
              <a:rPr sz="1400">
                <a:latin typeface="Calibri"/>
              </a:rPr>
              <a:t>Vastupidi: te võite teha ilusa RLS-i ja ikkagi puudub alus uueks profiilianalüüsiks.</a:t>
            </a:r>
          </a:p>
          <a:p/>
          <a:p>
            <a:r>
              <a:rPr sz="1400">
                <a:latin typeface="Calibri"/>
              </a:rPr>
              <a:t>Üks lause: alus avab ukse, põhimõtted ütlevad, kuidas toas käituda. Andmetöös: alus ütleb kas üldse joosta; põhimõtted ütlevad millised veerud, kellele, kui kaua, kui täpselt, kui tõendatult.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Kolm astet, mida aetakse sassi sõnaga „anonüümne“.</a:t>
            </a:r>
          </a:p>
          <a:p/>
          <a:p>
            <a:r>
              <a:rPr sz="1400">
                <a:latin typeface="Calibri"/>
              </a:rPr>
              <a:t>Koond on juhtimise sõber. Aga filter tapab. Peitke väiksed ruudud.</a:t>
            </a:r>
          </a:p>
          <a:p/>
          <a:p>
            <a:r>
              <a:rPr sz="1400">
                <a:latin typeface="Calibri"/>
              </a:rPr>
              <a:t>Pseudonüüm on analüütika vaikehea. Insener hoiab võtit eraldi tsoonis. Analüütik ei pea nime nägema, et mudeldada ostukäitumist. Aga te ei tohi öelda, et IKÜM ei kehti.</a:t>
            </a:r>
          </a:p>
          <a:p/>
          <a:p>
            <a:r>
              <a:rPr sz="1400">
                <a:latin typeface="Calibri"/>
              </a:rPr>
              <a:t>Täisidentiteet on operatiivne: võlg, tarne, palga maksmine, andmesubjekti päring. See ei ole BI vaikevaade.</a:t>
            </a:r>
          </a:p>
          <a:p/>
          <a:p>
            <a:r>
              <a:rPr sz="1400">
                <a:latin typeface="Calibri"/>
              </a:rPr>
              <a:t>Pöördumatu anonümiseerimine on raske, eriti Eestis. Ärge lubage seda kergelt. Kui saate inimese tagasi, ei ole anonüümne.</a:t>
            </a:r>
          </a:p>
          <a:p/>
          <a:p>
            <a:r>
              <a:rPr sz="1400">
                <a:latin typeface="Calibri"/>
              </a:rPr>
              <a:t>Masinõpe: treeningandmed on tavaliselt isikuandmed. Kehtib kõik täna õpitu.</a:t>
            </a:r>
          </a:p>
          <a:p/>
          <a:p>
            <a:r>
              <a:rPr sz="1400">
                <a:latin typeface="Calibri"/>
              </a:rPr>
              <a:t>Teise osa kokkuvõte ja paus.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Teine plokk kinni. Kui unustate paragrahvid, jätke seitse küsimust nupu peale.</a:t>
            </a:r>
          </a:p>
          <a:p/>
          <a:p>
            <a:r>
              <a:rPr sz="1400">
                <a:latin typeface="Calibri"/>
              </a:rPr>
              <a:t>[KÜSI] Üks küsimus. Muidu paus 10 min, tagasi [KELLAAEG].</a:t>
            </a:r>
          </a:p>
          <a:p/>
          <a:p>
            <a:r>
              <a:rPr sz="1400">
                <a:latin typeface="Calibri"/>
              </a:rPr>
              <a:t>Järgmine: seadus ei taha, et te lõpus küsiksite, kas valmis aruanne on okei. Ta tahab, et te kavandaksite koondi, RLS-i, maskeerimise ja kustutamise juba siis, kui te mudelit ja toru joonistate.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[PAUSE 10 min]</a:t>
            </a:r>
          </a:p>
          <a:p/>
          <a:p>
            <a:r>
              <a:rPr sz="1400">
                <a:latin typeface="Calibri"/>
              </a:rPr>
              <a:t>Viimane paus. Pärast seda kaks plokki järjest: platvormi disain (32 min) ja DPO koostöö (28 min), siis kokkuvõte.</a:t>
            </a:r>
          </a:p>
          <a:p/>
          <a:p>
            <a:r>
              <a:rPr sz="1400">
                <a:latin typeface="Calibri"/>
              </a:rPr>
              <a:t>Kui keegi küsib pausil „kas meil on DPO-d vaja“, öelge: see tuleb neljandas plokis; enne selleks õpime, mida teie saate disainis ise ära teha.</a:t>
            </a:r>
          </a:p>
          <a:p/>
          <a:p>
            <a:r>
              <a:rPr sz="1400">
                <a:latin typeface="Calibri"/>
              </a:rPr>
              <a:t>Alustage, kui enamus on ruumis.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Kolmas teema. See on koht, kus seadus kohtub teie backlogiga.</a:t>
            </a:r>
          </a:p>
          <a:p/>
          <a:p>
            <a:r>
              <a:rPr sz="1400">
                <a:latin typeface="Calibri"/>
              </a:rPr>
              <a:t>Lõimitud andmekaitse tähendab: kaitse on arhitektuur. Te mõtlete sellele, kui valite allikaid, kujundate skeemi, otsustate, mis läheb järve, mis jääb koondiks, kuidas testida.</a:t>
            </a:r>
          </a:p>
          <a:p/>
          <a:p>
            <a:r>
              <a:rPr sz="1400">
                <a:latin typeface="Calibri"/>
              </a:rPr>
              <a:t>Vaikimisi andmekaitse tähendab: kui keegi ei klõpsa ekstra, on ohutum valik peal. Koond, suletud tööala, tühjad linnukesed, lühike säilitus, privaatne profiil.</a:t>
            </a:r>
          </a:p>
          <a:p/>
          <a:p>
            <a:r>
              <a:rPr sz="1400">
                <a:latin typeface="Calibri"/>
              </a:rPr>
              <a:t>Artikkel 25 oli ka Apotheka menetluses laual koos turbe artikliga 32. See ei ole iluidee. Inseneri ja BI-arhitekti kohustus, mida analüütik iga aruandega kas toetab või lõhub.</a:t>
            </a:r>
          </a:p>
          <a:p/>
          <a:p>
            <a:r>
              <a:rPr sz="1400">
                <a:latin typeface="Calibri"/>
              </a:rPr>
              <a:t>Lihtne seletus, siis teie töönäited, mõjuhinnang, ja harjutus: parandage halb platvorm.</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Kaks lauset.</a:t>
            </a:r>
          </a:p>
          <a:p/>
          <a:p>
            <a:r>
              <a:rPr sz="1400">
                <a:latin typeface="Calibri"/>
              </a:rPr>
              <a:t>Esimene: kui te otsustate, kas ehitada ühtne „kõik inimese andmed“ järv või domeenide kaupa tsoonid, on see juba artikkel 25. Kui te otsustate, kas testis on toodang või mask, on see artikkel 25. Kui te lisate automaatse kustutuse või ei lisa, on see artikkel 25. Jurist, kes tuleb pärast go-live’i, on liiga hilja ja liiga kallis.</a:t>
            </a:r>
          </a:p>
          <a:p/>
          <a:p>
            <a:r>
              <a:rPr sz="1400">
                <a:latin typeface="Calibri"/>
              </a:rPr>
              <a:t>Teine: vaikimisi ainult vajalik. Neli telge. Hulk — veerud ja inimesed. Ulatus — millised kasutused. Aeg — kui kaua snapshot elab. Kättesaadavus — kes näeb. Viimane on BI süda: uus aruanne ei tohi olla vaikimisi avalik kogu internetile ega kogu asutusele. Inimene või roll avab teadlikult.</a:t>
            </a:r>
          </a:p>
          <a:p/>
          <a:p>
            <a:r>
              <a:rPr sz="1400">
                <a:latin typeface="Calibri"/>
              </a:rPr>
              <a:t>Proportsioon: väike seltsing ja haigla ei tee sama. Mõlemad teevad midagi, mis vastab ohule. Kulu ei ole automaatne vabastus, kui mängus on 750 000 terviserida.</a:t>
            </a:r>
          </a:p>
          <a:p/>
          <a:p>
            <a:r>
              <a:rPr sz="1400">
                <a:latin typeface="Calibri"/>
              </a:rPr>
              <a:t>Tõlge: kaitse on disainivalik teie sprintides.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Lõimitud on skeem, tsoonid, maskeerimine, automaatne unustamine, auditilogi. Seda teeb peamiselt andmeinsener koos BI-arhitektiga. Analüütik nõuab seda, mitte ei palu „anna kõik veerud, ma filterdan“.</a:t>
            </a:r>
          </a:p>
          <a:p/>
          <a:p>
            <a:r>
              <a:rPr sz="1400">
                <a:latin typeface="Calibri"/>
              </a:rPr>
              <a:t>Vaikimisi on see, mis juhtub, kui kiirustate. Kui uue aruande vaikeõigus on kogu firma, olete artikli 25 lõike 2 vastu. Kui Export Excel on vaikimisi kõigil, samuti. Kui linnuke „jaga lingiga“ on lihtsaim tee, valitakse see alati.</a:t>
            </a:r>
          </a:p>
          <a:p/>
          <a:p>
            <a:r>
              <a:rPr sz="1400">
                <a:latin typeface="Calibri"/>
              </a:rPr>
              <a:t>Mäletage üht: ohutu valik peab olema mugavam kui ohtlik. Kui turvaline tee on raske, läheb inimene CSV-ga koju. See on ka disain — protsessi disain.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Kui te ehitate platvormi, olete artikli 25 peamine tegija.</a:t>
            </a:r>
          </a:p>
          <a:p/>
          <a:p>
            <a:r>
              <a:rPr sz="1400">
                <a:latin typeface="Calibri"/>
              </a:rPr>
              <a:t>Üks avatud järv „sest analüütikud tahavad paindlikkust“ on eesmärgi piirangu ja minimeerimise vastand. Tehke tsoonid ja lepingud tsoonide vahel. Terviseandmed ei voola turunduskuubikusse sest JOIN oli lihtne.</a:t>
            </a:r>
          </a:p>
          <a:p/>
          <a:p>
            <a:r>
              <a:rPr sz="1400">
                <a:latin typeface="Calibri"/>
              </a:rPr>
              <a:t>Test ja CI on lekketee number üks inseneri maailmas. Täiskoopia laiale ringile on toodangu õiguste bypass. Maskeerimine, sünteetika, kitsas salvestatud protseduur — valige, aga ärge jätke toodangut „ajutiselt“.</a:t>
            </a:r>
          </a:p>
          <a:p/>
          <a:p>
            <a:r>
              <a:rPr sz="1400">
                <a:latin typeface="Calibri"/>
              </a:rPr>
              <a:t>Pseudonümiseerimine on teie kingitus analüütikule: nad saavad mudeldada ilma nime nägemata. Võti jääb kitsasse teenusesse.</a:t>
            </a:r>
          </a:p>
          <a:p/>
          <a:p>
            <a:r>
              <a:rPr sz="1400">
                <a:latin typeface="Calibri"/>
              </a:rPr>
              <a:t>Unustamine: kui allikas kustutab, kas ait oskab järgneda? Kui ei, on teil illegaalne muuseum.</a:t>
            </a:r>
          </a:p>
          <a:p/>
          <a:p>
            <a:r>
              <a:rPr sz="1400">
                <a:latin typeface="Calibri"/>
              </a:rPr>
              <a:t>Lineage: kui tuleb „andke mu andmed“, peate oskama öelda, millistes tabelites ta elab. See on inseneri vastus artiklitele 15 ja 17, mitte juristi Excel.</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BI on koht, kus kättesaadavus otsustatakse ühe klikiga.</a:t>
            </a:r>
          </a:p>
          <a:p/>
          <a:p>
            <a:r>
              <a:rPr sz="1400">
                <a:latin typeface="Calibri"/>
              </a:rPr>
              <a:t>Mudel on minimeerimise koht. Iga kasutu veerg on lekke pind. Peidetud veerg, mis tuleb Excelisse, on vale turvatunne.</a:t>
            </a:r>
          </a:p>
          <a:p/>
          <a:p>
            <a:r>
              <a:rPr sz="1400">
                <a:latin typeface="Calibri"/>
              </a:rPr>
              <a:t>RLS on vaikimisi andmekaitse, kui see päriselt töötab. Testige: teine kasutaja, teine roll, Export, Analyze in Excel, build-õigus. Kui RLS kaob allalaadimisel, ärge lubage allalaadimist või tehke eraldi koond-andmestik.</a:t>
            </a:r>
          </a:p>
          <a:p/>
          <a:p>
            <a:r>
              <a:rPr sz="1400">
                <a:latin typeface="Calibri"/>
              </a:rPr>
              <a:t>Tööala: uus raport ei ole demoks kogu firmale. Andke nimelised õigused. Vaadake üle, kes on viewer vs contributor — contributor võtab andmed kaasa.</a:t>
            </a:r>
          </a:p>
          <a:p/>
          <a:p>
            <a:r>
              <a:rPr sz="1400">
                <a:latin typeface="Calibri"/>
              </a:rPr>
              <a:t>Omanik: igal andmestikul peremees. Kvartali hügieen: mis on surnud, mis on liiga avatud.</a:t>
            </a:r>
          </a:p>
          <a:p/>
          <a:p>
            <a:r>
              <a:rPr sz="1400">
                <a:latin typeface="Calibri"/>
              </a:rPr>
              <a:t>[KÜSI] Kes on saatnud Power BI lingi „vaata kui ilus“ ilma õigusi kontrollimata? See on inimlik. Täna on sellel nimi: vaikimisi kättesaadavus oli vale.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Analüütik on see, kes küsib uue küsimuse. Teie oht on uudishimu plus oskus.</a:t>
            </a:r>
          </a:p>
          <a:p/>
          <a:p>
            <a:r>
              <a:rPr sz="1400">
                <a:latin typeface="Calibri"/>
              </a:rPr>
              <a:t>Hea tava: ticketis või notebooki päises kolm rida — eesmärk, allikad, kas on isikuandmed. See on läbipaistvus ja vastutus 30 sekundiga.</a:t>
            </a:r>
          </a:p>
          <a:p/>
          <a:p>
            <a:r>
              <a:rPr sz="1400">
                <a:latin typeface="Calibri"/>
              </a:rPr>
              <a:t>Töötage seal, kus leping katab. Isiklik Colab isikukoodidega on volitamata töötleja. Avalik GPT samuti. Asutuse kinnine keskkond, kui on.</a:t>
            </a:r>
          </a:p>
          <a:p/>
          <a:p>
            <a:r>
              <a:rPr sz="1400">
                <a:latin typeface="Calibri"/>
              </a:rPr>
              <a:t>Enne täispilti küsige, kas 10% valim või koond vastab küsimusele. Tihti vastab.</a:t>
            </a:r>
          </a:p>
          <a:p/>
          <a:p>
            <a:r>
              <a:rPr sz="1400">
                <a:latin typeface="Calibri"/>
              </a:rPr>
              <a:t>Jagamine: saatke link õigesse kausta, mitte manus kümnele inimesele. Iga manus on uus koopia, mis ei sure.</a:t>
            </a:r>
          </a:p>
          <a:p/>
          <a:p>
            <a:r>
              <a:rPr sz="1400">
                <a:latin typeface="Calibri"/>
              </a:rPr>
              <a:t>Kui teie küsimus nõuab uut liitmist üle domeenide — klient plus HR plus logi — see on DPO-kutse, mitte reede õhtune eksperiment.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DPIA on artikli 25 raskem vend. Kui oht on kõrge, ei piisa seitsmest küsimusest peas. Peab olema kirjalik hinnang: mida teeme, mis oht, mis meetmed, mis jääb.</a:t>
            </a:r>
          </a:p>
          <a:p/>
          <a:p>
            <a:r>
              <a:rPr sz="1400">
                <a:latin typeface="Calibri"/>
              </a:rPr>
              <a:t>Andmetöös sattute siia, kui teete: ulatuslikku jälgimist (asukoht, kaamerad, pidev profiil); tervise- või muu eriliigi kuubikut suurele hulgale; skoori, millest sõltub laen, töö, teenus; uue tehnoloogia massilist kasutust.</a:t>
            </a:r>
          </a:p>
          <a:p/>
          <a:p>
            <a:r>
              <a:rPr sz="1400">
                <a:latin typeface="Calibri"/>
              </a:rPr>
              <a:t>Teie olete DPIA-s asendamatud, sest jurist ei tea, millisest API-st read tulevad. Joonistage allikas → toru → mudel → tarbija. Ärge öelge „see on juriidika“.</a:t>
            </a:r>
          </a:p>
          <a:p/>
          <a:p>
            <a:r>
              <a:rPr sz="1400">
                <a:latin typeface="Calibri"/>
              </a:rPr>
              <a:t>Kui pärast meetmeid on oht ikka kõrge, tuleb enne alustamist AKI-ga rääkida. Harva, aga olemas.</a:t>
            </a:r>
          </a:p>
          <a:p/>
          <a:p>
            <a:r>
              <a:rPr sz="1400">
                <a:latin typeface="Calibri"/>
              </a:rPr>
              <a:t>Praktiline: kui teie sprint hakkab ehitama „inimese 360“ või automaatset keeldumist, kutsuge DPO sprinti planeerimisse, mitte retrospektiivi.</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[HARJUTUS 7 min]</a:t>
            </a:r>
          </a:p>
          <a:p/>
          <a:p>
            <a:r>
              <a:rPr sz="1400">
                <a:latin typeface="Calibri"/>
              </a:rPr>
              <a:t>Taotluslikult halb. Viis muudatust. Koguge tahvlile.</a:t>
            </a:r>
          </a:p>
          <a:p/>
          <a:p>
            <a:r>
              <a:rPr sz="1400">
                <a:latin typeface="Calibri"/>
              </a:rPr>
              <a:t>Oodatav:</a:t>
            </a:r>
          </a:p>
          <a:p>
            <a:r>
              <a:rPr sz="1400">
                <a:latin typeface="Calibri"/>
              </a:rPr>
              <a:t>1. Tsoonid: HR/tervis eraldi, kitsas roll; turundus ei näe haiguslehti.</a:t>
            </a:r>
          </a:p>
          <a:p>
            <a:r>
              <a:rPr sz="1400">
                <a:latin typeface="Calibri"/>
              </a:rPr>
              <a:t>2. Analüütikakiht pseudonüüm; identiteet ainult operatiivsele rollile.</a:t>
            </a:r>
          </a:p>
          <a:p>
            <a:r>
              <a:rPr sz="1400">
                <a:latin typeface="Calibri"/>
              </a:rPr>
              <a:t>3. Test maskeeritud; CI ei logi isikukoode laiale ringile.</a:t>
            </a:r>
          </a:p>
          <a:p>
            <a:r>
              <a:rPr sz="1400">
                <a:latin typeface="Calibri"/>
              </a:rPr>
              <a:t>4. BI vaikevaade koond; RLS; Export kinni või eraldi koond-andmestik; tööala nimeline.</a:t>
            </a:r>
          </a:p>
          <a:p>
            <a:r>
              <a:rPr sz="1400">
                <a:latin typeface="Calibri"/>
              </a:rPr>
              <a:t>5. Snapshot-poliitika + kustutus; notebookide dump keelatud / tähtajaline.</a:t>
            </a:r>
          </a:p>
          <a:p>
            <a:r>
              <a:rPr sz="1400">
                <a:latin typeface="Calibri"/>
              </a:rPr>
              <a:t>6. Omanik ja kataloog; logid tundlikule tsoonile.</a:t>
            </a:r>
          </a:p>
          <a:p>
            <a:r>
              <a:rPr sz="1400">
                <a:latin typeface="Calibri"/>
              </a:rPr>
              <a:t>7. Haigusleht on eriliik — võib-olla ei kuulu üldse sellesse järve.</a:t>
            </a:r>
          </a:p>
          <a:p/>
          <a:p>
            <a:r>
              <a:rPr sz="1400">
                <a:latin typeface="Calibri"/>
              </a:rPr>
              <a:t>Rõhutage: keegi ei keela HR-il palka näha. Keelatud on vaikimisi kõigile analüütikutele. See on artikli 25 teine lõige päriselus.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Kolmas kinni, pausi ei ole.</a:t>
            </a:r>
          </a:p>
          <a:p/>
          <a:p>
            <a:r>
              <a:rPr sz="1400">
                <a:latin typeface="Calibri"/>
              </a:rPr>
              <a:t>Teie kolm rolli kohtuvad artiklis 25 iga päev. Insener otsustab, kas tervis ja müük elavad samas järves. BI otsustab, kas vaikevaade on koond või rida. Analüütik otsustab, kas teha uus JOIN pühapäeval või kirjutada ticket. Kui üks kolmest lõhub, ei aita teiste hea disain.</a:t>
            </a:r>
          </a:p>
          <a:p/>
          <a:p>
            <a:r>
              <a:rPr sz="1400">
                <a:latin typeface="Calibri"/>
              </a:rPr>
              <a:t>Esmaspäeva kaks tegu: esiteks vaadake üks andmestik — millised veerud on mudelis ilma visuaalita. Teiseks vaadake, kes vaikimisi näeb ja kas Export on lahti. Need kaks klikki on artikkel 25.</a:t>
            </a:r>
          </a:p>
          <a:p/>
          <a:p>
            <a:r>
              <a:rPr sz="1400">
                <a:latin typeface="Calibri"/>
              </a:rPr>
              <a:t>Nüüd inimene, kellele te näitate andmevoo joonist — kui ta asutuses on — ja millal seadus ütleb, et ta peab olema. Oluline: teie ei saa DPO-ks saamisega andmekaitset „ära delegeerida“.</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Viimane suurteema. DPO, eesti keeles andmekaitsespetsialist.</a:t>
            </a:r>
          </a:p>
          <a:p/>
          <a:p>
            <a:r>
              <a:rPr sz="1400">
                <a:latin typeface="Calibri"/>
              </a:rPr>
              <a:t>Kaks viga andmetiimides. Esimene: „meil on DPO, tema vastutab, meie teeme JOIN-e“. Vale. Teine: „meil ei ole DPO-d, järelikult võime analüüsida mida iganes“. Ka vale.</a:t>
            </a:r>
          </a:p>
          <a:p/>
          <a:p>
            <a:r>
              <a:rPr sz="1400">
                <a:latin typeface="Calibri"/>
              </a:rPr>
              <a:t>Me vaatame, millal asutus peab määrama, mida spetsialist teeb, mis on huvide konflikt — eriti kui tahetakse panna analüütik või andmejuht DPO-ks — ja kuidas teie teda kutsute enne, mitte pärast.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DPO on selleks, et organisatsioonis oleks keegi, kes oskab andmekaitset, kellel on aeg, ja kellel on tee juhtkonnani.</a:t>
            </a:r>
          </a:p>
          <a:p/>
          <a:p>
            <a:r>
              <a:rPr sz="1400">
                <a:latin typeface="Calibri"/>
              </a:rPr>
              <a:t>Ta ei kirjuta teie SQL-i. Ta küsib: miks see liitmine, kes näeb, kas on eriliik, kas on DPIA. Teie tõlgite tehnika inimkeelde. See on koostöö, mitte allumine ega peitmine.</a:t>
            </a:r>
          </a:p>
          <a:p/>
          <a:p>
            <a:r>
              <a:rPr sz="1400">
                <a:latin typeface="Calibri"/>
              </a:rPr>
              <a:t>Leke jääb asutuse vastutuseks. Kui te ignoreerite soovitust ja avaldate palgaaruande avatud lingiga, on see asutuse rike ja teie tööjälg.</a:t>
            </a:r>
          </a:p>
          <a:p/>
          <a:p>
            <a:r>
              <a:rPr sz="1400">
                <a:latin typeface="Calibri"/>
              </a:rPr>
              <a:t>Kontakt peab olema avalik. Inimene (klient, töötaja) peab saama DPO-le kirjutada. Kui tuleb päring „minu andmed“, küsitakse teilt, millistes andmestikes ta on. Kui teie järv on nimetu, läheb kuu tähtaeg.</a:t>
            </a:r>
          </a:p>
          <a:p/>
          <a:p>
            <a:r>
              <a:rPr sz="1400">
                <a:latin typeface="Calibri"/>
              </a:rPr>
              <a:t>Ärge pange DPO-ks „seda, kes teab andmeid“, kui sama inimene otsustab, mida koguda. Tuleme huvide konflikti juurde.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Kolm künnist, et teaksite, kas teie tööandja peab rolli omama — ja et te ei arvaks, et analüütik on automaatselt DPO.</a:t>
            </a:r>
          </a:p>
          <a:p/>
          <a:p>
            <a:r>
              <a:rPr sz="1400">
                <a:latin typeface="Calibri"/>
              </a:rPr>
              <a:t>Avalik sektor on selge jah. Kui teete haridus- või riigiaruandeid, on spetsialist olemas või peab olema. Leidke ta.</a:t>
            </a:r>
          </a:p>
          <a:p/>
          <a:p>
            <a:r>
              <a:rPr sz="1400">
                <a:latin typeface="Calibri"/>
              </a:rPr>
              <a:t>Jälgimine põhitegevusena: mitte üks kaamera laos, vaid äri, mis on inimeste jälgimine — asukoht, massiline käitumisprofiil, ulatuslik videovalve teenusena.</a:t>
            </a:r>
          </a:p>
          <a:p/>
          <a:p>
            <a:r>
              <a:rPr sz="1400">
                <a:latin typeface="Calibri"/>
              </a:rPr>
              <a:t>Eriliik põhitegevusena: haigla, suur hooldekodu, ulatuslik terviseanalüütika. Üks haiguslehe veerg väikeses firmas ei ole veel see künnis, aga on ikkagi eriliik ja pidur.</a:t>
            </a:r>
          </a:p>
          <a:p/>
          <a:p>
            <a:r>
              <a:rPr sz="1400">
                <a:latin typeface="Calibri"/>
              </a:rPr>
              <a:t>Pagarikoda töötleb töötajate andmeid, see ei ole pagari põhitegevus. Teie kui analüütik pagarikojas peate ikkagi põhimõtteid järgima.</a:t>
            </a:r>
          </a:p>
          <a:p/>
          <a:p>
            <a:r>
              <a:rPr sz="1400">
                <a:latin typeface="Calibri"/>
              </a:rPr>
              <a:t>Kui DPO-d ei ole, olete teie esimene filter. Kohustused ei kao.</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Neli pilti.</a:t>
            </a:r>
          </a:p>
          <a:p/>
          <a:p>
            <a:r>
              <a:rPr sz="1400">
                <a:latin typeface="Calibri"/>
              </a:rPr>
              <a:t>Kool ja ministeerium: jah. Teie koondaruanne on hea, kui on tõesti koond. DPO on asutuse oma.</a:t>
            </a:r>
          </a:p>
          <a:p/>
          <a:p>
            <a:r>
              <a:rPr sz="1400">
                <a:latin typeface="Calibri"/>
              </a:rPr>
              <a:t>Haigla, suur apteek: peaaegu kindlasti jah. Apotheka näitab, miks ostuajalugu ei ole „lihtsalt müük“.</a:t>
            </a:r>
          </a:p>
          <a:p/>
          <a:p>
            <a:r>
              <a:rPr sz="1400">
                <a:latin typeface="Calibri"/>
              </a:rPr>
              <a:t>Väike e-pood: DPO tihti pole kohustuslik. Teie Power BI peab ikkagi olema kitsas, minimaalne, tähtajaline. „Ei ole DPO-d“ ≠ „võin SELECT * koju“.</a:t>
            </a:r>
          </a:p>
          <a:p/>
          <a:p>
            <a:r>
              <a:rPr sz="1400">
                <a:latin typeface="Calibri"/>
              </a:rPr>
              <a:t>Andmetiim: teid tahetakse vahel panna DPO-ks, sest „teate andmeid“. Kui teie otsustate, milliseid isikuandmeid platvormi tuua, ja siis kontrollite iseennast, on konflikt. Parem väline või eraldi inimene.</a:t>
            </a:r>
          </a:p>
          <a:p/>
          <a:p>
            <a:r>
              <a:rPr sz="1400">
                <a:latin typeface="Calibri"/>
              </a:rPr>
              <a:t>Kodutöö: vaadake asutuse veebi jalust. Kes on DPO? Kui ei tea, leidke järgmisel nädalal.</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Hea koostöö: te mõtlete ühendada kliendid ja veebilogi. Viis rida DPO-le: eesmärk, andmed, kes näeb, kus, millal kustutame. Ta küsib kaks asja. Te teete vaikevaate koondiks. Odav.</a:t>
            </a:r>
          </a:p>
          <a:p/>
          <a:p>
            <a:r>
              <a:rPr sz="1400">
                <a:latin typeface="Calibri"/>
              </a:rPr>
              <a:t>Halb: kolm kuud tööd, lansseerimine, kiitus, kaebus, siis DPO, kes peab ütlema juhile, et oleks pidanud olema teisiti. Kallis.</a:t>
            </a:r>
          </a:p>
          <a:p/>
          <a:p>
            <a:r>
              <a:rPr sz="1400">
                <a:latin typeface="Calibri"/>
              </a:rPr>
              <a:t>Teie oskus on näha nooli. Joonistage. Iga nool on töötlemine.</a:t>
            </a:r>
          </a:p>
          <a:p/>
          <a:p>
            <a:r>
              <a:rPr sz="1400">
                <a:latin typeface="Calibri"/>
              </a:rPr>
              <a:t>Kui kardate, et DPO keelab, on oht tõenäoliselt olemas. Parem keeld enne kui leke pärast.</a:t>
            </a:r>
          </a:p>
          <a:p/>
          <a:p>
            <a:r>
              <a:rPr sz="1400">
                <a:latin typeface="Calibri"/>
              </a:rPr>
              <a:t>Leke või kahtlus: DPO ja juht kohe, mitte pärast „ära parandamist“. 72 tundi tiksub.</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Sõltumatus teeb rolli päriseks.</a:t>
            </a:r>
          </a:p>
          <a:p/>
          <a:p>
            <a:r>
              <a:rPr sz="1400">
                <a:latin typeface="Calibri"/>
              </a:rPr>
              <a:t>Ta peab saama öelda: see 360-profiil on ohtlik. Kui ta selle eest kaotab preemia, on artikkel 38 rikkumine.</a:t>
            </a:r>
          </a:p>
          <a:p/>
          <a:p>
            <a:r>
              <a:rPr sz="1400">
                <a:latin typeface="Calibri"/>
              </a:rPr>
              <a:t>Andmetöös on konflikt klassikaline. Inimene, kes juhib andmeplatvormi, tahab, et andmed voolaksid. DPO peab vahel ütlema ei. Sama pea ei saa mõlemat ausalt teha.</a:t>
            </a:r>
          </a:p>
          <a:p/>
          <a:p>
            <a:r>
              <a:rPr sz="1400">
                <a:latin typeface="Calibri"/>
              </a:rPr>
              <a:t>Analüütik, kes on tiimi ainus „andmeinimene“ ja kellele pannakse DPO müts, on samas ohus: ta kontrollib omaenda päringuid.</a:t>
            </a:r>
          </a:p>
          <a:p/>
          <a:p>
            <a:r>
              <a:rPr sz="1400">
                <a:latin typeface="Calibri"/>
              </a:rPr>
              <a:t>Väikeses asutuses on ausam väline spetsialist kui näiline sisemine. Kui määrate vabatahtlikult, kehtivad ikkagi 38 ja 39 — ärge pange nime jalusesse ilma ajata.</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See on praktiline eskalatsiooninimekiri analüütikule, BI-le ja insenerile. Pange see tiimi juhisesse.</a:t>
            </a:r>
          </a:p>
          <a:p/>
          <a:p>
            <a:r>
              <a:rPr sz="1400">
                <a:latin typeface="Calibri"/>
              </a:rPr>
              <a:t>Kõik ei pea DPO-d. Uus koondmüük maakonna kaupa olemasolevast müügikuubikust — seitse küsimust piisavad. Uus „kogu kliendi elu ühes vaates kogu müügile“ — DPO.</a:t>
            </a:r>
          </a:p>
          <a:p/>
          <a:p>
            <a:r>
              <a:rPr sz="1400">
                <a:latin typeface="Calibri"/>
              </a:rPr>
              <a:t>Uus tööriist on sageli unustatud: küsitluskeskkond, kaardirakendus, AutoML, tõlketeenus, avalik GPT. See on volitatud töötleja küsimus. Ärge ühendage enne lepingut.</a:t>
            </a:r>
          </a:p>
          <a:p/>
          <a:p>
            <a:r>
              <a:rPr sz="1400">
                <a:latin typeface="Calibri"/>
              </a:rPr>
              <a:t>Lapsed ja tervis: alati kõrgem. Haridus- ja terviseanalüütikud — madalam künnis kutsuda.</a:t>
            </a:r>
          </a:p>
          <a:p/>
          <a:p>
            <a:r>
              <a:rPr sz="1400">
                <a:latin typeface="Calibri"/>
              </a:rPr>
              <a:t>Kui kahtlete, üks lühike kiri on odavam kui kolm kuud valet suunda.</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[HARJUTUS 6 min]</a:t>
            </a:r>
          </a:p>
          <a:p/>
          <a:p>
            <a:r>
              <a:rPr sz="1400">
                <a:latin typeface="Calibri"/>
              </a:rPr>
              <a:t>1) Tavaliselt ei, DPO-d pole vaja igaks KPI-ks. Seitse küsimust + n=1 kontroll. Kui filter võimaldab ühe poe ühe kliendi, oleneb — kitsenda.</a:t>
            </a:r>
          </a:p>
          <a:p/>
          <a:p>
            <a:r>
              <a:rPr sz="1400">
                <a:latin typeface="Calibri"/>
              </a:rPr>
              <a:t>2) Jah. Uus eesmärk, uus profiil, lai publik. DPO / DPIA küsimus.</a:t>
            </a:r>
          </a:p>
          <a:p/>
          <a:p>
            <a:r>
              <a:rPr sz="1400">
                <a:latin typeface="Calibri"/>
              </a:rPr>
              <a:t>3) Jah, vähemalt DPO või infoturve. Toodangu bypass. See on platvormiotsus, mitte „ajutine“.</a:t>
            </a:r>
          </a:p>
          <a:p/>
          <a:p>
            <a:r>
              <a:rPr sz="1400">
                <a:latin typeface="Calibri"/>
              </a:rPr>
              <a:t>4) Jah või vähemalt peatuge. Palk, väike n, identiteet kergesti tuletatav. Pole vaja oodata kaebust.</a:t>
            </a:r>
          </a:p>
          <a:p/>
          <a:p>
            <a:r>
              <a:rPr sz="1400">
                <a:latin typeface="Calibri"/>
              </a:rPr>
              <a:t>5) Jah, peatuge kohe. Tõenäoline volitamata edastamine. See ei ole „ainult tekst“. DPO ja juhis keelemudelite kohta.</a:t>
            </a:r>
          </a:p>
          <a:p/>
          <a:p>
            <a:r>
              <a:rPr sz="1400">
                <a:latin typeface="Calibri"/>
              </a:rPr>
              <a:t>6) Asutusel peab DPO olema (avalik sektor). Analüütik kutsub, kui koond võib muutuda tuvastatavaks või kui andmeid liigub asutuste vahel ilma kokkuleppeta. Koond ise on hea suund.</a:t>
            </a:r>
          </a:p>
          <a:p/>
          <a:p>
            <a:r>
              <a:rPr sz="1400">
                <a:latin typeface="Calibri"/>
              </a:rPr>
              <a:t>Kui aeg otsas, jätke 6 suuliseks.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Viimane plokk kinni.</a:t>
            </a:r>
          </a:p>
          <a:p/>
          <a:p>
            <a:r>
              <a:rPr sz="1400">
                <a:latin typeface="Calibri"/>
              </a:rPr>
              <a:t>DPO ei ole luksus ega karistus. Ta on luba öelda ebamugav lause enne, kui selle ütleb AKI. Kasutage teda. Kui teda ei ole, kehtivad seitse küsimust ikkagi — siis olete teie esimene filter ja teie ticketi eskalatsiooninimekiri on veel tähtsam.</a:t>
            </a:r>
          </a:p>
          <a:p/>
          <a:p>
            <a:r>
              <a:rPr sz="1400">
                <a:latin typeface="Calibri"/>
              </a:rPr>
              <a:t>Andmetiimides on kiusatus öelda „see on compliance, meie teeme andmeid“. Täna nägite, et SELECT, Publish ja ACL ongi see koht, kus seadus rakendub. DPO aitab halli ala; ta ei istu teie kõrval iga värskenduse juures.</a:t>
            </a:r>
          </a:p>
          <a:p/>
          <a:p>
            <a:r>
              <a:rPr sz="1400">
                <a:latin typeface="Calibri"/>
              </a:rPr>
              <a:t>Kokkuvõte: neli lauset, kümme käsku, esmaspäeva 30 minutit, allikad, küsimused. Umbes kümme minutit. Hoidke tempo, et küsimustele jääks aega.</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Korrake aeglaselt.</a:t>
            </a:r>
          </a:p>
          <a:p/>
          <a:p>
            <a:r>
              <a:rPr sz="1400">
                <a:latin typeface="Calibri"/>
              </a:rPr>
              <a:t>Te ei ela „kuskil Euroopas üldiselt“. Te elate Eestis, teete päringuid, ja IKÜM+IKS+AKI kehtivad teie artefaktidele.</a:t>
            </a:r>
          </a:p>
          <a:p/>
          <a:p>
            <a:r>
              <a:rPr sz="1400">
                <a:latin typeface="Calibri"/>
              </a:rPr>
              <a:t>Teie igapäev on põhimõtted nupu peal, mitte lühendid.</a:t>
            </a:r>
          </a:p>
          <a:p/>
          <a:p>
            <a:r>
              <a:rPr sz="1400">
                <a:latin typeface="Calibri"/>
              </a:rPr>
              <a:t>Ärge liimige kaitset otsa. Pange see skeemi, RLS-i, tööala vaikeõigusesse, snapshoti poliitikasse.</a:t>
            </a:r>
          </a:p>
          <a:p/>
          <a:p>
            <a:r>
              <a:rPr sz="1400">
                <a:latin typeface="Calibri"/>
              </a:rPr>
              <a:t>DPO on liitlane. Ta ei ole vihmavari varjufailidele ega vaenlane, kelle eest sprinti peita.</a:t>
            </a:r>
          </a:p>
          <a:p/>
          <a:p>
            <a:r>
              <a:rPr sz="1400">
                <a:latin typeface="Calibri"/>
              </a:rPr>
              <a:t>Kui need neli lauset on olemas, on kolm tundi õnnestunud.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See on slaid, mille te pildistate. Tänane pärand teie rollile.</a:t>
            </a:r>
          </a:p>
          <a:p/>
          <a:p>
            <a:r>
              <a:rPr sz="1400">
                <a:latin typeface="Calibri"/>
              </a:rPr>
              <a:t>Loen korra. Te ei pea numbreid. Te peate ära tundma hetke, kui käsi läheb Run, Publish või Share peale.</a:t>
            </a:r>
          </a:p>
          <a:p/>
          <a:p>
            <a:r>
              <a:rPr sz="1400">
                <a:latin typeface="Calibri"/>
              </a:rPr>
              <a:t>Esimene on tähtsaim: miks. Kuidas te õpite sellel kursusel. Miks on andmekaitse.</a:t>
            </a:r>
          </a:p>
          <a:p/>
          <a:p>
            <a:r>
              <a:rPr sz="1400">
                <a:latin typeface="Calibri"/>
              </a:rPr>
              <a:t>Kui te esmaspäeval ühe asja teete, tehke 6 või 7: leidke vana CSV või liiga avatud andmestik. See on rohkem kui slaiditeooria.</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Konkreetne, mitte „ole teadlikum“.</a:t>
            </a:r>
          </a:p>
          <a:p/>
          <a:p>
            <a:r>
              <a:rPr sz="1400">
                <a:latin typeface="Calibri"/>
              </a:rPr>
              <a:t>Kolmkümmend minutit esmaspäeval. Üks voog, mitte kogu platvorm — muidu ei alusta keegi. Joonistage paberile või Confluence’i: kust read tulevad, kus need mudelis on, kes aruannet näeb, kas Excel tuleb kaasa. Märkige punasega isikuandmed ja eriliik.</a:t>
            </a:r>
          </a:p>
          <a:p/>
          <a:p>
            <a:r>
              <a:rPr sz="1400">
                <a:latin typeface="Calibri"/>
              </a:rPr>
              <a:t>Siis üks andmestik korda: omanik, eesmärk ühe lausega, tähtaeg. Siis DPO nimi — või aus märge, et rolli ei ole ja juhtkond vastutab otse.</a:t>
            </a:r>
          </a:p>
          <a:p/>
          <a:p>
            <a:r>
              <a:rPr sz="1400">
                <a:latin typeface="Calibri"/>
              </a:rPr>
              <a:t>Kui teete seda tiimina, pange seitse küsimust PR-malli. Insenerid: tsoon ja mask backlogi. BI: RLS ja Export test. Analüütikud: keelatud on isikuandmed avalikus GPT-s ja kodukettas.</a:t>
            </a:r>
          </a:p>
          <a:p/>
          <a:p>
            <a:r>
              <a:rPr sz="1400">
                <a:latin typeface="Calibri"/>
              </a:rPr>
              <a:t>See 30 minutit on tänase loengu tegelik eksam, mitte mälutest paragrahvide kohta.</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Ärge alustage juhuslikust blogist. Alustage AKI-st. Seadus on Riigi Teatajas, määrus EUR-Lexis. EDPB on tihe, kui lähete sügavamale.</a:t>
            </a:r>
          </a:p>
          <a:p/>
          <a:p>
            <a:r>
              <a:rPr sz="1400">
                <a:latin typeface="Calibri"/>
              </a:rPr>
              <a:t>Kõige lähem: teie DPO, teie kataloog, teie platvormi reeglid. Kui neid ei ole, on see ise leid.</a:t>
            </a:r>
          </a:p>
          <a:p/>
          <a:p>
            <a:r>
              <a:rPr sz="1400">
                <a:latin typeface="Calibri"/>
              </a:rPr>
              <a:t>Kordan: ma ei andnud juriidilist nõu teie konkreetse kuubiku kohta. Päris kahtlus — DPO, jurist, AKI.</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[2–3 min]</a:t>
            </a:r>
          </a:p>
          <a:p/>
          <a:p>
            <a:r>
              <a:rPr sz="1400">
                <a:latin typeface="Calibri"/>
              </a:rPr>
              <a:t>Mõelge. Võite öelda ühe valjusti.</a:t>
            </a:r>
          </a:p>
          <a:p/>
          <a:p>
            <a:r>
              <a:rPr sz="1400">
                <a:latin typeface="Calibri"/>
              </a:rPr>
              <a:t>Esimene: konkreetne artefakt. Ilma selleta ei muutu midagi.</a:t>
            </a:r>
          </a:p>
          <a:p/>
          <a:p>
            <a:r>
              <a:rPr sz="1400">
                <a:latin typeface="Calibri"/>
              </a:rPr>
              <a:t>Teine: nägu. Andmekaitse on inimeste teema.</a:t>
            </a:r>
          </a:p>
          <a:p/>
          <a:p>
            <a:r>
              <a:rPr sz="1400">
                <a:latin typeface="Calibri"/>
              </a:rPr>
              <a:t>Kolmas: ausalt. Paljud ütlevad säilitamine, minimeerimine või Export. Siis teate, millega alustada.</a:t>
            </a:r>
          </a:p>
          <a:p/>
          <a:p>
            <a:r>
              <a:rPr sz="1400">
                <a:latin typeface="Calibri"/>
              </a:rPr>
              <a:t>Nüüd teie küsimused.</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Lõpusõna.</a:t>
            </a:r>
          </a:p>
          <a:p/>
          <a:p>
            <a:r>
              <a:rPr sz="1400">
                <a:latin typeface="Calibri"/>
              </a:rPr>
              <a:t>Eesmärk ei olnud teid kartlikuks teha. Eesmärk oli teha teid tähelepanelikuks just seal, kus te olete tugevad: päring, mudel, toru, aruanne. Eestis on andmed lähedal. See eelis püsib usalduse peal. Usaldus katkeb teie avatud lingi, teie SELECT *, teie testkoopia või teie unustatud dump’iga.</a:t>
            </a:r>
          </a:p>
          <a:p/>
          <a:p>
            <a:r>
              <a:rPr sz="1400">
                <a:latin typeface="Calibri"/>
              </a:rPr>
              <a:t>Kasutage seitset küsimust. Pange kaitse tsoonidesse ja vaikeõigustesse. Rääkige DPO-ga enne profiili. Kui midagi katki läheb, ärge vaadake kõrvale.</a:t>
            </a:r>
          </a:p>
          <a:p/>
          <a:p>
            <a:r>
              <a:rPr sz="1400">
                <a:latin typeface="Calibri"/>
              </a:rPr>
              <a:t>Aitäh. Küsimused — ka „kas RLS piisab“ ja „kas koond on alati okei“. Need on õiged küsimused.</a:t>
            </a:r>
          </a:p>
          <a:p/>
          <a:p>
            <a:r>
              <a:rPr sz="1400">
                <a:latin typeface="Calibri"/>
              </a:rPr>
              <a:t>[Tüüpilised vastusealgused:]</a:t>
            </a:r>
          </a:p>
          <a:p>
            <a:r>
              <a:rPr sz="1400">
                <a:latin typeface="Calibri"/>
              </a:rPr>
              <a:t>— RLS: hea, kui testitud allalaadimisel; ei asenda minimeerimist.</a:t>
            </a:r>
          </a:p>
          <a:p>
            <a:r>
              <a:rPr sz="1400">
                <a:latin typeface="Calibri"/>
              </a:rPr>
              <a:t>— Koond: jah, kuni filter viib n=1 või haruldase tunnuseni.</a:t>
            </a:r>
          </a:p>
          <a:p>
            <a:r>
              <a:rPr sz="1400">
                <a:latin typeface="Calibri"/>
              </a:rPr>
              <a:t>— ChatGPT: ärge kleepige isikuandmeid avalikku mudelisse.</a:t>
            </a:r>
          </a:p>
          <a:p>
            <a:r>
              <a:rPr sz="1400">
                <a:latin typeface="Calibri"/>
              </a:rPr>
              <a:t>— Isikukood ühendamiseks: eelistage sisemist võtit; isikukood kitsasse tsooni.</a:t>
            </a:r>
          </a:p>
          <a:p>
            <a:r>
              <a:rPr sz="1400">
                <a:latin typeface="Calibri"/>
              </a:rPr>
              <a:t>— Avaandmed: avalik ei tähenda iga uut eesmärki ja iga liitmist.</a:t>
            </a:r>
          </a:p>
          <a:p>
            <a:r>
              <a:rPr sz="1400">
                <a:latin typeface="Calibri"/>
              </a:rPr>
              <a:t>— Kaamera / logid töökohal: eesmärk, teavitus, proportsioon; mitte salajane distsipliinikuubik.</a:t>
            </a:r>
          </a:p>
          <a:p/>
          <a:p>
            <a:r>
              <a:rPr sz="1400">
                <a:latin typeface="Calibri"/>
              </a:rPr>
              <a:t>Lõpetage õigel ajal. Tänage.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972800" cy="365760"/>
          </a:xfrm>
          <a:prstGeom prst="rect">
            <a:avLst/>
          </a:prstGeom>
          <a:noFill/>
        </p:spPr>
        <p:txBody>
          <a:bodyPr wrap="square" anchor="t"/>
          <a:lstStyle/>
          <a:p>
            <a:pPr algn="l"/>
            <a:r>
              <a:rPr sz="1600" b="1" i="0">
                <a:solidFill>
                  <a:srgbClr val="121212"/>
                </a:solidFill>
                <a:latin typeface="Calibri"/>
                <a:ea typeface="Calibri"/>
              </a:rPr>
              <a:t>ANDMETARKUS  ·  PÄEV 10</a:t>
            </a:r>
          </a:p>
        </p:txBody>
      </p:sp>
      <p:sp>
        <p:nvSpPr>
          <p:cNvPr id="5" name="TextBox 4"/>
          <p:cNvSpPr txBox="1"/>
          <p:nvPr/>
        </p:nvSpPr>
        <p:spPr>
          <a:xfrm>
            <a:off x="640080" y="1874519"/>
            <a:ext cx="10972800" cy="1463040"/>
          </a:xfrm>
          <a:prstGeom prst="rect">
            <a:avLst/>
          </a:prstGeom>
          <a:noFill/>
        </p:spPr>
        <p:txBody>
          <a:bodyPr wrap="square" anchor="t"/>
          <a:lstStyle/>
          <a:p>
            <a:pPr algn="l"/>
            <a:r>
              <a:rPr sz="4000" b="1" i="0">
                <a:solidFill>
                  <a:srgbClr val="121212"/>
                </a:solidFill>
                <a:latin typeface="Calibri"/>
                <a:ea typeface="Calibri"/>
              </a:rPr>
              <a:t>Andmekaitse andmetöös</a:t>
            </a:r>
          </a:p>
        </p:txBody>
      </p:sp>
      <p:sp>
        <p:nvSpPr>
          <p:cNvPr id="6" name="TextBox 5"/>
          <p:cNvSpPr txBox="1"/>
          <p:nvPr/>
        </p:nvSpPr>
        <p:spPr>
          <a:xfrm>
            <a:off x="640080" y="3520440"/>
            <a:ext cx="10972800" cy="1097280"/>
          </a:xfrm>
          <a:prstGeom prst="rect">
            <a:avLst/>
          </a:prstGeom>
          <a:noFill/>
        </p:spPr>
        <p:txBody>
          <a:bodyPr wrap="square" anchor="t"/>
          <a:lstStyle/>
          <a:p>
            <a:pPr algn="l"/>
            <a:r>
              <a:rPr sz="2000" b="0" i="0">
                <a:solidFill>
                  <a:srgbClr val="202020"/>
                </a:solidFill>
                <a:latin typeface="Calibri"/>
                <a:ea typeface="Calibri"/>
              </a:rPr>
              <a:t>Kuidas rakendada seadusandlust, põhimõtteid, lõimitud kaitset
ja andmekaitsespetsialisti koostööd analüütiku, BI ja andmeinseneri laual.</a:t>
            </a:r>
          </a:p>
        </p:txBody>
      </p:sp>
      <p:sp>
        <p:nvSpPr>
          <p:cNvPr id="7" name="TextBox 6"/>
          <p:cNvSpPr txBox="1"/>
          <p:nvPr/>
        </p:nvSpPr>
        <p:spPr>
          <a:xfrm>
            <a:off x="640080" y="4937760"/>
            <a:ext cx="10972800" cy="731520"/>
          </a:xfrm>
          <a:prstGeom prst="rect">
            <a:avLst/>
          </a:prstGeom>
          <a:noFill/>
        </p:spPr>
        <p:txBody>
          <a:bodyPr wrap="square" anchor="t"/>
          <a:lstStyle/>
          <a:p>
            <a:pPr algn="l"/>
            <a:r>
              <a:rPr sz="1600" b="0" i="0">
                <a:solidFill>
                  <a:srgbClr val="121212"/>
                </a:solidFill>
                <a:latin typeface="Calibri"/>
                <a:ea typeface="Calibri"/>
              </a:rPr>
              <a:t>3-tunnine loeng  ·  Eesti õigusruum: IKÜM + IKS  ·  rollid: analüütik, BI, andmeinsener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300" b="1" i="0">
                <a:solidFill>
                  <a:srgbClr val="6E6E6E"/>
                </a:solidFill>
                <a:latin typeface="Calibri"/>
                <a:ea typeface="Calibri"/>
              </a:rPr>
              <a:t>AVA  ·  12 minutit</a:t>
            </a:r>
          </a:p>
        </p:txBody>
      </p:sp>
      <p:sp>
        <p:nvSpPr>
          <p:cNvPr id="6" name="TextBox 5"/>
          <p:cNvSpPr txBox="1"/>
          <p:nvPr/>
        </p:nvSpPr>
        <p:spPr>
          <a:xfrm>
            <a:off x="502920" y="475488"/>
            <a:ext cx="11155680" cy="777240"/>
          </a:xfrm>
          <a:prstGeom prst="rect">
            <a:avLst/>
          </a:prstGeom>
          <a:noFill/>
        </p:spPr>
        <p:txBody>
          <a:bodyPr wrap="square" anchor="t"/>
          <a:lstStyle/>
          <a:p>
            <a:pPr algn="l"/>
            <a:r>
              <a:rPr sz="2800" b="1" i="0">
                <a:solidFill>
                  <a:srgbClr val="121212"/>
                </a:solidFill>
                <a:latin typeface="Calibri"/>
                <a:ea typeface="Calibri"/>
              </a:rPr>
              <a:t>Mida te täna oskate oma töölaua peal</a:t>
            </a:r>
          </a:p>
        </p:txBody>
      </p:sp>
      <p:sp>
        <p:nvSpPr>
          <p:cNvPr id="7" name="TextBox 6"/>
          <p:cNvSpPr txBox="1"/>
          <p:nvPr/>
        </p:nvSpPr>
        <p:spPr>
          <a:xfrm>
            <a:off x="502920" y="1325880"/>
            <a:ext cx="11155680" cy="4160520"/>
          </a:xfrm>
          <a:prstGeom prst="rect">
            <a:avLst/>
          </a:prstGeom>
          <a:noFill/>
        </p:spPr>
        <p:txBody>
          <a:bodyPr wrap="square">
            <a:spAutoFit/>
          </a:bodyPr>
          <a:lstStyle/>
          <a:p>
            <a:pPr algn="l">
              <a:spcAft>
                <a:spcPts val="1200"/>
              </a:spcAft>
            </a:pPr>
            <a:r>
              <a:rPr sz="2200" b="0" i="0">
                <a:solidFill>
                  <a:srgbClr val="202020"/>
                </a:solidFill>
                <a:latin typeface="Calibri"/>
                <a:ea typeface="Calibri"/>
              </a:rPr>
              <a:t>•  öelda, millal päring, mudel või aruanne sisaldab isikuandmeid</a:t>
            </a:r>
          </a:p>
          <a:p>
            <a:pPr algn="l">
              <a:spcAft>
                <a:spcPts val="1200"/>
              </a:spcAft>
            </a:pPr>
            <a:r>
              <a:rPr sz="2200" b="0" i="0">
                <a:solidFill>
                  <a:srgbClr val="202020"/>
                </a:solidFill>
                <a:latin typeface="Calibri"/>
                <a:ea typeface="Calibri"/>
              </a:rPr>
              <a:t>•  eristada, kes on vastutav töötleja, kui teie värskendate andmestikku või avaldate raporti</a:t>
            </a:r>
          </a:p>
          <a:p>
            <a:pPr algn="l">
              <a:spcAft>
                <a:spcPts val="1200"/>
              </a:spcAft>
            </a:pPr>
            <a:r>
              <a:rPr sz="2200" b="0" i="0">
                <a:solidFill>
                  <a:srgbClr val="202020"/>
                </a:solidFill>
                <a:latin typeface="Calibri"/>
                <a:ea typeface="Calibri"/>
              </a:rPr>
              <a:t>•  rakendada seitset põhimõtet SELECT-is, andmemudelis ja jagamises</a:t>
            </a:r>
          </a:p>
          <a:p>
            <a:pPr algn="l">
              <a:spcAft>
                <a:spcPts val="1200"/>
              </a:spcAft>
            </a:pPr>
            <a:r>
              <a:rPr sz="2200" b="0" i="0">
                <a:solidFill>
                  <a:srgbClr val="202020"/>
                </a:solidFill>
                <a:latin typeface="Calibri"/>
                <a:ea typeface="Calibri"/>
              </a:rPr>
              <a:t>•  kavandada vaikimisi koond, rollipõhine vaade ja surev väljavõte</a:t>
            </a:r>
          </a:p>
          <a:p>
            <a:pPr algn="l">
              <a:spcAft>
                <a:spcPts val="1200"/>
              </a:spcAft>
            </a:pPr>
            <a:r>
              <a:rPr sz="2200" b="0" i="0">
                <a:solidFill>
                  <a:srgbClr val="202020"/>
                </a:solidFill>
                <a:latin typeface="Calibri"/>
                <a:ea typeface="Calibri"/>
              </a:rPr>
              <a:t>•  teada, millal kutsuda andmekaitsespetsialist enne uue liitmise või avaldamise tegemist</a:t>
            </a:r>
          </a:p>
        </p:txBody>
      </p:sp>
      <p:sp>
        <p:nvSpPr>
          <p:cNvPr id="8" name="Rounded Rectangle 7"/>
          <p:cNvSpPr/>
          <p:nvPr/>
        </p:nvSpPr>
        <p:spPr>
          <a:xfrm>
            <a:off x="502920" y="5623560"/>
            <a:ext cx="11155680" cy="777240"/>
          </a:xfrm>
          <a:prstGeom prst="round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742432"/>
            <a:ext cx="10789920" cy="548640"/>
          </a:xfrm>
          <a:prstGeom prst="rect">
            <a:avLst/>
          </a:prstGeom>
          <a:noFill/>
        </p:spPr>
        <p:txBody>
          <a:bodyPr wrap="square" anchor="t"/>
          <a:lstStyle/>
          <a:p>
            <a:pPr algn="l"/>
            <a:r>
              <a:rPr sz="1600" b="1" i="0">
                <a:solidFill>
                  <a:srgbClr val="121212"/>
                </a:solidFill>
                <a:latin typeface="Calibri"/>
                <a:ea typeface="Calibri"/>
              </a:rPr>
              <a:t>Andmetarkus ilma andmekaitseta on ohtlik osavus.</a:t>
            </a:r>
          </a:p>
        </p:txBody>
      </p:sp>
      <p:sp>
        <p:nvSpPr>
          <p:cNvPr id="10" name="TextBox 9"/>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11" name="TextBox 10"/>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2 / 63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777240"/>
          </a:xfrm>
          <a:prstGeom prst="rect">
            <a:avLst/>
          </a:prstGeom>
          <a:noFill/>
        </p:spPr>
        <p:txBody>
          <a:bodyPr wrap="square" anchor="t"/>
          <a:lstStyle/>
          <a:p>
            <a:pPr algn="l"/>
            <a:r>
              <a:rPr sz="2800" b="1" i="0">
                <a:solidFill>
                  <a:srgbClr val="121212"/>
                </a:solidFill>
                <a:latin typeface="Calibri"/>
                <a:ea typeface="Calibri"/>
              </a:rPr>
              <a:t>Tänane ajakava  ·  3 tundi</a:t>
            </a:r>
          </a:p>
        </p:txBody>
      </p:sp>
      <p:sp>
        <p:nvSpPr>
          <p:cNvPr id="6" name="TextBox 5"/>
          <p:cNvSpPr txBox="1"/>
          <p:nvPr/>
        </p:nvSpPr>
        <p:spPr>
          <a:xfrm>
            <a:off x="502920" y="1325880"/>
            <a:ext cx="11155680" cy="4937760"/>
          </a:xfrm>
          <a:prstGeom prst="rect">
            <a:avLst/>
          </a:prstGeom>
          <a:noFill/>
        </p:spPr>
        <p:txBody>
          <a:bodyPr wrap="square">
            <a:spAutoFit/>
          </a:bodyPr>
          <a:lstStyle/>
          <a:p>
            <a:pPr algn="l">
              <a:spcAft>
                <a:spcPts val="800"/>
              </a:spcAft>
            </a:pPr>
            <a:r>
              <a:rPr sz="2000" b="0" i="0">
                <a:solidFill>
                  <a:srgbClr val="202020"/>
                </a:solidFill>
                <a:latin typeface="Calibri"/>
                <a:ea typeface="Calibri"/>
              </a:rPr>
              <a:t>•  0:00–0:12    Avamine: miks just andmetöötaja laual</a:t>
            </a:r>
          </a:p>
          <a:p>
            <a:pPr algn="l">
              <a:spcAft>
                <a:spcPts val="800"/>
              </a:spcAft>
            </a:pPr>
            <a:r>
              <a:rPr sz="2000" b="0" i="0">
                <a:solidFill>
                  <a:srgbClr val="202020"/>
                </a:solidFill>
                <a:latin typeface="Calibri"/>
                <a:ea typeface="Calibri"/>
              </a:rPr>
              <a:t>•  0:12–0:50    I  Seadusandlus teie päringus ja andmevoos</a:t>
            </a:r>
          </a:p>
          <a:p>
            <a:pPr algn="l">
              <a:spcAft>
                <a:spcPts val="800"/>
              </a:spcAft>
            </a:pPr>
            <a:r>
              <a:rPr sz="2000" b="0" i="0">
                <a:solidFill>
                  <a:srgbClr val="202020"/>
                </a:solidFill>
                <a:latin typeface="Calibri"/>
                <a:ea typeface="Calibri"/>
              </a:rPr>
              <a:t>•  0:50–1:00    Paus</a:t>
            </a:r>
          </a:p>
          <a:p>
            <a:pPr algn="l">
              <a:spcAft>
                <a:spcPts val="800"/>
              </a:spcAft>
            </a:pPr>
            <a:r>
              <a:rPr sz="2000" b="0" i="0">
                <a:solidFill>
                  <a:srgbClr val="202020"/>
                </a:solidFill>
                <a:latin typeface="Calibri"/>
                <a:ea typeface="Calibri"/>
              </a:rPr>
              <a:t>•  1:00–1:40    II  Seitse põhimõtet: SQL, mudel, aruanne, jagamine</a:t>
            </a:r>
          </a:p>
          <a:p>
            <a:pPr algn="l">
              <a:spcAft>
                <a:spcPts val="800"/>
              </a:spcAft>
            </a:pPr>
            <a:r>
              <a:rPr sz="2000" b="0" i="0">
                <a:solidFill>
                  <a:srgbClr val="202020"/>
                </a:solidFill>
                <a:latin typeface="Calibri"/>
                <a:ea typeface="Calibri"/>
              </a:rPr>
              <a:t>•  1:40–1:50    Paus</a:t>
            </a:r>
          </a:p>
          <a:p>
            <a:pPr algn="l">
              <a:spcAft>
                <a:spcPts val="800"/>
              </a:spcAft>
            </a:pPr>
            <a:r>
              <a:rPr sz="2000" b="0" i="0">
                <a:solidFill>
                  <a:srgbClr val="202020"/>
                </a:solidFill>
                <a:latin typeface="Calibri"/>
                <a:ea typeface="Calibri"/>
              </a:rPr>
              <a:t>•  1:50–2:22    III  Lõimitud ja vaikimisi kaitse andmeplatvormis</a:t>
            </a:r>
          </a:p>
          <a:p>
            <a:pPr algn="l">
              <a:spcAft>
                <a:spcPts val="800"/>
              </a:spcAft>
            </a:pPr>
            <a:r>
              <a:rPr sz="2000" b="0" i="0">
                <a:solidFill>
                  <a:srgbClr val="202020"/>
                </a:solidFill>
                <a:latin typeface="Calibri"/>
                <a:ea typeface="Calibri"/>
              </a:rPr>
              <a:t>•  2:22–2:50    IV  Kuidas analüütik DPO-ga koostööd teeb</a:t>
            </a:r>
          </a:p>
          <a:p>
            <a:pPr algn="l">
              <a:spcAft>
                <a:spcPts val="800"/>
              </a:spcAft>
            </a:pPr>
            <a:r>
              <a:rPr sz="2000" b="0" i="0">
                <a:solidFill>
                  <a:srgbClr val="202020"/>
                </a:solidFill>
                <a:latin typeface="Calibri"/>
                <a:ea typeface="Calibri"/>
              </a:rPr>
              <a:t>•  2:50–3:00    Kokkuvõte: esmaspäeva kontrollnimekiri</a:t>
            </a:r>
          </a:p>
        </p:txBody>
      </p:sp>
      <p:sp>
        <p:nvSpPr>
          <p:cNvPr id="7" name="TextBox 6"/>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8" name="TextBox 7"/>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3 / 63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777240"/>
          </a:xfrm>
          <a:prstGeom prst="rect">
            <a:avLst/>
          </a:prstGeom>
          <a:noFill/>
        </p:spPr>
        <p:txBody>
          <a:bodyPr wrap="square" anchor="t"/>
          <a:lstStyle/>
          <a:p>
            <a:pPr algn="l"/>
            <a:r>
              <a:rPr sz="2800" b="1" i="0">
                <a:solidFill>
                  <a:srgbClr val="121212"/>
                </a:solidFill>
                <a:latin typeface="Calibri"/>
                <a:ea typeface="Calibri"/>
              </a:rPr>
              <a:t>Kolm rolli, sama seadus — erinev käsi</a:t>
            </a:r>
          </a:p>
        </p:txBody>
      </p:sp>
      <p:sp>
        <p:nvSpPr>
          <p:cNvPr id="6" name="TextBox 5"/>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andmeanalüütik: päring, ühendamine, väljavõte, järeldus inimese või segmendi kohta</a:t>
            </a:r>
          </a:p>
          <a:p>
            <a:pPr algn="l">
              <a:spcAft>
                <a:spcPts val="1200"/>
              </a:spcAft>
            </a:pPr>
            <a:r>
              <a:rPr sz="2200" b="0" i="0">
                <a:solidFill>
                  <a:srgbClr val="202020"/>
                </a:solidFill>
                <a:latin typeface="Calibri"/>
                <a:ea typeface="Calibri"/>
              </a:rPr>
              <a:t>•  BI-analüütik: semantilne mudel, visuaal, tööala, allalaadimine, ridade turve</a:t>
            </a:r>
          </a:p>
          <a:p>
            <a:pPr algn="l">
              <a:spcAft>
                <a:spcPts val="1200"/>
              </a:spcAft>
            </a:pPr>
            <a:r>
              <a:rPr sz="2200" b="0" i="0">
                <a:solidFill>
                  <a:srgbClr val="202020"/>
                </a:solidFill>
                <a:latin typeface="Calibri"/>
                <a:ea typeface="Calibri"/>
              </a:rPr>
              <a:t>•  andmeinsener: toru, järv, ait, õigused, test vs toodang, varukoopiad, logid</a:t>
            </a:r>
          </a:p>
          <a:p>
            <a:pPr algn="l">
              <a:spcAft>
                <a:spcPts val="1200"/>
              </a:spcAft>
            </a:pPr>
            <a:r>
              <a:rPr sz="2200" b="0" i="0">
                <a:solidFill>
                  <a:srgbClr val="202020"/>
                </a:solidFill>
                <a:latin typeface="Calibri"/>
                <a:ea typeface="Calibri"/>
              </a:rPr>
              <a:t>•  seadus ei küsi ametinimetust — ta küsib, mida te andmetega teete</a:t>
            </a:r>
          </a:p>
          <a:p>
            <a:pPr algn="l">
              <a:spcAft>
                <a:spcPts val="1200"/>
              </a:spcAft>
            </a:pPr>
            <a:r>
              <a:rPr sz="2200" b="0" i="0">
                <a:solidFill>
                  <a:srgbClr val="202020"/>
                </a:solidFill>
                <a:latin typeface="Calibri"/>
                <a:ea typeface="Calibri"/>
              </a:rPr>
              <a:t>•  kõik kolm saavad teha nii kaitse sisse kui ka vaikselt suure lekke</a:t>
            </a:r>
          </a:p>
        </p:txBody>
      </p:sp>
      <p:sp>
        <p:nvSpPr>
          <p:cNvPr id="7" name="TextBox 6"/>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8" name="TextBox 7"/>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4 / 63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256032"/>
            <a:ext cx="1920240" cy="365760"/>
          </a:xfrm>
          <a:prstGeom prst="round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74320"/>
            <a:ext cx="1920240" cy="329184"/>
          </a:xfrm>
          <a:prstGeom prst="rect">
            <a:avLst/>
          </a:prstGeom>
          <a:noFill/>
        </p:spPr>
        <p:txBody>
          <a:bodyPr wrap="square" anchor="t"/>
          <a:lstStyle/>
          <a:p>
            <a:pPr algn="ctr"/>
            <a:r>
              <a:rPr sz="1300" b="1" i="0">
                <a:solidFill>
                  <a:srgbClr val="121212"/>
                </a:solidFill>
                <a:latin typeface="Calibri"/>
                <a:ea typeface="Calibri"/>
              </a:rPr>
              <a:t>SOOJENDUS</a:t>
            </a:r>
          </a:p>
        </p:txBody>
      </p:sp>
      <p:sp>
        <p:nvSpPr>
          <p:cNvPr id="7" name="TextBox 6"/>
          <p:cNvSpPr txBox="1"/>
          <p:nvPr/>
        </p:nvSpPr>
        <p:spPr>
          <a:xfrm>
            <a:off x="2560320" y="256032"/>
            <a:ext cx="8961120" cy="365760"/>
          </a:xfrm>
          <a:prstGeom prst="rect">
            <a:avLst/>
          </a:prstGeom>
          <a:noFill/>
        </p:spPr>
        <p:txBody>
          <a:bodyPr wrap="square" anchor="t"/>
          <a:lstStyle/>
          <a:p>
            <a:pPr algn="l"/>
            <a:r>
              <a:rPr sz="1400" b="0" i="0">
                <a:solidFill>
                  <a:srgbClr val="585858"/>
                </a:solidFill>
                <a:latin typeface="Calibri"/>
                <a:ea typeface="Calibri"/>
              </a:rPr>
              <a:t>4 minutit  ·  käed üles, kogu rühm</a:t>
            </a:r>
          </a:p>
        </p:txBody>
      </p:sp>
      <p:sp>
        <p:nvSpPr>
          <p:cNvPr id="8" name="TextBox 7"/>
          <p:cNvSpPr txBox="1"/>
          <p:nvPr/>
        </p:nvSpPr>
        <p:spPr>
          <a:xfrm>
            <a:off x="502920" y="731520"/>
            <a:ext cx="11155680" cy="640080"/>
          </a:xfrm>
          <a:prstGeom prst="rect">
            <a:avLst/>
          </a:prstGeom>
          <a:noFill/>
        </p:spPr>
        <p:txBody>
          <a:bodyPr wrap="square" anchor="t"/>
          <a:lstStyle/>
          <a:p>
            <a:pPr algn="l"/>
            <a:r>
              <a:rPr sz="2600" b="1" i="0">
                <a:solidFill>
                  <a:srgbClr val="121212"/>
                </a:solidFill>
                <a:latin typeface="Calibri"/>
                <a:ea typeface="Calibri"/>
              </a:rPr>
              <a:t>Mida teie andmetöö juba teeb inimestega?</a:t>
            </a:r>
          </a:p>
        </p:txBody>
      </p:sp>
      <p:sp>
        <p:nvSpPr>
          <p:cNvPr id="9" name="TextBox 8"/>
          <p:cNvSpPr txBox="1"/>
          <p:nvPr/>
        </p:nvSpPr>
        <p:spPr>
          <a:xfrm>
            <a:off x="502920" y="1463040"/>
            <a:ext cx="11155680" cy="4754880"/>
          </a:xfrm>
          <a:prstGeom prst="rect">
            <a:avLst/>
          </a:prstGeom>
          <a:noFill/>
        </p:spPr>
        <p:txBody>
          <a:bodyPr wrap="square">
            <a:spAutoFit/>
          </a:bodyPr>
          <a:lstStyle/>
          <a:p>
            <a:pPr algn="l">
              <a:spcAft>
                <a:spcPts val="1000"/>
              </a:spcAft>
            </a:pPr>
            <a:r>
              <a:rPr sz="2000" b="0" i="0">
                <a:solidFill>
                  <a:srgbClr val="202020"/>
                </a:solidFill>
                <a:latin typeface="Calibri"/>
                <a:ea typeface="Calibri"/>
              </a:rPr>
              <a:t>•  päring või eksport, kus on nimi, e-post, kliendi- või töötaja ID</a:t>
            </a:r>
          </a:p>
          <a:p>
            <a:pPr algn="l">
              <a:spcAft>
                <a:spcPts val="1000"/>
              </a:spcAft>
            </a:pPr>
            <a:r>
              <a:rPr sz="2000" b="0" i="0">
                <a:solidFill>
                  <a:srgbClr val="202020"/>
                </a:solidFill>
                <a:latin typeface="Calibri"/>
                <a:ea typeface="Calibri"/>
              </a:rPr>
              <a:t>•  Power BI / Excel / Looker, mida keegi teine saab avada või alla laadida</a:t>
            </a:r>
          </a:p>
          <a:p>
            <a:pPr algn="l">
              <a:spcAft>
                <a:spcPts val="1000"/>
              </a:spcAft>
            </a:pPr>
            <a:r>
              <a:rPr sz="2000" b="0" i="0">
                <a:solidFill>
                  <a:srgbClr val="202020"/>
                </a:solidFill>
                <a:latin typeface="Calibri"/>
                <a:ea typeface="Calibri"/>
              </a:rPr>
              <a:t>•  kahe tabeli liitmine (klient + müük, töötaja + puudumine, logi + konto)</a:t>
            </a:r>
          </a:p>
          <a:p>
            <a:pPr algn="l">
              <a:spcAft>
                <a:spcPts val="1000"/>
              </a:spcAft>
            </a:pPr>
            <a:r>
              <a:rPr sz="2000" b="0" i="0">
                <a:solidFill>
                  <a:srgbClr val="202020"/>
                </a:solidFill>
                <a:latin typeface="Calibri"/>
                <a:ea typeface="Calibri"/>
              </a:rPr>
              <a:t>•  andmete koopia: CSV, notebook, testkeskkond, isiklik OneDrive</a:t>
            </a:r>
          </a:p>
          <a:p>
            <a:pPr algn="l">
              <a:spcAft>
                <a:spcPts val="1000"/>
              </a:spcAft>
            </a:pPr>
            <a:r>
              <a:rPr sz="2000" b="0" i="0">
                <a:solidFill>
                  <a:srgbClr val="202020"/>
                </a:solidFill>
                <a:latin typeface="Calibri"/>
                <a:ea typeface="Calibri"/>
              </a:rPr>
              <a:t>•  „vaatan korra, kas need klapivad“ ilma kirjaliku eesmärgita</a:t>
            </a:r>
          </a:p>
        </p:txBody>
      </p:sp>
      <p:sp>
        <p:nvSpPr>
          <p:cNvPr id="10" name="TextBox 9"/>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11" name="TextBox 10"/>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5 / 63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0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698480" cy="2560320"/>
          </a:xfrm>
          <a:prstGeom prst="rect">
            <a:avLst/>
          </a:prstGeom>
          <a:noFill/>
        </p:spPr>
        <p:txBody>
          <a:bodyPr wrap="square" anchor="t"/>
          <a:lstStyle/>
          <a:p>
            <a:pPr algn="l"/>
            <a:r>
              <a:rPr sz="2800" b="1" i="0">
                <a:solidFill>
                  <a:srgbClr val="FFFFFF"/>
                </a:solidFill>
                <a:latin typeface="Calibri"/>
                <a:ea typeface="Calibri"/>
              </a:rPr>
              <a:t>Teie ei küsi ainult „kas mudel töötab?“.
Te küsite „kelle elu see rida on?“</a:t>
            </a:r>
          </a:p>
        </p:txBody>
      </p:sp>
      <p:sp>
        <p:nvSpPr>
          <p:cNvPr id="5" name="TextBox 4"/>
          <p:cNvSpPr txBox="1"/>
          <p:nvPr/>
        </p:nvSpPr>
        <p:spPr>
          <a:xfrm>
            <a:off x="731520" y="4572000"/>
            <a:ext cx="10698480" cy="914400"/>
          </a:xfrm>
          <a:prstGeom prst="rect">
            <a:avLst/>
          </a:prstGeom>
          <a:noFill/>
        </p:spPr>
        <p:txBody>
          <a:bodyPr wrap="square" anchor="t"/>
          <a:lstStyle/>
          <a:p>
            <a:pPr algn="l"/>
            <a:r>
              <a:rPr sz="1800" b="0" i="0">
                <a:solidFill>
                  <a:srgbClr val="FFD200"/>
                </a:solidFill>
                <a:latin typeface="Calibri"/>
                <a:ea typeface="Calibri"/>
              </a:rPr>
              <a:t>Iga päring, värskendus, liitmine ja allalaadimine on töötlemine.</a:t>
            </a:r>
          </a:p>
        </p:txBody>
      </p:sp>
      <p:sp>
        <p:nvSpPr>
          <p:cNvPr id="6" name="TextBox 5"/>
          <p:cNvSpPr txBox="1"/>
          <p:nvPr/>
        </p:nvSpPr>
        <p:spPr>
          <a:xfrm>
            <a:off x="365760" y="6537960"/>
            <a:ext cx="9601200" cy="256032"/>
          </a:xfrm>
          <a:prstGeom prst="rect">
            <a:avLst/>
          </a:prstGeom>
          <a:noFill/>
        </p:spPr>
        <p:txBody>
          <a:bodyPr wrap="square" anchor="t"/>
          <a:lstStyle/>
          <a:p>
            <a:pPr algn="l"/>
            <a:r>
              <a:rPr sz="1100" b="0" i="0">
                <a:solidFill>
                  <a:srgbClr val="FFFFFF"/>
                </a:solidFill>
                <a:latin typeface="Calibri"/>
                <a:ea typeface="Calibri"/>
              </a:rPr>
              <a:t>Andmetarkus  ·  Päev 10: Andmekaitse</a:t>
            </a:r>
          </a:p>
        </p:txBody>
      </p:sp>
      <p:sp>
        <p:nvSpPr>
          <p:cNvPr id="7" name="TextBox 6"/>
          <p:cNvSpPr txBox="1"/>
          <p:nvPr/>
        </p:nvSpPr>
        <p:spPr>
          <a:xfrm>
            <a:off x="10241280" y="6537960"/>
            <a:ext cx="1554480" cy="256032"/>
          </a:xfrm>
          <a:prstGeom prst="rect">
            <a:avLst/>
          </a:prstGeom>
          <a:noFill/>
        </p:spPr>
        <p:txBody>
          <a:bodyPr wrap="square" anchor="t"/>
          <a:lstStyle/>
          <a:p>
            <a:pPr algn="r"/>
            <a:r>
              <a:rPr sz="1100" b="0" i="0">
                <a:solidFill>
                  <a:srgbClr val="FFFFFF"/>
                </a:solidFill>
                <a:latin typeface="Calibri"/>
                <a:ea typeface="Calibri"/>
              </a:rPr>
              <a:t>6 / 63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972800" cy="365760"/>
          </a:xfrm>
          <a:prstGeom prst="rect">
            <a:avLst/>
          </a:prstGeom>
          <a:noFill/>
        </p:spPr>
        <p:txBody>
          <a:bodyPr wrap="square" anchor="t"/>
          <a:lstStyle/>
          <a:p>
            <a:pPr algn="l"/>
            <a:r>
              <a:rPr sz="1600" b="1" i="0">
                <a:solidFill>
                  <a:srgbClr val="121212"/>
                </a:solidFill>
                <a:latin typeface="Calibri"/>
                <a:ea typeface="Calibri"/>
              </a:rPr>
              <a:t>OSA I  ·  umbes 38 minutit</a:t>
            </a:r>
          </a:p>
        </p:txBody>
      </p:sp>
      <p:sp>
        <p:nvSpPr>
          <p:cNvPr id="5" name="TextBox 4"/>
          <p:cNvSpPr txBox="1"/>
          <p:nvPr/>
        </p:nvSpPr>
        <p:spPr>
          <a:xfrm>
            <a:off x="640080" y="2011680"/>
            <a:ext cx="10972800" cy="2011680"/>
          </a:xfrm>
          <a:prstGeom prst="rect">
            <a:avLst/>
          </a:prstGeom>
          <a:noFill/>
        </p:spPr>
        <p:txBody>
          <a:bodyPr wrap="square" anchor="t"/>
          <a:lstStyle/>
          <a:p>
            <a:pPr algn="l"/>
            <a:r>
              <a:rPr sz="3600" b="1" i="0">
                <a:solidFill>
                  <a:srgbClr val="121212"/>
                </a:solidFill>
                <a:latin typeface="Calibri"/>
                <a:ea typeface="Calibri"/>
              </a:rPr>
              <a:t>Seadusandlus teie päringus ja andmevoos</a:t>
            </a:r>
          </a:p>
        </p:txBody>
      </p:sp>
      <p:sp>
        <p:nvSpPr>
          <p:cNvPr id="6" name="TextBox 5"/>
          <p:cNvSpPr txBox="1"/>
          <p:nvPr/>
        </p:nvSpPr>
        <p:spPr>
          <a:xfrm>
            <a:off x="640080" y="4206240"/>
            <a:ext cx="10972800" cy="1097280"/>
          </a:xfrm>
          <a:prstGeom prst="rect">
            <a:avLst/>
          </a:prstGeom>
          <a:noFill/>
        </p:spPr>
        <p:txBody>
          <a:bodyPr wrap="square" anchor="t"/>
          <a:lstStyle/>
          <a:p>
            <a:pPr algn="l"/>
            <a:r>
              <a:rPr sz="1800" b="0" i="0">
                <a:solidFill>
                  <a:srgbClr val="202020"/>
                </a:solidFill>
                <a:latin typeface="Calibri"/>
                <a:ea typeface="Calibri"/>
              </a:rPr>
              <a:t>IKÜM  ·  IKS  ·  AKI  ·  tõlgitud: tabel, mudel, värskendus, tööala, väljavõte</a:t>
            </a:r>
          </a:p>
        </p:txBody>
      </p:sp>
      <p:sp>
        <p:nvSpPr>
          <p:cNvPr id="7" name="TextBox 6"/>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8" name="TextBox 7"/>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7 / 63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640080"/>
          </a:xfrm>
          <a:prstGeom prst="rect">
            <a:avLst/>
          </a:prstGeom>
          <a:noFill/>
        </p:spPr>
        <p:txBody>
          <a:bodyPr wrap="square" anchor="t"/>
          <a:lstStyle/>
          <a:p>
            <a:pPr algn="l"/>
            <a:r>
              <a:rPr sz="2800" b="1" i="0">
                <a:solidFill>
                  <a:srgbClr val="121212"/>
                </a:solidFill>
                <a:latin typeface="Calibri"/>
                <a:ea typeface="Calibri"/>
              </a:rPr>
              <a:t>Kolm nime, mis peavad teie sõnavaras olema</a:t>
            </a:r>
          </a:p>
        </p:txBody>
      </p:sp>
      <p:sp>
        <p:nvSpPr>
          <p:cNvPr id="6" name="Rounded Rectangle 5"/>
          <p:cNvSpPr/>
          <p:nvPr/>
        </p:nvSpPr>
        <p:spPr>
          <a:xfrm>
            <a:off x="502920" y="1188720"/>
            <a:ext cx="3584448" cy="4937760"/>
          </a:xfrm>
          <a:prstGeom prst="round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316736"/>
            <a:ext cx="3255264" cy="365760"/>
          </a:xfrm>
          <a:prstGeom prst="rect">
            <a:avLst/>
          </a:prstGeom>
          <a:noFill/>
        </p:spPr>
        <p:txBody>
          <a:bodyPr wrap="square" anchor="t"/>
          <a:lstStyle/>
          <a:p>
            <a:pPr algn="l"/>
            <a:r>
              <a:rPr sz="1600" b="1" i="0">
                <a:solidFill>
                  <a:srgbClr val="121212"/>
                </a:solidFill>
                <a:latin typeface="Calibri"/>
                <a:ea typeface="Calibri"/>
              </a:rPr>
              <a:t>IKÜM  ·  GDPR</a:t>
            </a:r>
          </a:p>
        </p:txBody>
      </p:sp>
      <p:sp>
        <p:nvSpPr>
          <p:cNvPr id="8" name="TextBox 7"/>
          <p:cNvSpPr txBox="1"/>
          <p:nvPr/>
        </p:nvSpPr>
        <p:spPr>
          <a:xfrm>
            <a:off x="667512" y="1664208"/>
            <a:ext cx="3255264" cy="4334256"/>
          </a:xfrm>
          <a:prstGeom prst="rect">
            <a:avLst/>
          </a:prstGeom>
          <a:noFill/>
        </p:spPr>
        <p:txBody>
          <a:bodyPr wrap="square" anchor="t"/>
          <a:lstStyle/>
          <a:p>
            <a:pPr algn="l"/>
            <a:r>
              <a:rPr sz="1400" b="0" i="0">
                <a:solidFill>
                  <a:srgbClr val="202020"/>
                </a:solidFill>
                <a:latin typeface="Calibri"/>
                <a:ea typeface="Calibri"/>
              </a:rPr>
              <a:t>Määrus (EL) 2016/679. Kehtib otse alates 25.05.2018.
Kehtib teie päringule, mudelile ja aruandele, kui seal on isikuandmeid — ka siis, kui andmed on „ainult analüüsiks“.</a:t>
            </a:r>
          </a:p>
        </p:txBody>
      </p:sp>
      <p:sp>
        <p:nvSpPr>
          <p:cNvPr id="9" name="Rounded Rectangle 8"/>
          <p:cNvSpPr/>
          <p:nvPr/>
        </p:nvSpPr>
        <p:spPr>
          <a:xfrm>
            <a:off x="4288536" y="1188720"/>
            <a:ext cx="3584448" cy="4937760"/>
          </a:xfrm>
          <a:prstGeom prst="round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53128" y="1316736"/>
            <a:ext cx="3255264" cy="365760"/>
          </a:xfrm>
          <a:prstGeom prst="rect">
            <a:avLst/>
          </a:prstGeom>
          <a:noFill/>
        </p:spPr>
        <p:txBody>
          <a:bodyPr wrap="square" anchor="t"/>
          <a:lstStyle/>
          <a:p>
            <a:pPr algn="l"/>
            <a:r>
              <a:rPr sz="1600" b="1" i="0">
                <a:solidFill>
                  <a:srgbClr val="121212"/>
                </a:solidFill>
                <a:latin typeface="Calibri"/>
                <a:ea typeface="Calibri"/>
              </a:rPr>
              <a:t>IKS</a:t>
            </a:r>
          </a:p>
        </p:txBody>
      </p:sp>
      <p:sp>
        <p:nvSpPr>
          <p:cNvPr id="11" name="TextBox 10"/>
          <p:cNvSpPr txBox="1"/>
          <p:nvPr/>
        </p:nvSpPr>
        <p:spPr>
          <a:xfrm>
            <a:off x="4453128" y="1664208"/>
            <a:ext cx="3255264" cy="4334256"/>
          </a:xfrm>
          <a:prstGeom prst="rect">
            <a:avLst/>
          </a:prstGeom>
          <a:noFill/>
        </p:spPr>
        <p:txBody>
          <a:bodyPr wrap="square" anchor="t"/>
          <a:lstStyle/>
          <a:p>
            <a:pPr algn="l"/>
            <a:r>
              <a:rPr sz="1400" b="0" i="0">
                <a:solidFill>
                  <a:srgbClr val="202020"/>
                </a:solidFill>
                <a:latin typeface="Calibri"/>
                <a:ea typeface="Calibri"/>
              </a:rPr>
              <a:t>Isikuandmete kaitse seadus. Eesti täpsustused.
Muuhulgas AKI pädevus, lapse nõusolek 13, erijuhud. Teie asutuse kohustused tulevad mõlemast.</a:t>
            </a:r>
          </a:p>
        </p:txBody>
      </p:sp>
      <p:sp>
        <p:nvSpPr>
          <p:cNvPr id="12" name="Rounded Rectangle 11"/>
          <p:cNvSpPr/>
          <p:nvPr/>
        </p:nvSpPr>
        <p:spPr>
          <a:xfrm>
            <a:off x="8074152" y="1188720"/>
            <a:ext cx="3584448" cy="4937760"/>
          </a:xfrm>
          <a:prstGeom prst="round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38744" y="1316736"/>
            <a:ext cx="3255264" cy="365760"/>
          </a:xfrm>
          <a:prstGeom prst="rect">
            <a:avLst/>
          </a:prstGeom>
          <a:noFill/>
        </p:spPr>
        <p:txBody>
          <a:bodyPr wrap="square" anchor="t"/>
          <a:lstStyle/>
          <a:p>
            <a:pPr algn="l"/>
            <a:r>
              <a:rPr sz="1600" b="1" i="0">
                <a:solidFill>
                  <a:srgbClr val="121212"/>
                </a:solidFill>
                <a:latin typeface="Calibri"/>
                <a:ea typeface="Calibri"/>
              </a:rPr>
              <a:t>AKI</a:t>
            </a:r>
          </a:p>
        </p:txBody>
      </p:sp>
      <p:sp>
        <p:nvSpPr>
          <p:cNvPr id="14" name="TextBox 13"/>
          <p:cNvSpPr txBox="1"/>
          <p:nvPr/>
        </p:nvSpPr>
        <p:spPr>
          <a:xfrm>
            <a:off x="8238744" y="1664208"/>
            <a:ext cx="3255264" cy="4334256"/>
          </a:xfrm>
          <a:prstGeom prst="rect">
            <a:avLst/>
          </a:prstGeom>
          <a:noFill/>
        </p:spPr>
        <p:txBody>
          <a:bodyPr wrap="square" anchor="t"/>
          <a:lstStyle/>
          <a:p>
            <a:pPr algn="l"/>
            <a:r>
              <a:rPr sz="1400" b="0" i="0">
                <a:solidFill>
                  <a:srgbClr val="202020"/>
                </a:solidFill>
                <a:latin typeface="Calibri"/>
                <a:ea typeface="Calibri"/>
              </a:rPr>
              <a:t>Andmekaitse Inspektsioon. Järelevalve, juhendid, kaebused, rikkumisteated.
Kui aruanne lekib või vale fail läheb välja, tiksub tihti 72 tundi nende suunas.</a:t>
            </a:r>
          </a:p>
        </p:txBody>
      </p:sp>
      <p:sp>
        <p:nvSpPr>
          <p:cNvPr id="15" name="TextBox 14"/>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16" name="TextBox 15"/>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8 / 63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300" b="1" i="0">
                <a:solidFill>
                  <a:srgbClr val="6E6E6E"/>
                </a:solidFill>
                <a:latin typeface="Calibri"/>
                <a:ea typeface="Calibri"/>
              </a:rPr>
              <a:t>IKÜM artikkel 4 punkt 1  ·  teie tabelites</a:t>
            </a:r>
          </a:p>
        </p:txBody>
      </p:sp>
      <p:sp>
        <p:nvSpPr>
          <p:cNvPr id="6" name="TextBox 5"/>
          <p:cNvSpPr txBox="1"/>
          <p:nvPr/>
        </p:nvSpPr>
        <p:spPr>
          <a:xfrm>
            <a:off x="502920" y="475488"/>
            <a:ext cx="11155680" cy="777240"/>
          </a:xfrm>
          <a:prstGeom prst="rect">
            <a:avLst/>
          </a:prstGeom>
          <a:noFill/>
        </p:spPr>
        <p:txBody>
          <a:bodyPr wrap="square" anchor="t"/>
          <a:lstStyle/>
          <a:p>
            <a:pPr algn="l"/>
            <a:r>
              <a:rPr sz="2800" b="1" i="0">
                <a:solidFill>
                  <a:srgbClr val="121212"/>
                </a:solidFill>
                <a:latin typeface="Calibri"/>
                <a:ea typeface="Calibri"/>
              </a:rPr>
              <a:t>Isikuandmed ei ole ainult „nimi“ veerg</a:t>
            </a:r>
          </a:p>
        </p:txBody>
      </p:sp>
      <p:sp>
        <p:nvSpPr>
          <p:cNvPr id="7" name="TextBox 6"/>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otsene: nimi, isikukood, e-post, telefon, foto, hääl</a:t>
            </a:r>
          </a:p>
          <a:p>
            <a:pPr algn="l">
              <a:spcAft>
                <a:spcPts val="1200"/>
              </a:spcAft>
            </a:pPr>
            <a:r>
              <a:rPr sz="2200" b="0" i="0">
                <a:solidFill>
                  <a:srgbClr val="202020"/>
                </a:solidFill>
                <a:latin typeface="Calibri"/>
                <a:ea typeface="Calibri"/>
              </a:rPr>
              <a:t>•  kaudne: customer_id, employee_id, seadme-ID, IP, küpsis, asukohalogi</a:t>
            </a:r>
          </a:p>
          <a:p>
            <a:pPr algn="l">
              <a:spcAft>
                <a:spcPts val="1200"/>
              </a:spcAft>
            </a:pPr>
            <a:r>
              <a:rPr sz="2200" b="0" i="0">
                <a:solidFill>
                  <a:srgbClr val="202020"/>
                </a:solidFill>
                <a:latin typeface="Calibri"/>
                <a:ea typeface="Calibri"/>
              </a:rPr>
              <a:t>•  liitmine teeb tuvastatavaks: haruldane amet + vald; n=1 ruut aruandes</a:t>
            </a:r>
          </a:p>
          <a:p>
            <a:pPr algn="l">
              <a:spcAft>
                <a:spcPts val="1200"/>
              </a:spcAft>
            </a:pPr>
            <a:r>
              <a:rPr sz="2200" b="0" i="0">
                <a:solidFill>
                  <a:srgbClr val="202020"/>
                </a:solidFill>
                <a:latin typeface="Calibri"/>
                <a:ea typeface="Calibri"/>
              </a:rPr>
              <a:t>•  pseudonüüm (klient_8821) on ikka isikuandmed, kui võti on olemas</a:t>
            </a:r>
          </a:p>
          <a:p>
            <a:pPr algn="l">
              <a:spcAft>
                <a:spcPts val="1200"/>
              </a:spcAft>
            </a:pPr>
            <a:r>
              <a:rPr sz="2200" b="0" i="0">
                <a:solidFill>
                  <a:srgbClr val="202020"/>
                </a:solidFill>
                <a:latin typeface="Calibri"/>
                <a:ea typeface="Calibri"/>
              </a:rPr>
              <a:t>•  juriidilise isiku registrikood ei ole; juhatuse liige samas reas on</a:t>
            </a:r>
          </a:p>
        </p:txBody>
      </p:sp>
      <p:sp>
        <p:nvSpPr>
          <p:cNvPr id="8" name="TextBox 7"/>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9" name="TextBox 8"/>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9 / 63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777240"/>
          </a:xfrm>
          <a:prstGeom prst="rect">
            <a:avLst/>
          </a:prstGeom>
          <a:noFill/>
        </p:spPr>
        <p:txBody>
          <a:bodyPr wrap="square" anchor="t"/>
          <a:lstStyle/>
          <a:p>
            <a:pPr algn="l"/>
            <a:r>
              <a:rPr sz="2800" b="1" i="0">
                <a:solidFill>
                  <a:srgbClr val="121212"/>
                </a:solidFill>
                <a:latin typeface="Calibri"/>
                <a:ea typeface="Calibri"/>
              </a:rPr>
              <a:t>Kus isikuandmed teie platvormil tegelikult elavad</a:t>
            </a:r>
          </a:p>
        </p:txBody>
      </p:sp>
      <p:sp>
        <p:nvSpPr>
          <p:cNvPr id="6" name="TextBox 5"/>
          <p:cNvSpPr txBox="1"/>
          <p:nvPr/>
        </p:nvSpPr>
        <p:spPr>
          <a:xfrm>
            <a:off x="502920" y="1325880"/>
            <a:ext cx="11155680" cy="4160520"/>
          </a:xfrm>
          <a:prstGeom prst="rect">
            <a:avLst/>
          </a:prstGeom>
          <a:noFill/>
        </p:spPr>
        <p:txBody>
          <a:bodyPr wrap="square">
            <a:spAutoFit/>
          </a:bodyPr>
          <a:lstStyle/>
          <a:p>
            <a:pPr algn="l">
              <a:spcAft>
                <a:spcPts val="1200"/>
              </a:spcAft>
            </a:pPr>
            <a:r>
              <a:rPr sz="2200" b="0" i="0">
                <a:solidFill>
                  <a:srgbClr val="202020"/>
                </a:solidFill>
                <a:latin typeface="Calibri"/>
                <a:ea typeface="Calibri"/>
              </a:rPr>
              <a:t>•  allikas: CRM, ERP, eKool, personal, logid, kliendikaart, piletisüsteem</a:t>
            </a:r>
          </a:p>
          <a:p>
            <a:pPr algn="l">
              <a:spcAft>
                <a:spcPts val="1200"/>
              </a:spcAft>
            </a:pPr>
            <a:r>
              <a:rPr sz="2200" b="0" i="0">
                <a:solidFill>
                  <a:srgbClr val="202020"/>
                </a:solidFill>
                <a:latin typeface="Calibri"/>
                <a:ea typeface="Calibri"/>
              </a:rPr>
              <a:t>•  toru: staging, järv, ait, semantilne mudel — koopia on uus töötlemine</a:t>
            </a:r>
          </a:p>
          <a:p>
            <a:pPr algn="l">
              <a:spcAft>
                <a:spcPts val="1200"/>
              </a:spcAft>
            </a:pPr>
            <a:r>
              <a:rPr sz="2200" b="0" i="0">
                <a:solidFill>
                  <a:srgbClr val="202020"/>
                </a:solidFill>
                <a:latin typeface="Calibri"/>
                <a:ea typeface="Calibri"/>
              </a:rPr>
              <a:t>•  tarbimine: aruanne, Excel, CSV, API, notebook, masinõppe tunnus</a:t>
            </a:r>
          </a:p>
          <a:p>
            <a:pPr algn="l">
              <a:spcAft>
                <a:spcPts val="1200"/>
              </a:spcAft>
            </a:pPr>
            <a:r>
              <a:rPr sz="2200" b="0" i="0">
                <a:solidFill>
                  <a:srgbClr val="202020"/>
                </a:solidFill>
                <a:latin typeface="Calibri"/>
                <a:ea typeface="Calibri"/>
              </a:rPr>
              <a:t>•  vari: allalaadimised, e-posti manused, „lõplik_v3.xlsx“, isiklik ketas</a:t>
            </a:r>
          </a:p>
          <a:p>
            <a:pPr algn="l">
              <a:spcAft>
                <a:spcPts val="1200"/>
              </a:spcAft>
            </a:pPr>
            <a:r>
              <a:rPr sz="2200" b="0" i="0">
                <a:solidFill>
                  <a:srgbClr val="202020"/>
                </a:solidFill>
                <a:latin typeface="Calibri"/>
                <a:ea typeface="Calibri"/>
              </a:rPr>
              <a:t>•  aeg: varukoopia 2018. aastast on ikka isikuandmed</a:t>
            </a:r>
          </a:p>
        </p:txBody>
      </p:sp>
      <p:sp>
        <p:nvSpPr>
          <p:cNvPr id="7" name="Rounded Rectangle 6"/>
          <p:cNvSpPr/>
          <p:nvPr/>
        </p:nvSpPr>
        <p:spPr>
          <a:xfrm>
            <a:off x="502920" y="5623560"/>
            <a:ext cx="11155680" cy="777240"/>
          </a:xfrm>
          <a:prstGeom prst="round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742432"/>
            <a:ext cx="10789920" cy="548640"/>
          </a:xfrm>
          <a:prstGeom prst="rect">
            <a:avLst/>
          </a:prstGeom>
          <a:noFill/>
        </p:spPr>
        <p:txBody>
          <a:bodyPr wrap="square" anchor="t"/>
          <a:lstStyle/>
          <a:p>
            <a:pPr algn="l"/>
            <a:r>
              <a:rPr sz="1600" b="1" i="0">
                <a:solidFill>
                  <a:srgbClr val="121212"/>
                </a:solidFill>
                <a:latin typeface="Calibri"/>
                <a:ea typeface="Calibri"/>
              </a:rPr>
              <a:t>Kõige ohtlikum ei ole alati toodangu baas. See on teie varjufail.</a:t>
            </a:r>
          </a:p>
        </p:txBody>
      </p:sp>
      <p:sp>
        <p:nvSpPr>
          <p:cNvPr id="9" name="TextBox 8"/>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10" name="TextBox 9"/>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10 / 63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256032"/>
            <a:ext cx="1920240" cy="365760"/>
          </a:xfrm>
          <a:prstGeom prst="round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74320"/>
            <a:ext cx="1920240" cy="329184"/>
          </a:xfrm>
          <a:prstGeom prst="rect">
            <a:avLst/>
          </a:prstGeom>
          <a:noFill/>
        </p:spPr>
        <p:txBody>
          <a:bodyPr wrap="square" anchor="t"/>
          <a:lstStyle/>
          <a:p>
            <a:pPr algn="ctr"/>
            <a:r>
              <a:rPr sz="1300" b="1" i="0">
                <a:solidFill>
                  <a:srgbClr val="121212"/>
                </a:solidFill>
                <a:latin typeface="Calibri"/>
                <a:ea typeface="Calibri"/>
              </a:rPr>
              <a:t>HARJUTUS</a:t>
            </a:r>
          </a:p>
        </p:txBody>
      </p:sp>
      <p:sp>
        <p:nvSpPr>
          <p:cNvPr id="7" name="TextBox 6"/>
          <p:cNvSpPr txBox="1"/>
          <p:nvPr/>
        </p:nvSpPr>
        <p:spPr>
          <a:xfrm>
            <a:off x="2560320" y="256032"/>
            <a:ext cx="8961120" cy="365760"/>
          </a:xfrm>
          <a:prstGeom prst="rect">
            <a:avLst/>
          </a:prstGeom>
          <a:noFill/>
        </p:spPr>
        <p:txBody>
          <a:bodyPr wrap="square" anchor="t"/>
          <a:lstStyle/>
          <a:p>
            <a:pPr algn="l"/>
            <a:r>
              <a:rPr sz="1400" b="0" i="0">
                <a:solidFill>
                  <a:srgbClr val="585858"/>
                </a:solidFill>
                <a:latin typeface="Calibri"/>
                <a:ea typeface="Calibri"/>
              </a:rPr>
              <a:t>6 minutit  ·  paarides</a:t>
            </a:r>
          </a:p>
        </p:txBody>
      </p:sp>
      <p:sp>
        <p:nvSpPr>
          <p:cNvPr id="8" name="TextBox 7"/>
          <p:cNvSpPr txBox="1"/>
          <p:nvPr/>
        </p:nvSpPr>
        <p:spPr>
          <a:xfrm>
            <a:off x="502920" y="731520"/>
            <a:ext cx="11155680" cy="640080"/>
          </a:xfrm>
          <a:prstGeom prst="rect">
            <a:avLst/>
          </a:prstGeom>
          <a:noFill/>
        </p:spPr>
        <p:txBody>
          <a:bodyPr wrap="square" anchor="t"/>
          <a:lstStyle/>
          <a:p>
            <a:pPr algn="l"/>
            <a:r>
              <a:rPr sz="2600" b="1" i="0">
                <a:solidFill>
                  <a:srgbClr val="121212"/>
                </a:solidFill>
                <a:latin typeface="Calibri"/>
                <a:ea typeface="Calibri"/>
              </a:rPr>
              <a:t>Kas see artefakt on isikuandmed?</a:t>
            </a:r>
          </a:p>
        </p:txBody>
      </p:sp>
      <p:sp>
        <p:nvSpPr>
          <p:cNvPr id="9" name="TextBox 8"/>
          <p:cNvSpPr txBox="1"/>
          <p:nvPr/>
        </p:nvSpPr>
        <p:spPr>
          <a:xfrm>
            <a:off x="502920" y="1463040"/>
            <a:ext cx="11155680" cy="4754880"/>
          </a:xfrm>
          <a:prstGeom prst="rect">
            <a:avLst/>
          </a:prstGeom>
          <a:noFill/>
        </p:spPr>
        <p:txBody>
          <a:bodyPr wrap="square">
            <a:spAutoFit/>
          </a:bodyPr>
          <a:lstStyle/>
          <a:p>
            <a:pPr algn="l">
              <a:spcAft>
                <a:spcPts val="1000"/>
              </a:spcAft>
            </a:pPr>
            <a:r>
              <a:rPr sz="2000" b="0" i="0">
                <a:solidFill>
                  <a:srgbClr val="202020"/>
                </a:solidFill>
                <a:latin typeface="Calibri"/>
                <a:ea typeface="Calibri"/>
              </a:rPr>
              <a:t>•  1) dim_customer: CustomerKey, Email, BirthDate</a:t>
            </a:r>
          </a:p>
          <a:p>
            <a:pPr algn="l">
              <a:spcAft>
                <a:spcPts val="1000"/>
              </a:spcAft>
            </a:pPr>
            <a:r>
              <a:rPr sz="2000" b="0" i="0">
                <a:solidFill>
                  <a:srgbClr val="202020"/>
                </a:solidFill>
                <a:latin typeface="Calibri"/>
                <a:ea typeface="Calibri"/>
              </a:rPr>
              <a:t>•  2) fact_sales koond: müük maakonna ja kuu kaupa</a:t>
            </a:r>
          </a:p>
          <a:p>
            <a:pPr algn="l">
              <a:spcAft>
                <a:spcPts val="1000"/>
              </a:spcAft>
            </a:pPr>
            <a:r>
              <a:rPr sz="2000" b="0" i="0">
                <a:solidFill>
                  <a:srgbClr val="202020"/>
                </a:solidFill>
                <a:latin typeface="Calibri"/>
                <a:ea typeface="Calibri"/>
              </a:rPr>
              <a:t>•  3) fact_sales + müüja nimi visuaali teljel</a:t>
            </a:r>
          </a:p>
          <a:p>
            <a:pPr algn="l">
              <a:spcAft>
                <a:spcPts val="1000"/>
              </a:spcAft>
            </a:pPr>
            <a:r>
              <a:rPr sz="2000" b="0" i="0">
                <a:solidFill>
                  <a:srgbClr val="202020"/>
                </a:solidFill>
                <a:latin typeface="Calibri"/>
                <a:ea typeface="Calibri"/>
              </a:rPr>
              <a:t>•  4) veebilogi: timestamp, IP, path — veel kontota</a:t>
            </a:r>
          </a:p>
          <a:p>
            <a:pPr algn="l">
              <a:spcAft>
                <a:spcPts val="1000"/>
              </a:spcAft>
            </a:pPr>
            <a:r>
              <a:rPr sz="2000" b="0" i="0">
                <a:solidFill>
                  <a:srgbClr val="202020"/>
                </a:solidFill>
                <a:latin typeface="Calibri"/>
                <a:ea typeface="Calibri"/>
              </a:rPr>
              <a:t>•  5) HR-kuubik: puudumise põhjus + osakond, n=3</a:t>
            </a:r>
          </a:p>
          <a:p>
            <a:pPr algn="l">
              <a:spcAft>
                <a:spcPts val="1000"/>
              </a:spcAft>
            </a:pPr>
            <a:r>
              <a:rPr sz="2000" b="0" i="0">
                <a:solidFill>
                  <a:srgbClr val="202020"/>
                </a:solidFill>
                <a:latin typeface="Calibri"/>
                <a:ea typeface="Calibri"/>
              </a:rPr>
              <a:t>•  6) „anonüümne“ küsitlus 12 vastajat, amet + vald</a:t>
            </a:r>
          </a:p>
          <a:p>
            <a:pPr algn="l">
              <a:spcAft>
                <a:spcPts val="1000"/>
              </a:spcAft>
            </a:pPr>
            <a:r>
              <a:rPr sz="2000" b="0" i="0">
                <a:solidFill>
                  <a:srgbClr val="202020"/>
                </a:solidFill>
                <a:latin typeface="Calibri"/>
                <a:ea typeface="Calibri"/>
              </a:rPr>
              <a:t>•  7) testbaas: toodangu koopia, isikukoodid sees</a:t>
            </a:r>
          </a:p>
          <a:p>
            <a:pPr algn="l">
              <a:spcAft>
                <a:spcPts val="1000"/>
              </a:spcAft>
            </a:pPr>
            <a:r>
              <a:rPr sz="2000" b="0" i="0">
                <a:solidFill>
                  <a:srgbClr val="202020"/>
                </a:solidFill>
                <a:latin typeface="Calibri"/>
                <a:ea typeface="Calibri"/>
              </a:rPr>
              <a:t>•  8) Power BI allalaadimine Excelisse „ainult vaatamiseks“</a:t>
            </a:r>
          </a:p>
        </p:txBody>
      </p:sp>
      <p:sp>
        <p:nvSpPr>
          <p:cNvPr id="10" name="TextBox 9"/>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11" name="TextBox 10"/>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11 / 63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300" b="1" i="0">
                <a:solidFill>
                  <a:srgbClr val="6E6E6E"/>
                </a:solidFill>
                <a:latin typeface="Calibri"/>
                <a:ea typeface="Calibri"/>
              </a:rPr>
              <a:t>HARJUTUSE VASTUSED</a:t>
            </a:r>
          </a:p>
        </p:txBody>
      </p:sp>
      <p:sp>
        <p:nvSpPr>
          <p:cNvPr id="6" name="TextBox 5"/>
          <p:cNvSpPr txBox="1"/>
          <p:nvPr/>
        </p:nvSpPr>
        <p:spPr>
          <a:xfrm>
            <a:off x="502920" y="475488"/>
            <a:ext cx="11155680" cy="777240"/>
          </a:xfrm>
          <a:prstGeom prst="rect">
            <a:avLst/>
          </a:prstGeom>
          <a:noFill/>
        </p:spPr>
        <p:txBody>
          <a:bodyPr wrap="square" anchor="t"/>
          <a:lstStyle/>
          <a:p>
            <a:pPr algn="l"/>
            <a:r>
              <a:rPr sz="2800" b="1" i="0">
                <a:solidFill>
                  <a:srgbClr val="121212"/>
                </a:solidFill>
                <a:latin typeface="Calibri"/>
                <a:ea typeface="Calibri"/>
              </a:rPr>
              <a:t>Artefaktid — lühike lahendus</a:t>
            </a:r>
          </a:p>
        </p:txBody>
      </p:sp>
      <p:sp>
        <p:nvSpPr>
          <p:cNvPr id="7" name="TextBox 6"/>
          <p:cNvSpPr txBox="1"/>
          <p:nvPr/>
        </p:nvSpPr>
        <p:spPr>
          <a:xfrm>
            <a:off x="502920" y="1325880"/>
            <a:ext cx="11155680" cy="4937760"/>
          </a:xfrm>
          <a:prstGeom prst="rect">
            <a:avLst/>
          </a:prstGeom>
          <a:noFill/>
        </p:spPr>
        <p:txBody>
          <a:bodyPr wrap="square">
            <a:spAutoFit/>
          </a:bodyPr>
          <a:lstStyle/>
          <a:p>
            <a:pPr algn="l">
              <a:spcAft>
                <a:spcPts val="1200"/>
              </a:spcAft>
            </a:pPr>
            <a:r>
              <a:rPr sz="2000" b="0" i="0">
                <a:solidFill>
                  <a:srgbClr val="202020"/>
                </a:solidFill>
                <a:latin typeface="Calibri"/>
                <a:ea typeface="Calibri"/>
              </a:rPr>
              <a:t>•  1 jah · 2 tavaliselt ei, kui üheski ruudus ei ole n=1</a:t>
            </a:r>
          </a:p>
          <a:p>
            <a:pPr algn="l">
              <a:spcAft>
                <a:spcPts val="1200"/>
              </a:spcAft>
            </a:pPr>
            <a:r>
              <a:rPr sz="2000" b="0" i="0">
                <a:solidFill>
                  <a:srgbClr val="202020"/>
                </a:solidFill>
                <a:latin typeface="Calibri"/>
                <a:ea typeface="Calibri"/>
              </a:rPr>
              <a:t>•  3 jah — töötaja on tuvastatav; edetabel on isikuandmete töötlus</a:t>
            </a:r>
          </a:p>
          <a:p>
            <a:pPr algn="l">
              <a:spcAft>
                <a:spcPts val="1200"/>
              </a:spcAft>
            </a:pPr>
            <a:r>
              <a:rPr sz="2000" b="0" i="0">
                <a:solidFill>
                  <a:srgbClr val="202020"/>
                </a:solidFill>
                <a:latin typeface="Calibri"/>
                <a:ea typeface="Calibri"/>
              </a:rPr>
              <a:t>•  4 oleneb; IP + muu info või hilisem liitmine kontoga = jah</a:t>
            </a:r>
          </a:p>
          <a:p>
            <a:pPr algn="l">
              <a:spcAft>
                <a:spcPts val="1200"/>
              </a:spcAft>
            </a:pPr>
            <a:r>
              <a:rPr sz="2000" b="0" i="0">
                <a:solidFill>
                  <a:srgbClr val="202020"/>
                </a:solidFill>
                <a:latin typeface="Calibri"/>
                <a:ea typeface="Calibri"/>
              </a:rPr>
              <a:t>•  5 jah, ja võib olla eriliik (tervis), plus väike n</a:t>
            </a:r>
          </a:p>
          <a:p>
            <a:pPr algn="l">
              <a:spcAft>
                <a:spcPts val="1200"/>
              </a:spcAft>
            </a:pPr>
            <a:r>
              <a:rPr sz="2000" b="0" i="0">
                <a:solidFill>
                  <a:srgbClr val="202020"/>
                </a:solidFill>
                <a:latin typeface="Calibri"/>
                <a:ea typeface="Calibri"/>
              </a:rPr>
              <a:t>•  6 sageli jah — Eesti väike, amet+vald pudelikael</a:t>
            </a:r>
          </a:p>
          <a:p>
            <a:pPr algn="l">
              <a:spcAft>
                <a:spcPts val="1200"/>
              </a:spcAft>
            </a:pPr>
            <a:r>
              <a:rPr sz="2000" b="0" i="0">
                <a:solidFill>
                  <a:srgbClr val="202020"/>
                </a:solidFill>
                <a:latin typeface="Calibri"/>
                <a:ea typeface="Calibri"/>
              </a:rPr>
              <a:t>•  7 jah — test ei muuda andmeid mitteisikuteks</a:t>
            </a:r>
          </a:p>
          <a:p>
            <a:pPr algn="l">
              <a:spcAft>
                <a:spcPts val="1200"/>
              </a:spcAft>
            </a:pPr>
            <a:r>
              <a:rPr sz="2000" b="0" i="0">
                <a:solidFill>
                  <a:srgbClr val="202020"/>
                </a:solidFill>
                <a:latin typeface="Calibri"/>
                <a:ea typeface="Calibri"/>
              </a:rPr>
              <a:t>•  8 jah — allalaadimine on uus koopia ja uus kättesaadavus</a:t>
            </a:r>
          </a:p>
        </p:txBody>
      </p:sp>
      <p:sp>
        <p:nvSpPr>
          <p:cNvPr id="8" name="TextBox 7"/>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9" name="TextBox 8"/>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12 / 63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300" b="1" i="0">
                <a:solidFill>
                  <a:srgbClr val="6E6E6E"/>
                </a:solidFill>
                <a:latin typeface="Calibri"/>
                <a:ea typeface="Calibri"/>
              </a:rPr>
              <a:t>IKÜM artikkel 4 punkt 2</a:t>
            </a:r>
          </a:p>
        </p:txBody>
      </p:sp>
      <p:sp>
        <p:nvSpPr>
          <p:cNvPr id="6" name="TextBox 5"/>
          <p:cNvSpPr txBox="1"/>
          <p:nvPr/>
        </p:nvSpPr>
        <p:spPr>
          <a:xfrm>
            <a:off x="502920" y="475488"/>
            <a:ext cx="11155680" cy="777240"/>
          </a:xfrm>
          <a:prstGeom prst="rect">
            <a:avLst/>
          </a:prstGeom>
          <a:noFill/>
        </p:spPr>
        <p:txBody>
          <a:bodyPr wrap="square" anchor="t"/>
          <a:lstStyle/>
          <a:p>
            <a:pPr algn="l"/>
            <a:r>
              <a:rPr sz="2800" b="1" i="0">
                <a:solidFill>
                  <a:srgbClr val="121212"/>
                </a:solidFill>
                <a:latin typeface="Calibri"/>
                <a:ea typeface="Calibri"/>
              </a:rPr>
              <a:t>Töötlemine = teie tavaline tööpäev</a:t>
            </a:r>
          </a:p>
        </p:txBody>
      </p:sp>
      <p:sp>
        <p:nvSpPr>
          <p:cNvPr id="7" name="TextBox 6"/>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päring, sortimine, puhastus, imputeerimine, liitmine, agregatsioon</a:t>
            </a:r>
          </a:p>
          <a:p>
            <a:pPr algn="l">
              <a:spcAft>
                <a:spcPts val="1200"/>
              </a:spcAft>
            </a:pPr>
            <a:r>
              <a:rPr sz="2200" b="0" i="0">
                <a:solidFill>
                  <a:srgbClr val="202020"/>
                </a:solidFill>
                <a:latin typeface="Calibri"/>
                <a:ea typeface="Calibri"/>
              </a:rPr>
              <a:t>•  andmevoo käivitus, mudeli värskendus, cache, import</a:t>
            </a:r>
          </a:p>
          <a:p>
            <a:pPr algn="l">
              <a:spcAft>
                <a:spcPts val="1200"/>
              </a:spcAft>
            </a:pPr>
            <a:r>
              <a:rPr sz="2200" b="0" i="0">
                <a:solidFill>
                  <a:srgbClr val="202020"/>
                </a:solidFill>
                <a:latin typeface="Calibri"/>
                <a:ea typeface="Calibri"/>
              </a:rPr>
              <a:t>•  aruande avamine, jagamine, allalaadimine, ekraanipilt, saatmine</a:t>
            </a:r>
          </a:p>
          <a:p>
            <a:pPr algn="l">
              <a:spcAft>
                <a:spcPts val="1200"/>
              </a:spcAft>
            </a:pPr>
            <a:r>
              <a:rPr sz="2200" b="0" i="0">
                <a:solidFill>
                  <a:srgbClr val="202020"/>
                </a:solidFill>
                <a:latin typeface="Calibri"/>
                <a:ea typeface="Calibri"/>
              </a:rPr>
              <a:t>•  säilitamine järves, varukoopias, versiooniajaloos, prügikastis</a:t>
            </a:r>
          </a:p>
          <a:p>
            <a:pPr algn="l">
              <a:spcAft>
                <a:spcPts val="1200"/>
              </a:spcAft>
            </a:pPr>
            <a:r>
              <a:rPr sz="2200" b="0" i="0">
                <a:solidFill>
                  <a:srgbClr val="202020"/>
                </a:solidFill>
                <a:latin typeface="Calibri"/>
                <a:ea typeface="Calibri"/>
              </a:rPr>
              <a:t>•  kustutamine on ka töötlemine — ja peab päriselt ära kustutama</a:t>
            </a:r>
          </a:p>
        </p:txBody>
      </p:sp>
      <p:sp>
        <p:nvSpPr>
          <p:cNvPr id="8" name="TextBox 7"/>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9" name="TextBox 8"/>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13 / 63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640080"/>
          </a:xfrm>
          <a:prstGeom prst="rect">
            <a:avLst/>
          </a:prstGeom>
          <a:noFill/>
        </p:spPr>
        <p:txBody>
          <a:bodyPr wrap="square" anchor="t"/>
          <a:lstStyle/>
          <a:p>
            <a:pPr algn="l"/>
            <a:r>
              <a:rPr sz="2800" b="1" i="0">
                <a:solidFill>
                  <a:srgbClr val="121212"/>
                </a:solidFill>
                <a:latin typeface="Calibri"/>
                <a:ea typeface="Calibri"/>
              </a:rPr>
              <a:t>Kes on kes, kui teie avaldate aruande</a:t>
            </a:r>
          </a:p>
        </p:txBody>
      </p:sp>
      <p:sp>
        <p:nvSpPr>
          <p:cNvPr id="6" name="Rounded Rectangle 5"/>
          <p:cNvSpPr/>
          <p:nvPr/>
        </p:nvSpPr>
        <p:spPr>
          <a:xfrm>
            <a:off x="502920" y="1188720"/>
            <a:ext cx="2638044" cy="4937760"/>
          </a:xfrm>
          <a:prstGeom prst="round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316736"/>
            <a:ext cx="2308860" cy="365760"/>
          </a:xfrm>
          <a:prstGeom prst="rect">
            <a:avLst/>
          </a:prstGeom>
          <a:noFill/>
        </p:spPr>
        <p:txBody>
          <a:bodyPr wrap="square" anchor="t"/>
          <a:lstStyle/>
          <a:p>
            <a:pPr algn="l"/>
            <a:r>
              <a:rPr sz="1600" b="1" i="0">
                <a:solidFill>
                  <a:srgbClr val="121212"/>
                </a:solidFill>
                <a:latin typeface="Calibri"/>
                <a:ea typeface="Calibri"/>
              </a:rPr>
              <a:t>Andmesubjekt</a:t>
            </a:r>
          </a:p>
        </p:txBody>
      </p:sp>
      <p:sp>
        <p:nvSpPr>
          <p:cNvPr id="8" name="TextBox 7"/>
          <p:cNvSpPr txBox="1"/>
          <p:nvPr/>
        </p:nvSpPr>
        <p:spPr>
          <a:xfrm>
            <a:off x="667512" y="1664208"/>
            <a:ext cx="2308860" cy="4334256"/>
          </a:xfrm>
          <a:prstGeom prst="rect">
            <a:avLst/>
          </a:prstGeom>
          <a:noFill/>
        </p:spPr>
        <p:txBody>
          <a:bodyPr wrap="square" anchor="t"/>
          <a:lstStyle/>
          <a:p>
            <a:pPr algn="l"/>
            <a:r>
              <a:rPr sz="1400" b="0" i="0">
                <a:solidFill>
                  <a:srgbClr val="202020"/>
                </a:solidFill>
                <a:latin typeface="Calibri"/>
                <a:ea typeface="Calibri"/>
              </a:rPr>
              <a:t>Rida tabelis: klient, töötaja, õpilane, kasutaja.
Tema õigused kehtivad ka teie analüütika vastu.</a:t>
            </a:r>
          </a:p>
        </p:txBody>
      </p:sp>
      <p:sp>
        <p:nvSpPr>
          <p:cNvPr id="9" name="Rounded Rectangle 8"/>
          <p:cNvSpPr/>
          <p:nvPr/>
        </p:nvSpPr>
        <p:spPr>
          <a:xfrm>
            <a:off x="3342132" y="1188720"/>
            <a:ext cx="2638044" cy="4937760"/>
          </a:xfrm>
          <a:prstGeom prst="round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06724" y="1316736"/>
            <a:ext cx="2308860" cy="365760"/>
          </a:xfrm>
          <a:prstGeom prst="rect">
            <a:avLst/>
          </a:prstGeom>
          <a:noFill/>
        </p:spPr>
        <p:txBody>
          <a:bodyPr wrap="square" anchor="t"/>
          <a:lstStyle/>
          <a:p>
            <a:pPr algn="l"/>
            <a:r>
              <a:rPr sz="1600" b="1" i="0">
                <a:solidFill>
                  <a:srgbClr val="121212"/>
                </a:solidFill>
                <a:latin typeface="Calibri"/>
                <a:ea typeface="Calibri"/>
              </a:rPr>
              <a:t>Vastutav töötleja</a:t>
            </a:r>
          </a:p>
        </p:txBody>
      </p:sp>
      <p:sp>
        <p:nvSpPr>
          <p:cNvPr id="11" name="TextBox 10"/>
          <p:cNvSpPr txBox="1"/>
          <p:nvPr/>
        </p:nvSpPr>
        <p:spPr>
          <a:xfrm>
            <a:off x="3506724" y="1664208"/>
            <a:ext cx="2308860" cy="4334256"/>
          </a:xfrm>
          <a:prstGeom prst="rect">
            <a:avLst/>
          </a:prstGeom>
          <a:noFill/>
        </p:spPr>
        <p:txBody>
          <a:bodyPr wrap="square" anchor="t"/>
          <a:lstStyle/>
          <a:p>
            <a:pPr algn="l"/>
            <a:r>
              <a:rPr sz="1400" b="0" i="0">
                <a:solidFill>
                  <a:srgbClr val="202020"/>
                </a:solidFill>
                <a:latin typeface="Calibri"/>
                <a:ea typeface="Calibri"/>
              </a:rPr>
              <a:t>Asutus või ettevõte, kes otsustab miks ja kuidas.
Mitte teie isiklikult — aga teie otsused (keda lasta tööalasse) on tema nimel.</a:t>
            </a:r>
          </a:p>
        </p:txBody>
      </p:sp>
      <p:sp>
        <p:nvSpPr>
          <p:cNvPr id="12" name="Rounded Rectangle 11"/>
          <p:cNvSpPr/>
          <p:nvPr/>
        </p:nvSpPr>
        <p:spPr>
          <a:xfrm>
            <a:off x="6181344" y="1188720"/>
            <a:ext cx="2638044" cy="4937760"/>
          </a:xfrm>
          <a:prstGeom prst="round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5936" y="1316736"/>
            <a:ext cx="2308860" cy="365760"/>
          </a:xfrm>
          <a:prstGeom prst="rect">
            <a:avLst/>
          </a:prstGeom>
          <a:noFill/>
        </p:spPr>
        <p:txBody>
          <a:bodyPr wrap="square" anchor="t"/>
          <a:lstStyle/>
          <a:p>
            <a:pPr algn="l"/>
            <a:r>
              <a:rPr sz="1600" b="1" i="0">
                <a:solidFill>
                  <a:srgbClr val="121212"/>
                </a:solidFill>
                <a:latin typeface="Calibri"/>
                <a:ea typeface="Calibri"/>
              </a:rPr>
              <a:t>Volitatud töötleja</a:t>
            </a:r>
          </a:p>
        </p:txBody>
      </p:sp>
      <p:sp>
        <p:nvSpPr>
          <p:cNvPr id="14" name="TextBox 13"/>
          <p:cNvSpPr txBox="1"/>
          <p:nvPr/>
        </p:nvSpPr>
        <p:spPr>
          <a:xfrm>
            <a:off x="6345936" y="1664208"/>
            <a:ext cx="2308860" cy="4334256"/>
          </a:xfrm>
          <a:prstGeom prst="rect">
            <a:avLst/>
          </a:prstGeom>
          <a:noFill/>
        </p:spPr>
        <p:txBody>
          <a:bodyPr wrap="square" anchor="t"/>
          <a:lstStyle/>
          <a:p>
            <a:pPr algn="l"/>
            <a:r>
              <a:rPr sz="1400" b="0" i="0">
                <a:solidFill>
                  <a:srgbClr val="202020"/>
                </a:solidFill>
                <a:latin typeface="Calibri"/>
                <a:ea typeface="Calibri"/>
              </a:rPr>
              <a:t>Pilveteenus, Microsoft 365, lattuait, küsitluskeskkond, väline ETL.
Art 28 leping peab olema. Ärge visake CSV-d esimesele tööriistale.</a:t>
            </a:r>
          </a:p>
        </p:txBody>
      </p:sp>
      <p:sp>
        <p:nvSpPr>
          <p:cNvPr id="15" name="Rounded Rectangle 14"/>
          <p:cNvSpPr/>
          <p:nvPr/>
        </p:nvSpPr>
        <p:spPr>
          <a:xfrm>
            <a:off x="9020556" y="1188720"/>
            <a:ext cx="2638044" cy="4937760"/>
          </a:xfrm>
          <a:prstGeom prst="round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85148" y="1316736"/>
            <a:ext cx="2308860" cy="365760"/>
          </a:xfrm>
          <a:prstGeom prst="rect">
            <a:avLst/>
          </a:prstGeom>
          <a:noFill/>
        </p:spPr>
        <p:txBody>
          <a:bodyPr wrap="square" anchor="t"/>
          <a:lstStyle/>
          <a:p>
            <a:pPr algn="l"/>
            <a:r>
              <a:rPr sz="1600" b="1" i="0">
                <a:solidFill>
                  <a:srgbClr val="121212"/>
                </a:solidFill>
                <a:latin typeface="Calibri"/>
                <a:ea typeface="Calibri"/>
              </a:rPr>
              <a:t>Teie</a:t>
            </a:r>
          </a:p>
        </p:txBody>
      </p:sp>
      <p:sp>
        <p:nvSpPr>
          <p:cNvPr id="17" name="TextBox 16"/>
          <p:cNvSpPr txBox="1"/>
          <p:nvPr/>
        </p:nvSpPr>
        <p:spPr>
          <a:xfrm>
            <a:off x="9185148" y="1664208"/>
            <a:ext cx="2308860" cy="4334256"/>
          </a:xfrm>
          <a:prstGeom prst="rect">
            <a:avLst/>
          </a:prstGeom>
          <a:noFill/>
        </p:spPr>
        <p:txBody>
          <a:bodyPr wrap="square" anchor="t"/>
          <a:lstStyle/>
          <a:p>
            <a:pPr algn="l"/>
            <a:r>
              <a:rPr sz="1400" b="0" i="0">
                <a:solidFill>
                  <a:srgbClr val="202020"/>
                </a:solidFill>
                <a:latin typeface="Calibri"/>
                <a:ea typeface="Calibri"/>
              </a:rPr>
              <a:t>Töötaja otseses alluvuses.
Te ei ole „kolmas isik“. Te olete töötleja käsi. Hooletus jääb asutuse vastutuseks — ja teie tööjäljeks.</a:t>
            </a:r>
          </a:p>
        </p:txBody>
      </p:sp>
      <p:sp>
        <p:nvSpPr>
          <p:cNvPr id="18" name="TextBox 17"/>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19" name="TextBox 18"/>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14 / 63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300" b="1" i="0">
                <a:solidFill>
                  <a:srgbClr val="6E6E6E"/>
                </a:solidFill>
                <a:latin typeface="Calibri"/>
                <a:ea typeface="Calibri"/>
              </a:rPr>
              <a:t>IKÜM artikkel 6  ·  analüütika alus</a:t>
            </a:r>
          </a:p>
        </p:txBody>
      </p:sp>
      <p:sp>
        <p:nvSpPr>
          <p:cNvPr id="6" name="TextBox 5"/>
          <p:cNvSpPr txBox="1"/>
          <p:nvPr/>
        </p:nvSpPr>
        <p:spPr>
          <a:xfrm>
            <a:off x="502920" y="475488"/>
            <a:ext cx="11155680" cy="777240"/>
          </a:xfrm>
          <a:prstGeom prst="rect">
            <a:avLst/>
          </a:prstGeom>
          <a:noFill/>
        </p:spPr>
        <p:txBody>
          <a:bodyPr wrap="square" anchor="t"/>
          <a:lstStyle/>
          <a:p>
            <a:pPr algn="l"/>
            <a:r>
              <a:rPr sz="2800" b="1" i="0">
                <a:solidFill>
                  <a:srgbClr val="121212"/>
                </a:solidFill>
                <a:latin typeface="Calibri"/>
                <a:ea typeface="Calibri"/>
              </a:rPr>
              <a:t>„Juht tahab dashboardi“ ei ole õiguslik alus</a:t>
            </a:r>
          </a:p>
        </p:txBody>
      </p:sp>
      <p:sp>
        <p:nvSpPr>
          <p:cNvPr id="7" name="TextBox 6"/>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leping: ainult andmed, ilma milleta teenust/töösuhet ei saa täita</a:t>
            </a:r>
          </a:p>
          <a:p>
            <a:pPr algn="l">
              <a:spcAft>
                <a:spcPts val="1200"/>
              </a:spcAft>
            </a:pPr>
            <a:r>
              <a:rPr sz="2200" b="0" i="0">
                <a:solidFill>
                  <a:srgbClr val="202020"/>
                </a:solidFill>
                <a:latin typeface="Calibri"/>
                <a:ea typeface="Calibri"/>
              </a:rPr>
              <a:t>•  juriidiline kohustus: seadus nõuab aruannet (maks, tervisekassa, haridus)</a:t>
            </a:r>
          </a:p>
          <a:p>
            <a:pPr algn="l">
              <a:spcAft>
                <a:spcPts val="1200"/>
              </a:spcAft>
            </a:pPr>
            <a:r>
              <a:rPr sz="2200" b="0" i="0">
                <a:solidFill>
                  <a:srgbClr val="202020"/>
                </a:solidFill>
                <a:latin typeface="Calibri"/>
                <a:ea typeface="Calibri"/>
              </a:rPr>
              <a:t>•  avalik ülesanne: asutus täidab seaduses antud ülesannet</a:t>
            </a:r>
          </a:p>
          <a:p>
            <a:pPr algn="l">
              <a:spcAft>
                <a:spcPts val="1200"/>
              </a:spcAft>
            </a:pPr>
            <a:r>
              <a:rPr sz="2200" b="0" i="0">
                <a:solidFill>
                  <a:srgbClr val="202020"/>
                </a:solidFill>
                <a:latin typeface="Calibri"/>
                <a:ea typeface="Calibri"/>
              </a:rPr>
              <a:t>•  õigustatud huvi: sage eraettevõtte analüütikas — vajab kaalumist ja dokumenti</a:t>
            </a:r>
          </a:p>
          <a:p>
            <a:pPr algn="l">
              <a:spcAft>
                <a:spcPts val="1200"/>
              </a:spcAft>
            </a:pPr>
            <a:r>
              <a:rPr sz="2200" b="0" i="0">
                <a:solidFill>
                  <a:srgbClr val="202020"/>
                </a:solidFill>
                <a:latin typeface="Calibri"/>
                <a:ea typeface="Calibri"/>
              </a:rPr>
              <a:t>•  nõusolek: harva hea alus sisemisele BI-le; peab olema vaba ja tagasivõetav</a:t>
            </a:r>
          </a:p>
          <a:p>
            <a:pPr algn="l">
              <a:spcAft>
                <a:spcPts val="1200"/>
              </a:spcAft>
            </a:pPr>
            <a:r>
              <a:rPr sz="2200" b="0" i="0">
                <a:solidFill>
                  <a:srgbClr val="202020"/>
                </a:solidFill>
                <a:latin typeface="Calibri"/>
                <a:ea typeface="Calibri"/>
              </a:rPr>
              <a:t>•  uus liitmine / uus profiil = kontrolli, kas vana alus katab uue eesmärgi</a:t>
            </a:r>
          </a:p>
        </p:txBody>
      </p:sp>
      <p:sp>
        <p:nvSpPr>
          <p:cNvPr id="8" name="TextBox 7"/>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9" name="TextBox 8"/>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15 / 63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300" b="1" i="0">
                <a:solidFill>
                  <a:srgbClr val="6E6E6E"/>
                </a:solidFill>
                <a:latin typeface="Calibri"/>
                <a:ea typeface="Calibri"/>
              </a:rPr>
              <a:t>IKÜM artikkel 9  ·  teie kuubikus</a:t>
            </a:r>
          </a:p>
        </p:txBody>
      </p:sp>
      <p:sp>
        <p:nvSpPr>
          <p:cNvPr id="6" name="TextBox 5"/>
          <p:cNvSpPr txBox="1"/>
          <p:nvPr/>
        </p:nvSpPr>
        <p:spPr>
          <a:xfrm>
            <a:off x="502920" y="475488"/>
            <a:ext cx="11155680" cy="777240"/>
          </a:xfrm>
          <a:prstGeom prst="rect">
            <a:avLst/>
          </a:prstGeom>
          <a:noFill/>
        </p:spPr>
        <p:txBody>
          <a:bodyPr wrap="square" anchor="t"/>
          <a:lstStyle/>
          <a:p>
            <a:pPr algn="l"/>
            <a:r>
              <a:rPr sz="2800" b="1" i="0">
                <a:solidFill>
                  <a:srgbClr val="121212"/>
                </a:solidFill>
                <a:latin typeface="Calibri"/>
                <a:ea typeface="Calibri"/>
              </a:rPr>
              <a:t>Eriliik ei ole ainult „haigla andmebaas“</a:t>
            </a:r>
          </a:p>
        </p:txBody>
      </p:sp>
      <p:sp>
        <p:nvSpPr>
          <p:cNvPr id="7" name="TextBox 6"/>
          <p:cNvSpPr txBox="1"/>
          <p:nvPr/>
        </p:nvSpPr>
        <p:spPr>
          <a:xfrm>
            <a:off x="502920" y="1325880"/>
            <a:ext cx="11155680" cy="4160520"/>
          </a:xfrm>
          <a:prstGeom prst="rect">
            <a:avLst/>
          </a:prstGeom>
          <a:noFill/>
        </p:spPr>
        <p:txBody>
          <a:bodyPr wrap="square">
            <a:spAutoFit/>
          </a:bodyPr>
          <a:lstStyle/>
          <a:p>
            <a:pPr algn="l">
              <a:spcAft>
                <a:spcPts val="1200"/>
              </a:spcAft>
            </a:pPr>
            <a:r>
              <a:rPr sz="2200" b="0" i="0">
                <a:solidFill>
                  <a:srgbClr val="202020"/>
                </a:solidFill>
                <a:latin typeface="Calibri"/>
                <a:ea typeface="Calibri"/>
              </a:rPr>
              <a:t>•  tervis: diagnoos, ravim, apteegi ostuajalugu, haigusleht, erivajadus</a:t>
            </a:r>
          </a:p>
          <a:p>
            <a:pPr algn="l">
              <a:spcAft>
                <a:spcPts val="1200"/>
              </a:spcAft>
            </a:pPr>
            <a:r>
              <a:rPr sz="2200" b="0" i="0">
                <a:solidFill>
                  <a:srgbClr val="202020"/>
                </a:solidFill>
                <a:latin typeface="Calibri"/>
                <a:ea typeface="Calibri"/>
              </a:rPr>
              <a:t>•  biomeetria: näotuvastus uksel, hääl, sõrmejälg — ka logides</a:t>
            </a:r>
          </a:p>
          <a:p>
            <a:pPr algn="l">
              <a:spcAft>
                <a:spcPts val="1200"/>
              </a:spcAft>
            </a:pPr>
            <a:r>
              <a:rPr sz="2200" b="0" i="0">
                <a:solidFill>
                  <a:srgbClr val="202020"/>
                </a:solidFill>
                <a:latin typeface="Calibri"/>
                <a:ea typeface="Calibri"/>
              </a:rPr>
              <a:t>•  usk, ametiühing, poliitika, seksuaalelu — ärge koguge „igaks juhuks“</a:t>
            </a:r>
          </a:p>
          <a:p>
            <a:pPr algn="l">
              <a:spcAft>
                <a:spcPts val="1200"/>
              </a:spcAft>
            </a:pPr>
            <a:r>
              <a:rPr sz="2200" b="0" i="0">
                <a:solidFill>
                  <a:srgbClr val="202020"/>
                </a:solidFill>
                <a:latin typeface="Calibri"/>
                <a:ea typeface="Calibri"/>
              </a:rPr>
              <a:t>•  vaba tekst (märkused, pileti sisu, vestlus) on eriliigi tagauks</a:t>
            </a:r>
          </a:p>
          <a:p>
            <a:pPr algn="l">
              <a:spcAft>
                <a:spcPts val="1200"/>
              </a:spcAft>
            </a:pPr>
            <a:r>
              <a:rPr sz="2200" b="0" i="0">
                <a:solidFill>
                  <a:srgbClr val="202020"/>
                </a:solidFill>
                <a:latin typeface="Calibri"/>
                <a:ea typeface="Calibri"/>
              </a:rPr>
              <a:t>•  reegel on keeld; analüüs ainult tugeva erandi ja rangema turvega</a:t>
            </a:r>
          </a:p>
        </p:txBody>
      </p:sp>
      <p:sp>
        <p:nvSpPr>
          <p:cNvPr id="8" name="Rounded Rectangle 7"/>
          <p:cNvSpPr/>
          <p:nvPr/>
        </p:nvSpPr>
        <p:spPr>
          <a:xfrm>
            <a:off x="502920" y="5623560"/>
            <a:ext cx="11155680" cy="777240"/>
          </a:xfrm>
          <a:prstGeom prst="round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742432"/>
            <a:ext cx="10789920" cy="548640"/>
          </a:xfrm>
          <a:prstGeom prst="rect">
            <a:avLst/>
          </a:prstGeom>
          <a:noFill/>
        </p:spPr>
        <p:txBody>
          <a:bodyPr wrap="square" anchor="t"/>
          <a:lstStyle/>
          <a:p>
            <a:pPr algn="l"/>
            <a:r>
              <a:rPr sz="1600" b="1" i="0">
                <a:solidFill>
                  <a:srgbClr val="121212"/>
                </a:solidFill>
                <a:latin typeface="Calibri"/>
                <a:ea typeface="Calibri"/>
              </a:rPr>
              <a:t>Kui näete tervist, puudumise põhjust või näotuvastust — peatuge.</a:t>
            </a:r>
          </a:p>
        </p:txBody>
      </p:sp>
      <p:sp>
        <p:nvSpPr>
          <p:cNvPr id="10" name="TextBox 9"/>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11" name="TextBox 10"/>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16 / 63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300" b="1" i="0">
                <a:solidFill>
                  <a:srgbClr val="6E6E6E"/>
                </a:solidFill>
                <a:latin typeface="Calibri"/>
                <a:ea typeface="Calibri"/>
              </a:rPr>
              <a:t>IKÜM artiklid 12–22  ·  teie andmekaart</a:t>
            </a:r>
          </a:p>
        </p:txBody>
      </p:sp>
      <p:sp>
        <p:nvSpPr>
          <p:cNvPr id="6" name="TextBox 5"/>
          <p:cNvSpPr txBox="1"/>
          <p:nvPr/>
        </p:nvSpPr>
        <p:spPr>
          <a:xfrm>
            <a:off x="502920" y="475488"/>
            <a:ext cx="11155680" cy="777240"/>
          </a:xfrm>
          <a:prstGeom prst="rect">
            <a:avLst/>
          </a:prstGeom>
          <a:noFill/>
        </p:spPr>
        <p:txBody>
          <a:bodyPr wrap="square" anchor="t"/>
          <a:lstStyle/>
          <a:p>
            <a:pPr algn="l"/>
            <a:r>
              <a:rPr sz="2800" b="1" i="0">
                <a:solidFill>
                  <a:srgbClr val="121212"/>
                </a:solidFill>
                <a:latin typeface="Calibri"/>
                <a:ea typeface="Calibri"/>
              </a:rPr>
              <a:t>Inimene küsib oma andmeid — kas teie järv oskab vastata?</a:t>
            </a:r>
          </a:p>
        </p:txBody>
      </p:sp>
      <p:sp>
        <p:nvSpPr>
          <p:cNvPr id="7" name="TextBox 6"/>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juurdepääs: „mis andmeid te minust peate?“  ·  vastus üldjuhul 1 kuu</a:t>
            </a:r>
          </a:p>
          <a:p>
            <a:pPr algn="l">
              <a:spcAft>
                <a:spcPts val="1200"/>
              </a:spcAft>
            </a:pPr>
            <a:r>
              <a:rPr sz="2200" b="0" i="0">
                <a:solidFill>
                  <a:srgbClr val="202020"/>
                </a:solidFill>
                <a:latin typeface="Calibri"/>
                <a:ea typeface="Calibri"/>
              </a:rPr>
              <a:t>•  parandamine ja kustutamine peavad jõudma koopiatesse, mitte ainult allikasse</a:t>
            </a:r>
          </a:p>
          <a:p>
            <a:pPr algn="l">
              <a:spcAft>
                <a:spcPts val="1200"/>
              </a:spcAft>
            </a:pPr>
            <a:r>
              <a:rPr sz="2200" b="0" i="0">
                <a:solidFill>
                  <a:srgbClr val="202020"/>
                </a:solidFill>
                <a:latin typeface="Calibri"/>
                <a:ea typeface="Calibri"/>
              </a:rPr>
              <a:t>•  vastuväide otseturundusele / õigustatud huvile — mudel peab oskama välja jätta</a:t>
            </a:r>
          </a:p>
          <a:p>
            <a:pPr algn="l">
              <a:spcAft>
                <a:spcPts val="1200"/>
              </a:spcAft>
            </a:pPr>
            <a:r>
              <a:rPr sz="2200" b="0" i="0">
                <a:solidFill>
                  <a:srgbClr val="202020"/>
                </a:solidFill>
                <a:latin typeface="Calibri"/>
                <a:ea typeface="Calibri"/>
              </a:rPr>
              <a:t>•  automatiseeritud otsus (skoor, keeld) — erireeglid, kui inimeseta</a:t>
            </a:r>
          </a:p>
          <a:p>
            <a:pPr algn="l">
              <a:spcAft>
                <a:spcPts val="1200"/>
              </a:spcAft>
            </a:pPr>
            <a:r>
              <a:rPr sz="2200" b="0" i="0">
                <a:solidFill>
                  <a:srgbClr val="202020"/>
                </a:solidFill>
                <a:latin typeface="Calibri"/>
                <a:ea typeface="Calibri"/>
              </a:rPr>
              <a:t>•  kui teie ei tea, kus read elavad, ei suuda asutus õigust täita</a:t>
            </a:r>
          </a:p>
        </p:txBody>
      </p:sp>
      <p:sp>
        <p:nvSpPr>
          <p:cNvPr id="8" name="TextBox 7"/>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9" name="TextBox 8"/>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17 / 63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300" b="1" i="0">
                <a:solidFill>
                  <a:srgbClr val="6E6E6E"/>
                </a:solidFill>
                <a:latin typeface="Calibri"/>
                <a:ea typeface="Calibri"/>
              </a:rPr>
              <a:t>IKÜM art 33–34  ·  teie tööala ja kaust</a:t>
            </a:r>
          </a:p>
        </p:txBody>
      </p:sp>
      <p:sp>
        <p:nvSpPr>
          <p:cNvPr id="6" name="TextBox 5"/>
          <p:cNvSpPr txBox="1"/>
          <p:nvPr/>
        </p:nvSpPr>
        <p:spPr>
          <a:xfrm>
            <a:off x="502920" y="475488"/>
            <a:ext cx="11155680" cy="777240"/>
          </a:xfrm>
          <a:prstGeom prst="rect">
            <a:avLst/>
          </a:prstGeom>
          <a:noFill/>
        </p:spPr>
        <p:txBody>
          <a:bodyPr wrap="square" anchor="t"/>
          <a:lstStyle/>
          <a:p>
            <a:pPr algn="l"/>
            <a:r>
              <a:rPr sz="2800" b="1" i="0">
                <a:solidFill>
                  <a:srgbClr val="121212"/>
                </a:solidFill>
                <a:latin typeface="Calibri"/>
                <a:ea typeface="Calibri"/>
              </a:rPr>
              <a:t>Leke andmetöös ei ole ainult häkkimine</a:t>
            </a:r>
          </a:p>
        </p:txBody>
      </p:sp>
      <p:sp>
        <p:nvSpPr>
          <p:cNvPr id="7" name="TextBox 6"/>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vale tööala, „kõik kellel on link“, vale e-posti aadress, printer, ekraanipilt</a:t>
            </a:r>
          </a:p>
          <a:p>
            <a:pPr algn="l">
              <a:spcAft>
                <a:spcPts val="1200"/>
              </a:spcAft>
            </a:pPr>
            <a:r>
              <a:rPr sz="2200" b="0" i="0">
                <a:solidFill>
                  <a:srgbClr val="202020"/>
                </a:solidFill>
                <a:latin typeface="Calibri"/>
                <a:ea typeface="Calibri"/>
              </a:rPr>
              <a:t>•  kadunud sülearvuti, lunavara, vale RLS, testbaas avatud liiga laiale ringile</a:t>
            </a:r>
          </a:p>
          <a:p>
            <a:pPr algn="l">
              <a:spcAft>
                <a:spcPts val="1200"/>
              </a:spcAft>
            </a:pPr>
            <a:r>
              <a:rPr sz="2200" b="0" i="0">
                <a:solidFill>
                  <a:srgbClr val="202020"/>
                </a:solidFill>
                <a:latin typeface="Calibri"/>
                <a:ea typeface="Calibri"/>
              </a:rPr>
              <a:t>•  kui oht inimesele: teavita AKI-t viivitamata, võimaluse korral 72 h teadasaamisest</a:t>
            </a:r>
          </a:p>
          <a:p>
            <a:pPr algn="l">
              <a:spcAft>
                <a:spcPts val="1200"/>
              </a:spcAft>
            </a:pPr>
            <a:r>
              <a:rPr sz="2200" b="0" i="0">
                <a:solidFill>
                  <a:srgbClr val="202020"/>
                </a:solidFill>
                <a:latin typeface="Calibri"/>
                <a:ea typeface="Calibri"/>
              </a:rPr>
              <a:t>•  kõrge oht (tervis, isikukoodid, palgad) — teavita ka inimesi</a:t>
            </a:r>
          </a:p>
          <a:p>
            <a:pPr algn="l">
              <a:spcAft>
                <a:spcPts val="1200"/>
              </a:spcAft>
            </a:pPr>
            <a:r>
              <a:rPr sz="2200" b="0" i="0">
                <a:solidFill>
                  <a:srgbClr val="202020"/>
                </a:solidFill>
                <a:latin typeface="Calibri"/>
                <a:ea typeface="Calibri"/>
              </a:rPr>
              <a:t>•  öelge kohe juhile ja DPO-le; ärge „parandage vaikselt“ üle nädalavahetuse</a:t>
            </a:r>
          </a:p>
        </p:txBody>
      </p:sp>
      <p:sp>
        <p:nvSpPr>
          <p:cNvPr id="8" name="TextBox 7"/>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9" name="TextBox 8"/>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18 / 63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300" b="1" i="0">
                <a:solidFill>
                  <a:srgbClr val="6E6E6E"/>
                </a:solidFill>
                <a:latin typeface="Calibri"/>
                <a:ea typeface="Calibri"/>
              </a:rPr>
              <a:t>NÄIDE EESTIST  ·  AKI 2025, kohus 2026</a:t>
            </a:r>
          </a:p>
        </p:txBody>
      </p:sp>
      <p:sp>
        <p:nvSpPr>
          <p:cNvPr id="6" name="TextBox 5"/>
          <p:cNvSpPr txBox="1"/>
          <p:nvPr/>
        </p:nvSpPr>
        <p:spPr>
          <a:xfrm>
            <a:off x="502920" y="475488"/>
            <a:ext cx="11155680" cy="777240"/>
          </a:xfrm>
          <a:prstGeom prst="rect">
            <a:avLst/>
          </a:prstGeom>
          <a:noFill/>
        </p:spPr>
        <p:txBody>
          <a:bodyPr wrap="square" anchor="t"/>
          <a:lstStyle/>
          <a:p>
            <a:pPr algn="l"/>
            <a:r>
              <a:rPr sz="2800" b="1" i="0">
                <a:solidFill>
                  <a:srgbClr val="121212"/>
                </a:solidFill>
                <a:latin typeface="Calibri"/>
                <a:ea typeface="Calibri"/>
              </a:rPr>
              <a:t>Allium UPI / Apotheka — õppetunnid teie rollile</a:t>
            </a:r>
          </a:p>
        </p:txBody>
      </p:sp>
      <p:sp>
        <p:nvSpPr>
          <p:cNvPr id="7" name="TextBox 6"/>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üle 750 000 inimese; ostuajalugu kui võimalik terviseandmed</a:t>
            </a:r>
          </a:p>
          <a:p>
            <a:pPr algn="l">
              <a:spcAft>
                <a:spcPts val="1200"/>
              </a:spcAft>
            </a:pPr>
            <a:r>
              <a:rPr sz="2200" b="0" i="0">
                <a:solidFill>
                  <a:srgbClr val="202020"/>
                </a:solidFill>
                <a:latin typeface="Calibri"/>
                <a:ea typeface="Calibri"/>
              </a:rPr>
              <a:t>•  vanad varukoopiad + nõrk hügieen (jagatud paroolid, nõrk logimine)</a:t>
            </a:r>
          </a:p>
          <a:p>
            <a:pPr algn="l">
              <a:spcAft>
                <a:spcPts val="1200"/>
              </a:spcAft>
            </a:pPr>
            <a:r>
              <a:rPr sz="2200" b="0" i="0">
                <a:solidFill>
                  <a:srgbClr val="202020"/>
                </a:solidFill>
                <a:latin typeface="Calibri"/>
                <a:ea typeface="Calibri"/>
              </a:rPr>
              <a:t>•  AKI: muu hulgas art 5 konfidentsiaalsus, art 25 lõimitud/vaikimisi, art 32 turve</a:t>
            </a:r>
          </a:p>
          <a:p>
            <a:pPr algn="l">
              <a:spcAft>
                <a:spcPts val="1200"/>
              </a:spcAft>
            </a:pPr>
            <a:r>
              <a:rPr sz="2200" b="0" i="0">
                <a:solidFill>
                  <a:srgbClr val="202020"/>
                </a:solidFill>
                <a:latin typeface="Calibri"/>
                <a:ea typeface="Calibri"/>
              </a:rPr>
              <a:t>•  3 mln € trahv; 2026 Harju maakohus jättis jõusse (vaidlus võib jätkuda)</a:t>
            </a:r>
          </a:p>
          <a:p>
            <a:pPr algn="l">
              <a:spcAft>
                <a:spcPts val="1200"/>
              </a:spcAft>
            </a:pPr>
            <a:r>
              <a:rPr sz="2200" b="0" i="0">
                <a:solidFill>
                  <a:srgbClr val="202020"/>
                </a:solidFill>
                <a:latin typeface="Calibri"/>
                <a:ea typeface="Calibri"/>
              </a:rPr>
              <a:t>•  teie tõlge: unustatud koopia, eriliik, liiga laiad õigused, puuduv jälg</a:t>
            </a:r>
          </a:p>
        </p:txBody>
      </p:sp>
      <p:sp>
        <p:nvSpPr>
          <p:cNvPr id="8" name="TextBox 7"/>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9" name="TextBox 8"/>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19 / 63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300" b="1" i="0">
                <a:solidFill>
                  <a:srgbClr val="6E6E6E"/>
                </a:solidFill>
                <a:latin typeface="Calibri"/>
                <a:ea typeface="Calibri"/>
              </a:rPr>
              <a:t>OSA I  ·  KOKKUVÕTE</a:t>
            </a:r>
          </a:p>
        </p:txBody>
      </p:sp>
      <p:sp>
        <p:nvSpPr>
          <p:cNvPr id="6" name="TextBox 5"/>
          <p:cNvSpPr txBox="1"/>
          <p:nvPr/>
        </p:nvSpPr>
        <p:spPr>
          <a:xfrm>
            <a:off x="502920" y="475488"/>
            <a:ext cx="11155680" cy="777240"/>
          </a:xfrm>
          <a:prstGeom prst="rect">
            <a:avLst/>
          </a:prstGeom>
          <a:noFill/>
        </p:spPr>
        <p:txBody>
          <a:bodyPr wrap="square" anchor="t"/>
          <a:lstStyle/>
          <a:p>
            <a:pPr algn="l"/>
            <a:r>
              <a:rPr sz="2800" b="1" i="0">
                <a:solidFill>
                  <a:srgbClr val="121212"/>
                </a:solidFill>
                <a:latin typeface="Calibri"/>
                <a:ea typeface="Calibri"/>
              </a:rPr>
              <a:t>Seadus teie laual, kuues lauses</a:t>
            </a:r>
          </a:p>
        </p:txBody>
      </p:sp>
      <p:sp>
        <p:nvSpPr>
          <p:cNvPr id="7" name="TextBox 6"/>
          <p:cNvSpPr txBox="1"/>
          <p:nvPr/>
        </p:nvSpPr>
        <p:spPr>
          <a:xfrm>
            <a:off x="502920" y="1325880"/>
            <a:ext cx="11155680" cy="4160520"/>
          </a:xfrm>
          <a:prstGeom prst="rect">
            <a:avLst/>
          </a:prstGeom>
          <a:noFill/>
        </p:spPr>
        <p:txBody>
          <a:bodyPr wrap="square">
            <a:spAutoFit/>
          </a:bodyPr>
          <a:lstStyle/>
          <a:p>
            <a:pPr algn="l">
              <a:spcAft>
                <a:spcPts val="1200"/>
              </a:spcAft>
            </a:pPr>
            <a:r>
              <a:rPr sz="2200" b="0" i="0">
                <a:solidFill>
                  <a:srgbClr val="202020"/>
                </a:solidFill>
                <a:latin typeface="Calibri"/>
                <a:ea typeface="Calibri"/>
              </a:rPr>
              <a:t>•  IKÜM kehtib otse ka „ainult analüüsile“; IKS täiendab; AKI valvab</a:t>
            </a:r>
          </a:p>
          <a:p>
            <a:pPr algn="l">
              <a:spcAft>
                <a:spcPts val="1200"/>
              </a:spcAft>
            </a:pPr>
            <a:r>
              <a:rPr sz="2200" b="0" i="0">
                <a:solidFill>
                  <a:srgbClr val="202020"/>
                </a:solidFill>
                <a:latin typeface="Calibri"/>
                <a:ea typeface="Calibri"/>
              </a:rPr>
              <a:t>•  võti, logi, n=1 ja liitmine võivad olla isikuandmed</a:t>
            </a:r>
          </a:p>
          <a:p>
            <a:pPr algn="l">
              <a:spcAft>
                <a:spcPts val="1200"/>
              </a:spcAft>
            </a:pPr>
            <a:r>
              <a:rPr sz="2200" b="0" i="0">
                <a:solidFill>
                  <a:srgbClr val="202020"/>
                </a:solidFill>
                <a:latin typeface="Calibri"/>
                <a:ea typeface="Calibri"/>
              </a:rPr>
              <a:t>•  päring, värskendus, jagamine, koopia, kustutus = töötlemine</a:t>
            </a:r>
          </a:p>
          <a:p>
            <a:pPr algn="l">
              <a:spcAft>
                <a:spcPts val="1200"/>
              </a:spcAft>
            </a:pPr>
            <a:r>
              <a:rPr sz="2200" b="0" i="0">
                <a:solidFill>
                  <a:srgbClr val="202020"/>
                </a:solidFill>
                <a:latin typeface="Calibri"/>
                <a:ea typeface="Calibri"/>
              </a:rPr>
              <a:t>•  asutus on vastutav; teie olete käsi; pilv on tihti volitatud töötleja</a:t>
            </a:r>
          </a:p>
          <a:p>
            <a:pPr algn="l">
              <a:spcAft>
                <a:spcPts val="1200"/>
              </a:spcAft>
            </a:pPr>
            <a:r>
              <a:rPr sz="2200" b="0" i="0">
                <a:solidFill>
                  <a:srgbClr val="202020"/>
                </a:solidFill>
                <a:latin typeface="Calibri"/>
                <a:ea typeface="Calibri"/>
              </a:rPr>
              <a:t>•  dashboardi soov vajab artikli 6 alust; eriliik on pidur</a:t>
            </a:r>
          </a:p>
          <a:p>
            <a:pPr algn="l">
              <a:spcAft>
                <a:spcPts val="1200"/>
              </a:spcAft>
            </a:pPr>
            <a:r>
              <a:rPr sz="2200" b="0" i="0">
                <a:solidFill>
                  <a:srgbClr val="202020"/>
                </a:solidFill>
                <a:latin typeface="Calibri"/>
                <a:ea typeface="Calibri"/>
              </a:rPr>
              <a:t>•  kui te ei tea, kus read elavad, ei saa te õigusi ega 72 tundi pidada</a:t>
            </a:r>
          </a:p>
        </p:txBody>
      </p:sp>
      <p:sp>
        <p:nvSpPr>
          <p:cNvPr id="8" name="Rounded Rectangle 7"/>
          <p:cNvSpPr/>
          <p:nvPr/>
        </p:nvSpPr>
        <p:spPr>
          <a:xfrm>
            <a:off x="502920" y="5623560"/>
            <a:ext cx="11155680" cy="777240"/>
          </a:xfrm>
          <a:prstGeom prst="round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742432"/>
            <a:ext cx="10789920" cy="548640"/>
          </a:xfrm>
          <a:prstGeom prst="rect">
            <a:avLst/>
          </a:prstGeom>
          <a:noFill/>
        </p:spPr>
        <p:txBody>
          <a:bodyPr wrap="square" anchor="t"/>
          <a:lstStyle/>
          <a:p>
            <a:pPr algn="l"/>
            <a:r>
              <a:rPr sz="1600" b="1" i="0">
                <a:solidFill>
                  <a:srgbClr val="121212"/>
                </a:solidFill>
                <a:latin typeface="Calibri"/>
                <a:ea typeface="Calibri"/>
              </a:rPr>
              <a:t>Pärast pausi: seitse põhimõtet kui SQL-i, mudeli ja jagamise kontrollnimekiri.</a:t>
            </a:r>
          </a:p>
        </p:txBody>
      </p:sp>
      <p:sp>
        <p:nvSpPr>
          <p:cNvPr id="10" name="TextBox 9"/>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11" name="TextBox 10"/>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20 / 63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10972800" cy="1097280"/>
          </a:xfrm>
          <a:prstGeom prst="rect">
            <a:avLst/>
          </a:prstGeom>
          <a:noFill/>
        </p:spPr>
        <p:txBody>
          <a:bodyPr wrap="square" anchor="t"/>
          <a:lstStyle/>
          <a:p>
            <a:pPr algn="l"/>
            <a:r>
              <a:rPr sz="4400" b="1" i="0">
                <a:solidFill>
                  <a:srgbClr val="121212"/>
                </a:solidFill>
                <a:latin typeface="Calibri"/>
                <a:ea typeface="Calibri"/>
              </a:rPr>
              <a:t>Paus  ·  10 minutit</a:t>
            </a:r>
          </a:p>
        </p:txBody>
      </p:sp>
      <p:sp>
        <p:nvSpPr>
          <p:cNvPr id="5" name="TextBox 4"/>
          <p:cNvSpPr txBox="1"/>
          <p:nvPr/>
        </p:nvSpPr>
        <p:spPr>
          <a:xfrm>
            <a:off x="640080" y="3474720"/>
            <a:ext cx="10972800" cy="914400"/>
          </a:xfrm>
          <a:prstGeom prst="rect">
            <a:avLst/>
          </a:prstGeom>
          <a:noFill/>
        </p:spPr>
        <p:txBody>
          <a:bodyPr wrap="square" anchor="t"/>
          <a:lstStyle/>
          <a:p>
            <a:pPr algn="l"/>
            <a:r>
              <a:rPr sz="2000" b="0" i="0">
                <a:solidFill>
                  <a:srgbClr val="202020"/>
                </a:solidFill>
                <a:latin typeface="Calibri"/>
                <a:ea typeface="Calibri"/>
              </a:rPr>
              <a:t>Järgmine: seitse põhimõtet SQL-is, mudelis, aruandes ja jagamises.</a:t>
            </a:r>
          </a:p>
        </p:txBody>
      </p:sp>
      <p:sp>
        <p:nvSpPr>
          <p:cNvPr id="6" name="TextBox 5"/>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7" name="TextBox 6"/>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21 / 63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972800" cy="365760"/>
          </a:xfrm>
          <a:prstGeom prst="rect">
            <a:avLst/>
          </a:prstGeom>
          <a:noFill/>
        </p:spPr>
        <p:txBody>
          <a:bodyPr wrap="square" anchor="t"/>
          <a:lstStyle/>
          <a:p>
            <a:pPr algn="l"/>
            <a:r>
              <a:rPr sz="1600" b="1" i="0">
                <a:solidFill>
                  <a:srgbClr val="121212"/>
                </a:solidFill>
                <a:latin typeface="Calibri"/>
                <a:ea typeface="Calibri"/>
              </a:rPr>
              <a:t>OSA II  ·  umbes 40 minutit</a:t>
            </a:r>
          </a:p>
        </p:txBody>
      </p:sp>
      <p:sp>
        <p:nvSpPr>
          <p:cNvPr id="5" name="TextBox 4"/>
          <p:cNvSpPr txBox="1"/>
          <p:nvPr/>
        </p:nvSpPr>
        <p:spPr>
          <a:xfrm>
            <a:off x="640080" y="2011680"/>
            <a:ext cx="10972800" cy="2011680"/>
          </a:xfrm>
          <a:prstGeom prst="rect">
            <a:avLst/>
          </a:prstGeom>
          <a:noFill/>
        </p:spPr>
        <p:txBody>
          <a:bodyPr wrap="square" anchor="t"/>
          <a:lstStyle/>
          <a:p>
            <a:pPr algn="l"/>
            <a:r>
              <a:rPr sz="3600" b="1" i="0">
                <a:solidFill>
                  <a:srgbClr val="121212"/>
                </a:solidFill>
                <a:latin typeface="Calibri"/>
                <a:ea typeface="Calibri"/>
              </a:rPr>
              <a:t>Andmekaitse põhimõtted teie töölaua peal</a:t>
            </a:r>
          </a:p>
        </p:txBody>
      </p:sp>
      <p:sp>
        <p:nvSpPr>
          <p:cNvPr id="6" name="TextBox 5"/>
          <p:cNvSpPr txBox="1"/>
          <p:nvPr/>
        </p:nvSpPr>
        <p:spPr>
          <a:xfrm>
            <a:off x="640080" y="4206240"/>
            <a:ext cx="10972800" cy="1097280"/>
          </a:xfrm>
          <a:prstGeom prst="rect">
            <a:avLst/>
          </a:prstGeom>
          <a:noFill/>
        </p:spPr>
        <p:txBody>
          <a:bodyPr wrap="square" anchor="t"/>
          <a:lstStyle/>
          <a:p>
            <a:pPr algn="l"/>
            <a:r>
              <a:rPr sz="1800" b="0" i="0">
                <a:solidFill>
                  <a:srgbClr val="202020"/>
                </a:solidFill>
                <a:latin typeface="Calibri"/>
                <a:ea typeface="Calibri"/>
              </a:rPr>
              <a:t>IKÜM artikkel 5  ·  seitse küsimust enne päringut, mudelit, aruannet ja jagamist</a:t>
            </a:r>
          </a:p>
        </p:txBody>
      </p:sp>
      <p:sp>
        <p:nvSpPr>
          <p:cNvPr id="7" name="TextBox 6"/>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8" name="TextBox 7"/>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22 / 63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300" b="1" i="0">
                <a:solidFill>
                  <a:srgbClr val="6E6E6E"/>
                </a:solidFill>
                <a:latin typeface="Calibri"/>
                <a:ea typeface="Calibri"/>
              </a:rPr>
              <a:t>IKÜM artikkel 5</a:t>
            </a:r>
          </a:p>
        </p:txBody>
      </p:sp>
      <p:sp>
        <p:nvSpPr>
          <p:cNvPr id="6" name="TextBox 5"/>
          <p:cNvSpPr txBox="1"/>
          <p:nvPr/>
        </p:nvSpPr>
        <p:spPr>
          <a:xfrm>
            <a:off x="502920" y="475488"/>
            <a:ext cx="11155680" cy="777240"/>
          </a:xfrm>
          <a:prstGeom prst="rect">
            <a:avLst/>
          </a:prstGeom>
          <a:noFill/>
        </p:spPr>
        <p:txBody>
          <a:bodyPr wrap="square" anchor="t"/>
          <a:lstStyle/>
          <a:p>
            <a:pPr algn="l"/>
            <a:r>
              <a:rPr sz="2800" b="1" i="0">
                <a:solidFill>
                  <a:srgbClr val="121212"/>
                </a:solidFill>
                <a:latin typeface="Calibri"/>
                <a:ea typeface="Calibri"/>
              </a:rPr>
              <a:t>Seitse põhimõtet kui töökorraldus</a:t>
            </a:r>
          </a:p>
        </p:txBody>
      </p:sp>
      <p:sp>
        <p:nvSpPr>
          <p:cNvPr id="7" name="TextBox 6"/>
          <p:cNvSpPr txBox="1"/>
          <p:nvPr/>
        </p:nvSpPr>
        <p:spPr>
          <a:xfrm>
            <a:off x="502920" y="1325880"/>
            <a:ext cx="11155680" cy="4937760"/>
          </a:xfrm>
          <a:prstGeom prst="rect">
            <a:avLst/>
          </a:prstGeom>
          <a:noFill/>
        </p:spPr>
        <p:txBody>
          <a:bodyPr wrap="square">
            <a:spAutoFit/>
          </a:bodyPr>
          <a:lstStyle/>
          <a:p>
            <a:pPr algn="l">
              <a:spcAft>
                <a:spcPts val="800"/>
              </a:spcAft>
            </a:pPr>
            <a:r>
              <a:rPr sz="1800" b="0" i="0">
                <a:solidFill>
                  <a:srgbClr val="202020"/>
                </a:solidFill>
                <a:latin typeface="Calibri"/>
                <a:ea typeface="Calibri"/>
              </a:rPr>
              <a:t>•  1  seaduslikkus, õiglus, läbipaistvus  —  kas alus ja aus eesmärk on olemas?</a:t>
            </a:r>
          </a:p>
          <a:p>
            <a:pPr algn="l">
              <a:spcAft>
                <a:spcPts val="800"/>
              </a:spcAft>
            </a:pPr>
            <a:r>
              <a:rPr sz="1800" b="0" i="0">
                <a:solidFill>
                  <a:srgbClr val="202020"/>
                </a:solidFill>
                <a:latin typeface="Calibri"/>
                <a:ea typeface="Calibri"/>
              </a:rPr>
              <a:t>•  2  eesmärgi piirang  —  kas see päring on sama otsuse jaoks?</a:t>
            </a:r>
          </a:p>
          <a:p>
            <a:pPr algn="l">
              <a:spcAft>
                <a:spcPts val="800"/>
              </a:spcAft>
            </a:pPr>
            <a:r>
              <a:rPr sz="1800" b="0" i="0">
                <a:solidFill>
                  <a:srgbClr val="202020"/>
                </a:solidFill>
                <a:latin typeface="Calibri"/>
                <a:ea typeface="Calibri"/>
              </a:rPr>
              <a:t>•  3  minimeerimine  —  kas SELECT * / kõik veerud mudelis on vaja?</a:t>
            </a:r>
          </a:p>
          <a:p>
            <a:pPr algn="l">
              <a:spcAft>
                <a:spcPts val="800"/>
              </a:spcAft>
            </a:pPr>
            <a:r>
              <a:rPr sz="1800" b="0" i="0">
                <a:solidFill>
                  <a:srgbClr val="202020"/>
                </a:solidFill>
                <a:latin typeface="Calibri"/>
                <a:ea typeface="Calibri"/>
              </a:rPr>
              <a:t>•  4  õigsus  —  kas liitmine tabab õiget inimest?</a:t>
            </a:r>
          </a:p>
          <a:p>
            <a:pPr algn="l">
              <a:spcAft>
                <a:spcPts val="800"/>
              </a:spcAft>
            </a:pPr>
            <a:r>
              <a:rPr sz="1800" b="0" i="0">
                <a:solidFill>
                  <a:srgbClr val="202020"/>
                </a:solidFill>
                <a:latin typeface="Calibri"/>
                <a:ea typeface="Calibri"/>
              </a:rPr>
              <a:t>•  5  säilitamise piirang  —  millal see väljavõte sureb?</a:t>
            </a:r>
          </a:p>
          <a:p>
            <a:pPr algn="l">
              <a:spcAft>
                <a:spcPts val="800"/>
              </a:spcAft>
            </a:pPr>
            <a:r>
              <a:rPr sz="1800" b="0" i="0">
                <a:solidFill>
                  <a:srgbClr val="202020"/>
                </a:solidFill>
                <a:latin typeface="Calibri"/>
                <a:ea typeface="Calibri"/>
              </a:rPr>
              <a:t>•  6  usaldusväärsus ja konfidentsiaalsus  —  kes näeb ja kes laeb alla?</a:t>
            </a:r>
          </a:p>
          <a:p>
            <a:pPr algn="l">
              <a:spcAft>
                <a:spcPts val="800"/>
              </a:spcAft>
            </a:pPr>
            <a:r>
              <a:rPr sz="1800" b="0" i="0">
                <a:solidFill>
                  <a:srgbClr val="202020"/>
                </a:solidFill>
                <a:latin typeface="Calibri"/>
                <a:ea typeface="Calibri"/>
              </a:rPr>
              <a:t>•  7  vastutus  —  kas suudan seda näidata, mitte ainult lubada?</a:t>
            </a:r>
          </a:p>
        </p:txBody>
      </p:sp>
      <p:sp>
        <p:nvSpPr>
          <p:cNvPr id="8" name="TextBox 7"/>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9" name="TextBox 8"/>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23 / 63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777240"/>
          </a:xfrm>
          <a:prstGeom prst="rect">
            <a:avLst/>
          </a:prstGeom>
          <a:noFill/>
        </p:spPr>
        <p:txBody>
          <a:bodyPr wrap="square" anchor="t"/>
          <a:lstStyle/>
          <a:p>
            <a:pPr algn="l"/>
            <a:r>
              <a:rPr sz="2800" b="1" i="0">
                <a:solidFill>
                  <a:srgbClr val="121212"/>
                </a:solidFill>
                <a:latin typeface="Calibri"/>
                <a:ea typeface="Calibri"/>
              </a:rPr>
              <a:t>1. Seaduslikkus, õiglus, läbipaistvus</a:t>
            </a:r>
          </a:p>
        </p:txBody>
      </p:sp>
      <p:sp>
        <p:nvSpPr>
          <p:cNvPr id="6" name="TextBox 5"/>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alus artiklist 6 peab katma just selle analüüsi, mitte ainult allika olemasolu</a:t>
            </a:r>
          </a:p>
          <a:p>
            <a:pPr algn="l">
              <a:spcAft>
                <a:spcPts val="1200"/>
              </a:spcAft>
            </a:pPr>
            <a:r>
              <a:rPr sz="2200" b="0" i="0">
                <a:solidFill>
                  <a:srgbClr val="202020"/>
                </a:solidFill>
                <a:latin typeface="Calibri"/>
                <a:ea typeface="Calibri"/>
              </a:rPr>
              <a:t>•  õiglus: ära tee varjatud profiili, ära kasuta kaameraandmeid kohvipausi mõõtmiseks</a:t>
            </a:r>
          </a:p>
          <a:p>
            <a:pPr algn="l">
              <a:spcAft>
                <a:spcPts val="1200"/>
              </a:spcAft>
            </a:pPr>
            <a:r>
              <a:rPr sz="2200" b="0" i="0">
                <a:solidFill>
                  <a:srgbClr val="202020"/>
                </a:solidFill>
                <a:latin typeface="Calibri"/>
                <a:ea typeface="Calibri"/>
              </a:rPr>
              <a:t>•  läbipaistvus: inimene saaks aru, kui küsiks — ka sisemise aruande puhul</a:t>
            </a:r>
          </a:p>
          <a:p>
            <a:pPr algn="l">
              <a:spcAft>
                <a:spcPts val="1200"/>
              </a:spcAft>
            </a:pPr>
            <a:r>
              <a:rPr sz="2200" b="0" i="0">
                <a:solidFill>
                  <a:srgbClr val="202020"/>
                </a:solidFill>
                <a:latin typeface="Calibri"/>
                <a:ea typeface="Calibri"/>
              </a:rPr>
              <a:t>•  andmetöös: ära peida veergu „igaks juhuks“; ära üllata juhti ega töötajat</a:t>
            </a:r>
          </a:p>
        </p:txBody>
      </p:sp>
      <p:sp>
        <p:nvSpPr>
          <p:cNvPr id="7" name="TextBox 6"/>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8" name="TextBox 7"/>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24 / 63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777240"/>
          </a:xfrm>
          <a:prstGeom prst="rect">
            <a:avLst/>
          </a:prstGeom>
          <a:noFill/>
        </p:spPr>
        <p:txBody>
          <a:bodyPr wrap="square" anchor="t"/>
          <a:lstStyle/>
          <a:p>
            <a:pPr algn="l"/>
            <a:r>
              <a:rPr sz="2800" b="1" i="0">
                <a:solidFill>
                  <a:srgbClr val="121212"/>
                </a:solidFill>
                <a:latin typeface="Calibri"/>
                <a:ea typeface="Calibri"/>
              </a:rPr>
              <a:t>2. Eesmärgi piirang — JOIN ei ole uus luba</a:t>
            </a:r>
          </a:p>
        </p:txBody>
      </p:sp>
      <p:sp>
        <p:nvSpPr>
          <p:cNvPr id="6" name="TextBox 5"/>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operatiivne allikas ≠ automaatne luba igaks analüüsiks</a:t>
            </a:r>
          </a:p>
          <a:p>
            <a:pPr algn="l">
              <a:spcAft>
                <a:spcPts val="1200"/>
              </a:spcAft>
            </a:pPr>
            <a:r>
              <a:rPr sz="2200" b="0" i="0">
                <a:solidFill>
                  <a:srgbClr val="202020"/>
                </a:solidFill>
                <a:latin typeface="Calibri"/>
                <a:ea typeface="Calibri"/>
              </a:rPr>
              <a:t>•  uus küsimus, uus liitmine, uus sihtrühm = kontrolli eesmärk uuesti</a:t>
            </a:r>
          </a:p>
          <a:p>
            <a:pPr algn="l">
              <a:spcAft>
                <a:spcPts val="1200"/>
              </a:spcAft>
            </a:pPr>
            <a:r>
              <a:rPr sz="2200" b="0" i="0">
                <a:solidFill>
                  <a:srgbClr val="202020"/>
                </a:solidFill>
                <a:latin typeface="Calibri"/>
                <a:ea typeface="Calibri"/>
              </a:rPr>
              <a:t>•  klassika: tarneandmed → turundusprofiil; haigusleht → „tervisekampaaniate“ nimekiri</a:t>
            </a:r>
          </a:p>
          <a:p>
            <a:pPr algn="l">
              <a:spcAft>
                <a:spcPts val="1200"/>
              </a:spcAft>
            </a:pPr>
            <a:r>
              <a:rPr sz="2200" b="0" i="0">
                <a:solidFill>
                  <a:srgbClr val="202020"/>
                </a:solidFill>
                <a:latin typeface="Calibri"/>
                <a:ea typeface="Calibri"/>
              </a:rPr>
              <a:t>•  statistikaks ja arenduse testimiseks on omad reeglid — need ei ole „tee mis tahad“</a:t>
            </a:r>
          </a:p>
        </p:txBody>
      </p:sp>
      <p:sp>
        <p:nvSpPr>
          <p:cNvPr id="7" name="TextBox 6"/>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8" name="TextBox 7"/>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25 / 63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777240"/>
          </a:xfrm>
          <a:prstGeom prst="rect">
            <a:avLst/>
          </a:prstGeom>
          <a:noFill/>
        </p:spPr>
        <p:txBody>
          <a:bodyPr wrap="square" anchor="t"/>
          <a:lstStyle/>
          <a:p>
            <a:pPr algn="l"/>
            <a:r>
              <a:rPr sz="2800" b="1" i="0">
                <a:solidFill>
                  <a:srgbClr val="121212"/>
                </a:solidFill>
                <a:latin typeface="Calibri"/>
                <a:ea typeface="Calibri"/>
              </a:rPr>
              <a:t>3. Minimeerimine — SELECT * on andmekaitseotsus</a:t>
            </a:r>
          </a:p>
        </p:txBody>
      </p:sp>
      <p:sp>
        <p:nvSpPr>
          <p:cNvPr id="6" name="TextBox 5"/>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võtke veerud, mida mõõdik või visuaal tegelikult kasutab</a:t>
            </a:r>
          </a:p>
          <a:p>
            <a:pPr algn="l">
              <a:spcAft>
                <a:spcPts val="1200"/>
              </a:spcAft>
            </a:pPr>
            <a:r>
              <a:rPr sz="2200" b="0" i="0">
                <a:solidFill>
                  <a:srgbClr val="202020"/>
                </a:solidFill>
                <a:latin typeface="Calibri"/>
                <a:ea typeface="Calibri"/>
              </a:rPr>
              <a:t>•  ärge tooge isikukoodi, täisaadressi, vaba teksti „igaks juhuks“ mudelisse</a:t>
            </a:r>
          </a:p>
          <a:p>
            <a:pPr algn="l">
              <a:spcAft>
                <a:spcPts val="1200"/>
              </a:spcAft>
            </a:pPr>
            <a:r>
              <a:rPr sz="2200" b="0" i="0">
                <a:solidFill>
                  <a:srgbClr val="202020"/>
                </a:solidFill>
                <a:latin typeface="Calibri"/>
                <a:ea typeface="Calibri"/>
              </a:rPr>
              <a:t>•  eelistage koondit, valimit, vanuserühma, maakonda — mitte rida</a:t>
            </a:r>
          </a:p>
          <a:p>
            <a:pPr algn="l">
              <a:spcAft>
                <a:spcPts val="1200"/>
              </a:spcAft>
            </a:pPr>
            <a:r>
              <a:rPr sz="2200" b="0" i="0">
                <a:solidFill>
                  <a:srgbClr val="202020"/>
                </a:solidFill>
                <a:latin typeface="Calibri"/>
                <a:ea typeface="Calibri"/>
              </a:rPr>
              <a:t>•  analüütikas: kas vaja 100% populatsiooni või piisab valimist?</a:t>
            </a:r>
          </a:p>
          <a:p>
            <a:pPr algn="l">
              <a:spcAft>
                <a:spcPts val="1200"/>
              </a:spcAft>
            </a:pPr>
            <a:r>
              <a:rPr sz="2200" b="0" i="0">
                <a:solidFill>
                  <a:srgbClr val="202020"/>
                </a:solidFill>
                <a:latin typeface="Calibri"/>
                <a:ea typeface="Calibri"/>
              </a:rPr>
              <a:t>•  insener: ärge kopeerige kogu allikat järve, kui 12 välja piisab</a:t>
            </a:r>
          </a:p>
        </p:txBody>
      </p:sp>
      <p:sp>
        <p:nvSpPr>
          <p:cNvPr id="7" name="TextBox 6"/>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8" name="TextBox 7"/>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26 / 63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256032"/>
            <a:ext cx="1920240" cy="365760"/>
          </a:xfrm>
          <a:prstGeom prst="round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74320"/>
            <a:ext cx="1920240" cy="329184"/>
          </a:xfrm>
          <a:prstGeom prst="rect">
            <a:avLst/>
          </a:prstGeom>
          <a:noFill/>
        </p:spPr>
        <p:txBody>
          <a:bodyPr wrap="square" anchor="t"/>
          <a:lstStyle/>
          <a:p>
            <a:pPr algn="ctr"/>
            <a:r>
              <a:rPr sz="1300" b="1" i="0">
                <a:solidFill>
                  <a:srgbClr val="121212"/>
                </a:solidFill>
                <a:latin typeface="Calibri"/>
                <a:ea typeface="Calibri"/>
              </a:rPr>
              <a:t>MINI-ARUTELU</a:t>
            </a:r>
          </a:p>
        </p:txBody>
      </p:sp>
      <p:sp>
        <p:nvSpPr>
          <p:cNvPr id="7" name="TextBox 6"/>
          <p:cNvSpPr txBox="1"/>
          <p:nvPr/>
        </p:nvSpPr>
        <p:spPr>
          <a:xfrm>
            <a:off x="2560320" y="256032"/>
            <a:ext cx="8961120" cy="365760"/>
          </a:xfrm>
          <a:prstGeom prst="rect">
            <a:avLst/>
          </a:prstGeom>
          <a:noFill/>
        </p:spPr>
        <p:txBody>
          <a:bodyPr wrap="square" anchor="t"/>
          <a:lstStyle/>
          <a:p>
            <a:pPr algn="l"/>
            <a:r>
              <a:rPr sz="1400" b="0" i="0">
                <a:solidFill>
                  <a:srgbClr val="585858"/>
                </a:solidFill>
                <a:latin typeface="Calibri"/>
                <a:ea typeface="Calibri"/>
              </a:rPr>
              <a:t>4 minutit  ·  kogu rühm</a:t>
            </a:r>
          </a:p>
        </p:txBody>
      </p:sp>
      <p:sp>
        <p:nvSpPr>
          <p:cNvPr id="8" name="TextBox 7"/>
          <p:cNvSpPr txBox="1"/>
          <p:nvPr/>
        </p:nvSpPr>
        <p:spPr>
          <a:xfrm>
            <a:off x="502920" y="731520"/>
            <a:ext cx="11155680" cy="640080"/>
          </a:xfrm>
          <a:prstGeom prst="rect">
            <a:avLst/>
          </a:prstGeom>
          <a:noFill/>
        </p:spPr>
        <p:txBody>
          <a:bodyPr wrap="square" anchor="t"/>
          <a:lstStyle/>
          <a:p>
            <a:pPr algn="l"/>
            <a:r>
              <a:rPr sz="2600" b="1" i="0">
                <a:solidFill>
                  <a:srgbClr val="121212"/>
                </a:solidFill>
                <a:latin typeface="Calibri"/>
                <a:ea typeface="Calibri"/>
              </a:rPr>
              <a:t>Juht tahab: „kes on meie e-poe kliendid?“</a:t>
            </a:r>
          </a:p>
        </p:txBody>
      </p:sp>
      <p:sp>
        <p:nvSpPr>
          <p:cNvPr id="9" name="TextBox 8"/>
          <p:cNvSpPr txBox="1"/>
          <p:nvPr/>
        </p:nvSpPr>
        <p:spPr>
          <a:xfrm>
            <a:off x="502920" y="1463040"/>
            <a:ext cx="11155680" cy="4754880"/>
          </a:xfrm>
          <a:prstGeom prst="rect">
            <a:avLst/>
          </a:prstGeom>
          <a:noFill/>
        </p:spPr>
        <p:txBody>
          <a:bodyPr wrap="square">
            <a:spAutoFit/>
          </a:bodyPr>
          <a:lstStyle/>
          <a:p>
            <a:pPr algn="l">
              <a:spcAft>
                <a:spcPts val="1000"/>
              </a:spcAft>
            </a:pPr>
            <a:r>
              <a:rPr sz="2000" b="0" i="0">
                <a:solidFill>
                  <a:srgbClr val="202020"/>
                </a:solidFill>
                <a:latin typeface="Calibri"/>
                <a:ea typeface="Calibri"/>
              </a:rPr>
              <a:t>•  tabelis: nimi, isikukood, e-post, telefon, aadress, sugu, sünniaeg,</a:t>
            </a:r>
          </a:p>
          <a:p>
            <a:pPr algn="l">
              <a:spcAft>
                <a:spcPts val="1000"/>
              </a:spcAft>
            </a:pPr>
            <a:r>
              <a:rPr sz="2000" b="0" i="0">
                <a:solidFill>
                  <a:srgbClr val="202020"/>
                </a:solidFill>
                <a:latin typeface="Calibri"/>
                <a:ea typeface="Calibri"/>
              </a:rPr>
              <a:t>•  viimane ost, summa, tarneviis, kliendikaardi nr, märkused (vaba tekst)</a:t>
            </a:r>
          </a:p>
          <a:p>
            <a:pPr algn="l">
              <a:spcAft>
                <a:spcPts val="1000"/>
              </a:spcAft>
            </a:pPr>
            <a:r>
              <a:rPr sz="2000" b="0" i="0">
                <a:solidFill>
                  <a:srgbClr val="202020"/>
                </a:solidFill>
                <a:latin typeface="Calibri"/>
                <a:ea typeface="Calibri"/>
              </a:rPr>
              <a:t>•  millised veerud jäävad juhtimisaruandesse, millised koondiks, millised välja?</a:t>
            </a:r>
          </a:p>
          <a:p>
            <a:pPr algn="l">
              <a:spcAft>
                <a:spcPts val="1000"/>
              </a:spcAft>
            </a:pPr>
            <a:r>
              <a:rPr sz="2000" b="0" i="0">
                <a:solidFill>
                  <a:srgbClr val="202020"/>
                </a:solidFill>
                <a:latin typeface="Calibri"/>
                <a:ea typeface="Calibri"/>
              </a:rPr>
              <a:t>•  kas „märkused“ võib saastada kogu mudeli eriliigiga?</a:t>
            </a:r>
          </a:p>
          <a:p>
            <a:pPr algn="l">
              <a:spcAft>
                <a:spcPts val="1000"/>
              </a:spcAft>
            </a:pPr>
            <a:r>
              <a:rPr sz="2000" b="0" i="0">
                <a:solidFill>
                  <a:srgbClr val="202020"/>
                </a:solidFill>
                <a:latin typeface="Calibri"/>
                <a:ea typeface="Calibri"/>
              </a:rPr>
              <a:t>•  kellele rida-realt vaade üldse lubatud on?</a:t>
            </a:r>
          </a:p>
        </p:txBody>
      </p:sp>
      <p:sp>
        <p:nvSpPr>
          <p:cNvPr id="10" name="TextBox 9"/>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11" name="TextBox 10"/>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27 / 63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777240"/>
          </a:xfrm>
          <a:prstGeom prst="rect">
            <a:avLst/>
          </a:prstGeom>
          <a:noFill/>
        </p:spPr>
        <p:txBody>
          <a:bodyPr wrap="square" anchor="t"/>
          <a:lstStyle/>
          <a:p>
            <a:pPr algn="l"/>
            <a:r>
              <a:rPr sz="2800" b="1" i="0">
                <a:solidFill>
                  <a:srgbClr val="121212"/>
                </a:solidFill>
                <a:latin typeface="Calibri"/>
                <a:ea typeface="Calibri"/>
              </a:rPr>
              <a:t>4. Õigsus — vale JOIN on vale inimene</a:t>
            </a:r>
          </a:p>
        </p:txBody>
      </p:sp>
      <p:sp>
        <p:nvSpPr>
          <p:cNvPr id="6" name="TextBox 5"/>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mustad andmed rikuvad analüüsi; vale isikuandme rikub inimese elu</a:t>
            </a:r>
          </a:p>
          <a:p>
            <a:pPr algn="l">
              <a:spcAft>
                <a:spcPts val="1200"/>
              </a:spcAft>
            </a:pPr>
            <a:r>
              <a:rPr sz="2200" b="0" i="0">
                <a:solidFill>
                  <a:srgbClr val="202020"/>
                </a:solidFill>
                <a:latin typeface="Calibri"/>
                <a:ea typeface="Calibri"/>
              </a:rPr>
              <a:t>•  nimepõhine liitmine Eestis on ohtlik — nimesid on vähe</a:t>
            </a:r>
          </a:p>
          <a:p>
            <a:pPr algn="l">
              <a:spcAft>
                <a:spcPts val="1200"/>
              </a:spcAft>
            </a:pPr>
            <a:r>
              <a:rPr sz="2200" b="0" i="0">
                <a:solidFill>
                  <a:srgbClr val="202020"/>
                </a:solidFill>
                <a:latin typeface="Calibri"/>
                <a:ea typeface="Calibri"/>
              </a:rPr>
              <a:t>•  vale võlg, vale hinne, vale diagnoos, vale kordusostu skoor</a:t>
            </a:r>
          </a:p>
          <a:p>
            <a:pPr algn="l">
              <a:spcAft>
                <a:spcPts val="1200"/>
              </a:spcAft>
            </a:pPr>
            <a:r>
              <a:rPr sz="2200" b="0" i="0">
                <a:solidFill>
                  <a:srgbClr val="202020"/>
                </a:solidFill>
                <a:latin typeface="Calibri"/>
                <a:ea typeface="Calibri"/>
              </a:rPr>
              <a:t>•  parandus allikas peab jõudma aita, mudelisse ja väljavõtetesse</a:t>
            </a:r>
          </a:p>
          <a:p>
            <a:pPr algn="l">
              <a:spcAft>
                <a:spcPts val="1200"/>
              </a:spcAft>
            </a:pPr>
            <a:r>
              <a:rPr sz="2200" b="0" i="0">
                <a:solidFill>
                  <a:srgbClr val="202020"/>
                </a:solidFill>
                <a:latin typeface="Calibri"/>
                <a:ea typeface="Calibri"/>
              </a:rPr>
              <a:t>•  ärge avaldage „tõde“, kui ühenduse kindlus on 70%</a:t>
            </a:r>
          </a:p>
        </p:txBody>
      </p:sp>
      <p:sp>
        <p:nvSpPr>
          <p:cNvPr id="7" name="TextBox 6"/>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8" name="TextBox 7"/>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28 / 63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777240"/>
          </a:xfrm>
          <a:prstGeom prst="rect">
            <a:avLst/>
          </a:prstGeom>
          <a:noFill/>
        </p:spPr>
        <p:txBody>
          <a:bodyPr wrap="square" anchor="t"/>
          <a:lstStyle/>
          <a:p>
            <a:pPr algn="l"/>
            <a:r>
              <a:rPr sz="2800" b="1" i="0">
                <a:solidFill>
                  <a:srgbClr val="121212"/>
                </a:solidFill>
                <a:latin typeface="Calibri"/>
                <a:ea typeface="Calibri"/>
              </a:rPr>
              <a:t>5. Säilitamine — väljavõttel peab olema surmakuupäev</a:t>
            </a:r>
          </a:p>
        </p:txBody>
      </p:sp>
      <p:sp>
        <p:nvSpPr>
          <p:cNvPr id="6" name="TextBox 5"/>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ametlikus baasis on tihti tähtaeg; teie CSV-l ei ole, kuni te selle panete</a:t>
            </a:r>
          </a:p>
          <a:p>
            <a:pPr algn="l">
              <a:spcAft>
                <a:spcPts val="1200"/>
              </a:spcAft>
            </a:pPr>
            <a:r>
              <a:rPr sz="2200" b="0" i="0">
                <a:solidFill>
                  <a:srgbClr val="202020"/>
                </a:solidFill>
                <a:latin typeface="Calibri"/>
                <a:ea typeface="Calibri"/>
              </a:rPr>
              <a:t>•  värskendus, mis kirjutab otsa, vs ajalugu, mis kasvab igavesti</a:t>
            </a:r>
          </a:p>
          <a:p>
            <a:pPr algn="l">
              <a:spcAft>
                <a:spcPts val="1200"/>
              </a:spcAft>
            </a:pPr>
            <a:r>
              <a:rPr sz="2200" b="0" i="0">
                <a:solidFill>
                  <a:srgbClr val="202020"/>
                </a:solidFill>
                <a:latin typeface="Calibri"/>
                <a:ea typeface="Calibri"/>
              </a:rPr>
              <a:t>•  versiooniajalugu, prügikast, snapshot, Time Travel, OneDrive — samuti säilitamine</a:t>
            </a:r>
          </a:p>
          <a:p>
            <a:pPr algn="l">
              <a:spcAft>
                <a:spcPts val="1200"/>
              </a:spcAft>
            </a:pPr>
            <a:r>
              <a:rPr sz="2200" b="0" i="0">
                <a:solidFill>
                  <a:srgbClr val="202020"/>
                </a:solidFill>
                <a:latin typeface="Calibri"/>
                <a:ea typeface="Calibri"/>
              </a:rPr>
              <a:t>•  failinimesse kuupäev; kalendrisse kustutus; omanik kaustale</a:t>
            </a:r>
          </a:p>
          <a:p>
            <a:pPr algn="l">
              <a:spcAft>
                <a:spcPts val="1200"/>
              </a:spcAft>
            </a:pPr>
            <a:r>
              <a:rPr sz="2200" b="0" i="0">
                <a:solidFill>
                  <a:srgbClr val="202020"/>
                </a:solidFill>
                <a:latin typeface="Calibri"/>
                <a:ea typeface="Calibri"/>
              </a:rPr>
              <a:t>•  „äkki läheb mudeli jaoks vaja“ ei ole tähtaeg</a:t>
            </a:r>
          </a:p>
        </p:txBody>
      </p:sp>
      <p:sp>
        <p:nvSpPr>
          <p:cNvPr id="7" name="TextBox 6"/>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8" name="TextBox 7"/>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29 / 63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777240"/>
          </a:xfrm>
          <a:prstGeom prst="rect">
            <a:avLst/>
          </a:prstGeom>
          <a:noFill/>
        </p:spPr>
        <p:txBody>
          <a:bodyPr wrap="square" anchor="t"/>
          <a:lstStyle/>
          <a:p>
            <a:pPr algn="l"/>
            <a:r>
              <a:rPr sz="2800" b="1" i="0">
                <a:solidFill>
                  <a:srgbClr val="121212"/>
                </a:solidFill>
                <a:latin typeface="Calibri"/>
                <a:ea typeface="Calibri"/>
              </a:rPr>
              <a:t>6. Konfidentsiaalsus — kes näeb rida, kes laeb alla</a:t>
            </a:r>
          </a:p>
        </p:txBody>
      </p:sp>
      <p:sp>
        <p:nvSpPr>
          <p:cNvPr id="6" name="TextBox 5"/>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tööala, kaust, RLS, objektitaseme õigused — vaikimisi kitsas</a:t>
            </a:r>
          </a:p>
          <a:p>
            <a:pPr algn="l">
              <a:spcAft>
                <a:spcPts val="1200"/>
              </a:spcAft>
            </a:pPr>
            <a:r>
              <a:rPr sz="2200" b="0" i="0">
                <a:solidFill>
                  <a:srgbClr val="202020"/>
                </a:solidFill>
                <a:latin typeface="Calibri"/>
                <a:ea typeface="Calibri"/>
              </a:rPr>
              <a:t>•  visuaal võib olla koond; allalaadimine on rida — kontrolli mõlemat</a:t>
            </a:r>
          </a:p>
          <a:p>
            <a:pPr algn="l">
              <a:spcAft>
                <a:spcPts val="1200"/>
              </a:spcAft>
            </a:pPr>
            <a:r>
              <a:rPr sz="2200" b="0" i="0">
                <a:solidFill>
                  <a:srgbClr val="202020"/>
                </a:solidFill>
                <a:latin typeface="Calibri"/>
                <a:ea typeface="Calibri"/>
              </a:rPr>
              <a:t>•  ekraanipilt, jagatud ekraan, koolituse demo = samuti kättesaadavus</a:t>
            </a:r>
          </a:p>
          <a:p>
            <a:pPr algn="l">
              <a:spcAft>
                <a:spcPts val="1200"/>
              </a:spcAft>
            </a:pPr>
            <a:r>
              <a:rPr sz="2200" b="0" i="0">
                <a:solidFill>
                  <a:srgbClr val="202020"/>
                </a:solidFill>
                <a:latin typeface="Calibri"/>
                <a:ea typeface="Calibri"/>
              </a:rPr>
              <a:t>•  testtoodang, jagatud parool, lai service principal = inseneri lekketee</a:t>
            </a:r>
          </a:p>
          <a:p>
            <a:pPr algn="l">
              <a:spcAft>
                <a:spcPts val="1200"/>
              </a:spcAft>
            </a:pPr>
            <a:r>
              <a:rPr sz="2200" b="0" i="0">
                <a:solidFill>
                  <a:srgbClr val="202020"/>
                </a:solidFill>
                <a:latin typeface="Calibri"/>
                <a:ea typeface="Calibri"/>
              </a:rPr>
              <a:t>•  riskipõhine: palk ja tervis ei ela samas avatud kuubikus kui müügikoond</a:t>
            </a:r>
          </a:p>
        </p:txBody>
      </p:sp>
      <p:sp>
        <p:nvSpPr>
          <p:cNvPr id="7" name="TextBox 6"/>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8" name="TextBox 7"/>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30 / 63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777240"/>
          </a:xfrm>
          <a:prstGeom prst="rect">
            <a:avLst/>
          </a:prstGeom>
          <a:noFill/>
        </p:spPr>
        <p:txBody>
          <a:bodyPr wrap="square" anchor="t"/>
          <a:lstStyle/>
          <a:p>
            <a:pPr algn="l"/>
            <a:r>
              <a:rPr sz="2800" b="1" i="0">
                <a:solidFill>
                  <a:srgbClr val="121212"/>
                </a:solidFill>
                <a:latin typeface="Calibri"/>
                <a:ea typeface="Calibri"/>
              </a:rPr>
              <a:t>7. Vastutus — kui ei ole kirjas, ei ole olemas</a:t>
            </a:r>
          </a:p>
        </p:txBody>
      </p:sp>
      <p:sp>
        <p:nvSpPr>
          <p:cNvPr id="6" name="TextBox 5"/>
          <p:cNvSpPr txBox="1"/>
          <p:nvPr/>
        </p:nvSpPr>
        <p:spPr>
          <a:xfrm>
            <a:off x="502920" y="1325880"/>
            <a:ext cx="11155680" cy="4160520"/>
          </a:xfrm>
          <a:prstGeom prst="rect">
            <a:avLst/>
          </a:prstGeom>
          <a:noFill/>
        </p:spPr>
        <p:txBody>
          <a:bodyPr wrap="square">
            <a:spAutoFit/>
          </a:bodyPr>
          <a:lstStyle/>
          <a:p>
            <a:pPr algn="l">
              <a:spcAft>
                <a:spcPts val="1200"/>
              </a:spcAft>
            </a:pPr>
            <a:r>
              <a:rPr sz="2200" b="0" i="0">
                <a:solidFill>
                  <a:srgbClr val="202020"/>
                </a:solidFill>
                <a:latin typeface="Calibri"/>
                <a:ea typeface="Calibri"/>
              </a:rPr>
              <a:t>•  andmestiku omanik, eesmärk, alus, säilitus, kes näeb — üks leht</a:t>
            </a:r>
          </a:p>
          <a:p>
            <a:pPr algn="l">
              <a:spcAft>
                <a:spcPts val="1200"/>
              </a:spcAft>
            </a:pPr>
            <a:r>
              <a:rPr sz="2200" b="0" i="0">
                <a:solidFill>
                  <a:srgbClr val="202020"/>
                </a:solidFill>
                <a:latin typeface="Calibri"/>
                <a:ea typeface="Calibri"/>
              </a:rPr>
              <a:t>•  töötlemistoimingute register ei ole juristi hobi; teie read peavad seal olema</a:t>
            </a:r>
          </a:p>
          <a:p>
            <a:pPr algn="l">
              <a:spcAft>
                <a:spcPts val="1200"/>
              </a:spcAft>
            </a:pPr>
            <a:r>
              <a:rPr sz="2200" b="0" i="0">
                <a:solidFill>
                  <a:srgbClr val="202020"/>
                </a:solidFill>
                <a:latin typeface="Calibri"/>
                <a:ea typeface="Calibri"/>
              </a:rPr>
              <a:t>•  otsus „koond piisab“ / „isikukoodi ei võta“ kuulub PR-i või wiki, mitte pea sisse</a:t>
            </a:r>
          </a:p>
          <a:p>
            <a:pPr algn="l">
              <a:spcAft>
                <a:spcPts val="1200"/>
              </a:spcAft>
            </a:pPr>
            <a:r>
              <a:rPr sz="2200" b="0" i="0">
                <a:solidFill>
                  <a:srgbClr val="202020"/>
                </a:solidFill>
                <a:latin typeface="Calibri"/>
                <a:ea typeface="Calibri"/>
              </a:rPr>
              <a:t>•  rikkumise hinnang kirjas ka siis, kui te ei teavita AKI-t</a:t>
            </a:r>
          </a:p>
          <a:p>
            <a:pPr algn="l">
              <a:spcAft>
                <a:spcPts val="1200"/>
              </a:spcAft>
            </a:pPr>
            <a:r>
              <a:rPr sz="2200" b="0" i="0">
                <a:solidFill>
                  <a:srgbClr val="202020"/>
                </a:solidFill>
                <a:latin typeface="Calibri"/>
                <a:ea typeface="Calibri"/>
              </a:rPr>
              <a:t>•  „me oleme tublid“ ei ole tõendus</a:t>
            </a:r>
          </a:p>
        </p:txBody>
      </p:sp>
      <p:sp>
        <p:nvSpPr>
          <p:cNvPr id="7" name="Rounded Rectangle 6"/>
          <p:cNvSpPr/>
          <p:nvPr/>
        </p:nvSpPr>
        <p:spPr>
          <a:xfrm>
            <a:off x="502920" y="5623560"/>
            <a:ext cx="11155680" cy="777240"/>
          </a:xfrm>
          <a:prstGeom prst="round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742432"/>
            <a:ext cx="10789920" cy="548640"/>
          </a:xfrm>
          <a:prstGeom prst="rect">
            <a:avLst/>
          </a:prstGeom>
          <a:noFill/>
        </p:spPr>
        <p:txBody>
          <a:bodyPr wrap="square" anchor="t"/>
          <a:lstStyle/>
          <a:p>
            <a:pPr algn="l"/>
            <a:r>
              <a:rPr sz="1600" b="1" i="0">
                <a:solidFill>
                  <a:srgbClr val="121212"/>
                </a:solidFill>
                <a:latin typeface="Calibri"/>
                <a:ea typeface="Calibri"/>
              </a:rPr>
              <a:t>Dokumenteerimata järv on andmekaitse mõttes pime järv.</a:t>
            </a:r>
          </a:p>
        </p:txBody>
      </p:sp>
      <p:sp>
        <p:nvSpPr>
          <p:cNvPr id="9" name="TextBox 8"/>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10" name="TextBox 9"/>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31 / 63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777240"/>
          </a:xfrm>
          <a:prstGeom prst="rect">
            <a:avLst/>
          </a:prstGeom>
          <a:noFill/>
        </p:spPr>
        <p:txBody>
          <a:bodyPr wrap="square" anchor="t"/>
          <a:lstStyle/>
          <a:p>
            <a:pPr algn="l"/>
            <a:r>
              <a:rPr sz="2800" b="1" i="0">
                <a:solidFill>
                  <a:srgbClr val="121212"/>
                </a:solidFill>
                <a:latin typeface="Calibri"/>
                <a:ea typeface="Calibri"/>
              </a:rPr>
              <a:t>Kontrollnimekiri enne „Run“ / „Publish“ / „Share“</a:t>
            </a:r>
          </a:p>
        </p:txBody>
      </p:sp>
      <p:sp>
        <p:nvSpPr>
          <p:cNvPr id="6" name="TextBox 5"/>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miks neid ridu vaja on?  (eesmärk + alus)</a:t>
            </a:r>
          </a:p>
          <a:p>
            <a:pPr algn="l">
              <a:spcAft>
                <a:spcPts val="1200"/>
              </a:spcAft>
            </a:pPr>
            <a:r>
              <a:rPr sz="2200" b="0" i="0">
                <a:solidFill>
                  <a:srgbClr val="202020"/>
                </a:solidFill>
                <a:latin typeface="Calibri"/>
                <a:ea typeface="Calibri"/>
              </a:rPr>
              <a:t>•  kas saan vähemate veergude või koondiga?  (minimeerimine)</a:t>
            </a:r>
          </a:p>
          <a:p>
            <a:pPr algn="l">
              <a:spcAft>
                <a:spcPts val="1200"/>
              </a:spcAft>
            </a:pPr>
            <a:r>
              <a:rPr sz="2200" b="0" i="0">
                <a:solidFill>
                  <a:srgbClr val="202020"/>
                </a:solidFill>
                <a:latin typeface="Calibri"/>
                <a:ea typeface="Calibri"/>
              </a:rPr>
              <a:t>•  kas liitmine tabab õiget inimest?  (õigsus)</a:t>
            </a:r>
          </a:p>
          <a:p>
            <a:pPr algn="l">
              <a:spcAft>
                <a:spcPts val="1200"/>
              </a:spcAft>
            </a:pPr>
            <a:r>
              <a:rPr sz="2200" b="0" i="0">
                <a:solidFill>
                  <a:srgbClr val="202020"/>
                </a:solidFill>
                <a:latin typeface="Calibri"/>
                <a:ea typeface="Calibri"/>
              </a:rPr>
              <a:t>•  millal see koopia sureb?  (säilitamine)</a:t>
            </a:r>
          </a:p>
          <a:p>
            <a:pPr algn="l">
              <a:spcAft>
                <a:spcPts val="1200"/>
              </a:spcAft>
            </a:pPr>
            <a:r>
              <a:rPr sz="2200" b="0" i="0">
                <a:solidFill>
                  <a:srgbClr val="202020"/>
                </a:solidFill>
                <a:latin typeface="Calibri"/>
                <a:ea typeface="Calibri"/>
              </a:rPr>
              <a:t>•  kes näeb visuaali ja kes saab Exceli?  (konfidentsiaalsus)</a:t>
            </a:r>
          </a:p>
          <a:p>
            <a:pPr algn="l">
              <a:spcAft>
                <a:spcPts val="1200"/>
              </a:spcAft>
            </a:pPr>
            <a:r>
              <a:rPr sz="2200" b="0" i="0">
                <a:solidFill>
                  <a:srgbClr val="202020"/>
                </a:solidFill>
                <a:latin typeface="Calibri"/>
                <a:ea typeface="Calibri"/>
              </a:rPr>
              <a:t>•  kas inimene teaks, kui küsiks?  (läbipaistvus)</a:t>
            </a:r>
          </a:p>
          <a:p>
            <a:pPr algn="l">
              <a:spcAft>
                <a:spcPts val="1200"/>
              </a:spcAft>
            </a:pPr>
            <a:r>
              <a:rPr sz="2200" b="0" i="0">
                <a:solidFill>
                  <a:srgbClr val="202020"/>
                </a:solidFill>
                <a:latin typeface="Calibri"/>
                <a:ea typeface="Calibri"/>
              </a:rPr>
              <a:t>•  kas omanik ja kirjeldus on kirjas?  (vastutus)</a:t>
            </a:r>
          </a:p>
        </p:txBody>
      </p:sp>
      <p:sp>
        <p:nvSpPr>
          <p:cNvPr id="7" name="TextBox 6"/>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8" name="TextBox 7"/>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32 / 63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777240"/>
          </a:xfrm>
          <a:prstGeom prst="rect">
            <a:avLst/>
          </a:prstGeom>
          <a:noFill/>
        </p:spPr>
        <p:txBody>
          <a:bodyPr wrap="square" anchor="t"/>
          <a:lstStyle/>
          <a:p>
            <a:pPr algn="l"/>
            <a:r>
              <a:rPr sz="2800" b="1" i="0">
                <a:solidFill>
                  <a:srgbClr val="121212"/>
                </a:solidFill>
                <a:latin typeface="Calibri"/>
                <a:ea typeface="Calibri"/>
              </a:rPr>
              <a:t>Levinud vead just analüütikas, BI-s ja torudes</a:t>
            </a:r>
          </a:p>
        </p:txBody>
      </p:sp>
      <p:sp>
        <p:nvSpPr>
          <p:cNvPr id="6" name="TextBox 5"/>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isikuandmetega fail „korraks“ koju, isiklikku e-posti, USB-le, avalikku GPT-sse</a:t>
            </a:r>
          </a:p>
          <a:p>
            <a:pPr algn="l">
              <a:spcAft>
                <a:spcPts val="1200"/>
              </a:spcAft>
            </a:pPr>
            <a:r>
              <a:rPr sz="2200" b="0" i="0">
                <a:solidFill>
                  <a:srgbClr val="202020"/>
                </a:solidFill>
                <a:latin typeface="Calibri"/>
                <a:ea typeface="Calibri"/>
              </a:rPr>
              <a:t>•  filter aruandes peal, allalaadimises täisread</a:t>
            </a:r>
          </a:p>
          <a:p>
            <a:pPr algn="l">
              <a:spcAft>
                <a:spcPts val="1200"/>
              </a:spcAft>
            </a:pPr>
            <a:r>
              <a:rPr sz="2200" b="0" i="0">
                <a:solidFill>
                  <a:srgbClr val="202020"/>
                </a:solidFill>
                <a:latin typeface="Calibri"/>
                <a:ea typeface="Calibri"/>
              </a:rPr>
              <a:t>•  ekraanipilt dashboardist nimedega — slakk, Confluence, koolitus</a:t>
            </a:r>
          </a:p>
          <a:p>
            <a:pPr algn="l">
              <a:spcAft>
                <a:spcPts val="1200"/>
              </a:spcAft>
            </a:pPr>
            <a:r>
              <a:rPr sz="2200" b="0" i="0">
                <a:solidFill>
                  <a:srgbClr val="202020"/>
                </a:solidFill>
                <a:latin typeface="Calibri"/>
                <a:ea typeface="Calibri"/>
              </a:rPr>
              <a:t>•  väike n + haruldane tunnus = „anonüümne aruanne“</a:t>
            </a:r>
          </a:p>
          <a:p>
            <a:pPr algn="l">
              <a:spcAft>
                <a:spcPts val="1200"/>
              </a:spcAft>
            </a:pPr>
            <a:r>
              <a:rPr sz="2200" b="0" i="0">
                <a:solidFill>
                  <a:srgbClr val="202020"/>
                </a:solidFill>
                <a:latin typeface="Calibri"/>
                <a:ea typeface="Calibri"/>
              </a:rPr>
              <a:t>•  test ja CI täistoote isikuandmetega, lai ligipääs</a:t>
            </a:r>
          </a:p>
          <a:p>
            <a:pPr algn="l">
              <a:spcAft>
                <a:spcPts val="1200"/>
              </a:spcAft>
            </a:pPr>
            <a:r>
              <a:rPr sz="2200" b="0" i="0">
                <a:solidFill>
                  <a:srgbClr val="202020"/>
                </a:solidFill>
                <a:latin typeface="Calibri"/>
                <a:ea typeface="Calibri"/>
              </a:rPr>
              <a:t>•  omanikuta andmestikud, vanad pipeline’id, varjukaustad</a:t>
            </a:r>
          </a:p>
        </p:txBody>
      </p:sp>
      <p:sp>
        <p:nvSpPr>
          <p:cNvPr id="7" name="TextBox 6"/>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8" name="TextBox 7"/>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33 / 63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256032"/>
            <a:ext cx="1920240" cy="365760"/>
          </a:xfrm>
          <a:prstGeom prst="round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74320"/>
            <a:ext cx="1920240" cy="329184"/>
          </a:xfrm>
          <a:prstGeom prst="rect">
            <a:avLst/>
          </a:prstGeom>
          <a:noFill/>
        </p:spPr>
        <p:txBody>
          <a:bodyPr wrap="square" anchor="t"/>
          <a:lstStyle/>
          <a:p>
            <a:pPr algn="ctr"/>
            <a:r>
              <a:rPr sz="1300" b="1" i="0">
                <a:solidFill>
                  <a:srgbClr val="121212"/>
                </a:solidFill>
                <a:latin typeface="Calibri"/>
                <a:ea typeface="Calibri"/>
              </a:rPr>
              <a:t>HARJUTUS</a:t>
            </a:r>
          </a:p>
        </p:txBody>
      </p:sp>
      <p:sp>
        <p:nvSpPr>
          <p:cNvPr id="7" name="TextBox 6"/>
          <p:cNvSpPr txBox="1"/>
          <p:nvPr/>
        </p:nvSpPr>
        <p:spPr>
          <a:xfrm>
            <a:off x="2560320" y="256032"/>
            <a:ext cx="8961120" cy="365760"/>
          </a:xfrm>
          <a:prstGeom prst="rect">
            <a:avLst/>
          </a:prstGeom>
          <a:noFill/>
        </p:spPr>
        <p:txBody>
          <a:bodyPr wrap="square" anchor="t"/>
          <a:lstStyle/>
          <a:p>
            <a:pPr algn="l"/>
            <a:r>
              <a:rPr sz="1400" b="0" i="0">
                <a:solidFill>
                  <a:srgbClr val="585858"/>
                </a:solidFill>
                <a:latin typeface="Calibri"/>
                <a:ea typeface="Calibri"/>
              </a:rPr>
              <a:t>8 minutit  ·  4 gruppi</a:t>
            </a:r>
          </a:p>
        </p:txBody>
      </p:sp>
      <p:sp>
        <p:nvSpPr>
          <p:cNvPr id="8" name="TextBox 7"/>
          <p:cNvSpPr txBox="1"/>
          <p:nvPr/>
        </p:nvSpPr>
        <p:spPr>
          <a:xfrm>
            <a:off x="502920" y="731520"/>
            <a:ext cx="11155680" cy="640080"/>
          </a:xfrm>
          <a:prstGeom prst="rect">
            <a:avLst/>
          </a:prstGeom>
          <a:noFill/>
        </p:spPr>
        <p:txBody>
          <a:bodyPr wrap="square" anchor="t"/>
          <a:lstStyle/>
          <a:p>
            <a:pPr algn="l"/>
            <a:r>
              <a:rPr sz="2600" b="1" i="0">
                <a:solidFill>
                  <a:srgbClr val="121212"/>
                </a:solidFill>
                <a:latin typeface="Calibri"/>
                <a:ea typeface="Calibri"/>
              </a:rPr>
              <a:t>Milline põhimõte on hädas?</a:t>
            </a:r>
          </a:p>
        </p:txBody>
      </p:sp>
      <p:sp>
        <p:nvSpPr>
          <p:cNvPr id="9" name="TextBox 8"/>
          <p:cNvSpPr txBox="1"/>
          <p:nvPr/>
        </p:nvSpPr>
        <p:spPr>
          <a:xfrm>
            <a:off x="502920" y="1463040"/>
            <a:ext cx="11155680" cy="4754880"/>
          </a:xfrm>
          <a:prstGeom prst="rect">
            <a:avLst/>
          </a:prstGeom>
          <a:noFill/>
        </p:spPr>
        <p:txBody>
          <a:bodyPr wrap="square">
            <a:spAutoFit/>
          </a:bodyPr>
          <a:lstStyle/>
          <a:p>
            <a:pPr algn="l">
              <a:spcAft>
                <a:spcPts val="1000"/>
              </a:spcAft>
            </a:pPr>
            <a:r>
              <a:rPr sz="2000" b="0" i="0">
                <a:solidFill>
                  <a:srgbClr val="202020"/>
                </a:solidFill>
                <a:latin typeface="Calibri"/>
                <a:ea typeface="Calibri"/>
              </a:rPr>
              <a:t>•  A  Turundus võtab HR haiguslehtede väljavõtte, et sihtida „tervisepakette“.</a:t>
            </a:r>
          </a:p>
          <a:p>
            <a:pPr algn="l">
              <a:spcAft>
                <a:spcPts val="1000"/>
              </a:spcAft>
            </a:pPr>
            <a:r>
              <a:rPr sz="2000" b="0" i="0">
                <a:solidFill>
                  <a:srgbClr val="202020"/>
                </a:solidFill>
                <a:latin typeface="Calibri"/>
                <a:ea typeface="Calibri"/>
              </a:rPr>
              <a:t>•  B  Analüütik hoiab 2018 klienddump’i sülearvutis, „sest mudel õpib paremini“.</a:t>
            </a:r>
          </a:p>
          <a:p>
            <a:pPr algn="l">
              <a:spcAft>
                <a:spcPts val="1000"/>
              </a:spcAft>
            </a:pPr>
            <a:r>
              <a:rPr sz="2000" b="0" i="0">
                <a:solidFill>
                  <a:srgbClr val="202020"/>
                </a:solidFill>
                <a:latin typeface="Calibri"/>
                <a:ea typeface="Calibri"/>
              </a:rPr>
              <a:t>•  C  Palgaaruanne nimega; link „kõik kellel on link“, sh praktikant.</a:t>
            </a:r>
          </a:p>
          <a:p>
            <a:pPr algn="l">
              <a:spcAft>
                <a:spcPts val="1000"/>
              </a:spcAft>
            </a:pPr>
            <a:r>
              <a:rPr sz="2000" b="0" i="0">
                <a:solidFill>
                  <a:srgbClr val="202020"/>
                </a:solidFill>
                <a:latin typeface="Calibri"/>
                <a:ea typeface="Calibri"/>
              </a:rPr>
              <a:t>•  D  Andmevoog teeb SELECT * allikast järve; mudelis on 4 KPI-d.</a:t>
            </a:r>
          </a:p>
        </p:txBody>
      </p:sp>
      <p:sp>
        <p:nvSpPr>
          <p:cNvPr id="10" name="TextBox 9"/>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11" name="TextBox 10"/>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34 / 63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300" b="1" i="0">
                <a:solidFill>
                  <a:srgbClr val="6E6E6E"/>
                </a:solidFill>
                <a:latin typeface="Calibri"/>
                <a:ea typeface="Calibri"/>
              </a:rPr>
              <a:t>HARJUTUSE LÜHIKE KINNITUS</a:t>
            </a:r>
          </a:p>
        </p:txBody>
      </p:sp>
      <p:sp>
        <p:nvSpPr>
          <p:cNvPr id="6" name="TextBox 5"/>
          <p:cNvSpPr txBox="1"/>
          <p:nvPr/>
        </p:nvSpPr>
        <p:spPr>
          <a:xfrm>
            <a:off x="502920" y="475488"/>
            <a:ext cx="11155680" cy="777240"/>
          </a:xfrm>
          <a:prstGeom prst="rect">
            <a:avLst/>
          </a:prstGeom>
          <a:noFill/>
        </p:spPr>
        <p:txBody>
          <a:bodyPr wrap="square" anchor="t"/>
          <a:lstStyle/>
          <a:p>
            <a:pPr algn="l"/>
            <a:r>
              <a:rPr sz="2800" b="1" i="0">
                <a:solidFill>
                  <a:srgbClr val="121212"/>
                </a:solidFill>
                <a:latin typeface="Calibri"/>
                <a:ea typeface="Calibri"/>
              </a:rPr>
              <a:t>Neli pidurit teie tööriistades</a:t>
            </a:r>
          </a:p>
        </p:txBody>
      </p:sp>
      <p:sp>
        <p:nvSpPr>
          <p:cNvPr id="7" name="TextBox 6"/>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A  ära vii ridu ühest domeenist teise, eriti tervist</a:t>
            </a:r>
          </a:p>
          <a:p>
            <a:pPr algn="l">
              <a:spcAft>
                <a:spcPts val="1200"/>
              </a:spcAft>
            </a:pPr>
            <a:r>
              <a:rPr sz="2200" b="0" i="0">
                <a:solidFill>
                  <a:srgbClr val="202020"/>
                </a:solidFill>
                <a:latin typeface="Calibri"/>
                <a:ea typeface="Calibri"/>
              </a:rPr>
              <a:t>•  B  vana dump sülearvutis ei ole treeningandmestik, see on risk</a:t>
            </a:r>
          </a:p>
          <a:p>
            <a:pPr algn="l">
              <a:spcAft>
                <a:spcPts val="1200"/>
              </a:spcAft>
            </a:pPr>
            <a:r>
              <a:rPr sz="2200" b="0" i="0">
                <a:solidFill>
                  <a:srgbClr val="202020"/>
                </a:solidFill>
                <a:latin typeface="Calibri"/>
                <a:ea typeface="Calibri"/>
              </a:rPr>
              <a:t>•  C  palk + avatud link on õiguste viga, mitte visualiseerimise viga</a:t>
            </a:r>
          </a:p>
          <a:p>
            <a:pPr algn="l">
              <a:spcAft>
                <a:spcPts val="1200"/>
              </a:spcAft>
            </a:pPr>
            <a:r>
              <a:rPr sz="2200" b="0" i="0">
                <a:solidFill>
                  <a:srgbClr val="202020"/>
                </a:solidFill>
                <a:latin typeface="Calibri"/>
                <a:ea typeface="Calibri"/>
              </a:rPr>
              <a:t>•  D  SELECT * torusse on minimeerimise vastand, isegi kui KPI-sid on neli</a:t>
            </a:r>
          </a:p>
        </p:txBody>
      </p:sp>
      <p:sp>
        <p:nvSpPr>
          <p:cNvPr id="8" name="TextBox 7"/>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9" name="TextBox 8"/>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35 / 63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777240"/>
          </a:xfrm>
          <a:prstGeom prst="rect">
            <a:avLst/>
          </a:prstGeom>
          <a:noFill/>
        </p:spPr>
        <p:txBody>
          <a:bodyPr wrap="square" anchor="t"/>
          <a:lstStyle/>
          <a:p>
            <a:pPr algn="l"/>
            <a:r>
              <a:rPr sz="2800" b="1" i="0">
                <a:solidFill>
                  <a:srgbClr val="121212"/>
                </a:solidFill>
                <a:latin typeface="Calibri"/>
                <a:ea typeface="Calibri"/>
              </a:rPr>
              <a:t>Alus avab ukse; põhimõtted ütlevad, kuidas toas käituda</a:t>
            </a:r>
          </a:p>
        </p:txBody>
      </p:sp>
      <p:sp>
        <p:nvSpPr>
          <p:cNvPr id="6" name="TextBox 5"/>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leping / seadus / huvi üksi ei luba SELECT * ega igavest ajalugu</a:t>
            </a:r>
          </a:p>
          <a:p>
            <a:pPr algn="l">
              <a:spcAft>
                <a:spcPts val="1200"/>
              </a:spcAft>
            </a:pPr>
            <a:r>
              <a:rPr sz="2200" b="0" i="0">
                <a:solidFill>
                  <a:srgbClr val="202020"/>
                </a:solidFill>
                <a:latin typeface="Calibri"/>
                <a:ea typeface="Calibri"/>
              </a:rPr>
              <a:t>•  ilma aluseta on ka „ilus ja turvaline“ mudel ebaseaduslik</a:t>
            </a:r>
          </a:p>
          <a:p>
            <a:pPr algn="l">
              <a:spcAft>
                <a:spcPts val="1200"/>
              </a:spcAft>
            </a:pPr>
            <a:r>
              <a:rPr sz="2200" b="0" i="0">
                <a:solidFill>
                  <a:srgbClr val="202020"/>
                </a:solidFill>
                <a:latin typeface="Calibri"/>
                <a:ea typeface="Calibri"/>
              </a:rPr>
              <a:t>•  näide: tarneandmed on leping — ei ole luba müüa profiili edasi</a:t>
            </a:r>
          </a:p>
          <a:p>
            <a:pPr algn="l">
              <a:spcAft>
                <a:spcPts val="1200"/>
              </a:spcAft>
            </a:pPr>
            <a:r>
              <a:rPr sz="2200" b="0" i="0">
                <a:solidFill>
                  <a:srgbClr val="202020"/>
                </a:solidFill>
                <a:latin typeface="Calibri"/>
                <a:ea typeface="Calibri"/>
              </a:rPr>
              <a:t>•  näide: õigustatud huvi on kirjas — aga n=1 ruut ja avatud link rikuvad ikkagi</a:t>
            </a:r>
          </a:p>
        </p:txBody>
      </p:sp>
      <p:sp>
        <p:nvSpPr>
          <p:cNvPr id="7" name="TextBox 6"/>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8" name="TextBox 7"/>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36 / 63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640080"/>
          </a:xfrm>
          <a:prstGeom prst="rect">
            <a:avLst/>
          </a:prstGeom>
          <a:noFill/>
        </p:spPr>
        <p:txBody>
          <a:bodyPr wrap="square" anchor="t"/>
          <a:lstStyle/>
          <a:p>
            <a:pPr algn="l"/>
            <a:r>
              <a:rPr sz="2800" b="1" i="0">
                <a:solidFill>
                  <a:srgbClr val="121212"/>
                </a:solidFill>
                <a:latin typeface="Calibri"/>
                <a:ea typeface="Calibri"/>
              </a:rPr>
              <a:t>Analüütika kolm astet: ärge nimetage valet</a:t>
            </a:r>
          </a:p>
        </p:txBody>
      </p:sp>
      <p:sp>
        <p:nvSpPr>
          <p:cNvPr id="6" name="Rounded Rectangle 5"/>
          <p:cNvSpPr/>
          <p:nvPr/>
        </p:nvSpPr>
        <p:spPr>
          <a:xfrm>
            <a:off x="502920" y="1188720"/>
            <a:ext cx="3584448" cy="4937760"/>
          </a:xfrm>
          <a:prstGeom prst="round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316736"/>
            <a:ext cx="3255264" cy="365760"/>
          </a:xfrm>
          <a:prstGeom prst="rect">
            <a:avLst/>
          </a:prstGeom>
          <a:noFill/>
        </p:spPr>
        <p:txBody>
          <a:bodyPr wrap="square" anchor="t"/>
          <a:lstStyle/>
          <a:p>
            <a:pPr algn="l"/>
            <a:r>
              <a:rPr sz="1600" b="1" i="0">
                <a:solidFill>
                  <a:srgbClr val="121212"/>
                </a:solidFill>
                <a:latin typeface="Calibri"/>
                <a:ea typeface="Calibri"/>
              </a:rPr>
              <a:t>Koond</a:t>
            </a:r>
          </a:p>
        </p:txBody>
      </p:sp>
      <p:sp>
        <p:nvSpPr>
          <p:cNvPr id="8" name="TextBox 7"/>
          <p:cNvSpPr txBox="1"/>
          <p:nvPr/>
        </p:nvSpPr>
        <p:spPr>
          <a:xfrm>
            <a:off x="667512" y="1664208"/>
            <a:ext cx="3255264" cy="4334256"/>
          </a:xfrm>
          <a:prstGeom prst="rect">
            <a:avLst/>
          </a:prstGeom>
          <a:noFill/>
        </p:spPr>
        <p:txBody>
          <a:bodyPr wrap="square" anchor="t"/>
          <a:lstStyle/>
          <a:p>
            <a:pPr algn="l"/>
            <a:r>
              <a:rPr sz="1400" b="0" i="0">
                <a:solidFill>
                  <a:srgbClr val="202020"/>
                </a:solidFill>
                <a:latin typeface="Calibri"/>
                <a:ea typeface="Calibri"/>
              </a:rPr>
              <a:t>Rühmad, keskmised, vahemikud.
Kontrolli n=1 ja haruldast tunnust.
Eestis: amet + vald on oht.
Tihti piisab juhtimisest.</a:t>
            </a:r>
          </a:p>
        </p:txBody>
      </p:sp>
      <p:sp>
        <p:nvSpPr>
          <p:cNvPr id="9" name="Rounded Rectangle 8"/>
          <p:cNvSpPr/>
          <p:nvPr/>
        </p:nvSpPr>
        <p:spPr>
          <a:xfrm>
            <a:off x="4288536" y="1188720"/>
            <a:ext cx="3584448" cy="4937760"/>
          </a:xfrm>
          <a:prstGeom prst="round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53128" y="1316736"/>
            <a:ext cx="3255264" cy="365760"/>
          </a:xfrm>
          <a:prstGeom prst="rect">
            <a:avLst/>
          </a:prstGeom>
          <a:noFill/>
        </p:spPr>
        <p:txBody>
          <a:bodyPr wrap="square" anchor="t"/>
          <a:lstStyle/>
          <a:p>
            <a:pPr algn="l"/>
            <a:r>
              <a:rPr sz="1600" b="1" i="0">
                <a:solidFill>
                  <a:srgbClr val="121212"/>
                </a:solidFill>
                <a:latin typeface="Calibri"/>
                <a:ea typeface="Calibri"/>
              </a:rPr>
              <a:t>Pseudonüüm</a:t>
            </a:r>
          </a:p>
        </p:txBody>
      </p:sp>
      <p:sp>
        <p:nvSpPr>
          <p:cNvPr id="11" name="TextBox 10"/>
          <p:cNvSpPr txBox="1"/>
          <p:nvPr/>
        </p:nvSpPr>
        <p:spPr>
          <a:xfrm>
            <a:off x="4453128" y="1664208"/>
            <a:ext cx="3255264" cy="4334256"/>
          </a:xfrm>
          <a:prstGeom prst="rect">
            <a:avLst/>
          </a:prstGeom>
          <a:noFill/>
        </p:spPr>
        <p:txBody>
          <a:bodyPr wrap="square" anchor="t"/>
          <a:lstStyle/>
          <a:p>
            <a:pPr algn="l"/>
            <a:r>
              <a:rPr sz="1400" b="0" i="0">
                <a:solidFill>
                  <a:srgbClr val="202020"/>
                </a:solidFill>
                <a:latin typeface="Calibri"/>
                <a:ea typeface="Calibri"/>
              </a:rPr>
              <a:t>Võti eraldi, analüüs koodidega.
IKÜM kehtib edasi.
Hea vaikimisi analüütikakihis.
Ärge jätke tõlketabelit samasse notebooki.</a:t>
            </a:r>
          </a:p>
        </p:txBody>
      </p:sp>
      <p:sp>
        <p:nvSpPr>
          <p:cNvPr id="12" name="Rounded Rectangle 11"/>
          <p:cNvSpPr/>
          <p:nvPr/>
        </p:nvSpPr>
        <p:spPr>
          <a:xfrm>
            <a:off x="8074152" y="1188720"/>
            <a:ext cx="3584448" cy="4937760"/>
          </a:xfrm>
          <a:prstGeom prst="round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38744" y="1316736"/>
            <a:ext cx="3255264" cy="365760"/>
          </a:xfrm>
          <a:prstGeom prst="rect">
            <a:avLst/>
          </a:prstGeom>
          <a:noFill/>
        </p:spPr>
        <p:txBody>
          <a:bodyPr wrap="square" anchor="t"/>
          <a:lstStyle/>
          <a:p>
            <a:pPr algn="l"/>
            <a:r>
              <a:rPr sz="1600" b="1" i="0">
                <a:solidFill>
                  <a:srgbClr val="121212"/>
                </a:solidFill>
                <a:latin typeface="Calibri"/>
                <a:ea typeface="Calibri"/>
              </a:rPr>
              <a:t>Täisidentiteet</a:t>
            </a:r>
          </a:p>
        </p:txBody>
      </p:sp>
      <p:sp>
        <p:nvSpPr>
          <p:cNvPr id="14" name="TextBox 13"/>
          <p:cNvSpPr txBox="1"/>
          <p:nvPr/>
        </p:nvSpPr>
        <p:spPr>
          <a:xfrm>
            <a:off x="8238744" y="1664208"/>
            <a:ext cx="3255264" cy="4334256"/>
          </a:xfrm>
          <a:prstGeom prst="rect">
            <a:avLst/>
          </a:prstGeom>
          <a:noFill/>
        </p:spPr>
        <p:txBody>
          <a:bodyPr wrap="square" anchor="t"/>
          <a:lstStyle/>
          <a:p>
            <a:pPr algn="l"/>
            <a:r>
              <a:rPr sz="1400" b="0" i="0">
                <a:solidFill>
                  <a:srgbClr val="202020"/>
                </a:solidFill>
                <a:latin typeface="Calibri"/>
                <a:ea typeface="Calibri"/>
              </a:rPr>
              <a:t>Nimi, isikukood, kontakt.
Ainult kui eesmärk ja roll seda nõuavad.
Logi, kes vaatas.
Ärge tehke sellest järve vaikevormingut.</a:t>
            </a:r>
          </a:p>
        </p:txBody>
      </p:sp>
      <p:sp>
        <p:nvSpPr>
          <p:cNvPr id="15" name="TextBox 14"/>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16" name="TextBox 15"/>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37 / 63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300" b="1" i="0">
                <a:solidFill>
                  <a:srgbClr val="6E6E6E"/>
                </a:solidFill>
                <a:latin typeface="Calibri"/>
                <a:ea typeface="Calibri"/>
              </a:rPr>
              <a:t>OSA II  ·  KOKKUVÕTE</a:t>
            </a:r>
          </a:p>
        </p:txBody>
      </p:sp>
      <p:sp>
        <p:nvSpPr>
          <p:cNvPr id="6" name="TextBox 5"/>
          <p:cNvSpPr txBox="1"/>
          <p:nvPr/>
        </p:nvSpPr>
        <p:spPr>
          <a:xfrm>
            <a:off x="502920" y="475488"/>
            <a:ext cx="11155680" cy="777240"/>
          </a:xfrm>
          <a:prstGeom prst="rect">
            <a:avLst/>
          </a:prstGeom>
          <a:noFill/>
        </p:spPr>
        <p:txBody>
          <a:bodyPr wrap="square" anchor="t"/>
          <a:lstStyle/>
          <a:p>
            <a:pPr algn="l"/>
            <a:r>
              <a:rPr sz="2800" b="1" i="0">
                <a:solidFill>
                  <a:srgbClr val="121212"/>
                </a:solidFill>
                <a:latin typeface="Calibri"/>
                <a:ea typeface="Calibri"/>
              </a:rPr>
              <a:t>Kompass, mis jääb kätte</a:t>
            </a:r>
          </a:p>
        </p:txBody>
      </p:sp>
      <p:sp>
        <p:nvSpPr>
          <p:cNvPr id="7" name="TextBox 6"/>
          <p:cNvSpPr txBox="1"/>
          <p:nvPr/>
        </p:nvSpPr>
        <p:spPr>
          <a:xfrm>
            <a:off x="502920" y="1325880"/>
            <a:ext cx="11155680" cy="4160520"/>
          </a:xfrm>
          <a:prstGeom prst="rect">
            <a:avLst/>
          </a:prstGeom>
          <a:noFill/>
        </p:spPr>
        <p:txBody>
          <a:bodyPr wrap="square">
            <a:spAutoFit/>
          </a:bodyPr>
          <a:lstStyle/>
          <a:p>
            <a:pPr algn="l">
              <a:spcAft>
                <a:spcPts val="1200"/>
              </a:spcAft>
            </a:pPr>
            <a:r>
              <a:rPr sz="2200" b="0" i="0">
                <a:solidFill>
                  <a:srgbClr val="202020"/>
                </a:solidFill>
                <a:latin typeface="Calibri"/>
                <a:ea typeface="Calibri"/>
              </a:rPr>
              <a:t>•  seitse küsimust enne Run / Publish / Share</a:t>
            </a:r>
          </a:p>
          <a:p>
            <a:pPr algn="l">
              <a:spcAft>
                <a:spcPts val="1200"/>
              </a:spcAft>
            </a:pPr>
            <a:r>
              <a:rPr sz="2200" b="0" i="0">
                <a:solidFill>
                  <a:srgbClr val="202020"/>
                </a:solidFill>
                <a:latin typeface="Calibri"/>
                <a:ea typeface="Calibri"/>
              </a:rPr>
              <a:t>•  JOIN, SELECT *, vana CSV, avatud link, n=1 on teie tegelikud riskid</a:t>
            </a:r>
          </a:p>
          <a:p>
            <a:pPr algn="l">
              <a:spcAft>
                <a:spcPts val="1200"/>
              </a:spcAft>
            </a:pPr>
            <a:r>
              <a:rPr sz="2200" b="0" i="0">
                <a:solidFill>
                  <a:srgbClr val="202020"/>
                </a:solidFill>
                <a:latin typeface="Calibri"/>
                <a:ea typeface="Calibri"/>
              </a:rPr>
              <a:t>•  alus ja põhimõtted koos; koond → pseudonüüm → identiteet ainult vajadusel</a:t>
            </a:r>
          </a:p>
          <a:p>
            <a:pPr algn="l">
              <a:spcAft>
                <a:spcPts val="1200"/>
              </a:spcAft>
            </a:pPr>
            <a:r>
              <a:rPr sz="2200" b="0" i="0">
                <a:solidFill>
                  <a:srgbClr val="202020"/>
                </a:solidFill>
                <a:latin typeface="Calibri"/>
                <a:ea typeface="Calibri"/>
              </a:rPr>
              <a:t>•  kirjutage otsus üles — muidu tuleb järgmine analüütik ja lisab veeru tagasi</a:t>
            </a:r>
          </a:p>
        </p:txBody>
      </p:sp>
      <p:sp>
        <p:nvSpPr>
          <p:cNvPr id="8" name="Rounded Rectangle 7"/>
          <p:cNvSpPr/>
          <p:nvPr/>
        </p:nvSpPr>
        <p:spPr>
          <a:xfrm>
            <a:off x="502920" y="5623560"/>
            <a:ext cx="11155680" cy="777240"/>
          </a:xfrm>
          <a:prstGeom prst="round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742432"/>
            <a:ext cx="10789920" cy="548640"/>
          </a:xfrm>
          <a:prstGeom prst="rect">
            <a:avLst/>
          </a:prstGeom>
          <a:noFill/>
        </p:spPr>
        <p:txBody>
          <a:bodyPr wrap="square" anchor="t"/>
          <a:lstStyle/>
          <a:p>
            <a:pPr algn="l"/>
            <a:r>
              <a:rPr sz="1600" b="1" i="0">
                <a:solidFill>
                  <a:srgbClr val="121212"/>
                </a:solidFill>
                <a:latin typeface="Calibri"/>
                <a:ea typeface="Calibri"/>
              </a:rPr>
              <a:t>Pärast pausi: kuidas ehitada see kaitse mudelisse ja vaikimisi õigustesse.</a:t>
            </a:r>
          </a:p>
        </p:txBody>
      </p:sp>
      <p:sp>
        <p:nvSpPr>
          <p:cNvPr id="10" name="TextBox 9"/>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11" name="TextBox 10"/>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38 / 63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10972800" cy="1097280"/>
          </a:xfrm>
          <a:prstGeom prst="rect">
            <a:avLst/>
          </a:prstGeom>
          <a:noFill/>
        </p:spPr>
        <p:txBody>
          <a:bodyPr wrap="square" anchor="t"/>
          <a:lstStyle/>
          <a:p>
            <a:pPr algn="l"/>
            <a:r>
              <a:rPr sz="4400" b="1" i="0">
                <a:solidFill>
                  <a:srgbClr val="121212"/>
                </a:solidFill>
                <a:latin typeface="Calibri"/>
                <a:ea typeface="Calibri"/>
              </a:rPr>
              <a:t>Paus  ·  10 minutit</a:t>
            </a:r>
          </a:p>
        </p:txBody>
      </p:sp>
      <p:sp>
        <p:nvSpPr>
          <p:cNvPr id="5" name="TextBox 4"/>
          <p:cNvSpPr txBox="1"/>
          <p:nvPr/>
        </p:nvSpPr>
        <p:spPr>
          <a:xfrm>
            <a:off x="640080" y="3474720"/>
            <a:ext cx="10972800" cy="914400"/>
          </a:xfrm>
          <a:prstGeom prst="rect">
            <a:avLst/>
          </a:prstGeom>
          <a:noFill/>
        </p:spPr>
        <p:txBody>
          <a:bodyPr wrap="square" anchor="t"/>
          <a:lstStyle/>
          <a:p>
            <a:pPr algn="l"/>
            <a:r>
              <a:rPr sz="2000" b="0" i="0">
                <a:solidFill>
                  <a:srgbClr val="202020"/>
                </a:solidFill>
                <a:latin typeface="Calibri"/>
                <a:ea typeface="Calibri"/>
              </a:rPr>
              <a:t>Järgmine: lõimitud ja vaikimisi andmekaitse andmeplatvormis.</a:t>
            </a:r>
          </a:p>
        </p:txBody>
      </p:sp>
      <p:sp>
        <p:nvSpPr>
          <p:cNvPr id="6" name="TextBox 5"/>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7" name="TextBox 6"/>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39 / 63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972800" cy="365760"/>
          </a:xfrm>
          <a:prstGeom prst="rect">
            <a:avLst/>
          </a:prstGeom>
          <a:noFill/>
        </p:spPr>
        <p:txBody>
          <a:bodyPr wrap="square" anchor="t"/>
          <a:lstStyle/>
          <a:p>
            <a:pPr algn="l"/>
            <a:r>
              <a:rPr sz="1600" b="1" i="0">
                <a:solidFill>
                  <a:srgbClr val="121212"/>
                </a:solidFill>
                <a:latin typeface="Calibri"/>
                <a:ea typeface="Calibri"/>
              </a:rPr>
              <a:t>OSA III  ·  umbes 32 minutit</a:t>
            </a:r>
          </a:p>
        </p:txBody>
      </p:sp>
      <p:sp>
        <p:nvSpPr>
          <p:cNvPr id="5" name="TextBox 4"/>
          <p:cNvSpPr txBox="1"/>
          <p:nvPr/>
        </p:nvSpPr>
        <p:spPr>
          <a:xfrm>
            <a:off x="640080" y="2011680"/>
            <a:ext cx="10972800" cy="2011680"/>
          </a:xfrm>
          <a:prstGeom prst="rect">
            <a:avLst/>
          </a:prstGeom>
          <a:noFill/>
        </p:spPr>
        <p:txBody>
          <a:bodyPr wrap="square" anchor="t"/>
          <a:lstStyle/>
          <a:p>
            <a:pPr algn="l"/>
            <a:r>
              <a:rPr sz="3600" b="1" i="0">
                <a:solidFill>
                  <a:srgbClr val="121212"/>
                </a:solidFill>
                <a:latin typeface="Calibri"/>
                <a:ea typeface="Calibri"/>
              </a:rPr>
              <a:t>Lõimitud ja vaikimisi kaitse andmeplatvormis</a:t>
            </a:r>
          </a:p>
        </p:txBody>
      </p:sp>
      <p:sp>
        <p:nvSpPr>
          <p:cNvPr id="6" name="TextBox 5"/>
          <p:cNvSpPr txBox="1"/>
          <p:nvPr/>
        </p:nvSpPr>
        <p:spPr>
          <a:xfrm>
            <a:off x="640080" y="4206240"/>
            <a:ext cx="10972800" cy="1097280"/>
          </a:xfrm>
          <a:prstGeom prst="rect">
            <a:avLst/>
          </a:prstGeom>
          <a:noFill/>
        </p:spPr>
        <p:txBody>
          <a:bodyPr wrap="square" anchor="t"/>
          <a:lstStyle/>
          <a:p>
            <a:pPr algn="l"/>
            <a:r>
              <a:rPr sz="1800" b="0" i="0">
                <a:solidFill>
                  <a:srgbClr val="202020"/>
                </a:solidFill>
                <a:latin typeface="Calibri"/>
                <a:ea typeface="Calibri"/>
              </a:rPr>
              <a:t>IKÜM artikkel 25  ·  mudel, toru, tööala ja vaikevaade — mitte kleebis lõpus</a:t>
            </a:r>
          </a:p>
        </p:txBody>
      </p:sp>
      <p:sp>
        <p:nvSpPr>
          <p:cNvPr id="7" name="TextBox 6"/>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8" name="TextBox 7"/>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40 / 63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300" b="1" i="0">
                <a:solidFill>
                  <a:srgbClr val="6E6E6E"/>
                </a:solidFill>
                <a:latin typeface="Calibri"/>
                <a:ea typeface="Calibri"/>
              </a:rPr>
              <a:t>IKÜM artikkel 25</a:t>
            </a:r>
          </a:p>
        </p:txBody>
      </p:sp>
      <p:sp>
        <p:nvSpPr>
          <p:cNvPr id="6" name="TextBox 5"/>
          <p:cNvSpPr txBox="1"/>
          <p:nvPr/>
        </p:nvSpPr>
        <p:spPr>
          <a:xfrm>
            <a:off x="502920" y="475488"/>
            <a:ext cx="11155680" cy="777240"/>
          </a:xfrm>
          <a:prstGeom prst="rect">
            <a:avLst/>
          </a:prstGeom>
          <a:noFill/>
        </p:spPr>
        <p:txBody>
          <a:bodyPr wrap="square" anchor="t"/>
          <a:lstStyle/>
          <a:p>
            <a:pPr algn="l"/>
            <a:r>
              <a:rPr sz="2800" b="1" i="0">
                <a:solidFill>
                  <a:srgbClr val="121212"/>
                </a:solidFill>
                <a:latin typeface="Calibri"/>
                <a:ea typeface="Calibri"/>
              </a:rPr>
              <a:t>Artikkel 25 kahe lausega teie keeles</a:t>
            </a:r>
          </a:p>
        </p:txBody>
      </p:sp>
      <p:sp>
        <p:nvSpPr>
          <p:cNvPr id="7" name="TextBox 6"/>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lõimitud: juba toru ja mudelit kavandades pane kaitsemeetmed sisse</a:t>
            </a:r>
          </a:p>
          <a:p>
            <a:pPr algn="l">
              <a:spcAft>
                <a:spcPts val="1200"/>
              </a:spcAft>
            </a:pPr>
            <a:r>
              <a:rPr sz="2200" b="0" i="0">
                <a:solidFill>
                  <a:srgbClr val="202020"/>
                </a:solidFill>
                <a:latin typeface="Calibri"/>
                <a:ea typeface="Calibri"/>
              </a:rPr>
              <a:t>•  vaikimisi: töötle ainult eesmärgiks vajalikku — hulk, ulatus, aeg, kättesaadavus</a:t>
            </a:r>
          </a:p>
          <a:p>
            <a:pPr algn="l">
              <a:spcAft>
                <a:spcPts val="1200"/>
              </a:spcAft>
            </a:pPr>
            <a:r>
              <a:rPr sz="2200" b="0" i="0">
                <a:solidFill>
                  <a:srgbClr val="202020"/>
                </a:solidFill>
                <a:latin typeface="Calibri"/>
                <a:ea typeface="Calibri"/>
              </a:rPr>
              <a:t>•  vaikimisi ei ole „kogu maja näeb ridu“ ega „kõik kellel on link“</a:t>
            </a:r>
          </a:p>
          <a:p>
            <a:pPr algn="l">
              <a:spcAft>
                <a:spcPts val="1200"/>
              </a:spcAft>
            </a:pPr>
            <a:r>
              <a:rPr sz="2200" b="0" i="0">
                <a:solidFill>
                  <a:srgbClr val="202020"/>
                </a:solidFill>
                <a:latin typeface="Calibri"/>
                <a:ea typeface="Calibri"/>
              </a:rPr>
              <a:t>•  seadus arvestab tehnika taset, kulu ja ohtu — „oleme väikesed“ ei ole vabastus</a:t>
            </a:r>
          </a:p>
          <a:p>
            <a:pPr algn="l">
              <a:spcAft>
                <a:spcPts val="1200"/>
              </a:spcAft>
            </a:pPr>
            <a:r>
              <a:rPr sz="2200" b="0" i="0">
                <a:solidFill>
                  <a:srgbClr val="202020"/>
                </a:solidFill>
                <a:latin typeface="Calibri"/>
                <a:ea typeface="Calibri"/>
              </a:rPr>
              <a:t>•  kui oht on suur (eriliik, maht), peab meede olema tugevam, mitte olematu</a:t>
            </a:r>
          </a:p>
        </p:txBody>
      </p:sp>
      <p:sp>
        <p:nvSpPr>
          <p:cNvPr id="8" name="TextBox 7"/>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9" name="TextBox 8"/>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41 / 63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640080"/>
          </a:xfrm>
          <a:prstGeom prst="rect">
            <a:avLst/>
          </a:prstGeom>
          <a:noFill/>
        </p:spPr>
        <p:txBody>
          <a:bodyPr wrap="square" anchor="t"/>
          <a:lstStyle/>
          <a:p>
            <a:pPr algn="l"/>
            <a:r>
              <a:rPr sz="2800" b="1" i="0">
                <a:solidFill>
                  <a:srgbClr val="121212"/>
                </a:solidFill>
                <a:latin typeface="Calibri"/>
                <a:ea typeface="Calibri"/>
              </a:rPr>
              <a:t>Kaks kaksikut teie tööriistades</a:t>
            </a:r>
          </a:p>
        </p:txBody>
      </p:sp>
      <p:sp>
        <p:nvSpPr>
          <p:cNvPr id="6" name="Rounded Rectangle 5"/>
          <p:cNvSpPr/>
          <p:nvPr/>
        </p:nvSpPr>
        <p:spPr>
          <a:xfrm>
            <a:off x="502920" y="1188720"/>
            <a:ext cx="5477256" cy="4937760"/>
          </a:xfrm>
          <a:prstGeom prst="round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316736"/>
            <a:ext cx="5148072" cy="365760"/>
          </a:xfrm>
          <a:prstGeom prst="rect">
            <a:avLst/>
          </a:prstGeom>
          <a:noFill/>
        </p:spPr>
        <p:txBody>
          <a:bodyPr wrap="square" anchor="t"/>
          <a:lstStyle/>
          <a:p>
            <a:pPr algn="l"/>
            <a:r>
              <a:rPr sz="1600" b="1" i="0">
                <a:solidFill>
                  <a:srgbClr val="121212"/>
                </a:solidFill>
                <a:latin typeface="Calibri"/>
                <a:ea typeface="Calibri"/>
              </a:rPr>
              <a:t>Lõimitud  ·  by design</a:t>
            </a:r>
          </a:p>
        </p:txBody>
      </p:sp>
      <p:sp>
        <p:nvSpPr>
          <p:cNvPr id="8" name="TextBox 7"/>
          <p:cNvSpPr txBox="1"/>
          <p:nvPr/>
        </p:nvSpPr>
        <p:spPr>
          <a:xfrm>
            <a:off x="667512" y="1664208"/>
            <a:ext cx="5148072" cy="4334256"/>
          </a:xfrm>
          <a:prstGeom prst="rect">
            <a:avLst/>
          </a:prstGeom>
          <a:noFill/>
        </p:spPr>
        <p:txBody>
          <a:bodyPr wrap="square" anchor="t"/>
          <a:lstStyle/>
          <a:p>
            <a:pPr algn="l"/>
            <a:r>
              <a:rPr sz="1400" b="0" i="0">
                <a:solidFill>
                  <a:srgbClr val="202020"/>
                </a:solidFill>
                <a:latin typeface="Calibri"/>
                <a:ea typeface="Calibri"/>
              </a:rPr>
              <a:t>Arhitektuur alguses.
• kas isikukoodi on järves vaja?
• kas võti ja analüüs on eraldi?
• kas test on maskeeritud?
• kas kustutus on toru osa?
• kas lineage ja logid on olemas?</a:t>
            </a:r>
          </a:p>
        </p:txBody>
      </p:sp>
      <p:sp>
        <p:nvSpPr>
          <p:cNvPr id="9" name="Rounded Rectangle 8"/>
          <p:cNvSpPr/>
          <p:nvPr/>
        </p:nvSpPr>
        <p:spPr>
          <a:xfrm>
            <a:off x="6181344" y="1188720"/>
            <a:ext cx="5477256" cy="4937760"/>
          </a:xfrm>
          <a:prstGeom prst="round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5936" y="1316736"/>
            <a:ext cx="5148072" cy="365760"/>
          </a:xfrm>
          <a:prstGeom prst="rect">
            <a:avLst/>
          </a:prstGeom>
          <a:noFill/>
        </p:spPr>
        <p:txBody>
          <a:bodyPr wrap="square" anchor="t"/>
          <a:lstStyle/>
          <a:p>
            <a:pPr algn="l"/>
            <a:r>
              <a:rPr sz="1600" b="1" i="0">
                <a:solidFill>
                  <a:srgbClr val="121212"/>
                </a:solidFill>
                <a:latin typeface="Calibri"/>
                <a:ea typeface="Calibri"/>
              </a:rPr>
              <a:t>Vaikimisi  ·  by default</a:t>
            </a:r>
          </a:p>
        </p:txBody>
      </p:sp>
      <p:sp>
        <p:nvSpPr>
          <p:cNvPr id="11" name="TextBox 10"/>
          <p:cNvSpPr txBox="1"/>
          <p:nvPr/>
        </p:nvSpPr>
        <p:spPr>
          <a:xfrm>
            <a:off x="6345936" y="1664208"/>
            <a:ext cx="5148072" cy="4334256"/>
          </a:xfrm>
          <a:prstGeom prst="rect">
            <a:avLst/>
          </a:prstGeom>
          <a:noFill/>
        </p:spPr>
        <p:txBody>
          <a:bodyPr wrap="square" anchor="t"/>
          <a:lstStyle/>
          <a:p>
            <a:pPr algn="l"/>
            <a:r>
              <a:rPr sz="1400" b="0" i="0">
                <a:solidFill>
                  <a:srgbClr val="202020"/>
                </a:solidFill>
                <a:latin typeface="Calibri"/>
                <a:ea typeface="Calibri"/>
              </a:rPr>
              <a:t>Tehaseseadistus.
• uus tööala suletud, mitte kogu maja
• vaikevaade koond, mitte rida
• allalaadimine kinni, kuni roll lubab
• uued veerud peidus, kuni eesmärk on kirjas
• säilitus lühike, kuni keegi põhjendab</a:t>
            </a:r>
          </a:p>
        </p:txBody>
      </p:sp>
      <p:sp>
        <p:nvSpPr>
          <p:cNvPr id="12" name="TextBox 11"/>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13" name="TextBox 12"/>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42 / 63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777240"/>
          </a:xfrm>
          <a:prstGeom prst="rect">
            <a:avLst/>
          </a:prstGeom>
          <a:noFill/>
        </p:spPr>
        <p:txBody>
          <a:bodyPr wrap="square" anchor="t"/>
          <a:lstStyle/>
          <a:p>
            <a:pPr algn="l"/>
            <a:r>
              <a:rPr sz="2800" b="1" i="0">
                <a:solidFill>
                  <a:srgbClr val="121212"/>
                </a:solidFill>
                <a:latin typeface="Calibri"/>
                <a:ea typeface="Calibri"/>
              </a:rPr>
              <a:t>Andmeinsener: tsoonid, mask, unustamine, jälg</a:t>
            </a:r>
          </a:p>
        </p:txBody>
      </p:sp>
      <p:sp>
        <p:nvSpPr>
          <p:cNvPr id="6" name="TextBox 5"/>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eraldage domeenid: HR / tervis / klient / logid ei ole üks avatud järv</a:t>
            </a:r>
          </a:p>
          <a:p>
            <a:pPr algn="l">
              <a:spcAft>
                <a:spcPts val="1200"/>
              </a:spcAft>
            </a:pPr>
            <a:r>
              <a:rPr sz="2200" b="0" i="0">
                <a:solidFill>
                  <a:srgbClr val="202020"/>
                </a:solidFill>
                <a:latin typeface="Calibri"/>
                <a:ea typeface="Calibri"/>
              </a:rPr>
              <a:t>•  toodang ≠ test ≠ õpe; maskeerige või sünteesige enne, kui ligipääs laieneb</a:t>
            </a:r>
          </a:p>
          <a:p>
            <a:pPr algn="l">
              <a:spcAft>
                <a:spcPts val="1200"/>
              </a:spcAft>
            </a:pPr>
            <a:r>
              <a:rPr sz="2200" b="0" i="0">
                <a:solidFill>
                  <a:srgbClr val="202020"/>
                </a:solidFill>
                <a:latin typeface="Calibri"/>
                <a:ea typeface="Calibri"/>
              </a:rPr>
              <a:t>•  võtmetsoon eraldi; analüütikakiht pseudonüümiga</a:t>
            </a:r>
          </a:p>
          <a:p>
            <a:pPr algn="l">
              <a:spcAft>
                <a:spcPts val="1200"/>
              </a:spcAft>
            </a:pPr>
            <a:r>
              <a:rPr sz="2200" b="0" i="0">
                <a:solidFill>
                  <a:srgbClr val="202020"/>
                </a:solidFill>
                <a:latin typeface="Calibri"/>
                <a:ea typeface="Calibri"/>
              </a:rPr>
              <a:t>•  säilitus- ja kustutusreegel on pipeline’i osa, mitte käsitsitöö lubadus</a:t>
            </a:r>
          </a:p>
          <a:p>
            <a:pPr algn="l">
              <a:spcAft>
                <a:spcPts val="1200"/>
              </a:spcAft>
            </a:pPr>
            <a:r>
              <a:rPr sz="2200" b="0" i="0">
                <a:solidFill>
                  <a:srgbClr val="202020"/>
                </a:solidFill>
                <a:latin typeface="Calibri"/>
                <a:ea typeface="Calibri"/>
              </a:rPr>
              <a:t>•  logige, kes luges tundlikku tsooni; lineage andmesubjekti päringuks</a:t>
            </a:r>
          </a:p>
        </p:txBody>
      </p:sp>
      <p:sp>
        <p:nvSpPr>
          <p:cNvPr id="7" name="TextBox 6"/>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8" name="TextBox 7"/>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43 / 63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777240"/>
          </a:xfrm>
          <a:prstGeom prst="rect">
            <a:avLst/>
          </a:prstGeom>
          <a:noFill/>
        </p:spPr>
        <p:txBody>
          <a:bodyPr wrap="square" anchor="t"/>
          <a:lstStyle/>
          <a:p>
            <a:pPr algn="l"/>
            <a:r>
              <a:rPr sz="2800" b="1" i="0">
                <a:solidFill>
                  <a:srgbClr val="121212"/>
                </a:solidFill>
                <a:latin typeface="Calibri"/>
                <a:ea typeface="Calibri"/>
              </a:rPr>
              <a:t>BI-analüütik: mudel, RLS, allalaadimine, tööala</a:t>
            </a:r>
          </a:p>
        </p:txBody>
      </p:sp>
      <p:sp>
        <p:nvSpPr>
          <p:cNvPr id="6" name="TextBox 5"/>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ärge tooge mudelisse veerge, mida visuaal ei kasuta</a:t>
            </a:r>
          </a:p>
          <a:p>
            <a:pPr algn="l">
              <a:spcAft>
                <a:spcPts val="1200"/>
              </a:spcAft>
            </a:pPr>
            <a:r>
              <a:rPr sz="2200" b="0" i="0">
                <a:solidFill>
                  <a:srgbClr val="202020"/>
                </a:solidFill>
                <a:latin typeface="Calibri"/>
                <a:ea typeface="Calibri"/>
              </a:rPr>
              <a:t>•  vaikimisi koond; rida-realt ainult rollile, RLS testitud allalaadimisel</a:t>
            </a:r>
          </a:p>
          <a:p>
            <a:pPr algn="l">
              <a:spcAft>
                <a:spcPts val="1200"/>
              </a:spcAft>
            </a:pPr>
            <a:r>
              <a:rPr sz="2200" b="0" i="0">
                <a:solidFill>
                  <a:srgbClr val="202020"/>
                </a:solidFill>
                <a:latin typeface="Calibri"/>
                <a:ea typeface="Calibri"/>
              </a:rPr>
              <a:t>•  uus avaldamine: kitsas tööala, nimelised inimesed, mitte kogu asutus</a:t>
            </a:r>
          </a:p>
          <a:p>
            <a:pPr algn="l">
              <a:spcAft>
                <a:spcPts val="1200"/>
              </a:spcAft>
            </a:pPr>
            <a:r>
              <a:rPr sz="2200" b="0" i="0">
                <a:solidFill>
                  <a:srgbClr val="202020"/>
                </a:solidFill>
                <a:latin typeface="Calibri"/>
                <a:ea typeface="Calibri"/>
              </a:rPr>
              <a:t>•  koolitus ja ekraanipilt: sünteetika või tugevalt kadreeritud</a:t>
            </a:r>
          </a:p>
          <a:p>
            <a:pPr algn="l">
              <a:spcAft>
                <a:spcPts val="1200"/>
              </a:spcAft>
            </a:pPr>
            <a:r>
              <a:rPr sz="2200" b="0" i="0">
                <a:solidFill>
                  <a:srgbClr val="202020"/>
                </a:solidFill>
                <a:latin typeface="Calibri"/>
                <a:ea typeface="Calibri"/>
              </a:rPr>
              <a:t>•  andmestiku omanik + kustutamiskuupäev + „kes tohib Export“</a:t>
            </a:r>
          </a:p>
        </p:txBody>
      </p:sp>
      <p:sp>
        <p:nvSpPr>
          <p:cNvPr id="7" name="TextBox 6"/>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8" name="TextBox 7"/>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44 / 63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777240"/>
          </a:xfrm>
          <a:prstGeom prst="rect">
            <a:avLst/>
          </a:prstGeom>
          <a:noFill/>
        </p:spPr>
        <p:txBody>
          <a:bodyPr wrap="square" anchor="t"/>
          <a:lstStyle/>
          <a:p>
            <a:pPr algn="l"/>
            <a:r>
              <a:rPr sz="2800" b="1" i="0">
                <a:solidFill>
                  <a:srgbClr val="121212"/>
                </a:solidFill>
                <a:latin typeface="Calibri"/>
                <a:ea typeface="Calibri"/>
              </a:rPr>
              <a:t>Andmeanalüütik: päring, notebook, ühendamine, jagamine</a:t>
            </a:r>
          </a:p>
        </p:txBody>
      </p:sp>
      <p:sp>
        <p:nvSpPr>
          <p:cNvPr id="6" name="TextBox 5"/>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kirjutage eesmärk päringu kohale või ticketisse enne JOIN-i</a:t>
            </a:r>
          </a:p>
          <a:p>
            <a:pPr algn="l">
              <a:spcAft>
                <a:spcPts val="1200"/>
              </a:spcAft>
            </a:pPr>
            <a:r>
              <a:rPr sz="2200" b="0" i="0">
                <a:solidFill>
                  <a:srgbClr val="202020"/>
                </a:solidFill>
                <a:latin typeface="Calibri"/>
                <a:ea typeface="Calibri"/>
              </a:rPr>
              <a:t>•  ärge tõmmake täispilti koju; töötage asutuse keskkonnas</a:t>
            </a:r>
          </a:p>
          <a:p>
            <a:pPr algn="l">
              <a:spcAft>
                <a:spcPts val="1200"/>
              </a:spcAft>
            </a:pPr>
            <a:r>
              <a:rPr sz="2200" b="0" i="0">
                <a:solidFill>
                  <a:srgbClr val="202020"/>
                </a:solidFill>
                <a:latin typeface="Calibri"/>
                <a:ea typeface="Calibri"/>
              </a:rPr>
              <a:t>•  valim, koond, pseudonüüm enne, kui „vaatan korra kõiki ridu“</a:t>
            </a:r>
          </a:p>
          <a:p>
            <a:pPr algn="l">
              <a:spcAft>
                <a:spcPts val="1200"/>
              </a:spcAft>
            </a:pPr>
            <a:r>
              <a:rPr sz="2200" b="0" i="0">
                <a:solidFill>
                  <a:srgbClr val="202020"/>
                </a:solidFill>
                <a:latin typeface="Calibri"/>
                <a:ea typeface="Calibri"/>
              </a:rPr>
              <a:t>•  ärge kleepige isikuandmeid avalikku keelemudelisse ega juhuslikku SaaS-i</a:t>
            </a:r>
          </a:p>
          <a:p>
            <a:pPr algn="l">
              <a:spcAft>
                <a:spcPts val="1200"/>
              </a:spcAft>
            </a:pPr>
            <a:r>
              <a:rPr sz="2200" b="0" i="0">
                <a:solidFill>
                  <a:srgbClr val="202020"/>
                </a:solidFill>
                <a:latin typeface="Calibri"/>
                <a:ea typeface="Calibri"/>
              </a:rPr>
              <a:t>•  väljavõttel kuupäev ja kustutus; ärge jätke varjukausta</a:t>
            </a:r>
          </a:p>
        </p:txBody>
      </p:sp>
      <p:sp>
        <p:nvSpPr>
          <p:cNvPr id="7" name="TextBox 6"/>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8" name="TextBox 7"/>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45 / 63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300" b="1" i="0">
                <a:solidFill>
                  <a:srgbClr val="6E6E6E"/>
                </a:solidFill>
                <a:latin typeface="Calibri"/>
                <a:ea typeface="Calibri"/>
              </a:rPr>
              <a:t>IKÜM artikkel 35</a:t>
            </a:r>
          </a:p>
        </p:txBody>
      </p:sp>
      <p:sp>
        <p:nvSpPr>
          <p:cNvPr id="6" name="TextBox 5"/>
          <p:cNvSpPr txBox="1"/>
          <p:nvPr/>
        </p:nvSpPr>
        <p:spPr>
          <a:xfrm>
            <a:off x="502920" y="475488"/>
            <a:ext cx="11155680" cy="777240"/>
          </a:xfrm>
          <a:prstGeom prst="rect">
            <a:avLst/>
          </a:prstGeom>
          <a:noFill/>
        </p:spPr>
        <p:txBody>
          <a:bodyPr wrap="square" anchor="t"/>
          <a:lstStyle/>
          <a:p>
            <a:pPr algn="l"/>
            <a:r>
              <a:rPr sz="2800" b="1" i="0">
                <a:solidFill>
                  <a:srgbClr val="121212"/>
                </a:solidFill>
                <a:latin typeface="Calibri"/>
                <a:ea typeface="Calibri"/>
              </a:rPr>
              <a:t>Millal analüütikaprojekt vajab mõjuhinnangut?</a:t>
            </a:r>
          </a:p>
        </p:txBody>
      </p:sp>
      <p:sp>
        <p:nvSpPr>
          <p:cNvPr id="7" name="TextBox 6"/>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kõrge oht inimeste õigustele — enne alustamist, mitte pärast kaebust</a:t>
            </a:r>
          </a:p>
          <a:p>
            <a:pPr algn="l">
              <a:spcAft>
                <a:spcPts val="1200"/>
              </a:spcAft>
            </a:pPr>
            <a:r>
              <a:rPr sz="2200" b="0" i="0">
                <a:solidFill>
                  <a:srgbClr val="202020"/>
                </a:solidFill>
                <a:latin typeface="Calibri"/>
                <a:ea typeface="Calibri"/>
              </a:rPr>
              <a:t>•  tüüpiliselt: ulatuslik jälgimine, ulatuslik eriliik, skoor/profiil, mis mõjutab otsust</a:t>
            </a:r>
          </a:p>
          <a:p>
            <a:pPr algn="l">
              <a:spcAft>
                <a:spcPts val="1200"/>
              </a:spcAft>
            </a:pPr>
            <a:r>
              <a:rPr sz="2200" b="0" i="0">
                <a:solidFill>
                  <a:srgbClr val="202020"/>
                </a:solidFill>
                <a:latin typeface="Calibri"/>
                <a:ea typeface="Calibri"/>
              </a:rPr>
              <a:t>•  teie roll: kirjeldada andmevoog, mahud, liitmised, kes näeb, kus elab</a:t>
            </a:r>
          </a:p>
          <a:p>
            <a:pPr algn="l">
              <a:spcAft>
                <a:spcPts val="1200"/>
              </a:spcAft>
            </a:pPr>
            <a:r>
              <a:rPr sz="2200" b="0" i="0">
                <a:solidFill>
                  <a:srgbClr val="202020"/>
                </a:solidFill>
                <a:latin typeface="Calibri"/>
                <a:ea typeface="Calibri"/>
              </a:rPr>
              <a:t>•  kui jääkrisk jääb kõrgeks — AKI-ga konsulteerida enne go-live’i (art 36)</a:t>
            </a:r>
          </a:p>
          <a:p>
            <a:pPr algn="l">
              <a:spcAft>
                <a:spcPts val="1200"/>
              </a:spcAft>
            </a:pPr>
            <a:r>
              <a:rPr sz="2200" b="0" i="0">
                <a:solidFill>
                  <a:srgbClr val="202020"/>
                </a:solidFill>
                <a:latin typeface="Calibri"/>
                <a:ea typeface="Calibri"/>
              </a:rPr>
              <a:t>•  uus näotuvastus, massiline asukohalogi, automaatne keeld = ärge „teeme korra“</a:t>
            </a:r>
          </a:p>
        </p:txBody>
      </p:sp>
      <p:sp>
        <p:nvSpPr>
          <p:cNvPr id="8" name="TextBox 7"/>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9" name="TextBox 8"/>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46 / 63</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256032"/>
            <a:ext cx="1920240" cy="365760"/>
          </a:xfrm>
          <a:prstGeom prst="round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74320"/>
            <a:ext cx="1920240" cy="329184"/>
          </a:xfrm>
          <a:prstGeom prst="rect">
            <a:avLst/>
          </a:prstGeom>
          <a:noFill/>
        </p:spPr>
        <p:txBody>
          <a:bodyPr wrap="square" anchor="t"/>
          <a:lstStyle/>
          <a:p>
            <a:pPr algn="ctr"/>
            <a:r>
              <a:rPr sz="1300" b="1" i="0">
                <a:solidFill>
                  <a:srgbClr val="121212"/>
                </a:solidFill>
                <a:latin typeface="Calibri"/>
                <a:ea typeface="Calibri"/>
              </a:rPr>
              <a:t>HARJUTUS</a:t>
            </a:r>
          </a:p>
        </p:txBody>
      </p:sp>
      <p:sp>
        <p:nvSpPr>
          <p:cNvPr id="7" name="TextBox 6"/>
          <p:cNvSpPr txBox="1"/>
          <p:nvPr/>
        </p:nvSpPr>
        <p:spPr>
          <a:xfrm>
            <a:off x="2560320" y="256032"/>
            <a:ext cx="8961120" cy="365760"/>
          </a:xfrm>
          <a:prstGeom prst="rect">
            <a:avLst/>
          </a:prstGeom>
          <a:noFill/>
        </p:spPr>
        <p:txBody>
          <a:bodyPr wrap="square" anchor="t"/>
          <a:lstStyle/>
          <a:p>
            <a:pPr algn="l"/>
            <a:r>
              <a:rPr sz="1400" b="0" i="0">
                <a:solidFill>
                  <a:srgbClr val="585858"/>
                </a:solidFill>
                <a:latin typeface="Calibri"/>
                <a:ea typeface="Calibri"/>
              </a:rPr>
              <a:t>7 minutit  ·  paarides</a:t>
            </a:r>
          </a:p>
        </p:txBody>
      </p:sp>
      <p:sp>
        <p:nvSpPr>
          <p:cNvPr id="8" name="TextBox 7"/>
          <p:cNvSpPr txBox="1"/>
          <p:nvPr/>
        </p:nvSpPr>
        <p:spPr>
          <a:xfrm>
            <a:off x="502920" y="731520"/>
            <a:ext cx="11155680" cy="640080"/>
          </a:xfrm>
          <a:prstGeom prst="rect">
            <a:avLst/>
          </a:prstGeom>
          <a:noFill/>
        </p:spPr>
        <p:txBody>
          <a:bodyPr wrap="square" anchor="t"/>
          <a:lstStyle/>
          <a:p>
            <a:pPr algn="l"/>
            <a:r>
              <a:rPr sz="2600" b="1" i="0">
                <a:solidFill>
                  <a:srgbClr val="121212"/>
                </a:solidFill>
                <a:latin typeface="Calibri"/>
                <a:ea typeface="Calibri"/>
              </a:rPr>
              <a:t>Parandage see andmeplatvorm</a:t>
            </a:r>
          </a:p>
        </p:txBody>
      </p:sp>
      <p:sp>
        <p:nvSpPr>
          <p:cNvPr id="9" name="TextBox 8"/>
          <p:cNvSpPr txBox="1"/>
          <p:nvPr/>
        </p:nvSpPr>
        <p:spPr>
          <a:xfrm>
            <a:off x="502920" y="1463040"/>
            <a:ext cx="11155680" cy="4754880"/>
          </a:xfrm>
          <a:prstGeom prst="rect">
            <a:avLst/>
          </a:prstGeom>
          <a:noFill/>
        </p:spPr>
        <p:txBody>
          <a:bodyPr wrap="square">
            <a:spAutoFit/>
          </a:bodyPr>
          <a:lstStyle/>
          <a:p>
            <a:pPr algn="l">
              <a:spcAft>
                <a:spcPts val="1000"/>
              </a:spcAft>
            </a:pPr>
            <a:r>
              <a:rPr sz="2000" b="0" i="0">
                <a:solidFill>
                  <a:srgbClr val="202020"/>
                </a:solidFill>
                <a:latin typeface="Calibri"/>
                <a:ea typeface="Calibri"/>
              </a:rPr>
              <a:t>•  üks järv: CRM + palgad + haiguslehed + veebilogid, ligipääs „kõik analüütikud“</a:t>
            </a:r>
          </a:p>
          <a:p>
            <a:pPr algn="l">
              <a:spcAft>
                <a:spcPts val="1000"/>
              </a:spcAft>
            </a:pPr>
            <a:r>
              <a:rPr sz="2000" b="0" i="0">
                <a:solidFill>
                  <a:srgbClr val="202020"/>
                </a:solidFill>
                <a:latin typeface="Calibri"/>
                <a:ea typeface="Calibri"/>
              </a:rPr>
              <a:t>•  test = toodangu täiskoopia; CI logib päringud isikukoodiga</a:t>
            </a:r>
          </a:p>
          <a:p>
            <a:pPr algn="l">
              <a:spcAft>
                <a:spcPts val="1000"/>
              </a:spcAft>
            </a:pPr>
            <a:r>
              <a:rPr sz="2000" b="0" i="0">
                <a:solidFill>
                  <a:srgbClr val="202020"/>
                </a:solidFill>
                <a:latin typeface="Calibri"/>
                <a:ea typeface="Calibri"/>
              </a:rPr>
              <a:t>•  Power BI vaikevaade: rida-realt, Export kõigile, tööala kogu asutus</a:t>
            </a:r>
          </a:p>
          <a:p>
            <a:pPr algn="l">
              <a:spcAft>
                <a:spcPts val="1000"/>
              </a:spcAft>
            </a:pPr>
            <a:r>
              <a:rPr sz="2000" b="0" i="0">
                <a:solidFill>
                  <a:srgbClr val="202020"/>
                </a:solidFill>
                <a:latin typeface="Calibri"/>
                <a:ea typeface="Calibri"/>
              </a:rPr>
              <a:t>•  snapshot iga päev, keegi ei kustuta; 2019 dump elab notebookis</a:t>
            </a:r>
          </a:p>
          <a:p>
            <a:pPr algn="l">
              <a:spcAft>
                <a:spcPts val="1000"/>
              </a:spcAft>
            </a:pPr>
            <a:r>
              <a:rPr sz="2000" b="0" i="0">
                <a:solidFill>
                  <a:srgbClr val="202020"/>
                </a:solidFill>
                <a:latin typeface="Calibri"/>
                <a:ea typeface="Calibri"/>
              </a:rPr>
              <a:t>•  ülesanne: 5 muudatust, mis teeksid selle lõimituks ja vaikimisi turvaliseks</a:t>
            </a:r>
          </a:p>
        </p:txBody>
      </p:sp>
      <p:sp>
        <p:nvSpPr>
          <p:cNvPr id="10" name="TextBox 9"/>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11" name="TextBox 10"/>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47 / 63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300" b="1" i="0">
                <a:solidFill>
                  <a:srgbClr val="6E6E6E"/>
                </a:solidFill>
                <a:latin typeface="Calibri"/>
                <a:ea typeface="Calibri"/>
              </a:rPr>
              <a:t>OSA III  ·  KOKKUVÕTE</a:t>
            </a:r>
          </a:p>
        </p:txBody>
      </p:sp>
      <p:sp>
        <p:nvSpPr>
          <p:cNvPr id="6" name="TextBox 5"/>
          <p:cNvSpPr txBox="1"/>
          <p:nvPr/>
        </p:nvSpPr>
        <p:spPr>
          <a:xfrm>
            <a:off x="502920" y="475488"/>
            <a:ext cx="11155680" cy="777240"/>
          </a:xfrm>
          <a:prstGeom prst="rect">
            <a:avLst/>
          </a:prstGeom>
          <a:noFill/>
        </p:spPr>
        <p:txBody>
          <a:bodyPr wrap="square" anchor="t"/>
          <a:lstStyle/>
          <a:p>
            <a:pPr algn="l"/>
            <a:r>
              <a:rPr sz="2800" b="1" i="0">
                <a:solidFill>
                  <a:srgbClr val="121212"/>
                </a:solidFill>
                <a:latin typeface="Calibri"/>
                <a:ea typeface="Calibri"/>
              </a:rPr>
              <a:t>Kaitse on backlogi osa, mitte juristi kleebis</a:t>
            </a:r>
          </a:p>
        </p:txBody>
      </p:sp>
      <p:sp>
        <p:nvSpPr>
          <p:cNvPr id="7" name="TextBox 6"/>
          <p:cNvSpPr txBox="1"/>
          <p:nvPr/>
        </p:nvSpPr>
        <p:spPr>
          <a:xfrm>
            <a:off x="502920" y="1325880"/>
            <a:ext cx="11155680" cy="4160520"/>
          </a:xfrm>
          <a:prstGeom prst="rect">
            <a:avLst/>
          </a:prstGeom>
          <a:noFill/>
        </p:spPr>
        <p:txBody>
          <a:bodyPr wrap="square">
            <a:spAutoFit/>
          </a:bodyPr>
          <a:lstStyle/>
          <a:p>
            <a:pPr algn="l">
              <a:spcAft>
                <a:spcPts val="1200"/>
              </a:spcAft>
            </a:pPr>
            <a:r>
              <a:rPr sz="2200" b="0" i="0">
                <a:solidFill>
                  <a:srgbClr val="202020"/>
                </a:solidFill>
                <a:latin typeface="Calibri"/>
                <a:ea typeface="Calibri"/>
              </a:rPr>
              <a:t>•  lõimitud = tsoonid, mask, võti eraldi, unustamine, lineage</a:t>
            </a:r>
          </a:p>
          <a:p>
            <a:pPr algn="l">
              <a:spcAft>
                <a:spcPts val="1200"/>
              </a:spcAft>
            </a:pPr>
            <a:r>
              <a:rPr sz="2200" b="0" i="0">
                <a:solidFill>
                  <a:srgbClr val="202020"/>
                </a:solidFill>
                <a:latin typeface="Calibri"/>
                <a:ea typeface="Calibri"/>
              </a:rPr>
              <a:t>•  vaikimisi = koond, suletud tööala, kitsas Export, lühike säilitus</a:t>
            </a:r>
          </a:p>
          <a:p>
            <a:pPr algn="l">
              <a:spcAft>
                <a:spcPts val="1200"/>
              </a:spcAft>
            </a:pPr>
            <a:r>
              <a:rPr sz="2200" b="0" i="0">
                <a:solidFill>
                  <a:srgbClr val="202020"/>
                </a:solidFill>
                <a:latin typeface="Calibri"/>
                <a:ea typeface="Calibri"/>
              </a:rPr>
              <a:t>•  analüütik, BI ja insener lõhuvad või ehitavad seda iga päev</a:t>
            </a:r>
          </a:p>
          <a:p>
            <a:pPr algn="l">
              <a:spcAft>
                <a:spcPts val="1200"/>
              </a:spcAft>
            </a:pPr>
            <a:r>
              <a:rPr sz="2200" b="0" i="0">
                <a:solidFill>
                  <a:srgbClr val="202020"/>
                </a:solidFill>
                <a:latin typeface="Calibri"/>
                <a:ea typeface="Calibri"/>
              </a:rPr>
              <a:t>•  kõrge ohu projekt: mõjuhinnang enne, DPO sprinti, mitte pärast lansseerimist</a:t>
            </a:r>
          </a:p>
        </p:txBody>
      </p:sp>
      <p:sp>
        <p:nvSpPr>
          <p:cNvPr id="8" name="Rounded Rectangle 7"/>
          <p:cNvSpPr/>
          <p:nvPr/>
        </p:nvSpPr>
        <p:spPr>
          <a:xfrm>
            <a:off x="502920" y="5623560"/>
            <a:ext cx="11155680" cy="777240"/>
          </a:xfrm>
          <a:prstGeom prst="round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742432"/>
            <a:ext cx="10789920" cy="548640"/>
          </a:xfrm>
          <a:prstGeom prst="rect">
            <a:avLst/>
          </a:prstGeom>
          <a:noFill/>
        </p:spPr>
        <p:txBody>
          <a:bodyPr wrap="square" anchor="t"/>
          <a:lstStyle/>
          <a:p>
            <a:pPr algn="l"/>
            <a:r>
              <a:rPr sz="1600" b="1" i="0">
                <a:solidFill>
                  <a:srgbClr val="121212"/>
                </a:solidFill>
                <a:latin typeface="Calibri"/>
                <a:ea typeface="Calibri"/>
              </a:rPr>
              <a:t>Viimane plokk: kuidas teie rollis DPO-ga töötada — ja millal teda üldse vaja on.</a:t>
            </a:r>
          </a:p>
        </p:txBody>
      </p:sp>
      <p:sp>
        <p:nvSpPr>
          <p:cNvPr id="10" name="TextBox 9"/>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11" name="TextBox 10"/>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48 / 63</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972800" cy="365760"/>
          </a:xfrm>
          <a:prstGeom prst="rect">
            <a:avLst/>
          </a:prstGeom>
          <a:noFill/>
        </p:spPr>
        <p:txBody>
          <a:bodyPr wrap="square" anchor="t"/>
          <a:lstStyle/>
          <a:p>
            <a:pPr algn="l"/>
            <a:r>
              <a:rPr sz="1600" b="1" i="0">
                <a:solidFill>
                  <a:srgbClr val="121212"/>
                </a:solidFill>
                <a:latin typeface="Calibri"/>
                <a:ea typeface="Calibri"/>
              </a:rPr>
              <a:t>OSA IV  ·  umbes 28 minutit</a:t>
            </a:r>
          </a:p>
        </p:txBody>
      </p:sp>
      <p:sp>
        <p:nvSpPr>
          <p:cNvPr id="5" name="TextBox 4"/>
          <p:cNvSpPr txBox="1"/>
          <p:nvPr/>
        </p:nvSpPr>
        <p:spPr>
          <a:xfrm>
            <a:off x="640080" y="2011680"/>
            <a:ext cx="10972800" cy="2011680"/>
          </a:xfrm>
          <a:prstGeom prst="rect">
            <a:avLst/>
          </a:prstGeom>
          <a:noFill/>
        </p:spPr>
        <p:txBody>
          <a:bodyPr wrap="square" anchor="t"/>
          <a:lstStyle/>
          <a:p>
            <a:pPr algn="l"/>
            <a:r>
              <a:rPr sz="3600" b="1" i="0">
                <a:solidFill>
                  <a:srgbClr val="121212"/>
                </a:solidFill>
                <a:latin typeface="Calibri"/>
                <a:ea typeface="Calibri"/>
              </a:rPr>
              <a:t>Andmekaitsespetsialist ja andmetöötaja</a:t>
            </a:r>
          </a:p>
        </p:txBody>
      </p:sp>
      <p:sp>
        <p:nvSpPr>
          <p:cNvPr id="6" name="TextBox 5"/>
          <p:cNvSpPr txBox="1"/>
          <p:nvPr/>
        </p:nvSpPr>
        <p:spPr>
          <a:xfrm>
            <a:off x="640080" y="4206240"/>
            <a:ext cx="10972800" cy="1097280"/>
          </a:xfrm>
          <a:prstGeom prst="rect">
            <a:avLst/>
          </a:prstGeom>
          <a:noFill/>
        </p:spPr>
        <p:txBody>
          <a:bodyPr wrap="square" anchor="t"/>
          <a:lstStyle/>
          <a:p>
            <a:pPr algn="l"/>
            <a:r>
              <a:rPr sz="1800" b="0" i="0">
                <a:solidFill>
                  <a:srgbClr val="202020"/>
                </a:solidFill>
                <a:latin typeface="Calibri"/>
                <a:ea typeface="Calibri"/>
              </a:rPr>
              <a:t>IKÜM artiklid 37–39  ·  teie ei ole DPO  ·  teie olete esimene filter ja varajane signaal</a:t>
            </a:r>
          </a:p>
        </p:txBody>
      </p:sp>
      <p:sp>
        <p:nvSpPr>
          <p:cNvPr id="7" name="TextBox 6"/>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8" name="TextBox 7"/>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49 / 63</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300" b="1" i="0">
                <a:solidFill>
                  <a:srgbClr val="6E6E6E"/>
                </a:solidFill>
                <a:latin typeface="Calibri"/>
                <a:ea typeface="Calibri"/>
              </a:rPr>
              <a:t>IKÜM artiklid 37–39</a:t>
            </a:r>
          </a:p>
        </p:txBody>
      </p:sp>
      <p:sp>
        <p:nvSpPr>
          <p:cNvPr id="6" name="TextBox 5"/>
          <p:cNvSpPr txBox="1"/>
          <p:nvPr/>
        </p:nvSpPr>
        <p:spPr>
          <a:xfrm>
            <a:off x="502920" y="475488"/>
            <a:ext cx="11155680" cy="777240"/>
          </a:xfrm>
          <a:prstGeom prst="rect">
            <a:avLst/>
          </a:prstGeom>
          <a:noFill/>
        </p:spPr>
        <p:txBody>
          <a:bodyPr wrap="square" anchor="t"/>
          <a:lstStyle/>
          <a:p>
            <a:pPr algn="l"/>
            <a:r>
              <a:rPr sz="2800" b="1" i="0">
                <a:solidFill>
                  <a:srgbClr val="121212"/>
                </a:solidFill>
                <a:latin typeface="Calibri"/>
                <a:ea typeface="Calibri"/>
              </a:rPr>
              <a:t>Kes ta on teie tiimi jaoks</a:t>
            </a:r>
          </a:p>
        </p:txBody>
      </p:sp>
      <p:sp>
        <p:nvSpPr>
          <p:cNvPr id="7" name="TextBox 6"/>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nõustaja ja kontaktpunkt inimestele ning AKI-le — mitte teie päringute autor</a:t>
            </a:r>
          </a:p>
          <a:p>
            <a:pPr algn="l">
              <a:spcAft>
                <a:spcPts val="1200"/>
              </a:spcAft>
            </a:pPr>
            <a:r>
              <a:rPr sz="2200" b="0" i="0">
                <a:solidFill>
                  <a:srgbClr val="202020"/>
                </a:solidFill>
                <a:latin typeface="Calibri"/>
                <a:ea typeface="Calibri"/>
              </a:rPr>
              <a:t>•  jälgib, et asutus täidaks IKÜM-i; ei ole automaatselt süüdlane lekke korral</a:t>
            </a:r>
          </a:p>
          <a:p>
            <a:pPr algn="l">
              <a:spcAft>
                <a:spcPts val="1200"/>
              </a:spcAft>
            </a:pPr>
            <a:r>
              <a:rPr sz="2200" b="0" i="0">
                <a:solidFill>
                  <a:srgbClr val="202020"/>
                </a:solidFill>
                <a:latin typeface="Calibri"/>
                <a:ea typeface="Calibri"/>
              </a:rPr>
              <a:t>•  vastutus jääb vastutavale töötlejale ehk asutusele, kelle nimel te Run vajutate</a:t>
            </a:r>
          </a:p>
          <a:p>
            <a:pPr algn="l">
              <a:spcAft>
                <a:spcPts val="1200"/>
              </a:spcAft>
            </a:pPr>
            <a:r>
              <a:rPr sz="2200" b="0" i="0">
                <a:solidFill>
                  <a:srgbClr val="202020"/>
                </a:solidFill>
                <a:latin typeface="Calibri"/>
                <a:ea typeface="Calibri"/>
              </a:rPr>
              <a:t>•  võib olla oma või väline; peab olema pädev, mitte „linnuke kodulehel“</a:t>
            </a:r>
          </a:p>
          <a:p>
            <a:pPr algn="l">
              <a:spcAft>
                <a:spcPts val="1200"/>
              </a:spcAft>
            </a:pPr>
            <a:r>
              <a:rPr sz="2200" b="0" i="0">
                <a:solidFill>
                  <a:srgbClr val="202020"/>
                </a:solidFill>
                <a:latin typeface="Calibri"/>
                <a:ea typeface="Calibri"/>
              </a:rPr>
              <a:t>•  teie tabelid on tema töö tooraine: ilma andmekaardita ei saa ta aidata</a:t>
            </a:r>
          </a:p>
        </p:txBody>
      </p:sp>
      <p:sp>
        <p:nvSpPr>
          <p:cNvPr id="8" name="TextBox 7"/>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9" name="TextBox 8"/>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50 / 63</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300" b="1" i="0">
                <a:solidFill>
                  <a:srgbClr val="6E6E6E"/>
                </a:solidFill>
                <a:latin typeface="Calibri"/>
                <a:ea typeface="Calibri"/>
              </a:rPr>
              <a:t>IKÜM artikkel 37</a:t>
            </a:r>
          </a:p>
        </p:txBody>
      </p:sp>
      <p:sp>
        <p:nvSpPr>
          <p:cNvPr id="6" name="TextBox 5"/>
          <p:cNvSpPr txBox="1"/>
          <p:nvPr/>
        </p:nvSpPr>
        <p:spPr>
          <a:xfrm>
            <a:off x="502920" y="475488"/>
            <a:ext cx="11155680" cy="777240"/>
          </a:xfrm>
          <a:prstGeom prst="rect">
            <a:avLst/>
          </a:prstGeom>
          <a:noFill/>
        </p:spPr>
        <p:txBody>
          <a:bodyPr wrap="square" anchor="t"/>
          <a:lstStyle/>
          <a:p>
            <a:pPr algn="l"/>
            <a:r>
              <a:rPr sz="2800" b="1" i="0">
                <a:solidFill>
                  <a:srgbClr val="121212"/>
                </a:solidFill>
                <a:latin typeface="Calibri"/>
                <a:ea typeface="Calibri"/>
              </a:rPr>
              <a:t>Millal asutus peab DPO määrama — teie kontekst</a:t>
            </a:r>
          </a:p>
        </p:txBody>
      </p:sp>
      <p:sp>
        <p:nvSpPr>
          <p:cNvPr id="7" name="TextBox 6"/>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avalik sektor: kool, ministeerium, omavalitsus, paljud haiglad — jah</a:t>
            </a:r>
          </a:p>
          <a:p>
            <a:pPr algn="l">
              <a:spcAft>
                <a:spcPts val="1200"/>
              </a:spcAft>
            </a:pPr>
            <a:r>
              <a:rPr sz="2200" b="0" i="0">
                <a:solidFill>
                  <a:srgbClr val="202020"/>
                </a:solidFill>
                <a:latin typeface="Calibri"/>
                <a:ea typeface="Calibri"/>
              </a:rPr>
              <a:t>•  põhitegevus = ulatuslik, korrapärane, süstemaatiline jälgimine (nt asukohaäpp, massiline profiil)</a:t>
            </a:r>
          </a:p>
          <a:p>
            <a:pPr algn="l">
              <a:spcAft>
                <a:spcPts val="1200"/>
              </a:spcAft>
            </a:pPr>
            <a:r>
              <a:rPr sz="2200" b="0" i="0">
                <a:solidFill>
                  <a:srgbClr val="202020"/>
                </a:solidFill>
                <a:latin typeface="Calibri"/>
                <a:ea typeface="Calibri"/>
              </a:rPr>
              <a:t>•  põhitegevus = ulatuslik eriliik või süüteoandmed (haigla, suur tervisekuubik)</a:t>
            </a:r>
          </a:p>
          <a:p>
            <a:pPr algn="l">
              <a:spcAft>
                <a:spcPts val="1200"/>
              </a:spcAft>
            </a:pPr>
            <a:r>
              <a:rPr sz="2200" b="0" i="0">
                <a:solidFill>
                  <a:srgbClr val="202020"/>
                </a:solidFill>
                <a:latin typeface="Calibri"/>
                <a:ea typeface="Calibri"/>
              </a:rPr>
              <a:t>•  väike e-pood / kolme inimese stuudio: tihti ei ole DPO kohustuslik — IKÜM kehtib ikkagi</a:t>
            </a:r>
          </a:p>
          <a:p>
            <a:pPr algn="l">
              <a:spcAft>
                <a:spcPts val="1200"/>
              </a:spcAft>
            </a:pPr>
            <a:r>
              <a:rPr sz="2200" b="0" i="0">
                <a:solidFill>
                  <a:srgbClr val="202020"/>
                </a:solidFill>
                <a:latin typeface="Calibri"/>
                <a:ea typeface="Calibri"/>
              </a:rPr>
              <a:t>•  andmetiim ise ei asenda DPO-d; vabatahtlik DPO = samad sõltumatuse reeglid</a:t>
            </a:r>
          </a:p>
        </p:txBody>
      </p:sp>
      <p:sp>
        <p:nvSpPr>
          <p:cNvPr id="8" name="TextBox 7"/>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9" name="TextBox 8"/>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51 / 63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640080"/>
          </a:xfrm>
          <a:prstGeom prst="rect">
            <a:avLst/>
          </a:prstGeom>
          <a:noFill/>
        </p:spPr>
        <p:txBody>
          <a:bodyPr wrap="square" anchor="t"/>
          <a:lstStyle/>
          <a:p>
            <a:pPr algn="l"/>
            <a:r>
              <a:rPr sz="2800" b="1" i="0">
                <a:solidFill>
                  <a:srgbClr val="121212"/>
                </a:solidFill>
                <a:latin typeface="Calibri"/>
                <a:ea typeface="Calibri"/>
              </a:rPr>
              <a:t>Kas nemad vajavad DPO-d? Suund, mitte kohtuotsus</a:t>
            </a:r>
          </a:p>
        </p:txBody>
      </p:sp>
      <p:sp>
        <p:nvSpPr>
          <p:cNvPr id="6" name="TextBox 5"/>
          <p:cNvSpPr txBox="1"/>
          <p:nvPr/>
        </p:nvSpPr>
        <p:spPr>
          <a:xfrm>
            <a:off x="502920" y="960120"/>
            <a:ext cx="11155680" cy="320040"/>
          </a:xfrm>
          <a:prstGeom prst="rect">
            <a:avLst/>
          </a:prstGeom>
          <a:noFill/>
        </p:spPr>
        <p:txBody>
          <a:bodyPr wrap="square" anchor="t"/>
          <a:lstStyle/>
          <a:p>
            <a:pPr algn="l"/>
            <a:r>
              <a:rPr sz="1600" b="0" i="0">
                <a:solidFill>
                  <a:srgbClr val="585858"/>
                </a:solidFill>
                <a:latin typeface="Calibri"/>
                <a:ea typeface="Calibri"/>
              </a:rPr>
              <a:t>Täpne vastus sõltub faktidest. Andmetiim ei ole iseenesest künnis.</a:t>
            </a:r>
          </a:p>
        </p:txBody>
      </p:sp>
      <p:sp>
        <p:nvSpPr>
          <p:cNvPr id="7" name="Rounded Rectangle 6"/>
          <p:cNvSpPr/>
          <p:nvPr/>
        </p:nvSpPr>
        <p:spPr>
          <a:xfrm>
            <a:off x="502920" y="1325880"/>
            <a:ext cx="2638044" cy="4800600"/>
          </a:xfrm>
          <a:prstGeom prst="round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1453896"/>
            <a:ext cx="2308860" cy="365760"/>
          </a:xfrm>
          <a:prstGeom prst="rect">
            <a:avLst/>
          </a:prstGeom>
          <a:noFill/>
        </p:spPr>
        <p:txBody>
          <a:bodyPr wrap="square" anchor="t"/>
          <a:lstStyle/>
          <a:p>
            <a:pPr algn="l"/>
            <a:r>
              <a:rPr sz="1600" b="1" i="0">
                <a:solidFill>
                  <a:srgbClr val="121212"/>
                </a:solidFill>
                <a:latin typeface="Calibri"/>
                <a:ea typeface="Calibri"/>
              </a:rPr>
              <a:t>Kool / ministeerium + hariduskuubik</a:t>
            </a:r>
          </a:p>
        </p:txBody>
      </p:sp>
      <p:sp>
        <p:nvSpPr>
          <p:cNvPr id="9" name="TextBox 8"/>
          <p:cNvSpPr txBox="1"/>
          <p:nvPr/>
        </p:nvSpPr>
        <p:spPr>
          <a:xfrm>
            <a:off x="667512" y="1801368"/>
            <a:ext cx="2308860" cy="4197096"/>
          </a:xfrm>
          <a:prstGeom prst="rect">
            <a:avLst/>
          </a:prstGeom>
          <a:noFill/>
        </p:spPr>
        <p:txBody>
          <a:bodyPr wrap="square" anchor="t"/>
          <a:lstStyle/>
          <a:p>
            <a:pPr algn="l"/>
            <a:r>
              <a:rPr sz="1400" b="0" i="0">
                <a:solidFill>
                  <a:srgbClr val="202020"/>
                </a:solidFill>
                <a:latin typeface="Calibri"/>
                <a:ea typeface="Calibri"/>
              </a:rPr>
              <a:t>Jah, avalik sektor.
Laste andmed. Analüütik teeb koostööd, ei asenda DPO-d.</a:t>
            </a:r>
          </a:p>
        </p:txBody>
      </p:sp>
      <p:sp>
        <p:nvSpPr>
          <p:cNvPr id="10" name="Rounded Rectangle 9"/>
          <p:cNvSpPr/>
          <p:nvPr/>
        </p:nvSpPr>
        <p:spPr>
          <a:xfrm>
            <a:off x="3342132" y="1325880"/>
            <a:ext cx="2638044" cy="4800600"/>
          </a:xfrm>
          <a:prstGeom prst="round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06724" y="1453896"/>
            <a:ext cx="2308860" cy="365760"/>
          </a:xfrm>
          <a:prstGeom prst="rect">
            <a:avLst/>
          </a:prstGeom>
          <a:noFill/>
        </p:spPr>
        <p:txBody>
          <a:bodyPr wrap="square" anchor="t"/>
          <a:lstStyle/>
          <a:p>
            <a:pPr algn="l"/>
            <a:r>
              <a:rPr sz="1600" b="1" i="0">
                <a:solidFill>
                  <a:srgbClr val="121212"/>
                </a:solidFill>
                <a:latin typeface="Calibri"/>
                <a:ea typeface="Calibri"/>
              </a:rPr>
              <a:t>Haigla / suur apteegianalüütika</a:t>
            </a:r>
          </a:p>
        </p:txBody>
      </p:sp>
      <p:sp>
        <p:nvSpPr>
          <p:cNvPr id="12" name="TextBox 11"/>
          <p:cNvSpPr txBox="1"/>
          <p:nvPr/>
        </p:nvSpPr>
        <p:spPr>
          <a:xfrm>
            <a:off x="3506724" y="1801368"/>
            <a:ext cx="2308860" cy="4197096"/>
          </a:xfrm>
          <a:prstGeom prst="rect">
            <a:avLst/>
          </a:prstGeom>
          <a:noFill/>
        </p:spPr>
        <p:txBody>
          <a:bodyPr wrap="square" anchor="t"/>
          <a:lstStyle/>
          <a:p>
            <a:pPr algn="l"/>
            <a:r>
              <a:rPr sz="1400" b="0" i="0">
                <a:solidFill>
                  <a:srgbClr val="202020"/>
                </a:solidFill>
                <a:latin typeface="Calibri"/>
                <a:ea typeface="Calibri"/>
              </a:rPr>
              <a:t>Tõenäoliselt jah: eriliik + ulatus.
Teie faktitabel võib olla tervis.</a:t>
            </a:r>
          </a:p>
        </p:txBody>
      </p:sp>
      <p:sp>
        <p:nvSpPr>
          <p:cNvPr id="13" name="Rounded Rectangle 12"/>
          <p:cNvSpPr/>
          <p:nvPr/>
        </p:nvSpPr>
        <p:spPr>
          <a:xfrm>
            <a:off x="6181344" y="1325880"/>
            <a:ext cx="2638044" cy="4800600"/>
          </a:xfrm>
          <a:prstGeom prst="round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5936" y="1453896"/>
            <a:ext cx="2308860" cy="365760"/>
          </a:xfrm>
          <a:prstGeom prst="rect">
            <a:avLst/>
          </a:prstGeom>
          <a:noFill/>
        </p:spPr>
        <p:txBody>
          <a:bodyPr wrap="square" anchor="t"/>
          <a:lstStyle/>
          <a:p>
            <a:pPr algn="l"/>
            <a:r>
              <a:rPr sz="1600" b="1" i="0">
                <a:solidFill>
                  <a:srgbClr val="121212"/>
                </a:solidFill>
                <a:latin typeface="Calibri"/>
                <a:ea typeface="Calibri"/>
              </a:rPr>
              <a:t>Väike e-pood, 200 klienti, üks Power BI</a:t>
            </a:r>
          </a:p>
        </p:txBody>
      </p:sp>
      <p:sp>
        <p:nvSpPr>
          <p:cNvPr id="15" name="TextBox 14"/>
          <p:cNvSpPr txBox="1"/>
          <p:nvPr/>
        </p:nvSpPr>
        <p:spPr>
          <a:xfrm>
            <a:off x="6345936" y="1801368"/>
            <a:ext cx="2308860" cy="4197096"/>
          </a:xfrm>
          <a:prstGeom prst="rect">
            <a:avLst/>
          </a:prstGeom>
          <a:noFill/>
        </p:spPr>
        <p:txBody>
          <a:bodyPr wrap="square" anchor="t"/>
          <a:lstStyle/>
          <a:p>
            <a:pPr algn="l"/>
            <a:r>
              <a:rPr sz="1400" b="0" i="0">
                <a:solidFill>
                  <a:srgbClr val="202020"/>
                </a:solidFill>
                <a:latin typeface="Calibri"/>
                <a:ea typeface="Calibri"/>
              </a:rPr>
              <a:t>Tõenäoliselt DPO ei ole kohustuslik.
Alus, koond, 72 h, õigused kehtivad ikkagi.</a:t>
            </a:r>
          </a:p>
        </p:txBody>
      </p:sp>
      <p:sp>
        <p:nvSpPr>
          <p:cNvPr id="16" name="Rounded Rectangle 15"/>
          <p:cNvSpPr/>
          <p:nvPr/>
        </p:nvSpPr>
        <p:spPr>
          <a:xfrm>
            <a:off x="9020556" y="1325880"/>
            <a:ext cx="2638044" cy="4800600"/>
          </a:xfrm>
          <a:prstGeom prst="round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85148" y="1453896"/>
            <a:ext cx="2308860" cy="365760"/>
          </a:xfrm>
          <a:prstGeom prst="rect">
            <a:avLst/>
          </a:prstGeom>
          <a:noFill/>
        </p:spPr>
        <p:txBody>
          <a:bodyPr wrap="square" anchor="t"/>
          <a:lstStyle/>
          <a:p>
            <a:pPr algn="l"/>
            <a:r>
              <a:rPr sz="1600" b="1" i="0">
                <a:solidFill>
                  <a:srgbClr val="121212"/>
                </a:solidFill>
                <a:latin typeface="Calibri"/>
                <a:ea typeface="Calibri"/>
              </a:rPr>
              <a:t>Asutuse andmeplatvormi tiim</a:t>
            </a:r>
          </a:p>
        </p:txBody>
      </p:sp>
      <p:sp>
        <p:nvSpPr>
          <p:cNvPr id="18" name="TextBox 17"/>
          <p:cNvSpPr txBox="1"/>
          <p:nvPr/>
        </p:nvSpPr>
        <p:spPr>
          <a:xfrm>
            <a:off x="9185148" y="1801368"/>
            <a:ext cx="2308860" cy="4197096"/>
          </a:xfrm>
          <a:prstGeom prst="rect">
            <a:avLst/>
          </a:prstGeom>
          <a:noFill/>
        </p:spPr>
        <p:txBody>
          <a:bodyPr wrap="square" anchor="t"/>
          <a:lstStyle/>
          <a:p>
            <a:pPr algn="l"/>
            <a:r>
              <a:rPr sz="1400" b="0" i="0">
                <a:solidFill>
                  <a:srgbClr val="202020"/>
                </a:solidFill>
                <a:latin typeface="Calibri"/>
                <a:ea typeface="Calibri"/>
              </a:rPr>
              <a:t>Tiim ≠ DPO.
Kui asutus peab määrama, määrab. Andmejuht DPO-ks = huvide konflikti oht.</a:t>
            </a:r>
          </a:p>
        </p:txBody>
      </p:sp>
      <p:sp>
        <p:nvSpPr>
          <p:cNvPr id="19" name="TextBox 18"/>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20" name="TextBox 19"/>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52 / 63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300" b="1" i="0">
                <a:solidFill>
                  <a:srgbClr val="6E6E6E"/>
                </a:solidFill>
                <a:latin typeface="Calibri"/>
                <a:ea typeface="Calibri"/>
              </a:rPr>
              <a:t>IKÜM artikkel 39</a:t>
            </a:r>
          </a:p>
        </p:txBody>
      </p:sp>
      <p:sp>
        <p:nvSpPr>
          <p:cNvPr id="6" name="TextBox 5"/>
          <p:cNvSpPr txBox="1"/>
          <p:nvPr/>
        </p:nvSpPr>
        <p:spPr>
          <a:xfrm>
            <a:off x="502920" y="475488"/>
            <a:ext cx="11155680" cy="777240"/>
          </a:xfrm>
          <a:prstGeom prst="rect">
            <a:avLst/>
          </a:prstGeom>
          <a:noFill/>
        </p:spPr>
        <p:txBody>
          <a:bodyPr wrap="square" anchor="t"/>
          <a:lstStyle/>
          <a:p>
            <a:pPr algn="l"/>
            <a:r>
              <a:rPr sz="2800" b="1" i="0">
                <a:solidFill>
                  <a:srgbClr val="121212"/>
                </a:solidFill>
                <a:latin typeface="Calibri"/>
                <a:ea typeface="Calibri"/>
              </a:rPr>
              <a:t>Mida DPO teilt ootab — ja mida teie temalt</a:t>
            </a:r>
          </a:p>
        </p:txBody>
      </p:sp>
      <p:sp>
        <p:nvSpPr>
          <p:cNvPr id="7" name="TextBox 6"/>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tema: nõustab, jälgib poliitikaid, aitab mõjuhinnangul, räägib AKI-ga</a:t>
            </a:r>
          </a:p>
          <a:p>
            <a:pPr algn="l">
              <a:spcAft>
                <a:spcPts val="1200"/>
              </a:spcAft>
            </a:pPr>
            <a:r>
              <a:rPr sz="2200" b="0" i="0">
                <a:solidFill>
                  <a:srgbClr val="202020"/>
                </a:solidFill>
                <a:latin typeface="Calibri"/>
                <a:ea typeface="Calibri"/>
              </a:rPr>
              <a:t>•  teie: andmevoog inimkeeles, mahud, veerud, kes näeb, kus koopiad elavad</a:t>
            </a:r>
          </a:p>
          <a:p>
            <a:pPr algn="l">
              <a:spcAft>
                <a:spcPts val="1200"/>
              </a:spcAft>
            </a:pPr>
            <a:r>
              <a:rPr sz="2200" b="0" i="0">
                <a:solidFill>
                  <a:srgbClr val="202020"/>
                </a:solidFill>
                <a:latin typeface="Calibri"/>
                <a:ea typeface="Calibri"/>
              </a:rPr>
              <a:t>•  kutsu varakult: uus allikas, uus liitmine, uus avalik/lai aruanne, uus skoor</a:t>
            </a:r>
          </a:p>
          <a:p>
            <a:pPr algn="l">
              <a:spcAft>
                <a:spcPts val="1200"/>
              </a:spcAft>
            </a:pPr>
            <a:r>
              <a:rPr sz="2200" b="0" i="0">
                <a:solidFill>
                  <a:srgbClr val="202020"/>
                </a:solidFill>
                <a:latin typeface="Calibri"/>
                <a:ea typeface="Calibri"/>
              </a:rPr>
              <a:t>•  ära oota, et ta teie SQL-i loeb — tõlgi: mis otsus, mis rida, mis oht</a:t>
            </a:r>
          </a:p>
          <a:p>
            <a:pPr algn="l">
              <a:spcAft>
                <a:spcPts val="1200"/>
              </a:spcAft>
            </a:pPr>
            <a:r>
              <a:rPr sz="2200" b="0" i="0">
                <a:solidFill>
                  <a:srgbClr val="202020"/>
                </a:solidFill>
                <a:latin typeface="Calibri"/>
                <a:ea typeface="Calibri"/>
              </a:rPr>
              <a:t>•  varjuprojektid („teeme ära, muidu keelab“) on punane lipp</a:t>
            </a:r>
          </a:p>
        </p:txBody>
      </p:sp>
      <p:sp>
        <p:nvSpPr>
          <p:cNvPr id="8" name="TextBox 7"/>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9" name="TextBox 8"/>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53 / 63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300" b="1" i="0">
                <a:solidFill>
                  <a:srgbClr val="6E6E6E"/>
                </a:solidFill>
                <a:latin typeface="Calibri"/>
                <a:ea typeface="Calibri"/>
              </a:rPr>
              <a:t>IKÜM artikkel 38</a:t>
            </a:r>
          </a:p>
        </p:txBody>
      </p:sp>
      <p:sp>
        <p:nvSpPr>
          <p:cNvPr id="6" name="TextBox 5"/>
          <p:cNvSpPr txBox="1"/>
          <p:nvPr/>
        </p:nvSpPr>
        <p:spPr>
          <a:xfrm>
            <a:off x="502920" y="475488"/>
            <a:ext cx="11155680" cy="777240"/>
          </a:xfrm>
          <a:prstGeom prst="rect">
            <a:avLst/>
          </a:prstGeom>
          <a:noFill/>
        </p:spPr>
        <p:txBody>
          <a:bodyPr wrap="square" anchor="t"/>
          <a:lstStyle/>
          <a:p>
            <a:pPr algn="l"/>
            <a:r>
              <a:rPr sz="2800" b="1" i="0">
                <a:solidFill>
                  <a:srgbClr val="121212"/>
                </a:solidFill>
                <a:latin typeface="Calibri"/>
                <a:ea typeface="Calibri"/>
              </a:rPr>
              <a:t>Sõltumatus: miks andmejuht ei ole automaatselt hea DPO</a:t>
            </a:r>
          </a:p>
        </p:txBody>
      </p:sp>
      <p:sp>
        <p:nvSpPr>
          <p:cNvPr id="7" name="TextBox 6"/>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DPO-le ei anta juhiseid, kuidas ta oma ülesandeid täidab; allub juhtkonnale</a:t>
            </a:r>
          </a:p>
          <a:p>
            <a:pPr algn="l">
              <a:spcAft>
                <a:spcPts val="1200"/>
              </a:spcAft>
            </a:pPr>
            <a:r>
              <a:rPr sz="2200" b="0" i="0">
                <a:solidFill>
                  <a:srgbClr val="202020"/>
                </a:solidFill>
                <a:latin typeface="Calibri"/>
                <a:ea typeface="Calibri"/>
              </a:rPr>
              <a:t>•  teda ei karistata ebamugava „ärge liitke seda“ eest</a:t>
            </a:r>
          </a:p>
          <a:p>
            <a:pPr algn="l">
              <a:spcAft>
                <a:spcPts val="1200"/>
              </a:spcAft>
            </a:pPr>
            <a:r>
              <a:rPr sz="2200" b="0" i="0">
                <a:solidFill>
                  <a:srgbClr val="202020"/>
                </a:solidFill>
                <a:latin typeface="Calibri"/>
                <a:ea typeface="Calibri"/>
              </a:rPr>
              <a:t>•  ressurss: aeg, koolitus, ligipääs andmestikele — 0,05 kohta ei ole roll</a:t>
            </a:r>
          </a:p>
          <a:p>
            <a:pPr algn="l">
              <a:spcAft>
                <a:spcPts val="1200"/>
              </a:spcAft>
            </a:pPr>
            <a:r>
              <a:rPr sz="2200" b="0" i="0">
                <a:solidFill>
                  <a:srgbClr val="202020"/>
                </a:solidFill>
                <a:latin typeface="Calibri"/>
                <a:ea typeface="Calibri"/>
              </a:rPr>
              <a:t>•  huvide konflikt: ärge pange DPO-ks seda, kes otsustab töötlemise eesmärke ja vahendeid</a:t>
            </a:r>
          </a:p>
          <a:p>
            <a:pPr algn="l">
              <a:spcAft>
                <a:spcPts val="1200"/>
              </a:spcAft>
            </a:pPr>
            <a:r>
              <a:rPr sz="2200" b="0" i="0">
                <a:solidFill>
                  <a:srgbClr val="202020"/>
                </a:solidFill>
                <a:latin typeface="Calibri"/>
                <a:ea typeface="Calibri"/>
              </a:rPr>
              <a:t>•  tegevjuht, IT-juht, andmejuht, HR-juht, turundus, pearaamatupidaja — tavaliselt halb kombinatsioon</a:t>
            </a:r>
          </a:p>
        </p:txBody>
      </p:sp>
      <p:sp>
        <p:nvSpPr>
          <p:cNvPr id="8" name="TextBox 7"/>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9" name="TextBox 8"/>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54 / 63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777240"/>
          </a:xfrm>
          <a:prstGeom prst="rect">
            <a:avLst/>
          </a:prstGeom>
          <a:noFill/>
        </p:spPr>
        <p:txBody>
          <a:bodyPr wrap="square" anchor="t"/>
          <a:lstStyle/>
          <a:p>
            <a:pPr algn="l"/>
            <a:r>
              <a:rPr sz="2800" b="1" i="0">
                <a:solidFill>
                  <a:srgbClr val="121212"/>
                </a:solidFill>
                <a:latin typeface="Calibri"/>
                <a:ea typeface="Calibri"/>
              </a:rPr>
              <a:t>Millal teie ticketist peab saama DPO-ticket</a:t>
            </a:r>
          </a:p>
        </p:txBody>
      </p:sp>
      <p:sp>
        <p:nvSpPr>
          <p:cNvPr id="6" name="TextBox 5"/>
          <p:cNvSpPr txBox="1"/>
          <p:nvPr/>
        </p:nvSpPr>
        <p:spPr>
          <a:xfrm>
            <a:off x="502920" y="1325880"/>
            <a:ext cx="11155680" cy="4160520"/>
          </a:xfrm>
          <a:prstGeom prst="rect">
            <a:avLst/>
          </a:prstGeom>
          <a:noFill/>
        </p:spPr>
        <p:txBody>
          <a:bodyPr wrap="square">
            <a:spAutoFit/>
          </a:bodyPr>
          <a:lstStyle/>
          <a:p>
            <a:pPr algn="l">
              <a:spcAft>
                <a:spcPts val="1200"/>
              </a:spcAft>
            </a:pPr>
            <a:r>
              <a:rPr sz="2200" b="0" i="0">
                <a:solidFill>
                  <a:srgbClr val="202020"/>
                </a:solidFill>
                <a:latin typeface="Calibri"/>
                <a:ea typeface="Calibri"/>
              </a:rPr>
              <a:t>•  uus isikuandmete allikas torusse või mudelisse</a:t>
            </a:r>
          </a:p>
          <a:p>
            <a:pPr algn="l">
              <a:spcAft>
                <a:spcPts val="1200"/>
              </a:spcAft>
            </a:pPr>
            <a:r>
              <a:rPr sz="2200" b="0" i="0">
                <a:solidFill>
                  <a:srgbClr val="202020"/>
                </a:solidFill>
                <a:latin typeface="Calibri"/>
                <a:ea typeface="Calibri"/>
              </a:rPr>
              <a:t>•  liitmine üle domeenide (klient + HR + logi + tervis)</a:t>
            </a:r>
          </a:p>
          <a:p>
            <a:pPr algn="l">
              <a:spcAft>
                <a:spcPts val="1200"/>
              </a:spcAft>
            </a:pPr>
            <a:r>
              <a:rPr sz="2200" b="0" i="0">
                <a:solidFill>
                  <a:srgbClr val="202020"/>
                </a:solidFill>
                <a:latin typeface="Calibri"/>
                <a:ea typeface="Calibri"/>
              </a:rPr>
              <a:t>•  rida-realt või nimega vaade uuele, laiemale publikule</a:t>
            </a:r>
          </a:p>
          <a:p>
            <a:pPr algn="l">
              <a:spcAft>
                <a:spcPts val="1200"/>
              </a:spcAft>
            </a:pPr>
            <a:r>
              <a:rPr sz="2200" b="0" i="0">
                <a:solidFill>
                  <a:srgbClr val="202020"/>
                </a:solidFill>
                <a:latin typeface="Calibri"/>
                <a:ea typeface="Calibri"/>
              </a:rPr>
              <a:t>•  skoor, automatiseeritud soovitus või keeld</a:t>
            </a:r>
          </a:p>
          <a:p>
            <a:pPr algn="l">
              <a:spcAft>
                <a:spcPts val="1200"/>
              </a:spcAft>
            </a:pPr>
            <a:r>
              <a:rPr sz="2200" b="0" i="0">
                <a:solidFill>
                  <a:srgbClr val="202020"/>
                </a:solidFill>
                <a:latin typeface="Calibri"/>
                <a:ea typeface="Calibri"/>
              </a:rPr>
              <a:t>•  eriliik, lapsed, asukohajälg, näotuvastus, massiline profiil</a:t>
            </a:r>
          </a:p>
          <a:p>
            <a:pPr algn="l">
              <a:spcAft>
                <a:spcPts val="1200"/>
              </a:spcAft>
            </a:pPr>
            <a:r>
              <a:rPr sz="2200" b="0" i="0">
                <a:solidFill>
                  <a:srgbClr val="202020"/>
                </a:solidFill>
                <a:latin typeface="Calibri"/>
                <a:ea typeface="Calibri"/>
              </a:rPr>
              <a:t>•  plaan kasutada uut pilve, keelemudelit või välist tööriista isikuandmetega</a:t>
            </a:r>
          </a:p>
        </p:txBody>
      </p:sp>
      <p:sp>
        <p:nvSpPr>
          <p:cNvPr id="7" name="Rounded Rectangle 6"/>
          <p:cNvSpPr/>
          <p:nvPr/>
        </p:nvSpPr>
        <p:spPr>
          <a:xfrm>
            <a:off x="502920" y="5623560"/>
            <a:ext cx="11155680" cy="777240"/>
          </a:xfrm>
          <a:prstGeom prst="round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742432"/>
            <a:ext cx="10789920" cy="548640"/>
          </a:xfrm>
          <a:prstGeom prst="rect">
            <a:avLst/>
          </a:prstGeom>
          <a:noFill/>
        </p:spPr>
        <p:txBody>
          <a:bodyPr wrap="square" anchor="t"/>
          <a:lstStyle/>
          <a:p>
            <a:pPr algn="l"/>
            <a:r>
              <a:rPr sz="1600" b="1" i="0">
                <a:solidFill>
                  <a:srgbClr val="121212"/>
                </a:solidFill>
                <a:latin typeface="Calibri"/>
                <a:ea typeface="Calibri"/>
              </a:rPr>
              <a:t>Kui ticketis on sõna „360“, „kõik andmed kokku“ või „profiil“, kutsuge enne koodi.</a:t>
            </a:r>
          </a:p>
        </p:txBody>
      </p:sp>
      <p:sp>
        <p:nvSpPr>
          <p:cNvPr id="9" name="TextBox 8"/>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10" name="TextBox 9"/>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55 / 63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256032"/>
            <a:ext cx="1920240" cy="365760"/>
          </a:xfrm>
          <a:prstGeom prst="round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74320"/>
            <a:ext cx="1920240" cy="329184"/>
          </a:xfrm>
          <a:prstGeom prst="rect">
            <a:avLst/>
          </a:prstGeom>
          <a:noFill/>
        </p:spPr>
        <p:txBody>
          <a:bodyPr wrap="square" anchor="t"/>
          <a:lstStyle/>
          <a:p>
            <a:pPr algn="ctr"/>
            <a:r>
              <a:rPr sz="1300" b="1" i="0">
                <a:solidFill>
                  <a:srgbClr val="121212"/>
                </a:solidFill>
                <a:latin typeface="Calibri"/>
                <a:ea typeface="Calibri"/>
              </a:rPr>
              <a:t>HARJUTUS</a:t>
            </a:r>
          </a:p>
        </p:txBody>
      </p:sp>
      <p:sp>
        <p:nvSpPr>
          <p:cNvPr id="7" name="TextBox 6"/>
          <p:cNvSpPr txBox="1"/>
          <p:nvPr/>
        </p:nvSpPr>
        <p:spPr>
          <a:xfrm>
            <a:off x="2560320" y="256032"/>
            <a:ext cx="8961120" cy="365760"/>
          </a:xfrm>
          <a:prstGeom prst="rect">
            <a:avLst/>
          </a:prstGeom>
          <a:noFill/>
        </p:spPr>
        <p:txBody>
          <a:bodyPr wrap="square" anchor="t"/>
          <a:lstStyle/>
          <a:p>
            <a:pPr algn="l"/>
            <a:r>
              <a:rPr sz="1400" b="0" i="0">
                <a:solidFill>
                  <a:srgbClr val="585858"/>
                </a:solidFill>
                <a:latin typeface="Calibri"/>
                <a:ea typeface="Calibri"/>
              </a:rPr>
              <a:t>6 minutit  ·  paarides</a:t>
            </a:r>
          </a:p>
        </p:txBody>
      </p:sp>
      <p:sp>
        <p:nvSpPr>
          <p:cNvPr id="8" name="TextBox 7"/>
          <p:cNvSpPr txBox="1"/>
          <p:nvPr/>
        </p:nvSpPr>
        <p:spPr>
          <a:xfrm>
            <a:off x="502920" y="731520"/>
            <a:ext cx="11155680" cy="640080"/>
          </a:xfrm>
          <a:prstGeom prst="rect">
            <a:avLst/>
          </a:prstGeom>
          <a:noFill/>
        </p:spPr>
        <p:txBody>
          <a:bodyPr wrap="square" anchor="t"/>
          <a:lstStyle/>
          <a:p>
            <a:pPr algn="l"/>
            <a:r>
              <a:rPr sz="2600" b="1" i="0">
                <a:solidFill>
                  <a:srgbClr val="121212"/>
                </a:solidFill>
                <a:latin typeface="Calibri"/>
                <a:ea typeface="Calibri"/>
              </a:rPr>
              <a:t>Kas kutsud DPO?  jah / ei / oleneb</a:t>
            </a:r>
          </a:p>
        </p:txBody>
      </p:sp>
      <p:sp>
        <p:nvSpPr>
          <p:cNvPr id="9" name="TextBox 8"/>
          <p:cNvSpPr txBox="1"/>
          <p:nvPr/>
        </p:nvSpPr>
        <p:spPr>
          <a:xfrm>
            <a:off x="502920" y="1463040"/>
            <a:ext cx="11155680" cy="4754880"/>
          </a:xfrm>
          <a:prstGeom prst="rect">
            <a:avLst/>
          </a:prstGeom>
          <a:noFill/>
        </p:spPr>
        <p:txBody>
          <a:bodyPr wrap="square">
            <a:spAutoFit/>
          </a:bodyPr>
          <a:lstStyle/>
          <a:p>
            <a:pPr algn="l">
              <a:spcAft>
                <a:spcPts val="1000"/>
              </a:spcAft>
            </a:pPr>
            <a:r>
              <a:rPr sz="2000" b="0" i="0">
                <a:solidFill>
                  <a:srgbClr val="202020"/>
                </a:solidFill>
                <a:latin typeface="Calibri"/>
                <a:ea typeface="Calibri"/>
              </a:rPr>
              <a:t>•  1) uus KPI: keskmine ost maakonna ja kuu kaupa, olemasolev müügimudel</a:t>
            </a:r>
          </a:p>
          <a:p>
            <a:pPr algn="l">
              <a:spcAft>
                <a:spcPts val="1000"/>
              </a:spcAft>
            </a:pPr>
            <a:r>
              <a:rPr sz="2000" b="0" i="0">
                <a:solidFill>
                  <a:srgbClr val="202020"/>
                </a:solidFill>
                <a:latin typeface="Calibri"/>
                <a:ea typeface="Calibri"/>
              </a:rPr>
              <a:t>•  2) JOIN: kliendid + veebiklikid + tugipiletid „üheks profiiliks“ müügile</a:t>
            </a:r>
          </a:p>
          <a:p>
            <a:pPr algn="l">
              <a:spcAft>
                <a:spcPts val="1000"/>
              </a:spcAft>
            </a:pPr>
            <a:r>
              <a:rPr sz="2000" b="0" i="0">
                <a:solidFill>
                  <a:srgbClr val="202020"/>
                </a:solidFill>
                <a:latin typeface="Calibri"/>
                <a:ea typeface="Calibri"/>
              </a:rPr>
              <a:t>•  3) testkeskkond täiskoopiaga toodangust, ligipääs kogu andmetiimile</a:t>
            </a:r>
          </a:p>
          <a:p>
            <a:pPr algn="l">
              <a:spcAft>
                <a:spcPts val="1000"/>
              </a:spcAft>
            </a:pPr>
            <a:r>
              <a:rPr sz="2000" b="0" i="0">
                <a:solidFill>
                  <a:srgbClr val="202020"/>
                </a:solidFill>
                <a:latin typeface="Calibri"/>
                <a:ea typeface="Calibri"/>
              </a:rPr>
              <a:t>•  4) Power BI palgakoond osakonnale, n=4, RLS puudub</a:t>
            </a:r>
          </a:p>
          <a:p>
            <a:pPr algn="l">
              <a:spcAft>
                <a:spcPts val="1000"/>
              </a:spcAft>
            </a:pPr>
            <a:r>
              <a:rPr sz="2000" b="0" i="0">
                <a:solidFill>
                  <a:srgbClr val="202020"/>
                </a:solidFill>
                <a:latin typeface="Calibri"/>
                <a:ea typeface="Calibri"/>
              </a:rPr>
              <a:t>•  5) avalik ChatGPT: kleepite 50 kliendirea „et kirjutaks kokkuvõtte“</a:t>
            </a:r>
          </a:p>
          <a:p>
            <a:pPr algn="l">
              <a:spcAft>
                <a:spcPts val="1000"/>
              </a:spcAft>
            </a:pPr>
            <a:r>
              <a:rPr sz="2000" b="0" i="0">
                <a:solidFill>
                  <a:srgbClr val="202020"/>
                </a:solidFill>
                <a:latin typeface="Calibri"/>
                <a:ea typeface="Calibri"/>
              </a:rPr>
              <a:t>•  6) vallavalitsuse haridusanalüütik teeb ministeeriumile koondit</a:t>
            </a:r>
          </a:p>
        </p:txBody>
      </p:sp>
      <p:sp>
        <p:nvSpPr>
          <p:cNvPr id="10" name="TextBox 9"/>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11" name="TextBox 10"/>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56 / 63</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300" b="1" i="0">
                <a:solidFill>
                  <a:srgbClr val="6E6E6E"/>
                </a:solidFill>
                <a:latin typeface="Calibri"/>
                <a:ea typeface="Calibri"/>
              </a:rPr>
              <a:t>OSA IV  ·  KOKKUVÕTE</a:t>
            </a:r>
          </a:p>
        </p:txBody>
      </p:sp>
      <p:sp>
        <p:nvSpPr>
          <p:cNvPr id="6" name="TextBox 5"/>
          <p:cNvSpPr txBox="1"/>
          <p:nvPr/>
        </p:nvSpPr>
        <p:spPr>
          <a:xfrm>
            <a:off x="502920" y="475488"/>
            <a:ext cx="11155680" cy="777240"/>
          </a:xfrm>
          <a:prstGeom prst="rect">
            <a:avLst/>
          </a:prstGeom>
          <a:noFill/>
        </p:spPr>
        <p:txBody>
          <a:bodyPr wrap="square" anchor="t"/>
          <a:lstStyle/>
          <a:p>
            <a:pPr algn="l"/>
            <a:r>
              <a:rPr sz="2800" b="1" i="0">
                <a:solidFill>
                  <a:srgbClr val="121212"/>
                </a:solidFill>
                <a:latin typeface="Calibri"/>
                <a:ea typeface="Calibri"/>
              </a:rPr>
              <a:t>DPO on kompass, mitte vihmavari teie dump’idele</a:t>
            </a:r>
          </a:p>
        </p:txBody>
      </p:sp>
      <p:sp>
        <p:nvSpPr>
          <p:cNvPr id="7" name="TextBox 6"/>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asutus vastutab; teie olete käsi; DPO nõustab ja valvab</a:t>
            </a:r>
          </a:p>
          <a:p>
            <a:pPr algn="l">
              <a:spcAft>
                <a:spcPts val="1200"/>
              </a:spcAft>
            </a:pPr>
            <a:r>
              <a:rPr sz="2200" b="0" i="0">
                <a:solidFill>
                  <a:srgbClr val="202020"/>
                </a:solidFill>
                <a:latin typeface="Calibri"/>
                <a:ea typeface="Calibri"/>
              </a:rPr>
              <a:t>•  künnis: avalik sektor, ulatuslik jälgimine, ulatuslik eriliik</a:t>
            </a:r>
          </a:p>
          <a:p>
            <a:pPr algn="l">
              <a:spcAft>
                <a:spcPts val="1200"/>
              </a:spcAft>
            </a:pPr>
            <a:r>
              <a:rPr sz="2200" b="0" i="0">
                <a:solidFill>
                  <a:srgbClr val="202020"/>
                </a:solidFill>
                <a:latin typeface="Calibri"/>
                <a:ea typeface="Calibri"/>
              </a:rPr>
              <a:t>•  andmejuht/analüütik DPO-ks = tihti konflikt; tiim ei asenda rolli</a:t>
            </a:r>
          </a:p>
          <a:p>
            <a:pPr algn="l">
              <a:spcAft>
                <a:spcPts val="1200"/>
              </a:spcAft>
            </a:pPr>
            <a:r>
              <a:rPr sz="2200" b="0" i="0">
                <a:solidFill>
                  <a:srgbClr val="202020"/>
                </a:solidFill>
                <a:latin typeface="Calibri"/>
                <a:ea typeface="Calibri"/>
              </a:rPr>
              <a:t>•  kutsuge enne uue allika, profiili, laia ridade vaate, skoori või uue pilve</a:t>
            </a:r>
          </a:p>
        </p:txBody>
      </p:sp>
      <p:sp>
        <p:nvSpPr>
          <p:cNvPr id="8" name="TextBox 7"/>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9" name="TextBox 8"/>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57 / 63</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300" b="1" i="0">
                <a:solidFill>
                  <a:srgbClr val="6E6E6E"/>
                </a:solidFill>
                <a:latin typeface="Calibri"/>
                <a:ea typeface="Calibri"/>
              </a:rPr>
              <a:t>KOKKUVÕTE</a:t>
            </a:r>
          </a:p>
        </p:txBody>
      </p:sp>
      <p:sp>
        <p:nvSpPr>
          <p:cNvPr id="6" name="TextBox 5"/>
          <p:cNvSpPr txBox="1"/>
          <p:nvPr/>
        </p:nvSpPr>
        <p:spPr>
          <a:xfrm>
            <a:off x="502920" y="475488"/>
            <a:ext cx="11155680" cy="777240"/>
          </a:xfrm>
          <a:prstGeom prst="rect">
            <a:avLst/>
          </a:prstGeom>
          <a:noFill/>
        </p:spPr>
        <p:txBody>
          <a:bodyPr wrap="square" anchor="t"/>
          <a:lstStyle/>
          <a:p>
            <a:pPr algn="l"/>
            <a:r>
              <a:rPr sz="2800" b="1" i="0">
                <a:solidFill>
                  <a:srgbClr val="121212"/>
                </a:solidFill>
                <a:latin typeface="Calibri"/>
                <a:ea typeface="Calibri"/>
              </a:rPr>
              <a:t>Neli teemat, neli lauset teie rollis</a:t>
            </a:r>
          </a:p>
        </p:txBody>
      </p:sp>
      <p:sp>
        <p:nvSpPr>
          <p:cNvPr id="7" name="TextBox 6"/>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seadus: IKÜM kehtib ka analüüsile, mudelile ja torule; IKS täiendab; AKI valvab</a:t>
            </a:r>
          </a:p>
          <a:p>
            <a:pPr algn="l">
              <a:spcAft>
                <a:spcPts val="1200"/>
              </a:spcAft>
            </a:pPr>
            <a:r>
              <a:rPr sz="2200" b="0" i="0">
                <a:solidFill>
                  <a:srgbClr val="202020"/>
                </a:solidFill>
                <a:latin typeface="Calibri"/>
                <a:ea typeface="Calibri"/>
              </a:rPr>
              <a:t>•  põhimõtted: seitse küsimust enne Run, Publish ja Share</a:t>
            </a:r>
          </a:p>
          <a:p>
            <a:pPr algn="l">
              <a:spcAft>
                <a:spcPts val="1200"/>
              </a:spcAft>
            </a:pPr>
            <a:r>
              <a:rPr sz="2200" b="0" i="0">
                <a:solidFill>
                  <a:srgbClr val="202020"/>
                </a:solidFill>
                <a:latin typeface="Calibri"/>
                <a:ea typeface="Calibri"/>
              </a:rPr>
              <a:t>•  lõimitud/vaikimisi: tsoonid ja koond sisse ehitatud; ohutu valik on peal</a:t>
            </a:r>
          </a:p>
          <a:p>
            <a:pPr algn="l">
              <a:spcAft>
                <a:spcPts val="1200"/>
              </a:spcAft>
            </a:pPr>
            <a:r>
              <a:rPr sz="2200" b="0" i="0">
                <a:solidFill>
                  <a:srgbClr val="202020"/>
                </a:solidFill>
                <a:latin typeface="Calibri"/>
                <a:ea typeface="Calibri"/>
              </a:rPr>
              <a:t>•  DPO: kutsuge vara; ta ei kirjuta SQL-i ega võta teie vastutust ära</a:t>
            </a:r>
          </a:p>
        </p:txBody>
      </p:sp>
      <p:sp>
        <p:nvSpPr>
          <p:cNvPr id="8" name="TextBox 7"/>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9" name="TextBox 8"/>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58 / 63</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777240"/>
          </a:xfrm>
          <a:prstGeom prst="rect">
            <a:avLst/>
          </a:prstGeom>
          <a:noFill/>
        </p:spPr>
        <p:txBody>
          <a:bodyPr wrap="square" anchor="t"/>
          <a:lstStyle/>
          <a:p>
            <a:pPr algn="l"/>
            <a:r>
              <a:rPr sz="2800" b="1" i="0">
                <a:solidFill>
                  <a:srgbClr val="121212"/>
                </a:solidFill>
                <a:latin typeface="Calibri"/>
                <a:ea typeface="Calibri"/>
              </a:rPr>
              <a:t>Andmetöötaja kümme käsku</a:t>
            </a:r>
          </a:p>
        </p:txBody>
      </p:sp>
      <p:sp>
        <p:nvSpPr>
          <p:cNvPr id="6" name="TextBox 5"/>
          <p:cNvSpPr txBox="1"/>
          <p:nvPr/>
        </p:nvSpPr>
        <p:spPr>
          <a:xfrm>
            <a:off x="502920" y="1325880"/>
            <a:ext cx="11155680" cy="4937760"/>
          </a:xfrm>
          <a:prstGeom prst="rect">
            <a:avLst/>
          </a:prstGeom>
          <a:noFill/>
        </p:spPr>
        <p:txBody>
          <a:bodyPr wrap="square">
            <a:spAutoFit/>
          </a:bodyPr>
          <a:lstStyle/>
          <a:p>
            <a:pPr algn="l">
              <a:spcAft>
                <a:spcPts val="400"/>
              </a:spcAft>
            </a:pPr>
            <a:r>
              <a:rPr sz="1600" b="0" i="0">
                <a:solidFill>
                  <a:srgbClr val="202020"/>
                </a:solidFill>
                <a:latin typeface="Calibri"/>
                <a:ea typeface="Calibri"/>
              </a:rPr>
              <a:t>•  1  küsi enne „miks see päring“, mitte ainult „kuidas JOIN“</a:t>
            </a:r>
          </a:p>
          <a:p>
            <a:pPr algn="l">
              <a:spcAft>
                <a:spcPts val="400"/>
              </a:spcAft>
            </a:pPr>
            <a:r>
              <a:rPr sz="1600" b="0" i="0">
                <a:solidFill>
                  <a:srgbClr val="202020"/>
                </a:solidFill>
                <a:latin typeface="Calibri"/>
                <a:ea typeface="Calibri"/>
              </a:rPr>
              <a:t>•  2  kui võtme, logi või n=1-ga saab inimese kätte, on tegu isikuandmetega</a:t>
            </a:r>
          </a:p>
          <a:p>
            <a:pPr algn="l">
              <a:spcAft>
                <a:spcPts val="400"/>
              </a:spcAft>
            </a:pPr>
            <a:r>
              <a:rPr sz="1600" b="0" i="0">
                <a:solidFill>
                  <a:srgbClr val="202020"/>
                </a:solidFill>
                <a:latin typeface="Calibri"/>
                <a:ea typeface="Calibri"/>
              </a:rPr>
              <a:t>•  3  ära too isikukoodi mudelisse igaks juhuks; ära tee SELECT * torusse</a:t>
            </a:r>
          </a:p>
          <a:p>
            <a:pPr algn="l">
              <a:spcAft>
                <a:spcPts val="400"/>
              </a:spcAft>
            </a:pPr>
            <a:r>
              <a:rPr sz="1600" b="0" i="0">
                <a:solidFill>
                  <a:srgbClr val="202020"/>
                </a:solidFill>
                <a:latin typeface="Calibri"/>
                <a:ea typeface="Calibri"/>
              </a:rPr>
              <a:t>•  4  uus liitmine või uus publik = uus eesmärk, kuni tõestatakse vastupidi</a:t>
            </a:r>
          </a:p>
          <a:p>
            <a:pPr algn="l">
              <a:spcAft>
                <a:spcPts val="400"/>
              </a:spcAft>
            </a:pPr>
            <a:r>
              <a:rPr sz="1600" b="0" i="0">
                <a:solidFill>
                  <a:srgbClr val="202020"/>
                </a:solidFill>
                <a:latin typeface="Calibri"/>
                <a:ea typeface="Calibri"/>
              </a:rPr>
              <a:t>•  5  koond enne rida; väike n on Eestis oht</a:t>
            </a:r>
          </a:p>
          <a:p>
            <a:pPr algn="l">
              <a:spcAft>
                <a:spcPts val="400"/>
              </a:spcAft>
            </a:pPr>
            <a:r>
              <a:rPr sz="1600" b="0" i="0">
                <a:solidFill>
                  <a:srgbClr val="202020"/>
                </a:solidFill>
                <a:latin typeface="Calibri"/>
                <a:ea typeface="Calibri"/>
              </a:rPr>
              <a:t>•  6  igal väljavõttel, snapshotil ja notebooki dump’il on surmakuupäev</a:t>
            </a:r>
          </a:p>
          <a:p>
            <a:pPr algn="l">
              <a:spcAft>
                <a:spcPts val="400"/>
              </a:spcAft>
            </a:pPr>
            <a:r>
              <a:rPr sz="1600" b="0" i="0">
                <a:solidFill>
                  <a:srgbClr val="202020"/>
                </a:solidFill>
                <a:latin typeface="Calibri"/>
                <a:ea typeface="Calibri"/>
              </a:rPr>
              <a:t>•  7  tööala kitsas; testi Export; ära jaga „kõik kellel on link“</a:t>
            </a:r>
          </a:p>
          <a:p>
            <a:pPr algn="l">
              <a:spcAft>
                <a:spcPts val="400"/>
              </a:spcAft>
            </a:pPr>
            <a:r>
              <a:rPr sz="1600" b="0" i="0">
                <a:solidFill>
                  <a:srgbClr val="202020"/>
                </a:solidFill>
                <a:latin typeface="Calibri"/>
                <a:ea typeface="Calibri"/>
              </a:rPr>
              <a:t>•  8  test, demo ja koolitus ainult maskeeritud või sünteetiliste andmetega</a:t>
            </a:r>
          </a:p>
          <a:p>
            <a:pPr algn="l">
              <a:spcAft>
                <a:spcPts val="400"/>
              </a:spcAft>
            </a:pPr>
            <a:r>
              <a:rPr sz="1600" b="0" i="0">
                <a:solidFill>
                  <a:srgbClr val="202020"/>
                </a:solidFill>
                <a:latin typeface="Calibri"/>
                <a:ea typeface="Calibri"/>
              </a:rPr>
              <a:t>•  9  vale link või lekkinud aruanne: ütle kohe, 72 tundi tiksub</a:t>
            </a:r>
          </a:p>
          <a:p>
            <a:pPr algn="l">
              <a:spcAft>
                <a:spcPts val="400"/>
              </a:spcAft>
            </a:pPr>
            <a:r>
              <a:rPr sz="1600" b="0" i="0">
                <a:solidFill>
                  <a:srgbClr val="202020"/>
                </a:solidFill>
                <a:latin typeface="Calibri"/>
                <a:ea typeface="Calibri"/>
              </a:rPr>
              <a:t>•  10  omanik ja kirjeldus kirjas — muidu ei ole andmekaitse mõttes olemas</a:t>
            </a:r>
          </a:p>
        </p:txBody>
      </p:sp>
      <p:sp>
        <p:nvSpPr>
          <p:cNvPr id="7" name="TextBox 6"/>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8" name="TextBox 7"/>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59 / 63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777240"/>
          </a:xfrm>
          <a:prstGeom prst="rect">
            <a:avLst/>
          </a:prstGeom>
          <a:noFill/>
        </p:spPr>
        <p:txBody>
          <a:bodyPr wrap="square" anchor="t"/>
          <a:lstStyle/>
          <a:p>
            <a:pPr algn="l"/>
            <a:r>
              <a:rPr sz="2800" b="1" i="0">
                <a:solidFill>
                  <a:srgbClr val="121212"/>
                </a:solidFill>
                <a:latin typeface="Calibri"/>
                <a:ea typeface="Calibri"/>
              </a:rPr>
              <a:t>Esmaspäeva 30 minutit</a:t>
            </a:r>
          </a:p>
        </p:txBody>
      </p:sp>
      <p:sp>
        <p:nvSpPr>
          <p:cNvPr id="6" name="TextBox 5"/>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joonistage üks andmevoog: allikas → toru → mudel → aruanne → allalaadimine</a:t>
            </a:r>
          </a:p>
          <a:p>
            <a:pPr algn="l">
              <a:spcAft>
                <a:spcPts val="1200"/>
              </a:spcAft>
            </a:pPr>
            <a:r>
              <a:rPr sz="2200" b="0" i="0">
                <a:solidFill>
                  <a:srgbClr val="202020"/>
                </a:solidFill>
                <a:latin typeface="Calibri"/>
                <a:ea typeface="Calibri"/>
              </a:rPr>
              <a:t>•  märkige, kus on isikuandmed, eriliik, n=1 oht</a:t>
            </a:r>
          </a:p>
          <a:p>
            <a:pPr algn="l">
              <a:spcAft>
                <a:spcPts val="1200"/>
              </a:spcAft>
            </a:pPr>
            <a:r>
              <a:rPr sz="2200" b="0" i="0">
                <a:solidFill>
                  <a:srgbClr val="202020"/>
                </a:solidFill>
                <a:latin typeface="Calibri"/>
                <a:ea typeface="Calibri"/>
              </a:rPr>
              <a:t>•  vaadake tööala või kausta õigused ja Export</a:t>
            </a:r>
          </a:p>
          <a:p>
            <a:pPr algn="l">
              <a:spcAft>
                <a:spcPts val="1200"/>
              </a:spcAft>
            </a:pPr>
            <a:r>
              <a:rPr sz="2200" b="0" i="0">
                <a:solidFill>
                  <a:srgbClr val="202020"/>
                </a:solidFill>
                <a:latin typeface="Calibri"/>
                <a:ea typeface="Calibri"/>
              </a:rPr>
              <a:t>•  pange ühele andmestikule omanik, eesmärk, tähtaeg</a:t>
            </a:r>
          </a:p>
          <a:p>
            <a:pPr algn="l">
              <a:spcAft>
                <a:spcPts val="1200"/>
              </a:spcAft>
            </a:pPr>
            <a:r>
              <a:rPr sz="2200" b="0" i="0">
                <a:solidFill>
                  <a:srgbClr val="202020"/>
                </a:solidFill>
                <a:latin typeface="Calibri"/>
                <a:ea typeface="Calibri"/>
              </a:rPr>
              <a:t>•  leidke DPO kontakt — või kes vastutab, kui teda ei ole</a:t>
            </a:r>
          </a:p>
        </p:txBody>
      </p:sp>
      <p:sp>
        <p:nvSpPr>
          <p:cNvPr id="7" name="TextBox 6"/>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8" name="TextBox 7"/>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60 / 63</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777240"/>
          </a:xfrm>
          <a:prstGeom prst="rect">
            <a:avLst/>
          </a:prstGeom>
          <a:noFill/>
        </p:spPr>
        <p:txBody>
          <a:bodyPr wrap="square" anchor="t"/>
          <a:lstStyle/>
          <a:p>
            <a:pPr algn="l"/>
            <a:r>
              <a:rPr sz="2800" b="1" i="0">
                <a:solidFill>
                  <a:srgbClr val="121212"/>
                </a:solidFill>
                <a:latin typeface="Calibri"/>
                <a:ea typeface="Calibri"/>
              </a:rPr>
              <a:t>Kuhu edasi, kui päriselt tarvis</a:t>
            </a:r>
          </a:p>
        </p:txBody>
      </p:sp>
      <p:sp>
        <p:nvSpPr>
          <p:cNvPr id="6" name="TextBox 5"/>
          <p:cNvSpPr txBox="1"/>
          <p:nvPr/>
        </p:nvSpPr>
        <p:spPr>
          <a:xfrm>
            <a:off x="502920" y="1325880"/>
            <a:ext cx="11155680" cy="4160520"/>
          </a:xfrm>
          <a:prstGeom prst="rect">
            <a:avLst/>
          </a:prstGeom>
          <a:noFill/>
        </p:spPr>
        <p:txBody>
          <a:bodyPr wrap="square">
            <a:spAutoFit/>
          </a:bodyPr>
          <a:lstStyle/>
          <a:p>
            <a:pPr algn="l">
              <a:spcAft>
                <a:spcPts val="1200"/>
              </a:spcAft>
            </a:pPr>
            <a:r>
              <a:rPr sz="2200" b="0" i="0">
                <a:solidFill>
                  <a:srgbClr val="202020"/>
                </a:solidFill>
                <a:latin typeface="Calibri"/>
                <a:ea typeface="Calibri"/>
              </a:rPr>
              <a:t>•  Andmekaitse Inspektsioon  ·  aki.ee  — juhendid, mõisted, rikkumisteade</a:t>
            </a:r>
          </a:p>
          <a:p>
            <a:pPr algn="l">
              <a:spcAft>
                <a:spcPts val="1200"/>
              </a:spcAft>
            </a:pPr>
            <a:r>
              <a:rPr sz="2200" b="0" i="0">
                <a:solidFill>
                  <a:srgbClr val="202020"/>
                </a:solidFill>
                <a:latin typeface="Calibri"/>
                <a:ea typeface="Calibri"/>
              </a:rPr>
              <a:t>•  Riigi Teataja  ·  isikuandmete kaitse seadus (IKS)</a:t>
            </a:r>
          </a:p>
          <a:p>
            <a:pPr algn="l">
              <a:spcAft>
                <a:spcPts val="1200"/>
              </a:spcAft>
            </a:pPr>
            <a:r>
              <a:rPr sz="2200" b="0" i="0">
                <a:solidFill>
                  <a:srgbClr val="202020"/>
                </a:solidFill>
                <a:latin typeface="Calibri"/>
                <a:ea typeface="Calibri"/>
              </a:rPr>
              <a:t>•  EUR-Lex  ·  määrus (EL) 2016/679  (IKÜM)</a:t>
            </a:r>
          </a:p>
          <a:p>
            <a:pPr algn="l">
              <a:spcAft>
                <a:spcPts val="1200"/>
              </a:spcAft>
            </a:pPr>
            <a:r>
              <a:rPr sz="2200" b="0" i="0">
                <a:solidFill>
                  <a:srgbClr val="202020"/>
                </a:solidFill>
                <a:latin typeface="Calibri"/>
                <a:ea typeface="Calibri"/>
              </a:rPr>
              <a:t>•  EDPB suunised: DPO, rikkumine, anonümiseerimine</a:t>
            </a:r>
          </a:p>
          <a:p>
            <a:pPr algn="l">
              <a:spcAft>
                <a:spcPts val="1200"/>
              </a:spcAft>
            </a:pPr>
            <a:r>
              <a:rPr sz="2200" b="0" i="0">
                <a:solidFill>
                  <a:srgbClr val="202020"/>
                </a:solidFill>
                <a:latin typeface="Calibri"/>
                <a:ea typeface="Calibri"/>
              </a:rPr>
              <a:t>•  teie asutuse privaatsusteade, DPO, andmekataloog, platvormi juhis</a:t>
            </a:r>
          </a:p>
        </p:txBody>
      </p:sp>
      <p:sp>
        <p:nvSpPr>
          <p:cNvPr id="7" name="Rounded Rectangle 6"/>
          <p:cNvSpPr/>
          <p:nvPr/>
        </p:nvSpPr>
        <p:spPr>
          <a:xfrm>
            <a:off x="502920" y="5623560"/>
            <a:ext cx="11155680" cy="777240"/>
          </a:xfrm>
          <a:prstGeom prst="round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742432"/>
            <a:ext cx="10789920" cy="548640"/>
          </a:xfrm>
          <a:prstGeom prst="rect">
            <a:avLst/>
          </a:prstGeom>
          <a:noFill/>
        </p:spPr>
        <p:txBody>
          <a:bodyPr wrap="square" anchor="t"/>
          <a:lstStyle/>
          <a:p>
            <a:pPr algn="l"/>
            <a:r>
              <a:rPr sz="1600" b="1" i="0">
                <a:solidFill>
                  <a:srgbClr val="121212"/>
                </a:solidFill>
                <a:latin typeface="Calibri"/>
                <a:ea typeface="Calibri"/>
              </a:rPr>
              <a:t>See koolitus ei asenda juriidilist nõu, AKI juhendit ega teie DPO-d.</a:t>
            </a:r>
          </a:p>
        </p:txBody>
      </p:sp>
      <p:sp>
        <p:nvSpPr>
          <p:cNvPr id="9" name="TextBox 8"/>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10" name="TextBox 9"/>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61 / 63</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777240"/>
          </a:xfrm>
          <a:prstGeom prst="rect">
            <a:avLst/>
          </a:prstGeom>
          <a:noFill/>
        </p:spPr>
        <p:txBody>
          <a:bodyPr wrap="square" anchor="t"/>
          <a:lstStyle/>
          <a:p>
            <a:pPr algn="l"/>
            <a:r>
              <a:rPr sz="2800" b="1" i="0">
                <a:solidFill>
                  <a:srgbClr val="121212"/>
                </a:solidFill>
                <a:latin typeface="Calibri"/>
                <a:ea typeface="Calibri"/>
              </a:rPr>
              <a:t>Kolm küsimust teile — enne kui teie minult</a:t>
            </a:r>
          </a:p>
        </p:txBody>
      </p:sp>
      <p:sp>
        <p:nvSpPr>
          <p:cNvPr id="6" name="TextBox 5"/>
          <p:cNvSpPr txBox="1"/>
          <p:nvPr/>
        </p:nvSpPr>
        <p:spPr>
          <a:xfrm>
            <a:off x="502920" y="1325880"/>
            <a:ext cx="11155680" cy="4937760"/>
          </a:xfrm>
          <a:prstGeom prst="rect">
            <a:avLst/>
          </a:prstGeom>
          <a:noFill/>
        </p:spPr>
        <p:txBody>
          <a:bodyPr wrap="square">
            <a:spAutoFit/>
          </a:bodyPr>
          <a:lstStyle/>
          <a:p>
            <a:pPr algn="l">
              <a:spcAft>
                <a:spcPts val="1200"/>
              </a:spcAft>
            </a:pPr>
            <a:r>
              <a:rPr sz="2200" b="0" i="0">
                <a:solidFill>
                  <a:srgbClr val="202020"/>
                </a:solidFill>
                <a:latin typeface="Calibri"/>
                <a:ea typeface="Calibri"/>
              </a:rPr>
              <a:t>•  mis on üks päring, andmestik või kaust, mille te esmaspäeval üle vaatate?</a:t>
            </a:r>
          </a:p>
          <a:p>
            <a:pPr algn="l">
              <a:spcAft>
                <a:spcPts val="1200"/>
              </a:spcAft>
            </a:pPr>
            <a:r>
              <a:rPr sz="2200" b="0" i="0">
                <a:solidFill>
                  <a:srgbClr val="202020"/>
                </a:solidFill>
                <a:latin typeface="Calibri"/>
                <a:ea typeface="Calibri"/>
              </a:rPr>
              <a:t>•  kes on teie DPO — või kes vastutab, kui teda ei ole?</a:t>
            </a:r>
          </a:p>
          <a:p>
            <a:pPr algn="l">
              <a:spcAft>
                <a:spcPts val="1200"/>
              </a:spcAft>
            </a:pPr>
            <a:r>
              <a:rPr sz="2200" b="0" i="0">
                <a:solidFill>
                  <a:srgbClr val="202020"/>
                </a:solidFill>
                <a:latin typeface="Calibri"/>
                <a:ea typeface="Calibri"/>
              </a:rPr>
              <a:t>•  milline seitsmest küsimusest on teie tiimis kõige nõrgem?</a:t>
            </a:r>
          </a:p>
        </p:txBody>
      </p:sp>
      <p:sp>
        <p:nvSpPr>
          <p:cNvPr id="7" name="TextBox 6"/>
          <p:cNvSpPr txBox="1"/>
          <p:nvPr/>
        </p:nvSpPr>
        <p:spPr>
          <a:xfrm>
            <a:off x="365760" y="6537960"/>
            <a:ext cx="9601200" cy="256032"/>
          </a:xfrm>
          <a:prstGeom prst="rect">
            <a:avLst/>
          </a:prstGeom>
          <a:noFill/>
        </p:spPr>
        <p:txBody>
          <a:bodyPr wrap="square" anchor="t"/>
          <a:lstStyle/>
          <a:p>
            <a:pPr algn="l"/>
            <a:r>
              <a:rPr sz="1100" b="0" i="0">
                <a:solidFill>
                  <a:srgbClr val="6E6E6E"/>
                </a:solidFill>
                <a:latin typeface="Calibri"/>
                <a:ea typeface="Calibri"/>
              </a:rPr>
              <a:t>Andmetarkus  ·  Päev 10: Andmekaitse</a:t>
            </a:r>
          </a:p>
        </p:txBody>
      </p:sp>
      <p:sp>
        <p:nvSpPr>
          <p:cNvPr id="8" name="TextBox 7"/>
          <p:cNvSpPr txBox="1"/>
          <p:nvPr/>
        </p:nvSpPr>
        <p:spPr>
          <a:xfrm>
            <a:off x="10241280" y="6537960"/>
            <a:ext cx="1554480" cy="256032"/>
          </a:xfrm>
          <a:prstGeom prst="rect">
            <a:avLst/>
          </a:prstGeom>
          <a:noFill/>
        </p:spPr>
        <p:txBody>
          <a:bodyPr wrap="square" anchor="t"/>
          <a:lstStyle/>
          <a:p>
            <a:pPr algn="r"/>
            <a:r>
              <a:rPr sz="1100" b="0" i="0">
                <a:solidFill>
                  <a:srgbClr val="6E6E6E"/>
                </a:solidFill>
                <a:latin typeface="Calibri"/>
                <a:ea typeface="Calibri"/>
              </a:rPr>
              <a:t>62 / 63</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0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698480" cy="2560320"/>
          </a:xfrm>
          <a:prstGeom prst="rect">
            <a:avLst/>
          </a:prstGeom>
          <a:noFill/>
        </p:spPr>
        <p:txBody>
          <a:bodyPr wrap="square" anchor="t"/>
          <a:lstStyle/>
          <a:p>
            <a:pPr algn="l"/>
            <a:r>
              <a:rPr sz="2800" b="1" i="0">
                <a:solidFill>
                  <a:srgbClr val="FFFFFF"/>
                </a:solidFill>
                <a:latin typeface="Calibri"/>
                <a:ea typeface="Calibri"/>
              </a:rPr>
              <a:t>Andmetarkus on oskus ridu kasutada.
Andmekaitse on oskus inimesi nendes ridades austada.</a:t>
            </a:r>
          </a:p>
        </p:txBody>
      </p:sp>
      <p:sp>
        <p:nvSpPr>
          <p:cNvPr id="5" name="TextBox 4"/>
          <p:cNvSpPr txBox="1"/>
          <p:nvPr/>
        </p:nvSpPr>
        <p:spPr>
          <a:xfrm>
            <a:off x="731520" y="4572000"/>
            <a:ext cx="10698480" cy="914400"/>
          </a:xfrm>
          <a:prstGeom prst="rect">
            <a:avLst/>
          </a:prstGeom>
          <a:noFill/>
        </p:spPr>
        <p:txBody>
          <a:bodyPr wrap="square" anchor="t"/>
          <a:lstStyle/>
          <a:p>
            <a:pPr algn="l"/>
            <a:r>
              <a:rPr sz="1800" b="0" i="0">
                <a:solidFill>
                  <a:srgbClr val="FFD200"/>
                </a:solidFill>
                <a:latin typeface="Calibri"/>
                <a:ea typeface="Calibri"/>
              </a:rPr>
              <a:t>Aitäh. Küsimused on oodatud — ka need, mis tunduvad „liiga tehnilised“.</a:t>
            </a:r>
          </a:p>
        </p:txBody>
      </p:sp>
      <p:sp>
        <p:nvSpPr>
          <p:cNvPr id="6" name="TextBox 5"/>
          <p:cNvSpPr txBox="1"/>
          <p:nvPr/>
        </p:nvSpPr>
        <p:spPr>
          <a:xfrm>
            <a:off x="365760" y="6537960"/>
            <a:ext cx="9601200" cy="256032"/>
          </a:xfrm>
          <a:prstGeom prst="rect">
            <a:avLst/>
          </a:prstGeom>
          <a:noFill/>
        </p:spPr>
        <p:txBody>
          <a:bodyPr wrap="square" anchor="t"/>
          <a:lstStyle/>
          <a:p>
            <a:pPr algn="l"/>
            <a:r>
              <a:rPr sz="1100" b="0" i="0">
                <a:solidFill>
                  <a:srgbClr val="FFFFFF"/>
                </a:solidFill>
                <a:latin typeface="Calibri"/>
                <a:ea typeface="Calibri"/>
              </a:rPr>
              <a:t>Andmetarkus  ·  Päev 10: Andmekaitse</a:t>
            </a:r>
          </a:p>
        </p:txBody>
      </p:sp>
      <p:sp>
        <p:nvSpPr>
          <p:cNvPr id="7" name="TextBox 6"/>
          <p:cNvSpPr txBox="1"/>
          <p:nvPr/>
        </p:nvSpPr>
        <p:spPr>
          <a:xfrm>
            <a:off x="10241280" y="6537960"/>
            <a:ext cx="1554480" cy="256032"/>
          </a:xfrm>
          <a:prstGeom prst="rect">
            <a:avLst/>
          </a:prstGeom>
          <a:noFill/>
        </p:spPr>
        <p:txBody>
          <a:bodyPr wrap="square" anchor="t"/>
          <a:lstStyle/>
          <a:p>
            <a:pPr algn="r"/>
            <a:r>
              <a:rPr sz="1100" b="0" i="0">
                <a:solidFill>
                  <a:srgbClr val="FFFFFF"/>
                </a:solidFill>
                <a:latin typeface="Calibri"/>
                <a:ea typeface="Calibri"/>
              </a:rPr>
              <a:t>63 / 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