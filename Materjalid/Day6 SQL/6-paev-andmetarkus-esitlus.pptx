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22"/>
  </p:notesMasterIdLst>
  <p:handoutMasterIdLst>
    <p:handoutMasterId r:id="rId23"/>
  </p:handoutMasterIdLst>
  <p:sldIdLst>
    <p:sldId id="417" r:id="rId5"/>
    <p:sldId id="481" r:id="rId6"/>
    <p:sldId id="467" r:id="rId7"/>
    <p:sldId id="465" r:id="rId8"/>
    <p:sldId id="466" r:id="rId9"/>
    <p:sldId id="468" r:id="rId10"/>
    <p:sldId id="469" r:id="rId11"/>
    <p:sldId id="488" r:id="rId12"/>
    <p:sldId id="545" r:id="rId13"/>
    <p:sldId id="547" r:id="rId14"/>
    <p:sldId id="548" r:id="rId15"/>
    <p:sldId id="546" r:id="rId16"/>
    <p:sldId id="550" r:id="rId17"/>
    <p:sldId id="549" r:id="rId18"/>
    <p:sldId id="551" r:id="rId19"/>
    <p:sldId id="464" r:id="rId20"/>
    <p:sldId id="553" r:id="rId21"/>
  </p:sldIdLst>
  <p:sldSz cx="12192000" cy="6858000"/>
  <p:notesSz cx="6858000" cy="9144000"/>
  <p:embeddedFontLst>
    <p:embeddedFont>
      <p:font typeface="Inter" panose="020B0604020202020204" charset="0"/>
      <p:regular r:id="rId24"/>
      <p:bold r:id="rId25"/>
    </p:embeddedFont>
    <p:embeddedFont>
      <p:font typeface="Inter Bold" panose="020B0604020202020204" charset="0"/>
      <p:bold r:id="rId26"/>
    </p:embeddedFont>
    <p:embeddedFont>
      <p:font typeface="Poppins SemiBold" panose="00000700000000000000" pitchFamily="2" charset="0"/>
      <p:bold r:id="rId27"/>
      <p:boldItalic r:id="rId28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57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3.fntdata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2.fntdata"/><Relationship Id="rId33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1.fntdata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openxmlformats.org/officeDocument/2006/relationships/font" Target="fonts/font5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4.fntdata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8-18T11:48:07.204" v="26" actId="478"/>
      <pc:docMkLst>
        <pc:docMk/>
      </pc:docMkLst>
      <pc:sldChg chg="delSp modSp mod">
        <pc:chgData name="Emilie Abel" userId="20dec598-1860-40de-ab3f-181316cc4da6" providerId="ADAL" clId="{3EAE1975-14BE-41D5-9E3B-28573F0EE5DC}" dt="2026-08-18T11:48:07.204" v="26" actId="478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11:48:03.980" v="25" actId="20577"/>
          <ac:spMkLst>
            <pc:docMk/>
            <pc:sldMk cId="4169291970" sldId="417"/>
            <ac:spMk id="5" creationId="{3496B8E7-2B01-285F-88ED-B3ADE66A3D31}"/>
          </ac:spMkLst>
        </pc:spChg>
        <pc:picChg chg="del">
          <ac:chgData name="Emilie Abel" userId="20dec598-1860-40de-ab3f-181316cc4da6" providerId="ADAL" clId="{3EAE1975-14BE-41D5-9E3B-28573F0EE5DC}" dt="2026-08-18T11:48:07.204" v="26" actId="478"/>
          <ac:picMkLst>
            <pc:docMk/>
            <pc:sldMk cId="4169291970" sldId="417"/>
            <ac:picMk id="3" creationId="{59426EB3-96A0-6F7B-BD8A-B89C052D49B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8/18/2026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Koodi </a:t>
            </a:r>
            <a:r>
              <a:rPr lang="en-US" err="1">
                <a:ea typeface="Calibri"/>
                <a:cs typeface="Calibri"/>
              </a:rPr>
              <a:t>kirjutamise</a:t>
            </a:r>
            <a:r>
              <a:rPr lang="en-US">
                <a:ea typeface="Calibri"/>
                <a:cs typeface="Calibri"/>
              </a:rPr>
              <a:t> head </a:t>
            </a:r>
            <a:r>
              <a:rPr lang="en-US" err="1">
                <a:ea typeface="Calibri"/>
                <a:cs typeface="Calibri"/>
              </a:rPr>
              <a:t>tavad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27919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18.08.2026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sqlbolt.co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www.hackerrank.com/domains/sql" TargetMode="External"/><Relationship Id="rId4" Type="http://schemas.openxmlformats.org/officeDocument/2006/relationships/hyperlink" Target="https://www.w3schools.com/sql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beaver.io/" TargetMode="External"/><Relationship Id="rId2" Type="http://schemas.openxmlformats.org/officeDocument/2006/relationships/hyperlink" Target="https://sqliteviz.com/" TargetMode="Externa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code.visualstudio.com/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viz.com/" TargetMode="Externa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dirty="0">
                <a:cs typeface="Poppins SemiBold"/>
              </a:rPr>
              <a:t>Vali </a:t>
            </a:r>
            <a:r>
              <a:rPr lang="en-US" dirty="0" err="1">
                <a:cs typeface="Poppins SemiBold"/>
              </a:rPr>
              <a:t>Andmetarkus</a:t>
            </a:r>
            <a:r>
              <a:rPr lang="en-US" dirty="0">
                <a:cs typeface="Poppins SemiBold"/>
              </a:rPr>
              <a:t>!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957B5-07D7-02BA-E1BF-B8AD99B23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FE88A-0FCF-440A-B05F-1501C2CA42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EFD651E-343F-D29C-56A2-9EDD113BB2D7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571727321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Andmebaasid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SQL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SQL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pärimiseks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SQL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kirjeldamiseks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SQL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tabelite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ühendamine</a:t>
                      </a:r>
                      <a:endParaRPr lang="en-US" b="0" i="0" err="1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3115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FD1D6-6D54-AD90-2CF5-8A45ABA3E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52E15-1B73-3161-C798-5619BA03EA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err="1"/>
              <a:t>Andmebaasid</a:t>
            </a:r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6FA2A-7EEC-CD9E-5FCE-B380E3A44B4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Andmebaas</a:t>
            </a:r>
            <a:r>
              <a:rPr lang="en-US" sz="2400" dirty="0">
                <a:ea typeface="Inter"/>
              </a:rPr>
              <a:t> = </a:t>
            </a:r>
            <a:r>
              <a:rPr lang="en-US" sz="2400" dirty="0" err="1">
                <a:ea typeface="Inter"/>
              </a:rPr>
              <a:t>masiloetav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süsteemne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kogum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Asukoht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 err="1">
                <a:ea typeface="Inter"/>
              </a:rPr>
              <a:t>lokaalne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andmebaas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kohalik</a:t>
            </a:r>
            <a:r>
              <a:rPr lang="en-US" sz="2400" dirty="0">
                <a:ea typeface="Inter"/>
              </a:rPr>
              <a:t> (on-prem) server </a:t>
            </a:r>
            <a:r>
              <a:rPr lang="en-US" sz="2400" dirty="0" err="1">
                <a:ea typeface="Inter"/>
              </a:rPr>
              <a:t>või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pilveserver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Relatsiooniline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andmebaas</a:t>
            </a:r>
            <a:endParaRPr lang="en-US" sz="24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Andmed</a:t>
            </a:r>
            <a:r>
              <a:rPr lang="en-US" sz="2000" dirty="0">
                <a:ea typeface="Inter"/>
              </a:rPr>
              <a:t> on </a:t>
            </a:r>
            <a:r>
              <a:rPr lang="en-US" sz="2000" dirty="0" err="1">
                <a:ea typeface="Inter"/>
              </a:rPr>
              <a:t>tabelites</a:t>
            </a:r>
            <a:r>
              <a:rPr lang="en-US" sz="2000" dirty="0">
                <a:ea typeface="Inter"/>
              </a:rPr>
              <a:t> – </a:t>
            </a:r>
            <a:r>
              <a:rPr lang="en-US" sz="2000" dirty="0" err="1">
                <a:ea typeface="Inter"/>
              </a:rPr>
              <a:t>ridades</a:t>
            </a:r>
            <a:r>
              <a:rPr lang="en-US" sz="2000" dirty="0">
                <a:ea typeface="Inter"/>
              </a:rPr>
              <a:t> on </a:t>
            </a:r>
            <a:r>
              <a:rPr lang="en-US" sz="2000" dirty="0" err="1">
                <a:ea typeface="Inter"/>
              </a:rPr>
              <a:t>objektid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tulpades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objektide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atribuudid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Tabeleid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saab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omavahel</a:t>
            </a:r>
            <a:r>
              <a:rPr lang="en-US" sz="2000" dirty="0">
                <a:ea typeface="Inter"/>
              </a:rPr>
              <a:t> ID </a:t>
            </a:r>
            <a:r>
              <a:rPr lang="en-US" sz="2000" dirty="0" err="1">
                <a:ea typeface="Inter"/>
              </a:rPr>
              <a:t>tulpade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alusel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ühendada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Sobiv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struktureeritud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haldamiseks</a:t>
            </a:r>
            <a:endParaRPr lang="en-US" sz="2000" dirty="0">
              <a:ea typeface="Inter"/>
            </a:endParaRPr>
          </a:p>
          <a:p>
            <a:pPr indent="-342900">
              <a:lnSpc>
                <a:spcPct val="150000"/>
              </a:lnSpc>
              <a:buClr>
                <a:srgbClr val="121212"/>
              </a:buClr>
            </a:pPr>
            <a:r>
              <a:rPr lang="en-US" sz="2400" dirty="0">
                <a:ea typeface="Inter"/>
              </a:rPr>
              <a:t>Mitte-</a:t>
            </a:r>
            <a:r>
              <a:rPr lang="en-US" sz="2400" dirty="0" err="1">
                <a:ea typeface="Inter"/>
              </a:rPr>
              <a:t>relatsiooniline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andmebaas</a:t>
            </a:r>
            <a:endParaRPr lang="en-US" sz="2400" dirty="0">
              <a:ea typeface="Inter"/>
            </a:endParaRPr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Sobiv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nii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struktureeritud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kui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mitte-struktureeritud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andmete</a:t>
            </a:r>
            <a:r>
              <a:rPr lang="en-US" sz="2000" dirty="0">
                <a:ea typeface="Inter"/>
              </a:rPr>
              <a:t> (</a:t>
            </a:r>
            <a:r>
              <a:rPr lang="en-US" sz="2000" dirty="0" err="1">
                <a:ea typeface="Inter"/>
              </a:rPr>
              <a:t>nt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pildid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videod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dokumendid</a:t>
            </a:r>
            <a:r>
              <a:rPr lang="en-US" sz="2000" dirty="0">
                <a:ea typeface="Inter"/>
              </a:rPr>
              <a:t>) </a:t>
            </a:r>
            <a:r>
              <a:rPr lang="en-US" sz="2000" dirty="0" err="1">
                <a:ea typeface="Inter"/>
              </a:rPr>
              <a:t>haldamiseks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503010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E4C2F-3280-BC22-2A46-C74003267F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A064D-7600-112B-3822-AA7BE65810B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>
                <a:ea typeface="Inter"/>
              </a:rPr>
              <a:t>SQL – Structured Query Language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Andmebaaside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päringukeel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arendatud</a:t>
            </a:r>
            <a:r>
              <a:rPr lang="en-US" sz="2000" dirty="0">
                <a:ea typeface="Inter"/>
              </a:rPr>
              <a:t> 1980ndatel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Päring</a:t>
            </a:r>
            <a:r>
              <a:rPr lang="en-US" sz="2000" dirty="0">
                <a:ea typeface="Inter"/>
              </a:rPr>
              <a:t> - </a:t>
            </a:r>
            <a:r>
              <a:rPr lang="en-US" sz="2000" dirty="0" err="1">
                <a:ea typeface="Inter"/>
              </a:rPr>
              <a:t>pöördumine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andmebaasi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poole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</a:rPr>
              <a:t>CRUD – Create, Read, Update, Delete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Süntaks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ingliskeelne</a:t>
            </a: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Erinevad</a:t>
            </a:r>
            <a:r>
              <a:rPr lang="en-US" sz="2000" dirty="0">
                <a:ea typeface="Inter"/>
              </a:rPr>
              <a:t> "</a:t>
            </a:r>
            <a:r>
              <a:rPr lang="en-US" sz="2000" dirty="0" err="1">
                <a:ea typeface="Inter"/>
              </a:rPr>
              <a:t>dialektid</a:t>
            </a:r>
            <a:r>
              <a:rPr lang="en-US" sz="2000" dirty="0">
                <a:ea typeface="Inter"/>
              </a:rPr>
              <a:t>" -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nt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MS SQL Server, MySQL, PostgreSQL, Oracle</a:t>
            </a:r>
            <a:endParaRPr lang="en-US" sz="2000" dirty="0">
              <a:solidFill>
                <a:srgbClr val="121212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Harjutamiseks</a:t>
            </a:r>
            <a:r>
              <a:rPr lang="en-US" sz="2000" dirty="0">
                <a:ea typeface="Inter"/>
              </a:rPr>
              <a:t>: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+mn-lt"/>
                <a:cs typeface="+mn-lt"/>
                <a:hlinkClick r:id="rId3"/>
              </a:rPr>
              <a:t>SQLBolt</a:t>
            </a:r>
            <a:r>
              <a:rPr lang="en-US" sz="2000" dirty="0">
                <a:ea typeface="+mn-lt"/>
                <a:cs typeface="+mn-lt"/>
                <a:hlinkClick r:id="rId3"/>
              </a:rPr>
              <a:t> - Learn SQL - Introduction to SQL</a:t>
            </a:r>
            <a:endParaRPr lang="en-US" sz="2000" dirty="0"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+mn-lt"/>
                <a:cs typeface="+mn-lt"/>
                <a:hlinkClick r:id="rId4"/>
              </a:rPr>
              <a:t>https://www.w3schools.com/sql/</a:t>
            </a:r>
            <a:endParaRPr lang="en-US" sz="2000" dirty="0">
              <a:ea typeface="+mn-lt"/>
              <a:cs typeface="+mn-lt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+mn-lt"/>
                <a:cs typeface="+mn-lt"/>
                <a:hlinkClick r:id="rId5"/>
              </a:rPr>
              <a:t>https://www.hackerrank.com/domains/sql</a:t>
            </a:r>
            <a:r>
              <a:rPr lang="en-US" sz="2000" dirty="0">
                <a:ea typeface="+mn-lt"/>
                <a:cs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04547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ECD2E-5A2F-C1DE-C39A-7E738490B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8B316-CBF9-C6C5-35FC-5D0CF6B30C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/>
              <a:t>SQL – </a:t>
            </a:r>
            <a:r>
              <a:rPr lang="en-US" sz="2800" err="1"/>
              <a:t>päringu</a:t>
            </a:r>
            <a:r>
              <a:rPr lang="en-US" sz="2800"/>
              <a:t> </a:t>
            </a:r>
            <a:r>
              <a:rPr lang="en-US" sz="2800" err="1"/>
              <a:t>kirjutamise</a:t>
            </a:r>
            <a:r>
              <a:rPr lang="en-US" sz="2800"/>
              <a:t> programmid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DDF1A-150B-CE15-B386-ADFA92B97C7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Palju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erinevaid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käsitleme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kolme</a:t>
            </a:r>
            <a:r>
              <a:rPr lang="en-US" sz="2400" dirty="0">
                <a:ea typeface="Inter"/>
              </a:rPr>
              <a:t>: </a:t>
            </a:r>
            <a:endParaRPr lang="en-US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+mn-lt"/>
                <a:cs typeface="+mn-lt"/>
              </a:rPr>
              <a:t>sqliteviz</a:t>
            </a:r>
            <a:r>
              <a:rPr lang="en-US" sz="2000" dirty="0">
                <a:ea typeface="+mn-lt"/>
                <a:cs typeface="+mn-lt"/>
              </a:rPr>
              <a:t> - </a:t>
            </a:r>
            <a:r>
              <a:rPr lang="en-US" sz="2000" dirty="0" err="1">
                <a:ea typeface="+mn-lt"/>
                <a:cs typeface="+mn-lt"/>
              </a:rPr>
              <a:t>tasuta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brauseris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kasutatav</a:t>
            </a:r>
            <a:r>
              <a:rPr lang="en-US" sz="2000" dirty="0">
                <a:ea typeface="+mn-lt"/>
                <a:cs typeface="+mn-lt"/>
              </a:rPr>
              <a:t> (</a:t>
            </a:r>
            <a:r>
              <a:rPr lang="en-US" sz="2000" dirty="0" err="1">
                <a:ea typeface="+mn-lt"/>
                <a:cs typeface="+mn-lt"/>
              </a:rPr>
              <a:t>piiratud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allikad</a:t>
            </a:r>
            <a:r>
              <a:rPr lang="en-US" sz="2000" dirty="0">
                <a:ea typeface="+mn-lt"/>
                <a:cs typeface="+mn-lt"/>
              </a:rPr>
              <a:t> – CSV, JSON, NDJSON)</a:t>
            </a:r>
            <a:endParaRPr lang="en-US" sz="2000" dirty="0">
              <a:cs typeface="+mn-lt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+mn-lt"/>
                <a:cs typeface="+mn-lt"/>
                <a:hlinkClick r:id="rId2"/>
              </a:rPr>
              <a:t>https://sqliteviz.com/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DBeaver</a:t>
            </a:r>
            <a:r>
              <a:rPr lang="en-US" sz="2000" dirty="0">
                <a:ea typeface="Inter"/>
              </a:rPr>
              <a:t> Community – </a:t>
            </a:r>
            <a:r>
              <a:rPr lang="en-US" sz="2000" dirty="0" err="1">
                <a:ea typeface="Inter"/>
              </a:rPr>
              <a:t>tasuta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andmebaasi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haldusprogramm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vajalik</a:t>
            </a:r>
            <a:r>
              <a:rPr lang="en-US" sz="2000" dirty="0">
                <a:ea typeface="Inter"/>
              </a:rPr>
              <a:t> alla </a:t>
            </a:r>
            <a:r>
              <a:rPr lang="en-US" sz="2000" dirty="0" err="1">
                <a:ea typeface="Inter"/>
              </a:rPr>
              <a:t>laadida</a:t>
            </a:r>
            <a:endParaRPr lang="en-US" sz="2000" dirty="0"/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+mn-lt"/>
                <a:cs typeface="+mn-lt"/>
                <a:hlinkClick r:id="rId3"/>
              </a:rPr>
              <a:t>https://dbeaver.io/</a:t>
            </a:r>
            <a:r>
              <a:rPr lang="en-US" sz="2000" dirty="0">
                <a:ea typeface="+mn-lt"/>
                <a:cs typeface="+mn-lt"/>
              </a:rPr>
              <a:t> </a:t>
            </a:r>
            <a:endParaRPr lang="en-US" sz="20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>
                <a:ea typeface="Inter"/>
              </a:rPr>
              <a:t>VS Code – </a:t>
            </a:r>
            <a:r>
              <a:rPr lang="en-US" sz="2000" dirty="0" err="1">
                <a:ea typeface="Inter"/>
              </a:rPr>
              <a:t>tasuta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koodihaldusprogramm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vajalik</a:t>
            </a:r>
            <a:r>
              <a:rPr lang="en-US" sz="2000" dirty="0">
                <a:ea typeface="Inter"/>
              </a:rPr>
              <a:t> alla </a:t>
            </a:r>
            <a:r>
              <a:rPr lang="en-US" sz="2000" dirty="0" err="1">
                <a:ea typeface="Inter"/>
              </a:rPr>
              <a:t>laadida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ühendub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Gitiga</a:t>
            </a:r>
            <a:endParaRPr lang="en-US" sz="2000" dirty="0"/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+mn-lt"/>
                <a:cs typeface="+mn-lt"/>
                <a:hlinkClick r:id="rId4"/>
              </a:rPr>
              <a:t>https://code.visualstudio.com/</a:t>
            </a:r>
            <a:r>
              <a:rPr lang="en-US" sz="2000" dirty="0">
                <a:ea typeface="+mn-lt"/>
                <a:cs typeface="+mn-lt"/>
              </a:rPr>
              <a:t> </a:t>
            </a:r>
            <a:endParaRPr lang="en-US" sz="2000" dirty="0"/>
          </a:p>
          <a:p>
            <a:pPr>
              <a:lnSpc>
                <a:spcPct val="150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152904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95206-4288-64AF-A2BF-CFAD4DEF8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1F95-8F35-B433-388E-E7B65E6589C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käskude</a:t>
            </a:r>
            <a:r>
              <a:rPr lang="en-US"/>
              <a:t> </a:t>
            </a:r>
            <a:r>
              <a:rPr lang="en-US" err="1"/>
              <a:t>järjekord</a:t>
            </a:r>
            <a:r>
              <a:rPr lang="en-US"/>
              <a:t> </a:t>
            </a:r>
            <a:r>
              <a:rPr lang="en-US" err="1"/>
              <a:t>päringus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8B36A8-561C-3297-A6A5-7DF802E3D26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/>
          </a:p>
          <a:p>
            <a:pPr>
              <a:lnSpc>
                <a:spcPct val="150000"/>
              </a:lnSpc>
            </a:pPr>
            <a:endParaRPr lang="en-US" sz="2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8B730E-273A-95C0-F7CF-AD9EC22FFA5D}"/>
              </a:ext>
            </a:extLst>
          </p:cNvPr>
          <p:cNvSpPr txBox="1"/>
          <p:nvPr/>
        </p:nvSpPr>
        <p:spPr>
          <a:xfrm>
            <a:off x="703553" y="1327957"/>
            <a:ext cx="10667632" cy="29522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2">
                    <a:lumMod val="76000"/>
                  </a:schemeClr>
                </a:solidFill>
                <a:ea typeface="Inter"/>
              </a:rPr>
              <a:t>SELECT </a:t>
            </a:r>
            <a:r>
              <a:rPr lang="en-US" dirty="0">
                <a:ea typeface="Inter"/>
              </a:rPr>
              <a:t>column1, column2, …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accent2">
                    <a:lumMod val="76000"/>
                  </a:schemeClr>
                </a:solidFill>
                <a:ea typeface="Inter"/>
              </a:rPr>
              <a:t>FROM </a:t>
            </a:r>
            <a:r>
              <a:rPr lang="en-US" dirty="0" err="1">
                <a:ea typeface="Inter"/>
              </a:rPr>
              <a:t>table_name</a:t>
            </a:r>
            <a:endParaRPr lang="en-US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2">
                    <a:lumMod val="76000"/>
                  </a:schemeClr>
                </a:solidFill>
                <a:ea typeface="Inter"/>
              </a:rPr>
              <a:t>WHERE </a:t>
            </a:r>
            <a:r>
              <a:rPr lang="en-US" dirty="0">
                <a:ea typeface="Inter"/>
              </a:rPr>
              <a:t>condition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2">
                    <a:lumMod val="76000"/>
                  </a:schemeClr>
                </a:solidFill>
                <a:ea typeface="Inter"/>
              </a:rPr>
              <a:t>GROUP BY</a:t>
            </a:r>
            <a:r>
              <a:rPr lang="en-US" dirty="0">
                <a:ea typeface="Inter"/>
              </a:rPr>
              <a:t> column1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2">
                    <a:lumMod val="76000"/>
                  </a:schemeClr>
                </a:solidFill>
                <a:ea typeface="Inter"/>
              </a:rPr>
              <a:t>HAVING</a:t>
            </a:r>
            <a:r>
              <a:rPr lang="en-US" dirty="0">
                <a:ea typeface="Inter"/>
              </a:rPr>
              <a:t> condition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2">
                    <a:lumMod val="76000"/>
                  </a:schemeClr>
                </a:solidFill>
                <a:ea typeface="Inter"/>
              </a:rPr>
              <a:t>ORDER BY</a:t>
            </a:r>
            <a:r>
              <a:rPr lang="en-US" dirty="0">
                <a:ea typeface="Inter"/>
              </a:rPr>
              <a:t> column1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2">
                    <a:lumMod val="76000"/>
                  </a:schemeClr>
                </a:solidFill>
                <a:ea typeface="Inter"/>
              </a:rPr>
              <a:t>LIMIT </a:t>
            </a:r>
            <a:r>
              <a:rPr lang="en-US" dirty="0">
                <a:ea typeface="Inter"/>
              </a:rPr>
              <a:t>number;</a:t>
            </a:r>
          </a:p>
        </p:txBody>
      </p:sp>
    </p:spTree>
    <p:extLst>
      <p:ext uri="{BB962C8B-B14F-4D97-AF65-F5344CB8AC3E}">
        <p14:creationId xmlns:p14="http://schemas.microsoft.com/office/powerpoint/2010/main" val="6523662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7A8FE-19F6-9C13-4D99-8744F249B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99A78-8BE3-B792-DDB1-AE1AB18FA47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päringu</a:t>
            </a:r>
            <a:r>
              <a:rPr lang="en-US"/>
              <a:t> </a:t>
            </a:r>
            <a:r>
              <a:rPr lang="en-US" err="1"/>
              <a:t>teostamise</a:t>
            </a:r>
            <a:r>
              <a:rPr lang="en-US"/>
              <a:t> </a:t>
            </a:r>
            <a:r>
              <a:rPr lang="en-US" err="1"/>
              <a:t>järjekord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FC55C9B-B86D-AF94-D837-6292B30A455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>
                <a:ea typeface="Inter"/>
              </a:rPr>
              <a:t>1. FROM/JOIN 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err="1">
                <a:ea typeface="Inter"/>
              </a:rPr>
              <a:t>Defineerib</a:t>
            </a:r>
            <a:r>
              <a:rPr lang="en-US">
                <a:ea typeface="Inter"/>
              </a:rPr>
              <a:t>, </a:t>
            </a:r>
            <a:r>
              <a:rPr lang="en-US" err="1">
                <a:ea typeface="Inter"/>
              </a:rPr>
              <a:t>milliseid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tabeleid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kasutatakse</a:t>
            </a:r>
            <a:r>
              <a:rPr lang="en-US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>
                <a:ea typeface="Inter"/>
              </a:rPr>
              <a:t>2. WHERE 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err="1">
                <a:ea typeface="Inter"/>
              </a:rPr>
              <a:t>Filtreerib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välja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andmeread</a:t>
            </a:r>
            <a:r>
              <a:rPr lang="en-US">
                <a:ea typeface="Inter"/>
              </a:rPr>
              <a:t>, mis </a:t>
            </a:r>
            <a:r>
              <a:rPr lang="en-US" err="1">
                <a:ea typeface="Inter"/>
              </a:rPr>
              <a:t>ei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vasta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tingimustele</a:t>
            </a:r>
            <a:r>
              <a:rPr lang="en-US">
                <a:ea typeface="Inter"/>
              </a:rPr>
              <a:t>.</a:t>
            </a:r>
            <a:endParaRPr lang="en-US"/>
          </a:p>
          <a:p>
            <a:pPr marL="0" indent="0">
              <a:buNone/>
            </a:pPr>
            <a:r>
              <a:rPr lang="en-US">
                <a:ea typeface="Inter"/>
              </a:rPr>
              <a:t>3. GROUP BY </a:t>
            </a:r>
          </a:p>
          <a:p>
            <a:pPr lvl="1">
              <a:buFont typeface="Wingdings" panose="020B0502030000000004" pitchFamily="34" charset="0"/>
              <a:buChar char="Ø"/>
            </a:pPr>
            <a:r>
              <a:rPr lang="en-US" err="1">
                <a:ea typeface="Inter"/>
              </a:rPr>
              <a:t>Grupeerib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andmeread</a:t>
            </a:r>
            <a:r>
              <a:rPr lang="en-US">
                <a:ea typeface="Inter"/>
              </a:rPr>
              <a:t>.</a:t>
            </a:r>
            <a:endParaRPr lang="en-US"/>
          </a:p>
          <a:p>
            <a:pPr marL="0" indent="0">
              <a:buNone/>
            </a:pPr>
            <a:r>
              <a:rPr lang="en-US">
                <a:ea typeface="Inter"/>
              </a:rPr>
              <a:t>4. HAVING 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err="1">
                <a:ea typeface="Inter"/>
              </a:rPr>
              <a:t>Filtreerib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välja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grupeeritud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andmeread</a:t>
            </a:r>
            <a:r>
              <a:rPr lang="en-US">
                <a:ea typeface="Inter"/>
              </a:rPr>
              <a:t>, mis </a:t>
            </a:r>
            <a:r>
              <a:rPr lang="en-US" err="1">
                <a:ea typeface="Inter"/>
              </a:rPr>
              <a:t>ei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vasta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tingimustele</a:t>
            </a:r>
            <a:r>
              <a:rPr lang="en-US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>
                <a:ea typeface="Inter"/>
              </a:rPr>
              <a:t>5. SELECT 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err="1">
                <a:ea typeface="Inter"/>
              </a:rPr>
              <a:t>Valib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tulbad</a:t>
            </a:r>
            <a:r>
              <a:rPr lang="en-US">
                <a:ea typeface="Inter"/>
              </a:rPr>
              <a:t>, </a:t>
            </a:r>
            <a:r>
              <a:rPr lang="en-US" err="1">
                <a:ea typeface="Inter"/>
              </a:rPr>
              <a:t>mida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näidata</a:t>
            </a:r>
            <a:r>
              <a:rPr lang="en-US">
                <a:ea typeface="Inter"/>
              </a:rPr>
              <a:t>.</a:t>
            </a:r>
          </a:p>
          <a:p>
            <a:pPr marL="0" indent="0">
              <a:buNone/>
            </a:pPr>
            <a:r>
              <a:rPr lang="en-US">
                <a:ea typeface="Inter"/>
              </a:rPr>
              <a:t>6. ORDER BY </a:t>
            </a:r>
          </a:p>
          <a:p>
            <a:pPr marL="800100" lvl="1">
              <a:buClr>
                <a:srgbClr val="121212"/>
              </a:buClr>
              <a:buFont typeface="Wingdings" panose="020B0502030000000004" pitchFamily="34" charset="0"/>
              <a:buChar char="Ø"/>
            </a:pPr>
            <a:r>
              <a:rPr lang="en-US" err="1">
                <a:ea typeface="Inter"/>
              </a:rPr>
              <a:t>Sorteerib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valitud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andmeread</a:t>
            </a:r>
            <a:r>
              <a:rPr lang="en-US">
                <a:ea typeface="Inter"/>
              </a:rPr>
              <a:t>.</a:t>
            </a:r>
            <a:endParaRPr lang="en-US"/>
          </a:p>
          <a:p>
            <a:pPr marL="0" indent="0">
              <a:buNone/>
            </a:pPr>
            <a:r>
              <a:rPr lang="en-US">
                <a:ea typeface="Inter"/>
              </a:rPr>
              <a:t>7. LIMIT</a:t>
            </a:r>
          </a:p>
          <a:p>
            <a:pPr marL="800100" lvl="1">
              <a:buFont typeface="Wingdings" panose="020B0502030000000004" pitchFamily="34" charset="0"/>
              <a:buChar char="Ø"/>
            </a:pPr>
            <a:r>
              <a:rPr lang="en-US" err="1">
                <a:ea typeface="Inter"/>
              </a:rPr>
              <a:t>Jätab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alles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ainult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täpsustatud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arvu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ridu</a:t>
            </a:r>
            <a:r>
              <a:rPr lang="en-US">
                <a:ea typeface="Inter"/>
              </a:rPr>
              <a:t>.</a:t>
            </a:r>
            <a:endParaRPr lang="en-US"/>
          </a:p>
          <a:p>
            <a:pPr marL="800100" lvl="1">
              <a:buFont typeface="Wingdings" panose="020B0502030000000004" pitchFamily="34" charset="0"/>
              <a:buChar char="Ø"/>
            </a:pPr>
            <a:endParaRPr lang="en-US"/>
          </a:p>
          <a:p>
            <a:pPr marL="285750" indent="-285750">
              <a:buClr>
                <a:srgbClr val="121212"/>
              </a:buClr>
            </a:pPr>
            <a:r>
              <a:rPr lang="en-US" err="1">
                <a:ea typeface="Inter"/>
              </a:rPr>
              <a:t>Teostamise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järjekord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muutub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oluliseks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suuremate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päringute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puhul</a:t>
            </a:r>
            <a:r>
              <a:rPr lang="en-US">
                <a:ea typeface="Inter"/>
              </a:rPr>
              <a:t>. Mida </a:t>
            </a:r>
            <a:r>
              <a:rPr lang="en-US" err="1">
                <a:ea typeface="Inter"/>
              </a:rPr>
              <a:t>varasemas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sammus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saad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päringu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tulemusi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piirata</a:t>
            </a:r>
            <a:r>
              <a:rPr lang="en-US">
                <a:ea typeface="Inter"/>
              </a:rPr>
              <a:t>, </a:t>
            </a:r>
            <a:r>
              <a:rPr lang="en-US" err="1">
                <a:ea typeface="Inter"/>
              </a:rPr>
              <a:t>seda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optimaalsem</a:t>
            </a:r>
            <a:r>
              <a:rPr lang="en-US">
                <a:ea typeface="Inter"/>
              </a:rPr>
              <a:t> (</a:t>
            </a:r>
            <a:r>
              <a:rPr lang="en-US" err="1">
                <a:ea typeface="Inter"/>
              </a:rPr>
              <a:t>kiirem</a:t>
            </a:r>
            <a:r>
              <a:rPr lang="en-US">
                <a:ea typeface="Inter"/>
              </a:rPr>
              <a:t>) on </a:t>
            </a:r>
            <a:r>
              <a:rPr lang="en-US" err="1">
                <a:ea typeface="Inter"/>
              </a:rPr>
              <a:t>päringu</a:t>
            </a:r>
            <a:r>
              <a:rPr lang="en-US">
                <a:ea typeface="Inter"/>
              </a:rPr>
              <a:t> </a:t>
            </a:r>
            <a:r>
              <a:rPr lang="en-US" err="1">
                <a:ea typeface="Inter"/>
              </a:rPr>
              <a:t>teostus</a:t>
            </a:r>
            <a:r>
              <a:rPr lang="en-US">
                <a:ea typeface="Inter"/>
              </a:rPr>
              <a:t>.</a:t>
            </a:r>
            <a:endParaRPr lang="en-US"/>
          </a:p>
          <a:p>
            <a:endParaRPr lang="en-US"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658763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A2250-7D37-3829-65F1-E12C06791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93968-76FB-84EE-6061-FD613CB7A1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põhikäsud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B1965-180D-1AC8-1EAC-AA0D8FB2553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/>
          </a:p>
          <a:p>
            <a:pPr>
              <a:lnSpc>
                <a:spcPct val="150000"/>
              </a:lnSpc>
            </a:pPr>
            <a:endParaRPr lang="en-US" sz="2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AB63D7-8625-0273-BB8D-70F4FFAE506E}"/>
              </a:ext>
            </a:extLst>
          </p:cNvPr>
          <p:cNvSpPr txBox="1"/>
          <p:nvPr/>
        </p:nvSpPr>
        <p:spPr>
          <a:xfrm>
            <a:off x="677170" y="1222424"/>
            <a:ext cx="10386210" cy="45243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ea typeface="Inter"/>
                <a:hlinkClick r:id="rId2"/>
              </a:rPr>
              <a:t>https://sqliteviz.com/</a:t>
            </a:r>
            <a:endParaRPr lang="en-US" sz="2000" dirty="0">
              <a:ea typeface="Inter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dirty="0" err="1">
                <a:ea typeface="Inter"/>
              </a:rPr>
              <a:t>Laeme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üles</a:t>
            </a:r>
            <a:r>
              <a:rPr lang="en-US" sz="2000" dirty="0">
                <a:ea typeface="Inter"/>
              </a:rPr>
              <a:t> CSV </a:t>
            </a:r>
            <a:r>
              <a:rPr lang="en-US" sz="2000" dirty="0" err="1">
                <a:ea typeface="Inter"/>
              </a:rPr>
              <a:t>failid</a:t>
            </a:r>
            <a:r>
              <a:rPr lang="en-US" sz="2000" dirty="0">
                <a:ea typeface="Inter"/>
              </a:rPr>
              <a:t>: </a:t>
            </a:r>
            <a:r>
              <a:rPr lang="en-US" sz="2000" dirty="0" err="1">
                <a:ea typeface="Inter"/>
              </a:rPr>
              <a:t>Github</a:t>
            </a:r>
            <a:r>
              <a:rPr lang="en-US" sz="2000" dirty="0">
                <a:ea typeface="Inter"/>
              </a:rPr>
              <a:t> --&gt; Day5</a:t>
            </a: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sz="2000" dirty="0" err="1">
                <a:ea typeface="Inter"/>
              </a:rPr>
              <a:t>SalesTable</a:t>
            </a:r>
            <a:endParaRPr lang="en-US" sz="2000" dirty="0">
              <a:ea typeface="Inter"/>
            </a:endParaRP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sz="2000" dirty="0" err="1">
                <a:ea typeface="Inter"/>
              </a:rPr>
              <a:t>SalesRepTable</a:t>
            </a:r>
            <a:endParaRPr lang="en-US" sz="2000" dirty="0">
              <a:ea typeface="Inter"/>
            </a:endParaRP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sz="2000" dirty="0" err="1">
                <a:ea typeface="Inter"/>
              </a:rPr>
              <a:t>BudgetSalesRep</a:t>
            </a:r>
            <a:endParaRPr lang="en-US" sz="2000" dirty="0">
              <a:ea typeface="Inter"/>
            </a:endParaRPr>
          </a:p>
          <a:p>
            <a:pPr marL="285750" indent="-285750">
              <a:lnSpc>
                <a:spcPct val="150000"/>
              </a:lnSpc>
              <a:buFont typeface="Courier New"/>
              <a:buChar char="o"/>
            </a:pPr>
            <a:r>
              <a:rPr lang="en-US" sz="2000" dirty="0" err="1">
                <a:ea typeface="Inter"/>
              </a:rPr>
              <a:t>Salvestame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andmebaasi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enda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arvutisse</a:t>
            </a:r>
            <a:endParaRPr lang="en-US" sz="2000" dirty="0">
              <a:ea typeface="Inter"/>
            </a:endParaRP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sz="2000" dirty="0">
                <a:ea typeface="Inter"/>
              </a:rPr>
              <a:t>Export database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dirty="0" err="1">
                <a:ea typeface="Inter"/>
              </a:rPr>
              <a:t>GitHubi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ülesannete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failid</a:t>
            </a:r>
            <a:r>
              <a:rPr lang="en-US" sz="2000" dirty="0">
                <a:ea typeface="Inter"/>
              </a:rPr>
              <a:t>: </a:t>
            </a:r>
          </a:p>
          <a:p>
            <a:pPr marL="742950" lvl="1" indent="-285750">
              <a:lnSpc>
                <a:spcPct val="150000"/>
              </a:lnSpc>
              <a:buFont typeface="Courier New"/>
              <a:buChar char="o"/>
            </a:pPr>
            <a:r>
              <a:rPr lang="en-US" sz="2000" dirty="0">
                <a:ea typeface="Inter"/>
              </a:rPr>
              <a:t>Day5 --&gt; 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sql_ulesanded_1.txt</a:t>
            </a:r>
          </a:p>
          <a:p>
            <a:endParaRPr lang="en-US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818633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C8894-EA7E-D031-E39B-D15A9A1AC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7B3F8-1072-F92A-474F-F8B757A392D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259C4DD-AD06-746E-A9D2-C5E114417B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3161495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F17EF-948F-440F-9776-D47D63780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F7675-D5E2-4284-152D-B43170B2B2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põhikäsud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4A3DF0-7EC7-0A70-4125-F5DB0D9859E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 dirty="0"/>
          </a:p>
          <a:p>
            <a:pPr>
              <a:lnSpc>
                <a:spcPct val="150000"/>
              </a:lnSpc>
            </a:pP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1D8A84-5C3E-D3EC-7BBA-46AD750AB1C1}"/>
              </a:ext>
            </a:extLst>
          </p:cNvPr>
          <p:cNvSpPr txBox="1"/>
          <p:nvPr/>
        </p:nvSpPr>
        <p:spPr>
          <a:xfrm>
            <a:off x="677170" y="1222424"/>
            <a:ext cx="10386210" cy="129266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Lahendame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koos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esimesed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neli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ülesannet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: sql_ulesanded_2.txt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Edasi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lahendage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iseseisvalt</a:t>
            </a:r>
            <a:endParaRPr lang="en-US" sz="2000" dirty="0">
              <a:solidFill>
                <a:srgbClr val="121212"/>
              </a:solidFill>
              <a:ea typeface="+mn-lt"/>
              <a:cs typeface="+mn-lt"/>
            </a:endParaRPr>
          </a:p>
          <a:p>
            <a:endParaRPr lang="en-US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299004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96BEE-9A76-72C4-375A-62C991CD1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CCD10-5621-E068-9167-25ADABC927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põhikäsud</a:t>
            </a:r>
            <a:r>
              <a:rPr lang="en-US"/>
              <a:t> - </a:t>
            </a:r>
            <a:r>
              <a:rPr lang="en-US" err="1"/>
              <a:t>vaatame</a:t>
            </a:r>
            <a:r>
              <a:rPr lang="en-US"/>
              <a:t> </a:t>
            </a:r>
            <a:r>
              <a:rPr lang="en-US" err="1"/>
              <a:t>koos</a:t>
            </a:r>
            <a:r>
              <a:rPr lang="en-US"/>
              <a:t> </a:t>
            </a:r>
            <a:r>
              <a:rPr lang="en-US" err="1"/>
              <a:t>lahendused</a:t>
            </a:r>
            <a:r>
              <a:rPr lang="en-US"/>
              <a:t> </a:t>
            </a:r>
            <a:r>
              <a:rPr lang="en-US" err="1"/>
              <a:t>üle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D5D3A3-A166-EB4A-E787-94B4118BFE7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/>
          </a:p>
          <a:p>
            <a:pPr>
              <a:lnSpc>
                <a:spcPct val="150000"/>
              </a:lnSpc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6001701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69E23-325B-FBA2-1EF5-41153F1FA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8721C-D277-0541-FE4C-57FDB56A068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979AC4-FC3A-C148-1B50-62D394967D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761470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CC9A9-D04A-103B-54F8-01C27A2EF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F2F55-01EB-38B4-B089-9D487AC4F5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kirjeldav</a:t>
            </a:r>
            <a:r>
              <a:rPr lang="en-US"/>
              <a:t> </a:t>
            </a:r>
            <a:r>
              <a:rPr lang="en-US" err="1"/>
              <a:t>statistika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7A6978-9EE3-A1AE-8812-49901C2E5AF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/>
          </a:p>
          <a:p>
            <a:pPr>
              <a:lnSpc>
                <a:spcPct val="150000"/>
              </a:lnSpc>
            </a:pPr>
            <a:endParaRPr lang="en-US" sz="2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22CFD7-E0AE-CAFB-FD62-2D9E32335DFA}"/>
              </a:ext>
            </a:extLst>
          </p:cNvPr>
          <p:cNvSpPr txBox="1"/>
          <p:nvPr/>
        </p:nvSpPr>
        <p:spPr>
          <a:xfrm>
            <a:off x="677170" y="1222424"/>
            <a:ext cx="10386210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Koos: sql_ulesanded_3.txt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Iseseisvalt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: sql_ulesanded_3_iseseisev.txt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lang="en-US" sz="2000" dirty="0">
              <a:solidFill>
                <a:srgbClr val="121212"/>
              </a:solidFill>
              <a:ea typeface="+mn-lt"/>
              <a:cs typeface="+mn-lt"/>
            </a:endParaRPr>
          </a:p>
          <a:p>
            <a:endParaRPr lang="en-US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2881837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B7356-7B64-F84B-96D7-F43FEC3BE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C2502-5CCC-91CC-DC4B-06F9FE7175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 </a:t>
            </a:r>
            <a:r>
              <a:rPr lang="en-US" err="1"/>
              <a:t>kirjeldav</a:t>
            </a:r>
            <a:r>
              <a:rPr lang="en-US"/>
              <a:t> </a:t>
            </a:r>
            <a:r>
              <a:rPr lang="en-US" err="1"/>
              <a:t>statstika</a:t>
            </a:r>
            <a:r>
              <a:rPr lang="en-US"/>
              <a:t> - </a:t>
            </a:r>
            <a:r>
              <a:rPr lang="en-US" err="1"/>
              <a:t>vaatame</a:t>
            </a:r>
            <a:r>
              <a:rPr lang="en-US"/>
              <a:t> </a:t>
            </a:r>
            <a:r>
              <a:rPr lang="en-US" err="1"/>
              <a:t>koos</a:t>
            </a:r>
            <a:r>
              <a:rPr lang="en-US"/>
              <a:t> </a:t>
            </a:r>
            <a:r>
              <a:rPr lang="en-US" err="1"/>
              <a:t>lahendused</a:t>
            </a:r>
            <a:r>
              <a:rPr lang="en-US"/>
              <a:t> </a:t>
            </a:r>
            <a:r>
              <a:rPr lang="en-US" err="1"/>
              <a:t>üle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0BE55-1891-6FE5-965D-BD5310DDFCB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/>
          </a:p>
          <a:p>
            <a:pPr>
              <a:lnSpc>
                <a:spcPct val="150000"/>
              </a:lnSpc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6970878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AD298-D9EB-E866-8230-698261C8A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008EF-5EC7-F557-D61C-4B678F32E32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2258257-FE23-E665-46B1-A3F5D0C0F4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6576385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56864-A05B-EF9F-B85B-7225F6FAD6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</a:t>
            </a:r>
            <a:r>
              <a:rPr lang="en-US" err="1"/>
              <a:t>tabelite</a:t>
            </a:r>
            <a:r>
              <a:rPr lang="en-US"/>
              <a:t> </a:t>
            </a:r>
            <a:r>
              <a:rPr lang="en-US" err="1"/>
              <a:t>ühendamine</a:t>
            </a:r>
          </a:p>
        </p:txBody>
      </p:sp>
      <p:pic>
        <p:nvPicPr>
          <p:cNvPr id="4" name="Content Placeholder 3" descr="A diagram of a diagram&#10;&#10;AI-generated content may be incorrect.">
            <a:extLst>
              <a:ext uri="{FF2B5EF4-FFF2-40B4-BE49-F238E27FC236}">
                <a16:creationId xmlns:a16="http://schemas.microsoft.com/office/drawing/2014/main" id="{5BF0C907-9C51-2298-A293-3FA385474F5A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4370181" y="1024182"/>
            <a:ext cx="3946694" cy="5129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127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11A17-FC75-9EBB-18D3-5421C51EC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CC8A0-7075-F5E7-FB08-54655B51F0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SQL –  </a:t>
            </a:r>
            <a:r>
              <a:rPr lang="en-US" err="1"/>
              <a:t>tabelite</a:t>
            </a:r>
            <a:r>
              <a:rPr lang="en-US"/>
              <a:t> </a:t>
            </a:r>
            <a:r>
              <a:rPr lang="en-US" err="1"/>
              <a:t>ühendamine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DE06F-28ED-8FB3-6B5E-CD776866B61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/>
          </a:p>
          <a:p>
            <a:pPr>
              <a:lnSpc>
                <a:spcPct val="150000"/>
              </a:lnSpc>
            </a:pPr>
            <a:endParaRPr lang="en-US" sz="2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0C0BAC-6C7D-82E8-4B1F-5672297476A1}"/>
              </a:ext>
            </a:extLst>
          </p:cNvPr>
          <p:cNvSpPr txBox="1"/>
          <p:nvPr/>
        </p:nvSpPr>
        <p:spPr>
          <a:xfrm>
            <a:off x="677170" y="1222424"/>
            <a:ext cx="10386210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Teeme 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koos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: sql_ulesanded_4.txt</a:t>
            </a:r>
          </a:p>
          <a:p>
            <a:endParaRPr lang="en-US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628489419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259</TotalTime>
  <Words>525</Words>
  <Application>Microsoft Office PowerPoint</Application>
  <PresentationFormat>Widescreen</PresentationFormat>
  <Paragraphs>91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Wingdings</vt:lpstr>
      <vt:lpstr>Courier New</vt:lpstr>
      <vt:lpstr>Inter Bold</vt:lpstr>
      <vt:lpstr>Calibri</vt:lpstr>
      <vt:lpstr>Inter</vt:lpstr>
      <vt:lpstr>Arial</vt:lpstr>
      <vt:lpstr>Poppins SemiBold</vt:lpstr>
      <vt:lpstr>BCS</vt:lpstr>
      <vt:lpstr>Vali Andmetarkus!</vt:lpstr>
      <vt:lpstr>Päevakava - V päev</vt:lpstr>
      <vt:lpstr>Andmebaasid</vt:lpstr>
      <vt:lpstr>SQL </vt:lpstr>
      <vt:lpstr>SQL – päringu kirjutamise programmid</vt:lpstr>
      <vt:lpstr>SQL –  käskude järjekord päringus</vt:lpstr>
      <vt:lpstr>SQL –  päringu teostamise järjekord</vt:lpstr>
      <vt:lpstr>SQL –  põhikäsud</vt:lpstr>
      <vt:lpstr>Paus 10:30-10:45</vt:lpstr>
      <vt:lpstr>SQL –  põhikäsud</vt:lpstr>
      <vt:lpstr>SQL –  põhikäsud - vaatame koos lahendused üle</vt:lpstr>
      <vt:lpstr>Lõunapaus 12:15-13:15</vt:lpstr>
      <vt:lpstr>SQL –  kirjeldav statistika</vt:lpstr>
      <vt:lpstr>SQL –   kirjeldav statstika - vaatame koos lahendused üle</vt:lpstr>
      <vt:lpstr>Paus 14:45-15:00</vt:lpstr>
      <vt:lpstr>SQL – tabelite ühendamine</vt:lpstr>
      <vt:lpstr>SQL –  tabelite ühendamine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35</cp:revision>
  <dcterms:created xsi:type="dcterms:W3CDTF">2021-08-27T11:35:28Z</dcterms:created>
  <dcterms:modified xsi:type="dcterms:W3CDTF">2026-08-18T11:48:07Z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