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417" r:id="rId5"/>
    <p:sldId id="567" r:id="rId6"/>
    <p:sldId id="639" r:id="rId7"/>
    <p:sldId id="481" r:id="rId8"/>
    <p:sldId id="467" r:id="rId9"/>
    <p:sldId id="641" r:id="rId10"/>
    <p:sldId id="557" r:id="rId11"/>
    <p:sldId id="555" r:id="rId12"/>
    <p:sldId id="556" r:id="rId13"/>
    <p:sldId id="465" r:id="rId14"/>
    <p:sldId id="640" r:id="rId15"/>
    <p:sldId id="466" r:id="rId16"/>
    <p:sldId id="469" r:id="rId17"/>
    <p:sldId id="558" r:id="rId18"/>
    <p:sldId id="547" r:id="rId19"/>
    <p:sldId id="559" r:id="rId20"/>
    <p:sldId id="560" r:id="rId21"/>
    <p:sldId id="260" r:id="rId22"/>
    <p:sldId id="562" r:id="rId23"/>
    <p:sldId id="563" r:id="rId24"/>
    <p:sldId id="259" r:id="rId25"/>
    <p:sldId id="561" r:id="rId26"/>
    <p:sldId id="564" r:id="rId27"/>
    <p:sldId id="545" r:id="rId28"/>
    <p:sldId id="263" r:id="rId29"/>
    <p:sldId id="266" r:id="rId30"/>
    <p:sldId id="267" r:id="rId31"/>
    <p:sldId id="268" r:id="rId32"/>
    <p:sldId id="269" r:id="rId33"/>
    <p:sldId id="270" r:id="rId34"/>
    <p:sldId id="271" r:id="rId35"/>
    <p:sldId id="565" r:id="rId36"/>
    <p:sldId id="566" r:id="rId37"/>
    <p:sldId id="272" r:id="rId38"/>
    <p:sldId id="554" r:id="rId39"/>
    <p:sldId id="546" r:id="rId40"/>
    <p:sldId id="473" r:id="rId41"/>
  </p:sldIdLst>
  <p:sldSz cx="12192000" cy="6858000"/>
  <p:notesSz cx="6858000" cy="9144000"/>
  <p:embeddedFontLs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Inter" panose="020B0604020202020204" charset="0"/>
      <p:regular r:id="rId48"/>
      <p:bold r:id="rId49"/>
      <p:italic r:id="rId50"/>
      <p:boldItalic r:id="rId51"/>
    </p:embeddedFont>
    <p:embeddedFont>
      <p:font typeface="Inter Bold" panose="020B0604020202020204" charset="0"/>
      <p:bold r:id="rId52"/>
    </p:embeddedFont>
    <p:embeddedFont>
      <p:font typeface="Poppins SemiBold" panose="00000700000000000000" pitchFamily="2" charset="0"/>
      <p:bold r:id="rId53"/>
      <p:boldItalic r:id="rId54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0633" autoAdjust="0"/>
  </p:normalViewPr>
  <p:slideViewPr>
    <p:cSldViewPr snapToGrid="0">
      <p:cViewPr varScale="1">
        <p:scale>
          <a:sx n="67" d="100"/>
          <a:sy n="67" d="100"/>
        </p:scale>
        <p:origin x="5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custSel modSld">
      <pc:chgData name="Emilie Abel" userId="20dec598-1860-40de-ab3f-181316cc4da6" providerId="ADAL" clId="{3EAE1975-14BE-41D5-9E3B-28573F0EE5DC}" dt="2026-08-18T11:48:07.204" v="26" actId="478"/>
      <pc:docMkLst>
        <pc:docMk/>
      </pc:docMkLst>
      <pc:sldChg chg="delSp modSp mod">
        <pc:chgData name="Emilie Abel" userId="20dec598-1860-40de-ab3f-181316cc4da6" providerId="ADAL" clId="{3EAE1975-14BE-41D5-9E3B-28573F0EE5DC}" dt="2026-08-18T11:48:07.204" v="26" actId="478"/>
        <pc:sldMkLst>
          <pc:docMk/>
          <pc:sldMk cId="4169291970" sldId="417"/>
        </pc:sldMkLst>
        <pc:spChg chg="mod">
          <ac:chgData name="Emilie Abel" userId="20dec598-1860-40de-ab3f-181316cc4da6" providerId="ADAL" clId="{3EAE1975-14BE-41D5-9E3B-28573F0EE5DC}" dt="2026-08-18T11:48:03.980" v="25" actId="20577"/>
          <ac:spMkLst>
            <pc:docMk/>
            <pc:sldMk cId="4169291970" sldId="417"/>
            <ac:spMk id="5" creationId="{3496B8E7-2B01-285F-88ED-B3ADE66A3D31}"/>
          </ac:spMkLst>
        </pc:spChg>
        <pc:picChg chg="del">
          <ac:chgData name="Emilie Abel" userId="20dec598-1860-40de-ab3f-181316cc4da6" providerId="ADAL" clId="{3EAE1975-14BE-41D5-9E3B-28573F0EE5DC}" dt="2026-08-18T11:48:07.204" v="26" actId="478"/>
          <ac:picMkLst>
            <pc:docMk/>
            <pc:sldMk cId="4169291970" sldId="417"/>
            <ac:picMk id="3" creationId="{59426EB3-96A0-6F7B-BD8A-B89C052D49B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4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EDCBD0-BC27-4050-B98C-E5ED776EE4E2}" type="doc">
      <dgm:prSet loTypeId="urn:microsoft.com/office/officeart/2005/8/layout/vList2" loCatId="list" qsTypeId="urn:microsoft.com/office/officeart/2005/8/quickstyle/simple1#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52C0A33-4090-4AAD-93DD-465A4F86CE0A}">
      <dgm:prSet/>
      <dgm:spPr/>
      <dgm:t>
        <a:bodyPr/>
        <a:lstStyle/>
        <a:p>
          <a:r>
            <a:rPr lang="en-US" b="0" i="0" dirty="0"/>
            <a:t>E </a:t>
          </a:r>
          <a:r>
            <a:rPr lang="en-US" b="1" i="0" dirty="0"/>
            <a:t>SQL</a:t>
          </a:r>
          <a:r>
            <a:rPr lang="en-US" b="0" i="0" dirty="0"/>
            <a:t> </a:t>
          </a:r>
          <a:r>
            <a:rPr lang="en-US" b="0" i="0" dirty="0" err="1"/>
            <a:t>algus</a:t>
          </a:r>
          <a:r>
            <a:rPr lang="en-US" b="0" i="0" dirty="0"/>
            <a:t> ja </a:t>
          </a:r>
          <a:r>
            <a:rPr lang="en-US" b="0" i="0" dirty="0" err="1"/>
            <a:t>karjäärimoodul</a:t>
          </a:r>
          <a:r>
            <a:rPr lang="en-US" b="0" i="0" dirty="0"/>
            <a:t> I </a:t>
          </a:r>
          <a:r>
            <a:rPr lang="en-US" b="0" i="0" dirty="0" err="1"/>
            <a:t>osa</a:t>
          </a:r>
          <a:r>
            <a:rPr lang="en-US" b="0" i="0" dirty="0"/>
            <a:t> (13:15 – 16:30)</a:t>
          </a:r>
          <a:endParaRPr lang="en-US" dirty="0"/>
        </a:p>
      </dgm:t>
    </dgm:pt>
    <dgm:pt modelId="{F1892D67-AA1F-48D8-99A0-A112CB9102DC}" type="parTrans" cxnId="{82652D40-82D9-4CA3-BDD1-0D8CCE9975D7}">
      <dgm:prSet/>
      <dgm:spPr/>
      <dgm:t>
        <a:bodyPr/>
        <a:lstStyle/>
        <a:p>
          <a:endParaRPr lang="en-US"/>
        </a:p>
      </dgm:t>
    </dgm:pt>
    <dgm:pt modelId="{EFCB4D43-A9B0-4143-B0BA-DF44813767DB}" type="sibTrans" cxnId="{82652D40-82D9-4CA3-BDD1-0D8CCE9975D7}">
      <dgm:prSet/>
      <dgm:spPr/>
      <dgm:t>
        <a:bodyPr/>
        <a:lstStyle/>
        <a:p>
          <a:endParaRPr lang="en-US"/>
        </a:p>
      </dgm:t>
    </dgm:pt>
    <dgm:pt modelId="{01DA9C35-3199-4C6C-BDFE-65BDF5AE3D93}">
      <dgm:prSet/>
      <dgm:spPr/>
      <dgm:t>
        <a:bodyPr/>
        <a:lstStyle/>
        <a:p>
          <a:r>
            <a:rPr lang="en-GB" b="0" i="0" dirty="0"/>
            <a:t>T </a:t>
          </a:r>
          <a:r>
            <a:rPr lang="en-GB" b="1" i="0" dirty="0"/>
            <a:t>SQL</a:t>
          </a:r>
          <a:r>
            <a:rPr lang="en-GB" b="0" i="0" dirty="0"/>
            <a:t> </a:t>
          </a:r>
          <a:r>
            <a:rPr lang="en-GB" b="0" i="0" dirty="0" err="1"/>
            <a:t>agregeerimine</a:t>
          </a:r>
          <a:endParaRPr lang="en-US" dirty="0"/>
        </a:p>
      </dgm:t>
    </dgm:pt>
    <dgm:pt modelId="{B5A19205-1A6A-49D7-B887-67E60C0CDD70}" type="parTrans" cxnId="{C9F9A2DB-472E-4DE6-888F-11B619C68394}">
      <dgm:prSet/>
      <dgm:spPr/>
      <dgm:t>
        <a:bodyPr/>
        <a:lstStyle/>
        <a:p>
          <a:endParaRPr lang="en-US"/>
        </a:p>
      </dgm:t>
    </dgm:pt>
    <dgm:pt modelId="{291245C4-493D-4FF0-BA05-8ABAA29A06DE}" type="sibTrans" cxnId="{C9F9A2DB-472E-4DE6-888F-11B619C68394}">
      <dgm:prSet/>
      <dgm:spPr/>
      <dgm:t>
        <a:bodyPr/>
        <a:lstStyle/>
        <a:p>
          <a:endParaRPr lang="en-US"/>
        </a:p>
      </dgm:t>
    </dgm:pt>
    <dgm:pt modelId="{1E61F019-091A-4DA7-B433-131B9760C040}">
      <dgm:prSet/>
      <dgm:spPr/>
      <dgm:t>
        <a:bodyPr/>
        <a:lstStyle/>
        <a:p>
          <a:r>
            <a:rPr lang="en-GB" b="0" i="0" dirty="0"/>
            <a:t>K </a:t>
          </a:r>
          <a:r>
            <a:rPr lang="en-GB" b="1" i="0" dirty="0"/>
            <a:t>SQL</a:t>
          </a:r>
          <a:r>
            <a:rPr lang="en-GB" b="0" i="0" dirty="0"/>
            <a:t> </a:t>
          </a:r>
          <a:r>
            <a:rPr lang="en-GB" b="0" i="0" dirty="0" err="1"/>
            <a:t>tabelite</a:t>
          </a:r>
          <a:r>
            <a:rPr lang="en-GB" b="0" i="0" dirty="0"/>
            <a:t> </a:t>
          </a:r>
          <a:r>
            <a:rPr lang="en-GB" b="0" i="0" dirty="0" err="1"/>
            <a:t>ühendamine</a:t>
          </a:r>
          <a:endParaRPr lang="en-US" dirty="0"/>
        </a:p>
      </dgm:t>
    </dgm:pt>
    <dgm:pt modelId="{8F08A43A-145F-4449-9830-69CA46D2BEAD}" type="parTrans" cxnId="{0A4AA3FF-7CA8-4262-AFE2-9713279C8B0C}">
      <dgm:prSet/>
      <dgm:spPr/>
      <dgm:t>
        <a:bodyPr/>
        <a:lstStyle/>
        <a:p>
          <a:endParaRPr lang="en-US"/>
        </a:p>
      </dgm:t>
    </dgm:pt>
    <dgm:pt modelId="{7865AC7F-DFFF-48E8-8731-DE7137F90045}" type="sibTrans" cxnId="{0A4AA3FF-7CA8-4262-AFE2-9713279C8B0C}">
      <dgm:prSet/>
      <dgm:spPr/>
      <dgm:t>
        <a:bodyPr/>
        <a:lstStyle/>
        <a:p>
          <a:endParaRPr lang="en-US"/>
        </a:p>
      </dgm:t>
    </dgm:pt>
    <dgm:pt modelId="{F45E38AA-78B4-4E53-A7B5-A7862A6A7424}">
      <dgm:prSet/>
      <dgm:spPr/>
      <dgm:t>
        <a:bodyPr/>
        <a:lstStyle/>
        <a:p>
          <a:r>
            <a:rPr lang="en-US" b="0" i="0" dirty="0"/>
            <a:t>N </a:t>
          </a:r>
          <a:r>
            <a:rPr lang="en-US" b="0" i="0" dirty="0" err="1"/>
            <a:t>Andmekorraldus</a:t>
          </a:r>
          <a:r>
            <a:rPr lang="en-US" b="0" i="0" dirty="0"/>
            <a:t>, </a:t>
          </a:r>
          <a:r>
            <a:rPr lang="en-US" b="0" i="0" dirty="0" err="1"/>
            <a:t>andmekaitse</a:t>
          </a:r>
          <a:endParaRPr lang="en-US" dirty="0"/>
        </a:p>
      </dgm:t>
    </dgm:pt>
    <dgm:pt modelId="{AADB6522-8E12-4BB1-8A3E-F7184FC41CA7}" type="parTrans" cxnId="{5A0B826C-102A-4CFB-A1C9-B81A1C27941E}">
      <dgm:prSet/>
      <dgm:spPr/>
      <dgm:t>
        <a:bodyPr/>
        <a:lstStyle/>
        <a:p>
          <a:endParaRPr lang="en-US"/>
        </a:p>
      </dgm:t>
    </dgm:pt>
    <dgm:pt modelId="{51320B86-A3A7-4763-9B68-F68E20D38063}" type="sibTrans" cxnId="{5A0B826C-102A-4CFB-A1C9-B81A1C27941E}">
      <dgm:prSet/>
      <dgm:spPr/>
      <dgm:t>
        <a:bodyPr/>
        <a:lstStyle/>
        <a:p>
          <a:endParaRPr lang="en-US"/>
        </a:p>
      </dgm:t>
    </dgm:pt>
    <dgm:pt modelId="{6D1C200D-55FD-4C2A-9814-E87213AEDB2B}">
      <dgm:prSet/>
      <dgm:spPr/>
      <dgm:t>
        <a:bodyPr/>
        <a:lstStyle/>
        <a:p>
          <a:r>
            <a:rPr lang="en-GB" b="0" i="0" dirty="0"/>
            <a:t>R </a:t>
          </a:r>
          <a:r>
            <a:rPr lang="en-GB" b="0" i="0" dirty="0" err="1"/>
            <a:t>Harjutus</a:t>
          </a:r>
          <a:r>
            <a:rPr lang="en-GB" b="0" i="0" dirty="0"/>
            <a:t>, </a:t>
          </a:r>
          <a:r>
            <a:rPr lang="en-GB" b="0" i="0" dirty="0" err="1"/>
            <a:t>kokkuvõtted</a:t>
          </a:r>
          <a:r>
            <a:rPr lang="en-GB" b="0" i="0" dirty="0"/>
            <a:t>, </a:t>
          </a:r>
          <a:r>
            <a:rPr lang="en-GB" b="0" i="0" dirty="0" err="1"/>
            <a:t>tagasiside</a:t>
          </a:r>
          <a:r>
            <a:rPr lang="en-GB" b="0" i="0" dirty="0"/>
            <a:t>, </a:t>
          </a:r>
          <a:r>
            <a:rPr lang="en-GB" b="0" i="0" dirty="0" err="1"/>
            <a:t>grupitööde</a:t>
          </a:r>
          <a:r>
            <a:rPr lang="en-GB" b="0" i="0" dirty="0"/>
            <a:t> </a:t>
          </a:r>
          <a:r>
            <a:rPr lang="en-GB" b="0" i="0" dirty="0" err="1"/>
            <a:t>arutelu</a:t>
          </a:r>
          <a:endParaRPr lang="en-US" dirty="0"/>
        </a:p>
      </dgm:t>
    </dgm:pt>
    <dgm:pt modelId="{D608530A-7507-4BA7-A1ED-265A28C58727}" type="parTrans" cxnId="{0F9E506C-C63C-4CEE-B74B-2BB314D08C55}">
      <dgm:prSet/>
      <dgm:spPr/>
      <dgm:t>
        <a:bodyPr/>
        <a:lstStyle/>
        <a:p>
          <a:endParaRPr lang="en-US"/>
        </a:p>
      </dgm:t>
    </dgm:pt>
    <dgm:pt modelId="{D41A895D-BEC3-4B0D-8E68-130E03C05430}" type="sibTrans" cxnId="{0F9E506C-C63C-4CEE-B74B-2BB314D08C55}">
      <dgm:prSet/>
      <dgm:spPr/>
      <dgm:t>
        <a:bodyPr/>
        <a:lstStyle/>
        <a:p>
          <a:endParaRPr lang="en-US"/>
        </a:p>
      </dgm:t>
    </dgm:pt>
    <dgm:pt modelId="{4DB4BF93-5D04-4560-A853-56577C4A7DE4}" type="pres">
      <dgm:prSet presAssocID="{B2EDCBD0-BC27-4050-B98C-E5ED776EE4E2}" presName="linear" presStyleCnt="0">
        <dgm:presLayoutVars>
          <dgm:animLvl val="lvl"/>
          <dgm:resizeHandles val="exact"/>
        </dgm:presLayoutVars>
      </dgm:prSet>
      <dgm:spPr/>
    </dgm:pt>
    <dgm:pt modelId="{3510D2E2-8C18-4B90-B6E3-A1ECDF3B6B38}" type="pres">
      <dgm:prSet presAssocID="{E52C0A33-4090-4AAD-93DD-465A4F86CE0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B05663A-D4B5-4824-8117-035DD0B7F761}" type="pres">
      <dgm:prSet presAssocID="{EFCB4D43-A9B0-4143-B0BA-DF44813767DB}" presName="spacer" presStyleCnt="0"/>
      <dgm:spPr/>
    </dgm:pt>
    <dgm:pt modelId="{3649CDBB-2E06-4036-9A9F-F35593104DFD}" type="pres">
      <dgm:prSet presAssocID="{01DA9C35-3199-4C6C-BDFE-65BDF5AE3D9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0810AE8-0D78-48A4-8789-C729954FE1EC}" type="pres">
      <dgm:prSet presAssocID="{291245C4-493D-4FF0-BA05-8ABAA29A06DE}" presName="spacer" presStyleCnt="0"/>
      <dgm:spPr/>
    </dgm:pt>
    <dgm:pt modelId="{0F7FD9C4-800F-4A00-82CC-6FD2A257238D}" type="pres">
      <dgm:prSet presAssocID="{1E61F019-091A-4DA7-B433-131B9760C040}" presName="parentText" presStyleLbl="node1" presStyleIdx="2" presStyleCnt="5" custLinFactNeighborY="53752">
        <dgm:presLayoutVars>
          <dgm:chMax val="0"/>
          <dgm:bulletEnabled val="1"/>
        </dgm:presLayoutVars>
      </dgm:prSet>
      <dgm:spPr/>
    </dgm:pt>
    <dgm:pt modelId="{FFE3F6E2-18C5-4DD7-BC81-D9780D23184E}" type="pres">
      <dgm:prSet presAssocID="{7865AC7F-DFFF-48E8-8731-DE7137F90045}" presName="spacer" presStyleCnt="0"/>
      <dgm:spPr/>
    </dgm:pt>
    <dgm:pt modelId="{62BA5903-5CF1-462A-8FFA-E11BDC2589EE}" type="pres">
      <dgm:prSet presAssocID="{F45E38AA-78B4-4E53-A7B5-A7862A6A742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16923C4-3550-464F-B59E-188C254FED33}" type="pres">
      <dgm:prSet presAssocID="{51320B86-A3A7-4763-9B68-F68E20D38063}" presName="spacer" presStyleCnt="0"/>
      <dgm:spPr/>
    </dgm:pt>
    <dgm:pt modelId="{ED32D618-9750-450E-97A0-9836B73C403D}" type="pres">
      <dgm:prSet presAssocID="{6D1C200D-55FD-4C2A-9814-E87213AEDB2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5E04B1F-DCFA-4A7B-89E2-35FE0A4BB1D4}" type="presOf" srcId="{1E61F019-091A-4DA7-B433-131B9760C040}" destId="{0F7FD9C4-800F-4A00-82CC-6FD2A257238D}" srcOrd="0" destOrd="0" presId="urn:microsoft.com/office/officeart/2005/8/layout/vList2"/>
    <dgm:cxn modelId="{82652D40-82D9-4CA3-BDD1-0D8CCE9975D7}" srcId="{B2EDCBD0-BC27-4050-B98C-E5ED776EE4E2}" destId="{E52C0A33-4090-4AAD-93DD-465A4F86CE0A}" srcOrd="0" destOrd="0" parTransId="{F1892D67-AA1F-48D8-99A0-A112CB9102DC}" sibTransId="{EFCB4D43-A9B0-4143-B0BA-DF44813767DB}"/>
    <dgm:cxn modelId="{0F9E506C-C63C-4CEE-B74B-2BB314D08C55}" srcId="{B2EDCBD0-BC27-4050-B98C-E5ED776EE4E2}" destId="{6D1C200D-55FD-4C2A-9814-E87213AEDB2B}" srcOrd="4" destOrd="0" parTransId="{D608530A-7507-4BA7-A1ED-265A28C58727}" sibTransId="{D41A895D-BEC3-4B0D-8E68-130E03C05430}"/>
    <dgm:cxn modelId="{5A0B826C-102A-4CFB-A1C9-B81A1C27941E}" srcId="{B2EDCBD0-BC27-4050-B98C-E5ED776EE4E2}" destId="{F45E38AA-78B4-4E53-A7B5-A7862A6A7424}" srcOrd="3" destOrd="0" parTransId="{AADB6522-8E12-4BB1-8A3E-F7184FC41CA7}" sibTransId="{51320B86-A3A7-4763-9B68-F68E20D38063}"/>
    <dgm:cxn modelId="{457E448B-AC6C-44A7-BC80-ADE0A83F4803}" type="presOf" srcId="{F45E38AA-78B4-4E53-A7B5-A7862A6A7424}" destId="{62BA5903-5CF1-462A-8FFA-E11BDC2589EE}" srcOrd="0" destOrd="0" presId="urn:microsoft.com/office/officeart/2005/8/layout/vList2"/>
    <dgm:cxn modelId="{697A9F99-16CC-4639-B8B7-ACEFB1DCAEE5}" type="presOf" srcId="{E52C0A33-4090-4AAD-93DD-465A4F86CE0A}" destId="{3510D2E2-8C18-4B90-B6E3-A1ECDF3B6B38}" srcOrd="0" destOrd="0" presId="urn:microsoft.com/office/officeart/2005/8/layout/vList2"/>
    <dgm:cxn modelId="{4A7E53D5-890E-4EB4-A5BD-1BE5A55C817E}" type="presOf" srcId="{01DA9C35-3199-4C6C-BDFE-65BDF5AE3D93}" destId="{3649CDBB-2E06-4036-9A9F-F35593104DFD}" srcOrd="0" destOrd="0" presId="urn:microsoft.com/office/officeart/2005/8/layout/vList2"/>
    <dgm:cxn modelId="{C9F9A2DB-472E-4DE6-888F-11B619C68394}" srcId="{B2EDCBD0-BC27-4050-B98C-E5ED776EE4E2}" destId="{01DA9C35-3199-4C6C-BDFE-65BDF5AE3D93}" srcOrd="1" destOrd="0" parTransId="{B5A19205-1A6A-49D7-B887-67E60C0CDD70}" sibTransId="{291245C4-493D-4FF0-BA05-8ABAA29A06DE}"/>
    <dgm:cxn modelId="{8B335BEF-B5A7-4ABB-89CF-A4E23E6011B2}" type="presOf" srcId="{6D1C200D-55FD-4C2A-9814-E87213AEDB2B}" destId="{ED32D618-9750-450E-97A0-9836B73C403D}" srcOrd="0" destOrd="0" presId="urn:microsoft.com/office/officeart/2005/8/layout/vList2"/>
    <dgm:cxn modelId="{717FC6F3-D44F-4AC0-9A37-D2C55CD1ACAF}" type="presOf" srcId="{B2EDCBD0-BC27-4050-B98C-E5ED776EE4E2}" destId="{4DB4BF93-5D04-4560-A853-56577C4A7DE4}" srcOrd="0" destOrd="0" presId="urn:microsoft.com/office/officeart/2005/8/layout/vList2"/>
    <dgm:cxn modelId="{0A4AA3FF-7CA8-4262-AFE2-9713279C8B0C}" srcId="{B2EDCBD0-BC27-4050-B98C-E5ED776EE4E2}" destId="{1E61F019-091A-4DA7-B433-131B9760C040}" srcOrd="2" destOrd="0" parTransId="{8F08A43A-145F-4449-9830-69CA46D2BEAD}" sibTransId="{7865AC7F-DFFF-48E8-8731-DE7137F90045}"/>
    <dgm:cxn modelId="{AC06D0C3-C88D-4583-A968-1E1A341F015C}" type="presParOf" srcId="{4DB4BF93-5D04-4560-A853-56577C4A7DE4}" destId="{3510D2E2-8C18-4B90-B6E3-A1ECDF3B6B38}" srcOrd="0" destOrd="0" presId="urn:microsoft.com/office/officeart/2005/8/layout/vList2"/>
    <dgm:cxn modelId="{D0DDCCAD-D178-4364-8CF8-D98E7482FEEC}" type="presParOf" srcId="{4DB4BF93-5D04-4560-A853-56577C4A7DE4}" destId="{BB05663A-D4B5-4824-8117-035DD0B7F761}" srcOrd="1" destOrd="0" presId="urn:microsoft.com/office/officeart/2005/8/layout/vList2"/>
    <dgm:cxn modelId="{2926B2C6-2CC0-4B59-B15F-B6BA3F1372EC}" type="presParOf" srcId="{4DB4BF93-5D04-4560-A853-56577C4A7DE4}" destId="{3649CDBB-2E06-4036-9A9F-F35593104DFD}" srcOrd="2" destOrd="0" presId="urn:microsoft.com/office/officeart/2005/8/layout/vList2"/>
    <dgm:cxn modelId="{0CC072F4-B683-4989-8E26-9AB1896F74E3}" type="presParOf" srcId="{4DB4BF93-5D04-4560-A853-56577C4A7DE4}" destId="{E0810AE8-0D78-48A4-8789-C729954FE1EC}" srcOrd="3" destOrd="0" presId="urn:microsoft.com/office/officeart/2005/8/layout/vList2"/>
    <dgm:cxn modelId="{B2E6EF0D-DAC0-4ACD-811C-D9B377E32F62}" type="presParOf" srcId="{4DB4BF93-5D04-4560-A853-56577C4A7DE4}" destId="{0F7FD9C4-800F-4A00-82CC-6FD2A257238D}" srcOrd="4" destOrd="0" presId="urn:microsoft.com/office/officeart/2005/8/layout/vList2"/>
    <dgm:cxn modelId="{2AA2F119-8BA3-422E-BB5A-B682E8110244}" type="presParOf" srcId="{4DB4BF93-5D04-4560-A853-56577C4A7DE4}" destId="{FFE3F6E2-18C5-4DD7-BC81-D9780D23184E}" srcOrd="5" destOrd="0" presId="urn:microsoft.com/office/officeart/2005/8/layout/vList2"/>
    <dgm:cxn modelId="{91B02D83-ECBD-41A7-BAC0-BAD83E3A0796}" type="presParOf" srcId="{4DB4BF93-5D04-4560-A853-56577C4A7DE4}" destId="{62BA5903-5CF1-462A-8FFA-E11BDC2589EE}" srcOrd="6" destOrd="0" presId="urn:microsoft.com/office/officeart/2005/8/layout/vList2"/>
    <dgm:cxn modelId="{469498B2-50E7-4663-8963-69D2C23C7B8C}" type="presParOf" srcId="{4DB4BF93-5D04-4560-A853-56577C4A7DE4}" destId="{016923C4-3550-464F-B59E-188C254FED33}" srcOrd="7" destOrd="0" presId="urn:microsoft.com/office/officeart/2005/8/layout/vList2"/>
    <dgm:cxn modelId="{A29AC842-A428-4D0B-A68F-79017F706453}" type="presParOf" srcId="{4DB4BF93-5D04-4560-A853-56577C4A7DE4}" destId="{ED32D618-9750-450E-97A0-9836B73C403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0D2E2-8C18-4B90-B6E3-A1ECDF3B6B38}">
      <dsp:nvSpPr>
        <dsp:cNvPr id="0" name=""/>
        <dsp:cNvSpPr/>
      </dsp:nvSpPr>
      <dsp:spPr>
        <a:xfrm>
          <a:off x="0" y="104042"/>
          <a:ext cx="10636014" cy="743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E </a:t>
          </a:r>
          <a:r>
            <a:rPr lang="en-US" sz="3100" b="1" i="0" kern="1200" dirty="0"/>
            <a:t>SQL</a:t>
          </a:r>
          <a:r>
            <a:rPr lang="en-US" sz="3100" b="0" i="0" kern="1200" dirty="0"/>
            <a:t> </a:t>
          </a:r>
          <a:r>
            <a:rPr lang="en-US" sz="3100" b="0" i="0" kern="1200" dirty="0" err="1"/>
            <a:t>algus</a:t>
          </a:r>
          <a:r>
            <a:rPr lang="en-US" sz="3100" b="0" i="0" kern="1200" dirty="0"/>
            <a:t> ja </a:t>
          </a:r>
          <a:r>
            <a:rPr lang="en-US" sz="3100" b="0" i="0" kern="1200" dirty="0" err="1"/>
            <a:t>karjäärimoodul</a:t>
          </a:r>
          <a:r>
            <a:rPr lang="en-US" sz="3100" b="0" i="0" kern="1200" dirty="0"/>
            <a:t> I </a:t>
          </a:r>
          <a:r>
            <a:rPr lang="en-US" sz="3100" b="0" i="0" kern="1200" dirty="0" err="1"/>
            <a:t>osa</a:t>
          </a:r>
          <a:r>
            <a:rPr lang="en-US" sz="3100" b="0" i="0" kern="1200" dirty="0"/>
            <a:t> (13:15 – 16:30)</a:t>
          </a:r>
          <a:endParaRPr lang="en-US" sz="3100" kern="1200" dirty="0"/>
        </a:p>
      </dsp:txBody>
      <dsp:txXfrm>
        <a:off x="36296" y="140338"/>
        <a:ext cx="10563422" cy="670943"/>
      </dsp:txXfrm>
    </dsp:sp>
    <dsp:sp modelId="{3649CDBB-2E06-4036-9A9F-F35593104DFD}">
      <dsp:nvSpPr>
        <dsp:cNvPr id="0" name=""/>
        <dsp:cNvSpPr/>
      </dsp:nvSpPr>
      <dsp:spPr>
        <a:xfrm>
          <a:off x="0" y="936857"/>
          <a:ext cx="10636014" cy="743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0" i="0" kern="1200" dirty="0"/>
            <a:t>T </a:t>
          </a:r>
          <a:r>
            <a:rPr lang="en-GB" sz="3100" b="1" i="0" kern="1200" dirty="0"/>
            <a:t>SQL</a:t>
          </a:r>
          <a:r>
            <a:rPr lang="en-GB" sz="3100" b="0" i="0" kern="1200" dirty="0"/>
            <a:t> </a:t>
          </a:r>
          <a:r>
            <a:rPr lang="en-GB" sz="3100" b="0" i="0" kern="1200" dirty="0" err="1"/>
            <a:t>agregeerimine</a:t>
          </a:r>
          <a:endParaRPr lang="en-US" sz="3100" kern="1200" dirty="0"/>
        </a:p>
      </dsp:txBody>
      <dsp:txXfrm>
        <a:off x="36296" y="973153"/>
        <a:ext cx="10563422" cy="670943"/>
      </dsp:txXfrm>
    </dsp:sp>
    <dsp:sp modelId="{0F7FD9C4-800F-4A00-82CC-6FD2A257238D}">
      <dsp:nvSpPr>
        <dsp:cNvPr id="0" name=""/>
        <dsp:cNvSpPr/>
      </dsp:nvSpPr>
      <dsp:spPr>
        <a:xfrm>
          <a:off x="0" y="1817662"/>
          <a:ext cx="10636014" cy="743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0" i="0" kern="1200" dirty="0"/>
            <a:t>K </a:t>
          </a:r>
          <a:r>
            <a:rPr lang="en-GB" sz="3100" b="1" i="0" kern="1200" dirty="0"/>
            <a:t>SQL</a:t>
          </a:r>
          <a:r>
            <a:rPr lang="en-GB" sz="3100" b="0" i="0" kern="1200" dirty="0"/>
            <a:t> </a:t>
          </a:r>
          <a:r>
            <a:rPr lang="en-GB" sz="3100" b="0" i="0" kern="1200" dirty="0" err="1"/>
            <a:t>tabelite</a:t>
          </a:r>
          <a:r>
            <a:rPr lang="en-GB" sz="3100" b="0" i="0" kern="1200" dirty="0"/>
            <a:t> </a:t>
          </a:r>
          <a:r>
            <a:rPr lang="en-GB" sz="3100" b="0" i="0" kern="1200" dirty="0" err="1"/>
            <a:t>ühendamine</a:t>
          </a:r>
          <a:endParaRPr lang="en-US" sz="3100" kern="1200" dirty="0"/>
        </a:p>
      </dsp:txBody>
      <dsp:txXfrm>
        <a:off x="36296" y="1853958"/>
        <a:ext cx="10563422" cy="670943"/>
      </dsp:txXfrm>
    </dsp:sp>
    <dsp:sp modelId="{62BA5903-5CF1-462A-8FFA-E11BDC2589EE}">
      <dsp:nvSpPr>
        <dsp:cNvPr id="0" name=""/>
        <dsp:cNvSpPr/>
      </dsp:nvSpPr>
      <dsp:spPr>
        <a:xfrm>
          <a:off x="0" y="2602487"/>
          <a:ext cx="10636014" cy="743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N </a:t>
          </a:r>
          <a:r>
            <a:rPr lang="en-US" sz="3100" b="0" i="0" kern="1200" dirty="0" err="1"/>
            <a:t>Andmekorraldus</a:t>
          </a:r>
          <a:r>
            <a:rPr lang="en-US" sz="3100" b="0" i="0" kern="1200" dirty="0"/>
            <a:t>, </a:t>
          </a:r>
          <a:r>
            <a:rPr lang="en-US" sz="3100" b="0" i="0" kern="1200" dirty="0" err="1"/>
            <a:t>andmekaitse</a:t>
          </a:r>
          <a:endParaRPr lang="en-US" sz="3100" kern="1200" dirty="0"/>
        </a:p>
      </dsp:txBody>
      <dsp:txXfrm>
        <a:off x="36296" y="2638783"/>
        <a:ext cx="10563422" cy="670943"/>
      </dsp:txXfrm>
    </dsp:sp>
    <dsp:sp modelId="{ED32D618-9750-450E-97A0-9836B73C403D}">
      <dsp:nvSpPr>
        <dsp:cNvPr id="0" name=""/>
        <dsp:cNvSpPr/>
      </dsp:nvSpPr>
      <dsp:spPr>
        <a:xfrm>
          <a:off x="0" y="3435302"/>
          <a:ext cx="10636014" cy="743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0" i="0" kern="1200" dirty="0"/>
            <a:t>R </a:t>
          </a:r>
          <a:r>
            <a:rPr lang="en-GB" sz="3100" b="0" i="0" kern="1200" dirty="0" err="1"/>
            <a:t>Harjutus</a:t>
          </a:r>
          <a:r>
            <a:rPr lang="en-GB" sz="3100" b="0" i="0" kern="1200" dirty="0"/>
            <a:t>, </a:t>
          </a:r>
          <a:r>
            <a:rPr lang="en-GB" sz="3100" b="0" i="0" kern="1200" dirty="0" err="1"/>
            <a:t>kokkuvõtted</a:t>
          </a:r>
          <a:r>
            <a:rPr lang="en-GB" sz="3100" b="0" i="0" kern="1200" dirty="0"/>
            <a:t>, </a:t>
          </a:r>
          <a:r>
            <a:rPr lang="en-GB" sz="3100" b="0" i="0" kern="1200" dirty="0" err="1"/>
            <a:t>tagasiside</a:t>
          </a:r>
          <a:r>
            <a:rPr lang="en-GB" sz="3100" b="0" i="0" kern="1200" dirty="0"/>
            <a:t>, </a:t>
          </a:r>
          <a:r>
            <a:rPr lang="en-GB" sz="3100" b="0" i="0" kern="1200" dirty="0" err="1"/>
            <a:t>grupitööde</a:t>
          </a:r>
          <a:r>
            <a:rPr lang="en-GB" sz="3100" b="0" i="0" kern="1200" dirty="0"/>
            <a:t> </a:t>
          </a:r>
          <a:r>
            <a:rPr lang="en-GB" sz="3100" b="0" i="0" kern="1200" dirty="0" err="1"/>
            <a:t>arutelu</a:t>
          </a:r>
          <a:endParaRPr lang="en-US" sz="3100" kern="1200" dirty="0"/>
        </a:p>
      </dsp:txBody>
      <dsp:txXfrm>
        <a:off x="36296" y="3471598"/>
        <a:ext cx="10563422" cy="670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Koodi </a:t>
            </a:r>
            <a:r>
              <a:rPr lang="en-US" err="1">
                <a:ea typeface="Calibri"/>
                <a:cs typeface="Calibri"/>
              </a:rPr>
              <a:t>kirjutamise</a:t>
            </a:r>
            <a:r>
              <a:rPr lang="en-US">
                <a:ea typeface="Calibri"/>
                <a:cs typeface="Calibri"/>
              </a:rPr>
              <a:t> head </a:t>
            </a:r>
            <a:r>
              <a:rPr lang="en-US" err="1">
                <a:ea typeface="Calibri"/>
                <a:cs typeface="Calibri"/>
              </a:rPr>
              <a:t>tavad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91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Joonista tahvlile nooled: klient 1:n tellimus, tellimus 1:n rida, toode 1:n 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tellimuse_read.csv on loodud 3. päeva JOIN-ide ja allahindluste jaoks. 1. ja 2. päeval piisab kolmest esimesest failist.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Näita</a:t>
            </a:r>
            <a:r>
              <a:rPr dirty="0"/>
              <a:t> viga: WHERE linn = Tallinn.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see slaid enne lahendusi. Anna 8–12 min tase 1 ülesande kohta, siis võta ette tase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07.09.2026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E10AD2-E9C1-48AE-7843-C22C5ED4A947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50BECCD-A618-CD5C-9F66-EF8B96A99E8A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6FB9A03-0831-2763-0171-5E25E34C6356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23DDD57-1961-384D-5E2F-779DB354008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jobs/view/4463667405/" TargetMode="External"/><Relationship Id="rId2" Type="http://schemas.openxmlformats.org/officeDocument/2006/relationships/hyperlink" Target="https://www.linkedin.com/jobs/view/4462316073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t.wikipedia.org/wiki/MySQL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qlbol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hackerrank.com/domains/sql" TargetMode="External"/><Relationship Id="rId4" Type="http://schemas.openxmlformats.org/officeDocument/2006/relationships/hyperlink" Target="https://www.w3schools.com/sql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beaver.io/" TargetMode="External"/><Relationship Id="rId2" Type="http://schemas.openxmlformats.org/officeDocument/2006/relationships/hyperlink" Target="https://sqliteviz.com/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ode.visualstudio.com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viz.com/app" TargetMode="Externa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current/datatype.html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cs typeface="Poppins SemiBold"/>
              </a:rPr>
              <a:t>Vali </a:t>
            </a:r>
            <a:r>
              <a:rPr lang="en-US" dirty="0" err="1">
                <a:cs typeface="Poppins SemiBold"/>
              </a:rPr>
              <a:t>Andmetarkus</a:t>
            </a:r>
            <a:r>
              <a:rPr lang="en-US" dirty="0">
                <a:cs typeface="Poppins SemiBold"/>
              </a:rPr>
              <a:t>!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Inter"/>
              </a:rPr>
              <a:t>Emilie Abel</a:t>
            </a:r>
            <a:endParaRPr lang="en-US" dirty="0"/>
          </a:p>
          <a:p>
            <a:r>
              <a:rPr lang="en-US" dirty="0">
                <a:ea typeface="Inter"/>
              </a:rPr>
              <a:t>eilime@live.com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8667-DE06-3788-24A4-71A38A1D6F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Tagasiside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9E317-BA8D-D33B-059A-2EDFC9C83B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213" y="5219701"/>
            <a:ext cx="10941050" cy="838200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https://www.linkedin.com/jobs/view/4462316073/</a:t>
            </a:r>
            <a:endParaRPr lang="en-GB" dirty="0"/>
          </a:p>
          <a:p>
            <a:r>
              <a:rPr lang="en-GB" dirty="0">
                <a:hlinkClick r:id="rId3"/>
              </a:rPr>
              <a:t>https://www.linkedin.com/jobs/view/4463667405/</a:t>
            </a:r>
            <a:endParaRPr lang="en-GB" dirty="0"/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6C45BC-CE1D-0477-B969-3E9F7AAB21B7}"/>
              </a:ext>
            </a:extLst>
          </p:cNvPr>
          <p:cNvSpPr txBox="1">
            <a:spLocks/>
          </p:cNvSpPr>
          <p:nvPr/>
        </p:nvSpPr>
        <p:spPr>
          <a:xfrm>
            <a:off x="557213" y="4312299"/>
            <a:ext cx="10044112" cy="3570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0">
                <a:solidFill>
                  <a:schemeClr val="tx1"/>
                </a:solidFill>
                <a:latin typeface="+mj-lt"/>
                <a:ea typeface="Inter Semi Bold" panose="02000503000000020004" pitchFamily="2" charset="0"/>
                <a:cs typeface="Inter Semi Bold" panose="02000503000000020004" pitchFamily="2" charset="0"/>
              </a:defRPr>
            </a:lvl1pPr>
          </a:lstStyle>
          <a:p>
            <a:r>
              <a:rPr lang="en-GB" dirty="0" err="1"/>
              <a:t>Huvitav</a:t>
            </a:r>
            <a:r>
              <a:rPr lang="en-GB" dirty="0"/>
              <a:t> </a:t>
            </a:r>
            <a:r>
              <a:rPr lang="en-GB" dirty="0" err="1"/>
              <a:t>töökuulutus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C8323-CA84-5B85-C070-E2C31CDC0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975" y="223870"/>
            <a:ext cx="7941404" cy="375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2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21647-820E-F77B-78E3-53070A91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5886-670C-613A-8DF0-73A84F3EB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944" y="512390"/>
            <a:ext cx="10044112" cy="357043"/>
          </a:xfrm>
        </p:spPr>
        <p:txBody>
          <a:bodyPr anchor="t">
            <a:normAutofit/>
          </a:bodyPr>
          <a:lstStyle/>
          <a:p>
            <a:r>
              <a:rPr lang="en-GB" sz="2500" b="1" dirty="0"/>
              <a:t>2 . </a:t>
            </a:r>
            <a:r>
              <a:rPr lang="en-GB" sz="2500" b="1" dirty="0" err="1"/>
              <a:t>nädala</a:t>
            </a:r>
            <a:r>
              <a:rPr lang="en-GB" sz="2500" b="1" dirty="0"/>
              <a:t> </a:t>
            </a:r>
            <a:r>
              <a:rPr lang="en-GB" sz="2500" b="1" dirty="0" err="1"/>
              <a:t>plaan</a:t>
            </a:r>
            <a:endParaRPr lang="en-US" sz="2500" b="1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7075D06-6AB0-7668-DDD1-F70601A0DCA2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839346125"/>
              </p:ext>
            </p:extLst>
          </p:nvPr>
        </p:nvGraphicFramePr>
        <p:xfrm>
          <a:off x="932098" y="1268413"/>
          <a:ext cx="10636014" cy="4282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138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57B5-07D7-02BA-E1BF-B8AD99B2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E88A-0FCF-440A-B05F-1501C2CA4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FD651E-343F-D29C-56A2-9EDD113BB2D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556449284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Andmebaasid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1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SQL</a:t>
                      </a:r>
                      <a:endParaRPr lang="en-US" b="1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1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SQL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pärimiseks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harjutus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dirty="0" err="1">
                          <a:solidFill>
                            <a:srgbClr val="FF0000"/>
                          </a:solidFill>
                          <a:effectLst/>
                          <a:latin typeface="Inter"/>
                        </a:rPr>
                        <a:t>Karjäärimoodul</a:t>
                      </a:r>
                      <a:endParaRPr lang="en-US" b="0" i="0" dirty="0">
                        <a:solidFill>
                          <a:srgbClr val="FF0000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Karjäärimoodul</a:t>
                      </a:r>
                      <a:endParaRPr lang="en-US" b="0" i="0" dirty="0">
                        <a:solidFill>
                          <a:srgbClr val="FF0000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1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D1D6-6D54-AD90-2CF5-8A45ABA3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2E15-1B73-3161-C798-5619BA03E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Andmebaasid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FA2A-7EEC-CD9E-5FCE-B380E3A44B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4318" y="1555750"/>
            <a:ext cx="6477000" cy="44656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000" b="1" dirty="0" err="1"/>
              <a:t>Andmebaas</a:t>
            </a:r>
            <a:r>
              <a:rPr lang="en-GB" sz="2000" dirty="0"/>
              <a:t> on </a:t>
            </a:r>
            <a:r>
              <a:rPr lang="en-GB" sz="2000" dirty="0" err="1"/>
              <a:t>masinloetav</a:t>
            </a:r>
            <a:r>
              <a:rPr lang="en-GB" sz="2000" dirty="0"/>
              <a:t> </a:t>
            </a:r>
            <a:r>
              <a:rPr lang="en-GB" sz="2000" dirty="0" err="1"/>
              <a:t>organiseeritud</a:t>
            </a:r>
            <a:r>
              <a:rPr lang="en-GB" sz="2000" dirty="0"/>
              <a:t> </a:t>
            </a:r>
            <a:r>
              <a:rPr lang="en-GB" sz="2000" dirty="0" err="1"/>
              <a:t>kogum</a:t>
            </a:r>
            <a:r>
              <a:rPr lang="en-GB" sz="2000" dirty="0"/>
              <a:t> </a:t>
            </a:r>
            <a:r>
              <a:rPr lang="en-GB" sz="2000" dirty="0" err="1"/>
              <a:t>andmeid</a:t>
            </a:r>
            <a:r>
              <a:rPr lang="en-GB" sz="2000" dirty="0"/>
              <a:t>, mis on </a:t>
            </a:r>
            <a:r>
              <a:rPr lang="en-GB" sz="2000" dirty="0" err="1"/>
              <a:t>struktureeritud</a:t>
            </a:r>
            <a:r>
              <a:rPr lang="en-GB" sz="2000" dirty="0"/>
              <a:t> </a:t>
            </a:r>
            <a:r>
              <a:rPr lang="en-GB" sz="2000" dirty="0" err="1"/>
              <a:t>viisil</a:t>
            </a:r>
            <a:r>
              <a:rPr lang="en-GB" sz="2000" dirty="0"/>
              <a:t>, mis </a:t>
            </a:r>
            <a:r>
              <a:rPr lang="en-GB" sz="2000" dirty="0" err="1"/>
              <a:t>võimaldab</a:t>
            </a:r>
            <a:r>
              <a:rPr lang="en-GB" sz="2000" dirty="0"/>
              <a:t> </a:t>
            </a:r>
            <a:r>
              <a:rPr lang="en-GB" sz="2000" b="1" dirty="0" err="1"/>
              <a:t>lihtsat</a:t>
            </a:r>
            <a:r>
              <a:rPr lang="en-GB" sz="2000" b="1" dirty="0"/>
              <a:t> </a:t>
            </a:r>
            <a:r>
              <a:rPr lang="en-GB" sz="2000" b="1" dirty="0" err="1"/>
              <a:t>ja</a:t>
            </a:r>
            <a:r>
              <a:rPr lang="en-GB" sz="2000" b="1" dirty="0"/>
              <a:t> </a:t>
            </a:r>
            <a:r>
              <a:rPr lang="en-GB" sz="2000" b="1" dirty="0" err="1"/>
              <a:t>tõhusat</a:t>
            </a:r>
            <a:r>
              <a:rPr lang="en-GB" sz="2000" b="1" dirty="0"/>
              <a:t> </a:t>
            </a:r>
            <a:r>
              <a:rPr lang="en-GB" sz="2000" dirty="0"/>
              <a:t>: </a:t>
            </a:r>
            <a:r>
              <a:rPr lang="en-GB" sz="2000" b="1" dirty="0" err="1"/>
              <a:t>andmete</a:t>
            </a:r>
            <a:r>
              <a:rPr lang="en-GB" sz="2000" b="1" dirty="0"/>
              <a:t> </a:t>
            </a:r>
            <a:r>
              <a:rPr lang="en-GB" sz="2000" b="1" dirty="0" err="1"/>
              <a:t>salvestamist</a:t>
            </a:r>
            <a:r>
              <a:rPr lang="en-GB" sz="2000" dirty="0"/>
              <a:t>, </a:t>
            </a:r>
            <a:r>
              <a:rPr lang="en-GB" sz="2000" dirty="0" err="1"/>
              <a:t>haldamist</a:t>
            </a:r>
            <a:r>
              <a:rPr lang="en-GB" sz="2000" dirty="0"/>
              <a:t>, </a:t>
            </a:r>
            <a:r>
              <a:rPr lang="en-GB" sz="2000" dirty="0" err="1"/>
              <a:t>uuendamist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b="1" dirty="0" err="1"/>
              <a:t>otsimist</a:t>
            </a: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dirty="0" err="1"/>
              <a:t>Andmebaasid</a:t>
            </a:r>
            <a:r>
              <a:rPr lang="en-GB" sz="2000" dirty="0"/>
              <a:t> </a:t>
            </a:r>
            <a:r>
              <a:rPr lang="en-GB" sz="2000" dirty="0" err="1"/>
              <a:t>võivad</a:t>
            </a:r>
            <a:r>
              <a:rPr lang="en-GB" sz="2000" dirty="0"/>
              <a:t> </a:t>
            </a:r>
            <a:r>
              <a:rPr lang="en-GB" sz="2000" dirty="0" err="1"/>
              <a:t>sisaldada</a:t>
            </a:r>
            <a:r>
              <a:rPr lang="en-GB" sz="2000" dirty="0"/>
              <a:t> </a:t>
            </a:r>
            <a:r>
              <a:rPr lang="en-GB" sz="2000" dirty="0" err="1"/>
              <a:t>erinevat</a:t>
            </a:r>
            <a:r>
              <a:rPr lang="en-GB" sz="2000" dirty="0"/>
              <a:t> </a:t>
            </a:r>
            <a:r>
              <a:rPr lang="en-GB" sz="2000" dirty="0" err="1"/>
              <a:t>tüüpi</a:t>
            </a:r>
            <a:r>
              <a:rPr lang="en-GB" sz="2000" dirty="0"/>
              <a:t> </a:t>
            </a:r>
            <a:r>
              <a:rPr lang="en-GB" sz="2000" dirty="0" err="1"/>
              <a:t>andmeid</a:t>
            </a:r>
            <a:r>
              <a:rPr lang="en-GB" sz="2000" dirty="0"/>
              <a:t>, </a:t>
            </a:r>
            <a:r>
              <a:rPr lang="en-GB" sz="2000" dirty="0" err="1"/>
              <a:t>näiteks</a:t>
            </a:r>
            <a:r>
              <a:rPr lang="en-GB" sz="2000" dirty="0"/>
              <a:t>: </a:t>
            </a:r>
            <a:r>
              <a:rPr lang="en-GB" sz="2000" dirty="0" err="1"/>
              <a:t>tekstilisi</a:t>
            </a:r>
            <a:r>
              <a:rPr lang="en-GB" sz="2000" dirty="0"/>
              <a:t>, </a:t>
            </a:r>
            <a:r>
              <a:rPr lang="en-GB" sz="2000" dirty="0" err="1"/>
              <a:t>numbrilisi</a:t>
            </a:r>
            <a:r>
              <a:rPr lang="en-GB" sz="2000" dirty="0"/>
              <a:t> </a:t>
            </a:r>
            <a:r>
              <a:rPr lang="en-GB" sz="2000" dirty="0" err="1"/>
              <a:t>andmeid</a:t>
            </a:r>
            <a:r>
              <a:rPr lang="en-GB" sz="2000" dirty="0"/>
              <a:t> </a:t>
            </a:r>
            <a:r>
              <a:rPr lang="en-GB" sz="2000" dirty="0" err="1"/>
              <a:t>ning</a:t>
            </a:r>
            <a:r>
              <a:rPr lang="en-GB" sz="2000" dirty="0"/>
              <a:t> </a:t>
            </a:r>
            <a:r>
              <a:rPr lang="en-GB" sz="2000" dirty="0" err="1"/>
              <a:t>pilte</a:t>
            </a:r>
            <a:r>
              <a:rPr lang="en-GB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Asukoht</a:t>
            </a:r>
            <a:r>
              <a:rPr lang="en-US" sz="2000" dirty="0">
                <a:ea typeface="Inter"/>
              </a:rPr>
              <a:t>: </a:t>
            </a:r>
          </a:p>
          <a:p>
            <a:pPr lvl="1"/>
            <a:r>
              <a:rPr lang="en-US" sz="2000" u="sng" dirty="0" err="1">
                <a:ea typeface="Inter"/>
              </a:rPr>
              <a:t>lokaalne</a:t>
            </a:r>
            <a:r>
              <a:rPr lang="en-US" sz="2000" u="sng" dirty="0">
                <a:ea typeface="Inter"/>
              </a:rPr>
              <a:t> </a:t>
            </a:r>
            <a:r>
              <a:rPr lang="en-US" sz="2000" u="sng" dirty="0" err="1">
                <a:ea typeface="Inter"/>
              </a:rPr>
              <a:t>andmebaas</a:t>
            </a:r>
            <a:endParaRPr lang="en-US" sz="2000" dirty="0">
              <a:ea typeface="Inter"/>
            </a:endParaRPr>
          </a:p>
          <a:p>
            <a:pPr lvl="1"/>
            <a:r>
              <a:rPr lang="en-US" sz="2000" dirty="0" err="1">
                <a:ea typeface="Inter"/>
              </a:rPr>
              <a:t>kohalik</a:t>
            </a:r>
            <a:r>
              <a:rPr lang="en-US" sz="2000" dirty="0">
                <a:ea typeface="Inter"/>
              </a:rPr>
              <a:t> (on-prem) server</a:t>
            </a:r>
          </a:p>
          <a:p>
            <a:pPr lvl="1"/>
            <a:r>
              <a:rPr lang="en-US" sz="2000" dirty="0" err="1">
                <a:ea typeface="Inter"/>
              </a:rPr>
              <a:t>pilveserver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dirty="0">
              <a:ea typeface="In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B9E4C-D4BF-22CD-D6B8-B057503C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82" y="1000115"/>
            <a:ext cx="4633699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1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88D9-713B-DA52-C3C8-78B446C22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Andmebaasimootor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5FD0A-04AF-7D3D-B8EB-153A84FC051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000" dirty="0" err="1"/>
              <a:t>Andmebaasimootor</a:t>
            </a:r>
            <a:r>
              <a:rPr lang="en-GB" sz="2000" dirty="0"/>
              <a:t> on </a:t>
            </a:r>
            <a:r>
              <a:rPr lang="en-GB" sz="2000" dirty="0" err="1"/>
              <a:t>andmebaasisüsteemi</a:t>
            </a:r>
            <a:r>
              <a:rPr lang="en-GB" sz="2000" dirty="0"/>
              <a:t> </a:t>
            </a:r>
            <a:r>
              <a:rPr lang="en-GB" sz="2000" dirty="0" err="1"/>
              <a:t>tarkvaraline</a:t>
            </a:r>
            <a:r>
              <a:rPr lang="en-GB" sz="2000" dirty="0"/>
              <a:t> </a:t>
            </a:r>
            <a:r>
              <a:rPr lang="en-GB" sz="2000" dirty="0" err="1"/>
              <a:t>osa</a:t>
            </a:r>
            <a:r>
              <a:rPr lang="en-GB" sz="2000" dirty="0"/>
              <a:t>, mis </a:t>
            </a:r>
            <a:r>
              <a:rPr lang="en-GB" sz="2000" dirty="0" err="1"/>
              <a:t>tegeleb</a:t>
            </a:r>
            <a:r>
              <a:rPr lang="en-GB" sz="2000" dirty="0"/>
              <a:t> </a:t>
            </a:r>
            <a:r>
              <a:rPr lang="en-GB" sz="2000" dirty="0" err="1"/>
              <a:t>andmete</a:t>
            </a:r>
            <a:r>
              <a:rPr lang="en-GB" sz="2000" dirty="0"/>
              <a:t> </a:t>
            </a:r>
            <a:r>
              <a:rPr lang="en-GB" sz="2000" dirty="0" err="1"/>
              <a:t>tegeliku</a:t>
            </a:r>
            <a:r>
              <a:rPr lang="en-GB" sz="2000" dirty="0"/>
              <a:t> </a:t>
            </a:r>
            <a:r>
              <a:rPr lang="en-GB" sz="2000" dirty="0" err="1"/>
              <a:t>salvestamise</a:t>
            </a:r>
            <a:r>
              <a:rPr lang="en-GB" sz="2000" dirty="0"/>
              <a:t>, </a:t>
            </a:r>
            <a:r>
              <a:rPr lang="en-GB" sz="2000" dirty="0" err="1"/>
              <a:t>lugemise</a:t>
            </a:r>
            <a:r>
              <a:rPr lang="en-GB" sz="2000" dirty="0"/>
              <a:t>, </a:t>
            </a:r>
            <a:r>
              <a:rPr lang="en-GB" sz="2000" dirty="0" err="1"/>
              <a:t>muutmise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dirty="0" err="1"/>
              <a:t>kustutamisega</a:t>
            </a:r>
            <a:r>
              <a:rPr lang="en-GB" sz="2000" dirty="0"/>
              <a:t>.</a:t>
            </a:r>
          </a:p>
          <a:p>
            <a:r>
              <a:rPr lang="en-GB" sz="2000" dirty="0" err="1"/>
              <a:t>Lokaalsetel</a:t>
            </a:r>
            <a:r>
              <a:rPr lang="en-GB" sz="2000" dirty="0"/>
              <a:t> </a:t>
            </a:r>
            <a:r>
              <a:rPr lang="en-GB" sz="2000" dirty="0" err="1"/>
              <a:t>andmebaasidel</a:t>
            </a:r>
            <a:r>
              <a:rPr lang="en-GB" sz="2000" dirty="0"/>
              <a:t> </a:t>
            </a:r>
            <a:r>
              <a:rPr lang="en-GB" sz="2000" dirty="0" err="1"/>
              <a:t>peab</a:t>
            </a:r>
            <a:r>
              <a:rPr lang="en-GB" sz="2000" dirty="0"/>
              <a:t> see </a:t>
            </a:r>
            <a:r>
              <a:rPr lang="en-GB" sz="2000" dirty="0" err="1"/>
              <a:t>olema</a:t>
            </a:r>
            <a:r>
              <a:rPr lang="en-GB" sz="2000" dirty="0"/>
              <a:t> </a:t>
            </a:r>
            <a:r>
              <a:rPr lang="en-GB" sz="2000" dirty="0" err="1"/>
              <a:t>paigaldatud</a:t>
            </a:r>
            <a:r>
              <a:rPr lang="en-GB" sz="2000" dirty="0"/>
              <a:t>, </a:t>
            </a:r>
            <a:r>
              <a:rPr lang="en-GB" sz="2000" dirty="0" err="1"/>
              <a:t>pilveandmebaasid</a:t>
            </a:r>
            <a:r>
              <a:rPr lang="en-GB" sz="2000" dirty="0"/>
              <a:t> </a:t>
            </a:r>
            <a:r>
              <a:rPr lang="en-GB" sz="2000" dirty="0" err="1"/>
              <a:t>pakuvad</a:t>
            </a:r>
            <a:r>
              <a:rPr lang="en-GB" sz="2000" dirty="0"/>
              <a:t> </a:t>
            </a:r>
            <a:r>
              <a:rPr lang="en-GB" sz="2000" dirty="0" err="1"/>
              <a:t>seda</a:t>
            </a:r>
            <a:r>
              <a:rPr lang="en-GB" sz="2000" dirty="0"/>
              <a:t> </a:t>
            </a:r>
            <a:r>
              <a:rPr lang="en-GB" sz="2000" dirty="0" err="1"/>
              <a:t>teenusena</a:t>
            </a:r>
            <a:r>
              <a:rPr lang="en-GB" sz="2000" dirty="0"/>
              <a:t> (SaaS software as a service).</a:t>
            </a:r>
          </a:p>
          <a:p>
            <a:endParaRPr lang="en-GB" sz="2000" dirty="0"/>
          </a:p>
          <a:p>
            <a:r>
              <a:rPr lang="en-GB" sz="2000" dirty="0" err="1"/>
              <a:t>Näiteid</a:t>
            </a:r>
            <a:endParaRPr lang="en-GB" sz="2000" dirty="0"/>
          </a:p>
          <a:p>
            <a:pPr lvl="0"/>
            <a:r>
              <a:rPr lang="en-GB" sz="2000" b="1" dirty="0"/>
              <a:t>PostgreSQL:</a:t>
            </a:r>
            <a:r>
              <a:rPr lang="en-GB" sz="2000" dirty="0"/>
              <a:t> </a:t>
            </a:r>
            <a:r>
              <a:rPr lang="en-GB" sz="2000" dirty="0" err="1"/>
              <a:t>Võimas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dirty="0" err="1"/>
              <a:t>avatud</a:t>
            </a:r>
            <a:r>
              <a:rPr lang="en-GB" sz="2000" dirty="0"/>
              <a:t> </a:t>
            </a:r>
            <a:r>
              <a:rPr lang="en-GB" sz="2000" dirty="0" err="1"/>
              <a:t>lähtekoodiga</a:t>
            </a:r>
            <a:r>
              <a:rPr lang="en-GB" sz="2000" dirty="0"/>
              <a:t> </a:t>
            </a:r>
            <a:r>
              <a:rPr lang="en-GB" sz="2000" dirty="0" err="1"/>
              <a:t>süsteem</a:t>
            </a:r>
            <a:r>
              <a:rPr lang="en-GB" sz="2000" dirty="0"/>
              <a:t> </a:t>
            </a:r>
          </a:p>
          <a:p>
            <a:pPr lvl="0"/>
            <a:r>
              <a:rPr lang="en-GB" sz="2000" b="1" dirty="0"/>
              <a:t>MySQL:</a:t>
            </a:r>
            <a:r>
              <a:rPr lang="en-GB" sz="2000" dirty="0"/>
              <a:t> </a:t>
            </a:r>
            <a:r>
              <a:rPr lang="en-GB" sz="2000" dirty="0" err="1"/>
              <a:t>Väga</a:t>
            </a:r>
            <a:r>
              <a:rPr lang="en-GB" sz="2000" dirty="0"/>
              <a:t> </a:t>
            </a:r>
            <a:r>
              <a:rPr lang="en-GB" sz="2000" dirty="0" err="1"/>
              <a:t>populaarne</a:t>
            </a:r>
            <a:r>
              <a:rPr lang="en-GB" sz="2000" dirty="0"/>
              <a:t> </a:t>
            </a:r>
            <a:r>
              <a:rPr lang="en-GB" sz="2000" dirty="0" err="1"/>
              <a:t>veebirakendustes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dirty="0" err="1">
                <a:hlinkClick r:id="rId2"/>
              </a:rPr>
              <a:t>veebipõhises</a:t>
            </a:r>
            <a:r>
              <a:rPr lang="en-GB" sz="2000" dirty="0">
                <a:hlinkClick r:id="rId2"/>
              </a:rPr>
              <a:t> </a:t>
            </a:r>
            <a:r>
              <a:rPr lang="en-GB" sz="2000" dirty="0" err="1">
                <a:hlinkClick r:id="rId2"/>
              </a:rPr>
              <a:t>phpMyAdminis</a:t>
            </a:r>
            <a:r>
              <a:rPr lang="en-GB" sz="2000" dirty="0"/>
              <a:t>.</a:t>
            </a:r>
          </a:p>
          <a:p>
            <a:pPr lvl="0"/>
            <a:r>
              <a:rPr lang="en-GB" sz="2000" b="1" dirty="0"/>
              <a:t>SQLite:</a:t>
            </a:r>
            <a:r>
              <a:rPr lang="en-GB" sz="2000" dirty="0"/>
              <a:t> </a:t>
            </a:r>
            <a:r>
              <a:rPr lang="en-GB" sz="2000" dirty="0" err="1"/>
              <a:t>Väike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dirty="0" err="1"/>
              <a:t>kerge</a:t>
            </a:r>
            <a:r>
              <a:rPr lang="en-GB" sz="2000" dirty="0"/>
              <a:t> </a:t>
            </a:r>
            <a:r>
              <a:rPr lang="en-GB" sz="2000" dirty="0" err="1"/>
              <a:t>mootor</a:t>
            </a:r>
            <a:r>
              <a:rPr lang="en-GB" sz="2000" dirty="0"/>
              <a:t>, </a:t>
            </a:r>
            <a:r>
              <a:rPr lang="en-GB" sz="2000" dirty="0" err="1"/>
              <a:t>mida</a:t>
            </a:r>
            <a:r>
              <a:rPr lang="en-GB" sz="2000" dirty="0"/>
              <a:t> </a:t>
            </a:r>
            <a:r>
              <a:rPr lang="en-GB" sz="2000" dirty="0" err="1"/>
              <a:t>kasutatakse</a:t>
            </a:r>
            <a:r>
              <a:rPr lang="en-GB" sz="2000" dirty="0"/>
              <a:t> </a:t>
            </a:r>
            <a:r>
              <a:rPr lang="en-GB" sz="2000" dirty="0" err="1"/>
              <a:t>tihti</a:t>
            </a:r>
            <a:r>
              <a:rPr lang="en-GB" sz="2000" dirty="0"/>
              <a:t> </a:t>
            </a:r>
            <a:r>
              <a:rPr lang="en-GB" sz="2000" dirty="0" err="1"/>
              <a:t>mobiiltelefonides</a:t>
            </a:r>
            <a:r>
              <a:rPr lang="en-GB" sz="2000" dirty="0"/>
              <a:t>.</a:t>
            </a:r>
          </a:p>
          <a:p>
            <a:pPr lvl="0"/>
            <a:r>
              <a:rPr lang="en-GB" sz="2000" b="1" dirty="0"/>
              <a:t>Snowflake</a:t>
            </a:r>
            <a:r>
              <a:rPr lang="en-GB" sz="2000" dirty="0"/>
              <a:t> </a:t>
            </a:r>
            <a:r>
              <a:rPr lang="en-GB" sz="2000" dirty="0" err="1"/>
              <a:t>pilveandmebaas</a:t>
            </a:r>
            <a:endParaRPr lang="en-GB" sz="2000" dirty="0"/>
          </a:p>
          <a:p>
            <a:pPr lvl="0"/>
            <a:r>
              <a:rPr lang="en-GB" sz="2000" b="1" dirty="0"/>
              <a:t>Azure SQL Database </a:t>
            </a:r>
            <a:r>
              <a:rPr lang="en-GB" sz="2000" dirty="0" err="1"/>
              <a:t>andmebaas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4010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E79B-B477-DFAF-C572-1D4817077D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Andmebaas</a:t>
            </a:r>
            <a:r>
              <a:rPr lang="en-GB" dirty="0"/>
              <a:t>: </a:t>
            </a:r>
            <a:r>
              <a:rPr lang="en-GB" dirty="0" err="1"/>
              <a:t>tabelid</a:t>
            </a:r>
            <a:r>
              <a:rPr lang="en-GB" dirty="0"/>
              <a:t>, read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veerud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9C535-B784-C88B-9D0B-5751AB0B0F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363663"/>
            <a:ext cx="5242994" cy="4465637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 err="1"/>
              <a:t>Andmebaasid</a:t>
            </a:r>
            <a:r>
              <a:rPr lang="en-GB" sz="2000" dirty="0"/>
              <a:t> on </a:t>
            </a:r>
            <a:r>
              <a:rPr lang="en-GB" sz="2000" dirty="0" err="1"/>
              <a:t>tavaliselt</a:t>
            </a:r>
            <a:r>
              <a:rPr lang="en-GB" sz="2000" dirty="0"/>
              <a:t> </a:t>
            </a:r>
            <a:r>
              <a:rPr lang="en-GB" sz="2000" dirty="0" err="1"/>
              <a:t>organiseeritud</a:t>
            </a:r>
            <a:r>
              <a:rPr lang="en-GB" sz="2000" dirty="0"/>
              <a:t> </a:t>
            </a:r>
            <a:br>
              <a:rPr lang="en-GB" sz="2000" dirty="0"/>
            </a:br>
            <a:endParaRPr lang="en-GB" sz="2000" dirty="0"/>
          </a:p>
          <a:p>
            <a:r>
              <a:rPr lang="en-GB" sz="2000" b="1" dirty="0" err="1"/>
              <a:t>tabelite</a:t>
            </a:r>
            <a:r>
              <a:rPr lang="en-GB" sz="2000" dirty="0"/>
              <a:t> </a:t>
            </a:r>
            <a:r>
              <a:rPr lang="en-GB" sz="2000" dirty="0" err="1"/>
              <a:t>kaupa</a:t>
            </a:r>
            <a:r>
              <a:rPr lang="en-GB" sz="2000" dirty="0"/>
              <a:t>, </a:t>
            </a:r>
            <a:r>
              <a:rPr lang="en-GB" sz="2000" dirty="0" err="1"/>
              <a:t>kus</a:t>
            </a:r>
            <a:r>
              <a:rPr lang="en-GB" sz="2000" dirty="0"/>
              <a:t> </a:t>
            </a:r>
            <a:r>
              <a:rPr lang="en-GB" sz="2000" dirty="0" err="1"/>
              <a:t>iga</a:t>
            </a:r>
            <a:r>
              <a:rPr lang="en-GB" sz="2000" dirty="0"/>
              <a:t> </a:t>
            </a:r>
            <a:r>
              <a:rPr lang="en-GB" sz="2000" dirty="0" err="1"/>
              <a:t>tabel</a:t>
            </a:r>
            <a:r>
              <a:rPr lang="en-GB" sz="2000" dirty="0"/>
              <a:t> </a:t>
            </a:r>
            <a:r>
              <a:rPr lang="en-GB" sz="2000" dirty="0" err="1"/>
              <a:t>sisaldab</a:t>
            </a:r>
            <a:r>
              <a:rPr lang="en-GB" sz="2000" dirty="0"/>
              <a:t> </a:t>
            </a:r>
            <a:r>
              <a:rPr lang="en-GB" sz="2000" b="1" dirty="0" err="1"/>
              <a:t>ridu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b="1" dirty="0" err="1"/>
              <a:t>veerge</a:t>
            </a:r>
            <a:r>
              <a:rPr lang="en-GB" sz="2000" dirty="0"/>
              <a:t>. </a:t>
            </a:r>
            <a:br>
              <a:rPr lang="en-GB" sz="2000" dirty="0"/>
            </a:br>
            <a:endParaRPr lang="en-GB" sz="2000" dirty="0"/>
          </a:p>
          <a:p>
            <a:r>
              <a:rPr lang="en-GB" sz="2000" dirty="0"/>
              <a:t>Iga </a:t>
            </a:r>
            <a:r>
              <a:rPr lang="en-GB" sz="2000" b="1" dirty="0" err="1"/>
              <a:t>rida</a:t>
            </a:r>
            <a:r>
              <a:rPr lang="en-GB" sz="2000" dirty="0"/>
              <a:t> (</a:t>
            </a:r>
            <a:r>
              <a:rPr lang="en-GB" sz="2000" dirty="0" err="1"/>
              <a:t>või</a:t>
            </a:r>
            <a:r>
              <a:rPr lang="en-GB" sz="2000" dirty="0"/>
              <a:t> </a:t>
            </a:r>
            <a:r>
              <a:rPr lang="en-GB" sz="2000" dirty="0" err="1"/>
              <a:t>kirje</a:t>
            </a:r>
            <a:r>
              <a:rPr lang="en-GB" sz="2000" dirty="0"/>
              <a:t>) </a:t>
            </a:r>
            <a:r>
              <a:rPr lang="en-GB" sz="2000" dirty="0" err="1"/>
              <a:t>esindab</a:t>
            </a:r>
            <a:r>
              <a:rPr lang="en-GB" sz="2000" dirty="0"/>
              <a:t> </a:t>
            </a:r>
            <a:r>
              <a:rPr lang="en-GB" sz="2000" b="1" dirty="0" err="1"/>
              <a:t>ühte</a:t>
            </a:r>
            <a:r>
              <a:rPr lang="en-GB" sz="2000" b="1" dirty="0"/>
              <a:t> </a:t>
            </a:r>
            <a:r>
              <a:rPr lang="en-GB" sz="2000" b="1" dirty="0" err="1"/>
              <a:t>andmeüksust</a:t>
            </a:r>
            <a:r>
              <a:rPr lang="en-GB" sz="2000" b="1" dirty="0"/>
              <a:t> (</a:t>
            </a:r>
            <a:r>
              <a:rPr lang="en-GB" sz="2000" b="1" dirty="0" err="1"/>
              <a:t>granulaarsus</a:t>
            </a:r>
            <a:r>
              <a:rPr lang="en-GB" sz="2000" b="1" dirty="0"/>
              <a:t>)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br>
              <a:rPr lang="en-GB" sz="2000" dirty="0"/>
            </a:br>
            <a:r>
              <a:rPr lang="en-GB" sz="2000" dirty="0" err="1"/>
              <a:t>iga</a:t>
            </a:r>
            <a:r>
              <a:rPr lang="en-GB" sz="2000" dirty="0"/>
              <a:t> </a:t>
            </a:r>
            <a:r>
              <a:rPr lang="en-GB" sz="2000" b="1" dirty="0" err="1"/>
              <a:t>veerg</a:t>
            </a:r>
            <a:r>
              <a:rPr lang="en-GB" sz="2000" dirty="0"/>
              <a:t> (</a:t>
            </a:r>
            <a:r>
              <a:rPr lang="en-GB" sz="2000" dirty="0" err="1"/>
              <a:t>või</a:t>
            </a:r>
            <a:r>
              <a:rPr lang="en-GB" sz="2000" dirty="0"/>
              <a:t> </a:t>
            </a:r>
            <a:r>
              <a:rPr lang="en-GB" sz="2000" dirty="0" err="1"/>
              <a:t>atribuut</a:t>
            </a:r>
            <a:r>
              <a:rPr lang="en-GB" sz="2000" dirty="0"/>
              <a:t>) </a:t>
            </a:r>
            <a:r>
              <a:rPr lang="en-GB" sz="2000" dirty="0" err="1"/>
              <a:t>esindab</a:t>
            </a:r>
            <a:r>
              <a:rPr lang="en-GB" sz="2000" dirty="0"/>
              <a:t> </a:t>
            </a:r>
            <a:r>
              <a:rPr lang="en-GB" sz="2000" dirty="0" err="1"/>
              <a:t>konkreetset</a:t>
            </a:r>
            <a:r>
              <a:rPr lang="en-GB" sz="2000" dirty="0"/>
              <a:t> </a:t>
            </a:r>
            <a:r>
              <a:rPr lang="en-GB" sz="2000" dirty="0" err="1"/>
              <a:t>andmete</a:t>
            </a:r>
            <a:r>
              <a:rPr lang="en-GB" sz="2000" dirty="0"/>
              <a:t> </a:t>
            </a:r>
            <a:r>
              <a:rPr lang="en-GB" sz="2000" b="1" dirty="0" err="1"/>
              <a:t>omadust</a:t>
            </a:r>
            <a:r>
              <a:rPr lang="en-GB" sz="2000" dirty="0"/>
              <a:t>.</a:t>
            </a:r>
            <a:br>
              <a:rPr lang="en-GB" sz="2000" dirty="0"/>
            </a:br>
            <a:endParaRPr lang="en-GB" sz="2000" dirty="0"/>
          </a:p>
          <a:p>
            <a:r>
              <a:rPr lang="en-GB" sz="2000" dirty="0" err="1"/>
              <a:t>Tabelil</a:t>
            </a:r>
            <a:r>
              <a:rPr lang="en-GB" sz="2000" dirty="0"/>
              <a:t> on </a:t>
            </a:r>
            <a:r>
              <a:rPr lang="en-GB" sz="2000" b="1" dirty="0" err="1"/>
              <a:t>primaarvõti</a:t>
            </a:r>
            <a:r>
              <a:rPr lang="en-GB" sz="2000" dirty="0"/>
              <a:t> (primary key) </a:t>
            </a:r>
            <a:r>
              <a:rPr lang="en-GB" sz="2000" dirty="0" err="1"/>
              <a:t>ehk</a:t>
            </a:r>
            <a:r>
              <a:rPr lang="en-GB" sz="2000" dirty="0"/>
              <a:t> </a:t>
            </a:r>
            <a:r>
              <a:rPr lang="en-GB" sz="2000" dirty="0" err="1"/>
              <a:t>andmeüksuse</a:t>
            </a:r>
            <a:r>
              <a:rPr lang="en-GB" sz="2000" dirty="0"/>
              <a:t> </a:t>
            </a:r>
            <a:r>
              <a:rPr lang="en-GB" sz="2000" dirty="0" err="1"/>
              <a:t>unikaalne</a:t>
            </a:r>
            <a:r>
              <a:rPr lang="en-GB" sz="2000" dirty="0"/>
              <a:t> </a:t>
            </a:r>
            <a:r>
              <a:rPr lang="en-GB" sz="2000" dirty="0" err="1"/>
              <a:t>tunnus</a:t>
            </a:r>
            <a:r>
              <a:rPr lang="en-GB" sz="2000" dirty="0"/>
              <a:t>. </a:t>
            </a:r>
            <a:r>
              <a:rPr lang="en-GB" sz="2000" dirty="0" err="1"/>
              <a:t>Teised</a:t>
            </a:r>
            <a:r>
              <a:rPr lang="en-GB" sz="2000" dirty="0"/>
              <a:t> </a:t>
            </a:r>
            <a:r>
              <a:rPr lang="en-GB" sz="2000" dirty="0" err="1"/>
              <a:t>tabelid</a:t>
            </a:r>
            <a:r>
              <a:rPr lang="en-GB" sz="2000" dirty="0"/>
              <a:t> </a:t>
            </a:r>
            <a:r>
              <a:rPr lang="en-GB" sz="2000" dirty="0" err="1"/>
              <a:t>saavad</a:t>
            </a:r>
            <a:r>
              <a:rPr lang="en-GB" sz="2000" dirty="0"/>
              <a:t> </a:t>
            </a:r>
            <a:r>
              <a:rPr lang="en-GB" sz="2000" dirty="0" err="1"/>
              <a:t>sellega</a:t>
            </a:r>
            <a:r>
              <a:rPr lang="en-GB" sz="2000" dirty="0"/>
              <a:t> </a:t>
            </a:r>
            <a:r>
              <a:rPr lang="en-GB" sz="2000" dirty="0" err="1"/>
              <a:t>viidata</a:t>
            </a:r>
            <a:r>
              <a:rPr lang="en-GB" sz="2000" dirty="0"/>
              <a:t>.</a:t>
            </a:r>
            <a:br>
              <a:rPr lang="en-GB" sz="2000" dirty="0"/>
            </a:br>
            <a:endParaRPr lang="en-GB" sz="2000" dirty="0"/>
          </a:p>
          <a:p>
            <a:r>
              <a:rPr lang="en-GB" sz="2000" dirty="0" err="1"/>
              <a:t>Tesele</a:t>
            </a:r>
            <a:r>
              <a:rPr lang="en-GB" sz="2000" dirty="0"/>
              <a:t> </a:t>
            </a:r>
            <a:r>
              <a:rPr lang="en-GB" sz="2000" dirty="0" err="1"/>
              <a:t>tabelile</a:t>
            </a:r>
            <a:r>
              <a:rPr lang="en-GB" sz="2000" dirty="0"/>
              <a:t> </a:t>
            </a:r>
            <a:r>
              <a:rPr lang="en-GB" sz="2000" dirty="0" err="1"/>
              <a:t>viitav</a:t>
            </a:r>
            <a:r>
              <a:rPr lang="en-GB" sz="2000" dirty="0"/>
              <a:t> </a:t>
            </a:r>
            <a:r>
              <a:rPr lang="en-GB" sz="2000" dirty="0" err="1"/>
              <a:t>tunnus</a:t>
            </a:r>
            <a:r>
              <a:rPr lang="en-GB" sz="2000" dirty="0"/>
              <a:t> on </a:t>
            </a:r>
            <a:r>
              <a:rPr lang="en-GB" sz="2000" b="1" dirty="0" err="1"/>
              <a:t>võõrvõti</a:t>
            </a:r>
            <a:r>
              <a:rPr lang="en-GB" sz="2000" dirty="0"/>
              <a:t> (foreign key), see on </a:t>
            </a:r>
            <a:r>
              <a:rPr lang="en-GB" sz="2000" dirty="0" err="1"/>
              <a:t>teise</a:t>
            </a:r>
            <a:r>
              <a:rPr lang="en-GB" sz="2000" dirty="0"/>
              <a:t> </a:t>
            </a:r>
            <a:r>
              <a:rPr lang="en-GB" sz="2000" dirty="0" err="1"/>
              <a:t>tabeli</a:t>
            </a:r>
            <a:r>
              <a:rPr lang="en-GB" sz="2000" dirty="0"/>
              <a:t> </a:t>
            </a:r>
            <a:r>
              <a:rPr lang="en-GB" sz="2000" dirty="0" err="1"/>
              <a:t>primaarvõti</a:t>
            </a:r>
            <a:r>
              <a:rPr lang="en-GB" sz="2000" dirty="0"/>
              <a:t>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48C84-EC2C-9275-575B-ABA66A394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882" y="1022067"/>
            <a:ext cx="5103696" cy="445646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FD89D2-B1F7-4887-E398-D3B548CD5639}"/>
              </a:ext>
            </a:extLst>
          </p:cNvPr>
          <p:cNvSpPr txBox="1">
            <a:spLocks/>
          </p:cNvSpPr>
          <p:nvPr/>
        </p:nvSpPr>
        <p:spPr>
          <a:xfrm>
            <a:off x="6096000" y="5478531"/>
            <a:ext cx="6096000" cy="2278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Allikas: </a:t>
            </a:r>
            <a:r>
              <a:rPr lang="en-GB" dirty="0" err="1"/>
              <a:t>Taltech</a:t>
            </a:r>
            <a:r>
              <a:rPr lang="en-GB" dirty="0"/>
              <a:t> </a:t>
            </a:r>
            <a:r>
              <a:rPr lang="en-GB" dirty="0" err="1"/>
              <a:t>eriala</a:t>
            </a:r>
            <a:r>
              <a:rPr lang="en-GB" dirty="0"/>
              <a:t> </a:t>
            </a:r>
            <a:r>
              <a:rPr lang="en-GB" dirty="0" err="1"/>
              <a:t>tutvustuse</a:t>
            </a:r>
            <a:r>
              <a:rPr lang="en-GB" dirty="0"/>
              <a:t> </a:t>
            </a:r>
            <a:r>
              <a:rPr lang="en-GB" dirty="0" err="1"/>
              <a:t>leht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https://iti0105.pages.taltech.ee/databases/databases.html </a:t>
            </a:r>
          </a:p>
        </p:txBody>
      </p:sp>
    </p:spTree>
    <p:extLst>
      <p:ext uri="{BB962C8B-B14F-4D97-AF65-F5344CB8AC3E}">
        <p14:creationId xmlns:p14="http://schemas.microsoft.com/office/powerpoint/2010/main" val="61440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2AA3-11CA-B695-C9E5-4F69A440E6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Relatsiooniline</a:t>
            </a:r>
            <a:r>
              <a:rPr lang="en-GB" dirty="0"/>
              <a:t> </a:t>
            </a:r>
            <a:r>
              <a:rPr lang="en-GB" dirty="0" err="1"/>
              <a:t>andmebaas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4C0B-3215-071E-E222-AED78EBF8C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491131"/>
            <a:ext cx="4188744" cy="44656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Relatsiooniline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andmebaas</a:t>
            </a:r>
            <a:endParaRPr lang="en-US" sz="24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Tabeleid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saab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omavahel</a:t>
            </a:r>
            <a:r>
              <a:rPr lang="en-US" sz="2000" dirty="0">
                <a:ea typeface="Inter"/>
              </a:rPr>
              <a:t> </a:t>
            </a:r>
            <a:r>
              <a:rPr lang="en-US" sz="2000" b="1" dirty="0">
                <a:ea typeface="Inter"/>
              </a:rPr>
              <a:t>ID </a:t>
            </a:r>
            <a:r>
              <a:rPr lang="en-US" sz="2000" b="1" dirty="0" err="1">
                <a:ea typeface="Inter"/>
              </a:rPr>
              <a:t>tulpade</a:t>
            </a:r>
            <a:r>
              <a:rPr lang="en-US" sz="2000" b="1" dirty="0">
                <a:ea typeface="Inter"/>
              </a:rPr>
              <a:t> </a:t>
            </a:r>
            <a:r>
              <a:rPr lang="en-US" sz="2000" b="1" dirty="0" err="1">
                <a:ea typeface="Inter"/>
              </a:rPr>
              <a:t>alusel</a:t>
            </a:r>
            <a:r>
              <a:rPr lang="en-US" sz="2000" b="1" dirty="0">
                <a:ea typeface="Inter"/>
              </a:rPr>
              <a:t> </a:t>
            </a:r>
            <a:r>
              <a:rPr lang="en-US" sz="2000" b="1" dirty="0" err="1">
                <a:ea typeface="Inter"/>
              </a:rPr>
              <a:t>ühendada</a:t>
            </a:r>
            <a:br>
              <a:rPr lang="en-US" sz="2000" b="1" dirty="0">
                <a:ea typeface="Inter"/>
              </a:rPr>
            </a:br>
            <a:endParaRPr lang="en-US" sz="2000" b="1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Sobiv</a:t>
            </a:r>
            <a:r>
              <a:rPr lang="en-US" sz="2000" dirty="0">
                <a:ea typeface="Inter"/>
              </a:rPr>
              <a:t> </a:t>
            </a:r>
            <a:r>
              <a:rPr lang="en-US" sz="2000" b="1" dirty="0" err="1">
                <a:ea typeface="Inter"/>
              </a:rPr>
              <a:t>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haldamiseks</a:t>
            </a:r>
            <a:br>
              <a:rPr lang="en-US" sz="2000" dirty="0">
                <a:ea typeface="Inter"/>
              </a:rPr>
            </a:b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Sobib</a:t>
            </a:r>
            <a:r>
              <a:rPr lang="en-US" sz="2000" dirty="0">
                <a:ea typeface="Inter"/>
              </a:rPr>
              <a:t> </a:t>
            </a:r>
            <a:r>
              <a:rPr lang="en-US" sz="2000" b="1" dirty="0" err="1">
                <a:ea typeface="Inter"/>
              </a:rPr>
              <a:t>analüütikas</a:t>
            </a:r>
            <a:endParaRPr lang="en-US" sz="2000" b="1" dirty="0">
              <a:ea typeface="Inter"/>
            </a:endParaRPr>
          </a:p>
          <a:p>
            <a:endParaRPr lang="en-GB" dirty="0"/>
          </a:p>
        </p:txBody>
      </p:sp>
      <p:pic>
        <p:nvPicPr>
          <p:cNvPr id="5" name="Picture 4" descr="r/Database - How does my sales ERD look?">
            <a:extLst>
              <a:ext uri="{FF2B5EF4-FFF2-40B4-BE49-F238E27FC236}">
                <a16:creationId xmlns:a16="http://schemas.microsoft.com/office/drawing/2014/main" id="{3745D3C4-CA8B-ED7B-E355-6BAEA4B42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631" y="1491131"/>
            <a:ext cx="5511997" cy="347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0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A468-7DB6-CC81-B552-37FDA6BB9B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Mitte-</a:t>
            </a:r>
            <a:r>
              <a:rPr lang="en-GB" dirty="0" err="1"/>
              <a:t>relatsiooniline</a:t>
            </a:r>
            <a:r>
              <a:rPr lang="en-GB" dirty="0"/>
              <a:t> </a:t>
            </a:r>
            <a:r>
              <a:rPr lang="en-GB" dirty="0" err="1"/>
              <a:t>andmebaas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3FA6-EBB5-2CEF-6C55-30E138FE848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902040" cy="4465637"/>
          </a:xfrm>
        </p:spPr>
        <p:txBody>
          <a:bodyPr/>
          <a:lstStyle/>
          <a:p>
            <a:pPr indent="-342900"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Mitte-</a:t>
            </a:r>
            <a:r>
              <a:rPr lang="en-US" sz="2400" dirty="0" err="1">
                <a:ea typeface="Inter"/>
              </a:rPr>
              <a:t>relatsiooniline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andmebaas</a:t>
            </a:r>
            <a:r>
              <a:rPr lang="en-US" sz="2400" dirty="0">
                <a:ea typeface="Inter"/>
              </a:rPr>
              <a:t> (No SQL)</a:t>
            </a:r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Sobiv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nii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kui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mitte-struktureeritud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andmete</a:t>
            </a:r>
            <a:r>
              <a:rPr lang="en-US" sz="2000" dirty="0">
                <a:ea typeface="Inter"/>
              </a:rPr>
              <a:t> (</a:t>
            </a:r>
            <a:r>
              <a:rPr lang="en-US" sz="2000" dirty="0" err="1">
                <a:ea typeface="Inter"/>
              </a:rPr>
              <a:t>nt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json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failide</a:t>
            </a:r>
            <a:r>
              <a:rPr lang="en-US" sz="2000" dirty="0">
                <a:ea typeface="Inter"/>
              </a:rPr>
              <a:t> sisu, </a:t>
            </a:r>
            <a:r>
              <a:rPr lang="en-US" sz="2000" dirty="0" err="1">
                <a:ea typeface="Inter"/>
              </a:rPr>
              <a:t>pildid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videod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dokumendid</a:t>
            </a:r>
            <a:r>
              <a:rPr lang="en-US" sz="2000" dirty="0">
                <a:ea typeface="Inter"/>
              </a:rPr>
              <a:t>) </a:t>
            </a:r>
            <a:r>
              <a:rPr lang="en-US" sz="2000" dirty="0" err="1">
                <a:ea typeface="Inter"/>
              </a:rPr>
              <a:t>haldamiseks</a:t>
            </a:r>
            <a:endParaRPr lang="en-US" sz="2000" dirty="0">
              <a:ea typeface="Inter"/>
            </a:endParaRPr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Võimaldab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hoida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paindlikult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veerge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hierarhiaid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lisada</a:t>
            </a:r>
            <a:r>
              <a:rPr lang="en-US" sz="2000" dirty="0">
                <a:ea typeface="Inter"/>
              </a:rPr>
              <a:t>; </a:t>
            </a:r>
            <a:r>
              <a:rPr lang="en-US" sz="2000" dirty="0" err="1">
                <a:ea typeface="Inter"/>
              </a:rPr>
              <a:t>iga</a:t>
            </a:r>
            <a:r>
              <a:rPr lang="en-US" sz="2000" dirty="0">
                <a:ea typeface="Inter"/>
              </a:rPr>
              <a:t> rea kotha </a:t>
            </a:r>
            <a:r>
              <a:rPr lang="en-US" sz="2000" dirty="0" err="1">
                <a:ea typeface="Inter"/>
              </a:rPr>
              <a:t>vaid</a:t>
            </a:r>
            <a:r>
              <a:rPr lang="en-US" sz="2000" dirty="0">
                <a:ea typeface="Inter"/>
              </a:rPr>
              <a:t> need </a:t>
            </a:r>
            <a:r>
              <a:rPr lang="en-US" sz="2000" dirty="0" err="1">
                <a:ea typeface="Inter"/>
              </a:rPr>
              <a:t>veergude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andmed</a:t>
            </a:r>
            <a:r>
              <a:rPr lang="en-US" sz="2000" dirty="0">
                <a:ea typeface="Inter"/>
              </a:rPr>
              <a:t>, mis </a:t>
            </a:r>
            <a:r>
              <a:rPr lang="en-US" sz="2000" dirty="0" err="1">
                <a:ea typeface="Inter"/>
              </a:rPr>
              <a:t>olemas</a:t>
            </a:r>
            <a:endParaRPr lang="en-US" sz="2000" dirty="0">
              <a:ea typeface="Inter"/>
            </a:endParaRPr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Inter"/>
              </a:rPr>
              <a:t>Ei </a:t>
            </a:r>
            <a:r>
              <a:rPr lang="en-US" sz="2000" dirty="0" err="1">
                <a:ea typeface="Inter"/>
              </a:rPr>
              <a:t>sobi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analüütikaks</a:t>
            </a:r>
            <a:endParaRPr lang="en-US" sz="2000" dirty="0">
              <a:ea typeface="Inter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0A140-313F-34A0-3793-01186C596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761" y="1293019"/>
            <a:ext cx="6000414" cy="383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34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4C2F-3280-BC22-2A46-C74003267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A064D-7600-112B-3822-AA7BE65810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Relatsioonilistest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andmebaasidest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saamiseks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kasutakse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päringuid</a:t>
            </a:r>
            <a:r>
              <a:rPr lang="en-US" sz="2000" dirty="0">
                <a:ea typeface="Inter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ea typeface="Inter"/>
              </a:rPr>
              <a:t>SQL – Structured Query Language</a:t>
            </a: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Andmebaaside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päringukeel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arendatud</a:t>
            </a:r>
            <a:r>
              <a:rPr lang="en-US" sz="2000" dirty="0">
                <a:ea typeface="Inter"/>
              </a:rPr>
              <a:t> 1980ndatel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Päring</a:t>
            </a:r>
            <a:r>
              <a:rPr lang="en-US" sz="2000" dirty="0">
                <a:ea typeface="Inter"/>
              </a:rPr>
              <a:t> - </a:t>
            </a:r>
            <a:r>
              <a:rPr lang="en-US" sz="2000" dirty="0" err="1">
                <a:ea typeface="Inter"/>
              </a:rPr>
              <a:t>pöördumine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poole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Inter"/>
              </a:rPr>
              <a:t>CRUD – Create, Read, Update, Delete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Süntaks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ingliskeelne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Erinevad</a:t>
            </a:r>
            <a:r>
              <a:rPr lang="en-US" sz="2000" dirty="0">
                <a:ea typeface="Inter"/>
              </a:rPr>
              <a:t> "</a:t>
            </a:r>
            <a:r>
              <a:rPr lang="en-US" sz="2000" dirty="0" err="1">
                <a:ea typeface="Inter"/>
              </a:rPr>
              <a:t>dialektid</a:t>
            </a:r>
            <a:r>
              <a:rPr lang="en-US" sz="2000" dirty="0">
                <a:ea typeface="Inter"/>
              </a:rPr>
              <a:t>" -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nt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MS SQL Server, MySQL, PostgreSQL, Oracle</a:t>
            </a:r>
            <a:endParaRPr lang="en-US" sz="2000" dirty="0">
              <a:solidFill>
                <a:srgbClr val="121212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Harjutamiseks</a:t>
            </a:r>
            <a:r>
              <a:rPr lang="en-US" sz="2000" dirty="0">
                <a:ea typeface="Inter"/>
              </a:rPr>
              <a:t>: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+mn-lt"/>
                <a:cs typeface="+mn-lt"/>
                <a:hlinkClick r:id="rId3"/>
              </a:rPr>
              <a:t>SQLBolt</a:t>
            </a:r>
            <a:r>
              <a:rPr lang="en-US" sz="2000" dirty="0">
                <a:ea typeface="+mn-lt"/>
                <a:cs typeface="+mn-lt"/>
                <a:hlinkClick r:id="rId3"/>
              </a:rPr>
              <a:t> - Learn SQL - Introduction to SQL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+mn-lt"/>
                <a:cs typeface="+mn-lt"/>
                <a:hlinkClick r:id="rId4"/>
              </a:rPr>
              <a:t>https://www.w3schools.com/sql/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+mn-lt"/>
                <a:cs typeface="+mn-lt"/>
                <a:hlinkClick r:id="rId5"/>
              </a:rPr>
              <a:t>https://www.hackerrank.com/domains/sql</a:t>
            </a:r>
            <a:r>
              <a:rPr lang="en-US" sz="2000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454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A87C9-1641-E80D-D4FA-45F5A365A6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SQL on </a:t>
            </a:r>
            <a:r>
              <a:rPr lang="en-GB" dirty="0" err="1"/>
              <a:t>endiselt</a:t>
            </a:r>
            <a:r>
              <a:rPr lang="en-GB" dirty="0"/>
              <a:t> </a:t>
            </a:r>
            <a:r>
              <a:rPr lang="en-GB" dirty="0" err="1"/>
              <a:t>peamine</a:t>
            </a:r>
            <a:r>
              <a:rPr lang="en-GB" dirty="0"/>
              <a:t> </a:t>
            </a:r>
            <a:r>
              <a:rPr lang="en-GB" dirty="0" err="1"/>
              <a:t>päringute</a:t>
            </a:r>
            <a:r>
              <a:rPr lang="en-GB" dirty="0"/>
              <a:t> keel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1410C-7959-57E7-F794-8B6C6095AA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databasesAreCoolArentThey : r/ProgrammerHumor">
            <a:extLst>
              <a:ext uri="{FF2B5EF4-FFF2-40B4-BE49-F238E27FC236}">
                <a16:creationId xmlns:a16="http://schemas.microsoft.com/office/drawing/2014/main" id="{AAB2431A-8D49-4258-F32F-1428919E9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1600993"/>
            <a:ext cx="6096000" cy="3419475"/>
          </a:xfrm>
          <a:prstGeom prst="rect">
            <a:avLst/>
          </a:prstGeom>
        </p:spPr>
      </p:pic>
      <p:pic>
        <p:nvPicPr>
          <p:cNvPr id="6" name="Picture 5" descr="Happy Monday everyone 😊 #sql #sqlmeme #why">
            <a:extLst>
              <a:ext uri="{FF2B5EF4-FFF2-40B4-BE49-F238E27FC236}">
                <a16:creationId xmlns:a16="http://schemas.microsoft.com/office/drawing/2014/main" id="{82A93E7B-8B70-1CDE-7EC3-131C7F8CD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655" y="1813718"/>
            <a:ext cx="3000803" cy="323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9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ECD2E-5A2F-C1DE-C39A-7E738490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B316-CBF9-C6C5-35FC-5D0CF6B30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SQL – </a:t>
            </a:r>
            <a:r>
              <a:rPr lang="en-US" sz="2800" err="1"/>
              <a:t>päringu</a:t>
            </a:r>
            <a:r>
              <a:rPr lang="en-US" sz="2800"/>
              <a:t> </a:t>
            </a:r>
            <a:r>
              <a:rPr lang="en-US" sz="2800" err="1"/>
              <a:t>kirjutamise</a:t>
            </a:r>
            <a:r>
              <a:rPr lang="en-US" sz="2800"/>
              <a:t> programmid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DDF1A-150B-CE15-B386-ADFA92B97C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Palju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erinevaid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käsitleme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kolme</a:t>
            </a:r>
            <a:r>
              <a:rPr lang="en-US" sz="2400" dirty="0">
                <a:ea typeface="Inter"/>
              </a:rPr>
              <a:t>: </a:t>
            </a:r>
            <a:endParaRPr lang="en-US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+mn-lt"/>
                <a:cs typeface="+mn-lt"/>
              </a:rPr>
              <a:t>sqliteviz</a:t>
            </a:r>
            <a:r>
              <a:rPr lang="en-US" sz="2000" dirty="0">
                <a:ea typeface="+mn-lt"/>
                <a:cs typeface="+mn-lt"/>
              </a:rPr>
              <a:t> - </a:t>
            </a:r>
            <a:r>
              <a:rPr lang="en-US" sz="2000" dirty="0" err="1">
                <a:ea typeface="+mn-lt"/>
                <a:cs typeface="+mn-lt"/>
              </a:rPr>
              <a:t>tasuta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brauseris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kasutatav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piiratud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allikad</a:t>
            </a:r>
            <a:r>
              <a:rPr lang="en-US" sz="2000" dirty="0">
                <a:ea typeface="+mn-lt"/>
                <a:cs typeface="+mn-lt"/>
              </a:rPr>
              <a:t> – CSV, JSON, NDJSON)</a:t>
            </a:r>
            <a:endParaRPr lang="en-US" sz="2000" dirty="0">
              <a:cs typeface="+mn-lt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+mn-lt"/>
                <a:cs typeface="+mn-lt"/>
                <a:hlinkClick r:id="rId2"/>
              </a:rPr>
              <a:t>https://sqliteviz.com/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b="1" dirty="0" err="1">
                <a:ea typeface="Inter"/>
              </a:rPr>
              <a:t>DBeaver</a:t>
            </a:r>
            <a:r>
              <a:rPr lang="en-US" sz="2000" dirty="0">
                <a:ea typeface="Inter"/>
              </a:rPr>
              <a:t>– </a:t>
            </a:r>
            <a:r>
              <a:rPr lang="en-US" sz="2000" dirty="0" err="1">
                <a:ea typeface="Inter"/>
              </a:rPr>
              <a:t>tasuta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haldusprogramm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vajalik</a:t>
            </a:r>
            <a:r>
              <a:rPr lang="en-US" sz="2000" dirty="0">
                <a:ea typeface="Inter"/>
              </a:rPr>
              <a:t> alla </a:t>
            </a:r>
            <a:r>
              <a:rPr lang="en-US" sz="2000" dirty="0" err="1">
                <a:ea typeface="Inter"/>
              </a:rPr>
              <a:t>laadida</a:t>
            </a:r>
            <a:endParaRPr lang="en-US" sz="2000" dirty="0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+mn-lt"/>
                <a:cs typeface="+mn-lt"/>
                <a:hlinkClick r:id="rId3"/>
              </a:rPr>
              <a:t>https://dbeaver.io/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Inter"/>
              </a:rPr>
              <a:t>VS Code – </a:t>
            </a:r>
            <a:r>
              <a:rPr lang="en-US" sz="2000" dirty="0" err="1">
                <a:ea typeface="Inter"/>
              </a:rPr>
              <a:t>tasuta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koodihaldusprogramm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vajalik</a:t>
            </a:r>
            <a:r>
              <a:rPr lang="en-US" sz="2000" dirty="0">
                <a:ea typeface="Inter"/>
              </a:rPr>
              <a:t> alla </a:t>
            </a:r>
            <a:r>
              <a:rPr lang="en-US" sz="2000" dirty="0" err="1">
                <a:ea typeface="Inter"/>
              </a:rPr>
              <a:t>laadida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ühendub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Gitiga</a:t>
            </a:r>
            <a:endParaRPr lang="en-US" sz="2000" dirty="0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+mn-lt"/>
                <a:cs typeface="+mn-lt"/>
                <a:hlinkClick r:id="rId4"/>
              </a:rPr>
              <a:t>https://code.visualstudio.com/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290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A8FE-19F6-9C13-4D99-8744F249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9A78-8BE3-B792-DDB1-AE1AB18FA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päringu</a:t>
            </a:r>
            <a:r>
              <a:rPr lang="en-US"/>
              <a:t> </a:t>
            </a:r>
            <a:r>
              <a:rPr lang="en-US" err="1"/>
              <a:t>teostamise</a:t>
            </a:r>
            <a:r>
              <a:rPr lang="en-US"/>
              <a:t> </a:t>
            </a:r>
            <a:r>
              <a:rPr lang="en-US" err="1"/>
              <a:t>järjekord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C55C9B-B86D-AF94-D837-6292B30A45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7374706" cy="486288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a typeface="Inter"/>
              </a:rPr>
              <a:t>SELECT</a:t>
            </a:r>
            <a:r>
              <a:rPr lang="en-US" dirty="0">
                <a:ea typeface="Inter"/>
              </a:rPr>
              <a:t> 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dirty="0" err="1">
                <a:ea typeface="Inter"/>
              </a:rPr>
              <a:t>Valib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tulbad</a:t>
            </a:r>
            <a:r>
              <a:rPr lang="en-US" dirty="0">
                <a:ea typeface="Inter"/>
              </a:rPr>
              <a:t>, </a:t>
            </a:r>
            <a:r>
              <a:rPr lang="en-US" dirty="0" err="1">
                <a:ea typeface="Inter"/>
              </a:rPr>
              <a:t>mida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näidata</a:t>
            </a:r>
            <a:r>
              <a:rPr lang="en-US" dirty="0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a typeface="Inter"/>
              </a:rPr>
              <a:t>FROM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dirty="0" err="1">
                <a:ea typeface="Inter"/>
              </a:rPr>
              <a:t>Defineerib</a:t>
            </a:r>
            <a:r>
              <a:rPr lang="en-US" dirty="0">
                <a:ea typeface="Inter"/>
              </a:rPr>
              <a:t>, </a:t>
            </a:r>
            <a:r>
              <a:rPr lang="en-US" dirty="0" err="1">
                <a:ea typeface="Inter"/>
              </a:rPr>
              <a:t>milliseid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tabeleid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kasutatakse</a:t>
            </a:r>
            <a:r>
              <a:rPr lang="en-US" dirty="0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a typeface="Inter"/>
              </a:rPr>
              <a:t>WHERE</a:t>
            </a:r>
            <a:r>
              <a:rPr lang="en-US" dirty="0">
                <a:ea typeface="Inter"/>
              </a:rPr>
              <a:t> 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dirty="0" err="1">
                <a:ea typeface="Inter"/>
              </a:rPr>
              <a:t>Filtreerib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välja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andmeread</a:t>
            </a:r>
            <a:r>
              <a:rPr lang="en-US" dirty="0">
                <a:ea typeface="Inter"/>
              </a:rPr>
              <a:t>, mis </a:t>
            </a:r>
            <a:r>
              <a:rPr lang="en-US" dirty="0" err="1">
                <a:ea typeface="Inter"/>
              </a:rPr>
              <a:t>ei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vasta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tingimustele</a:t>
            </a:r>
            <a:r>
              <a:rPr lang="en-US" dirty="0">
                <a:ea typeface="Inter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a typeface="Inter"/>
              </a:rPr>
              <a:t>GROUP BY 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dirty="0" err="1">
                <a:ea typeface="Inter"/>
              </a:rPr>
              <a:t>Grupeerib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andmeread</a:t>
            </a:r>
            <a:r>
              <a:rPr lang="en-US" dirty="0">
                <a:ea typeface="Inter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a typeface="Inter"/>
              </a:rPr>
              <a:t>HAVING</a:t>
            </a:r>
            <a:r>
              <a:rPr lang="en-US" dirty="0">
                <a:ea typeface="Inter"/>
              </a:rPr>
              <a:t> 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dirty="0" err="1">
                <a:ea typeface="Inter"/>
              </a:rPr>
              <a:t>Filtreerib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välja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grupeeritud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andmeread</a:t>
            </a:r>
            <a:r>
              <a:rPr lang="en-US" dirty="0">
                <a:ea typeface="Inter"/>
              </a:rPr>
              <a:t>, mis </a:t>
            </a:r>
            <a:r>
              <a:rPr lang="en-US" dirty="0" err="1">
                <a:ea typeface="Inter"/>
              </a:rPr>
              <a:t>ei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vasta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tingimustele</a:t>
            </a:r>
            <a:r>
              <a:rPr lang="en-US" dirty="0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ea typeface="Inter"/>
              </a:rPr>
              <a:t>ORDER BY </a:t>
            </a:r>
          </a:p>
          <a:p>
            <a:pPr marL="800100" lvl="1">
              <a:buClr>
                <a:srgbClr val="121212"/>
              </a:buClr>
              <a:buFont typeface="Wingdings" panose="020B0502030000000004" pitchFamily="34" charset="0"/>
              <a:buChar char="Ø"/>
            </a:pPr>
            <a:r>
              <a:rPr lang="en-US" dirty="0" err="1">
                <a:ea typeface="Inter"/>
              </a:rPr>
              <a:t>Sorteerib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valitud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andmeread</a:t>
            </a:r>
            <a:r>
              <a:rPr lang="en-US" dirty="0">
                <a:ea typeface="Inter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Inter"/>
              </a:rPr>
              <a:t>LIMIT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dirty="0" err="1">
                <a:ea typeface="Inter"/>
              </a:rPr>
              <a:t>Jätab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alles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ainult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täpsustatud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arvu</a:t>
            </a:r>
            <a:r>
              <a:rPr lang="en-US" dirty="0">
                <a:ea typeface="Inter"/>
              </a:rPr>
              <a:t> </a:t>
            </a:r>
            <a:r>
              <a:rPr lang="en-US" dirty="0" err="1">
                <a:ea typeface="Inter"/>
              </a:rPr>
              <a:t>ridu</a:t>
            </a:r>
            <a:r>
              <a:rPr lang="en-US" dirty="0">
                <a:ea typeface="Inter"/>
              </a:rPr>
              <a:t>.</a:t>
            </a:r>
            <a:endParaRPr lang="en-US" dirty="0"/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5876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89C4-DA11-FC6C-E745-399B0FEB9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Postgre</a:t>
            </a:r>
            <a:r>
              <a:rPr lang="en-GB" dirty="0"/>
              <a:t> </a:t>
            </a:r>
            <a:r>
              <a:rPr lang="en-GB" dirty="0" err="1"/>
              <a:t>andmebaas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3D176-6DE3-45A2-7EC3-FF62D6965D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400" dirty="0" err="1"/>
              <a:t>Arvutites</a:t>
            </a:r>
            <a:r>
              <a:rPr lang="en-GB" sz="2400" dirty="0"/>
              <a:t> on </a:t>
            </a:r>
            <a:r>
              <a:rPr lang="en-GB" sz="2400" dirty="0" err="1"/>
              <a:t>paigaldatud</a:t>
            </a:r>
            <a:r>
              <a:rPr lang="en-GB" sz="2400" dirty="0"/>
              <a:t> </a:t>
            </a:r>
            <a:r>
              <a:rPr lang="en-GB" sz="2400" b="1" dirty="0"/>
              <a:t>PostgreSQL </a:t>
            </a:r>
            <a:r>
              <a:rPr lang="en-GB" sz="2400" dirty="0" err="1"/>
              <a:t>andmebaas</a:t>
            </a:r>
            <a:br>
              <a:rPr lang="en-GB" sz="2400" dirty="0"/>
            </a:br>
            <a:r>
              <a:rPr lang="en-GB" sz="2400" dirty="0"/>
              <a:t>Sinna on </a:t>
            </a:r>
            <a:r>
              <a:rPr lang="en-GB" sz="2400" dirty="0" err="1"/>
              <a:t>loodud</a:t>
            </a:r>
            <a:r>
              <a:rPr lang="en-GB" sz="2400" dirty="0"/>
              <a:t> </a:t>
            </a:r>
            <a:r>
              <a:rPr lang="en-GB" sz="2400" dirty="0" err="1"/>
              <a:t>andmebaas</a:t>
            </a:r>
            <a:r>
              <a:rPr lang="en-GB" sz="2400" dirty="0"/>
              <a:t> </a:t>
            </a:r>
            <a:r>
              <a:rPr lang="en-GB" sz="2400" dirty="0" err="1"/>
              <a:t>nimega</a:t>
            </a:r>
            <a:r>
              <a:rPr lang="en-GB" sz="2400" dirty="0"/>
              <a:t>: </a:t>
            </a:r>
            <a:r>
              <a:rPr lang="en-GB" sz="2400" b="1" dirty="0" err="1"/>
              <a:t>postgres</a:t>
            </a:r>
            <a:r>
              <a:rPr lang="en-GB" sz="2400" b="1" dirty="0"/>
              <a:t>, </a:t>
            </a:r>
            <a:r>
              <a:rPr lang="en-GB" sz="2400" dirty="0" err="1"/>
              <a:t>kasutaja</a:t>
            </a:r>
            <a:r>
              <a:rPr lang="en-GB" sz="2400" dirty="0"/>
              <a:t> </a:t>
            </a:r>
            <a:r>
              <a:rPr lang="en-GB" sz="2400" b="1" dirty="0" err="1"/>
              <a:t>postgres</a:t>
            </a:r>
            <a:r>
              <a:rPr lang="en-GB" sz="2400" dirty="0"/>
              <a:t>, </a:t>
            </a:r>
            <a:r>
              <a:rPr lang="en-GB" sz="2400" dirty="0" err="1"/>
              <a:t>parool</a:t>
            </a:r>
            <a:r>
              <a:rPr lang="en-GB" sz="2400" dirty="0"/>
              <a:t>: </a:t>
            </a:r>
            <a:r>
              <a:rPr lang="en-GB" sz="2400" b="1" dirty="0" err="1"/>
              <a:t>andmed</a:t>
            </a:r>
            <a:endParaRPr lang="en-GB" sz="2400" b="1" dirty="0"/>
          </a:p>
          <a:p>
            <a:r>
              <a:rPr lang="en-GB" sz="2400" dirty="0" err="1"/>
              <a:t>Andmebaasi</a:t>
            </a:r>
            <a:r>
              <a:rPr lang="en-GB" sz="2400" dirty="0"/>
              <a:t> </a:t>
            </a:r>
            <a:r>
              <a:rPr lang="en-GB" sz="2400" dirty="0" err="1"/>
              <a:t>saab</a:t>
            </a:r>
            <a:r>
              <a:rPr lang="en-GB" sz="2400" dirty="0"/>
              <a:t> </a:t>
            </a:r>
            <a:r>
              <a:rPr lang="en-GB" sz="2400" dirty="0" err="1"/>
              <a:t>kasutada</a:t>
            </a:r>
            <a:endParaRPr lang="en-GB" sz="2400" dirty="0"/>
          </a:p>
          <a:p>
            <a:pPr lvl="1"/>
            <a:r>
              <a:rPr lang="en-GB" sz="2400" dirty="0"/>
              <a:t>PostgreSQL admin </a:t>
            </a:r>
            <a:r>
              <a:rPr lang="en-GB" sz="2400" dirty="0" err="1"/>
              <a:t>liidese</a:t>
            </a:r>
            <a:r>
              <a:rPr lang="en-GB" sz="2400" dirty="0"/>
              <a:t> </a:t>
            </a:r>
            <a:r>
              <a:rPr lang="en-GB" sz="2400" b="1" dirty="0" err="1"/>
              <a:t>pgAdmin</a:t>
            </a:r>
            <a:r>
              <a:rPr lang="en-GB" sz="2400" b="1" dirty="0"/>
              <a:t> </a:t>
            </a:r>
            <a:r>
              <a:rPr lang="en-GB" sz="2400" dirty="0" err="1"/>
              <a:t>abil</a:t>
            </a:r>
            <a:endParaRPr lang="en-GB" sz="2400" dirty="0"/>
          </a:p>
          <a:p>
            <a:pPr lvl="1"/>
            <a:r>
              <a:rPr lang="en-GB" sz="2400" b="1" dirty="0" err="1"/>
              <a:t>Dbeaver</a:t>
            </a:r>
            <a:r>
              <a:rPr lang="en-GB" sz="2400" b="1" dirty="0"/>
              <a:t> </a:t>
            </a:r>
            <a:r>
              <a:rPr lang="en-GB" sz="2400" dirty="0" err="1"/>
              <a:t>kasutajaliidesega</a:t>
            </a:r>
            <a:endParaRPr lang="en-GB" sz="2400" dirty="0"/>
          </a:p>
          <a:p>
            <a:pPr lvl="2"/>
            <a:r>
              <a:rPr lang="en-GB" sz="2400" b="1" dirty="0" err="1"/>
              <a:t>andmebaaside</a:t>
            </a:r>
            <a:r>
              <a:rPr lang="en-GB" sz="2400" b="1" dirty="0"/>
              <a:t> </a:t>
            </a:r>
            <a:r>
              <a:rPr lang="en-GB" sz="2400" b="1" dirty="0" err="1"/>
              <a:t>haldustööriist</a:t>
            </a:r>
            <a:r>
              <a:rPr lang="en-GB" sz="2400" b="1" dirty="0"/>
              <a:t> </a:t>
            </a:r>
            <a:r>
              <a:rPr lang="en-GB" sz="2400" b="1" dirty="0" err="1"/>
              <a:t>ning</a:t>
            </a:r>
            <a:r>
              <a:rPr lang="en-GB" sz="2400" b="1" dirty="0"/>
              <a:t> SQL-</a:t>
            </a:r>
            <a:r>
              <a:rPr lang="en-GB" sz="2400" b="1" dirty="0" err="1"/>
              <a:t>klient</a:t>
            </a:r>
            <a:r>
              <a:rPr lang="en-GB" sz="2400" dirty="0"/>
              <a:t>, mis on </a:t>
            </a:r>
            <a:r>
              <a:rPr lang="en-GB" sz="2400" dirty="0" err="1"/>
              <a:t>mõeldud</a:t>
            </a:r>
            <a:r>
              <a:rPr lang="en-GB" sz="2400" dirty="0"/>
              <a:t> </a:t>
            </a:r>
            <a:r>
              <a:rPr lang="en-GB" sz="2400" dirty="0" err="1"/>
              <a:t>arendajatele</a:t>
            </a:r>
            <a:r>
              <a:rPr lang="en-GB" sz="2400" dirty="0"/>
              <a:t>, </a:t>
            </a:r>
            <a:r>
              <a:rPr lang="en-GB" sz="2400" dirty="0" err="1"/>
              <a:t>andmebaasiadministraatoritele</a:t>
            </a:r>
            <a:r>
              <a:rPr lang="en-GB" sz="2400" dirty="0"/>
              <a:t> (DBA) </a:t>
            </a:r>
            <a:r>
              <a:rPr lang="en-GB" sz="2400" dirty="0" err="1"/>
              <a:t>ja</a:t>
            </a:r>
            <a:r>
              <a:rPr lang="en-GB" sz="2400" dirty="0"/>
              <a:t> </a:t>
            </a:r>
            <a:r>
              <a:rPr lang="en-GB" sz="2400" dirty="0" err="1"/>
              <a:t>andmeanalüütikutele</a:t>
            </a:r>
            <a:endParaRPr lang="en-GB" sz="2400" b="1" dirty="0"/>
          </a:p>
          <a:p>
            <a:pPr lvl="2"/>
            <a:r>
              <a:rPr lang="en-GB" sz="2400" dirty="0" err="1"/>
              <a:t>Võimaldab</a:t>
            </a:r>
            <a:r>
              <a:rPr lang="en-GB" sz="2400" dirty="0"/>
              <a:t> </a:t>
            </a:r>
            <a:r>
              <a:rPr lang="en-GB" sz="2400" dirty="0" err="1"/>
              <a:t>kasutada</a:t>
            </a:r>
            <a:r>
              <a:rPr lang="en-GB" sz="2400" dirty="0"/>
              <a:t> </a:t>
            </a:r>
            <a:r>
              <a:rPr lang="en-GB" sz="2400" dirty="0" err="1"/>
              <a:t>samal</a:t>
            </a:r>
            <a:r>
              <a:rPr lang="en-GB" sz="2400" dirty="0"/>
              <a:t> </a:t>
            </a:r>
            <a:r>
              <a:rPr lang="en-GB" sz="2400" dirty="0" err="1"/>
              <a:t>ajal</a:t>
            </a:r>
            <a:r>
              <a:rPr lang="en-GB" sz="2400" dirty="0"/>
              <a:t> </a:t>
            </a:r>
            <a:r>
              <a:rPr lang="en-GB" sz="2400" dirty="0" err="1"/>
              <a:t>mitut</a:t>
            </a:r>
            <a:r>
              <a:rPr lang="en-GB" sz="2400" dirty="0"/>
              <a:t> </a:t>
            </a:r>
            <a:r>
              <a:rPr lang="en-GB" sz="2400" dirty="0" err="1"/>
              <a:t>andmebaasi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9246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17EF-948F-440F-9776-D47D6378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7622CA-147B-8D52-58C8-BC2F74462E6B}"/>
              </a:ext>
            </a:extLst>
          </p:cNvPr>
          <p:cNvSpPr txBox="1"/>
          <p:nvPr/>
        </p:nvSpPr>
        <p:spPr>
          <a:xfrm>
            <a:off x="623888" y="1123951"/>
            <a:ext cx="100441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Dbeaver</a:t>
            </a:r>
            <a:r>
              <a:rPr lang="en-GB" b="1" dirty="0"/>
              <a:t> on </a:t>
            </a:r>
            <a:r>
              <a:rPr lang="en-GB" b="1" dirty="0" err="1"/>
              <a:t>andmebaaside</a:t>
            </a:r>
            <a:r>
              <a:rPr lang="en-GB" b="1" dirty="0"/>
              <a:t> </a:t>
            </a:r>
            <a:r>
              <a:rPr lang="en-GB" b="1" dirty="0" err="1"/>
              <a:t>haldustööriist</a:t>
            </a:r>
            <a:r>
              <a:rPr lang="en-GB" b="1" dirty="0"/>
              <a:t> </a:t>
            </a:r>
            <a:r>
              <a:rPr lang="en-GB" b="1" dirty="0" err="1"/>
              <a:t>ning</a:t>
            </a:r>
            <a:r>
              <a:rPr lang="en-GB" b="1" dirty="0"/>
              <a:t> SQL-</a:t>
            </a:r>
            <a:r>
              <a:rPr lang="en-GB" b="1" dirty="0" err="1"/>
              <a:t>klient</a:t>
            </a:r>
            <a:r>
              <a:rPr lang="en-GB" dirty="0"/>
              <a:t>, mis on </a:t>
            </a:r>
            <a:r>
              <a:rPr lang="en-GB" dirty="0" err="1"/>
              <a:t>mõeldud</a:t>
            </a:r>
            <a:r>
              <a:rPr lang="en-GB" dirty="0"/>
              <a:t> </a:t>
            </a:r>
            <a:r>
              <a:rPr lang="en-GB" dirty="0" err="1"/>
              <a:t>arendajatele</a:t>
            </a:r>
            <a:r>
              <a:rPr lang="en-GB" dirty="0"/>
              <a:t>, </a:t>
            </a:r>
            <a:r>
              <a:rPr lang="en-GB" dirty="0" err="1"/>
              <a:t>andmebaasiadministraatoritele</a:t>
            </a:r>
            <a:r>
              <a:rPr lang="en-GB" dirty="0"/>
              <a:t> (DBA)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andmeanalüütikutele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Andmebaasiga</a:t>
            </a:r>
            <a:r>
              <a:rPr lang="en-GB" dirty="0"/>
              <a:t> </a:t>
            </a:r>
            <a:r>
              <a:rPr lang="en-GB" dirty="0" err="1"/>
              <a:t>ühendumine</a:t>
            </a:r>
            <a:endParaRPr lang="en-GB" dirty="0"/>
          </a:p>
          <a:p>
            <a:r>
              <a:rPr lang="en-GB" b="1" dirty="0"/>
              <a:t>Database -&gt;New Database connection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Vali </a:t>
            </a:r>
            <a:r>
              <a:rPr lang="en-GB" b="1" dirty="0"/>
              <a:t>PostgreSQL</a:t>
            </a:r>
          </a:p>
          <a:p>
            <a:r>
              <a:rPr lang="en-GB" dirty="0" err="1"/>
              <a:t>Vajuta</a:t>
            </a:r>
            <a:r>
              <a:rPr lang="en-GB" dirty="0"/>
              <a:t> </a:t>
            </a:r>
            <a:r>
              <a:rPr lang="en-GB" b="1" dirty="0"/>
              <a:t>NEXT</a:t>
            </a:r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F7675-D5E2-4284-152D-B43170B2B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192619"/>
            <a:ext cx="10044112" cy="357043"/>
          </a:xfrm>
        </p:spPr>
        <p:txBody>
          <a:bodyPr/>
          <a:lstStyle/>
          <a:p>
            <a:r>
              <a:rPr lang="en-US" dirty="0" err="1"/>
              <a:t>Dbeaver</a:t>
            </a:r>
            <a:r>
              <a:rPr lang="en-US" dirty="0"/>
              <a:t> </a:t>
            </a:r>
            <a:r>
              <a:rPr lang="en-US" dirty="0" err="1"/>
              <a:t>ühenduse</a:t>
            </a:r>
            <a:r>
              <a:rPr lang="en-US" dirty="0"/>
              <a:t> </a:t>
            </a:r>
            <a:r>
              <a:rPr lang="en-US" dirty="0" err="1"/>
              <a:t>loomine</a:t>
            </a:r>
            <a:r>
              <a:rPr lang="en-US" dirty="0"/>
              <a:t> </a:t>
            </a:r>
            <a:r>
              <a:rPr lang="en-US" dirty="0" err="1"/>
              <a:t>andmebaasiga</a:t>
            </a:r>
            <a:r>
              <a:rPr lang="en-US" dirty="0"/>
              <a:t>: </a:t>
            </a:r>
            <a:r>
              <a:rPr lang="en-US" b="1" dirty="0" err="1">
                <a:solidFill>
                  <a:srgbClr val="FF0000"/>
                </a:solidFill>
              </a:rPr>
              <a:t>teeme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koos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läbi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3DF0-7EC7-0A70-4125-F5DB0D9859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836054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808BB-72B1-A8F8-2AD0-C8D21ED9B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051" y="1842179"/>
            <a:ext cx="5997418" cy="2392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B8EF2A-28F8-932A-8750-73C761DE4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580" y="4070170"/>
            <a:ext cx="2415471" cy="218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00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7C18-8E61-002E-6E97-20C497BEE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479570"/>
            <a:ext cx="10848445" cy="357043"/>
          </a:xfrm>
        </p:spPr>
        <p:txBody>
          <a:bodyPr/>
          <a:lstStyle/>
          <a:p>
            <a:r>
              <a:rPr lang="en-US" dirty="0" err="1"/>
              <a:t>Dbeaver</a:t>
            </a:r>
            <a:r>
              <a:rPr lang="en-US" dirty="0"/>
              <a:t> ja </a:t>
            </a:r>
            <a:r>
              <a:rPr lang="en-US" dirty="0" err="1"/>
              <a:t>andmete</a:t>
            </a:r>
            <a:r>
              <a:rPr lang="en-US" dirty="0"/>
              <a:t> import: </a:t>
            </a:r>
            <a:r>
              <a:rPr lang="en-US" dirty="0" err="1">
                <a:solidFill>
                  <a:srgbClr val="FF0000"/>
                </a:solidFill>
              </a:rPr>
              <a:t>teeme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koos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läbi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AB87F-D18E-6F41-99EC-8A8A42D650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18575" y="1123874"/>
            <a:ext cx="4388379" cy="4465637"/>
          </a:xfrm>
        </p:spPr>
        <p:txBody>
          <a:bodyPr/>
          <a:lstStyle/>
          <a:p>
            <a:r>
              <a:rPr lang="en-GB" dirty="0" err="1"/>
              <a:t>Loome</a:t>
            </a:r>
            <a:r>
              <a:rPr lang="en-GB" dirty="0"/>
              <a:t> </a:t>
            </a:r>
            <a:r>
              <a:rPr lang="en-GB" dirty="0" err="1"/>
              <a:t>ühenduse</a:t>
            </a:r>
            <a:endParaRPr lang="en-GB" dirty="0"/>
          </a:p>
          <a:p>
            <a:pPr lvl="1"/>
            <a:r>
              <a:rPr lang="en-GB" dirty="0"/>
              <a:t>Host: </a:t>
            </a:r>
            <a:r>
              <a:rPr lang="en-GB" dirty="0" err="1"/>
              <a:t>andmebaas</a:t>
            </a:r>
            <a:r>
              <a:rPr lang="en-GB" dirty="0"/>
              <a:t> </a:t>
            </a:r>
            <a:r>
              <a:rPr lang="en-GB" dirty="0" err="1"/>
              <a:t>samas</a:t>
            </a:r>
            <a:r>
              <a:rPr lang="en-GB" dirty="0"/>
              <a:t> </a:t>
            </a:r>
            <a:r>
              <a:rPr lang="en-GB" dirty="0" err="1"/>
              <a:t>arvutis</a:t>
            </a:r>
            <a:endParaRPr lang="en-GB" dirty="0"/>
          </a:p>
          <a:p>
            <a:pPr lvl="1"/>
            <a:r>
              <a:rPr lang="en-GB" dirty="0"/>
              <a:t>Database </a:t>
            </a:r>
            <a:r>
              <a:rPr lang="en-GB" dirty="0" err="1"/>
              <a:t>nimi</a:t>
            </a:r>
            <a:endParaRPr lang="en-GB" dirty="0"/>
          </a:p>
          <a:p>
            <a:pPr lvl="1"/>
            <a:r>
              <a:rPr lang="en-GB" dirty="0"/>
              <a:t>Username: </a:t>
            </a:r>
            <a:r>
              <a:rPr lang="en-GB" dirty="0" err="1"/>
              <a:t>postgres</a:t>
            </a:r>
            <a:endParaRPr lang="en-GB" dirty="0"/>
          </a:p>
          <a:p>
            <a:pPr lvl="1"/>
            <a:r>
              <a:rPr lang="en-GB" dirty="0"/>
              <a:t>Password: </a:t>
            </a:r>
            <a:r>
              <a:rPr lang="en-GB" i="1" dirty="0" err="1"/>
              <a:t>andmed</a:t>
            </a:r>
            <a:endParaRPr lang="en-GB" i="1" dirty="0"/>
          </a:p>
          <a:p>
            <a:r>
              <a:rPr lang="en-GB" dirty="0" err="1"/>
              <a:t>Ühendused</a:t>
            </a:r>
            <a:r>
              <a:rPr lang="en-GB" dirty="0"/>
              <a:t> </a:t>
            </a:r>
            <a:r>
              <a:rPr lang="en-GB" dirty="0" err="1"/>
              <a:t>tekivad</a:t>
            </a:r>
            <a:r>
              <a:rPr lang="en-GB" dirty="0"/>
              <a:t> Connections alla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3AB2F-AC78-FC8A-4F26-9FAF76371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7" y="1031422"/>
            <a:ext cx="5253760" cy="5606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486AE7-CF91-3E77-1434-D15AA0DA5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747" y="2958478"/>
            <a:ext cx="5096586" cy="3419952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14F66A9-6B56-D133-D0C8-C9781BF5D59E}"/>
              </a:ext>
            </a:extLst>
          </p:cNvPr>
          <p:cNvSpPr/>
          <p:nvPr/>
        </p:nvSpPr>
        <p:spPr>
          <a:xfrm>
            <a:off x="6429375" y="3712521"/>
            <a:ext cx="3095164" cy="443614"/>
          </a:xfrm>
          <a:custGeom>
            <a:avLst/>
            <a:gdLst>
              <a:gd name="csX0" fmla="*/ 1533525 w 3095164"/>
              <a:gd name="csY0" fmla="*/ 145104 h 443614"/>
              <a:gd name="csX1" fmla="*/ 1476375 w 3095164"/>
              <a:gd name="csY1" fmla="*/ 107004 h 443614"/>
              <a:gd name="csX2" fmla="*/ 1409700 w 3095164"/>
              <a:gd name="csY2" fmla="*/ 87954 h 443614"/>
              <a:gd name="csX3" fmla="*/ 1143000 w 3095164"/>
              <a:gd name="csY3" fmla="*/ 40329 h 443614"/>
              <a:gd name="csX4" fmla="*/ 733425 w 3095164"/>
              <a:gd name="csY4" fmla="*/ 30804 h 443614"/>
              <a:gd name="csX5" fmla="*/ 57150 w 3095164"/>
              <a:gd name="csY5" fmla="*/ 78429 h 443614"/>
              <a:gd name="csX6" fmla="*/ 0 w 3095164"/>
              <a:gd name="csY6" fmla="*/ 202254 h 443614"/>
              <a:gd name="csX7" fmla="*/ 9525 w 3095164"/>
              <a:gd name="csY7" fmla="*/ 287979 h 443614"/>
              <a:gd name="csX8" fmla="*/ 104775 w 3095164"/>
              <a:gd name="csY8" fmla="*/ 373704 h 443614"/>
              <a:gd name="csX9" fmla="*/ 200025 w 3095164"/>
              <a:gd name="csY9" fmla="*/ 402279 h 443614"/>
              <a:gd name="csX10" fmla="*/ 428625 w 3095164"/>
              <a:gd name="csY10" fmla="*/ 383229 h 443614"/>
              <a:gd name="csX11" fmla="*/ 571500 w 3095164"/>
              <a:gd name="csY11" fmla="*/ 373704 h 443614"/>
              <a:gd name="csX12" fmla="*/ 981075 w 3095164"/>
              <a:gd name="csY12" fmla="*/ 383229 h 443614"/>
              <a:gd name="csX13" fmla="*/ 1295400 w 3095164"/>
              <a:gd name="csY13" fmla="*/ 402279 h 443614"/>
              <a:gd name="csX14" fmla="*/ 1400175 w 3095164"/>
              <a:gd name="csY14" fmla="*/ 411804 h 443614"/>
              <a:gd name="csX15" fmla="*/ 1581150 w 3095164"/>
              <a:gd name="csY15" fmla="*/ 421329 h 443614"/>
              <a:gd name="csX16" fmla="*/ 2362200 w 3095164"/>
              <a:gd name="csY16" fmla="*/ 440379 h 443614"/>
              <a:gd name="csX17" fmla="*/ 2828925 w 3095164"/>
              <a:gd name="csY17" fmla="*/ 430854 h 443614"/>
              <a:gd name="csX18" fmla="*/ 3009900 w 3095164"/>
              <a:gd name="csY18" fmla="*/ 373704 h 443614"/>
              <a:gd name="csX19" fmla="*/ 3067050 w 3095164"/>
              <a:gd name="csY19" fmla="*/ 335604 h 443614"/>
              <a:gd name="csX20" fmla="*/ 3067050 w 3095164"/>
              <a:gd name="csY20" fmla="*/ 145104 h 443614"/>
              <a:gd name="csX21" fmla="*/ 2914650 w 3095164"/>
              <a:gd name="csY21" fmla="*/ 68904 h 443614"/>
              <a:gd name="csX22" fmla="*/ 2419350 w 3095164"/>
              <a:gd name="csY22" fmla="*/ 30804 h 443614"/>
              <a:gd name="csX23" fmla="*/ 1295400 w 3095164"/>
              <a:gd name="csY23" fmla="*/ 40329 h 443614"/>
              <a:gd name="csX24" fmla="*/ 1238250 w 3095164"/>
              <a:gd name="csY24" fmla="*/ 49854 h 443614"/>
              <a:gd name="csX25" fmla="*/ 1114425 w 3095164"/>
              <a:gd name="csY25" fmla="*/ 78429 h 443614"/>
              <a:gd name="csX26" fmla="*/ 1076325 w 3095164"/>
              <a:gd name="csY26" fmla="*/ 78429 h 443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095164" h="443614">
                <a:moveTo>
                  <a:pt x="1533525" y="145104"/>
                </a:moveTo>
                <a:cubicBezTo>
                  <a:pt x="1514475" y="132404"/>
                  <a:pt x="1497163" y="116598"/>
                  <a:pt x="1476375" y="107004"/>
                </a:cubicBezTo>
                <a:cubicBezTo>
                  <a:pt x="1455388" y="97318"/>
                  <a:pt x="1431840" y="94596"/>
                  <a:pt x="1409700" y="87954"/>
                </a:cubicBezTo>
                <a:cubicBezTo>
                  <a:pt x="1301264" y="55423"/>
                  <a:pt x="1419871" y="60687"/>
                  <a:pt x="1143000" y="40329"/>
                </a:cubicBezTo>
                <a:cubicBezTo>
                  <a:pt x="1006806" y="30315"/>
                  <a:pt x="869950" y="33979"/>
                  <a:pt x="733425" y="30804"/>
                </a:cubicBezTo>
                <a:cubicBezTo>
                  <a:pt x="465793" y="-13801"/>
                  <a:pt x="497587" y="-19446"/>
                  <a:pt x="57150" y="78429"/>
                </a:cubicBezTo>
                <a:cubicBezTo>
                  <a:pt x="35522" y="83235"/>
                  <a:pt x="6408" y="183031"/>
                  <a:pt x="0" y="202254"/>
                </a:cubicBezTo>
                <a:cubicBezTo>
                  <a:pt x="3175" y="230829"/>
                  <a:pt x="1627" y="260334"/>
                  <a:pt x="9525" y="287979"/>
                </a:cubicBezTo>
                <a:cubicBezTo>
                  <a:pt x="24841" y="341583"/>
                  <a:pt x="58569" y="348501"/>
                  <a:pt x="104775" y="373704"/>
                </a:cubicBezTo>
                <a:cubicBezTo>
                  <a:pt x="153504" y="400283"/>
                  <a:pt x="137907" y="391926"/>
                  <a:pt x="200025" y="402279"/>
                </a:cubicBezTo>
                <a:lnTo>
                  <a:pt x="428625" y="383229"/>
                </a:lnTo>
                <a:cubicBezTo>
                  <a:pt x="476215" y="379568"/>
                  <a:pt x="523769" y="373704"/>
                  <a:pt x="571500" y="373704"/>
                </a:cubicBezTo>
                <a:cubicBezTo>
                  <a:pt x="708062" y="373704"/>
                  <a:pt x="844550" y="380054"/>
                  <a:pt x="981075" y="383229"/>
                </a:cubicBezTo>
                <a:cubicBezTo>
                  <a:pt x="1121318" y="411278"/>
                  <a:pt x="982909" y="386254"/>
                  <a:pt x="1295400" y="402279"/>
                </a:cubicBezTo>
                <a:cubicBezTo>
                  <a:pt x="1330423" y="404075"/>
                  <a:pt x="1365184" y="409471"/>
                  <a:pt x="1400175" y="411804"/>
                </a:cubicBezTo>
                <a:cubicBezTo>
                  <a:pt x="1460450" y="415822"/>
                  <a:pt x="1520825" y="418154"/>
                  <a:pt x="1581150" y="421329"/>
                </a:cubicBezTo>
                <a:cubicBezTo>
                  <a:pt x="1886182" y="455221"/>
                  <a:pt x="1727396" y="440379"/>
                  <a:pt x="2362200" y="440379"/>
                </a:cubicBezTo>
                <a:cubicBezTo>
                  <a:pt x="2517807" y="440379"/>
                  <a:pt x="2673350" y="434029"/>
                  <a:pt x="2828925" y="430854"/>
                </a:cubicBezTo>
                <a:cubicBezTo>
                  <a:pt x="2894751" y="419883"/>
                  <a:pt x="2948068" y="414926"/>
                  <a:pt x="3009900" y="373704"/>
                </a:cubicBezTo>
                <a:lnTo>
                  <a:pt x="3067050" y="335604"/>
                </a:lnTo>
                <a:cubicBezTo>
                  <a:pt x="3086903" y="276045"/>
                  <a:pt x="3118894" y="208469"/>
                  <a:pt x="3067050" y="145104"/>
                </a:cubicBezTo>
                <a:cubicBezTo>
                  <a:pt x="3031085" y="101146"/>
                  <a:pt x="2968833" y="85933"/>
                  <a:pt x="2914650" y="68904"/>
                </a:cubicBezTo>
                <a:cubicBezTo>
                  <a:pt x="2786819" y="28729"/>
                  <a:pt x="2525790" y="34029"/>
                  <a:pt x="2419350" y="30804"/>
                </a:cubicBezTo>
                <a:lnTo>
                  <a:pt x="1295400" y="40329"/>
                </a:lnTo>
                <a:cubicBezTo>
                  <a:pt x="1276090" y="40640"/>
                  <a:pt x="1257149" y="45875"/>
                  <a:pt x="1238250" y="49854"/>
                </a:cubicBezTo>
                <a:cubicBezTo>
                  <a:pt x="1196799" y="58581"/>
                  <a:pt x="1156140" y="71067"/>
                  <a:pt x="1114425" y="78429"/>
                </a:cubicBezTo>
                <a:cubicBezTo>
                  <a:pt x="1101918" y="80636"/>
                  <a:pt x="1089025" y="78429"/>
                  <a:pt x="1076325" y="78429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983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649F-FE06-F76B-E90B-8E1324F15E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Tulemus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AB5DE2-BD1D-5A6A-1BBE-35A189B235E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400" dirty="0"/>
              <a:t>Tables </a:t>
            </a:r>
            <a:r>
              <a:rPr lang="en-GB" sz="2400" dirty="0" err="1"/>
              <a:t>hetkel</a:t>
            </a:r>
            <a:r>
              <a:rPr lang="en-GB" sz="2400" dirty="0"/>
              <a:t> </a:t>
            </a:r>
            <a:r>
              <a:rPr lang="en-GB" sz="2400" dirty="0" err="1"/>
              <a:t>tühi</a:t>
            </a:r>
            <a:endParaRPr lang="en-GB" sz="2400" dirty="0"/>
          </a:p>
          <a:p>
            <a:r>
              <a:rPr lang="en-GB" sz="2400" b="1" dirty="0" err="1"/>
              <a:t>Andmete</a:t>
            </a:r>
            <a:r>
              <a:rPr lang="en-GB" sz="2400" b="1" dirty="0"/>
              <a:t> </a:t>
            </a:r>
            <a:r>
              <a:rPr lang="en-GB" sz="2400" b="1" dirty="0" err="1"/>
              <a:t>saamiseks</a:t>
            </a:r>
            <a:r>
              <a:rPr lang="en-GB" sz="2400" b="1" dirty="0"/>
              <a:t> </a:t>
            </a:r>
            <a:r>
              <a:rPr lang="en-GB" sz="2400" dirty="0" err="1"/>
              <a:t>tabelitesse</a:t>
            </a:r>
            <a:endParaRPr lang="en-GB" sz="2400" dirty="0"/>
          </a:p>
          <a:p>
            <a:pPr lvl="1"/>
            <a:r>
              <a:rPr lang="en-GB" sz="2400" dirty="0" err="1"/>
              <a:t>Rakendused</a:t>
            </a:r>
            <a:r>
              <a:rPr lang="en-GB" sz="2400" dirty="0"/>
              <a:t> </a:t>
            </a:r>
            <a:r>
              <a:rPr lang="en-GB" sz="2400" dirty="0" err="1"/>
              <a:t>täidavad</a:t>
            </a:r>
            <a:r>
              <a:rPr lang="en-GB" sz="2400" dirty="0"/>
              <a:t> </a:t>
            </a:r>
            <a:r>
              <a:rPr lang="en-GB" sz="2400" dirty="0" err="1"/>
              <a:t>tabeleid</a:t>
            </a:r>
            <a:r>
              <a:rPr lang="en-GB" sz="2400" dirty="0"/>
              <a:t> </a:t>
            </a:r>
            <a:br>
              <a:rPr lang="en-GB" sz="2400" dirty="0"/>
            </a:br>
            <a:r>
              <a:rPr lang="en-GB" sz="2400" dirty="0"/>
              <a:t>(</a:t>
            </a:r>
            <a:r>
              <a:rPr lang="en-GB" sz="2400" dirty="0" err="1"/>
              <a:t>nt</a:t>
            </a:r>
            <a:r>
              <a:rPr lang="en-GB" sz="2400" dirty="0"/>
              <a:t> CRM, ERP </a:t>
            </a:r>
            <a:r>
              <a:rPr lang="en-GB" sz="2400" dirty="0" err="1"/>
              <a:t>jmt</a:t>
            </a:r>
            <a:r>
              <a:rPr lang="en-GB" sz="2400" dirty="0"/>
              <a:t>)</a:t>
            </a:r>
          </a:p>
          <a:p>
            <a:pPr lvl="1"/>
            <a:r>
              <a:rPr lang="en-GB" sz="2400" b="1" dirty="0"/>
              <a:t>Import </a:t>
            </a:r>
            <a:r>
              <a:rPr lang="en-GB" sz="2400" b="1" dirty="0" err="1"/>
              <a:t>failist</a:t>
            </a:r>
            <a:endParaRPr lang="en-GB" sz="2400" b="1" dirty="0"/>
          </a:p>
          <a:p>
            <a:pPr lvl="1"/>
            <a:r>
              <a:rPr lang="en-GB" sz="2400" dirty="0"/>
              <a:t>Create </a:t>
            </a:r>
            <a:r>
              <a:rPr lang="en-GB" sz="2400" dirty="0" err="1"/>
              <a:t>lausega</a:t>
            </a:r>
            <a:endParaRPr lang="en-GB" sz="2400" dirty="0"/>
          </a:p>
          <a:p>
            <a:pPr lvl="1"/>
            <a:r>
              <a:rPr lang="en-GB" sz="2400" dirty="0" err="1"/>
              <a:t>Laadimine</a:t>
            </a:r>
            <a:r>
              <a:rPr lang="en-GB" sz="2400" dirty="0"/>
              <a:t> </a:t>
            </a:r>
            <a:r>
              <a:rPr lang="en-GB" sz="2400" dirty="0" err="1"/>
              <a:t>pyhtoniga</a:t>
            </a:r>
            <a:r>
              <a:rPr lang="en-GB" sz="2400" dirty="0"/>
              <a:t> </a:t>
            </a:r>
            <a:r>
              <a:rPr lang="en-GB" sz="2400" dirty="0" err="1"/>
              <a:t>vmt</a:t>
            </a:r>
            <a:endParaRPr lang="en-GB" sz="2400" dirty="0"/>
          </a:p>
          <a:p>
            <a:pPr lvl="1"/>
            <a:r>
              <a:rPr lang="en-GB" sz="2400" dirty="0" err="1"/>
              <a:t>Tabeli</a:t>
            </a:r>
            <a:r>
              <a:rPr lang="en-GB" sz="2400" dirty="0"/>
              <a:t> </a:t>
            </a:r>
            <a:r>
              <a:rPr lang="en-GB" sz="2400" dirty="0" err="1"/>
              <a:t>täitmine</a:t>
            </a:r>
            <a:endParaRPr lang="en-GB" sz="2400" dirty="0"/>
          </a:p>
          <a:p>
            <a:endParaRPr lang="en-GB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A317FC-5C39-90A2-7C90-9E585E42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216" y="836613"/>
            <a:ext cx="3014412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77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dirty="0" err="1">
                <a:solidFill>
                  <a:srgbClr val="FFFFFF"/>
                </a:solidFill>
                <a:latin typeface="Calibri"/>
              </a:rPr>
              <a:t>Andmemudel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kuidas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tabelid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seotud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29260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926080" cy="41148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9260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kliendid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26517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klient_id  PK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234440"/>
            <a:ext cx="29260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234440"/>
            <a:ext cx="2926080" cy="41148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234440"/>
            <a:ext cx="29260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tellimused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737360"/>
            <a:ext cx="26517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tellimus_id  PK
klient_id  FK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794760"/>
            <a:ext cx="29260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3794760"/>
            <a:ext cx="2926080" cy="4114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3157" y="3794760"/>
            <a:ext cx="29260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tellimuse_read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97680"/>
            <a:ext cx="26517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tellimus_id  FK
toode_id  FK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2194560"/>
            <a:ext cx="29260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2194560"/>
            <a:ext cx="2926080" cy="41148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2194560"/>
            <a:ext cx="29260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tooted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697480"/>
            <a:ext cx="26517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toode_id  PK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dirty="0" err="1">
                <a:solidFill>
                  <a:srgbClr val="334155"/>
                </a:solidFill>
                <a:latin typeface="Calibri"/>
              </a:rPr>
              <a:t>Üks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klient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→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mitu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tellimust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 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Üks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tellimus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→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mitu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rida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  Iga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rida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viitab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ühele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tootele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
3.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päeval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liidame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need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neli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tabelit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et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vastata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küsimusele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kes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tõi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kõige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rohkem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tulu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?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C65338-5514-3B6A-2735-A218CE9834B6}"/>
              </a:ext>
            </a:extLst>
          </p:cNvPr>
          <p:cNvCxnSpPr/>
          <p:nvPr/>
        </p:nvCxnSpPr>
        <p:spPr>
          <a:xfrm flipV="1">
            <a:off x="2472267" y="2133600"/>
            <a:ext cx="3073400" cy="74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D86900-2DEC-75C5-C2D2-D51D6BE2AB08}"/>
              </a:ext>
            </a:extLst>
          </p:cNvPr>
          <p:cNvCxnSpPr>
            <a:cxnSpLocks/>
          </p:cNvCxnSpPr>
          <p:nvPr/>
        </p:nvCxnSpPr>
        <p:spPr>
          <a:xfrm flipH="1">
            <a:off x="6485361" y="2840567"/>
            <a:ext cx="3285172" cy="1868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76830C-2BA7-5005-0B61-71AB5B2E480A}"/>
              </a:ext>
            </a:extLst>
          </p:cNvPr>
          <p:cNvCxnSpPr>
            <a:cxnSpLocks/>
          </p:cNvCxnSpPr>
          <p:nvPr/>
        </p:nvCxnSpPr>
        <p:spPr>
          <a:xfrm flipH="1">
            <a:off x="6369262" y="1946064"/>
            <a:ext cx="232198" cy="242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E1E6F9D-285F-77E2-66A7-C798625B8B91}"/>
              </a:ext>
            </a:extLst>
          </p:cNvPr>
          <p:cNvSpPr txBox="1"/>
          <p:nvPr/>
        </p:nvSpPr>
        <p:spPr>
          <a:xfrm>
            <a:off x="365760" y="4368420"/>
            <a:ext cx="337947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GB" sz="1600" b="1" dirty="0">
                <a:solidFill>
                  <a:srgbClr val="334155"/>
                </a:solidFill>
                <a:latin typeface="Calibri"/>
              </a:rPr>
              <a:t>E-</a:t>
            </a:r>
            <a:r>
              <a:rPr lang="en-GB" sz="1600" b="1" dirty="0" err="1">
                <a:solidFill>
                  <a:srgbClr val="334155"/>
                </a:solidFill>
                <a:latin typeface="Calibri"/>
              </a:rPr>
              <a:t>poe</a:t>
            </a:r>
            <a:r>
              <a:rPr lang="en-GB" sz="16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1" dirty="0" err="1">
                <a:solidFill>
                  <a:srgbClr val="334155"/>
                </a:solidFill>
                <a:latin typeface="Calibri"/>
              </a:rPr>
              <a:t>müügi</a:t>
            </a:r>
            <a:r>
              <a:rPr lang="en-GB" sz="16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1" dirty="0" err="1">
                <a:solidFill>
                  <a:srgbClr val="334155"/>
                </a:solidFill>
                <a:latin typeface="Calibri"/>
              </a:rPr>
              <a:t>andmestik</a:t>
            </a:r>
            <a:endParaRPr lang="en-GB" sz="1600" b="1" dirty="0">
              <a:solidFill>
                <a:srgbClr val="3341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DF1AF69-BC06-9EC1-70BB-5B8EA2CAA36D}"/>
              </a:ext>
            </a:extLst>
          </p:cNvPr>
          <p:cNvSpPr txBox="1"/>
          <p:nvPr/>
        </p:nvSpPr>
        <p:spPr>
          <a:xfrm>
            <a:off x="118533" y="1354723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Ava SQL editor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Kirjuta</a:t>
            </a:r>
            <a:r>
              <a:rPr lang="en-GB" sz="1600" dirty="0"/>
              <a:t> SQL </a:t>
            </a:r>
            <a:r>
              <a:rPr lang="en-GB" sz="1600" dirty="0" err="1"/>
              <a:t>kood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Selekteeri</a:t>
            </a:r>
            <a:r>
              <a:rPr lang="en-GB" sz="1600" dirty="0"/>
              <a:t> 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Vajuta</a:t>
            </a:r>
            <a:r>
              <a:rPr lang="en-GB" sz="1600" dirty="0"/>
              <a:t> Execute SQL query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0E0FC1B-7531-0A8D-C8F3-D380C7D5D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615" y="93132"/>
            <a:ext cx="4669590" cy="57065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9F1F5B-2773-801D-DBF5-20EC51A0B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Tabelite</a:t>
            </a:r>
            <a:r>
              <a:rPr lang="en-GB" dirty="0"/>
              <a:t> </a:t>
            </a:r>
            <a:r>
              <a:rPr lang="en-GB" dirty="0" err="1"/>
              <a:t>loomine</a:t>
            </a:r>
            <a:r>
              <a:rPr lang="en-GB" dirty="0"/>
              <a:t> SQL </a:t>
            </a:r>
            <a:r>
              <a:rPr lang="en-GB" dirty="0" err="1"/>
              <a:t>abil</a:t>
            </a:r>
            <a:br>
              <a:rPr lang="en-GB" dirty="0"/>
            </a:br>
            <a:r>
              <a:rPr lang="en-GB" dirty="0">
                <a:solidFill>
                  <a:srgbClr val="FF0000"/>
                </a:solidFill>
              </a:rPr>
              <a:t>NÄITAN</a:t>
            </a:r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705C1C1D-AADA-4BA0-5EAD-D9A03E885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88" y="1647576"/>
            <a:ext cx="4039164" cy="178142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64DF01-41B0-0F72-2D23-3A601D614942}"/>
              </a:ext>
            </a:extLst>
          </p:cNvPr>
          <p:cNvCxnSpPr>
            <a:cxnSpLocks/>
          </p:cNvCxnSpPr>
          <p:nvPr/>
        </p:nvCxnSpPr>
        <p:spPr>
          <a:xfrm flipV="1">
            <a:off x="3403600" y="504852"/>
            <a:ext cx="2692400" cy="4126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473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8080-41AA-B878-C289-712161E715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Tee </a:t>
            </a:r>
            <a:r>
              <a:rPr lang="en-GB" dirty="0">
                <a:solidFill>
                  <a:srgbClr val="FF0000"/>
                </a:solidFill>
              </a:rPr>
              <a:t>ISE</a:t>
            </a:r>
            <a:r>
              <a:rPr lang="en-GB" dirty="0"/>
              <a:t> </a:t>
            </a:r>
            <a:r>
              <a:rPr lang="en-GB" dirty="0" err="1"/>
              <a:t>läbi</a:t>
            </a:r>
            <a:r>
              <a:rPr lang="en-GB" dirty="0"/>
              <a:t> 4 </a:t>
            </a:r>
            <a:r>
              <a:rPr lang="en-GB" dirty="0" err="1"/>
              <a:t>tabeli</a:t>
            </a:r>
            <a:r>
              <a:rPr lang="en-GB" dirty="0"/>
              <a:t> </a:t>
            </a:r>
            <a:r>
              <a:rPr lang="en-GB" dirty="0" err="1"/>
              <a:t>loomine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kontrolli</a:t>
            </a:r>
            <a:r>
              <a:rPr lang="en-GB" dirty="0"/>
              <a:t> </a:t>
            </a:r>
            <a:r>
              <a:rPr lang="en-GB" dirty="0" err="1"/>
              <a:t>tulemust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085A6-8ACC-2645-246A-18FA53162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00040"/>
            <a:ext cx="4205895" cy="368929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1BEDD7-F60F-F2B5-76B5-DAA0EC022CCB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6096000" y="1051069"/>
            <a:ext cx="6149445" cy="79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dirty="0"/>
              <a:t>Kas </a:t>
            </a:r>
            <a:r>
              <a:rPr lang="en-GB" dirty="0" err="1"/>
              <a:t>näed</a:t>
            </a:r>
            <a:r>
              <a:rPr lang="en-GB" dirty="0"/>
              <a:t> </a:t>
            </a:r>
            <a:r>
              <a:rPr lang="en-GB" dirty="0" err="1"/>
              <a:t>tabelit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veerge</a:t>
            </a:r>
            <a:r>
              <a:rPr lang="en-GB" dirty="0"/>
              <a:t>?</a:t>
            </a:r>
          </a:p>
          <a:p>
            <a:pPr marL="0" marR="0">
              <a:buNone/>
            </a:pPr>
            <a:endParaRPr lang="en-GB" b="1" dirty="0"/>
          </a:p>
          <a:p>
            <a:pPr marL="0" marR="0">
              <a:buNone/>
            </a:pPr>
            <a:endParaRPr lang="en-GB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E1C979-09F9-C97F-66A8-B7D27753C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078" y="3083903"/>
            <a:ext cx="3619686" cy="31116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01E8B0-0D43-9341-8E62-2153E79923E1}"/>
              </a:ext>
            </a:extLst>
          </p:cNvPr>
          <p:cNvSpPr txBox="1"/>
          <p:nvPr/>
        </p:nvSpPr>
        <p:spPr>
          <a:xfrm>
            <a:off x="313265" y="6085713"/>
            <a:ext cx="8415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600" b="1" dirty="0"/>
              <a:t>Kui table </a:t>
            </a:r>
            <a:r>
              <a:rPr lang="en-GB" sz="1600" b="1" dirty="0" err="1"/>
              <a:t>tekib</a:t>
            </a:r>
            <a:r>
              <a:rPr lang="en-GB" sz="1600" b="1" dirty="0"/>
              <a:t> </a:t>
            </a:r>
            <a:r>
              <a:rPr lang="en-GB" sz="1600" b="1" dirty="0" err="1"/>
              <a:t>valesti</a:t>
            </a:r>
            <a:r>
              <a:rPr lang="en-GB" sz="1600" b="1" dirty="0"/>
              <a:t>, </a:t>
            </a:r>
            <a:r>
              <a:rPr lang="en-GB" sz="1600" b="1" dirty="0" err="1"/>
              <a:t>saab</a:t>
            </a:r>
            <a:r>
              <a:rPr lang="en-GB" sz="1600" b="1" dirty="0"/>
              <a:t> </a:t>
            </a:r>
            <a:r>
              <a:rPr lang="en-GB" sz="1600" b="1" dirty="0" err="1"/>
              <a:t>selle</a:t>
            </a:r>
            <a:r>
              <a:rPr lang="en-GB" sz="1600" b="1" dirty="0"/>
              <a:t> </a:t>
            </a:r>
            <a:r>
              <a:rPr lang="en-GB" sz="1600" b="1" dirty="0" err="1"/>
              <a:t>kustutada</a:t>
            </a:r>
            <a:r>
              <a:rPr lang="en-GB" sz="1600" b="1" dirty="0"/>
              <a:t> </a:t>
            </a:r>
            <a:r>
              <a:rPr lang="en-GB" sz="1600" b="1" dirty="0" err="1"/>
              <a:t>käsuga</a:t>
            </a:r>
            <a:r>
              <a:rPr lang="en-GB" sz="1600" b="1" dirty="0"/>
              <a:t>: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drop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table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[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tabeli_nimi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]</a:t>
            </a:r>
            <a:endParaRPr lang="en-GB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33208A-2EAA-AACD-8457-DF991B5A4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667" y="1296049"/>
            <a:ext cx="3869885" cy="4729243"/>
          </a:xfrm>
          <a:prstGeom prst="rect">
            <a:avLst/>
          </a:prstGeom>
        </p:spPr>
      </p:pic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AC87158D-01BD-FAB5-3B5E-662487ECC5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643"/>
          <a:stretch>
            <a:fillRect/>
          </a:stretch>
        </p:blipFill>
        <p:spPr>
          <a:xfrm>
            <a:off x="74174" y="1400040"/>
            <a:ext cx="2042493" cy="129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29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Näidisandmed —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neli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CSV-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faili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SQL koolitus  ·  Ülevaade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669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109728" cy="246888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kliendid.csv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73736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05457"/>
                </a:solidFill>
                <a:latin typeface="Calibri"/>
              </a:rPr>
              <a:t>30 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48840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klient_id, nimi, linn,
liitumise_kuupäev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Kes ostab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49039"/>
            <a:ext cx="5669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109728" cy="246888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tooted.csv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43400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05457"/>
                </a:solidFill>
                <a:latin typeface="Calibri"/>
              </a:rPr>
              <a:t>15 rida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79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toode_id, nimetus,
kategooria, hind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23559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Mida müüakse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143000"/>
            <a:ext cx="5669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1143000"/>
            <a:ext cx="109728" cy="246888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2801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tellimused.csv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737360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73736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05457"/>
                </a:solidFill>
                <a:latin typeface="Calibri"/>
              </a:rPr>
              <a:t>30 rida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148840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tellimus_id, klient_id, kuupäev,
staatus, makseviis, tarneviis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01752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Millal ja kuidas telliti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49039"/>
            <a:ext cx="5669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749039"/>
            <a:ext cx="109728" cy="246888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88620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tellimuse_read.csv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4343400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34340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05457"/>
                </a:solidFill>
                <a:latin typeface="Calibri"/>
              </a:rPr>
              <a:t>58 rida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754879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tellimus_rida_id, tellimus_id,
toode_id, kogus, allahindlus_pct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623559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Mis tooted olid ostukorvis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2AD6-FB5D-BC05-865D-9BD520B112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Impordime</a:t>
            </a:r>
            <a:r>
              <a:rPr lang="en-GB" dirty="0"/>
              <a:t> </a:t>
            </a:r>
            <a:r>
              <a:rPr lang="en-GB" dirty="0" err="1"/>
              <a:t>andmed</a:t>
            </a:r>
            <a:r>
              <a:rPr lang="en-GB" dirty="0"/>
              <a:t>: </a:t>
            </a:r>
            <a:r>
              <a:rPr lang="en-GB" dirty="0">
                <a:solidFill>
                  <a:srgbClr val="00B050"/>
                </a:solidFill>
              </a:rPr>
              <a:t>NÄITAN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5990-952B-512C-3BAE-D1DEDEEB06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196181"/>
            <a:ext cx="10924645" cy="4465637"/>
          </a:xfrm>
        </p:spPr>
        <p:txBody>
          <a:bodyPr/>
          <a:lstStyle/>
          <a:p>
            <a:r>
              <a:rPr lang="en-GB" sz="2400" dirty="0"/>
              <a:t>Et </a:t>
            </a:r>
            <a:r>
              <a:rPr lang="en-GB" sz="2400" dirty="0" err="1"/>
              <a:t>tabelisse</a:t>
            </a:r>
            <a:r>
              <a:rPr lang="en-GB" sz="2400" dirty="0"/>
              <a:t> </a:t>
            </a:r>
            <a:r>
              <a:rPr lang="en-GB" sz="2400" dirty="0" err="1"/>
              <a:t>andmeid</a:t>
            </a:r>
            <a:r>
              <a:rPr lang="en-GB" sz="2400" dirty="0"/>
              <a:t> csv </a:t>
            </a:r>
            <a:r>
              <a:rPr lang="en-GB" sz="2400" dirty="0" err="1"/>
              <a:t>failist</a:t>
            </a:r>
            <a:r>
              <a:rPr lang="en-GB" sz="2400" dirty="0"/>
              <a:t> </a:t>
            </a:r>
            <a:r>
              <a:rPr lang="en-GB" sz="2400" dirty="0" err="1"/>
              <a:t>importida</a:t>
            </a:r>
            <a:r>
              <a:rPr lang="en-GB" sz="2400" dirty="0"/>
              <a:t>:</a:t>
            </a:r>
          </a:p>
          <a:p>
            <a:pPr lvl="1"/>
            <a:r>
              <a:rPr lang="en-GB" sz="2400" dirty="0"/>
              <a:t>Tabel </a:t>
            </a:r>
            <a:r>
              <a:rPr lang="en-GB" sz="2400" dirty="0" err="1"/>
              <a:t>olemas</a:t>
            </a:r>
            <a:r>
              <a:rPr lang="en-GB" sz="2400" dirty="0"/>
              <a:t> </a:t>
            </a:r>
            <a:r>
              <a:rPr lang="en-GB" sz="2400" dirty="0" err="1"/>
              <a:t>olema</a:t>
            </a:r>
            <a:endParaRPr lang="en-GB" sz="2400" dirty="0"/>
          </a:p>
          <a:p>
            <a:pPr lvl="1"/>
            <a:r>
              <a:rPr lang="en-GB" sz="2400" b="1" dirty="0" err="1"/>
              <a:t>Tabeli</a:t>
            </a:r>
            <a:r>
              <a:rPr lang="en-GB" sz="2400" b="1" dirty="0"/>
              <a:t> </a:t>
            </a:r>
            <a:r>
              <a:rPr lang="en-GB" sz="2400" b="1" dirty="0" err="1"/>
              <a:t>struktuur</a:t>
            </a:r>
            <a:r>
              <a:rPr lang="en-GB" sz="2400" b="1" dirty="0"/>
              <a:t> </a:t>
            </a:r>
            <a:r>
              <a:rPr lang="en-GB" sz="2400" b="1" dirty="0" err="1"/>
              <a:t>vastama</a:t>
            </a:r>
            <a:r>
              <a:rPr lang="en-GB" sz="2400" b="1" dirty="0"/>
              <a:t> </a:t>
            </a:r>
            <a:r>
              <a:rPr lang="en-GB" sz="2400" b="1" dirty="0" err="1"/>
              <a:t>faili</a:t>
            </a:r>
            <a:r>
              <a:rPr lang="en-GB" sz="2400" b="1" dirty="0"/>
              <a:t> </a:t>
            </a:r>
            <a:r>
              <a:rPr lang="en-GB" sz="2400" b="1" dirty="0" err="1"/>
              <a:t>struktuurile</a:t>
            </a:r>
            <a:r>
              <a:rPr lang="en-GB" sz="2400" b="1" dirty="0"/>
              <a:t> </a:t>
            </a:r>
            <a:r>
              <a:rPr lang="en-GB" sz="2400" dirty="0"/>
              <a:t>(</a:t>
            </a:r>
            <a:r>
              <a:rPr lang="en-GB" sz="2400" dirty="0" err="1"/>
              <a:t>kui</a:t>
            </a:r>
            <a:r>
              <a:rPr lang="en-GB" sz="2400" dirty="0"/>
              <a:t> </a:t>
            </a:r>
            <a:r>
              <a:rPr lang="en-GB" sz="2400" dirty="0" err="1"/>
              <a:t>ei</a:t>
            </a:r>
            <a:r>
              <a:rPr lang="en-GB" sz="2400" dirty="0"/>
              <a:t> </a:t>
            </a:r>
            <a:r>
              <a:rPr lang="en-GB" sz="2400" dirty="0" err="1"/>
              <a:t>soovi</a:t>
            </a:r>
            <a:r>
              <a:rPr lang="en-GB" sz="2400" dirty="0"/>
              <a:t> </a:t>
            </a:r>
            <a:r>
              <a:rPr lang="en-GB" sz="2400" dirty="0" err="1"/>
              <a:t>teha</a:t>
            </a:r>
            <a:r>
              <a:rPr lang="en-GB" sz="2400" dirty="0"/>
              <a:t> </a:t>
            </a:r>
            <a:r>
              <a:rPr lang="en-GB" sz="2400" dirty="0" err="1"/>
              <a:t>töötlust</a:t>
            </a:r>
            <a:r>
              <a:rPr lang="en-GB" sz="2400" dirty="0"/>
              <a:t> </a:t>
            </a:r>
            <a:r>
              <a:rPr lang="en-GB" sz="2400" dirty="0" err="1"/>
              <a:t>importides</a:t>
            </a:r>
            <a:r>
              <a:rPr lang="en-GB" sz="2400" dirty="0"/>
              <a:t>, </a:t>
            </a:r>
            <a:r>
              <a:rPr lang="en-GB" sz="2400" dirty="0" err="1"/>
              <a:t>nt</a:t>
            </a:r>
            <a:r>
              <a:rPr lang="en-GB" sz="2400" dirty="0"/>
              <a:t> </a:t>
            </a:r>
            <a:r>
              <a:rPr lang="en-GB" sz="2400" dirty="0" err="1"/>
              <a:t>laadimise</a:t>
            </a:r>
            <a:r>
              <a:rPr lang="en-GB" sz="2400" dirty="0"/>
              <a:t> </a:t>
            </a:r>
            <a:r>
              <a:rPr lang="en-GB" sz="2400" dirty="0" err="1"/>
              <a:t>pyhton</a:t>
            </a:r>
            <a:r>
              <a:rPr lang="en-GB" sz="2400" dirty="0"/>
              <a:t> </a:t>
            </a:r>
            <a:r>
              <a:rPr lang="en-GB" sz="2400" dirty="0" err="1"/>
              <a:t>scriptis</a:t>
            </a:r>
            <a:endParaRPr lang="en-GB" sz="2400" dirty="0"/>
          </a:p>
          <a:p>
            <a:pPr lvl="1"/>
            <a:r>
              <a:rPr lang="en-GB" sz="2400" dirty="0" err="1"/>
              <a:t>Veerunimed</a:t>
            </a:r>
            <a:r>
              <a:rPr lang="en-GB" sz="2400" dirty="0"/>
              <a:t> </a:t>
            </a:r>
            <a:r>
              <a:rPr lang="en-GB" sz="2400" dirty="0" err="1"/>
              <a:t>võivad</a:t>
            </a:r>
            <a:r>
              <a:rPr lang="en-GB" sz="2400" dirty="0"/>
              <a:t> olla </a:t>
            </a:r>
            <a:r>
              <a:rPr lang="en-GB" sz="2400" dirty="0" err="1"/>
              <a:t>importfailis</a:t>
            </a:r>
            <a:r>
              <a:rPr lang="en-GB" sz="2400" dirty="0"/>
              <a:t>, aga </a:t>
            </a:r>
            <a:r>
              <a:rPr lang="en-GB" sz="2400" dirty="0" err="1"/>
              <a:t>ei</a:t>
            </a:r>
            <a:r>
              <a:rPr lang="en-GB" sz="2400" dirty="0"/>
              <a:t> pea </a:t>
            </a:r>
            <a:r>
              <a:rPr lang="en-GB" sz="2400" dirty="0" err="1"/>
              <a:t>olema</a:t>
            </a:r>
            <a:r>
              <a:rPr lang="en-GB" sz="2400" dirty="0"/>
              <a:t>. </a:t>
            </a:r>
            <a:r>
              <a:rPr lang="en-GB" sz="2400" dirty="0" err="1"/>
              <a:t>Nimedega</a:t>
            </a:r>
            <a:r>
              <a:rPr lang="en-GB" sz="2400" dirty="0"/>
              <a:t> on </a:t>
            </a:r>
            <a:r>
              <a:rPr lang="en-GB" sz="2400" dirty="0" err="1"/>
              <a:t>parem</a:t>
            </a:r>
            <a:r>
              <a:rPr lang="en-GB" sz="2400" dirty="0"/>
              <a:t> </a:t>
            </a:r>
            <a:r>
              <a:rPr lang="en-GB" sz="2400" dirty="0" err="1"/>
              <a:t>vastavused</a:t>
            </a:r>
            <a:r>
              <a:rPr lang="en-GB" sz="2400" dirty="0"/>
              <a:t> </a:t>
            </a:r>
            <a:r>
              <a:rPr lang="en-GB" sz="2400" dirty="0" err="1"/>
              <a:t>teha</a:t>
            </a:r>
            <a:r>
              <a:rPr lang="en-GB" sz="2400" dirty="0"/>
              <a:t>.</a:t>
            </a:r>
          </a:p>
          <a:p>
            <a:pPr lvl="2"/>
            <a:r>
              <a:rPr lang="en-GB" sz="2400" dirty="0" err="1"/>
              <a:t>Kontrolli</a:t>
            </a:r>
            <a:r>
              <a:rPr lang="en-GB" sz="2400" dirty="0"/>
              <a:t> </a:t>
            </a:r>
            <a:r>
              <a:rPr lang="en-GB" sz="2400" dirty="0" err="1"/>
              <a:t>enne</a:t>
            </a:r>
            <a:r>
              <a:rPr lang="en-GB" sz="2400" dirty="0"/>
              <a:t> </a:t>
            </a:r>
            <a:r>
              <a:rPr lang="en-GB" sz="2400" dirty="0" err="1"/>
              <a:t>importi</a:t>
            </a:r>
            <a:r>
              <a:rPr lang="en-GB" sz="2400" dirty="0"/>
              <a:t>, kas on </a:t>
            </a:r>
            <a:r>
              <a:rPr lang="en-GB" sz="2400" dirty="0" err="1"/>
              <a:t>päised</a:t>
            </a:r>
            <a:r>
              <a:rPr lang="en-GB" sz="2400" dirty="0"/>
              <a:t> </a:t>
            </a:r>
            <a:r>
              <a:rPr lang="en-GB" sz="2400" dirty="0" err="1"/>
              <a:t>ja</a:t>
            </a:r>
            <a:r>
              <a:rPr lang="en-GB" sz="2400" dirty="0"/>
              <a:t> kas </a:t>
            </a:r>
            <a:r>
              <a:rPr lang="en-GB" sz="2400" dirty="0" err="1"/>
              <a:t>veerud</a:t>
            </a:r>
            <a:r>
              <a:rPr lang="en-GB" sz="2400" dirty="0"/>
              <a:t> </a:t>
            </a:r>
            <a:r>
              <a:rPr lang="en-GB" sz="2400" dirty="0" err="1"/>
              <a:t>vastavad</a:t>
            </a:r>
            <a:r>
              <a:rPr lang="en-GB" sz="2400" dirty="0"/>
              <a:t> </a:t>
            </a:r>
            <a:r>
              <a:rPr lang="en-GB" sz="2400" dirty="0" err="1"/>
              <a:t>andmebaasi</a:t>
            </a:r>
            <a:r>
              <a:rPr lang="en-GB" sz="2400" dirty="0"/>
              <a:t> </a:t>
            </a:r>
            <a:r>
              <a:rPr lang="en-GB" sz="2400" dirty="0" err="1"/>
              <a:t>tabeli</a:t>
            </a:r>
            <a:r>
              <a:rPr lang="en-GB" sz="2400" dirty="0"/>
              <a:t> </a:t>
            </a:r>
            <a:r>
              <a:rPr lang="en-GB" sz="2400" dirty="0" err="1"/>
              <a:t>struktuurile</a:t>
            </a:r>
            <a:endParaRPr lang="en-GB" sz="2400" dirty="0"/>
          </a:p>
          <a:p>
            <a:pPr lvl="2"/>
            <a:r>
              <a:rPr lang="en-GB" sz="2400" dirty="0" err="1"/>
              <a:t>Kontrolli</a:t>
            </a:r>
            <a:r>
              <a:rPr lang="en-GB" sz="2400" dirty="0"/>
              <a:t>, kas </a:t>
            </a:r>
            <a:r>
              <a:rPr lang="en-GB" sz="2400" dirty="0" err="1"/>
              <a:t>impordi</a:t>
            </a:r>
            <a:r>
              <a:rPr lang="en-GB" sz="2400" dirty="0"/>
              <a:t> </a:t>
            </a:r>
            <a:r>
              <a:rPr lang="en-GB" sz="2400" dirty="0" err="1"/>
              <a:t>aknas</a:t>
            </a:r>
            <a:r>
              <a:rPr lang="en-GB" sz="2400" dirty="0"/>
              <a:t> on </a:t>
            </a:r>
            <a:r>
              <a:rPr lang="en-GB" sz="2400" dirty="0" err="1"/>
              <a:t>öeldud</a:t>
            </a:r>
            <a:r>
              <a:rPr lang="en-GB" sz="2400" dirty="0"/>
              <a:t>, et on </a:t>
            </a:r>
            <a:r>
              <a:rPr lang="en-GB" sz="2400" dirty="0" err="1"/>
              <a:t>päised</a:t>
            </a:r>
            <a:endParaRPr lang="en-GB" sz="2400" dirty="0"/>
          </a:p>
          <a:p>
            <a:pPr lvl="2"/>
            <a:r>
              <a:rPr lang="en-GB" sz="2400" dirty="0" err="1"/>
              <a:t>Kontrolli</a:t>
            </a:r>
            <a:r>
              <a:rPr lang="en-GB" sz="2400" dirty="0"/>
              <a:t> </a:t>
            </a:r>
            <a:r>
              <a:rPr lang="en-GB" sz="2400" dirty="0" err="1"/>
              <a:t>vastavused</a:t>
            </a:r>
            <a:endParaRPr lang="en-GB" sz="2400" dirty="0"/>
          </a:p>
          <a:p>
            <a:pPr lvl="1"/>
            <a:endParaRPr lang="en-GB" sz="2400" dirty="0"/>
          </a:p>
          <a:p>
            <a:pPr lvl="1"/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21155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C39D-7CA5-BC9C-AB8A-7A99883F3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Tee </a:t>
            </a:r>
            <a:r>
              <a:rPr lang="en-GB" dirty="0">
                <a:solidFill>
                  <a:srgbClr val="FF0000"/>
                </a:solidFill>
              </a:rPr>
              <a:t>ISE</a:t>
            </a:r>
            <a:r>
              <a:rPr lang="en-GB" dirty="0"/>
              <a:t> </a:t>
            </a:r>
            <a:r>
              <a:rPr lang="en-GB" dirty="0" err="1"/>
              <a:t>läbi</a:t>
            </a:r>
            <a:r>
              <a:rPr lang="en-GB" dirty="0"/>
              <a:t>: </a:t>
            </a:r>
            <a:r>
              <a:rPr lang="en-GB" dirty="0" err="1"/>
              <a:t>lae</a:t>
            </a:r>
            <a:r>
              <a:rPr lang="en-GB" dirty="0"/>
              <a:t> </a:t>
            </a:r>
            <a:r>
              <a:rPr lang="en-GB" dirty="0" err="1"/>
              <a:t>githubist</a:t>
            </a:r>
            <a:r>
              <a:rPr lang="en-GB"/>
              <a:t> alla, </a:t>
            </a:r>
            <a:r>
              <a:rPr lang="en-GB" dirty="0" err="1"/>
              <a:t>impordi</a:t>
            </a:r>
            <a:r>
              <a:rPr lang="en-GB" dirty="0"/>
              <a:t> 4 </a:t>
            </a:r>
            <a:r>
              <a:rPr lang="en-GB" dirty="0" err="1"/>
              <a:t>tabelit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kontrolli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1D18C-EE1F-57C7-626C-54F36A89CCB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459335" y="1175280"/>
            <a:ext cx="3456530" cy="2321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3075A7-FE3C-2CF1-6E65-569CABC56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180" y="1069100"/>
            <a:ext cx="3534687" cy="1856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8807F-5547-BA4B-0EAD-B486484A5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785" y="3429000"/>
            <a:ext cx="5582429" cy="26387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700439-857D-C2DD-0FA6-D2FBC5A1275A}"/>
              </a:ext>
            </a:extLst>
          </p:cNvPr>
          <p:cNvSpPr txBox="1"/>
          <p:nvPr/>
        </p:nvSpPr>
        <p:spPr>
          <a:xfrm>
            <a:off x="0" y="1376796"/>
            <a:ext cx="36009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Import data</a:t>
            </a:r>
          </a:p>
          <a:p>
            <a:r>
              <a:rPr lang="en-GB" dirty="0" err="1"/>
              <a:t>Source:csv</a:t>
            </a:r>
            <a:endParaRPr lang="en-GB" dirty="0"/>
          </a:p>
          <a:p>
            <a:r>
              <a:rPr lang="en-GB" dirty="0"/>
              <a:t>NB! Header: </a:t>
            </a:r>
            <a:r>
              <a:rPr lang="en-GB" dirty="0" err="1"/>
              <a:t>kontrolli</a:t>
            </a:r>
            <a:r>
              <a:rPr lang="en-GB" dirty="0"/>
              <a:t> </a:t>
            </a:r>
            <a:r>
              <a:rPr lang="en-GB" dirty="0" err="1"/>
              <a:t>failist</a:t>
            </a:r>
            <a:endParaRPr lang="en-GB" dirty="0"/>
          </a:p>
          <a:p>
            <a:r>
              <a:rPr lang="en-GB" dirty="0" err="1"/>
              <a:t>Kontrolli</a:t>
            </a:r>
            <a:r>
              <a:rPr lang="en-GB" dirty="0"/>
              <a:t> </a:t>
            </a:r>
            <a:r>
              <a:rPr lang="en-GB" dirty="0" err="1"/>
              <a:t>veergude</a:t>
            </a:r>
            <a:r>
              <a:rPr lang="en-GB" dirty="0"/>
              <a:t> </a:t>
            </a:r>
            <a:r>
              <a:rPr lang="en-GB" dirty="0" err="1"/>
              <a:t>vastavused</a:t>
            </a:r>
            <a:endParaRPr lang="en-GB" dirty="0"/>
          </a:p>
          <a:p>
            <a:r>
              <a:rPr lang="en-GB" dirty="0" err="1"/>
              <a:t>Vajuta</a:t>
            </a:r>
            <a:r>
              <a:rPr lang="en-GB" dirty="0"/>
              <a:t> Next-next-…-</a:t>
            </a:r>
            <a:r>
              <a:rPr lang="en-GB" dirty="0" err="1"/>
              <a:t>Procceed</a:t>
            </a:r>
            <a:endParaRPr lang="en-GB" dirty="0"/>
          </a:p>
          <a:p>
            <a:r>
              <a:rPr lang="en-GB" dirty="0" err="1"/>
              <a:t>Kontrolli</a:t>
            </a:r>
            <a:r>
              <a:rPr lang="en-GB" dirty="0"/>
              <a:t> </a:t>
            </a:r>
            <a:r>
              <a:rPr lang="en-GB" dirty="0" err="1"/>
              <a:t>tabeli</a:t>
            </a:r>
            <a:r>
              <a:rPr lang="en-GB" dirty="0"/>
              <a:t> sisu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D3AA9F-F597-040E-8FDF-4112A8272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788" y="4202295"/>
            <a:ext cx="4257212" cy="13156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BD0640-ADB3-A4A2-2C07-1D1204B19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50" y="3163846"/>
            <a:ext cx="3114060" cy="112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9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8894-EA7E-D031-E39B-D15A9A1A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7B3F8-1072-F92A-474F-F8B757A392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59C4DD-AD06-746E-A9D2-C5E114417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316149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SQL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põhikäsud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ja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lause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järjekord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SQL koolitus  ·  Ülevaade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11247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271016"/>
            <a:ext cx="502920" cy="36576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271016"/>
            <a:ext cx="502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143000"/>
            <a:ext cx="292608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143000"/>
            <a:ext cx="71323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mida kuvada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28800"/>
            <a:ext cx="11247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1956816"/>
            <a:ext cx="502920" cy="36576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956816"/>
            <a:ext cx="502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1828800"/>
            <a:ext cx="292608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28800"/>
            <a:ext cx="71323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millisest tabelist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14600"/>
            <a:ext cx="11247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2642616"/>
            <a:ext cx="502920" cy="36576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642616"/>
            <a:ext cx="502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514600"/>
            <a:ext cx="292608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514600"/>
            <a:ext cx="71323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millised tabelid liita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00400"/>
            <a:ext cx="11247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3328416"/>
            <a:ext cx="502920" cy="36576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502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200400"/>
            <a:ext cx="292608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200400"/>
            <a:ext cx="71323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millised read jätta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86200"/>
            <a:ext cx="11247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4014215"/>
            <a:ext cx="502920" cy="36576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014215"/>
            <a:ext cx="502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3886200"/>
            <a:ext cx="292608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GROUP 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886200"/>
            <a:ext cx="71323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kuidas rühmitada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0080" y="4700016"/>
            <a:ext cx="502920" cy="36576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700016"/>
            <a:ext cx="502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572000"/>
            <a:ext cx="292608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HAVING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572000"/>
            <a:ext cx="71323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millised rühmad jätta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57800"/>
            <a:ext cx="11247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080" y="5385816"/>
            <a:ext cx="502920" cy="36576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385816"/>
            <a:ext cx="502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257800"/>
            <a:ext cx="292608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ORDER BY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257800"/>
            <a:ext cx="713232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kuidas sorteerida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600" b="1" dirty="0">
                <a:solidFill>
                  <a:srgbClr val="FFFFFF"/>
                </a:solidFill>
                <a:latin typeface="Calibri"/>
              </a:rPr>
              <a:t>SELECT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ja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FROM 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— vali, mi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llised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veerud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ja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millisest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tabelist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 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SQL koolitus  ·  1. päev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852160" cy="2194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52728"/>
            <a:ext cx="5522976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2E8F0"/>
                </a:solidFill>
                <a:latin typeface="Consolas"/>
              </a:rPr>
              <a:t>SELECT *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2E8F0"/>
                </a:solidFill>
                <a:latin typeface="Consolas"/>
              </a:rPr>
              <a:t>FROM kliendid;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252728"/>
            <a:ext cx="5111496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800" b="0" dirty="0" err="1">
                <a:solidFill>
                  <a:srgbClr val="E2E8F0"/>
                </a:solidFill>
                <a:latin typeface="Consolas"/>
              </a:rPr>
              <a:t>nimi</a:t>
            </a:r>
            <a:r>
              <a:rPr sz="1800" b="0" dirty="0">
                <a:solidFill>
                  <a:srgbClr val="E2E8F0"/>
                </a:solidFill>
                <a:latin typeface="Consolas"/>
              </a:rPr>
              <a:t>, linn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800" b="0" dirty="0" err="1">
                <a:solidFill>
                  <a:srgbClr val="E2E8F0"/>
                </a:solidFill>
                <a:latin typeface="Consolas"/>
              </a:rPr>
              <a:t>kliendid</a:t>
            </a:r>
            <a:r>
              <a:rPr sz="18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5852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dirty="0" err="1">
                <a:solidFill>
                  <a:srgbClr val="FF0000"/>
                </a:solidFill>
                <a:latin typeface="Calibri"/>
              </a:rPr>
              <a:t>Kõik</a:t>
            </a:r>
            <a:r>
              <a:rPr sz="14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Calibri"/>
              </a:rPr>
              <a:t>veerud</a:t>
            </a:r>
            <a:r>
              <a:rPr sz="1400" b="1" dirty="0">
                <a:solidFill>
                  <a:srgbClr val="FF0000"/>
                </a:solidFill>
                <a:latin typeface="Calibri"/>
              </a:rPr>
              <a:t> — </a:t>
            </a:r>
            <a:r>
              <a:rPr sz="1400" b="1" dirty="0" err="1">
                <a:solidFill>
                  <a:srgbClr val="FF0000"/>
                </a:solidFill>
                <a:latin typeface="Calibri"/>
              </a:rPr>
              <a:t>hea</a:t>
            </a:r>
            <a:r>
              <a:rPr sz="14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Calibri"/>
              </a:rPr>
              <a:t>tutvumiseks</a:t>
            </a:r>
            <a:r>
              <a:rPr sz="1400" b="1" dirty="0">
                <a:solidFill>
                  <a:srgbClr val="FF0000"/>
                </a:solidFill>
                <a:latin typeface="Calibri"/>
              </a:rPr>
              <a:t>, </a:t>
            </a:r>
            <a:r>
              <a:rPr sz="1400" b="1" dirty="0" err="1">
                <a:solidFill>
                  <a:srgbClr val="FF0000"/>
                </a:solidFill>
                <a:latin typeface="Calibri"/>
              </a:rPr>
              <a:t>halb</a:t>
            </a:r>
            <a:r>
              <a:rPr sz="14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Calibri"/>
              </a:rPr>
              <a:t>harjumus</a:t>
            </a:r>
            <a:r>
              <a:rPr sz="14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Calibri"/>
              </a:rPr>
              <a:t>aruannetes</a:t>
            </a:r>
            <a:r>
              <a:rPr sz="1400" b="1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29000"/>
            <a:ext cx="5440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dirty="0" err="1">
                <a:solidFill>
                  <a:schemeClr val="accent4">
                    <a:lumMod val="75000"/>
                  </a:schemeClr>
                </a:solidFill>
                <a:latin typeface="Calibri"/>
              </a:rPr>
              <a:t>Ainult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accent4">
                    <a:lumMod val="75000"/>
                  </a:schemeClr>
                </a:solidFill>
                <a:latin typeface="Calibri"/>
              </a:rPr>
              <a:t>vajalikud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accent4">
                    <a:lumMod val="75000"/>
                  </a:schemeClr>
                </a:solidFill>
                <a:latin typeface="Calibri"/>
              </a:rPr>
              <a:t>veerud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 — </a:t>
            </a:r>
            <a:r>
              <a:rPr sz="1400" b="1" dirty="0" err="1">
                <a:solidFill>
                  <a:schemeClr val="accent4">
                    <a:lumMod val="75000"/>
                  </a:schemeClr>
                </a:solidFill>
                <a:latin typeface="Calibri"/>
              </a:rPr>
              <a:t>selgem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accent4">
                    <a:lumMod val="75000"/>
                  </a:schemeClr>
                </a:solidFill>
                <a:latin typeface="Calibri"/>
              </a:rPr>
              <a:t>tulemus</a:t>
            </a:r>
            <a:r>
              <a:rPr sz="14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86200"/>
            <a:ext cx="11430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91440" cy="233172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3995928"/>
            <a:ext cx="11064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Reegel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361688"/>
            <a:ext cx="1101852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334155"/>
                </a:solidFill>
                <a:latin typeface="Calibri"/>
              </a:rPr>
              <a:t>FROM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ütleb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millisest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tabelist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 </a:t>
            </a:r>
            <a:r>
              <a:rPr sz="1600" b="1" dirty="0">
                <a:solidFill>
                  <a:srgbClr val="334155"/>
                </a:solidFill>
                <a:latin typeface="Calibri"/>
              </a:rPr>
              <a:t>SELECT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ütleb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millised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veerud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ekraanile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tulevad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SQL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ole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tõstutundlik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: select ja SELECT on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sama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 Veeru- ja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tabelinimed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kirjuta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täpselt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nagu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failis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600" b="1" dirty="0">
                <a:solidFill>
                  <a:srgbClr val="FFFFFF"/>
                </a:solidFill>
                <a:latin typeface="Calibri"/>
              </a:rPr>
              <a:t>WHERE —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jäta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alles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ainult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sobivad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read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 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52728"/>
            <a:ext cx="1110081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SELECT *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800" b="0" dirty="0" err="1">
                <a:solidFill>
                  <a:srgbClr val="E2E8F0"/>
                </a:solidFill>
                <a:latin typeface="Consolas"/>
              </a:rPr>
              <a:t>kliendid</a:t>
            </a:r>
            <a:endParaRPr sz="1800" b="0" dirty="0">
              <a:solidFill>
                <a:srgbClr val="E2E8F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WHERE linn = 'Tallinn';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2608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dirty="0" err="1">
                <a:solidFill>
                  <a:srgbClr val="334155"/>
                </a:solidFill>
                <a:latin typeface="Calibri"/>
              </a:rPr>
              <a:t>võrdub</a:t>
            </a: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51960" y="292608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310896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&lt;&gt;  või  !=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ei võrdu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92608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&gt;  &lt;  &gt;=  &lt;=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suurem / väiksem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4805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dirty="0">
                <a:solidFill>
                  <a:srgbClr val="0F203E"/>
                </a:solidFill>
                <a:latin typeface="Calibri"/>
              </a:rPr>
              <a:t>BETWEEN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vahemik, sh otsad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4805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466344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IN (...)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6636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üks loetelust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4805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dirty="0">
                <a:solidFill>
                  <a:srgbClr val="0F203E"/>
                </a:solidFill>
                <a:latin typeface="Calibri"/>
              </a:rPr>
              <a:t>LIKE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6636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dirty="0">
                <a:solidFill>
                  <a:srgbClr val="334155"/>
                </a:solidFill>
                <a:latin typeface="Calibri"/>
              </a:rPr>
              <a:t>muster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tekstis</a:t>
            </a: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0BCEA9-412E-8861-16AA-6CE7C9C4B517}"/>
              </a:ext>
            </a:extLst>
          </p:cNvPr>
          <p:cNvSpPr txBox="1"/>
          <p:nvPr/>
        </p:nvSpPr>
        <p:spPr>
          <a:xfrm>
            <a:off x="457200" y="612380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dirty="0"/>
              <a:t>Tekst ja kuupäev jutumärkides. </a:t>
            </a:r>
            <a:r>
              <a:rPr lang="en-GB" sz="1600" dirty="0"/>
              <a:t>WHERE linn = “Tallinn”. </a:t>
            </a:r>
            <a:r>
              <a:rPr lang="fi-FI" sz="1600" dirty="0"/>
              <a:t>Number ilma. </a:t>
            </a:r>
            <a:endParaRPr lang="en-GB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600" b="1" dirty="0" err="1">
                <a:solidFill>
                  <a:srgbClr val="FFFFFF"/>
                </a:solidFill>
                <a:latin typeface="Calibri"/>
              </a:rPr>
              <a:t>Näide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: tooted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üle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100 €,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kallimad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ees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 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11430000" cy="2103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52728"/>
            <a:ext cx="11100816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SELECT *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WHERE hind &gt;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097280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WHERE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filtreerib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read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enne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sorteerimist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Kataloogis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on 15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toodet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;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osa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jääb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filtrist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välja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mälupulk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20 €,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hiir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95 €).</a:t>
            </a:r>
          </a:p>
          <a:p>
            <a:pPr>
              <a:spcAft>
                <a:spcPts val="10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Mänguritool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Razer (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Mööbel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) hind on 350 € —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jääb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sisse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5A84DC-016D-876F-7F3C-9589A50585DF}"/>
              </a:ext>
            </a:extLst>
          </p:cNvPr>
          <p:cNvCxnSpPr>
            <a:cxnSpLocks/>
          </p:cNvCxnSpPr>
          <p:nvPr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E58E3B-2E19-4E1A-1424-F363F528879B}"/>
              </a:ext>
            </a:extLst>
          </p:cNvPr>
          <p:cNvGrpSpPr/>
          <p:nvPr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C947EE5-A47A-FA34-2CBD-4360AB200E07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BCE457B-F1EF-C4A9-34E8-34D9944F0C6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600" b="1" dirty="0">
                <a:solidFill>
                  <a:srgbClr val="FFFFFF"/>
                </a:solidFill>
                <a:latin typeface="Calibri"/>
              </a:rPr>
              <a:t>AND, OR, IN —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mitu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tingimust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 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5760720" cy="2331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5431536" cy="213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SELECT *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FROM kliendid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WHERE nimi LIKE 'M%'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   OR linn = 'Tartu';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207007"/>
            <a:ext cx="5202936" cy="213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SELECT *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FROM tellimused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WHERE makseviis IN ('Apple Pay',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                    'Krediitkaart')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  AND kuupäev &gt;= '2026-03-01';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11880"/>
            <a:ext cx="57607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91440" cy="260604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721608"/>
            <a:ext cx="539495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AND vs 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87368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AND: kõik tingimused peavad kehtima.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OR: piisab ühest.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Sulud aitavad, kui loogika läheb tihedaks.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5321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611880"/>
            <a:ext cx="91440" cy="260604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3721608"/>
            <a:ext cx="516635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IN on loetelu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087368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IN ('A', 'B') on sama mis = 'A' OR = 'B'.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Kuupäev: '2026-03-01' tähendab alates 1. märtsist.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Makseviis kirjuta täpselt: Apple Pay (tühikuga).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LIKE —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otsi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mustriga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dirty="0">
                <a:solidFill>
                  <a:srgbClr val="0F203E"/>
                </a:solidFill>
                <a:latin typeface="Calibri"/>
              </a:rPr>
              <a:t>'M%'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280160"/>
            <a:ext cx="7589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7073"/>
                </a:solidFill>
                <a:latin typeface="Calibri"/>
              </a:rPr>
              <a:t>algab M-iga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Martin Sepp, Markus Mägi, Mari Kask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560320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79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dirty="0">
                <a:solidFill>
                  <a:srgbClr val="0F203E"/>
                </a:solidFill>
                <a:latin typeface="Calibri"/>
              </a:rPr>
              <a:t>'%Tamm'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697479"/>
            <a:ext cx="7589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7073"/>
                </a:solidFill>
                <a:latin typeface="Calibri"/>
              </a:rPr>
              <a:t>lõpeb Tamm-iga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Laura Tamm, Piret Tamm, Mari Tamm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77639"/>
            <a:ext cx="114300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dirty="0">
                <a:solidFill>
                  <a:srgbClr val="0F203E"/>
                </a:solidFill>
                <a:latin typeface="Calibri"/>
              </a:rPr>
              <a:t>'%</a:t>
            </a:r>
            <a:r>
              <a:rPr sz="2200" b="1" dirty="0" err="1">
                <a:solidFill>
                  <a:srgbClr val="0F203E"/>
                </a:solidFill>
                <a:latin typeface="Calibri"/>
              </a:rPr>
              <a:t>Sülearvuti</a:t>
            </a:r>
            <a:r>
              <a:rPr sz="2200" b="1" dirty="0">
                <a:solidFill>
                  <a:srgbClr val="0F203E"/>
                </a:solidFill>
                <a:latin typeface="Calibri"/>
              </a:rPr>
              <a:t>%'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114800"/>
            <a:ext cx="7589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7073"/>
                </a:solidFill>
                <a:latin typeface="Calibri"/>
              </a:rPr>
              <a:t>sisaldab sõna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Asus ZenBook, MacBook 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0972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b="0" dirty="0">
                <a:solidFill>
                  <a:srgbClr val="64748B"/>
                </a:solidFill>
                <a:latin typeface="Calibri"/>
              </a:rPr>
              <a:t>%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asendab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suvalise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arvu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märke</a:t>
            </a:r>
            <a:r>
              <a:rPr b="0" dirty="0">
                <a:solidFill>
                  <a:srgbClr val="64748B"/>
                </a:solidFill>
                <a:latin typeface="Calibri"/>
              </a:rPr>
              <a:t>.  _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asendab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täpselt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ühe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märgi</a:t>
            </a:r>
            <a:r>
              <a:rPr b="0" dirty="0">
                <a:solidFill>
                  <a:srgbClr val="64748B"/>
                </a:solidFill>
                <a:latin typeface="Calibri"/>
              </a:rPr>
              <a:t>.
LIKE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ei</a:t>
            </a:r>
            <a:r>
              <a:rPr b="0" dirty="0">
                <a:solidFill>
                  <a:srgbClr val="64748B"/>
                </a:solidFill>
                <a:latin typeface="Calibri"/>
              </a:rPr>
              <a:t> ole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mõnes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andmebaasis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tõstutundlik</a:t>
            </a:r>
            <a:r>
              <a:rPr b="0" dirty="0">
                <a:solidFill>
                  <a:srgbClr val="64748B"/>
                </a:solidFill>
                <a:latin typeface="Calibri"/>
              </a:rPr>
              <a:t>,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teises</a:t>
            </a:r>
            <a:r>
              <a:rPr b="0" dirty="0">
                <a:solidFill>
                  <a:srgbClr val="64748B"/>
                </a:solidFill>
                <a:latin typeface="Calibri"/>
              </a:rPr>
              <a:t> on —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proovi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oma</a:t>
            </a:r>
            <a:r>
              <a:rPr b="0" dirty="0">
                <a:solidFill>
                  <a:srgbClr val="64748B"/>
                </a:solidFill>
                <a:latin typeface="Calibri"/>
              </a:rPr>
              <a:t> </a:t>
            </a:r>
            <a:r>
              <a:rPr b="0" dirty="0" err="1">
                <a:solidFill>
                  <a:srgbClr val="64748B"/>
                </a:solidFill>
                <a:latin typeface="Calibri"/>
              </a:rPr>
              <a:t>keskkonnas</a:t>
            </a:r>
            <a:r>
              <a:rPr b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600" b="1" dirty="0">
                <a:solidFill>
                  <a:srgbClr val="FFFFFF"/>
                </a:solidFill>
                <a:latin typeface="Calibri"/>
              </a:rPr>
              <a:t>ORDER BY —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sorteerib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600" b="1" dirty="0" err="1">
                <a:solidFill>
                  <a:srgbClr val="FFFFFF"/>
                </a:solidFill>
                <a:latin typeface="Calibri"/>
              </a:rPr>
              <a:t>järjekorda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 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11430000" cy="1828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52728"/>
            <a:ext cx="1110081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SELECT *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FROM kliendid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WHERE liitumise_kuupäev &gt;= '2025-09-01'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2E8F0"/>
                </a:solidFill>
                <a:latin typeface="Consolas"/>
              </a:rPr>
              <a:t>ORDER BY liitumise_kuupäev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DESC = uuemad / suuremad ees. ASC = vanemad / väiksemad ees.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Võid sorteerida mitme veeru järgi: ORDER BY linn, nimi.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Sorteerimine ei muuda andmeid tabelis — ainult tulemuse vaadet.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Ilma ORDER BY-ta ei ole ridade järjekord garanteeritud.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E5AC14-D3BF-2D8B-BC80-FCF03E4CFD3A}"/>
              </a:ext>
            </a:extLst>
          </p:cNvPr>
          <p:cNvSpPr txBox="1"/>
          <p:nvPr/>
        </p:nvSpPr>
        <p:spPr>
          <a:xfrm>
            <a:off x="623888" y="1453020"/>
            <a:ext cx="5279474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2400" dirty="0">
                <a:solidFill>
                  <a:srgbClr val="334155"/>
                </a:solidFill>
                <a:latin typeface="Calibri"/>
              </a:rPr>
              <a:t>New SQL script</a:t>
            </a:r>
          </a:p>
          <a:p>
            <a:pPr>
              <a:spcAft>
                <a:spcPts val="400"/>
              </a:spcAft>
            </a:pPr>
            <a:endParaRPr lang="en-GB" sz="24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GB" sz="24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Kirjuta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SQL</a:t>
            </a:r>
          </a:p>
          <a:p>
            <a:pPr>
              <a:spcAft>
                <a:spcPts val="400"/>
              </a:spcAft>
            </a:pPr>
            <a:r>
              <a:rPr lang="en-GB" sz="2400" dirty="0" err="1">
                <a:solidFill>
                  <a:srgbClr val="334155"/>
                </a:solidFill>
                <a:latin typeface="Calibri"/>
              </a:rPr>
              <a:t>Selekteeri</a:t>
            </a:r>
            <a:r>
              <a:rPr lang="en-GB" sz="2400" dirty="0">
                <a:solidFill>
                  <a:srgbClr val="334155"/>
                </a:solidFill>
                <a:latin typeface="Calibri"/>
              </a:rPr>
              <a:t> SQL</a:t>
            </a:r>
          </a:p>
          <a:p>
            <a:pPr>
              <a:spcAft>
                <a:spcPts val="400"/>
              </a:spcAft>
            </a:pPr>
            <a:endParaRPr lang="en-GB" sz="24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Execute SQL query</a:t>
            </a:r>
            <a:endParaRPr sz="24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706337D-B3EA-4A8D-675A-F5B2664E9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944" y="1424083"/>
            <a:ext cx="4039164" cy="1781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81B711-9A09-0DE5-6257-B45878D79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631" y="3946524"/>
            <a:ext cx="2610214" cy="12955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B03FE48-6BE5-6A3A-114A-E987268C8C06}"/>
              </a:ext>
            </a:extLst>
          </p:cNvPr>
          <p:cNvSpPr txBox="1">
            <a:spLocks/>
          </p:cNvSpPr>
          <p:nvPr/>
        </p:nvSpPr>
        <p:spPr>
          <a:xfrm>
            <a:off x="623888" y="479570"/>
            <a:ext cx="10044112" cy="3570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spc="-150">
                <a:solidFill>
                  <a:schemeClr val="tx1"/>
                </a:solidFill>
                <a:latin typeface="+mj-lt"/>
                <a:ea typeface="Inter Semi Bold" panose="02000503000000020004" pitchFamily="2" charset="0"/>
                <a:cs typeface="Inter Semi Bold" panose="02000503000000020004" pitchFamily="2" charset="0"/>
              </a:defRPr>
            </a:lvl1pPr>
          </a:lstStyle>
          <a:p>
            <a:r>
              <a:rPr lang="en-GB" dirty="0"/>
              <a:t>SQL </a:t>
            </a:r>
            <a:r>
              <a:rPr lang="en-GB" dirty="0" err="1"/>
              <a:t>scripti</a:t>
            </a:r>
            <a:r>
              <a:rPr lang="en-GB" dirty="0"/>
              <a:t> </a:t>
            </a:r>
            <a:r>
              <a:rPr lang="en-GB" dirty="0" err="1"/>
              <a:t>kirjutamine</a:t>
            </a:r>
            <a:r>
              <a:rPr lang="en-GB" dirty="0"/>
              <a:t>: </a:t>
            </a:r>
            <a:r>
              <a:rPr lang="en-GB" b="1" dirty="0">
                <a:solidFill>
                  <a:srgbClr val="92D050"/>
                </a:solidFill>
                <a:latin typeface="Calibri"/>
              </a:rPr>
              <a:t>NÄITAN 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F81BA9A-910B-9D8C-604C-04FA54C35757}"/>
              </a:ext>
            </a:extLst>
          </p:cNvPr>
          <p:cNvSpPr/>
          <p:nvPr/>
        </p:nvSpPr>
        <p:spPr>
          <a:xfrm>
            <a:off x="5505450" y="3952394"/>
            <a:ext cx="723900" cy="476731"/>
          </a:xfrm>
          <a:custGeom>
            <a:avLst/>
            <a:gdLst>
              <a:gd name="csX0" fmla="*/ 704850 w 723900"/>
              <a:gd name="csY0" fmla="*/ 210031 h 476731"/>
              <a:gd name="csX1" fmla="*/ 247650 w 723900"/>
              <a:gd name="csY1" fmla="*/ 19531 h 476731"/>
              <a:gd name="csX2" fmla="*/ 114300 w 723900"/>
              <a:gd name="csY2" fmla="*/ 481 h 476731"/>
              <a:gd name="csX3" fmla="*/ 19050 w 723900"/>
              <a:gd name="csY3" fmla="*/ 10006 h 476731"/>
              <a:gd name="csX4" fmla="*/ 9525 w 723900"/>
              <a:gd name="csY4" fmla="*/ 67156 h 476731"/>
              <a:gd name="csX5" fmla="*/ 0 w 723900"/>
              <a:gd name="csY5" fmla="*/ 105256 h 476731"/>
              <a:gd name="csX6" fmla="*/ 47625 w 723900"/>
              <a:gd name="csY6" fmla="*/ 229081 h 476731"/>
              <a:gd name="csX7" fmla="*/ 361950 w 723900"/>
              <a:gd name="csY7" fmla="*/ 429106 h 476731"/>
              <a:gd name="csX8" fmla="*/ 466725 w 723900"/>
              <a:gd name="csY8" fmla="*/ 476731 h 476731"/>
              <a:gd name="csX9" fmla="*/ 714375 w 723900"/>
              <a:gd name="csY9" fmla="*/ 400531 h 476731"/>
              <a:gd name="csX10" fmla="*/ 723900 w 723900"/>
              <a:gd name="csY10" fmla="*/ 362431 h 476731"/>
              <a:gd name="csX11" fmla="*/ 714375 w 723900"/>
              <a:gd name="csY11" fmla="*/ 248131 h 476731"/>
              <a:gd name="csX12" fmla="*/ 695325 w 723900"/>
              <a:gd name="csY12" fmla="*/ 200506 h 476731"/>
              <a:gd name="csX13" fmla="*/ 676275 w 723900"/>
              <a:gd name="csY13" fmla="*/ 162406 h 476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723900" h="476731">
                <a:moveTo>
                  <a:pt x="704850" y="210031"/>
                </a:moveTo>
                <a:cubicBezTo>
                  <a:pt x="553339" y="139687"/>
                  <a:pt x="409711" y="62430"/>
                  <a:pt x="247650" y="19531"/>
                </a:cubicBezTo>
                <a:cubicBezTo>
                  <a:pt x="204244" y="8041"/>
                  <a:pt x="158750" y="6831"/>
                  <a:pt x="114300" y="481"/>
                </a:cubicBezTo>
                <a:cubicBezTo>
                  <a:pt x="82550" y="3656"/>
                  <a:pt x="45970" y="-7125"/>
                  <a:pt x="19050" y="10006"/>
                </a:cubicBezTo>
                <a:cubicBezTo>
                  <a:pt x="2757" y="20375"/>
                  <a:pt x="13313" y="48218"/>
                  <a:pt x="9525" y="67156"/>
                </a:cubicBezTo>
                <a:cubicBezTo>
                  <a:pt x="6958" y="79993"/>
                  <a:pt x="3175" y="92556"/>
                  <a:pt x="0" y="105256"/>
                </a:cubicBezTo>
                <a:cubicBezTo>
                  <a:pt x="15875" y="146531"/>
                  <a:pt x="25684" y="190685"/>
                  <a:pt x="47625" y="229081"/>
                </a:cubicBezTo>
                <a:cubicBezTo>
                  <a:pt x="112927" y="343360"/>
                  <a:pt x="252706" y="377085"/>
                  <a:pt x="361950" y="429106"/>
                </a:cubicBezTo>
                <a:cubicBezTo>
                  <a:pt x="472850" y="481916"/>
                  <a:pt x="386987" y="456797"/>
                  <a:pt x="466725" y="476731"/>
                </a:cubicBezTo>
                <a:cubicBezTo>
                  <a:pt x="637293" y="461225"/>
                  <a:pt x="657538" y="514206"/>
                  <a:pt x="714375" y="400531"/>
                </a:cubicBezTo>
                <a:cubicBezTo>
                  <a:pt x="720229" y="388822"/>
                  <a:pt x="720725" y="375131"/>
                  <a:pt x="723900" y="362431"/>
                </a:cubicBezTo>
                <a:cubicBezTo>
                  <a:pt x="720725" y="324331"/>
                  <a:pt x="721019" y="285781"/>
                  <a:pt x="714375" y="248131"/>
                </a:cubicBezTo>
                <a:cubicBezTo>
                  <a:pt x="711404" y="231293"/>
                  <a:pt x="702269" y="216130"/>
                  <a:pt x="695325" y="200506"/>
                </a:cubicBezTo>
                <a:cubicBezTo>
                  <a:pt x="689558" y="187531"/>
                  <a:pt x="676275" y="162406"/>
                  <a:pt x="676275" y="162406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784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7986680-582A-72C2-427F-8FCE00CB185D}"/>
              </a:ext>
            </a:extLst>
          </p:cNvPr>
          <p:cNvSpPr txBox="1">
            <a:spLocks/>
          </p:cNvSpPr>
          <p:nvPr/>
        </p:nvSpPr>
        <p:spPr>
          <a:xfrm>
            <a:off x="623888" y="1268413"/>
            <a:ext cx="10941050" cy="44656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GB" sz="1800" b="1" dirty="0" err="1">
                <a:latin typeface="Consolas"/>
              </a:rPr>
              <a:t>Ühe</a:t>
            </a:r>
            <a:r>
              <a:rPr lang="en-GB" sz="1800" b="1" dirty="0">
                <a:latin typeface="Consolas"/>
              </a:rPr>
              <a:t> rea </a:t>
            </a:r>
            <a:r>
              <a:rPr lang="en-GB" sz="1800" b="1" dirty="0" err="1">
                <a:latin typeface="Consolas"/>
              </a:rPr>
              <a:t>kommenteerimine</a:t>
            </a:r>
            <a:endParaRPr lang="en-GB" sz="1800" b="1" dirty="0">
              <a:latin typeface="Consolas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GB" sz="1800" dirty="0">
                <a:latin typeface="Consolas"/>
              </a:rPr>
              <a:t>SELECT </a:t>
            </a:r>
            <a:r>
              <a:rPr lang="en-GB" sz="1800" dirty="0" err="1">
                <a:latin typeface="Consolas"/>
              </a:rPr>
              <a:t>nimetus</a:t>
            </a:r>
            <a:r>
              <a:rPr lang="en-GB" sz="1800" dirty="0">
                <a:latin typeface="Consolas"/>
              </a:rPr>
              <a:t>, hind,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sz="1800" dirty="0">
                <a:latin typeface="Consolas"/>
              </a:rPr>
              <a:t>       CASE </a:t>
            </a:r>
            <a:r>
              <a:rPr lang="en-GB" sz="1800" i="1" dirty="0">
                <a:latin typeface="Consolas"/>
              </a:rPr>
              <a:t>---</a:t>
            </a:r>
            <a:r>
              <a:rPr lang="en-GB" sz="1800" i="1" dirty="0" err="1">
                <a:latin typeface="Consolas"/>
              </a:rPr>
              <a:t>liigitan</a:t>
            </a:r>
            <a:r>
              <a:rPr lang="en-GB" sz="1800" i="1" dirty="0">
                <a:latin typeface="Consolas"/>
              </a:rPr>
              <a:t> tooted </a:t>
            </a:r>
            <a:r>
              <a:rPr lang="en-GB" sz="1800" i="1" dirty="0" err="1">
                <a:latin typeface="Consolas"/>
              </a:rPr>
              <a:t>hinna</a:t>
            </a:r>
            <a:r>
              <a:rPr lang="en-GB" sz="1800" i="1" dirty="0">
                <a:latin typeface="Consolas"/>
              </a:rPr>
              <a:t> </a:t>
            </a:r>
            <a:r>
              <a:rPr lang="en-GB" sz="1800" i="1" dirty="0" err="1">
                <a:latin typeface="Consolas"/>
              </a:rPr>
              <a:t>alusel</a:t>
            </a:r>
            <a:endParaRPr lang="en-GB" sz="1800" i="1" dirty="0">
              <a:latin typeface="Consolas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GB" sz="1800" dirty="0">
                <a:latin typeface="Consolas"/>
              </a:rPr>
              <a:t>           WHEN hind &lt; 100 THEN 'Odav'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sz="1800" dirty="0">
                <a:latin typeface="Consolas"/>
              </a:rPr>
              <a:t>           WHEN hind BETWEEN 100 AND 500 THEN '</a:t>
            </a:r>
            <a:r>
              <a:rPr lang="en-GB" sz="1800" dirty="0" err="1">
                <a:latin typeface="Consolas"/>
              </a:rPr>
              <a:t>Kesklahendus</a:t>
            </a:r>
            <a:r>
              <a:rPr lang="en-GB" sz="1800" dirty="0">
                <a:latin typeface="Consolas"/>
              </a:rPr>
              <a:t>'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sz="1800" dirty="0">
                <a:latin typeface="Consolas"/>
              </a:rPr>
              <a:t>           ELSE 'Premium'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sz="1800" dirty="0">
                <a:latin typeface="Consolas"/>
              </a:rPr>
              <a:t>       END AS </a:t>
            </a:r>
            <a:r>
              <a:rPr lang="en-GB" sz="1800" dirty="0" err="1">
                <a:latin typeface="Consolas"/>
              </a:rPr>
              <a:t>hinnaklass</a:t>
            </a:r>
            <a:endParaRPr lang="en-GB" sz="1800" dirty="0">
              <a:latin typeface="Consolas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GB" sz="1800" dirty="0">
                <a:latin typeface="Consolas"/>
              </a:rPr>
              <a:t>FROM tooted;</a:t>
            </a:r>
          </a:p>
          <a:p>
            <a:pPr marL="0" indent="0">
              <a:spcAft>
                <a:spcPts val="300"/>
              </a:spcAft>
              <a:buNone/>
            </a:pPr>
            <a:endParaRPr lang="en-GB" sz="1800" dirty="0">
              <a:latin typeface="Consolas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GB" sz="1800" b="1" dirty="0" err="1">
                <a:latin typeface="Consolas"/>
              </a:rPr>
              <a:t>Terve</a:t>
            </a:r>
            <a:r>
              <a:rPr lang="en-GB" sz="1800" b="1" dirty="0">
                <a:latin typeface="Consolas"/>
              </a:rPr>
              <a:t> </a:t>
            </a:r>
            <a:r>
              <a:rPr lang="en-GB" sz="1800" b="1" dirty="0" err="1">
                <a:latin typeface="Consolas"/>
              </a:rPr>
              <a:t>bloki</a:t>
            </a:r>
            <a:r>
              <a:rPr lang="en-GB" sz="1800" b="1" dirty="0">
                <a:latin typeface="Consolas"/>
              </a:rPr>
              <a:t> </a:t>
            </a:r>
            <a:r>
              <a:rPr lang="en-GB" sz="1800" b="1" dirty="0" err="1">
                <a:latin typeface="Consolas"/>
              </a:rPr>
              <a:t>välja</a:t>
            </a:r>
            <a:r>
              <a:rPr lang="en-GB" sz="1800" b="1" dirty="0">
                <a:latin typeface="Consolas"/>
              </a:rPr>
              <a:t> </a:t>
            </a:r>
            <a:r>
              <a:rPr lang="en-GB" sz="1800" b="1" dirty="0" err="1">
                <a:latin typeface="Consolas"/>
              </a:rPr>
              <a:t>kommenteerimine</a:t>
            </a:r>
            <a:endParaRPr lang="en-GB" sz="1800" b="1" dirty="0">
              <a:latin typeface="Consolas"/>
            </a:endParaRPr>
          </a:p>
          <a:p>
            <a:pPr marL="0" indent="0">
              <a:buNone/>
            </a:pPr>
            <a:r>
              <a:rPr lang="en-GB" dirty="0"/>
              <a:t>/*</a:t>
            </a:r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nimi</a:t>
            </a:r>
            <a:r>
              <a:rPr lang="en-GB" dirty="0"/>
              <a:t>, linn</a:t>
            </a:r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kliendid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*/</a:t>
            </a:r>
          </a:p>
          <a:p>
            <a:pPr>
              <a:spcAft>
                <a:spcPts val="300"/>
              </a:spcAft>
            </a:pPr>
            <a:endParaRPr lang="en-GB" sz="1800" dirty="0">
              <a:latin typeface="Consola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BA1A59C-073D-9F9C-69D9-05A17838B36C}"/>
              </a:ext>
            </a:extLst>
          </p:cNvPr>
          <p:cNvSpPr txBox="1">
            <a:spLocks/>
          </p:cNvSpPr>
          <p:nvPr/>
        </p:nvSpPr>
        <p:spPr>
          <a:xfrm>
            <a:off x="623888" y="479570"/>
            <a:ext cx="10044112" cy="3570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spc="-150">
                <a:solidFill>
                  <a:schemeClr val="tx1"/>
                </a:solidFill>
                <a:latin typeface="+mj-lt"/>
                <a:ea typeface="Inter Semi Bold" panose="02000503000000020004" pitchFamily="2" charset="0"/>
                <a:cs typeface="Inter Semi Bold" panose="02000503000000020004" pitchFamily="2" charset="0"/>
              </a:defRPr>
            </a:lvl1pPr>
          </a:lstStyle>
          <a:p>
            <a:r>
              <a:rPr lang="en-GB" dirty="0"/>
              <a:t>SQL </a:t>
            </a:r>
            <a:r>
              <a:rPr lang="en-GB" dirty="0" err="1"/>
              <a:t>treppimine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kommenteerimine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1787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1.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päev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harjutused</a:t>
            </a:r>
            <a:r>
              <a:rPr lang="en-GB"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alibri"/>
              </a:rPr>
              <a:t>ISE</a:t>
            </a:r>
            <a:endParaRPr sz="26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SQL koolitus  ·  1. päev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56692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91440" cy="43434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801368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b="1" dirty="0">
                <a:solidFill>
                  <a:srgbClr val="0F203E"/>
                </a:solidFill>
                <a:latin typeface="Calibri"/>
              </a:rPr>
              <a:t>Tase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67128"/>
            <a:ext cx="52578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1. Kuva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kõikide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klientide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nimed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linnad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Sorteeri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linna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.</a:t>
            </a:r>
            <a:endParaRPr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2. Leia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kelle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linn on Tallinn.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Sorteeri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nime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.</a:t>
            </a:r>
            <a:endParaRPr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3. Kuva tooted,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mille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hind &gt; 100 €,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hinna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kahanevalt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  <a:endParaRPr lang="en-GB"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GB" sz="1600" dirty="0">
              <a:solidFill>
                <a:srgbClr val="334155"/>
              </a:solidFill>
              <a:latin typeface="Calibri"/>
            </a:endParaRPr>
          </a:p>
          <a:p>
            <a:pPr marL="457200" indent="-457200">
              <a:spcAft>
                <a:spcPts val="400"/>
              </a:spcAft>
              <a:buAutoNum type="arabicPeriod"/>
            </a:pPr>
            <a:r>
              <a:rPr lang="en-GB" sz="1600" b="0" dirty="0">
                <a:solidFill>
                  <a:srgbClr val="334155"/>
                </a:solidFill>
                <a:latin typeface="Calibri"/>
              </a:rPr>
              <a:t>Mitu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klienti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457200" indent="-457200">
              <a:spcAft>
                <a:spcPts val="400"/>
              </a:spcAft>
              <a:buAutoNum type="arabicPeriod"/>
            </a:pPr>
            <a:r>
              <a:rPr lang="en-GB" sz="1600" dirty="0">
                <a:solidFill>
                  <a:srgbClr val="334155"/>
                </a:solidFill>
                <a:latin typeface="Calibri"/>
              </a:rPr>
              <a:t>Mitu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klienti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(Tallinn)?</a:t>
            </a:r>
          </a:p>
          <a:p>
            <a:pPr marL="457200" indent="-457200">
              <a:spcAft>
                <a:spcPts val="400"/>
              </a:spcAft>
              <a:buAutoNum type="arabicPeriod"/>
            </a:pPr>
            <a:r>
              <a:rPr lang="en-GB" sz="1600" b="0" dirty="0">
                <a:solidFill>
                  <a:srgbClr val="334155"/>
                </a:solidFill>
                <a:latin typeface="Calibri"/>
              </a:rPr>
              <a:t>Mitu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toodet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?</a:t>
            </a: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5321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91440" cy="4343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801368"/>
            <a:ext cx="516635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dirty="0">
                <a:solidFill>
                  <a:srgbClr val="0F203E"/>
                </a:solidFill>
                <a:latin typeface="Calibri"/>
              </a:rPr>
              <a:t>Tase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167128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1.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kelle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nimi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algab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M-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iga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VÕI linn on Tartu.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2.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kus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makseviis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on Apple Pay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Krediitkaart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kuupäev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alates 2026-03-01.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19DA89-AC10-EA19-846D-E3B3F40FED28}"/>
              </a:ext>
            </a:extLst>
          </p:cNvPr>
          <p:cNvSpPr txBox="1"/>
          <p:nvPr/>
        </p:nvSpPr>
        <p:spPr>
          <a:xfrm>
            <a:off x="4852797" y="1060591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Trepi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kommenteeri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kood</a:t>
            </a:r>
            <a:endParaRPr sz="2000" b="0" dirty="0">
              <a:solidFill>
                <a:srgbClr val="3341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1FB04-20D6-D9EC-1CE7-A20E2D37F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Võimalused</a:t>
            </a:r>
            <a:r>
              <a:rPr lang="en-GB" dirty="0"/>
              <a:t> SQL-I </a:t>
            </a:r>
            <a:r>
              <a:rPr lang="en-GB" dirty="0" err="1"/>
              <a:t>harjutada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praktiseerida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863ED-DF6A-0F8A-E78F-A0793F9857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400" dirty="0">
                <a:hlinkClick r:id="rId2"/>
              </a:rPr>
              <a:t>https://sqliteviz.com/app</a:t>
            </a:r>
            <a:br>
              <a:rPr lang="en-GB" sz="2400" dirty="0"/>
            </a:br>
            <a:r>
              <a:rPr lang="en-GB" sz="2400" dirty="0"/>
              <a:t>Kui </a:t>
            </a:r>
            <a:r>
              <a:rPr lang="en-GB" sz="2400" dirty="0" err="1"/>
              <a:t>tahad</a:t>
            </a:r>
            <a:r>
              <a:rPr lang="en-GB" sz="2400" dirty="0"/>
              <a:t> </a:t>
            </a:r>
            <a:r>
              <a:rPr lang="en-GB" sz="2400" dirty="0" err="1"/>
              <a:t>harjutada</a:t>
            </a:r>
            <a:r>
              <a:rPr lang="en-GB" sz="2400" dirty="0"/>
              <a:t>, </a:t>
            </a:r>
            <a:r>
              <a:rPr lang="en-GB" sz="2400" dirty="0" err="1"/>
              <a:t>kuid</a:t>
            </a:r>
            <a:r>
              <a:rPr lang="en-GB" sz="2400" dirty="0"/>
              <a:t> pole </a:t>
            </a:r>
            <a:r>
              <a:rPr lang="en-GB" sz="2400" dirty="0" err="1"/>
              <a:t>arvutis</a:t>
            </a:r>
            <a:r>
              <a:rPr lang="en-GB" sz="2400" dirty="0"/>
              <a:t> </a:t>
            </a:r>
            <a:r>
              <a:rPr lang="en-GB" sz="2400" dirty="0" err="1"/>
              <a:t>andmebaasi</a:t>
            </a:r>
            <a:r>
              <a:rPr lang="en-GB" sz="2400" dirty="0"/>
              <a:t> </a:t>
            </a:r>
            <a:r>
              <a:rPr lang="en-GB" sz="2400" dirty="0" err="1"/>
              <a:t>ja</a:t>
            </a:r>
            <a:r>
              <a:rPr lang="en-GB" sz="2400" dirty="0"/>
              <a:t> </a:t>
            </a:r>
            <a:r>
              <a:rPr lang="en-GB" sz="2400" dirty="0" err="1"/>
              <a:t>pilvebaasidele</a:t>
            </a:r>
            <a:r>
              <a:rPr lang="en-GB" sz="2400" dirty="0"/>
              <a:t> pole </a:t>
            </a:r>
            <a:r>
              <a:rPr lang="en-GB" sz="2400" dirty="0" err="1"/>
              <a:t>ligipääsu</a:t>
            </a:r>
            <a:endParaRPr lang="en-GB" sz="2400" dirty="0"/>
          </a:p>
          <a:p>
            <a:r>
              <a:rPr lang="en-GB" sz="2400" b="1" dirty="0"/>
              <a:t>PostgreSQL </a:t>
            </a:r>
            <a:r>
              <a:rPr lang="en-GB" sz="2400" b="1" dirty="0" err="1"/>
              <a:t>pgAdmin</a:t>
            </a:r>
            <a:endParaRPr lang="en-GB" sz="2400" b="1" dirty="0"/>
          </a:p>
          <a:p>
            <a:r>
              <a:rPr lang="en-GB" sz="2400" b="1" dirty="0" err="1"/>
              <a:t>Dbeaver</a:t>
            </a:r>
            <a:endParaRPr lang="en-GB" sz="2400" b="1" dirty="0"/>
          </a:p>
          <a:p>
            <a:r>
              <a:rPr lang="en-GB" sz="2400" dirty="0"/>
              <a:t>MS SQL Server Management Studio</a:t>
            </a:r>
          </a:p>
          <a:p>
            <a:r>
              <a:rPr lang="en-GB" sz="2400" dirty="0" err="1"/>
              <a:t>Pilveandmebaasid</a:t>
            </a:r>
            <a:endParaRPr lang="en-GB" sz="2400" dirty="0"/>
          </a:p>
          <a:p>
            <a:pPr lvl="1"/>
            <a:r>
              <a:rPr lang="en-GB" sz="2400" dirty="0"/>
              <a:t>Snowflake</a:t>
            </a:r>
          </a:p>
          <a:p>
            <a:pPr lvl="1"/>
            <a:r>
              <a:rPr lang="en-GB" sz="2400" dirty="0"/>
              <a:t>Microsoft Fabric Lakehouse, Warehouse, Fabric IQ …..</a:t>
            </a:r>
          </a:p>
        </p:txBody>
      </p:sp>
    </p:spTree>
    <p:extLst>
      <p:ext uri="{BB962C8B-B14F-4D97-AF65-F5344CB8AC3E}">
        <p14:creationId xmlns:p14="http://schemas.microsoft.com/office/powerpoint/2010/main" val="2779306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9E23-325B-FBA2-1EF5-41153F1F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8721C-D277-0541-FE4C-57FDB56A06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979AC4-FC3A-C148-1B50-62D394967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761470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82FD-643F-6AFD-B782-B19E179EA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Põhilised</a:t>
            </a:r>
            <a:r>
              <a:rPr lang="en-US" dirty="0"/>
              <a:t> </a:t>
            </a:r>
            <a:r>
              <a:rPr lang="en-US" dirty="0" err="1"/>
              <a:t>andmetüübid</a:t>
            </a:r>
            <a:r>
              <a:rPr lang="en-US" dirty="0"/>
              <a:t> PostgreSQL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5113B-F938-FA92-45B7-A088D0CA45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INT - </a:t>
            </a:r>
            <a:r>
              <a:rPr lang="en-US" sz="2400" dirty="0" err="1">
                <a:ea typeface="Inter"/>
              </a:rPr>
              <a:t>täisnumber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>
                <a:ea typeface="Inter"/>
              </a:rPr>
              <a:t>NUMERIC (x, y) - </a:t>
            </a:r>
            <a:r>
              <a:rPr lang="en-US" sz="2400" dirty="0" err="1">
                <a:ea typeface="Inter"/>
              </a:rPr>
              <a:t>komakohtadega</a:t>
            </a:r>
            <a:r>
              <a:rPr lang="en-US" sz="2400" dirty="0">
                <a:ea typeface="Inter"/>
              </a:rPr>
              <a:t> number, </a:t>
            </a:r>
            <a:r>
              <a:rPr lang="en-US" sz="2400" dirty="0" err="1">
                <a:ea typeface="Inter"/>
              </a:rPr>
              <a:t>kus</a:t>
            </a:r>
            <a:r>
              <a:rPr lang="en-US" sz="2400" dirty="0">
                <a:ea typeface="Inter"/>
              </a:rPr>
              <a:t> x </a:t>
            </a:r>
            <a:r>
              <a:rPr lang="en-US" sz="2400" dirty="0" err="1">
                <a:ea typeface="Inter"/>
              </a:rPr>
              <a:t>täpsustab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tulba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ja y </a:t>
            </a:r>
            <a:r>
              <a:rPr lang="en-US" sz="2400" dirty="0" err="1">
                <a:ea typeface="Inter"/>
              </a:rPr>
              <a:t>komakohtade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arvu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nt</a:t>
            </a:r>
            <a:r>
              <a:rPr lang="en-US" sz="2400" dirty="0">
                <a:ea typeface="Inter"/>
              </a:rPr>
              <a:t> 100,55 </a:t>
            </a:r>
            <a:r>
              <a:rPr lang="en-US" sz="2400" dirty="0" err="1">
                <a:ea typeface="Inter"/>
              </a:rPr>
              <a:t>oleks</a:t>
            </a:r>
            <a:r>
              <a:rPr lang="en-US" sz="2400" dirty="0">
                <a:ea typeface="Inter"/>
              </a:rPr>
              <a:t> NUMERIC(5,2)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TEXT –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piiranguteta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tekstiväli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VARCHAR (n) -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piiranguga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tekstiväli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kus</a:t>
            </a:r>
            <a:r>
              <a:rPr lang="en-US" sz="2400" dirty="0">
                <a:ea typeface="Inter"/>
              </a:rPr>
              <a:t> n </a:t>
            </a:r>
            <a:r>
              <a:rPr lang="en-US" sz="2400" dirty="0" err="1">
                <a:ea typeface="Inter"/>
              </a:rPr>
              <a:t>tähistab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välja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pikkust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BOOLEAN – </a:t>
            </a:r>
            <a:r>
              <a:rPr lang="en-US" sz="2400" dirty="0" err="1">
                <a:ea typeface="Inter"/>
              </a:rPr>
              <a:t>kahe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väärtusega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väli</a:t>
            </a:r>
            <a:r>
              <a:rPr lang="en-US" sz="2400" dirty="0">
                <a:ea typeface="Inter"/>
              </a:rPr>
              <a:t>, TRUE, FALSE ja </a:t>
            </a:r>
            <a:r>
              <a:rPr lang="en-US" sz="2400" dirty="0" err="1">
                <a:ea typeface="Inter"/>
              </a:rPr>
              <a:t>tühiväärtus</a:t>
            </a:r>
            <a:r>
              <a:rPr lang="en-US" sz="2400" dirty="0">
                <a:ea typeface="Inter"/>
              </a:rPr>
              <a:t> (NULL)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DATE - </a:t>
            </a:r>
            <a:r>
              <a:rPr lang="en-US" sz="2400" dirty="0" err="1">
                <a:ea typeface="Inter"/>
              </a:rPr>
              <a:t>kuupäev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TIMESTAMP - </a:t>
            </a:r>
            <a:r>
              <a:rPr lang="en-US" sz="2400" dirty="0" err="1">
                <a:ea typeface="Inter"/>
              </a:rPr>
              <a:t>kuupäev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kellaajaga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Dokumentatsioon</a:t>
            </a:r>
            <a:r>
              <a:rPr lang="en-US" sz="2400" dirty="0">
                <a:ea typeface="Inter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a typeface="Inter"/>
                <a:hlinkClick r:id="rId2"/>
              </a:rPr>
              <a:t>https://www.postgresql.org/docs/current/datatype.html</a:t>
            </a:r>
            <a:r>
              <a:rPr lang="en-US" sz="2400" dirty="0">
                <a:ea typeface="Inter"/>
              </a:rPr>
              <a:t>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3806120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2021</Words>
  <Application>Microsoft Office PowerPoint</Application>
  <PresentationFormat>Widescreen</PresentationFormat>
  <Paragraphs>353</Paragraphs>
  <Slides>37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Calibri</vt:lpstr>
      <vt:lpstr>Inter</vt:lpstr>
      <vt:lpstr>Consolas</vt:lpstr>
      <vt:lpstr>Wingdings</vt:lpstr>
      <vt:lpstr>Poppins SemiBold</vt:lpstr>
      <vt:lpstr>Inter Bold</vt:lpstr>
      <vt:lpstr>Courier New</vt:lpstr>
      <vt:lpstr>Arial</vt:lpstr>
      <vt:lpstr>BCS</vt:lpstr>
      <vt:lpstr>Vali Andmetarkus!</vt:lpstr>
      <vt:lpstr>Tagasiside</vt:lpstr>
      <vt:lpstr>2 . nädala plaan</vt:lpstr>
      <vt:lpstr>Päevakava - VI päev</vt:lpstr>
      <vt:lpstr>Andmebaasid</vt:lpstr>
      <vt:lpstr>Andmebaasimootor</vt:lpstr>
      <vt:lpstr>Andmebaas: tabelid, read ja veerud</vt:lpstr>
      <vt:lpstr>Relatsiooniline andmebaas</vt:lpstr>
      <vt:lpstr>Mitte-relatsiooniline andmebaas</vt:lpstr>
      <vt:lpstr>SQL </vt:lpstr>
      <vt:lpstr>SQL on endiselt peamine päringute keel</vt:lpstr>
      <vt:lpstr>SQL – päringu kirjutamise programmid</vt:lpstr>
      <vt:lpstr>SQL –  päringu teostamise järjekord</vt:lpstr>
      <vt:lpstr>Postgre andmebaas</vt:lpstr>
      <vt:lpstr>Dbeaver ühenduse loomine andmebaasiga: teeme koos läbi</vt:lpstr>
      <vt:lpstr>Dbeaver ja andmete import: teeme koos läbi</vt:lpstr>
      <vt:lpstr>Tulemus</vt:lpstr>
      <vt:lpstr>PowerPoint Presentation</vt:lpstr>
      <vt:lpstr>Tabelite loomine SQL abil NÄITAN</vt:lpstr>
      <vt:lpstr>Tee ISE läbi 4 tabeli loomine ja kontrolli tulemust</vt:lpstr>
      <vt:lpstr>PowerPoint Presentation</vt:lpstr>
      <vt:lpstr>Impordime andmed: NÄITAN</vt:lpstr>
      <vt:lpstr>Tee ISE läbi: lae githubist alla, impordi 4 tabelit ja kontrolli</vt:lpstr>
      <vt:lpstr>Paus 10:30-10:45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Võimalused SQL-I harjutada ja praktiseerida</vt:lpstr>
      <vt:lpstr>Lõunapaus 12:15-13:15</vt:lpstr>
      <vt:lpstr>Põhilised andmetüübid PostgreSQL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53</cp:revision>
  <dcterms:created xsi:type="dcterms:W3CDTF">2021-08-27T11:35:28Z</dcterms:created>
  <dcterms:modified xsi:type="dcterms:W3CDTF">2026-09-07T05:55:45Z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