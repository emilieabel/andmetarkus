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417" r:id="rId5"/>
    <p:sldId id="481" r:id="rId6"/>
    <p:sldId id="467" r:id="rId7"/>
    <p:sldId id="465" r:id="rId8"/>
    <p:sldId id="466" r:id="rId9"/>
    <p:sldId id="468" r:id="rId10"/>
    <p:sldId id="469" r:id="rId11"/>
    <p:sldId id="554" r:id="rId12"/>
    <p:sldId id="488" r:id="rId13"/>
    <p:sldId id="545" r:id="rId14"/>
    <p:sldId id="547" r:id="rId15"/>
    <p:sldId id="548" r:id="rId16"/>
    <p:sldId id="546" r:id="rId17"/>
    <p:sldId id="550" r:id="rId18"/>
    <p:sldId id="549" r:id="rId19"/>
    <p:sldId id="551" r:id="rId20"/>
    <p:sldId id="464" r:id="rId21"/>
    <p:sldId id="553" r:id="rId22"/>
  </p:sldIdLst>
  <p:sldSz cx="12192000" cy="6858000"/>
  <p:notesSz cx="6858000" cy="9144000"/>
  <p:embeddedFontLst>
    <p:embeddedFont>
      <p:font typeface="Inter" panose="020B0604020202020204" charset="0"/>
      <p:regular r:id="rId25"/>
      <p:bold r:id="rId26"/>
    </p:embeddedFont>
    <p:embeddedFont>
      <p:font typeface="Inter Bold" panose="020B0604020202020204" charset="0"/>
      <p:bold r:id="rId27"/>
    </p:embeddedFont>
    <p:embeddedFont>
      <p:font typeface="Poppins SemiBold" panose="00000700000000000000" pitchFamily="2" charset="0"/>
      <p:bold r:id="rId28"/>
      <p:boldItalic r:id="rId2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84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2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3.fntdata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07.204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8:07.204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03.980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07.204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04.09.2026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app" TargetMode="Externa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57172732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SQL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kirjeldamiseks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ühendamine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err="1"/>
              <a:t>Andmebaasid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 = </a:t>
            </a:r>
            <a:r>
              <a:rPr lang="en-US" sz="2400" dirty="0" err="1">
                <a:ea typeface="Inter"/>
              </a:rPr>
              <a:t>masiloetav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süsteemne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kogum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Asukoht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lokaalne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kohalik</a:t>
            </a:r>
            <a:r>
              <a:rPr lang="en-US" sz="2400" dirty="0">
                <a:ea typeface="Inter"/>
              </a:rPr>
              <a:t> (on-prem) server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pilveserver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tabelites</a:t>
            </a:r>
            <a:r>
              <a:rPr lang="en-US" sz="2000" dirty="0">
                <a:ea typeface="Inter"/>
              </a:rPr>
              <a:t> – </a:t>
            </a:r>
            <a:r>
              <a:rPr lang="en-US" sz="2000" dirty="0" err="1">
                <a:ea typeface="Inter"/>
              </a:rPr>
              <a:t>ridades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objektid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tulpades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objektide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atribuudid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ID </a:t>
            </a:r>
            <a:r>
              <a:rPr lang="en-US" sz="2000" dirty="0" err="1">
                <a:ea typeface="Inter"/>
              </a:rPr>
              <a:t>tulpade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alusel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ühendada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SQL – Structured Query Language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erinevaid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käsitleme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kolme</a:t>
            </a:r>
            <a:r>
              <a:rPr lang="en-US" sz="24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</a:rPr>
              <a:t>sqliteviz</a:t>
            </a:r>
            <a:r>
              <a:rPr lang="en-US" sz="2000" dirty="0">
                <a:ea typeface="+mn-lt"/>
                <a:cs typeface="+mn-lt"/>
              </a:rPr>
              <a:t> - </a:t>
            </a:r>
            <a:r>
              <a:rPr lang="en-US" sz="2000" dirty="0" err="1">
                <a:ea typeface="+mn-lt"/>
                <a:cs typeface="+mn-lt"/>
              </a:rPr>
              <a:t>tasuta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brauseris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kasutatav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piiratud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allikad</a:t>
            </a:r>
            <a:r>
              <a:rPr lang="en-US" sz="2000" dirty="0">
                <a:ea typeface="+mn-lt"/>
                <a:cs typeface="+mn-lt"/>
              </a:rPr>
              <a:t> – CSV, JSON, NDJSON)</a:t>
            </a:r>
            <a:endParaRPr lang="en-US" sz="2000" dirty="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2"/>
              </a:rPr>
              <a:t>https://sqliteviz.com/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DBeaver</a:t>
            </a:r>
            <a:r>
              <a:rPr lang="en-US" sz="2000" dirty="0">
                <a:ea typeface="Inter"/>
              </a:rPr>
              <a:t> Community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VS Code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koodihaldusprogramm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ühendub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Gitiga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95206-4288-64AF-A2BF-CFAD4DEF8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1F95-8F35-B433-388E-E7B65E6589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käskude</a:t>
            </a:r>
            <a:r>
              <a:rPr lang="en-US"/>
              <a:t> </a:t>
            </a:r>
            <a:r>
              <a:rPr lang="en-US" err="1"/>
              <a:t>järjekord</a:t>
            </a:r>
            <a:r>
              <a:rPr lang="en-US"/>
              <a:t> </a:t>
            </a:r>
            <a:r>
              <a:rPr lang="en-US" err="1"/>
              <a:t>päringus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B36A8-561C-3297-A6A5-7DF802E3D26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B730E-273A-95C0-F7CF-AD9EC22FFA5D}"/>
              </a:ext>
            </a:extLst>
          </p:cNvPr>
          <p:cNvSpPr txBox="1"/>
          <p:nvPr/>
        </p:nvSpPr>
        <p:spPr>
          <a:xfrm>
            <a:off x="703553" y="1327957"/>
            <a:ext cx="10667632" cy="2952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SELECT </a:t>
            </a:r>
            <a:r>
              <a:rPr lang="en-US" dirty="0">
                <a:ea typeface="Inter"/>
              </a:rPr>
              <a:t>column1, column2, …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FROM </a:t>
            </a:r>
            <a:r>
              <a:rPr lang="en-US" dirty="0" err="1">
                <a:ea typeface="Inter"/>
              </a:rPr>
              <a:t>table_name</a:t>
            </a:r>
            <a:endParaRPr lang="en-US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WHERE </a:t>
            </a:r>
            <a:r>
              <a:rPr lang="en-US" dirty="0">
                <a:ea typeface="Inter"/>
              </a:rPr>
              <a:t>condition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GROUP BY</a:t>
            </a:r>
            <a:r>
              <a:rPr lang="en-US" dirty="0">
                <a:ea typeface="Inter"/>
              </a:rPr>
              <a:t> column1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 condition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ORDER BY</a:t>
            </a:r>
            <a:r>
              <a:rPr lang="en-US" dirty="0">
                <a:ea typeface="Inter"/>
              </a:rPr>
              <a:t> column1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LIMIT </a:t>
            </a:r>
            <a:r>
              <a:rPr lang="en-US" dirty="0">
                <a:ea typeface="Inter"/>
              </a:rPr>
              <a:t>number;</a:t>
            </a:r>
          </a:p>
        </p:txBody>
      </p:sp>
    </p:spTree>
    <p:extLst>
      <p:ext uri="{BB962C8B-B14F-4D97-AF65-F5344CB8AC3E}">
        <p14:creationId xmlns:p14="http://schemas.microsoft.com/office/powerpoint/2010/main" val="652366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ea typeface="Inter"/>
              </a:rPr>
              <a:t>1. FROM/JOIN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Defineerib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milliseid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tabeleid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kasutatakse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dirty="0">
                <a:ea typeface="Inter"/>
              </a:rPr>
              <a:t>2. WHERE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Inter"/>
              </a:rPr>
              <a:t>3. 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Grupeerib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Inter"/>
              </a:rPr>
              <a:t>4. HAVING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grupeeritud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dirty="0">
                <a:ea typeface="Inter"/>
              </a:rPr>
              <a:t>5. SELECT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Valib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tulbad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näidata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dirty="0">
                <a:ea typeface="Inter"/>
              </a:rPr>
              <a:t>6. 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Sorteerib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valitud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Inter"/>
              </a:rPr>
              <a:t>7. 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Jätab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alles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ainult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täpsustatud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arvu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ridu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800100" lvl="1">
              <a:buFont typeface="Wingdings" panose="020B0502030000000004" pitchFamily="34" charset="0"/>
              <a:buChar char="Ø"/>
            </a:pPr>
            <a:endParaRPr lang="en-US" dirty="0"/>
          </a:p>
          <a:p>
            <a:pPr marL="285750" indent="-285750">
              <a:buClr>
                <a:srgbClr val="121212"/>
              </a:buClr>
            </a:pPr>
            <a:r>
              <a:rPr lang="en-US" dirty="0" err="1">
                <a:ea typeface="Inter"/>
              </a:rPr>
              <a:t>Teostamise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järjekord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muutub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oluliseks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suuremate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päringute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puhul</a:t>
            </a:r>
            <a:r>
              <a:rPr lang="en-US" dirty="0">
                <a:ea typeface="Inter"/>
              </a:rPr>
              <a:t>. Mida </a:t>
            </a:r>
            <a:r>
              <a:rPr lang="en-US" dirty="0" err="1">
                <a:ea typeface="Inter"/>
              </a:rPr>
              <a:t>varasemas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sammus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saad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päringu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tulemusi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piirata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seda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optimaalsem</a:t>
            </a:r>
            <a:r>
              <a:rPr lang="en-US" dirty="0">
                <a:ea typeface="Inter"/>
              </a:rPr>
              <a:t> (</a:t>
            </a:r>
            <a:r>
              <a:rPr lang="en-US" dirty="0" err="1">
                <a:ea typeface="Inter"/>
              </a:rPr>
              <a:t>kiirem</a:t>
            </a:r>
            <a:r>
              <a:rPr lang="en-US" dirty="0">
                <a:ea typeface="Inter"/>
              </a:rPr>
              <a:t>) on </a:t>
            </a:r>
            <a:r>
              <a:rPr lang="en-US" dirty="0" err="1">
                <a:ea typeface="Inter"/>
              </a:rPr>
              <a:t>päringu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teostus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1FB04-20D6-D9EC-1CE7-A20E2D37F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Võimalused</a:t>
            </a:r>
            <a:r>
              <a:rPr lang="en-GB" dirty="0"/>
              <a:t> SQL-I </a:t>
            </a:r>
            <a:r>
              <a:rPr lang="en-GB" dirty="0" err="1"/>
              <a:t>harjutada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praktiseerida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863ED-DF6A-0F8A-E78F-A0793F9857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>
                <a:hlinkClick r:id="rId2"/>
              </a:rPr>
              <a:t>https://sqliteviz.com/app</a:t>
            </a:r>
            <a:br>
              <a:rPr lang="en-GB" sz="2400" dirty="0"/>
            </a:br>
            <a:r>
              <a:rPr lang="en-GB" sz="2400" dirty="0"/>
              <a:t>Kui </a:t>
            </a:r>
            <a:r>
              <a:rPr lang="en-GB" sz="2400" dirty="0" err="1"/>
              <a:t>tahad</a:t>
            </a:r>
            <a:r>
              <a:rPr lang="en-GB" sz="2400" dirty="0"/>
              <a:t> </a:t>
            </a:r>
            <a:r>
              <a:rPr lang="en-GB" sz="2400" dirty="0" err="1"/>
              <a:t>harjutada</a:t>
            </a:r>
            <a:r>
              <a:rPr lang="en-GB" sz="2400" dirty="0"/>
              <a:t>, </a:t>
            </a:r>
            <a:r>
              <a:rPr lang="en-GB" sz="2400" dirty="0" err="1"/>
              <a:t>kuid</a:t>
            </a:r>
            <a:r>
              <a:rPr lang="en-GB" sz="2400" dirty="0"/>
              <a:t> pole </a:t>
            </a:r>
            <a:r>
              <a:rPr lang="en-GB" sz="2400" dirty="0" err="1"/>
              <a:t>arvutis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pilvebaasidele</a:t>
            </a:r>
            <a:r>
              <a:rPr lang="en-GB" sz="2400" dirty="0"/>
              <a:t> pole </a:t>
            </a:r>
            <a:r>
              <a:rPr lang="en-GB" sz="2400" dirty="0" err="1"/>
              <a:t>ligipääsu</a:t>
            </a:r>
            <a:endParaRPr lang="en-GB" sz="2400" dirty="0"/>
          </a:p>
          <a:p>
            <a:r>
              <a:rPr lang="en-GB" sz="2400" b="1" dirty="0"/>
              <a:t>PostgreSQL </a:t>
            </a:r>
            <a:r>
              <a:rPr lang="en-GB" sz="2400" b="1" dirty="0" err="1"/>
              <a:t>pgAdmin</a:t>
            </a:r>
            <a:endParaRPr lang="en-GB" sz="2400" b="1" dirty="0"/>
          </a:p>
          <a:p>
            <a:r>
              <a:rPr lang="en-GB" sz="2400" b="1" dirty="0" err="1"/>
              <a:t>Dbeaver</a:t>
            </a:r>
            <a:endParaRPr lang="en-GB" sz="2400" b="1" dirty="0"/>
          </a:p>
          <a:p>
            <a:r>
              <a:rPr lang="en-GB" sz="2400" dirty="0"/>
              <a:t>MS SQL Server Management Studio</a:t>
            </a:r>
          </a:p>
          <a:p>
            <a:r>
              <a:rPr lang="en-GB" sz="2400" dirty="0" err="1"/>
              <a:t>Pilveandmebaasid</a:t>
            </a:r>
            <a:endParaRPr lang="en-GB" sz="2400" dirty="0"/>
          </a:p>
          <a:p>
            <a:pPr lvl="1"/>
            <a:r>
              <a:rPr lang="en-GB" sz="2400" dirty="0"/>
              <a:t>Snowflake</a:t>
            </a:r>
          </a:p>
          <a:p>
            <a:pPr lvl="1"/>
            <a:r>
              <a:rPr lang="en-GB" sz="2400" dirty="0"/>
              <a:t>Microsoft Fabric Lakehouse, Warehouse, Fabric IQ …..</a:t>
            </a:r>
          </a:p>
        </p:txBody>
      </p:sp>
    </p:spTree>
    <p:extLst>
      <p:ext uri="{BB962C8B-B14F-4D97-AF65-F5344CB8AC3E}">
        <p14:creationId xmlns:p14="http://schemas.microsoft.com/office/powerpoint/2010/main" val="2779306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A2250-7D37-3829-65F1-E12C06791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3968-76FB-84EE-6061-FD613CB7A1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B1965-180D-1AC8-1EAC-AA0D8FB2553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AB63D7-8625-0273-BB8D-70F4FFAE506E}"/>
              </a:ext>
            </a:extLst>
          </p:cNvPr>
          <p:cNvSpPr txBox="1"/>
          <p:nvPr/>
        </p:nvSpPr>
        <p:spPr>
          <a:xfrm>
            <a:off x="901308" y="1268413"/>
            <a:ext cx="10386210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ea typeface="Inter"/>
                <a:hlinkClick r:id="rId2"/>
              </a:rPr>
              <a:t>https://sqliteviz.com/</a:t>
            </a:r>
            <a:endParaRPr lang="en-US" sz="200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ea typeface="Inter"/>
              </a:rPr>
              <a:t>Laeme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üles</a:t>
            </a:r>
            <a:r>
              <a:rPr lang="en-US" sz="2000" dirty="0">
                <a:ea typeface="Inter"/>
              </a:rPr>
              <a:t> CSV </a:t>
            </a:r>
            <a:r>
              <a:rPr lang="en-US" sz="2000" dirty="0" err="1">
                <a:ea typeface="Inter"/>
              </a:rPr>
              <a:t>failid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 err="1">
                <a:ea typeface="Inter"/>
              </a:rPr>
              <a:t>Github</a:t>
            </a:r>
            <a:r>
              <a:rPr lang="en-US" sz="2000" dirty="0">
                <a:ea typeface="Inter"/>
              </a:rPr>
              <a:t> --&gt; Day5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SalesTable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SalesRepTable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BudgetSalesRep</a:t>
            </a:r>
            <a:endParaRPr lang="en-US" sz="200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Salvestame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enda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arvutisse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>
                <a:ea typeface="Inter"/>
              </a:rPr>
              <a:t>Export database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ea typeface="Inter"/>
              </a:rPr>
              <a:t>GitHubi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ülesannete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</a:t>
            </a:r>
            <a:r>
              <a:rPr lang="en-US" sz="2000" dirty="0">
                <a:ea typeface="Inter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>
                <a:ea typeface="Inter"/>
              </a:rPr>
              <a:t>Day5 --&gt; 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sql_ulesanded_1.txt</a:t>
            </a: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818633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D8A84-5C3E-D3EC-7BBA-46AD750AB1C1}"/>
              </a:ext>
            </a:extLst>
          </p:cNvPr>
          <p:cNvSpPr txBox="1"/>
          <p:nvPr/>
        </p:nvSpPr>
        <p:spPr>
          <a:xfrm>
            <a:off x="677170" y="1222424"/>
            <a:ext cx="10386210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Lahendame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koos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esimesed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neli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ülesannet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: sql_ulesanded_2.txt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Edasi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lahendage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iseseisvalt</a:t>
            </a:r>
            <a:endParaRPr lang="en-US" sz="2000" dirty="0">
              <a:solidFill>
                <a:srgbClr val="121212"/>
              </a:solidFill>
              <a:ea typeface="+mn-lt"/>
              <a:cs typeface="+mn-lt"/>
            </a:endParaRP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96BEE-9A76-72C4-375A-62C991CD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CCD10-5621-E068-9167-25ADABC927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  <a:r>
              <a:rPr lang="en-US"/>
              <a:t> - </a:t>
            </a:r>
            <a:r>
              <a:rPr lang="en-US" err="1"/>
              <a:t>vaatame</a:t>
            </a:r>
            <a:r>
              <a:rPr lang="en-US"/>
              <a:t> </a:t>
            </a:r>
            <a:r>
              <a:rPr lang="en-US" err="1"/>
              <a:t>koos</a:t>
            </a:r>
            <a:r>
              <a:rPr lang="en-US"/>
              <a:t> </a:t>
            </a:r>
            <a:r>
              <a:rPr lang="en-US" err="1"/>
              <a:t>lahendused</a:t>
            </a:r>
            <a:r>
              <a:rPr lang="en-US"/>
              <a:t> </a:t>
            </a:r>
            <a:r>
              <a:rPr lang="en-US" err="1"/>
              <a:t>üle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5D3A3-A166-EB4A-E787-94B4118BFE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600170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CC9A9-D04A-103B-54F8-01C27A2EF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F2F55-01EB-38B4-B089-9D487AC4F5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kirjeldav</a:t>
            </a:r>
            <a:r>
              <a:rPr lang="en-US"/>
              <a:t> </a:t>
            </a:r>
            <a:r>
              <a:rPr lang="en-US" err="1"/>
              <a:t>statistika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A6978-9EE3-A1AE-8812-49901C2E5A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2CFD7-E0AE-CAFB-FD62-2D9E32335DFA}"/>
              </a:ext>
            </a:extLst>
          </p:cNvPr>
          <p:cNvSpPr txBox="1"/>
          <p:nvPr/>
        </p:nvSpPr>
        <p:spPr>
          <a:xfrm>
            <a:off x="677170" y="1222424"/>
            <a:ext cx="1038621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Koos: sql_ulesanded_3.txt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Iseseisvalt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: sql_ulesanded_3_iseseisev.txt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000" dirty="0">
              <a:solidFill>
                <a:srgbClr val="121212"/>
              </a:solidFill>
              <a:ea typeface="+mn-lt"/>
              <a:cs typeface="+mn-lt"/>
            </a:endParaRP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288183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B7356-7B64-F84B-96D7-F43FEC3BE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C2502-5CCC-91CC-DC4B-06F9FE717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 </a:t>
            </a:r>
            <a:r>
              <a:rPr lang="en-US" err="1"/>
              <a:t>kirjeldav</a:t>
            </a:r>
            <a:r>
              <a:rPr lang="en-US"/>
              <a:t> </a:t>
            </a:r>
            <a:r>
              <a:rPr lang="en-US" err="1"/>
              <a:t>statstika</a:t>
            </a:r>
            <a:r>
              <a:rPr lang="en-US"/>
              <a:t> - </a:t>
            </a:r>
            <a:r>
              <a:rPr lang="en-US" err="1"/>
              <a:t>vaatame</a:t>
            </a:r>
            <a:r>
              <a:rPr lang="en-US"/>
              <a:t> </a:t>
            </a:r>
            <a:r>
              <a:rPr lang="en-US" err="1"/>
              <a:t>koos</a:t>
            </a:r>
            <a:r>
              <a:rPr lang="en-US"/>
              <a:t> </a:t>
            </a:r>
            <a:r>
              <a:rPr lang="en-US" err="1"/>
              <a:t>lahendused</a:t>
            </a:r>
            <a:r>
              <a:rPr lang="en-US"/>
              <a:t> </a:t>
            </a:r>
            <a:r>
              <a:rPr lang="en-US" err="1"/>
              <a:t>üle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0BE55-1891-6FE5-965D-BD5310DDFCB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970878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AD298-D9EB-E866-8230-698261C8A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008EF-5EC7-F557-D61C-4B678F32E32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2258257-FE23-E665-46B1-A3F5D0C0F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657638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6864-A05B-EF9F-B85B-7225F6FAD6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pic>
        <p:nvPicPr>
          <p:cNvPr id="4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5BF0C907-9C51-2298-A293-3FA385474F5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4370181" y="1024182"/>
            <a:ext cx="3946694" cy="5129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127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11A17-FC75-9EBB-18D3-5421C51EC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CC8A0-7075-F5E7-FB08-54655B51F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E06F-28ED-8FB3-6B5E-CD776866B6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C0BAC-6C7D-82E8-4B1F-5672297476A1}"/>
              </a:ext>
            </a:extLst>
          </p:cNvPr>
          <p:cNvSpPr txBox="1"/>
          <p:nvPr/>
        </p:nvSpPr>
        <p:spPr>
          <a:xfrm>
            <a:off x="677170" y="1222424"/>
            <a:ext cx="1038621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Teeme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koos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: sql_ulesanded_4.txt</a:t>
            </a: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628489419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569</Words>
  <Application>Microsoft Office PowerPoint</Application>
  <PresentationFormat>Widescreen</PresentationFormat>
  <Paragraphs>99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Inter</vt:lpstr>
      <vt:lpstr>Poppins SemiBold</vt:lpstr>
      <vt:lpstr>Courier New</vt:lpstr>
      <vt:lpstr>Arial</vt:lpstr>
      <vt:lpstr>Calibri</vt:lpstr>
      <vt:lpstr>Inter Bold</vt:lpstr>
      <vt:lpstr>Wingdings</vt:lpstr>
      <vt:lpstr>BCS</vt:lpstr>
      <vt:lpstr>Vali Andmetarkus!</vt:lpstr>
      <vt:lpstr>Päevakava - VI päev</vt:lpstr>
      <vt:lpstr>Andmebaasid</vt:lpstr>
      <vt:lpstr>SQL </vt:lpstr>
      <vt:lpstr>SQL – päringu kirjutamise programmid</vt:lpstr>
      <vt:lpstr>SQL –  käskude järjekord päringus</vt:lpstr>
      <vt:lpstr>SQL –  päringu teostamise järjekord</vt:lpstr>
      <vt:lpstr>Võimalused SQL-I harjutada ja praktiseerida</vt:lpstr>
      <vt:lpstr>SQL –  põhikäsud</vt:lpstr>
      <vt:lpstr>Paus 10:30-10:45</vt:lpstr>
      <vt:lpstr>SQL –  põhikäsud</vt:lpstr>
      <vt:lpstr>SQL –  põhikäsud - vaatame koos lahendused üle</vt:lpstr>
      <vt:lpstr>Lõunapaus 12:15-13:15</vt:lpstr>
      <vt:lpstr>SQL –  kirjeldav statistika</vt:lpstr>
      <vt:lpstr>SQL –   kirjeldav statstika - vaatame koos lahendused üle</vt:lpstr>
      <vt:lpstr>Paus 14:45-15:00</vt:lpstr>
      <vt:lpstr>SQL – tabelite ühendamine</vt:lpstr>
      <vt:lpstr>SQL –  tabelite ühendamine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36</cp:revision>
  <dcterms:created xsi:type="dcterms:W3CDTF">2021-08-27T11:35:28Z</dcterms:created>
  <dcterms:modified xsi:type="dcterms:W3CDTF">2026-09-04T15:21:24Z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