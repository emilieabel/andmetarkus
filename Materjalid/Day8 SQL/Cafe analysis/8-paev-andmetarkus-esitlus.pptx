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17" r:id="rId5"/>
    <p:sldId id="463" r:id="rId6"/>
    <p:sldId id="641" r:id="rId7"/>
    <p:sldId id="559" r:id="rId8"/>
    <p:sldId id="611" r:id="rId9"/>
    <p:sldId id="490" r:id="rId10"/>
    <p:sldId id="560" r:id="rId11"/>
    <p:sldId id="561" r:id="rId12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</p:embeddedFont>
    <p:embeddedFont>
      <p:font typeface="Inter Bold" panose="020B0604020202020204" charset="0"/>
      <p:bold r:id="rId17"/>
    </p:embeddedFont>
    <p:embeddedFont>
      <p:font typeface="Poppins SemiBold" panose="00000700000000000000" pitchFamily="2" charset="0"/>
      <p:bold r:id="rId18"/>
      <p:boldItalic r:id="rId19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8-18T11:49:03.998" v="26" actId="20577"/>
      <pc:docMkLst>
        <pc:docMk/>
      </pc:docMkLst>
      <pc:sldChg chg="delSp modSp mod">
        <pc:chgData name="Emilie Abel" userId="20dec598-1860-40de-ab3f-181316cc4da6" providerId="ADAL" clId="{3EAE1975-14BE-41D5-9E3B-28573F0EE5DC}" dt="2026-08-18T11:49:03.998" v="26" actId="20577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11:49:03.998" v="26" actId="20577"/>
          <ac:spMkLst>
            <pc:docMk/>
            <pc:sldMk cId="4169291970" sldId="417"/>
            <ac:spMk id="5" creationId="{3496B8E7-2B01-285F-88ED-B3ADE66A3D31}"/>
          </ac:spMkLst>
        </pc:spChg>
        <pc:picChg chg="del">
          <ac:chgData name="Emilie Abel" userId="20dec598-1860-40de-ab3f-181316cc4da6" providerId="ADAL" clId="{3EAE1975-14BE-41D5-9E3B-28573F0EE5DC}" dt="2026-08-18T11:48:51.894" v="0" actId="478"/>
          <ac:picMkLst>
            <pc:docMk/>
            <pc:sldMk cId="4169291970" sldId="417"/>
            <ac:picMk id="3" creationId="{59426EB3-96A0-6F7B-BD8A-B89C052D49B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18.08.2026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cs typeface="Poppins SemiBold"/>
              </a:rPr>
              <a:t>Vali </a:t>
            </a:r>
            <a:r>
              <a:rPr lang="en-US" dirty="0" err="1">
                <a:cs typeface="Poppins SemiBold"/>
              </a:rPr>
              <a:t>Andmetarkus</a:t>
            </a:r>
            <a:r>
              <a:rPr lang="en-US" dirty="0">
                <a:cs typeface="Poppins SemiBold"/>
              </a:rPr>
              <a:t>!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36E8-B4E0-0CF4-A711-A80EA72C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9E6A-EDBC-A257-8CAB-1456AC180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997827-D239-7775-E4A3-5EB245AAACB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3421990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Kohviku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andmestik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Kohviku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andmestiku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analüüs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Karjäärimoodul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Karjäärimoodul</a:t>
                      </a:r>
                      <a:endParaRPr lang="en-US" b="0" i="0" dirty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72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5782-C166-DFAD-FABB-09B61EA805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Kohviku</a:t>
            </a:r>
            <a:r>
              <a:rPr lang="en-US" dirty="0"/>
              <a:t> </a:t>
            </a:r>
            <a:r>
              <a:rPr lang="en-US" dirty="0" err="1"/>
              <a:t>andmestiku</a:t>
            </a:r>
            <a:r>
              <a:rPr lang="en-US" dirty="0"/>
              <a:t> </a:t>
            </a:r>
            <a:r>
              <a:rPr lang="en-US" dirty="0" err="1"/>
              <a:t>analüüs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64E9-96CC-B626-1467-4E02721E4AF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Lae alla </a:t>
            </a:r>
            <a:r>
              <a:rPr lang="en-US" sz="2000" dirty="0" err="1">
                <a:ea typeface="Inter"/>
              </a:rPr>
              <a:t>andmestikud</a:t>
            </a:r>
            <a:r>
              <a:rPr lang="en-US" sz="2000" dirty="0">
                <a:ea typeface="Inter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Inter"/>
              </a:rPr>
              <a:t>Day7 --&gt; 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ea typeface="Inter"/>
              </a:rPr>
              <a:t>cafe_sales_cleaned.csv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ea typeface="Inter"/>
              </a:rPr>
              <a:t>cafe_budget.csv</a:t>
            </a:r>
          </a:p>
          <a:p>
            <a:pPr lvl="2">
              <a:lnSpc>
                <a:spcPct val="150000"/>
              </a:lnSpc>
            </a:pP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Loo </a:t>
            </a:r>
            <a:r>
              <a:rPr lang="en-US" sz="2000" dirty="0" err="1">
                <a:ea typeface="Inter"/>
              </a:rPr>
              <a:t>uus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</a:t>
            </a:r>
            <a:r>
              <a:rPr lang="en-US" sz="2000" dirty="0">
                <a:ea typeface="Inter"/>
              </a:rPr>
              <a:t> cafe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Loo </a:t>
            </a:r>
            <a:r>
              <a:rPr lang="en-US" sz="2000" dirty="0" err="1">
                <a:ea typeface="Inter"/>
              </a:rPr>
              <a:t>uus</a:t>
            </a:r>
            <a:r>
              <a:rPr lang="en-US" sz="2000" dirty="0">
                <a:ea typeface="Inter"/>
              </a:rPr>
              <a:t> schema </a:t>
            </a:r>
            <a:r>
              <a:rPr lang="en-US" sz="2000" dirty="0" err="1">
                <a:ea typeface="Inter"/>
              </a:rPr>
              <a:t>cafe_sales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Lae </a:t>
            </a:r>
            <a:r>
              <a:rPr lang="en-US" sz="2000" dirty="0" err="1">
                <a:ea typeface="Inter"/>
              </a:rPr>
              <a:t>üles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tabelid</a:t>
            </a:r>
            <a:endParaRPr lang="en-US" sz="20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Lahenda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ülesanded</a:t>
            </a:r>
            <a:r>
              <a:rPr lang="en-US" sz="2000" dirty="0">
                <a:ea typeface="Inter"/>
              </a:rPr>
              <a:t>: Day7 --&gt; cafe_sales_analysis_tasks.txt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3909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FD62-3AF7-51EB-5F92-57981F78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A6A7-D97E-830C-A38D-585944657E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1A1A71-E8DB-7445-FF04-027CE0312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37450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43B3-EEBB-CCD6-9D3C-074D1462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1811-5A64-9CE0-A253-D842BFB03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lahenduse</a:t>
            </a:r>
            <a:r>
              <a:rPr lang="en-US"/>
              <a:t> </a:t>
            </a:r>
            <a:r>
              <a:rPr lang="en-US" err="1"/>
              <a:t>ülevaade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557069-2E5E-8598-EF63-D471222B02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Vaatame </a:t>
            </a:r>
            <a:r>
              <a:rPr lang="en-US" sz="2000" dirty="0" err="1">
                <a:ea typeface="Inter"/>
                <a:cs typeface="+mn-lt"/>
              </a:rPr>
              <a:t>üle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kohviku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analüüsi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lahendused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079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7CE0-EED5-7349-1A94-2995DC5D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ECAB-F0C6-2BD9-091C-411E05342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SQL </a:t>
            </a:r>
            <a:r>
              <a:rPr lang="en-US" dirty="0" err="1"/>
              <a:t>jooksutamiseks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4C68BD-2977-9852-E4B4-C002126270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Andmebaasi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ühendus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Extensions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PostgreSQL Client for Visual Studio Code</a:t>
            </a:r>
          </a:p>
          <a:p>
            <a:pPr marL="800100" lvl="1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Ilmub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vasakule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“Databases”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valik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</a:p>
          <a:p>
            <a:pPr marL="1200150" lvl="2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Ühendume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enda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 localhost </a:t>
            </a:r>
            <a:r>
              <a:rPr lang="en-US" sz="2000" dirty="0" err="1">
                <a:ea typeface="Inter"/>
                <a:cs typeface="+mn-lt"/>
                <a:sym typeface="Wingdings" panose="05000000000000000000" pitchFamily="2" charset="2"/>
              </a:rPr>
              <a:t>serveriga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SQL </a:t>
            </a:r>
            <a:r>
              <a:rPr lang="en-US" sz="2000" dirty="0" err="1">
                <a:ea typeface="Inter"/>
                <a:cs typeface="+mn-lt"/>
              </a:rPr>
              <a:t>päringute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jooksutamine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cs typeface="+mn-lt"/>
              </a:rPr>
              <a:t>Ava </a:t>
            </a:r>
            <a:r>
              <a:rPr lang="en-US" sz="2000" dirty="0" err="1">
                <a:cs typeface="+mn-lt"/>
              </a:rPr>
              <a:t>päringutega</a:t>
            </a:r>
            <a:r>
              <a:rPr lang="en-US" sz="2000" dirty="0">
                <a:cs typeface="+mn-lt"/>
              </a:rPr>
              <a:t> SQL fail</a:t>
            </a:r>
            <a:endParaRPr lang="en-US" sz="2000" dirty="0">
              <a:cs typeface="+mn-lt"/>
              <a:sym typeface="Wingdings" panose="05000000000000000000" pitchFamily="2" charset="2"/>
            </a:endParaRPr>
          </a:p>
          <a:p>
            <a:pPr marL="800100" lvl="1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cs typeface="+mn-lt"/>
                <a:sym typeface="Wingdings" panose="05000000000000000000" pitchFamily="2" charset="2"/>
              </a:rPr>
              <a:t>Jooksuta</a:t>
            </a:r>
            <a:r>
              <a:rPr lang="en-US" sz="2000" dirty="0">
                <a:cs typeface="+mn-lt"/>
                <a:sym typeface="Wingdings" panose="05000000000000000000" pitchFamily="2" charset="2"/>
              </a:rPr>
              <a:t> </a:t>
            </a:r>
            <a:r>
              <a:rPr lang="en-US" sz="2000" dirty="0" err="1">
                <a:cs typeface="+mn-lt"/>
                <a:sym typeface="Wingdings" panose="05000000000000000000" pitchFamily="2" charset="2"/>
              </a:rPr>
              <a:t>käsk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77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CF3F-998F-1D31-7E8E-9D5F969A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0649-EFC7-3BC7-AD8E-166B52053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kokkuvõte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BB9B6E-2766-B1D4-87B8-66368A8732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Andmebaasidega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suhtlemiseks</a:t>
            </a:r>
            <a:endParaRPr lang="en-US" sz="2000" dirty="0">
              <a:cs typeface="+mn-lt"/>
            </a:endParaRPr>
          </a:p>
          <a:p>
            <a:pPr marL="800100" lvl="1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Kiireks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ülevaateks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andmetest</a:t>
            </a:r>
            <a:endParaRPr lang="en-US" sz="2000" dirty="0">
              <a:ea typeface="Inter"/>
              <a:cs typeface="+mn-lt"/>
            </a:endParaRPr>
          </a:p>
          <a:p>
            <a:pPr marL="800100" lvl="1" indent="-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Andmeteisenduste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tegemiseks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Statistiliste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kokkuvõtete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tegemiseks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052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1302-AF69-03F4-BC3A-52BB2F28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B79C-FAF7-6934-1DAD-99EDFE457F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190094-A671-5A3B-26E9-FEDEED69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3284150055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167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 Bold</vt:lpstr>
      <vt:lpstr>Calibri</vt:lpstr>
      <vt:lpstr>Inter</vt:lpstr>
      <vt:lpstr>Arial</vt:lpstr>
      <vt:lpstr>Poppins SemiBold</vt:lpstr>
      <vt:lpstr>BCS</vt:lpstr>
      <vt:lpstr>Vali Andmetarkus!</vt:lpstr>
      <vt:lpstr>Päevakava - VII päev</vt:lpstr>
      <vt:lpstr>Kohviku andmestiku analüüs</vt:lpstr>
      <vt:lpstr>Paus 10:30-10:45</vt:lpstr>
      <vt:lpstr>SQL lahenduse ülevaade</vt:lpstr>
      <vt:lpstr>Visual Studio Code SQL jooksutamiseks</vt:lpstr>
      <vt:lpstr>SQL kokkuvõte</vt:lpstr>
      <vt:lpstr>Lõunapaus 12:15-13:15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60</cp:revision>
  <dcterms:created xsi:type="dcterms:W3CDTF">2021-08-27T11:35:28Z</dcterms:created>
  <dcterms:modified xsi:type="dcterms:W3CDTF">2026-08-18T11:49:07Z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