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417" r:id="rId5"/>
    <p:sldId id="479" r:id="rId6"/>
    <p:sldId id="567" r:id="rId7"/>
    <p:sldId id="452" r:id="rId8"/>
    <p:sldId id="475" r:id="rId9"/>
    <p:sldId id="261" r:id="rId10"/>
    <p:sldId id="647" r:id="rId11"/>
    <p:sldId id="476" r:id="rId12"/>
    <p:sldId id="477" r:id="rId13"/>
    <p:sldId id="648" r:id="rId14"/>
    <p:sldId id="494" r:id="rId15"/>
    <p:sldId id="446" r:id="rId16"/>
    <p:sldId id="447" r:id="rId17"/>
    <p:sldId id="646" r:id="rId18"/>
    <p:sldId id="571" r:id="rId19"/>
    <p:sldId id="514" r:id="rId20"/>
    <p:sldId id="572" r:id="rId21"/>
    <p:sldId id="649" r:id="rId22"/>
    <p:sldId id="619" r:id="rId23"/>
    <p:sldId id="474" r:id="rId24"/>
    <p:sldId id="539" r:id="rId25"/>
    <p:sldId id="633" r:id="rId26"/>
    <p:sldId id="629" r:id="rId27"/>
    <p:sldId id="538" r:id="rId28"/>
    <p:sldId id="632" r:id="rId29"/>
    <p:sldId id="631" r:id="rId30"/>
  </p:sldIdLst>
  <p:sldSz cx="12192000" cy="6858000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Inter" panose="020B0604020202020204" charset="0"/>
      <p:regular r:id="rId37"/>
      <p:bold r:id="rId38"/>
      <p:italic r:id="rId39"/>
      <p:boldItalic r:id="rId40"/>
    </p:embeddedFont>
    <p:embeddedFont>
      <p:font typeface="Inter Bold" panose="020B0604020202020204" charset="0"/>
      <p:bold r:id="rId41"/>
    </p:embeddedFont>
    <p:embeddedFont>
      <p:font typeface="Noto Serif" panose="02020600060500020200" pitchFamily="18" charset="0"/>
      <p:regular r:id="rId42"/>
      <p:bold r:id="rId43"/>
      <p:italic r:id="rId44"/>
      <p:boldItalic r:id="rId45"/>
    </p:embeddedFont>
    <p:embeddedFont>
      <p:font typeface="Poppins SemiBold" panose="00000700000000000000" pitchFamily="2" charset="-70"/>
      <p:bold r:id="rId46"/>
      <p:boldItalic r:id="rId47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8-18T11:52:55.241" v="26" actId="20577"/>
      <pc:docMkLst>
        <pc:docMk/>
      </pc:docMkLst>
      <pc:sldChg chg="delSp modSp mod">
        <pc:chgData name="Emilie Abel" userId="20dec598-1860-40de-ab3f-181316cc4da6" providerId="ADAL" clId="{3EAE1975-14BE-41D5-9E3B-28573F0EE5DC}" dt="2026-08-18T11:52:55.241" v="26" actId="20577"/>
        <pc:sldMkLst>
          <pc:docMk/>
          <pc:sldMk cId="4169291970" sldId="417"/>
        </pc:sldMkLst>
        <pc:spChg chg="mod">
          <ac:chgData name="Emilie Abel" userId="20dec598-1860-40de-ab3f-181316cc4da6" providerId="ADAL" clId="{3EAE1975-14BE-41D5-9E3B-28573F0EE5DC}" dt="2026-08-18T11:52:55.241" v="26" actId="20577"/>
          <ac:spMkLst>
            <pc:docMk/>
            <pc:sldMk cId="4169291970" sldId="417"/>
            <ac:spMk id="5" creationId="{3496B8E7-2B01-285F-88ED-B3ADE66A3D31}"/>
          </ac:spMkLst>
        </pc:spChg>
        <pc:picChg chg="del">
          <ac:chgData name="Emilie Abel" userId="20dec598-1860-40de-ab3f-181316cc4da6" providerId="ADAL" clId="{3EAE1975-14BE-41D5-9E3B-28573F0EE5DC}" dt="2026-08-18T11:52:46.397" v="0" actId="478"/>
          <ac:picMkLst>
            <pc:docMk/>
            <pc:sldMk cId="4169291970" sldId="417"/>
            <ac:picMk id="3" creationId="{59426EB3-96A0-6F7B-BD8A-B89C052D49B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28.08.2026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Iteratiivne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protsess</a:t>
            </a:r>
            <a:r>
              <a:rPr lang="en-US">
                <a:ea typeface="Calibri"/>
                <a:cs typeface="Calibri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6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Milleks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vajalik</a:t>
            </a:r>
            <a:r>
              <a:rPr lang="en-US">
                <a:ea typeface="Calibri"/>
                <a:cs typeface="Calibri"/>
              </a:rPr>
              <a:t>? - Nii </a:t>
            </a:r>
            <a:r>
              <a:rPr lang="en-US" err="1">
                <a:ea typeface="Calibri"/>
                <a:cs typeface="Calibri"/>
              </a:rPr>
              <a:t>enda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kui</a:t>
            </a:r>
            <a:r>
              <a:rPr lang="en-US">
                <a:ea typeface="Calibri"/>
                <a:cs typeface="Calibri"/>
              </a:rPr>
              <a:t> ka </a:t>
            </a:r>
            <a:r>
              <a:rPr lang="en-US" err="1">
                <a:ea typeface="Calibri"/>
                <a:cs typeface="Calibri"/>
              </a:rPr>
              <a:t>kolleegide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jaoks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kirjeldamine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teada</a:t>
            </a:r>
            <a:r>
              <a:rPr lang="en-US">
                <a:ea typeface="Calibri"/>
                <a:cs typeface="Calibri"/>
              </a:rPr>
              <a:t>, et </a:t>
            </a:r>
            <a:r>
              <a:rPr lang="en-US" err="1">
                <a:ea typeface="Calibri"/>
                <a:cs typeface="Calibri"/>
              </a:rPr>
              <a:t>miks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kuidas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mingeid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otsuseid</a:t>
            </a:r>
            <a:r>
              <a:rPr lang="en-US">
                <a:ea typeface="Calibri"/>
                <a:cs typeface="Calibri"/>
              </a:rPr>
              <a:t> ja </a:t>
            </a:r>
            <a:r>
              <a:rPr lang="en-US" err="1">
                <a:ea typeface="Calibri"/>
                <a:cs typeface="Calibri"/>
              </a:rPr>
              <a:t>muutusi</a:t>
            </a:r>
            <a:r>
              <a:rPr lang="en-US">
                <a:ea typeface="Calibri"/>
                <a:cs typeface="Calibri"/>
              </a:rPr>
              <a:t> on </a:t>
            </a:r>
            <a:r>
              <a:rPr lang="en-US" err="1">
                <a:ea typeface="Calibri"/>
                <a:cs typeface="Calibri"/>
              </a:rPr>
              <a:t>tehtud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14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8261-5F5F-4373-A5D6-4E857721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60981-4133-90F6-400C-B8BA63CB6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3CF2B-B63C-6161-DFC0-A10D6DB8C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967AF-CF81-C282-94D9-719A7EB72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70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1A3C-E783-7FC2-9DCE-9F00D9B1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34939-D194-A8D8-24F4-C85F5076C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F7AAE-DFE9-BA24-9A96-0EFCA02C2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10A03-469A-13BE-92A5-4D0B78A8A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46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B99D-40EC-4B75-2DC1-2D679F44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8C3F8-B93D-2F9A-B957-178CA06DA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55BA3-0FFA-7E1A-3BED-F130CFB7D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B880B-DCCB-A2B5-176F-2871A027C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79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A34C-149A-57A8-DCCE-482263E2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C817-AC27-CA90-93C2-204C3230E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C1774-130A-2B62-BCFA-16A9E5D06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428F6-B692-59EB-721A-51F223C67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BA19-D777-9E20-BF93-785C6FD9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067A8-EBCA-9340-EB1C-DDA327EF2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AA69D-F36C-AFA3-E634-1418D2910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3F773-2E41-9E9C-472B-7B2627067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29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t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99514-027B-49BD-8B49-5054CA40ECF4}" type="slidenum">
              <a:rPr lang="et-EE" smtClean="0"/>
              <a:t>26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04004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28.08.2026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t-E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t-EE" sz="15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16A5AF-4096-3F73-CDAE-6BD353811010}"/>
              </a:ext>
            </a:extLst>
          </p:cNvPr>
          <p:cNvCxnSpPr>
            <a:cxnSpLocks/>
          </p:cNvCxnSpPr>
          <p:nvPr userDrawn="1"/>
        </p:nvCxnSpPr>
        <p:spPr>
          <a:xfrm>
            <a:off x="680936" y="6411507"/>
            <a:ext cx="9766503" cy="0"/>
          </a:xfrm>
          <a:prstGeom prst="line">
            <a:avLst/>
          </a:prstGeom>
          <a:noFill/>
          <a:ln w="38100" cap="flat" cmpd="sng" algn="ctr">
            <a:solidFill>
              <a:srgbClr val="584FF5"/>
            </a:solidFill>
            <a:prstDash val="solid"/>
            <a:miter lim="800000"/>
          </a:ln>
          <a:effectLst/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576EF2F-0C5E-420A-857B-31ACCBDDD5CD}"/>
              </a:ext>
            </a:extLst>
          </p:cNvPr>
          <p:cNvGrpSpPr/>
          <p:nvPr userDrawn="1"/>
        </p:nvGrpSpPr>
        <p:grpSpPr>
          <a:xfrm>
            <a:off x="10951021" y="6277886"/>
            <a:ext cx="674192" cy="266297"/>
            <a:chOff x="10757948" y="6254276"/>
            <a:chExt cx="809030" cy="31955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B5F4D7E-D685-D63A-46F9-6F65D124122E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rgbClr val="584FF5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761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Inter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C0494AF-C2FA-DB73-BDB7-868AA8801C0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rgbClr val="584FF5">
                <a:lumMod val="60000"/>
                <a:lumOff val="40000"/>
              </a:srgb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761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Int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  <p:sldLayoutId id="214748367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archlightinstitute.org/wp-content/uploads/2025/12/Crosstabs-AI-Polling-Survey-v2-20250730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riigiakadeemia.ee/course/index.php?categoryid=60" TargetMode="External"/><Relationship Id="rId2" Type="http://schemas.openxmlformats.org/officeDocument/2006/relationships/hyperlink" Target="https://sisu.ut.ee/ti/oppematerjali-avaleht/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youtu.be/LPZh9BOjkQs?si=Z3O5J0zhSEZG9TW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app" TargetMode="External"/><Relationship Id="rId2" Type="http://schemas.openxmlformats.org/officeDocument/2006/relationships/hyperlink" Target="https://chatgpt.com/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notebooklm.google.com/" TargetMode="External"/><Relationship Id="rId5" Type="http://schemas.openxmlformats.org/officeDocument/2006/relationships/hyperlink" Target="https://claude.ai/" TargetMode="External"/><Relationship Id="rId4" Type="http://schemas.openxmlformats.org/officeDocument/2006/relationships/hyperlink" Target="https://copilot.microsoft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sinuemail@email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-scm.com/book/en/v2/Getting-Started-First-Time-Git-Setup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code.visualstudio.com/docs/sourcecontrol/intro-to-git?originUrl=%2FDocs" TargetMode="External"/><Relationship Id="rId4" Type="http://schemas.openxmlformats.org/officeDocument/2006/relationships/hyperlink" Target="https://code.visualstudio.com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t-EE" noProof="0" dirty="0">
                <a:cs typeface="Poppins SemiBold"/>
              </a:rPr>
              <a:t>Vali Andmetarkus!</a:t>
            </a:r>
            <a:endParaRPr lang="et-EE" noProof="0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>
                <a:ea typeface="Inter"/>
              </a:rPr>
              <a:t>Emilie Abel</a:t>
            </a:r>
            <a:endParaRPr lang="et-EE" noProof="0" dirty="0"/>
          </a:p>
          <a:p>
            <a:r>
              <a:rPr lang="en-GB" noProof="0" dirty="0">
                <a:ea typeface="Inter"/>
              </a:rPr>
              <a:t>eilime@live.com</a:t>
            </a:r>
            <a:endParaRPr lang="et-EE" noProof="0" dirty="0">
              <a:ea typeface="Inter"/>
            </a:endParaRPr>
          </a:p>
          <a:p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2D32-F63A-E758-B4AD-98B1A2FF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7A2D-F34A-AFF4-F094-9247F2654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3600" b="1" noProof="0" dirty="0">
                <a:ea typeface="+mj-lt"/>
                <a:cs typeface="+mj-lt"/>
              </a:rPr>
              <a:t>Päevakava - XV päev</a:t>
            </a:r>
            <a:endParaRPr lang="et-EE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E32B2B-E742-662F-CC36-DC7E268CAC3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327165424"/>
              </p:ext>
            </p:extLst>
          </p:nvPr>
        </p:nvGraphicFramePr>
        <p:xfrm>
          <a:off x="623888" y="1268413"/>
          <a:ext cx="11021261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21261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Koolitus – esineja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Koolitus -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Tehisaru toimimise põhimõtted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 </a:t>
                      </a:r>
                      <a:endParaRPr lang="et-EE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Vestlusrobotiga andmeanalüüs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Vestlusrobotiga andmeanalüüs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2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EBB5-E66E-D684-9080-959FC5E28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B597-CCE1-B2CB-AF5D-4898AE0673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12984A-F918-66CF-9BF7-11C289E05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t-EE" noProof="0" dirty="0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267788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DBF1-6B0C-F0AB-B6AE-072A389A2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Kuidas generatiivne tehisaru töötab?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597CA-D61E-17DA-17B5-C9C1738A73BE}"/>
              </a:ext>
            </a:extLst>
          </p:cNvPr>
          <p:cNvSpPr txBox="1"/>
          <p:nvPr/>
        </p:nvSpPr>
        <p:spPr>
          <a:xfrm>
            <a:off x="650240" y="1188720"/>
            <a:ext cx="51612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t-EE" noProof="0" dirty="0">
                <a:ea typeface="Inter"/>
              </a:rPr>
              <a:t>Mida arvasid ameeriklased augustis 2025:</a:t>
            </a:r>
            <a:endParaRPr lang="et-EE" noProof="0" dirty="0"/>
          </a:p>
          <a:p>
            <a:pPr marL="285750" indent="-285750">
              <a:buFont typeface="Arial"/>
              <a:buChar char="•"/>
            </a:pPr>
            <a:endParaRPr lang="et-EE" noProof="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DF6099E-FFF5-3B8B-6ED0-48C668AABFB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055813" y="1836261"/>
            <a:ext cx="8077200" cy="4000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4B374B-E0FB-F26A-AAD2-2AA0ED2D1C5C}"/>
              </a:ext>
            </a:extLst>
          </p:cNvPr>
          <p:cNvSpPr txBox="1"/>
          <p:nvPr/>
        </p:nvSpPr>
        <p:spPr>
          <a:xfrm>
            <a:off x="2692400" y="6014720"/>
            <a:ext cx="75184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t-EE" sz="1400" noProof="0" dirty="0">
                <a:ea typeface="Inter"/>
              </a:rPr>
              <a:t>Allikas:</a:t>
            </a:r>
            <a:r>
              <a:rPr lang="et-EE" sz="1400" noProof="0" dirty="0">
                <a:ea typeface="+mn-lt"/>
                <a:cs typeface="+mn-lt"/>
              </a:rPr>
              <a:t> </a:t>
            </a:r>
            <a:r>
              <a:rPr lang="et-EE" sz="1400" noProof="0" dirty="0" err="1">
                <a:ea typeface="+mn-lt"/>
                <a:cs typeface="+mn-lt"/>
                <a:hlinkClick r:id="rId3"/>
              </a:rPr>
              <a:t>Searchlight</a:t>
            </a:r>
            <a:r>
              <a:rPr lang="et-EE" sz="1400" noProof="0" dirty="0">
                <a:ea typeface="+mn-lt"/>
                <a:cs typeface="+mn-lt"/>
                <a:hlinkClick r:id="rId3"/>
              </a:rPr>
              <a:t> </a:t>
            </a:r>
            <a:r>
              <a:rPr lang="et-EE" sz="1400" noProof="0" dirty="0" err="1">
                <a:ea typeface="+mn-lt"/>
                <a:cs typeface="+mn-lt"/>
                <a:hlinkClick r:id="rId3"/>
              </a:rPr>
              <a:t>Institute</a:t>
            </a:r>
            <a:r>
              <a:rPr lang="et-EE" sz="1400" noProof="0" dirty="0">
                <a:ea typeface="+mn-lt"/>
                <a:cs typeface="+mn-lt"/>
                <a:hlinkClick r:id="rId3"/>
              </a:rPr>
              <a:t> ja Tavern Research uuring AI kohta</a:t>
            </a:r>
            <a:r>
              <a:rPr lang="et-EE" sz="1400" noProof="0" dirty="0">
                <a:ea typeface="+mn-lt"/>
                <a:cs typeface="+mn-lt"/>
              </a:rPr>
              <a:t>.</a:t>
            </a:r>
            <a:r>
              <a:rPr lang="et-EE" noProof="0" dirty="0">
                <a:ea typeface="+mn-lt"/>
                <a:cs typeface="+mn-lt"/>
              </a:rPr>
              <a:t> </a:t>
            </a:r>
            <a:endParaRPr lang="et-EE" noProof="0" dirty="0">
              <a:ea typeface="Inter"/>
            </a:endParaRPr>
          </a:p>
          <a:p>
            <a:pPr algn="r"/>
            <a:endParaRPr lang="et-EE" noProof="0" dirty="0">
              <a:solidFill>
                <a:srgbClr val="121212"/>
              </a:solidFill>
              <a:ea typeface="Inter"/>
            </a:endParaRPr>
          </a:p>
          <a:p>
            <a:endParaRPr lang="et-EE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5735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154E-E89E-8B00-74C5-66A723E4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4698-C786-6EFD-B097-B5E4A75DB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sz="2800" b="1" noProof="0" dirty="0"/>
              <a:t>Generatiivne tehisaru – suured keelemudelid (</a:t>
            </a:r>
            <a:r>
              <a:rPr lang="et-EE" sz="2800" b="1" noProof="0" dirty="0" err="1"/>
              <a:t>LLMs</a:t>
            </a:r>
            <a:r>
              <a:rPr lang="et-EE" sz="2800" b="1" noProof="0" dirty="0"/>
              <a:t>)</a:t>
            </a:r>
            <a:endParaRPr lang="et-EE" sz="28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179F-8918-CD83-5B3D-AF1D9C751E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solidFill>
                  <a:srgbClr val="121212"/>
                </a:solidFill>
                <a:latin typeface="Inter"/>
                <a:ea typeface="Inter"/>
                <a:cs typeface="Noto Serif"/>
              </a:rPr>
              <a:t>Treenitakse tekstide ja muude materjalide pinnalt.</a:t>
            </a:r>
            <a:endParaRPr lang="et-EE" sz="2400" noProof="0" dirty="0">
              <a:solidFill>
                <a:srgbClr val="121212"/>
              </a:solidFill>
              <a:latin typeface="Inter" panose="02000503000000020004" pitchFamily="2" charset="0"/>
              <a:cs typeface="Noto Serif"/>
            </a:endParaRPr>
          </a:p>
          <a:p>
            <a:pPr marL="857250" lvl="1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000" noProof="0" dirty="0">
                <a:ea typeface="Inter"/>
                <a:cs typeface="Noto Serif"/>
              </a:rPr>
              <a:t>Otsib mustreid tekstides - </a:t>
            </a:r>
            <a:r>
              <a:rPr lang="et-EE" sz="2000" noProof="0" dirty="0" err="1">
                <a:ea typeface="Inter"/>
                <a:cs typeface="Noto Serif"/>
              </a:rPr>
              <a:t>sõnadevahelisi</a:t>
            </a:r>
            <a:r>
              <a:rPr lang="et-EE" sz="2000" noProof="0" dirty="0">
                <a:ea typeface="Inter"/>
                <a:cs typeface="Noto Serif"/>
              </a:rPr>
              <a:t> seoseid mitmete treeningtsüklite käigus.</a:t>
            </a:r>
          </a:p>
          <a:p>
            <a:pPr marL="125730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t-EE" sz="2000" noProof="0" dirty="0" err="1">
                <a:ea typeface="Inter"/>
                <a:cs typeface="Noto Serif"/>
              </a:rPr>
              <a:t>Tokenization</a:t>
            </a:r>
            <a:r>
              <a:rPr lang="et-EE" sz="2000" noProof="0" dirty="0">
                <a:ea typeface="Inter"/>
                <a:cs typeface="Noto Serif"/>
              </a:rPr>
              <a:t> – tekstid jagatakse osadeks.</a:t>
            </a:r>
          </a:p>
          <a:p>
            <a:pPr marL="125730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t-EE" sz="2000" noProof="0" dirty="0" err="1">
                <a:ea typeface="Inter"/>
                <a:cs typeface="Noto Serif"/>
              </a:rPr>
              <a:t>Embedding</a:t>
            </a:r>
            <a:r>
              <a:rPr lang="et-EE" sz="2000" noProof="0" dirty="0">
                <a:ea typeface="Inter"/>
                <a:cs typeface="Noto Serif"/>
              </a:rPr>
              <a:t> – </a:t>
            </a:r>
            <a:r>
              <a:rPr lang="et-EE" sz="2000" noProof="0" dirty="0" err="1">
                <a:ea typeface="Inter"/>
                <a:cs typeface="Noto Serif"/>
              </a:rPr>
              <a:t>tokenitele</a:t>
            </a:r>
            <a:r>
              <a:rPr lang="et-EE" sz="2000" noProof="0" dirty="0">
                <a:ea typeface="Inter"/>
                <a:cs typeface="Noto Serif"/>
              </a:rPr>
              <a:t> määratakse vektor, mis määrab tema asukoha teiste </a:t>
            </a:r>
            <a:r>
              <a:rPr lang="et-EE" sz="2000" noProof="0" dirty="0" err="1">
                <a:ea typeface="Inter"/>
                <a:cs typeface="Noto Serif"/>
              </a:rPr>
              <a:t>tokenitega</a:t>
            </a:r>
            <a:r>
              <a:rPr lang="et-EE" sz="2000" noProof="0" dirty="0">
                <a:ea typeface="Inter"/>
                <a:cs typeface="Noto Serif"/>
              </a:rPr>
              <a:t> võrdluses.</a:t>
            </a:r>
          </a:p>
          <a:p>
            <a:pPr marL="857250" lvl="1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000" noProof="0" dirty="0">
                <a:ea typeface="Inter"/>
                <a:cs typeface="Noto Serif"/>
              </a:rPr>
              <a:t>Areneb vastavalt tagasisidele. (</a:t>
            </a:r>
            <a:r>
              <a:rPr lang="et-EE" sz="2000" noProof="0" dirty="0" err="1">
                <a:ea typeface="Inter"/>
                <a:cs typeface="Noto Serif"/>
              </a:rPr>
              <a:t>Reinforcement</a:t>
            </a:r>
            <a:r>
              <a:rPr lang="et-EE" sz="2000" noProof="0" dirty="0">
                <a:ea typeface="Inter"/>
                <a:cs typeface="Noto Serif"/>
              </a:rPr>
              <a:t> </a:t>
            </a:r>
            <a:r>
              <a:rPr lang="et-EE" sz="2000" noProof="0" dirty="0" err="1">
                <a:ea typeface="Inter"/>
                <a:cs typeface="Noto Serif"/>
              </a:rPr>
              <a:t>Learning</a:t>
            </a:r>
            <a:r>
              <a:rPr lang="et-EE" sz="2000" noProof="0" dirty="0">
                <a:ea typeface="Inter"/>
                <a:cs typeface="Noto Serif"/>
              </a:rPr>
              <a:t>)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n-US" sz="2400" noProof="0" dirty="0" err="1">
                <a:ea typeface="Inter"/>
                <a:cs typeface="Noto Serif"/>
              </a:rPr>
              <a:t>Sisendi</a:t>
            </a:r>
            <a:r>
              <a:rPr lang="et-EE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järel</a:t>
            </a:r>
            <a:r>
              <a:rPr lang="et-EE" sz="2400" noProof="0" dirty="0">
                <a:ea typeface="Inter"/>
                <a:cs typeface="Noto Serif"/>
              </a:rPr>
              <a:t> ennustatakse, milline sõna tuleb järgmisena. 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Vastuste kvaliteet oleneb treeningandmestiku kvaliteedist.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Tehisaru võib "</a:t>
            </a:r>
            <a:r>
              <a:rPr lang="et-EE" sz="2400" noProof="0" dirty="0" err="1">
                <a:ea typeface="Inter"/>
                <a:cs typeface="Noto Serif"/>
              </a:rPr>
              <a:t>hallutsineerida</a:t>
            </a:r>
            <a:r>
              <a:rPr lang="et-EE" sz="2400" noProof="0" dirty="0">
                <a:ea typeface="Inter"/>
                <a:cs typeface="Noto Serif"/>
              </a:rPr>
              <a:t>".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364799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1888729"/>
            <a:ext cx="983605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Generatiivne AI vs traditsiooniline tarkvara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661492" y="2951857"/>
            <a:ext cx="364291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Traditsiooniline programm</a:t>
            </a:r>
            <a:endParaRPr lang="en-US" sz="2208" dirty="0"/>
          </a:p>
        </p:txBody>
      </p:sp>
      <p:sp>
        <p:nvSpPr>
          <p:cNvPr id="4" name="Text 2"/>
          <p:cNvSpPr/>
          <p:nvPr/>
        </p:nvSpPr>
        <p:spPr>
          <a:xfrm>
            <a:off x="661492" y="3495279"/>
            <a:ext cx="520392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Teeb täpselt seda, mis sisse programmeeritud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Järgib ette määratud reegleid ja algoritme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Alati ühesugune tulemus samale sisendile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Ei loo midagi uut ise</a:t>
            </a:r>
            <a:endParaRPr lang="en-US" sz="1458" dirty="0"/>
          </a:p>
        </p:txBody>
      </p:sp>
      <p:sp>
        <p:nvSpPr>
          <p:cNvPr id="5" name="Shape 3"/>
          <p:cNvSpPr/>
          <p:nvPr/>
        </p:nvSpPr>
        <p:spPr>
          <a:xfrm>
            <a:off x="6196807" y="2762845"/>
            <a:ext cx="5476181" cy="2206427"/>
          </a:xfrm>
          <a:prstGeom prst="roundRect">
            <a:avLst>
              <a:gd name="adj" fmla="val 616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t-EE" sz="1500"/>
          </a:p>
        </p:txBody>
      </p:sp>
      <p:sp>
        <p:nvSpPr>
          <p:cNvPr id="6" name="Text 4"/>
          <p:cNvSpPr/>
          <p:nvPr/>
        </p:nvSpPr>
        <p:spPr>
          <a:xfrm>
            <a:off x="6385819" y="2951857"/>
            <a:ext cx="365521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b="1" dirty="0">
                <a:solidFill>
                  <a:srgbClr val="FFFFFF"/>
                </a:solidFill>
                <a:ea typeface="Inter Bold" pitchFamily="34" charset="-122"/>
                <a:cs typeface="Inter Bold" pitchFamily="34" charset="-120"/>
              </a:rPr>
              <a:t>Generatiivne AI (ChatGPT)</a:t>
            </a:r>
            <a:endParaRPr lang="en-US" sz="2208" dirty="0"/>
          </a:p>
        </p:txBody>
      </p:sp>
      <p:sp>
        <p:nvSpPr>
          <p:cNvPr id="7" name="Text 5"/>
          <p:cNvSpPr/>
          <p:nvPr/>
        </p:nvSpPr>
        <p:spPr>
          <a:xfrm>
            <a:off x="6385818" y="3495279"/>
            <a:ext cx="5098157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Loob uut ja originaalset sisu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Genereerib teksti, pilte ja tabeleid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Kohaneb kontekstiga ja loov vastustes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FFFFFF"/>
                </a:solidFill>
                <a:ea typeface="Inter" pitchFamily="34" charset="-122"/>
                <a:cs typeface="Inter" pitchFamily="34" charset="-120"/>
              </a:rPr>
              <a:t>Iga vastus on unikaalne</a:t>
            </a:r>
            <a:endParaRPr lang="en-US" sz="145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6728-76D6-E8E6-D46A-BE5C5BCFA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Lisamaterjale</a:t>
            </a:r>
            <a:r>
              <a:rPr lang="en-US" dirty="0"/>
              <a:t> </a:t>
            </a:r>
            <a:r>
              <a:rPr lang="en-US" dirty="0" err="1"/>
              <a:t>tehisaru</a:t>
            </a:r>
            <a:r>
              <a:rPr lang="en-US" dirty="0"/>
              <a:t> </a:t>
            </a:r>
            <a:r>
              <a:rPr lang="en-US" dirty="0" err="1"/>
              <a:t>olemuse</a:t>
            </a:r>
            <a:r>
              <a:rPr lang="en-US" dirty="0"/>
              <a:t> </a:t>
            </a:r>
            <a:r>
              <a:rPr lang="en-US" dirty="0" err="1"/>
              <a:t>mõistmiseks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36C9B-9CD7-7743-0A7B-85761C9ACA6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TÜ </a:t>
            </a:r>
            <a:r>
              <a:rPr lang="en-US" sz="2400" dirty="0" err="1"/>
              <a:t>õppematerjal</a:t>
            </a:r>
            <a:r>
              <a:rPr lang="en-US" sz="2400" dirty="0"/>
              <a:t>: </a:t>
            </a:r>
            <a:r>
              <a:rPr lang="en-US" sz="2400" dirty="0">
                <a:hlinkClick r:id="rId2"/>
              </a:rPr>
              <a:t>https://sisu.ut.ee/ti/oppematerjali-avaleht/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Digiriigi</a:t>
            </a:r>
            <a:r>
              <a:rPr lang="en-US" sz="2400" dirty="0"/>
              <a:t> </a:t>
            </a:r>
            <a:r>
              <a:rPr lang="en-US" sz="2400" dirty="0" err="1"/>
              <a:t>Akadeemia</a:t>
            </a:r>
            <a:r>
              <a:rPr lang="en-US" sz="2400" dirty="0"/>
              <a:t> </a:t>
            </a:r>
            <a:r>
              <a:rPr lang="en-US" sz="2400" dirty="0" err="1"/>
              <a:t>kursused</a:t>
            </a:r>
            <a:r>
              <a:rPr lang="en-US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hlinkClick r:id="rId3"/>
              </a:rPr>
              <a:t>https://digiriigiakadeemia.ee/course/index.php?categoryid=60</a:t>
            </a:r>
            <a:endParaRPr lang="en-US" sz="2400" dirty="0"/>
          </a:p>
          <a:p>
            <a:pPr lvl="1"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Lühike</a:t>
            </a:r>
            <a:r>
              <a:rPr lang="en-US" sz="2400" dirty="0"/>
              <a:t> </a:t>
            </a:r>
            <a:r>
              <a:rPr lang="en-US" sz="2400" dirty="0" err="1"/>
              <a:t>ingliskeelne</a:t>
            </a:r>
            <a:r>
              <a:rPr lang="en-US" sz="2400" dirty="0"/>
              <a:t> </a:t>
            </a:r>
            <a:r>
              <a:rPr lang="en-US" sz="2400" dirty="0" err="1"/>
              <a:t>tutvustus</a:t>
            </a:r>
            <a:r>
              <a:rPr lang="en-US" sz="2400" dirty="0"/>
              <a:t> </a:t>
            </a:r>
            <a:r>
              <a:rPr lang="en-US" sz="2400" dirty="0" err="1"/>
              <a:t>keelemudelite</a:t>
            </a:r>
            <a:r>
              <a:rPr lang="en-US" sz="2400" dirty="0"/>
              <a:t> </a:t>
            </a:r>
            <a:r>
              <a:rPr lang="en-US" sz="2400" dirty="0" err="1"/>
              <a:t>toimimise</a:t>
            </a:r>
            <a:r>
              <a:rPr lang="en-US" sz="2400" dirty="0"/>
              <a:t> </a:t>
            </a:r>
            <a:r>
              <a:rPr lang="en-US" sz="2400" dirty="0" err="1"/>
              <a:t>kohta</a:t>
            </a:r>
            <a:r>
              <a:rPr lang="en-US" sz="2400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hlinkClick r:id="rId4"/>
              </a:rPr>
              <a:t>https://youtu.be/LPZh9BOjkQs?si=Z3O5J0zhSEZG9TWc</a:t>
            </a:r>
            <a:r>
              <a:rPr lang="en-US" sz="2400" dirty="0"/>
              <a:t>  </a:t>
            </a: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114358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4885-183C-7405-345F-6F039AC3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D799-FEF4-2867-2771-9F5C35BC3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levinumad vestlusrobotid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92C0-055D-8861-D035-31319A80180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 err="1">
                <a:solidFill>
                  <a:srgbClr val="121212"/>
                </a:solidFill>
                <a:latin typeface="Inter"/>
                <a:ea typeface="Inter"/>
                <a:cs typeface="Noto Serif"/>
                <a:hlinkClick r:id="rId2"/>
              </a:rPr>
              <a:t>ChatGPT</a:t>
            </a:r>
            <a:endParaRPr lang="et-EE" sz="2400" noProof="0" dirty="0">
              <a:latin typeface="Inter" panose="02000503000000020004" pitchFamily="2" charset="0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  <a:hlinkClick r:id="rId3"/>
              </a:rPr>
              <a:t>Google </a:t>
            </a:r>
            <a:r>
              <a:rPr lang="et-EE" sz="2400" noProof="0" dirty="0" err="1">
                <a:ea typeface="Inter"/>
                <a:cs typeface="Noto Serif"/>
                <a:hlinkClick r:id="rId3"/>
              </a:rPr>
              <a:t>Gemini</a:t>
            </a:r>
            <a:r>
              <a:rPr lang="et-EE" sz="2400" noProof="0" dirty="0">
                <a:ea typeface="Inter"/>
                <a:cs typeface="Noto Serif"/>
              </a:rPr>
              <a:t> 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  <a:hlinkClick r:id="rId4"/>
              </a:rPr>
              <a:t>Microsoft </a:t>
            </a:r>
            <a:r>
              <a:rPr lang="et-EE" sz="2400" noProof="0" dirty="0" err="1">
                <a:ea typeface="Inter"/>
                <a:cs typeface="Noto Serif"/>
                <a:hlinkClick r:id="rId4"/>
              </a:rPr>
              <a:t>Copilot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  <a:hlinkClick r:id="rId5"/>
              </a:rPr>
              <a:t>Claude</a:t>
            </a:r>
            <a:endParaRPr lang="et-EE" sz="2400" noProof="0" dirty="0">
              <a:ea typeface="Inter"/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 err="1">
                <a:ea typeface="Inter"/>
                <a:cs typeface="Noto Serif"/>
                <a:hlinkClick r:id="rId6"/>
              </a:rPr>
              <a:t>NotebookLM</a:t>
            </a:r>
            <a:endParaRPr lang="et-EE" sz="2400" noProof="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t-EE" sz="2400" noProof="0" dirty="0">
                <a:ea typeface="Inter"/>
                <a:cs typeface="Noto Serif"/>
              </a:rPr>
              <a:t>Nt proovi "Show </a:t>
            </a:r>
            <a:r>
              <a:rPr lang="et-EE" sz="2400" noProof="0" dirty="0" err="1">
                <a:ea typeface="Inter"/>
                <a:cs typeface="Noto Serif"/>
              </a:rPr>
              <a:t>world</a:t>
            </a:r>
            <a:r>
              <a:rPr lang="et-EE" sz="2400" noProof="0" dirty="0">
                <a:ea typeface="Inter"/>
                <a:cs typeface="Noto Serif"/>
              </a:rPr>
              <a:t> </a:t>
            </a:r>
            <a:r>
              <a:rPr lang="et-EE" sz="2400" noProof="0" dirty="0" err="1">
                <a:ea typeface="Inter"/>
                <a:cs typeface="Noto Serif"/>
              </a:rPr>
              <a:t>population</a:t>
            </a:r>
            <a:r>
              <a:rPr lang="et-EE" sz="2400" noProof="0" dirty="0">
                <a:ea typeface="Inter"/>
                <a:cs typeface="Noto Serif"/>
              </a:rPr>
              <a:t> on </a:t>
            </a:r>
            <a:r>
              <a:rPr lang="et-EE" sz="2400" noProof="0" dirty="0" err="1">
                <a:ea typeface="Inter"/>
                <a:cs typeface="Noto Serif"/>
              </a:rPr>
              <a:t>graph</a:t>
            </a:r>
            <a:r>
              <a:rPr lang="et-EE" sz="2400" noProof="0" dirty="0">
                <a:ea typeface="Inter"/>
                <a:cs typeface="Noto Serif"/>
              </a:rPr>
              <a:t>."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57446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96E0-0447-F416-DAB5-8BD8EEA4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A12E-8239-93DD-2B09-FE46CB68C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levinumad kasutusvõimalused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E41D-2DBC-64AB-6A9E-0377C470EE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Koodi ja valemite loomine ning paluda selgitused juurde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Veateadete lahendamine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Andmemudeli loomine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Näidisandmestike loomine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Graafikute loomine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Statistiliste analüüside tegemine</a:t>
            </a: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000" noProof="0" dirty="0">
                <a:ea typeface="Inter"/>
                <a:cs typeface="Noto Serif"/>
              </a:rPr>
              <a:t>Kokkuvõtete tegemine, tulemuste tõlgendamine</a:t>
            </a:r>
            <a:endParaRPr lang="et-EE" sz="20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0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NB! Kasutamisel tuleb silmas pidada andmekaitset ja ärisaladuse hoidmist. Tavaliselt vestlusrobotid kasutavad saadud andmeid edasiseks treenimiseks.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189421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ADE9-9363-85CB-B4E2-88FFEFF67A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B827E-3573-517D-8E13-7A036189F8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61094-F6EB-7D49-C2E9-BD2283B4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986" y="479570"/>
            <a:ext cx="7718331" cy="51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8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DEC0-4E0D-7B98-5997-87424201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32AA-1804-C95A-235A-B1630A75A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eduka sisendi kirjutamine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4C29-7DB7-412C-B56A-46EC71179C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Sisend = keelemudelile antud </a:t>
            </a:r>
            <a:r>
              <a:rPr lang="et-EE" sz="2400" noProof="0" dirty="0" err="1">
                <a:ea typeface="Inter"/>
                <a:cs typeface="Noto Serif"/>
              </a:rPr>
              <a:t>viip</a:t>
            </a:r>
            <a:endParaRPr lang="et-EE" sz="2400" noProof="0" dirty="0">
              <a:ea typeface="Inter"/>
              <a:cs typeface="Noto Serif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Anna võimalikult palju konteksti ning millises formaadis vastust soovid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Täpsusta, millist tarkvara kasutad, kui valemeid küsid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Iteratiivne protsess – kui kohe ei saa õiget vastust, siis täienda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402765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613B-AA18-2E8F-A97B-F0B013DE2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Sisendi kirjutamise põhimõtted (CRAFT mudel)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332-1D1A-2C6E-9052-C6A2A20096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1) Kontekst - taustainfo</a:t>
            </a: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2) Roll – kelle rolli tehisaru võtab, nt ametiala</a:t>
            </a: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3) Tegevus – mis on eesmärk ja oodatud tulemus</a:t>
            </a: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4) Formaat – millises formaadis vastust soovid</a:t>
            </a:r>
            <a:endParaRPr lang="et-EE" noProof="0" dirty="0">
              <a:ea typeface="Inter"/>
            </a:endParaRPr>
          </a:p>
          <a:p>
            <a:pPr marL="457200" indent="0">
              <a:lnSpc>
                <a:spcPct val="150000"/>
              </a:lnSpc>
              <a:buNone/>
            </a:pPr>
            <a:r>
              <a:rPr lang="et-EE" sz="2400" noProof="0" dirty="0">
                <a:ea typeface="Inter"/>
              </a:rPr>
              <a:t>5) Sihtgrupp - kellele on tulem suunatud</a:t>
            </a:r>
            <a:endParaRPr lang="et-EE" noProof="0" dirty="0"/>
          </a:p>
          <a:p>
            <a:pPr marL="742950" lvl="1" indent="-285750">
              <a:lnSpc>
                <a:spcPct val="150000"/>
              </a:lnSpc>
            </a:pPr>
            <a:endParaRPr lang="et-EE" noProof="0" dirty="0">
              <a:solidFill>
                <a:srgbClr val="12121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515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09EE-22F1-1315-8A2D-3282644AA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Sisendi näide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5931E-0B21-061A-1BAA-585EFA37FA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sz="2400" noProof="0" dirty="0">
                <a:ea typeface="Inter"/>
              </a:rPr>
              <a:t>Algne: </a:t>
            </a:r>
            <a:r>
              <a:rPr lang="et-EE" sz="2400" noProof="0" dirty="0">
                <a:ea typeface="+mn-lt"/>
                <a:cs typeface="+mn-lt"/>
              </a:rPr>
              <a:t>Analüüsi andmeid.</a:t>
            </a:r>
            <a:endParaRPr lang="et-EE" sz="2400" noProof="0" dirty="0"/>
          </a:p>
          <a:p>
            <a:pPr marL="0" indent="0">
              <a:buNone/>
            </a:pPr>
            <a:endParaRPr lang="et-EE" sz="2400" noProof="0" dirty="0"/>
          </a:p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Täiendatud:</a:t>
            </a:r>
          </a:p>
          <a:p>
            <a:pPr lvl="1"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Siin on andmestik kahe pakiroboti tarneaja kohta. </a:t>
            </a:r>
            <a:r>
              <a:rPr lang="et-EE" sz="2000" i="1" noProof="0" dirty="0">
                <a:ea typeface="Inter"/>
              </a:rPr>
              <a:t>(Kontekst)</a:t>
            </a:r>
            <a:endParaRPr lang="et-EE" sz="2000" i="1" noProof="0" dirty="0"/>
          </a:p>
          <a:p>
            <a:pPr lvl="1">
              <a:lnSpc>
                <a:spcPct val="150000"/>
              </a:lnSpc>
            </a:pPr>
            <a:r>
              <a:rPr lang="et-EE" sz="2000" noProof="0" dirty="0">
                <a:ea typeface="Inter"/>
              </a:rPr>
              <a:t>Sa oled seenior andmeanalüütik. </a:t>
            </a:r>
            <a:r>
              <a:rPr lang="et-EE" sz="2000" i="1" noProof="0" dirty="0">
                <a:ea typeface="Inter"/>
              </a:rPr>
              <a:t>(Roll)</a:t>
            </a:r>
            <a:endParaRPr lang="et-EE" sz="2000" i="1" noProof="0" dirty="0"/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+mn-lt"/>
                <a:cs typeface="+mn-lt"/>
              </a:rPr>
              <a:t>Võrdle erinevust vana ja uue tarkvaraga pakiroboti vahel. </a:t>
            </a:r>
            <a:r>
              <a:rPr lang="et-EE" sz="2000" i="1" noProof="0" dirty="0">
                <a:ea typeface="+mn-lt"/>
                <a:cs typeface="+mn-lt"/>
              </a:rPr>
              <a:t>(Tegevus)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+mn-lt"/>
                <a:cs typeface="+mn-lt"/>
              </a:rPr>
              <a:t>Loo </a:t>
            </a:r>
            <a:r>
              <a:rPr lang="et-EE" sz="2000" noProof="0" dirty="0" err="1">
                <a:ea typeface="+mn-lt"/>
                <a:cs typeface="+mn-lt"/>
              </a:rPr>
              <a:t>Jupyter</a:t>
            </a:r>
            <a:r>
              <a:rPr lang="et-EE" sz="2000" noProof="0" dirty="0">
                <a:ea typeface="+mn-lt"/>
                <a:cs typeface="+mn-lt"/>
              </a:rPr>
              <a:t> </a:t>
            </a:r>
            <a:r>
              <a:rPr lang="et-EE" sz="2000" noProof="0" dirty="0" err="1">
                <a:ea typeface="+mn-lt"/>
                <a:cs typeface="+mn-lt"/>
              </a:rPr>
              <a:t>Notebook</a:t>
            </a:r>
            <a:r>
              <a:rPr lang="et-EE" sz="2000" noProof="0" dirty="0">
                <a:ea typeface="+mn-lt"/>
                <a:cs typeface="+mn-lt"/>
              </a:rPr>
              <a:t> fail. </a:t>
            </a:r>
            <a:r>
              <a:rPr lang="et-EE" sz="2000" i="1" noProof="0" dirty="0">
                <a:ea typeface="+mn-lt"/>
                <a:cs typeface="+mn-lt"/>
              </a:rPr>
              <a:t>(Formaat)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</a:pPr>
            <a:r>
              <a:rPr lang="et-EE" sz="2000" noProof="0" dirty="0">
                <a:ea typeface="+mn-lt"/>
                <a:cs typeface="+mn-lt"/>
              </a:rPr>
              <a:t>Esitlus on mõeldud tootetiimile.</a:t>
            </a:r>
            <a:r>
              <a:rPr lang="et-EE" sz="2000" i="1" noProof="0" dirty="0">
                <a:ea typeface="+mn-lt"/>
                <a:cs typeface="+mn-lt"/>
              </a:rPr>
              <a:t> (Sihtgrupp)</a:t>
            </a:r>
          </a:p>
          <a:p>
            <a:pPr lvl="1">
              <a:lnSpc>
                <a:spcPct val="150000"/>
              </a:lnSpc>
              <a:buClr>
                <a:srgbClr val="121212"/>
              </a:buClr>
              <a:buFont typeface="Courier New" panose="020B0502030000000004" pitchFamily="34" charset="0"/>
              <a:buChar char="o"/>
            </a:pPr>
            <a:endParaRPr lang="et-EE" sz="2400" noProof="0" dirty="0"/>
          </a:p>
          <a:p>
            <a:pPr lvl="1">
              <a:buClr>
                <a:srgbClr val="121212"/>
              </a:buClr>
              <a:buFont typeface="Courier New" panose="020B0502030000000004" pitchFamily="34" charset="0"/>
              <a:buChar char="o"/>
            </a:pPr>
            <a:endParaRPr lang="et-EE" sz="2400" noProof="0" dirty="0"/>
          </a:p>
          <a:p>
            <a:pPr lvl="1">
              <a:buFont typeface="Courier New" panose="020B0502030000000004" pitchFamily="34" charset="0"/>
              <a:buChar char="o"/>
            </a:pPr>
            <a:endParaRPr lang="et-EE" sz="2400" noProof="0" dirty="0"/>
          </a:p>
          <a:p>
            <a:pPr lvl="1">
              <a:buFont typeface="Courier New" panose="020B0502030000000004" pitchFamily="34" charset="0"/>
              <a:buChar char="o"/>
            </a:pPr>
            <a:endParaRPr lang="et-EE" noProof="0" dirty="0"/>
          </a:p>
        </p:txBody>
      </p:sp>
    </p:spTree>
    <p:extLst>
      <p:ext uri="{BB962C8B-B14F-4D97-AF65-F5344CB8AC3E}">
        <p14:creationId xmlns:p14="http://schemas.microsoft.com/office/powerpoint/2010/main" val="366773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36D3-A970-D5A5-D02E-FEE0E6B0D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noProof="0" dirty="0"/>
              <a:t>Tehisaru - personaliseerimine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FC87-C50E-09CA-7F87-C4C23D6BFC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t-EE" sz="2400" noProof="0" dirty="0">
                <a:ea typeface="Inter"/>
              </a:rPr>
              <a:t>Saab lisada info, mida iga päringu tegemisel jooksutatakse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t-EE" sz="2400" noProof="0" dirty="0">
                <a:ea typeface="Inter"/>
              </a:rPr>
              <a:t>Nt </a:t>
            </a:r>
            <a:r>
              <a:rPr lang="en-US" sz="2400" noProof="0" dirty="0">
                <a:ea typeface="Inter"/>
              </a:rPr>
              <a:t>Claude</a:t>
            </a:r>
            <a:r>
              <a:rPr lang="et-EE" sz="2400" noProof="0" dirty="0">
                <a:ea typeface="Inter"/>
              </a:rPr>
              <a:t> --&gt; kliki oma profiilil --&gt; </a:t>
            </a:r>
            <a:r>
              <a:rPr lang="en-US" sz="2400" dirty="0">
                <a:ea typeface="Inter"/>
              </a:rPr>
              <a:t>Settings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noProof="0" dirty="0">
              <a:ea typeface="Inter"/>
            </a:endParaRP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Projects</a:t>
            </a: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noProof="0" dirty="0">
              <a:ea typeface="Inter"/>
            </a:endParaRPr>
          </a:p>
          <a:p>
            <a:pPr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Mudeli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valik</a:t>
            </a:r>
            <a:endParaRPr lang="en-US" sz="2400" noProof="0" dirty="0"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8263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B0F9-9A44-A96E-0A3E-14C2C20C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FCE63-0FB0-32F6-8A25-B0877487D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EE2DCD-5528-0E71-8160-938192ACA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t-EE" noProof="0" dirty="0"/>
              <a:t>Lõunapaus 12:15-13:15</a:t>
            </a:r>
          </a:p>
        </p:txBody>
      </p:sp>
    </p:spTree>
    <p:extLst>
      <p:ext uri="{BB962C8B-B14F-4D97-AF65-F5344CB8AC3E}">
        <p14:creationId xmlns:p14="http://schemas.microsoft.com/office/powerpoint/2010/main" val="1494237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7D33-8F01-1754-4E8C-82C6A6EF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9B55-022C-CCF6-9EF2-07D4A3BC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vestlusrobotid - praktiline harjutus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66F8-FBDE-40E8-405E-245CA696AF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>
                <a:ea typeface="Inter"/>
                <a:cs typeface="Noto Serif"/>
              </a:rPr>
              <a:t>Ava  Müügiraporti Power BI </a:t>
            </a:r>
            <a:endParaRPr lang="et-EE" sz="2400" noProof="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n-US" sz="2400" noProof="0" dirty="0">
                <a:ea typeface="Inter"/>
                <a:cs typeface="Noto Serif"/>
              </a:rPr>
              <a:t>Palu </a:t>
            </a:r>
            <a:r>
              <a:rPr lang="en-US" sz="2400" noProof="0" dirty="0" err="1">
                <a:ea typeface="Inter"/>
                <a:cs typeface="Noto Serif"/>
              </a:rPr>
              <a:t>vestlusrobotitel</a:t>
            </a:r>
            <a:r>
              <a:rPr lang="en-US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selgitada</a:t>
            </a:r>
            <a:r>
              <a:rPr lang="en-US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saadud</a:t>
            </a:r>
            <a:r>
              <a:rPr lang="en-US" sz="2400" noProof="0" dirty="0">
                <a:ea typeface="Inter"/>
                <a:cs typeface="Noto Serif"/>
              </a:rPr>
              <a:t> </a:t>
            </a:r>
            <a:r>
              <a:rPr lang="en-US" sz="2400" noProof="0" dirty="0" err="1">
                <a:ea typeface="Inter"/>
                <a:cs typeface="Noto Serif"/>
              </a:rPr>
              <a:t>mõõdikuid</a:t>
            </a:r>
            <a:endParaRPr lang="en-US" sz="2400" noProof="0" dirty="0">
              <a:ea typeface="Inter"/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ea typeface="Inter"/>
                <a:cs typeface="Noto Serif"/>
              </a:rPr>
              <a:t>Palu erinevatel vestlusrobotitel luua samu arvutatud tulpasid ja mõõdikuid, mida analüüsis kasutasime. Võrdle vestlusrobotite vahelisi tulemusi ning meie poolt kirjutatud valemeid. </a:t>
            </a: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cs typeface="Noto Serif"/>
              </a:rPr>
              <a:t>Uuri sama </a:t>
            </a:r>
            <a:r>
              <a:rPr lang="et-EE" sz="2400" noProof="0" dirty="0" err="1">
                <a:cs typeface="Noto Serif"/>
              </a:rPr>
              <a:t>Employee</a:t>
            </a:r>
            <a:r>
              <a:rPr lang="et-EE" sz="2400" noProof="0" dirty="0">
                <a:cs typeface="Noto Serif"/>
              </a:rPr>
              <a:t> </a:t>
            </a:r>
            <a:r>
              <a:rPr lang="et-EE" sz="2400" noProof="0" dirty="0" err="1">
                <a:cs typeface="Noto Serif"/>
              </a:rPr>
              <a:t>Overview</a:t>
            </a:r>
            <a:r>
              <a:rPr lang="et-EE" sz="2400" noProof="0" dirty="0">
                <a:cs typeface="Noto Serif"/>
              </a:rPr>
              <a:t> raporti mõõdikute kohta</a:t>
            </a:r>
          </a:p>
          <a:p>
            <a:pPr marL="342900">
              <a:lnSpc>
                <a:spcPct val="150000"/>
              </a:lnSpc>
              <a:buClr>
                <a:srgbClr val="121212"/>
              </a:buClr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264181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065C-5832-C00B-D532-FF433879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5822-6BB3-759C-184D-73740C8BDF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t-EE" sz="2800" noProof="0" dirty="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t-EE" sz="2000" noProof="0" dirty="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EAEB33-E2E1-C05F-2B41-C3ECC3F9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t-EE" noProof="0" dirty="0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3652901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5517-C270-925D-C52A-A98C4F9B27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dirty="0"/>
              <a:t>Power BI projekt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0FC9E-D933-7C41-1F8D-FC5BCD0566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t-EE" dirty="0"/>
              <a:t>.pbip failid on tegelikult tavalised tekstifailid (JSON või TMDL)</a:t>
            </a:r>
          </a:p>
          <a:p>
            <a:r>
              <a:rPr lang="et-EE" b="1" dirty="0"/>
              <a:t>Mugav ja kiire nipp tasuta versioonis:</a:t>
            </a:r>
          </a:p>
          <a:p>
            <a:r>
              <a:rPr lang="et-EE" dirty="0"/>
              <a:t>Et sa ei peaks ridadest näpuga järge ajama ja käsitsi teksti asendama, kasuta seda taktikat:</a:t>
            </a:r>
          </a:p>
          <a:p>
            <a:pPr lvl="0"/>
            <a:r>
              <a:rPr lang="et-EE" dirty="0"/>
              <a:t>Laadi oma .json või .tmdl fail tasuta Claude'i üles.</a:t>
            </a:r>
          </a:p>
          <a:p>
            <a:pPr lvl="0"/>
            <a:r>
              <a:rPr lang="et-EE" dirty="0"/>
              <a:t>Kirjuta juurde: </a:t>
            </a:r>
            <a:r>
              <a:rPr lang="et-EE" i="1" dirty="0"/>
              <a:t>"Muuda selles failis [sinu soov] ja </a:t>
            </a:r>
            <a:r>
              <a:rPr lang="et-EE" b="1" i="1" dirty="0"/>
              <a:t>anna mulle tagasi täielik muudetud fail uuesti allalaadimiseks</a:t>
            </a:r>
            <a:r>
              <a:rPr lang="et-EE" i="1" dirty="0"/>
              <a:t>."</a:t>
            </a:r>
            <a:endParaRPr lang="et-EE" dirty="0"/>
          </a:p>
          <a:p>
            <a:pPr lvl="0"/>
            <a:r>
              <a:rPr lang="et-EE" dirty="0"/>
              <a:t>Claude töötleb koodi ja tekitab vestlusesse uue faili ikooni.</a:t>
            </a:r>
          </a:p>
          <a:p>
            <a:pPr lvl="0"/>
            <a:r>
              <a:rPr lang="et-EE" dirty="0"/>
              <a:t>Klikid lihtsalt nuppu </a:t>
            </a:r>
            <a:r>
              <a:rPr lang="et-EE" b="1" dirty="0"/>
              <a:t>"Download"</a:t>
            </a:r>
            <a:r>
              <a:rPr lang="et-EE" dirty="0"/>
              <a:t> ja salvestad selle faili oma .pbip kausta vana faili peale (asendad vana faili uuega). Nii jääb ära koodi seest ridade kopeerimine.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22624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393A-A8F2-67EE-DB4D-EC30357C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1A30-3F12-3F34-4B12-D2A75ABF5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923" y="479570"/>
            <a:ext cx="10044112" cy="357043"/>
          </a:xfrm>
        </p:spPr>
        <p:txBody>
          <a:bodyPr/>
          <a:lstStyle/>
          <a:p>
            <a:r>
              <a:rPr lang="et-EE" b="1" noProof="0" dirty="0"/>
              <a:t>Tehisaru – 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2D3B-479E-EDB2-3538-B9498FA1C1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r>
              <a:rPr lang="et-EE" sz="2400" noProof="0" dirty="0" err="1">
                <a:ea typeface="Inter"/>
                <a:cs typeface="Noto Serif"/>
              </a:rPr>
              <a:t>View</a:t>
            </a:r>
            <a:r>
              <a:rPr lang="et-EE" sz="2400" noProof="0" dirty="0">
                <a:ea typeface="Inter"/>
                <a:cs typeface="Noto Serif"/>
              </a:rPr>
              <a:t> --&gt; Chat</a:t>
            </a:r>
            <a:endParaRPr lang="et-EE" sz="2400" noProof="0" dirty="0">
              <a:cs typeface="Noto Serif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ea typeface="Inter"/>
                <a:cs typeface="Noto Serif"/>
              </a:rPr>
              <a:t>Ühendus valitud vestlusrobotiga</a:t>
            </a: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r>
              <a:rPr lang="et-EE" sz="2400" noProof="0" dirty="0">
                <a:ea typeface="Inter"/>
                <a:cs typeface="Noto Serif"/>
              </a:rPr>
              <a:t>Võimalik ette anda kontekst</a:t>
            </a: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t-EE" sz="2400" noProof="0" dirty="0">
                <a:ea typeface="Inter"/>
                <a:cs typeface="Noto Serif"/>
              </a:rPr>
              <a:t>Proovi luua SQL päringuid kirjelduse abil</a:t>
            </a:r>
            <a:endParaRPr lang="et-EE" sz="2400" noProof="0" dirty="0">
              <a:cs typeface="Noto Serif"/>
            </a:endParaRPr>
          </a:p>
          <a:p>
            <a:pPr marL="342900">
              <a:lnSpc>
                <a:spcPct val="150000"/>
              </a:lnSpc>
              <a:buClr>
                <a:srgbClr val="121212"/>
              </a:buClr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Noto Serif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857250" lvl="1" indent="-342900">
              <a:lnSpc>
                <a:spcPct val="150000"/>
              </a:lnSpc>
              <a:buFont typeface="Arial,Sans-Serif" panose="020B0502030000000004" pitchFamily="34" charset="0"/>
              <a:buChar char="o"/>
            </a:pPr>
            <a:endParaRPr lang="et-EE" sz="2400" noProof="0" dirty="0"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,Sans-Serif" panose="020B0502030000000004" pitchFamily="34" charset="0"/>
              <a:buChar char="•"/>
            </a:pPr>
            <a:endParaRPr lang="et-EE" sz="2400" noProof="0" dirty="0">
              <a:cs typeface="Arial"/>
            </a:endParaRPr>
          </a:p>
          <a:p>
            <a:pPr marL="514350" indent="-514350">
              <a:lnSpc>
                <a:spcPct val="150000"/>
              </a:lnSpc>
            </a:pPr>
            <a:endParaRPr lang="et-EE" sz="2800" noProof="0" dirty="0">
              <a:cs typeface="Arial"/>
            </a:endParaRPr>
          </a:p>
          <a:p>
            <a:pPr marL="0" indent="0">
              <a:lnSpc>
                <a:spcPct val="150000"/>
              </a:lnSpc>
              <a:buNone/>
            </a:pPr>
            <a:endParaRPr lang="et-EE" sz="2800" noProof="0" dirty="0"/>
          </a:p>
        </p:txBody>
      </p:sp>
    </p:spTree>
    <p:extLst>
      <p:ext uri="{BB962C8B-B14F-4D97-AF65-F5344CB8AC3E}">
        <p14:creationId xmlns:p14="http://schemas.microsoft.com/office/powerpoint/2010/main" val="136210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CACB-377A-85A1-C8EE-D4FFE701B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Versioonihaldus</a:t>
            </a:r>
            <a:r>
              <a:rPr lang="en-US"/>
              <a:t> – </a:t>
            </a:r>
            <a:r>
              <a:rPr lang="en-US" err="1"/>
              <a:t>Eesmärk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BACB-3B2E-7441-2028-49BA6BC09F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>
                <a:ea typeface="Inter"/>
              </a:rPr>
              <a:t>Enda </a:t>
            </a:r>
            <a:r>
              <a:rPr lang="en-US" sz="2400" err="1">
                <a:ea typeface="Inter"/>
              </a:rPr>
              <a:t>tööprotsessi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salvestamine</a:t>
            </a:r>
            <a:endParaRPr lang="en-US" sz="2400" err="1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err="1">
                <a:ea typeface="Inter"/>
              </a:rPr>
              <a:t>Koostöö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teistega</a:t>
            </a:r>
            <a:r>
              <a:rPr lang="en-US" sz="2400">
                <a:ea typeface="Inter"/>
              </a:rPr>
              <a:t> – </a:t>
            </a:r>
            <a:r>
              <a:rPr lang="en-US" sz="2400" err="1">
                <a:ea typeface="Inter"/>
              </a:rPr>
              <a:t>eri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versioonide</a:t>
            </a:r>
            <a:r>
              <a:rPr lang="en-US" sz="2400">
                <a:ea typeface="Inter"/>
              </a:rPr>
              <a:t> </a:t>
            </a:r>
            <a:r>
              <a:rPr lang="en-US" sz="2400" err="1">
                <a:ea typeface="Inter"/>
              </a:rPr>
              <a:t>võrdlus</a:t>
            </a:r>
            <a:r>
              <a:rPr lang="en-US" sz="2400">
                <a:ea typeface="Inter"/>
              </a:rPr>
              <a:t> ja </a:t>
            </a:r>
            <a:r>
              <a:rPr lang="en-US" sz="2400" err="1">
                <a:ea typeface="Inter"/>
              </a:rPr>
              <a:t>kokkupanek</a:t>
            </a:r>
            <a:endParaRPr lang="en-US" sz="2400" err="1"/>
          </a:p>
          <a:p>
            <a:pPr>
              <a:buClr>
                <a:srgbClr val="121212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43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F92B2-12B6-3EEC-F2B3-F755D2D6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10E0A-018E-5EE0-FA27-54E6A8EE89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Versioonihaldus</a:t>
            </a:r>
            <a:r>
              <a:rPr lang="en-US"/>
              <a:t> – </a:t>
            </a:r>
            <a:r>
              <a:rPr lang="en-US" err="1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C74D9-D356-E267-1957-9BD976270E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Veebipõhine </a:t>
            </a:r>
            <a:r>
              <a:rPr lang="en-US" sz="2400" dirty="0" err="1">
                <a:ea typeface="Inter"/>
              </a:rPr>
              <a:t>tööriist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koodi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halduseks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jagamiseks</a:t>
            </a:r>
            <a:endParaRPr lang="en-US" sz="2400" dirty="0" err="1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  <a:hlinkClick r:id="rId3"/>
              </a:rPr>
              <a:t>github.com</a:t>
            </a:r>
            <a:r>
              <a:rPr lang="en-US" sz="2400" dirty="0">
                <a:ea typeface="Inter"/>
              </a:rPr>
              <a:t> </a:t>
            </a: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Loo </a:t>
            </a:r>
            <a:r>
              <a:rPr lang="en-US" sz="2400" dirty="0" err="1">
                <a:ea typeface="Inter"/>
              </a:rPr>
              <a:t>konto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Loo </a:t>
            </a:r>
            <a:r>
              <a:rPr lang="en-US" sz="2400" dirty="0" err="1">
                <a:ea typeface="Inter"/>
              </a:rPr>
              <a:t>projekt</a:t>
            </a:r>
            <a:r>
              <a:rPr lang="en-US" sz="2400" dirty="0">
                <a:ea typeface="Inter"/>
              </a:rPr>
              <a:t> (repository)</a:t>
            </a:r>
            <a:endParaRPr lang="en-US" sz="2400" dirty="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Projekti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nimi</a:t>
            </a:r>
            <a:endParaRPr lang="en-US" sz="2400" dirty="0">
              <a:ea typeface="Inter"/>
            </a:endParaRP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Visibility: private </a:t>
            </a:r>
            <a:r>
              <a:rPr lang="en-US" sz="2400" dirty="0" err="1">
                <a:ea typeface="Inter"/>
              </a:rPr>
              <a:t>või</a:t>
            </a:r>
            <a:r>
              <a:rPr lang="en-US" sz="2400" dirty="0">
                <a:ea typeface="Inter"/>
              </a:rPr>
              <a:t> public</a:t>
            </a:r>
            <a:endParaRPr lang="en-US" sz="24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Add README: </a:t>
            </a:r>
            <a:r>
              <a:rPr lang="en-US" sz="2400" dirty="0" err="1">
                <a:ea typeface="Inter"/>
              </a:rPr>
              <a:t>loob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tekstifaili</a:t>
            </a:r>
            <a:endParaRPr lang="en-US" sz="2400" dirty="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Add .</a:t>
            </a:r>
            <a:r>
              <a:rPr lang="en-US" sz="2400" dirty="0" err="1">
                <a:ea typeface="Inter"/>
              </a:rPr>
              <a:t>gitignore</a:t>
            </a:r>
            <a:r>
              <a:rPr lang="en-US" sz="2400" dirty="0">
                <a:ea typeface="Inter"/>
              </a:rPr>
              <a:t> - </a:t>
            </a:r>
            <a:r>
              <a:rPr lang="en-US" sz="2400" dirty="0" err="1">
                <a:ea typeface="Inter"/>
              </a:rPr>
              <a:t>praegu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lisa</a:t>
            </a:r>
            <a:endParaRPr lang="en-US" sz="2400" dirty="0" err="1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Inter"/>
              </a:rPr>
              <a:t>Add license – </a:t>
            </a:r>
            <a:r>
              <a:rPr lang="en-US" sz="2400" dirty="0" err="1">
                <a:ea typeface="Inter"/>
              </a:rPr>
              <a:t>praegu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lisa</a:t>
            </a:r>
          </a:p>
          <a:p>
            <a:pPr>
              <a:buClr>
                <a:srgbClr val="121212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AB9A-674C-6748-A625-68CFB188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F7E5-84ED-CD9A-104B-2FFB5F9474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kasutaja</a:t>
            </a:r>
            <a:r>
              <a:rPr lang="en-US" dirty="0"/>
              <a:t> </a:t>
            </a:r>
            <a:r>
              <a:rPr lang="en-US" dirty="0" err="1"/>
              <a:t>seadistamine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FD335-8F6B-9D9D-E050-1D08E24A529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Vaja </a:t>
            </a:r>
            <a:r>
              <a:rPr lang="en-US" sz="2400" dirty="0" err="1">
                <a:ea typeface="Inter"/>
              </a:rPr>
              <a:t>teha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üks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kord</a:t>
            </a:r>
            <a:endParaRPr lang="en-US" sz="2400" dirty="0" err="1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Ava Terminal ja </a:t>
            </a:r>
            <a:r>
              <a:rPr lang="en-US" sz="2400" dirty="0" err="1">
                <a:ea typeface="Inter"/>
              </a:rPr>
              <a:t>jooksuta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käsud</a:t>
            </a:r>
            <a:endParaRPr lang="en-US" sz="2400" dirty="0" err="1"/>
          </a:p>
          <a:p>
            <a:pPr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400" dirty="0">
                <a:ea typeface="Inter"/>
              </a:rPr>
              <a:t>git config --global </a:t>
            </a:r>
            <a:r>
              <a:rPr lang="en-US" sz="2400" dirty="0" err="1">
                <a:ea typeface="Inter"/>
              </a:rPr>
              <a:t>user.email</a:t>
            </a:r>
            <a:r>
              <a:rPr lang="en-US" sz="2400" dirty="0">
                <a:ea typeface="Inter"/>
              </a:rPr>
              <a:t> "</a:t>
            </a:r>
            <a:r>
              <a:rPr lang="en-US" sz="2400" i="1" dirty="0">
                <a:ea typeface="Inter"/>
                <a:hlinkClick r:id="rId3"/>
              </a:rPr>
              <a:t>sinuemail@email.com</a:t>
            </a:r>
            <a:r>
              <a:rPr lang="en-US" sz="2400" dirty="0">
                <a:ea typeface="Inter"/>
              </a:rPr>
              <a:t>"</a:t>
            </a:r>
          </a:p>
          <a:p>
            <a:pPr lvl="2">
              <a:lnSpc>
                <a:spcPct val="150000"/>
              </a:lnSpc>
              <a:buFont typeface="Wingdings,Sans-Serif" panose="020B0502030000000004" pitchFamily="34" charset="0"/>
              <a:buChar char="§"/>
            </a:pPr>
            <a:r>
              <a:rPr lang="en-US" sz="2400" dirty="0">
                <a:ea typeface="Inter"/>
              </a:rPr>
              <a:t>git config --global user.name "</a:t>
            </a:r>
            <a:r>
              <a:rPr lang="en-US" sz="2400" i="1" dirty="0" err="1">
                <a:ea typeface="Inter"/>
              </a:rPr>
              <a:t>sinukasutajanimi</a:t>
            </a:r>
            <a:r>
              <a:rPr lang="en-US" sz="2400" dirty="0">
                <a:ea typeface="Inter"/>
              </a:rPr>
              <a:t>"</a:t>
            </a:r>
            <a:endParaRPr lang="en-US" dirty="0"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Kui </a:t>
            </a:r>
            <a:r>
              <a:rPr lang="en-US" sz="2400" dirty="0" err="1">
                <a:ea typeface="Inter"/>
              </a:rPr>
              <a:t>tahad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seadeid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kontrollida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siis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võid</a:t>
            </a:r>
            <a:r>
              <a:rPr lang="en-US" sz="2400" dirty="0">
                <a:ea typeface="Inter"/>
              </a:rPr>
              <a:t> Terminalis </a:t>
            </a:r>
            <a:r>
              <a:rPr lang="en-US" sz="2400" dirty="0" err="1">
                <a:ea typeface="Inter"/>
              </a:rPr>
              <a:t>jooksutada</a:t>
            </a:r>
            <a:r>
              <a:rPr lang="en-US" sz="2400" dirty="0">
                <a:ea typeface="Inter"/>
              </a:rPr>
              <a:t>: </a:t>
            </a:r>
            <a:endParaRPr lang="en-US" sz="2400" dirty="0"/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solidFill>
                  <a:srgbClr val="333333"/>
                </a:solidFill>
                <a:latin typeface="Consolas"/>
                <a:ea typeface="Inter"/>
              </a:rPr>
              <a:t>git config --list --show-origin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endParaRPr lang="en-US" sz="2400" dirty="0">
              <a:solidFill>
                <a:srgbClr val="333333"/>
              </a:solidFill>
              <a:latin typeface="Consolas"/>
              <a:ea typeface="Inter"/>
            </a:endParaRPr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 err="1">
                <a:solidFill>
                  <a:srgbClr val="333333"/>
                </a:solidFill>
                <a:latin typeface="Consolas"/>
                <a:ea typeface="Inter"/>
              </a:rPr>
              <a:t>Pikem</a:t>
            </a:r>
            <a:r>
              <a:rPr lang="en-US" sz="2400" dirty="0">
                <a:solidFill>
                  <a:srgbClr val="333333"/>
                </a:solidFill>
                <a:latin typeface="Consolas"/>
                <a:ea typeface="Inter"/>
              </a:rPr>
              <a:t> </a:t>
            </a:r>
            <a:r>
              <a:rPr lang="en-US" sz="2400" dirty="0" err="1">
                <a:solidFill>
                  <a:srgbClr val="333333"/>
                </a:solidFill>
                <a:latin typeface="Consolas"/>
                <a:ea typeface="Inter"/>
              </a:rPr>
              <a:t>juhend</a:t>
            </a:r>
            <a:r>
              <a:rPr lang="en-US" sz="2400" dirty="0">
                <a:solidFill>
                  <a:srgbClr val="333333"/>
                </a:solidFill>
                <a:latin typeface="Consolas"/>
                <a:ea typeface="Inter"/>
              </a:rPr>
              <a:t>: 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  <a:hlinkClick r:id="rId4"/>
              </a:rPr>
              <a:t>Time Gi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</a:rPr>
              <a:t>t</a:t>
            </a:r>
            <a:r>
              <a:rPr lang="en-US" sz="2400" dirty="0">
                <a:solidFill>
                  <a:srgbClr val="333333"/>
                </a:solidFill>
                <a:latin typeface="Inter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Setup</a:t>
            </a:r>
            <a:endParaRPr lang="en-US" sz="2400" dirty="0">
              <a:solidFill>
                <a:srgbClr val="333333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848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0D99-04FE-F49E-5B40-5962A890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9F1A-DB4C-E883-2B4C-CF59EE757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Versioonihaldus</a:t>
            </a:r>
            <a:r>
              <a:rPr lang="en-US"/>
              <a:t> – Git ja Visual Studio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A46AF-CF26-119E-3252-58FD3592F9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Ava Visual Studio Code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vasakult</a:t>
            </a:r>
            <a:r>
              <a:rPr lang="en-US" sz="2400" dirty="0">
                <a:ea typeface="Inter"/>
              </a:rPr>
              <a:t> Source Control 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Clone Git Repository --&gt; </a:t>
            </a:r>
            <a:r>
              <a:rPr lang="en-US" sz="2400" dirty="0" err="1">
                <a:ea typeface="Inter"/>
              </a:rPr>
              <a:t>GitHubis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õiguste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kinnitus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projekt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kohalik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kuhu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luua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GitHubi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r>
              <a:rPr lang="en-US" sz="2400" dirty="0">
                <a:ea typeface="Inter"/>
              </a:rPr>
              <a:t>Loo </a:t>
            </a:r>
            <a:r>
              <a:rPr lang="en-US" sz="2400" dirty="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haru</a:t>
            </a:r>
            <a:endParaRPr lang="en-US" sz="2400" dirty="0"/>
          </a:p>
          <a:p>
            <a:pPr lvl="1">
              <a:lnSpc>
                <a:spcPct val="150000"/>
              </a:lnSpc>
              <a:buFont typeface="Wingdings" panose="020B0502030000000004" pitchFamily="34" charset="0"/>
              <a:buChar char="Ø"/>
            </a:pPr>
            <a:r>
              <a:rPr lang="en-US" sz="2400" dirty="0">
                <a:ea typeface="Inter"/>
              </a:rPr>
              <a:t>Alt </a:t>
            </a:r>
            <a:r>
              <a:rPr lang="en-US" sz="2400" dirty="0" err="1">
                <a:ea typeface="Inter"/>
              </a:rPr>
              <a:t>vasakult</a:t>
            </a:r>
            <a:r>
              <a:rPr lang="en-US" sz="2400" dirty="0">
                <a:ea typeface="Inter"/>
              </a:rPr>
              <a:t> vali "main" --&gt; Create new branch from --&gt; origin/main </a:t>
            </a:r>
            <a:endParaRPr lang="en-US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dirty="0">
                <a:ea typeface="Inter"/>
              </a:rPr>
              <a:t>--&gt; </a:t>
            </a:r>
            <a:r>
              <a:rPr lang="en-US" sz="2400" dirty="0" err="1">
                <a:ea typeface="Inter"/>
              </a:rPr>
              <a:t>uue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haru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nimi</a:t>
            </a:r>
            <a:r>
              <a:rPr lang="en-US" sz="2400" dirty="0">
                <a:ea typeface="Inter"/>
              </a:rPr>
              <a:t> </a:t>
            </a:r>
            <a:endParaRPr lang="en-US" sz="2400" dirty="0"/>
          </a:p>
          <a:p>
            <a:pPr>
              <a:lnSpc>
                <a:spcPct val="150000"/>
              </a:lnSpc>
              <a:buClr>
                <a:srgbClr val="121212"/>
              </a:buClr>
            </a:pPr>
            <a:endParaRPr lang="en-US" sz="2400" dirty="0"/>
          </a:p>
          <a:p>
            <a:pPr lvl="1">
              <a:lnSpc>
                <a:spcPct val="150000"/>
              </a:lnSpc>
              <a:buFont typeface="Wingdings" panose="020B0502030000000004" pitchFamily="34" charset="0"/>
              <a:buChar char="Ø"/>
            </a:pPr>
            <a:endParaRPr lang="en-US" sz="2400" dirty="0"/>
          </a:p>
          <a:p>
            <a:pPr>
              <a:buClr>
                <a:srgbClr val="121212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6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EE9B-3020-A266-14D5-3A10FD23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3CE6-A314-B235-7804-1DB6617CE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Versioonihaldus</a:t>
            </a:r>
            <a:r>
              <a:rPr lang="en-US" dirty="0"/>
              <a:t> – </a:t>
            </a:r>
            <a:r>
              <a:rPr lang="en-US" dirty="0" err="1"/>
              <a:t>muutuste</a:t>
            </a:r>
            <a:r>
              <a:rPr lang="en-US" dirty="0"/>
              <a:t> </a:t>
            </a:r>
            <a:r>
              <a:rPr lang="en-US" dirty="0" err="1"/>
              <a:t>üles</a:t>
            </a:r>
            <a:r>
              <a:rPr lang="en-US" dirty="0"/>
              <a:t> </a:t>
            </a:r>
            <a:r>
              <a:rPr lang="en-US" dirty="0" err="1"/>
              <a:t>laadimine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3C7E-895D-19CD-768D-5D677901F5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Tee </a:t>
            </a:r>
            <a:r>
              <a:rPr lang="en-US" sz="2400" dirty="0" err="1">
                <a:ea typeface="Inter"/>
              </a:rPr>
              <a:t>muutused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kohalikus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kaustas</a:t>
            </a:r>
            <a:endParaRPr lang="en-US" sz="2400" dirty="0">
              <a:ea typeface="Inter"/>
            </a:endParaRP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Vali </a:t>
            </a:r>
            <a:r>
              <a:rPr lang="en-US" sz="2400" dirty="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Pull from main</a:t>
            </a:r>
            <a:endParaRPr lang="en-US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Lisa </a:t>
            </a:r>
            <a:r>
              <a:rPr lang="en-US" sz="2400" err="1">
                <a:ea typeface="Inter"/>
              </a:rPr>
              <a:t>kommentaar</a:t>
            </a:r>
            <a:r>
              <a:rPr lang="en-US" sz="2400" dirty="0">
                <a:ea typeface="Inter"/>
              </a:rPr>
              <a:t> ja Commit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VS Code: Sync Changes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Vali </a:t>
            </a:r>
            <a:r>
              <a:rPr lang="en-US" sz="2400" err="1">
                <a:ea typeface="Inter"/>
              </a:rPr>
              <a:t>enda</a:t>
            </a:r>
            <a:r>
              <a:rPr lang="en-US" sz="2400" dirty="0">
                <a:ea typeface="Inter"/>
              </a:rPr>
              <a:t> Branch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 err="1">
                <a:ea typeface="Inter"/>
              </a:rPr>
              <a:t>Github</a:t>
            </a:r>
            <a:r>
              <a:rPr lang="en-US" sz="2400" dirty="0">
                <a:ea typeface="Inter"/>
              </a:rPr>
              <a:t>: </a:t>
            </a:r>
            <a:r>
              <a:rPr lang="en-US" sz="2400" dirty="0" err="1">
                <a:ea typeface="Inter"/>
              </a:rPr>
              <a:t>Kliki</a:t>
            </a:r>
            <a:r>
              <a:rPr lang="en-US" sz="2400" dirty="0">
                <a:ea typeface="Inter"/>
              </a:rPr>
              <a:t> "This branch is 1 commit ahead"</a:t>
            </a:r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Create Pull Request</a:t>
            </a:r>
            <a:endParaRPr lang="en-US" sz="2400" dirty="0"/>
          </a:p>
          <a:p>
            <a:pPr marL="400050" indent="-457200">
              <a:lnSpc>
                <a:spcPct val="150000"/>
              </a:lnSpc>
              <a:buClr>
                <a:srgbClr val="121212"/>
              </a:buClr>
              <a:buAutoNum type="arabicPeriod"/>
            </a:pPr>
            <a:r>
              <a:rPr lang="en-US" sz="2400" dirty="0">
                <a:ea typeface="Inter"/>
              </a:rPr>
              <a:t>GitHub: Merge Pull Request</a:t>
            </a:r>
            <a:endParaRPr lang="en-US" sz="2400" dirty="0"/>
          </a:p>
          <a:p>
            <a:pPr>
              <a:buClr>
                <a:srgbClr val="121212"/>
              </a:buClr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4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C947-79A9-F714-73CC-816203DE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E898-0421-4BA1-15C5-4454CAE60D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Versioonihaldus</a:t>
            </a:r>
            <a:r>
              <a:rPr lang="en-US" dirty="0"/>
              <a:t> –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C9A07-9099-38E1-FAD1-E21FB6E957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sz="2400" dirty="0">
                <a:ea typeface="Inter"/>
              </a:rPr>
              <a:t>Kui </a:t>
            </a:r>
            <a:r>
              <a:rPr lang="en-US" sz="2400" dirty="0" err="1">
                <a:ea typeface="Inter"/>
              </a:rPr>
              <a:t>viskab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errori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siis</a:t>
            </a:r>
            <a:r>
              <a:rPr lang="en-US" sz="2400" dirty="0">
                <a:ea typeface="Inter"/>
              </a:rPr>
              <a:t> vali View --&gt; Output</a:t>
            </a:r>
            <a:endParaRPr lang="en-US" dirty="0"/>
          </a:p>
          <a:p>
            <a:pPr marL="857250" lvl="1" indent="-342900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 err="1">
                <a:ea typeface="Inter"/>
              </a:rPr>
              <a:t>Näitab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viimaseid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jooksutatud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käske</a:t>
            </a:r>
            <a:r>
              <a:rPr lang="en-US" sz="2400" dirty="0">
                <a:ea typeface="Inter"/>
              </a:rPr>
              <a:t> ja </a:t>
            </a:r>
            <a:r>
              <a:rPr lang="en-US" sz="2400" dirty="0" err="1">
                <a:ea typeface="Inter"/>
              </a:rPr>
              <a:t>veateateid</a:t>
            </a:r>
            <a:r>
              <a:rPr lang="en-US" sz="2400" dirty="0">
                <a:ea typeface="Inter"/>
              </a:rPr>
              <a:t>.</a:t>
            </a:r>
            <a:endParaRPr lang="en-US" sz="2400" dirty="0"/>
          </a:p>
          <a:p>
            <a:pPr>
              <a:buClr>
                <a:srgbClr val="121212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57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79C6-2B7B-9D02-3C2F-B59D80FC0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ja Git </a:t>
            </a:r>
            <a:r>
              <a:rPr lang="en-US" dirty="0" err="1"/>
              <a:t>juhendid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E67CC-13AC-AA20-0482-1081CE4F01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1141576" cy="44656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  <a:hlinkClick r:id="rId3"/>
              </a:rPr>
              <a:t>Git juhendmaterjal: Git Book</a:t>
            </a:r>
            <a:endParaRPr lang="en-US" sz="24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  <a:hlinkClick r:id="" action="ppaction://noaction"/>
              </a:rPr>
              <a:t>Visual Studio Code Documentation: </a:t>
            </a:r>
            <a:r>
              <a:rPr lang="en-US" sz="2400" dirty="0">
                <a:ea typeface="+mn-lt"/>
                <a:cs typeface="+mn-lt"/>
                <a:hlinkClick r:id="rId4"/>
              </a:rPr>
              <a:t>Documentation for Visual Studio Code</a:t>
            </a:r>
          </a:p>
          <a:p>
            <a:pPr lvl="1">
              <a:lnSpc>
                <a:spcPct val="150000"/>
              </a:lnSpc>
              <a:buFont typeface="Courier New" panose="020B05020300000000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Visual Studio Code ja Git </a:t>
            </a:r>
            <a:r>
              <a:rPr lang="en-US" sz="2400" err="1">
                <a:ea typeface="+mn-lt"/>
                <a:cs typeface="+mn-lt"/>
              </a:rPr>
              <a:t>peatükk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dirty="0">
                <a:ea typeface="+mn-lt"/>
                <a:cs typeface="+mn-lt"/>
                <a:hlinkClick r:id="rId5"/>
              </a:rPr>
              <a:t>Introduction to Git in VS Code</a:t>
            </a: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7763248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1008</Words>
  <Application>Microsoft Office PowerPoint</Application>
  <PresentationFormat>Widescreen</PresentationFormat>
  <Paragraphs>198</Paragraphs>
  <Slides>26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Wingdings</vt:lpstr>
      <vt:lpstr>Inter</vt:lpstr>
      <vt:lpstr>Calibri</vt:lpstr>
      <vt:lpstr>Courier New</vt:lpstr>
      <vt:lpstr>Poppins SemiBold</vt:lpstr>
      <vt:lpstr>Consolas</vt:lpstr>
      <vt:lpstr>Arial,Sans-Serif</vt:lpstr>
      <vt:lpstr>Inter Bold</vt:lpstr>
      <vt:lpstr>Noto Serif</vt:lpstr>
      <vt:lpstr>Arial</vt:lpstr>
      <vt:lpstr>Wingdings,Sans-Serif</vt:lpstr>
      <vt:lpstr>BCS</vt:lpstr>
      <vt:lpstr>Vali Andmetarkus!</vt:lpstr>
      <vt:lpstr>Päevakava - XV päev</vt:lpstr>
      <vt:lpstr>Paus 10:30-10:45</vt:lpstr>
      <vt:lpstr>Kuidas generatiivne tehisaru töötab?</vt:lpstr>
      <vt:lpstr>Generatiivne tehisaru – suured keelemudelid (LLMs)</vt:lpstr>
      <vt:lpstr>PowerPoint Presentation</vt:lpstr>
      <vt:lpstr>Lisamaterjale tehisaru olemuse mõistmiseks</vt:lpstr>
      <vt:lpstr>Tehisaru – levinumad vestlusrobotid </vt:lpstr>
      <vt:lpstr>Tehisaru – levinumad kasutusvõimalused </vt:lpstr>
      <vt:lpstr>PowerPoint Presentation</vt:lpstr>
      <vt:lpstr>Tehisaru – eduka sisendi kirjutamine </vt:lpstr>
      <vt:lpstr>Sisendi kirjutamise põhimõtted (CRAFT mudel)</vt:lpstr>
      <vt:lpstr>Sisendi näide</vt:lpstr>
      <vt:lpstr>Tehisaru - personaliseerimine</vt:lpstr>
      <vt:lpstr>Lõunapaus 12:15-13:15</vt:lpstr>
      <vt:lpstr>Tehisaru – vestlusrobotid - praktiline harjutus</vt:lpstr>
      <vt:lpstr>Paus 14:45-15:00</vt:lpstr>
      <vt:lpstr>Power BI projekt fail</vt:lpstr>
      <vt:lpstr>Tehisaru – Visual Studio Code</vt:lpstr>
      <vt:lpstr>Versioonihaldus – Eesmärk</vt:lpstr>
      <vt:lpstr>Versioonihaldus – Github</vt:lpstr>
      <vt:lpstr>Git kasutaja seadistamine</vt:lpstr>
      <vt:lpstr>Versioonihaldus – Git ja Visual Studio Code</vt:lpstr>
      <vt:lpstr>Versioonihaldus – muutuste üles laadimine</vt:lpstr>
      <vt:lpstr>Versioonihaldus – debugging</vt:lpstr>
      <vt:lpstr>Visual Studio Code ja Git juhendid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Emilie Abel</cp:lastModifiedBy>
  <cp:revision>226</cp:revision>
  <dcterms:created xsi:type="dcterms:W3CDTF">2021-08-27T11:35:28Z</dcterms:created>
  <dcterms:modified xsi:type="dcterms:W3CDTF">2026-08-28T19:19:51Z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