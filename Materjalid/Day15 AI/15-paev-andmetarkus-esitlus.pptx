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31"/>
  </p:notesMasterIdLst>
  <p:handoutMasterIdLst>
    <p:handoutMasterId r:id="rId32"/>
  </p:handoutMasterIdLst>
  <p:sldIdLst>
    <p:sldId id="417" r:id="rId5"/>
    <p:sldId id="479" r:id="rId6"/>
    <p:sldId id="567" r:id="rId7"/>
    <p:sldId id="452" r:id="rId8"/>
    <p:sldId id="475" r:id="rId9"/>
    <p:sldId id="261" r:id="rId10"/>
    <p:sldId id="647" r:id="rId11"/>
    <p:sldId id="476" r:id="rId12"/>
    <p:sldId id="477" r:id="rId13"/>
    <p:sldId id="648" r:id="rId14"/>
    <p:sldId id="494" r:id="rId15"/>
    <p:sldId id="446" r:id="rId16"/>
    <p:sldId id="447" r:id="rId17"/>
    <p:sldId id="646" r:id="rId18"/>
    <p:sldId id="571" r:id="rId19"/>
    <p:sldId id="514" r:id="rId20"/>
    <p:sldId id="572" r:id="rId21"/>
    <p:sldId id="649" r:id="rId22"/>
    <p:sldId id="619" r:id="rId23"/>
    <p:sldId id="474" r:id="rId24"/>
    <p:sldId id="539" r:id="rId25"/>
    <p:sldId id="633" r:id="rId26"/>
    <p:sldId id="629" r:id="rId27"/>
    <p:sldId id="538" r:id="rId28"/>
    <p:sldId id="632" r:id="rId29"/>
    <p:sldId id="631" r:id="rId30"/>
  </p:sldIdLst>
  <p:sldSz cx="12192000" cy="6858000"/>
  <p:notesSz cx="6858000" cy="9144000"/>
  <p:embeddedFontLst>
    <p:embeddedFont>
      <p:font typeface="Consolas" panose="020B0609020204030204" pitchFamily="49" charset="0"/>
      <p:regular r:id="rId33"/>
      <p:bold r:id="rId34"/>
      <p:italic r:id="rId35"/>
      <p:boldItalic r:id="rId36"/>
    </p:embeddedFont>
    <p:embeddedFont>
      <p:font typeface="Inter" panose="020B0604020202020204" charset="0"/>
      <p:regular r:id="rId37"/>
      <p:bold r:id="rId38"/>
      <p:italic r:id="rId39"/>
      <p:boldItalic r:id="rId40"/>
    </p:embeddedFont>
    <p:embeddedFont>
      <p:font typeface="Inter Bold" panose="020B0604020202020204" charset="0"/>
      <p:bold r:id="rId41"/>
    </p:embeddedFont>
    <p:embeddedFont>
      <p:font typeface="Noto Serif" panose="02020600060500020200" pitchFamily="18" charset="0"/>
      <p:regular r:id="rId42"/>
      <p:bold r:id="rId43"/>
      <p:italic r:id="rId44"/>
      <p:boldItalic r:id="rId45"/>
    </p:embeddedFont>
    <p:embeddedFont>
      <p:font typeface="Poppins SemiBold" panose="00000700000000000000" pitchFamily="2" charset="-70"/>
      <p:bold r:id="rId46"/>
      <p:boldItalic r:id="rId47"/>
    </p:embeddedFont>
  </p:embeddedFontLst>
  <p:defaultTextStyle>
    <a:defPPr>
      <a:defRPr lang="en-E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2B2D"/>
    <a:srgbClr val="B78885"/>
    <a:srgbClr val="178687"/>
    <a:srgbClr val="278484"/>
    <a:srgbClr val="FEF5F0"/>
    <a:srgbClr val="FEFAEE"/>
    <a:srgbClr val="113F73"/>
    <a:srgbClr val="007ECA"/>
    <a:srgbClr val="95B1D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8" d="100"/>
          <a:sy n="58" d="100"/>
        </p:scale>
        <p:origin x="898" y="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font" Target="fonts/font7.fntdata"/><Relationship Id="rId21" Type="http://schemas.openxmlformats.org/officeDocument/2006/relationships/slide" Target="slides/slide17.xml"/><Relationship Id="rId34" Type="http://schemas.openxmlformats.org/officeDocument/2006/relationships/font" Target="fonts/font2.fntdata"/><Relationship Id="rId42" Type="http://schemas.openxmlformats.org/officeDocument/2006/relationships/font" Target="fonts/font10.fntdata"/><Relationship Id="rId47" Type="http://schemas.openxmlformats.org/officeDocument/2006/relationships/font" Target="fonts/font15.fntdata"/><Relationship Id="rId50" Type="http://schemas.openxmlformats.org/officeDocument/2006/relationships/theme" Target="theme/theme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handoutMaster" Target="handoutMasters/handoutMaster1.xml"/><Relationship Id="rId37" Type="http://schemas.openxmlformats.org/officeDocument/2006/relationships/font" Target="fonts/font5.fntdata"/><Relationship Id="rId40" Type="http://schemas.openxmlformats.org/officeDocument/2006/relationships/font" Target="fonts/font8.fntdata"/><Relationship Id="rId45" Type="http://schemas.openxmlformats.org/officeDocument/2006/relationships/font" Target="fonts/font13.fntdata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font" Target="fonts/font4.fntdata"/><Relationship Id="rId49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notesMaster" Target="notesMasters/notesMaster1.xml"/><Relationship Id="rId44" Type="http://schemas.openxmlformats.org/officeDocument/2006/relationships/font" Target="fonts/font12.fntdata"/><Relationship Id="rId52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font" Target="fonts/font3.fntdata"/><Relationship Id="rId43" Type="http://schemas.openxmlformats.org/officeDocument/2006/relationships/font" Target="fonts/font11.fntdata"/><Relationship Id="rId48" Type="http://schemas.openxmlformats.org/officeDocument/2006/relationships/presProps" Target="presProps.xml"/><Relationship Id="rId8" Type="http://schemas.openxmlformats.org/officeDocument/2006/relationships/slide" Target="slides/slide4.xml"/><Relationship Id="rId51" Type="http://schemas.openxmlformats.org/officeDocument/2006/relationships/tableStyles" Target="tableStyle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font" Target="fonts/font1.fntdata"/><Relationship Id="rId38" Type="http://schemas.openxmlformats.org/officeDocument/2006/relationships/font" Target="fonts/font6.fntdata"/><Relationship Id="rId46" Type="http://schemas.openxmlformats.org/officeDocument/2006/relationships/font" Target="fonts/font14.fntdata"/><Relationship Id="rId20" Type="http://schemas.openxmlformats.org/officeDocument/2006/relationships/slide" Target="slides/slide16.xml"/><Relationship Id="rId41" Type="http://schemas.openxmlformats.org/officeDocument/2006/relationships/font" Target="fonts/font9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ie Abel" userId="20dec598-1860-40de-ab3f-181316cc4da6" providerId="ADAL" clId="{3EAE1975-14BE-41D5-9E3B-28573F0EE5DC}"/>
    <pc:docChg chg="custSel modSld">
      <pc:chgData name="Emilie Abel" userId="20dec598-1860-40de-ab3f-181316cc4da6" providerId="ADAL" clId="{3EAE1975-14BE-41D5-9E3B-28573F0EE5DC}" dt="2026-08-18T11:52:55.241" v="26" actId="20577"/>
      <pc:docMkLst>
        <pc:docMk/>
      </pc:docMkLst>
      <pc:sldChg chg="delSp modSp mod">
        <pc:chgData name="Emilie Abel" userId="20dec598-1860-40de-ab3f-181316cc4da6" providerId="ADAL" clId="{3EAE1975-14BE-41D5-9E3B-28573F0EE5DC}" dt="2026-08-18T11:52:55.241" v="26" actId="20577"/>
        <pc:sldMkLst>
          <pc:docMk/>
          <pc:sldMk cId="4169291970" sldId="417"/>
        </pc:sldMkLst>
        <pc:spChg chg="mod">
          <ac:chgData name="Emilie Abel" userId="20dec598-1860-40de-ab3f-181316cc4da6" providerId="ADAL" clId="{3EAE1975-14BE-41D5-9E3B-28573F0EE5DC}" dt="2026-08-18T11:52:55.241" v="26" actId="20577"/>
          <ac:spMkLst>
            <pc:docMk/>
            <pc:sldMk cId="4169291970" sldId="417"/>
            <ac:spMk id="5" creationId="{3496B8E7-2B01-285F-88ED-B3ADE66A3D31}"/>
          </ac:spMkLst>
        </pc:spChg>
        <pc:picChg chg="del">
          <ac:chgData name="Emilie Abel" userId="20dec598-1860-40de-ab3f-181316cc4da6" providerId="ADAL" clId="{3EAE1975-14BE-41D5-9E3B-28573F0EE5DC}" dt="2026-08-18T11:52:46.397" v="0" actId="478"/>
          <ac:picMkLst>
            <pc:docMk/>
            <pc:sldMk cId="4169291970" sldId="417"/>
            <ac:picMk id="3" creationId="{59426EB3-96A0-6F7B-BD8A-B89C052D49B0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58B2033-DCEB-4EE5-8D74-06B1A107DB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505E87-9E14-405A-8EC3-7560300E987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D2AD6E-DEDD-49A0-A4BE-7A081A9112DA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941CC-E8C9-4FDE-B9E2-B4C258E0C76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C0A66F-906D-4597-B704-A85E8A2989E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320B76-795F-4136-B2E6-506229A97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4107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F9C1A6-4321-41FA-B001-4140F0E2457F}" type="datetimeFigureOut">
              <a:t>27.08.2026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699514-027B-49BD-8B49-5054CA40ECF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157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4170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>
                <a:ea typeface="Calibri"/>
                <a:cs typeface="Calibri"/>
              </a:rPr>
              <a:t>Iteratiivne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protsess</a:t>
            </a:r>
            <a:r>
              <a:rPr lang="en-US">
                <a:ea typeface="Calibri"/>
                <a:cs typeface="Calibri"/>
              </a:rPr>
              <a:t>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79679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err="1">
                <a:ea typeface="Calibri"/>
                <a:cs typeface="Calibri"/>
              </a:rPr>
              <a:t>Milleks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vajalik</a:t>
            </a:r>
            <a:r>
              <a:rPr lang="en-US">
                <a:ea typeface="Calibri"/>
                <a:cs typeface="Calibri"/>
              </a:rPr>
              <a:t>? - Nii </a:t>
            </a:r>
            <a:r>
              <a:rPr lang="en-US" err="1">
                <a:ea typeface="Calibri"/>
                <a:cs typeface="Calibri"/>
              </a:rPr>
              <a:t>enda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kui</a:t>
            </a:r>
            <a:r>
              <a:rPr lang="en-US">
                <a:ea typeface="Calibri"/>
                <a:cs typeface="Calibri"/>
              </a:rPr>
              <a:t> ka </a:t>
            </a:r>
            <a:r>
              <a:rPr lang="en-US" err="1">
                <a:ea typeface="Calibri"/>
                <a:cs typeface="Calibri"/>
              </a:rPr>
              <a:t>kolleegide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jaoks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kirjeldamine</a:t>
            </a:r>
            <a:r>
              <a:rPr lang="en-US">
                <a:ea typeface="Calibri"/>
                <a:cs typeface="Calibri"/>
              </a:rPr>
              <a:t>, </a:t>
            </a:r>
            <a:r>
              <a:rPr lang="en-US" err="1">
                <a:ea typeface="Calibri"/>
                <a:cs typeface="Calibri"/>
              </a:rPr>
              <a:t>teada</a:t>
            </a:r>
            <a:r>
              <a:rPr lang="en-US">
                <a:ea typeface="Calibri"/>
                <a:cs typeface="Calibri"/>
              </a:rPr>
              <a:t>, et </a:t>
            </a:r>
            <a:r>
              <a:rPr lang="en-US" err="1">
                <a:ea typeface="Calibri"/>
                <a:cs typeface="Calibri"/>
              </a:rPr>
              <a:t>miks</a:t>
            </a:r>
            <a:r>
              <a:rPr lang="en-US">
                <a:ea typeface="Calibri"/>
                <a:cs typeface="Calibri"/>
              </a:rPr>
              <a:t> ja </a:t>
            </a:r>
            <a:r>
              <a:rPr lang="en-US" err="1">
                <a:ea typeface="Calibri"/>
                <a:cs typeface="Calibri"/>
              </a:rPr>
              <a:t>kuidas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mingeid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otsuseid</a:t>
            </a:r>
            <a:r>
              <a:rPr lang="en-US">
                <a:ea typeface="Calibri"/>
                <a:cs typeface="Calibri"/>
              </a:rPr>
              <a:t> ja </a:t>
            </a:r>
            <a:r>
              <a:rPr lang="en-US" err="1">
                <a:ea typeface="Calibri"/>
                <a:cs typeface="Calibri"/>
              </a:rPr>
              <a:t>muutusi</a:t>
            </a:r>
            <a:r>
              <a:rPr lang="en-US">
                <a:ea typeface="Calibri"/>
                <a:cs typeface="Calibri"/>
              </a:rPr>
              <a:t> on </a:t>
            </a:r>
            <a:r>
              <a:rPr lang="en-US" err="1">
                <a:ea typeface="Calibri"/>
                <a:cs typeface="Calibri"/>
              </a:rPr>
              <a:t>tehtud</a:t>
            </a:r>
            <a:r>
              <a:rPr lang="en-US">
                <a:ea typeface="Calibri"/>
                <a:cs typeface="Calibri"/>
              </a:rP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651477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B38261-5F5F-4373-A5D6-4E8577214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060981-4133-90F6-400C-B8BA63CB69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33CF2B-B63C-6161-DFC0-A10D6DB8CF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5967AF-CF81-C282-94D9-719A7EB728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0703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5A1A3C-E783-7FC2-9DCE-9F00D9B1A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134939-D194-A8D8-24F4-C85F5076CA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FF7AAE-DFE9-BA24-9A96-0EFCA02C27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A10A03-469A-13BE-92A5-4D0B78A8A8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37461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0B99D-40EC-4B75-2DC1-2D679F441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A8C3F8-B93D-2F9A-B957-178CA06DA1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E55BA3-0FFA-7E1A-3BED-F130CFB7D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4B880B-DCCB-A2B5-176F-2871A027C0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907935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8DA34C-149A-57A8-DCCE-482263E20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12C817-AC27-CA90-93C2-204C3230EB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FC1774-130A-2B62-BCFA-16A9E5D066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2428F6-B692-59EB-721A-51F223C670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6132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7DBA19-D777-9E20-BF93-785C6FD95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5067A8-EBCA-9340-EB1C-DDA327EF2F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CAA69D-F36C-AFA3-E634-1418D29103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B3F773-2E41-9E9C-472B-7B2627067F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842957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t-E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t-EE" smtClean="0"/>
              <a:t>26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6040043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E130EE5B-F23B-E4DB-13FE-697ED7C6C0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41994"/>
            <a:ext cx="6462712" cy="2694956"/>
          </a:xfrm>
        </p:spPr>
        <p:txBody>
          <a:bodyPr anchor="t" anchorCtr="0">
            <a:noAutofit/>
          </a:bodyPr>
          <a:lstStyle>
            <a:lvl1pPr algn="l">
              <a:lnSpc>
                <a:spcPct val="95000"/>
              </a:lnSpc>
              <a:defRPr sz="6200" b="0"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2B97D0E-73EB-BAD4-3CFB-2138F7744F0C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AE936BE-AA0B-4172-C4F1-90132CA6197C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bg1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EEF418A-33E3-0868-30D5-750D58C8D19F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027C4A-BCFD-A430-6EC6-BF9B9906B3A2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9775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783386E9-4AC9-AC05-D73C-5748D8B66D1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6226222-9CC4-151E-1D0E-E7E11278D1CA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7AEF9D-2EDF-226F-7EF8-9900253B468B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tx2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E8340A1-A4C3-B4A8-903B-E6AD1C96E552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6174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251259C3-5465-7C2C-BA4A-EF08245C1BE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594600" y="0"/>
            <a:ext cx="4597400" cy="6858000"/>
          </a:xfrm>
          <a:custGeom>
            <a:avLst/>
            <a:gdLst>
              <a:gd name="connsiteX0" fmla="*/ 1535049 w 4597400"/>
              <a:gd name="connsiteY0" fmla="*/ 0 h 6858000"/>
              <a:gd name="connsiteX1" fmla="*/ 4597400 w 4597400"/>
              <a:gd name="connsiteY1" fmla="*/ 0 h 6858000"/>
              <a:gd name="connsiteX2" fmla="*/ 4597400 w 4597400"/>
              <a:gd name="connsiteY2" fmla="*/ 6858000 h 6858000"/>
              <a:gd name="connsiteX3" fmla="*/ 1535049 w 4597400"/>
              <a:gd name="connsiteY3" fmla="*/ 6858000 h 6858000"/>
              <a:gd name="connsiteX4" fmla="*/ 0 w 4597400"/>
              <a:gd name="connsiteY4" fmla="*/ 3429000 h 6858000"/>
              <a:gd name="connsiteX5" fmla="*/ 1535049 w 45974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7400" h="6858000">
                <a:moveTo>
                  <a:pt x="1535049" y="0"/>
                </a:moveTo>
                <a:lnTo>
                  <a:pt x="4597400" y="0"/>
                </a:lnTo>
                <a:lnTo>
                  <a:pt x="4597400" y="6858000"/>
                </a:lnTo>
                <a:lnTo>
                  <a:pt x="1535049" y="6858000"/>
                </a:lnTo>
                <a:cubicBezTo>
                  <a:pt x="593027" y="6016117"/>
                  <a:pt x="0" y="4791837"/>
                  <a:pt x="0" y="3429000"/>
                </a:cubicBezTo>
                <a:cubicBezTo>
                  <a:pt x="0" y="2066163"/>
                  <a:pt x="593027" y="841883"/>
                  <a:pt x="1535049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D6616AE3-7059-CA28-4049-1FD2D926CC2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266048" y="841994"/>
            <a:ext cx="2302064" cy="927536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7040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593005B9-0C6A-A613-72D7-DAD05049A64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 anchorCtr="0">
            <a:noAutofit/>
          </a:bodyPr>
          <a:lstStyle>
            <a:lvl1pPr algn="l">
              <a:defRPr sz="5400" b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94E7AC-F3D3-4E49-AF79-E2577E5DB17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7" y="3536951"/>
            <a:ext cx="8208961" cy="2197099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64FF64E-8497-A211-A371-1EB95CEA8720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8E36BEB-E564-BDC5-2D0E-683B7463D71B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7A31E304-8E0C-1BA3-DA8A-B2FA8A2B3396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57955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50B63FBE-00C9-95E0-891B-2B4DF7E644F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3536950"/>
            <a:ext cx="8208962" cy="2197100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51A6316-FA00-F7B0-625F-5C5C70FE690C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294281D-AB6E-C8DE-96BB-CD897F804E48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1B54EF8-DDA0-DB1B-14AF-6A9C645C1C71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bg1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02959C4-500F-ED38-1509-871D5B4B659B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74521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19A7D0D-AD55-4BB5-927F-67EB9F19F8B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351A01D-54B1-4CD7-8EA9-62E0D922EA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165258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1CAD510-2AAC-48E8-A46D-A29F5F9F0F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20879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_T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479570"/>
            <a:ext cx="5364163" cy="5541818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3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3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D1EF65-6FC4-E89A-FE48-A37D18ADC94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4C974D7-D7DF-712E-FC1A-80D95C80879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7590D4B-E844-7F04-93D3-6756624DE990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A05141D-209F-2213-31A6-104F82A16275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0418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96217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 noChangeAspect="1"/>
          </p:cNvSpPr>
          <p:nvPr>
            <p:ph type="media" sz="quarter" idx="10" hasCustomPrompt="1"/>
          </p:nvPr>
        </p:nvSpPr>
        <p:spPr>
          <a:xfrm>
            <a:off x="623888" y="1273729"/>
            <a:ext cx="8440283" cy="4747659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768D58F-8AA8-FB7F-EF48-F29430C08A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EC4F1CB-CF46-70C8-F053-0FA68D458420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289144" y="1268413"/>
            <a:ext cx="2275794" cy="4747659"/>
          </a:xfrm>
        </p:spPr>
        <p:txBody>
          <a:bodyPr>
            <a:noAutofit/>
          </a:bodyPr>
          <a:lstStyle>
            <a:lvl1pPr marL="0" indent="0">
              <a:lnSpc>
                <a:spcPct val="110000"/>
              </a:lnSpc>
              <a:buNone/>
              <a:defRPr sz="1600"/>
            </a:lvl1pPr>
            <a:lvl2pPr marL="457200" indent="0">
              <a:lnSpc>
                <a:spcPct val="110000"/>
              </a:lnSpc>
              <a:buNone/>
              <a:defRPr sz="1600"/>
            </a:lvl2pPr>
            <a:lvl3pPr marL="914400" indent="0">
              <a:lnSpc>
                <a:spcPct val="110000"/>
              </a:lnSpc>
              <a:buNone/>
              <a:defRPr sz="1600"/>
            </a:lvl3pPr>
            <a:lvl4pPr marL="1371600" indent="0">
              <a:lnSpc>
                <a:spcPct val="110000"/>
              </a:lnSpc>
              <a:buNone/>
              <a:defRPr sz="1600"/>
            </a:lvl4pPr>
            <a:lvl5pPr marL="1828800" indent="0">
              <a:lnSpc>
                <a:spcPct val="110000"/>
              </a:lnSpc>
              <a:buNone/>
              <a:defRPr sz="1600"/>
            </a:lvl5pPr>
          </a:lstStyle>
          <a:p>
            <a:pPr lvl="0"/>
            <a:r>
              <a:rPr lang="en-US"/>
              <a:t>Click to edit </a:t>
            </a:r>
            <a:r>
              <a:rPr lang="en-US" err="1"/>
              <a:t>contet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816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_FullSc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12191999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</p:spTree>
    <p:extLst>
      <p:ext uri="{BB962C8B-B14F-4D97-AF65-F5344CB8AC3E}">
        <p14:creationId xmlns:p14="http://schemas.microsoft.com/office/powerpoint/2010/main" val="1519201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2colums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970B30A-1A11-111C-7375-C4E28C8B787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03950" y="1268412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1624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3949" y="1268413"/>
            <a:ext cx="5364163" cy="2052637"/>
          </a:xfrm>
        </p:spPr>
        <p:txBody>
          <a:bodyPr anchor="b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3536951"/>
            <a:ext cx="5364162" cy="2276020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1C530DF0-5615-D097-6790-1E5B0817F179}"/>
              </a:ext>
            </a:extLst>
          </p:cNvPr>
          <p:cNvSpPr/>
          <p:nvPr userDrawn="1"/>
        </p:nvSpPr>
        <p:spPr>
          <a:xfrm>
            <a:off x="610509" y="832419"/>
            <a:ext cx="5202462" cy="5202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9182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 lang="en-US" dirty="0"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5F55AF90-CA6C-9E9E-5C3A-7308548107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218"/>
            <a:ext cx="5364162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0644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00644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559187-4E33-B7B4-8D15-856E22A8AD26}"/>
              </a:ext>
            </a:extLst>
          </p:cNvPr>
          <p:cNvCxnSpPr>
            <a:cxnSpLocks/>
          </p:cNvCxnSpPr>
          <p:nvPr userDrawn="1"/>
        </p:nvCxnSpPr>
        <p:spPr>
          <a:xfrm>
            <a:off x="5988050" y="6414621"/>
            <a:ext cx="416560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E2C47E56-EDA9-6104-5D9F-C924F8780C79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DC9CA37-0D36-8191-BBE8-0EBA7F837CA9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9BCB4D6-D14A-E657-80A8-ADEE68384148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3227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96033E-16B2-F7F6-089E-CB47C4A72E46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5580062" cy="2054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9C816E65-AE13-D020-EC0E-E5FCD3F98B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42FFEC68-013B-C052-8EF2-43EC0E75A6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03950" y="6396621"/>
            <a:ext cx="3949138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406486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Autho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5386" y="4643022"/>
            <a:ext cx="6547755" cy="1236142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tx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Author</a:t>
            </a:r>
          </a:p>
        </p:txBody>
      </p:sp>
      <p:sp>
        <p:nvSpPr>
          <p:cNvPr id="8" name="Shape">
            <a:extLst>
              <a:ext uri="{FF2B5EF4-FFF2-40B4-BE49-F238E27FC236}">
                <a16:creationId xmlns:a16="http://schemas.microsoft.com/office/drawing/2014/main" id="{3FFCB1E3-6430-7B36-3E4A-D0BCB7E229BA}"/>
              </a:ext>
            </a:extLst>
          </p:cNvPr>
          <p:cNvSpPr/>
          <p:nvPr userDrawn="1"/>
        </p:nvSpPr>
        <p:spPr>
          <a:xfrm rot="10800000">
            <a:off x="623888" y="836612"/>
            <a:ext cx="1723308" cy="13783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1"/>
                </a:moveTo>
                <a:lnTo>
                  <a:pt x="0" y="21600"/>
                </a:lnTo>
                <a:lnTo>
                  <a:pt x="8640" y="21600"/>
                </a:lnTo>
                <a:lnTo>
                  <a:pt x="8640" y="10801"/>
                </a:lnTo>
                <a:lnTo>
                  <a:pt x="4320" y="10801"/>
                </a:lnTo>
                <a:cubicBezTo>
                  <a:pt x="4320" y="10801"/>
                  <a:pt x="4320" y="5401"/>
                  <a:pt x="8640" y="5401"/>
                </a:cubicBezTo>
                <a:lnTo>
                  <a:pt x="8640" y="0"/>
                </a:lnTo>
                <a:cubicBezTo>
                  <a:pt x="8640" y="0"/>
                  <a:pt x="0" y="0"/>
                  <a:pt x="0" y="10801"/>
                </a:cubicBezTo>
                <a:close/>
                <a:moveTo>
                  <a:pt x="21600" y="5401"/>
                </a:moveTo>
                <a:lnTo>
                  <a:pt x="21600" y="0"/>
                </a:lnTo>
                <a:cubicBezTo>
                  <a:pt x="21600" y="0"/>
                  <a:pt x="12960" y="0"/>
                  <a:pt x="12960" y="10801"/>
                </a:cubicBezTo>
                <a:lnTo>
                  <a:pt x="12960" y="21600"/>
                </a:lnTo>
                <a:lnTo>
                  <a:pt x="21600" y="21600"/>
                </a:lnTo>
                <a:lnTo>
                  <a:pt x="21600" y="10801"/>
                </a:lnTo>
                <a:lnTo>
                  <a:pt x="17280" y="10801"/>
                </a:lnTo>
                <a:cubicBezTo>
                  <a:pt x="17280" y="10801"/>
                  <a:pt x="17280" y="5401"/>
                  <a:pt x="21600" y="5401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defRPr sz="1800" cap="none" spc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65829" y="1268413"/>
            <a:ext cx="9630569" cy="3114900"/>
          </a:xfrm>
        </p:spPr>
        <p:txBody>
          <a:bodyPr anchor="t" anchorCtr="0">
            <a:noAutofit/>
          </a:bodyPr>
          <a:lstStyle>
            <a:lvl1pPr algn="l">
              <a:lnSpc>
                <a:spcPct val="110000"/>
              </a:lnSpc>
              <a:defRPr sz="2800" b="0" spc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“Quote”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1397722-9BD2-656F-AB8C-84A3608F65D9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8C9B42-2591-A853-1CFF-B2BEEAA36BA1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61175848-9909-5007-545C-1F2ADABDCADF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638E77D-FF10-DFD7-06B6-D5E95101DE44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" name="Picture Placeholder 40">
            <a:extLst>
              <a:ext uri="{FF2B5EF4-FFF2-40B4-BE49-F238E27FC236}">
                <a16:creationId xmlns:a16="http://schemas.microsoft.com/office/drawing/2014/main" id="{8E73DA40-056E-A0CA-9CF7-3C985146816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65829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5929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_Slide_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Thank you slide</a:t>
            </a:r>
          </a:p>
        </p:txBody>
      </p:sp>
      <p:sp>
        <p:nvSpPr>
          <p:cNvPr id="14" name="Picture Placeholder 40">
            <a:extLst>
              <a:ext uri="{FF2B5EF4-FFF2-40B4-BE49-F238E27FC236}">
                <a16:creationId xmlns:a16="http://schemas.microsoft.com/office/drawing/2014/main" id="{B822B543-F1AB-CFE7-EFFD-248F5869686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3887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E42BC2FA-0D30-5C2F-5931-62B0B5A62B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43037" y="4800606"/>
            <a:ext cx="6789813" cy="933444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name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8E6EF1FF-751D-4E83-81CA-AC460BA1FF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3E7884FD-17EE-C642-8912-0A2B6DE88BD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448021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0722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174EC-2D5E-C21A-9C6E-B40D3F702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7E198-26FE-CDB4-0E6E-95B8B2729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6F5057-B3F3-2A40-9B41-F7887DE38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40A40-73C8-4048-8140-49F5D65BB431}" type="datetimeFigureOut">
              <a:rPr lang="et-EE" smtClean="0"/>
              <a:t>27.08.2026</a:t>
            </a:fld>
            <a:endParaRPr lang="et-E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8DFE4-4A97-5B73-A1FA-A4E96048E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87FC-FCC5-92FF-B08A-8FAE7F80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0E80D-6AD2-4F09-8BE9-BBDC507698A9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38095754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6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4F4"/>
          </a:solidFill>
          <a:ln/>
        </p:spPr>
        <p:txBody>
          <a:bodyPr/>
          <a:lstStyle/>
          <a:p>
            <a:endParaRPr lang="et-EE" sz="150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t-EE" sz="150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316A5AF-4096-3F73-CDAE-6BD353811010}"/>
              </a:ext>
            </a:extLst>
          </p:cNvPr>
          <p:cNvCxnSpPr>
            <a:cxnSpLocks/>
          </p:cNvCxnSpPr>
          <p:nvPr userDrawn="1"/>
        </p:nvCxnSpPr>
        <p:spPr>
          <a:xfrm>
            <a:off x="680936" y="6411507"/>
            <a:ext cx="9766503" cy="0"/>
          </a:xfrm>
          <a:prstGeom prst="line">
            <a:avLst/>
          </a:prstGeom>
          <a:noFill/>
          <a:ln w="38100" cap="flat" cmpd="sng" algn="ctr">
            <a:solidFill>
              <a:srgbClr val="584FF5"/>
            </a:solidFill>
            <a:prstDash val="solid"/>
            <a:miter lim="800000"/>
          </a:ln>
          <a:effectLst/>
        </p:spPr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A576EF2F-0C5E-420A-857B-31ACCBDDD5CD}"/>
              </a:ext>
            </a:extLst>
          </p:cNvPr>
          <p:cNvGrpSpPr/>
          <p:nvPr userDrawn="1"/>
        </p:nvGrpSpPr>
        <p:grpSpPr>
          <a:xfrm>
            <a:off x="10951021" y="6277886"/>
            <a:ext cx="674192" cy="266297"/>
            <a:chOff x="10757948" y="6254276"/>
            <a:chExt cx="809030" cy="319556"/>
          </a:xfrm>
        </p:grpSpPr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2B5F4D7E-D685-D63A-46F9-6F65D124122E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rgbClr val="584FF5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defTabSz="76197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500" b="0" i="0" u="none" strike="noStrike" kern="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Inter"/>
              </a:endParaRPr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3C0494AF-C2FA-DB73-BDB7-868AA8801C08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rgbClr val="584FF5">
                <a:lumMod val="60000"/>
                <a:lumOff val="40000"/>
              </a:srgb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defTabSz="76197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500" b="0" i="0" u="none" strike="noStrike" kern="0" cap="none" spc="0" normalizeH="0" baseline="0" noProof="0">
                <a:ln>
                  <a:noFill/>
                </a:ln>
                <a:solidFill>
                  <a:srgbClr val="121212"/>
                </a:solidFill>
                <a:effectLst/>
                <a:uLnTx/>
                <a:uFillTx/>
                <a:latin typeface="Inter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9191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9A3B80-CD6D-DB45-84E3-24CAFB7A2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836613"/>
            <a:ext cx="10944225" cy="11787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C2DABE-FC7B-C144-96F1-E13398B7A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2015411"/>
            <a:ext cx="10944225" cy="40059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  <a:endParaRPr lang="en-EE"/>
          </a:p>
        </p:txBody>
      </p:sp>
    </p:spTree>
    <p:extLst>
      <p:ext uri="{BB962C8B-B14F-4D97-AF65-F5344CB8AC3E}">
        <p14:creationId xmlns:p14="http://schemas.microsoft.com/office/powerpoint/2010/main" val="2764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72" r:id="rId3"/>
    <p:sldLayoutId id="2147483662" r:id="rId4"/>
    <p:sldLayoutId id="2147483661" r:id="rId5"/>
    <p:sldLayoutId id="2147483664" r:id="rId6"/>
    <p:sldLayoutId id="2147483673" r:id="rId7"/>
    <p:sldLayoutId id="2147483658" r:id="rId8"/>
    <p:sldLayoutId id="2147483674" r:id="rId9"/>
    <p:sldLayoutId id="2147483675" r:id="rId10"/>
    <p:sldLayoutId id="2147483670" r:id="rId11"/>
    <p:sldLayoutId id="2147483676" r:id="rId12"/>
    <p:sldLayoutId id="2147483666" r:id="rId13"/>
    <p:sldLayoutId id="2147483665" r:id="rId14"/>
    <p:sldLayoutId id="2147483669" r:id="rId15"/>
    <p:sldLayoutId id="2147483668" r:id="rId16"/>
    <p:sldLayoutId id="2147483655" r:id="rId17"/>
    <p:sldLayoutId id="2147483677" r:id="rId18"/>
    <p:sldLayoutId id="2147483678" r:id="rId1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 spc="-150">
          <a:solidFill>
            <a:schemeClr val="tx1"/>
          </a:solidFill>
          <a:latin typeface="+mj-lt"/>
          <a:ea typeface="Inter Semi Bold" panose="02000503000000020004" pitchFamily="2" charset="0"/>
          <a:cs typeface="Inter Semi Bold" panose="02000503000000020004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buClr>
          <a:schemeClr val="tx1"/>
        </a:buClr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1pPr>
      <a:lvl2pPr marL="742950" indent="-28575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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092" userDrawn="1">
          <p15:clr>
            <a:srgbClr val="F26B43"/>
          </p15:clr>
        </p15:guide>
        <p15:guide id="4" orient="horz" pos="2228" userDrawn="1">
          <p15:clr>
            <a:srgbClr val="F26B43"/>
          </p15:clr>
        </p15:guide>
        <p15:guide id="5" orient="horz" pos="3793" userDrawn="1">
          <p15:clr>
            <a:srgbClr val="F26B43"/>
          </p15:clr>
        </p15:guide>
        <p15:guide id="6" orient="horz" pos="799" userDrawn="1">
          <p15:clr>
            <a:srgbClr val="F26B43"/>
          </p15:clr>
        </p15:guide>
        <p15:guide id="7" orient="horz" pos="527" userDrawn="1">
          <p15:clr>
            <a:srgbClr val="F26B43"/>
          </p15:clr>
        </p15:guide>
        <p15:guide id="8" pos="393" userDrawn="1">
          <p15:clr>
            <a:srgbClr val="F26B43"/>
          </p15:clr>
        </p15:guide>
        <p15:guide id="9" pos="2048" userDrawn="1">
          <p15:clr>
            <a:srgbClr val="F26B43"/>
          </p15:clr>
        </p15:guide>
        <p15:guide id="10" pos="2116" userDrawn="1">
          <p15:clr>
            <a:srgbClr val="F26B43"/>
          </p15:clr>
        </p15:guide>
        <p15:guide id="11" pos="2184" userDrawn="1">
          <p15:clr>
            <a:srgbClr val="F26B43"/>
          </p15:clr>
        </p15:guide>
        <p15:guide id="12" pos="3772" userDrawn="1">
          <p15:clr>
            <a:srgbClr val="F26B43"/>
          </p15:clr>
        </p15:guide>
        <p15:guide id="13" pos="3908" userDrawn="1">
          <p15:clr>
            <a:srgbClr val="F26B43"/>
          </p15:clr>
        </p15:guide>
        <p15:guide id="14" pos="5496" userDrawn="1">
          <p15:clr>
            <a:srgbClr val="F26B43"/>
          </p15:clr>
        </p15:guide>
        <p15:guide id="15" pos="5564" userDrawn="1">
          <p15:clr>
            <a:srgbClr val="F26B43"/>
          </p15:clr>
        </p15:guide>
        <p15:guide id="16" pos="5632" userDrawn="1">
          <p15:clr>
            <a:srgbClr val="F26B43"/>
          </p15:clr>
        </p15:guide>
        <p15:guide id="17" pos="7287" userDrawn="1">
          <p15:clr>
            <a:srgbClr val="F26B43"/>
          </p15:clr>
        </p15:guide>
        <p15:guide id="18" orient="horz" pos="3612" userDrawn="1">
          <p15:clr>
            <a:srgbClr val="F26B43"/>
          </p15:clr>
        </p15:guide>
        <p15:guide id="19" orient="horz" pos="404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earchlightinstitute.org/wp-content/uploads/2025/12/Crosstabs-AI-Polling-Survey-v2-20250730.pdf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digiriigiakadeemia.ee/course/index.php?categoryid=60" TargetMode="External"/><Relationship Id="rId2" Type="http://schemas.openxmlformats.org/officeDocument/2006/relationships/hyperlink" Target="https://sisu.ut.ee/ti/oppematerjali-avaleht/" TargetMode="External"/><Relationship Id="rId1" Type="http://schemas.openxmlformats.org/officeDocument/2006/relationships/slideLayout" Target="../slideLayouts/slideLayout8.xml"/><Relationship Id="rId4" Type="http://schemas.openxmlformats.org/officeDocument/2006/relationships/hyperlink" Target="https://youtu.be/LPZh9BOjkQs?si=Z3O5J0zhSEZG9TWc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emini.google.com/app" TargetMode="External"/><Relationship Id="rId2" Type="http://schemas.openxmlformats.org/officeDocument/2006/relationships/hyperlink" Target="https://chatgpt.com/" TargetMode="External"/><Relationship Id="rId1" Type="http://schemas.openxmlformats.org/officeDocument/2006/relationships/slideLayout" Target="../slideLayouts/slideLayout8.xml"/><Relationship Id="rId6" Type="http://schemas.openxmlformats.org/officeDocument/2006/relationships/hyperlink" Target="https://notebooklm.google.com/" TargetMode="External"/><Relationship Id="rId5" Type="http://schemas.openxmlformats.org/officeDocument/2006/relationships/hyperlink" Target="https://claude.ai/" TargetMode="External"/><Relationship Id="rId4" Type="http://schemas.openxmlformats.org/officeDocument/2006/relationships/hyperlink" Target="https://copilot.microsoft.com/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github.com/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mailto:sinuemail@email.com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4" Type="http://schemas.openxmlformats.org/officeDocument/2006/relationships/hyperlink" Target="https://git-scm.com/book/en/v2/Getting-Started-First-Time-Git-Setup" TargetMode="Externa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-scm.com/book/en/v2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Relationship Id="rId5" Type="http://schemas.openxmlformats.org/officeDocument/2006/relationships/hyperlink" Target="https://code.visualstudio.com/docs/sourcecontrol/intro-to-git?originUrl=%2FDocs" TargetMode="External"/><Relationship Id="rId4" Type="http://schemas.openxmlformats.org/officeDocument/2006/relationships/hyperlink" Target="https://code.visualstudio.com/Doc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2">
            <a:extLst>
              <a:ext uri="{FF2B5EF4-FFF2-40B4-BE49-F238E27FC236}">
                <a16:creationId xmlns:a16="http://schemas.microsoft.com/office/drawing/2014/main" id="{382D4282-6F49-4A70-83AA-7E8F5DD56D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6255884" cy="4897438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t-EE" noProof="0" dirty="0">
                <a:cs typeface="Poppins SemiBold"/>
              </a:rPr>
              <a:t>Vali Andmetarkus!</a:t>
            </a:r>
            <a:endParaRPr lang="et-EE" noProof="0" dirty="0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496B8E7-2B01-285F-88ED-B3ADE66A3D31}"/>
              </a:ext>
            </a:extLst>
          </p:cNvPr>
          <p:cNvSpPr txBox="1">
            <a:spLocks/>
          </p:cNvSpPr>
          <p:nvPr/>
        </p:nvSpPr>
        <p:spPr>
          <a:xfrm>
            <a:off x="2645677" y="3645338"/>
            <a:ext cx="6897763" cy="933444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noProof="0" dirty="0">
                <a:ea typeface="Inter"/>
              </a:rPr>
              <a:t>Emilie Abel</a:t>
            </a:r>
            <a:endParaRPr lang="et-EE" noProof="0" dirty="0"/>
          </a:p>
          <a:p>
            <a:r>
              <a:rPr lang="en-GB" noProof="0" dirty="0">
                <a:ea typeface="Inter"/>
              </a:rPr>
              <a:t>eilime@live.com</a:t>
            </a:r>
            <a:endParaRPr lang="et-EE" noProof="0" dirty="0">
              <a:ea typeface="Inter"/>
            </a:endParaRPr>
          </a:p>
          <a:p>
            <a:endParaRPr lang="et-EE" noProof="0" dirty="0"/>
          </a:p>
        </p:txBody>
      </p:sp>
    </p:spTree>
    <p:extLst>
      <p:ext uri="{BB962C8B-B14F-4D97-AF65-F5344CB8AC3E}">
        <p14:creationId xmlns:p14="http://schemas.microsoft.com/office/powerpoint/2010/main" val="416929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72D32-F63A-E758-B4AD-98B1A2FF2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FE7A2D-F34A-AFF4-F094-9247F2654D3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sz="3600" b="1" noProof="0" dirty="0">
                <a:ea typeface="+mj-lt"/>
                <a:cs typeface="+mj-lt"/>
              </a:rPr>
              <a:t>Päevakava - XV päev</a:t>
            </a:r>
            <a:endParaRPr lang="et-EE" noProof="0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65E32B2B-E742-662F-CC36-DC7E268CAC3C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3832999610"/>
              </p:ext>
            </p:extLst>
          </p:nvPr>
        </p:nvGraphicFramePr>
        <p:xfrm>
          <a:off x="623888" y="1268413"/>
          <a:ext cx="11021261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021261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Koolitus – </a:t>
                      </a:r>
                      <a:r>
                        <a:rPr lang="et-EE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Erki Pogoretski (Telia)</a:t>
                      </a:r>
                      <a:endParaRPr lang="et-EE" sz="2400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Koolitus - </a:t>
                      </a:r>
                      <a:r>
                        <a:rPr lang="et-EE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Tehisaru toimimise põhimõtted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t-EE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 </a:t>
                      </a:r>
                      <a:endParaRPr lang="et-EE" b="0" i="0" u="none" strike="noStrike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Koolitus – Vestlusrobotiga andmeanalüüs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Paus </a:t>
                      </a:r>
                      <a:endParaRPr lang="et-EE" b="0" i="0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t-EE" sz="2400" b="0" i="0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15:00 – 16:30 – Koolitus – Vestlusrobotiga andmeanalüüs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392345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98EBB5-E66E-D684-9080-959FC5E28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3CB597-CCE1-B2CB-AF5D-4898AE06731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t-EE" sz="2800" noProof="0" dirty="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t-EE" sz="2000" noProof="0" dirty="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C12984A-F918-66CF-9BF7-11C289E053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t-EE" noProof="0" dirty="0"/>
              <a:t>Paus 10:30-10:45</a:t>
            </a:r>
          </a:p>
        </p:txBody>
      </p:sp>
    </p:spTree>
    <p:extLst>
      <p:ext uri="{BB962C8B-B14F-4D97-AF65-F5344CB8AC3E}">
        <p14:creationId xmlns:p14="http://schemas.microsoft.com/office/powerpoint/2010/main" val="26778853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81DBF1-6B0C-F0AB-B6AE-072A389A274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Kuidas generatiivne tehisaru töötab?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C7597CA-D61E-17DA-17B5-C9C1738A73BE}"/>
              </a:ext>
            </a:extLst>
          </p:cNvPr>
          <p:cNvSpPr txBox="1"/>
          <p:nvPr/>
        </p:nvSpPr>
        <p:spPr>
          <a:xfrm>
            <a:off x="650240" y="1188720"/>
            <a:ext cx="516128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t-EE" noProof="0" dirty="0">
                <a:ea typeface="Inter"/>
              </a:rPr>
              <a:t>Mida arvasid ameeriklased augustis 2025:</a:t>
            </a:r>
            <a:endParaRPr lang="et-EE" noProof="0" dirty="0"/>
          </a:p>
          <a:p>
            <a:pPr marL="285750" indent="-285750">
              <a:buFont typeface="Arial"/>
              <a:buChar char="•"/>
            </a:pPr>
            <a:endParaRPr lang="et-EE" noProof="0" dirty="0"/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DDF6099E-FFF5-3B8B-6ED0-48C668AABFB9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2055813" y="1836261"/>
            <a:ext cx="8077200" cy="400050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D4B374B-E0FB-F26A-AAD2-2AA0ED2D1C5C}"/>
              </a:ext>
            </a:extLst>
          </p:cNvPr>
          <p:cNvSpPr txBox="1"/>
          <p:nvPr/>
        </p:nvSpPr>
        <p:spPr>
          <a:xfrm>
            <a:off x="2692400" y="6014720"/>
            <a:ext cx="751840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r"/>
            <a:r>
              <a:rPr lang="et-EE" sz="1400" noProof="0" dirty="0">
                <a:ea typeface="Inter"/>
              </a:rPr>
              <a:t>Allikas:</a:t>
            </a:r>
            <a:r>
              <a:rPr lang="et-EE" sz="1400" noProof="0" dirty="0">
                <a:ea typeface="+mn-lt"/>
                <a:cs typeface="+mn-lt"/>
              </a:rPr>
              <a:t> </a:t>
            </a:r>
            <a:r>
              <a:rPr lang="et-EE" sz="1400" noProof="0" dirty="0" err="1">
                <a:ea typeface="+mn-lt"/>
                <a:cs typeface="+mn-lt"/>
                <a:hlinkClick r:id="rId3"/>
              </a:rPr>
              <a:t>Searchlight</a:t>
            </a:r>
            <a:r>
              <a:rPr lang="et-EE" sz="1400" noProof="0" dirty="0">
                <a:ea typeface="+mn-lt"/>
                <a:cs typeface="+mn-lt"/>
                <a:hlinkClick r:id="rId3"/>
              </a:rPr>
              <a:t> </a:t>
            </a:r>
            <a:r>
              <a:rPr lang="et-EE" sz="1400" noProof="0" dirty="0" err="1">
                <a:ea typeface="+mn-lt"/>
                <a:cs typeface="+mn-lt"/>
                <a:hlinkClick r:id="rId3"/>
              </a:rPr>
              <a:t>Institute</a:t>
            </a:r>
            <a:r>
              <a:rPr lang="et-EE" sz="1400" noProof="0" dirty="0">
                <a:ea typeface="+mn-lt"/>
                <a:cs typeface="+mn-lt"/>
                <a:hlinkClick r:id="rId3"/>
              </a:rPr>
              <a:t> ja Tavern Research uuring AI kohta</a:t>
            </a:r>
            <a:r>
              <a:rPr lang="et-EE" sz="1400" noProof="0" dirty="0">
                <a:ea typeface="+mn-lt"/>
                <a:cs typeface="+mn-lt"/>
              </a:rPr>
              <a:t>.</a:t>
            </a:r>
            <a:r>
              <a:rPr lang="et-EE" noProof="0" dirty="0">
                <a:ea typeface="+mn-lt"/>
                <a:cs typeface="+mn-lt"/>
              </a:rPr>
              <a:t> </a:t>
            </a:r>
            <a:endParaRPr lang="et-EE" noProof="0" dirty="0">
              <a:ea typeface="Inter"/>
            </a:endParaRPr>
          </a:p>
          <a:p>
            <a:pPr algn="r"/>
            <a:endParaRPr lang="et-EE" noProof="0" dirty="0">
              <a:solidFill>
                <a:srgbClr val="121212"/>
              </a:solidFill>
              <a:ea typeface="Inter"/>
            </a:endParaRPr>
          </a:p>
          <a:p>
            <a:endParaRPr lang="et-EE" noProof="0" dirty="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5573577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9154E-E89E-8B00-74C5-66A723E4B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A4698-C786-6EFD-B097-B5E4A75DB8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4923" y="479570"/>
            <a:ext cx="10044112" cy="357043"/>
          </a:xfrm>
        </p:spPr>
        <p:txBody>
          <a:bodyPr/>
          <a:lstStyle/>
          <a:p>
            <a:r>
              <a:rPr lang="et-EE" sz="2800" b="1" noProof="0" dirty="0"/>
              <a:t>Generatiivne tehisaru – suured keelemudelid (</a:t>
            </a:r>
            <a:r>
              <a:rPr lang="et-EE" sz="2800" b="1" noProof="0" dirty="0" err="1"/>
              <a:t>LLMs</a:t>
            </a:r>
            <a:r>
              <a:rPr lang="et-EE" sz="2800" b="1" noProof="0" dirty="0"/>
              <a:t>)</a:t>
            </a:r>
            <a:endParaRPr lang="et-EE" sz="28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24179F-8918-CD83-5B3D-AF1D9C751EA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t-EE" sz="2400" noProof="0" dirty="0">
                <a:solidFill>
                  <a:srgbClr val="121212"/>
                </a:solidFill>
                <a:latin typeface="Inter"/>
                <a:ea typeface="Inter"/>
                <a:cs typeface="Noto Serif"/>
              </a:rPr>
              <a:t>Treenitakse tekstide ja muude materjalide pinnalt.</a:t>
            </a:r>
            <a:endParaRPr lang="et-EE" sz="2400" noProof="0" dirty="0">
              <a:solidFill>
                <a:srgbClr val="121212"/>
              </a:solidFill>
              <a:latin typeface="Inter" panose="02000503000000020004" pitchFamily="2" charset="0"/>
              <a:cs typeface="Noto Serif"/>
            </a:endParaRPr>
          </a:p>
          <a:p>
            <a:pPr marL="857250" lvl="1">
              <a:lnSpc>
                <a:spcPct val="150000"/>
              </a:lnSpc>
              <a:buFont typeface="Arial,Sans-Serif" panose="020B0502030000000004" pitchFamily="34" charset="0"/>
              <a:buChar char="o"/>
            </a:pPr>
            <a:r>
              <a:rPr lang="et-EE" sz="2000" noProof="0" dirty="0">
                <a:ea typeface="Inter"/>
                <a:cs typeface="Noto Serif"/>
              </a:rPr>
              <a:t>Otsib mustreid tekstides - </a:t>
            </a:r>
            <a:r>
              <a:rPr lang="et-EE" sz="2000" noProof="0" dirty="0" err="1">
                <a:ea typeface="Inter"/>
                <a:cs typeface="Noto Serif"/>
              </a:rPr>
              <a:t>sõnadevahelisi</a:t>
            </a:r>
            <a:r>
              <a:rPr lang="et-EE" sz="2000" noProof="0" dirty="0">
                <a:ea typeface="Inter"/>
                <a:cs typeface="Noto Serif"/>
              </a:rPr>
              <a:t> seoseid mitmete treeningtsüklite käigus.</a:t>
            </a:r>
          </a:p>
          <a:p>
            <a:pPr marL="1257300"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t-EE" sz="2000" noProof="0" dirty="0" err="1">
                <a:ea typeface="Inter"/>
                <a:cs typeface="Noto Serif"/>
              </a:rPr>
              <a:t>Tokenization</a:t>
            </a:r>
            <a:r>
              <a:rPr lang="et-EE" sz="2000" noProof="0" dirty="0">
                <a:ea typeface="Inter"/>
                <a:cs typeface="Noto Serif"/>
              </a:rPr>
              <a:t> – tekstid jagatakse osadeks.</a:t>
            </a:r>
          </a:p>
          <a:p>
            <a:pPr marL="1257300"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t-EE" sz="2000" noProof="0" dirty="0" err="1">
                <a:ea typeface="Inter"/>
                <a:cs typeface="Noto Serif"/>
              </a:rPr>
              <a:t>Embedding</a:t>
            </a:r>
            <a:r>
              <a:rPr lang="et-EE" sz="2000" noProof="0" dirty="0">
                <a:ea typeface="Inter"/>
                <a:cs typeface="Noto Serif"/>
              </a:rPr>
              <a:t> – </a:t>
            </a:r>
            <a:r>
              <a:rPr lang="et-EE" sz="2000" noProof="0" dirty="0" err="1">
                <a:ea typeface="Inter"/>
                <a:cs typeface="Noto Serif"/>
              </a:rPr>
              <a:t>tokenitele</a:t>
            </a:r>
            <a:r>
              <a:rPr lang="et-EE" sz="2000" noProof="0" dirty="0">
                <a:ea typeface="Inter"/>
                <a:cs typeface="Noto Serif"/>
              </a:rPr>
              <a:t> määratakse vektor, mis määrab tema asukoha teiste </a:t>
            </a:r>
            <a:r>
              <a:rPr lang="et-EE" sz="2000" noProof="0" dirty="0" err="1">
                <a:ea typeface="Inter"/>
                <a:cs typeface="Noto Serif"/>
              </a:rPr>
              <a:t>tokenitega</a:t>
            </a:r>
            <a:r>
              <a:rPr lang="et-EE" sz="2000" noProof="0" dirty="0">
                <a:ea typeface="Inter"/>
                <a:cs typeface="Noto Serif"/>
              </a:rPr>
              <a:t> võrdluses.</a:t>
            </a:r>
          </a:p>
          <a:p>
            <a:pPr marL="857250" lvl="1">
              <a:lnSpc>
                <a:spcPct val="150000"/>
              </a:lnSpc>
              <a:buFont typeface="Arial,Sans-Serif" panose="020B0502030000000004" pitchFamily="34" charset="0"/>
              <a:buChar char="o"/>
            </a:pPr>
            <a:r>
              <a:rPr lang="et-EE" sz="2000" noProof="0" dirty="0">
                <a:ea typeface="Inter"/>
                <a:cs typeface="Noto Serif"/>
              </a:rPr>
              <a:t>Areneb vastavalt tagasisidele. (</a:t>
            </a:r>
            <a:r>
              <a:rPr lang="et-EE" sz="2000" noProof="0" dirty="0" err="1">
                <a:ea typeface="Inter"/>
                <a:cs typeface="Noto Serif"/>
              </a:rPr>
              <a:t>Reinforcement</a:t>
            </a:r>
            <a:r>
              <a:rPr lang="et-EE" sz="2000" noProof="0" dirty="0">
                <a:ea typeface="Inter"/>
                <a:cs typeface="Noto Serif"/>
              </a:rPr>
              <a:t> </a:t>
            </a:r>
            <a:r>
              <a:rPr lang="et-EE" sz="2000" noProof="0" dirty="0" err="1">
                <a:ea typeface="Inter"/>
                <a:cs typeface="Noto Serif"/>
              </a:rPr>
              <a:t>Learning</a:t>
            </a:r>
            <a:r>
              <a:rPr lang="et-EE" sz="2000" noProof="0" dirty="0">
                <a:ea typeface="Inter"/>
                <a:cs typeface="Noto Serif"/>
              </a:rPr>
              <a:t>)</a:t>
            </a: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n-US" sz="2400" noProof="0" dirty="0" err="1">
                <a:ea typeface="Inter"/>
                <a:cs typeface="Noto Serif"/>
              </a:rPr>
              <a:t>Sisendi</a:t>
            </a:r>
            <a:r>
              <a:rPr lang="et-EE" sz="2400" noProof="0" dirty="0">
                <a:ea typeface="Inter"/>
                <a:cs typeface="Noto Serif"/>
              </a:rPr>
              <a:t> </a:t>
            </a:r>
            <a:r>
              <a:rPr lang="en-US" sz="2400" noProof="0" dirty="0" err="1">
                <a:ea typeface="Inter"/>
                <a:cs typeface="Noto Serif"/>
              </a:rPr>
              <a:t>järel</a:t>
            </a:r>
            <a:r>
              <a:rPr lang="et-EE" sz="2400" noProof="0" dirty="0">
                <a:ea typeface="Inter"/>
                <a:cs typeface="Noto Serif"/>
              </a:rPr>
              <a:t> ennustatakse, milline sõna tuleb järgmisena. </a:t>
            </a: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t-EE" sz="2400" noProof="0" dirty="0">
                <a:ea typeface="Inter"/>
                <a:cs typeface="Noto Serif"/>
              </a:rPr>
              <a:t>Vastuste kvaliteet oleneb treeningandmestiku kvaliteedist.</a:t>
            </a: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t-EE" sz="2400" noProof="0" dirty="0">
                <a:ea typeface="Inter"/>
                <a:cs typeface="Noto Serif"/>
              </a:rPr>
              <a:t>Tehisaru võib "</a:t>
            </a:r>
            <a:r>
              <a:rPr lang="et-EE" sz="2400" noProof="0" dirty="0" err="1">
                <a:ea typeface="Inter"/>
                <a:cs typeface="Noto Serif"/>
              </a:rPr>
              <a:t>hallutsineerida</a:t>
            </a:r>
            <a:r>
              <a:rPr lang="et-EE" sz="2400" noProof="0" dirty="0">
                <a:ea typeface="Inter"/>
                <a:cs typeface="Noto Serif"/>
              </a:rPr>
              <a:t>".</a:t>
            </a: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t-EE" sz="2400" noProof="0" dirty="0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t-EE" sz="2400" noProof="0" dirty="0">
              <a:cs typeface="Arial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endParaRPr lang="et-EE" sz="2400" noProof="0" dirty="0">
              <a:cs typeface="Arial"/>
            </a:endParaRPr>
          </a:p>
          <a:p>
            <a:pPr marL="514350" indent="-514350">
              <a:lnSpc>
                <a:spcPct val="150000"/>
              </a:lnSpc>
            </a:pPr>
            <a:endParaRPr lang="et-EE" sz="2800" noProof="0" dirty="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t-EE" sz="2800" noProof="0" dirty="0"/>
          </a:p>
        </p:txBody>
      </p:sp>
    </p:spTree>
    <p:extLst>
      <p:ext uri="{BB962C8B-B14F-4D97-AF65-F5344CB8AC3E}">
        <p14:creationId xmlns:p14="http://schemas.microsoft.com/office/powerpoint/2010/main" val="36479972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92" y="1888729"/>
            <a:ext cx="9836051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4625"/>
              </a:lnSpc>
            </a:pPr>
            <a:r>
              <a:rPr lang="en-US" sz="3708" b="1" dirty="0">
                <a:solidFill>
                  <a:srgbClr val="000000"/>
                </a:solidFill>
                <a:ea typeface="Inter Bold" pitchFamily="34" charset="-122"/>
                <a:cs typeface="Inter Bold" pitchFamily="34" charset="-120"/>
              </a:rPr>
              <a:t>Generatiivne AI vs traditsiooniline tarkvara</a:t>
            </a:r>
            <a:endParaRPr lang="en-US" sz="3708" dirty="0"/>
          </a:p>
        </p:txBody>
      </p:sp>
      <p:sp>
        <p:nvSpPr>
          <p:cNvPr id="3" name="Text 1"/>
          <p:cNvSpPr/>
          <p:nvPr/>
        </p:nvSpPr>
        <p:spPr>
          <a:xfrm>
            <a:off x="661492" y="2951857"/>
            <a:ext cx="3642916" cy="3544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750"/>
              </a:lnSpc>
            </a:pPr>
            <a:r>
              <a:rPr lang="en-US" sz="2208" b="1" dirty="0">
                <a:solidFill>
                  <a:srgbClr val="000000"/>
                </a:solidFill>
                <a:ea typeface="Inter Bold" pitchFamily="34" charset="-122"/>
                <a:cs typeface="Inter Bold" pitchFamily="34" charset="-120"/>
              </a:rPr>
              <a:t>Traditsiooniline programm</a:t>
            </a:r>
            <a:endParaRPr lang="en-US" sz="2208" dirty="0"/>
          </a:p>
        </p:txBody>
      </p:sp>
      <p:sp>
        <p:nvSpPr>
          <p:cNvPr id="4" name="Text 2"/>
          <p:cNvSpPr/>
          <p:nvPr/>
        </p:nvSpPr>
        <p:spPr>
          <a:xfrm>
            <a:off x="661492" y="3495279"/>
            <a:ext cx="5203924" cy="14079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39" indent="-285739">
              <a:lnSpc>
                <a:spcPts val="2375"/>
              </a:lnSpc>
              <a:buSzPct val="100000"/>
              <a:buChar char="•"/>
            </a:pPr>
            <a:r>
              <a:rPr lang="en-US" sz="1458" dirty="0">
                <a:solidFill>
                  <a:srgbClr val="272525"/>
                </a:solidFill>
                <a:ea typeface="Inter" pitchFamily="34" charset="-122"/>
                <a:cs typeface="Inter" pitchFamily="34" charset="-120"/>
              </a:rPr>
              <a:t>Teeb täpselt seda, mis sisse programmeeritud</a:t>
            </a:r>
            <a:endParaRPr lang="en-US" sz="1458" dirty="0"/>
          </a:p>
          <a:p>
            <a:pPr marL="285739" indent="-285739">
              <a:lnSpc>
                <a:spcPts val="2375"/>
              </a:lnSpc>
              <a:buSzPct val="100000"/>
              <a:buChar char="•"/>
            </a:pPr>
            <a:r>
              <a:rPr lang="en-US" sz="1458" dirty="0">
                <a:solidFill>
                  <a:srgbClr val="272525"/>
                </a:solidFill>
                <a:ea typeface="Inter" pitchFamily="34" charset="-122"/>
                <a:cs typeface="Inter" pitchFamily="34" charset="-120"/>
              </a:rPr>
              <a:t>Järgib ette määratud reegleid ja algoritme</a:t>
            </a:r>
            <a:endParaRPr lang="en-US" sz="1458" dirty="0"/>
          </a:p>
          <a:p>
            <a:pPr marL="285739" indent="-285739">
              <a:lnSpc>
                <a:spcPts val="2375"/>
              </a:lnSpc>
              <a:buSzPct val="100000"/>
              <a:buChar char="•"/>
            </a:pPr>
            <a:r>
              <a:rPr lang="en-US" sz="1458" dirty="0">
                <a:solidFill>
                  <a:srgbClr val="272525"/>
                </a:solidFill>
                <a:ea typeface="Inter" pitchFamily="34" charset="-122"/>
                <a:cs typeface="Inter" pitchFamily="34" charset="-120"/>
              </a:rPr>
              <a:t>Alati ühesugune tulemus samale sisendile</a:t>
            </a:r>
            <a:endParaRPr lang="en-US" sz="1458" dirty="0"/>
          </a:p>
          <a:p>
            <a:pPr marL="285739" indent="-285739">
              <a:lnSpc>
                <a:spcPts val="2375"/>
              </a:lnSpc>
              <a:buSzPct val="100000"/>
              <a:buChar char="•"/>
            </a:pPr>
            <a:r>
              <a:rPr lang="en-US" sz="1458" dirty="0">
                <a:solidFill>
                  <a:srgbClr val="272525"/>
                </a:solidFill>
                <a:ea typeface="Inter" pitchFamily="34" charset="-122"/>
                <a:cs typeface="Inter" pitchFamily="34" charset="-120"/>
              </a:rPr>
              <a:t>Ei loo midagi uut ise</a:t>
            </a:r>
            <a:endParaRPr lang="en-US" sz="1458" dirty="0"/>
          </a:p>
        </p:txBody>
      </p:sp>
      <p:sp>
        <p:nvSpPr>
          <p:cNvPr id="5" name="Shape 3"/>
          <p:cNvSpPr/>
          <p:nvPr/>
        </p:nvSpPr>
        <p:spPr>
          <a:xfrm>
            <a:off x="6196807" y="2762845"/>
            <a:ext cx="5476181" cy="2206427"/>
          </a:xfrm>
          <a:prstGeom prst="roundRect">
            <a:avLst>
              <a:gd name="adj" fmla="val 6168"/>
            </a:avLst>
          </a:prstGeom>
          <a:solidFill>
            <a:srgbClr val="4950BC"/>
          </a:solidFill>
          <a:ln/>
        </p:spPr>
        <p:txBody>
          <a:bodyPr/>
          <a:lstStyle/>
          <a:p>
            <a:endParaRPr lang="et-EE" sz="1500"/>
          </a:p>
        </p:txBody>
      </p:sp>
      <p:sp>
        <p:nvSpPr>
          <p:cNvPr id="6" name="Text 4"/>
          <p:cNvSpPr/>
          <p:nvPr/>
        </p:nvSpPr>
        <p:spPr>
          <a:xfrm>
            <a:off x="6385819" y="2951857"/>
            <a:ext cx="3655219" cy="3544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750"/>
              </a:lnSpc>
            </a:pPr>
            <a:r>
              <a:rPr lang="en-US" sz="2208" b="1" dirty="0">
                <a:solidFill>
                  <a:srgbClr val="FFFFFF"/>
                </a:solidFill>
                <a:ea typeface="Inter Bold" pitchFamily="34" charset="-122"/>
                <a:cs typeface="Inter Bold" pitchFamily="34" charset="-120"/>
              </a:rPr>
              <a:t>Generatiivne AI (ChatGPT)</a:t>
            </a:r>
            <a:endParaRPr lang="en-US" sz="2208" dirty="0"/>
          </a:p>
        </p:txBody>
      </p:sp>
      <p:sp>
        <p:nvSpPr>
          <p:cNvPr id="7" name="Text 5"/>
          <p:cNvSpPr/>
          <p:nvPr/>
        </p:nvSpPr>
        <p:spPr>
          <a:xfrm>
            <a:off x="6385818" y="3495279"/>
            <a:ext cx="5098157" cy="14079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39" indent="-285739">
              <a:lnSpc>
                <a:spcPts val="2375"/>
              </a:lnSpc>
              <a:buSzPct val="100000"/>
              <a:buChar char="•"/>
            </a:pPr>
            <a:r>
              <a:rPr lang="en-US" sz="1458" dirty="0">
                <a:solidFill>
                  <a:srgbClr val="FFFFFF"/>
                </a:solidFill>
                <a:ea typeface="Inter" pitchFamily="34" charset="-122"/>
                <a:cs typeface="Inter" pitchFamily="34" charset="-120"/>
              </a:rPr>
              <a:t>Loob uut ja originaalset sisu</a:t>
            </a:r>
            <a:endParaRPr lang="en-US" sz="1458" dirty="0"/>
          </a:p>
          <a:p>
            <a:pPr marL="285739" indent="-285739">
              <a:lnSpc>
                <a:spcPts val="2375"/>
              </a:lnSpc>
              <a:buSzPct val="100000"/>
              <a:buChar char="•"/>
            </a:pPr>
            <a:r>
              <a:rPr lang="en-US" sz="1458" dirty="0">
                <a:solidFill>
                  <a:srgbClr val="FFFFFF"/>
                </a:solidFill>
                <a:ea typeface="Inter" pitchFamily="34" charset="-122"/>
                <a:cs typeface="Inter" pitchFamily="34" charset="-120"/>
              </a:rPr>
              <a:t>Genereerib teksti, pilte ja tabeleid</a:t>
            </a:r>
            <a:endParaRPr lang="en-US" sz="1458" dirty="0"/>
          </a:p>
          <a:p>
            <a:pPr marL="285739" indent="-285739">
              <a:lnSpc>
                <a:spcPts val="2375"/>
              </a:lnSpc>
              <a:buSzPct val="100000"/>
              <a:buChar char="•"/>
            </a:pPr>
            <a:r>
              <a:rPr lang="en-US" sz="1458" dirty="0">
                <a:solidFill>
                  <a:srgbClr val="FFFFFF"/>
                </a:solidFill>
                <a:ea typeface="Inter" pitchFamily="34" charset="-122"/>
                <a:cs typeface="Inter" pitchFamily="34" charset="-120"/>
              </a:rPr>
              <a:t>Kohaneb kontekstiga ja loov vastustes</a:t>
            </a:r>
            <a:endParaRPr lang="en-US" sz="1458" dirty="0"/>
          </a:p>
          <a:p>
            <a:pPr marL="285739" indent="-285739">
              <a:lnSpc>
                <a:spcPts val="2375"/>
              </a:lnSpc>
              <a:buSzPct val="100000"/>
              <a:buChar char="•"/>
            </a:pPr>
            <a:r>
              <a:rPr lang="en-US" sz="1458" dirty="0">
                <a:solidFill>
                  <a:srgbClr val="FFFFFF"/>
                </a:solidFill>
                <a:ea typeface="Inter" pitchFamily="34" charset="-122"/>
                <a:cs typeface="Inter" pitchFamily="34" charset="-120"/>
              </a:rPr>
              <a:t>Iga vastus on unikaalne</a:t>
            </a:r>
            <a:endParaRPr lang="en-US" sz="1458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746728-76D6-E8E6-D46A-BE5C5BCFA96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Lisamaterjale</a:t>
            </a:r>
            <a:r>
              <a:rPr lang="en-US" dirty="0"/>
              <a:t> </a:t>
            </a:r>
            <a:r>
              <a:rPr lang="en-US" dirty="0" err="1"/>
              <a:t>tehisaru</a:t>
            </a:r>
            <a:r>
              <a:rPr lang="en-US" dirty="0"/>
              <a:t> </a:t>
            </a:r>
            <a:r>
              <a:rPr lang="en-US" dirty="0" err="1"/>
              <a:t>olemuse</a:t>
            </a:r>
            <a:r>
              <a:rPr lang="en-US" dirty="0"/>
              <a:t> </a:t>
            </a:r>
            <a:r>
              <a:rPr lang="en-US" dirty="0" err="1"/>
              <a:t>mõistmiseks</a:t>
            </a: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A36C9B-9CD7-7743-0A7B-85761C9ACA6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/>
              <a:t>TÜ </a:t>
            </a:r>
            <a:r>
              <a:rPr lang="en-US" sz="2400" dirty="0" err="1"/>
              <a:t>õppematerjal</a:t>
            </a:r>
            <a:r>
              <a:rPr lang="en-US" sz="2400" dirty="0"/>
              <a:t>: </a:t>
            </a:r>
            <a:r>
              <a:rPr lang="en-US" sz="2400" dirty="0">
                <a:hlinkClick r:id="rId2"/>
              </a:rPr>
              <a:t>https://sisu.ut.ee/ti/oppematerjali-avaleht/</a:t>
            </a:r>
            <a:r>
              <a:rPr lang="en-US" sz="2400" dirty="0"/>
              <a:t> </a:t>
            </a:r>
          </a:p>
          <a:p>
            <a:pPr>
              <a:lnSpc>
                <a:spcPct val="150000"/>
              </a:lnSpc>
            </a:pP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sz="2400" dirty="0" err="1"/>
              <a:t>Digiriigi</a:t>
            </a:r>
            <a:r>
              <a:rPr lang="en-US" sz="2400" dirty="0"/>
              <a:t> </a:t>
            </a:r>
            <a:r>
              <a:rPr lang="en-US" sz="2400" dirty="0" err="1"/>
              <a:t>Akadeemia</a:t>
            </a:r>
            <a:r>
              <a:rPr lang="en-US" sz="2400" dirty="0"/>
              <a:t> </a:t>
            </a:r>
            <a:r>
              <a:rPr lang="en-US" sz="2400" dirty="0" err="1"/>
              <a:t>kursused</a:t>
            </a:r>
            <a:r>
              <a:rPr lang="en-US" sz="2400" dirty="0"/>
              <a:t>:</a:t>
            </a:r>
          </a:p>
          <a:p>
            <a:pPr lvl="1">
              <a:lnSpc>
                <a:spcPct val="150000"/>
              </a:lnSpc>
            </a:pPr>
            <a:r>
              <a:rPr lang="en-US" sz="2400" dirty="0">
                <a:hlinkClick r:id="rId3"/>
              </a:rPr>
              <a:t>https://digiriigiakadeemia.ee/course/index.php?categoryid=60</a:t>
            </a:r>
            <a:endParaRPr lang="en-US" sz="2400" dirty="0"/>
          </a:p>
          <a:p>
            <a:pPr lvl="1">
              <a:lnSpc>
                <a:spcPct val="150000"/>
              </a:lnSpc>
            </a:pP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sz="2400" dirty="0" err="1"/>
              <a:t>Lühike</a:t>
            </a:r>
            <a:r>
              <a:rPr lang="en-US" sz="2400" dirty="0"/>
              <a:t> </a:t>
            </a:r>
            <a:r>
              <a:rPr lang="en-US" sz="2400" dirty="0" err="1"/>
              <a:t>ingliskeelne</a:t>
            </a:r>
            <a:r>
              <a:rPr lang="en-US" sz="2400" dirty="0"/>
              <a:t> </a:t>
            </a:r>
            <a:r>
              <a:rPr lang="en-US" sz="2400" dirty="0" err="1"/>
              <a:t>tutvustus</a:t>
            </a:r>
            <a:r>
              <a:rPr lang="en-US" sz="2400" dirty="0"/>
              <a:t> </a:t>
            </a:r>
            <a:r>
              <a:rPr lang="en-US" sz="2400" dirty="0" err="1"/>
              <a:t>keelemudelite</a:t>
            </a:r>
            <a:r>
              <a:rPr lang="en-US" sz="2400" dirty="0"/>
              <a:t> </a:t>
            </a:r>
            <a:r>
              <a:rPr lang="en-US" sz="2400" dirty="0" err="1"/>
              <a:t>toimimise</a:t>
            </a:r>
            <a:r>
              <a:rPr lang="en-US" sz="2400" dirty="0"/>
              <a:t> </a:t>
            </a:r>
            <a:r>
              <a:rPr lang="en-US" sz="2400" dirty="0" err="1"/>
              <a:t>kohta</a:t>
            </a:r>
            <a:r>
              <a:rPr lang="en-US" sz="2400" dirty="0"/>
              <a:t>: </a:t>
            </a:r>
          </a:p>
          <a:p>
            <a:pPr lvl="1">
              <a:lnSpc>
                <a:spcPct val="150000"/>
              </a:lnSpc>
            </a:pPr>
            <a:r>
              <a:rPr lang="en-US" sz="2400" dirty="0">
                <a:hlinkClick r:id="rId4"/>
              </a:rPr>
              <a:t>https://youtu.be/LPZh9BOjkQs?si=Z3O5J0zhSEZG9TWc</a:t>
            </a:r>
            <a:r>
              <a:rPr lang="en-US" sz="2400" dirty="0"/>
              <a:t>  </a:t>
            </a:r>
            <a:endParaRPr lang="et-EE" sz="2400" dirty="0"/>
          </a:p>
        </p:txBody>
      </p:sp>
    </p:spTree>
    <p:extLst>
      <p:ext uri="{BB962C8B-B14F-4D97-AF65-F5344CB8AC3E}">
        <p14:creationId xmlns:p14="http://schemas.microsoft.com/office/powerpoint/2010/main" val="11435839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4A4885-183C-7405-345F-6F039AC36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C2D799-FEF4-2867-2771-9F5C35BC3D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4923" y="479570"/>
            <a:ext cx="10044112" cy="357043"/>
          </a:xfrm>
        </p:spPr>
        <p:txBody>
          <a:bodyPr/>
          <a:lstStyle/>
          <a:p>
            <a:r>
              <a:rPr lang="et-EE" b="1" noProof="0" dirty="0"/>
              <a:t>Tehisaru – levinumad vestlusrobotid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5492C0-055D-8861-D035-31319A80180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t-EE" sz="2400" noProof="0" dirty="0" err="1">
                <a:solidFill>
                  <a:srgbClr val="121212"/>
                </a:solidFill>
                <a:latin typeface="Inter"/>
                <a:ea typeface="Inter"/>
                <a:cs typeface="Noto Serif"/>
                <a:hlinkClick r:id="rId2"/>
              </a:rPr>
              <a:t>ChatGPT</a:t>
            </a:r>
            <a:endParaRPr lang="et-EE" sz="2400" noProof="0" dirty="0">
              <a:latin typeface="Inter" panose="02000503000000020004" pitchFamily="2" charset="0"/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t-EE" sz="2400" noProof="0" dirty="0">
                <a:ea typeface="Inter"/>
                <a:cs typeface="Noto Serif"/>
                <a:hlinkClick r:id="rId3"/>
              </a:rPr>
              <a:t>Google </a:t>
            </a:r>
            <a:r>
              <a:rPr lang="et-EE" sz="2400" noProof="0" dirty="0" err="1">
                <a:ea typeface="Inter"/>
                <a:cs typeface="Noto Serif"/>
                <a:hlinkClick r:id="rId3"/>
              </a:rPr>
              <a:t>Gemini</a:t>
            </a:r>
            <a:r>
              <a:rPr lang="et-EE" sz="2400" noProof="0" dirty="0">
                <a:ea typeface="Inter"/>
                <a:cs typeface="Noto Serif"/>
              </a:rPr>
              <a:t> </a:t>
            </a: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t-EE" sz="2400" noProof="0" dirty="0">
                <a:ea typeface="Inter"/>
                <a:cs typeface="Noto Serif"/>
                <a:hlinkClick r:id="rId4"/>
              </a:rPr>
              <a:t>Microsoft </a:t>
            </a:r>
            <a:r>
              <a:rPr lang="et-EE" sz="2400" noProof="0" dirty="0" err="1">
                <a:ea typeface="Inter"/>
                <a:cs typeface="Noto Serif"/>
                <a:hlinkClick r:id="rId4"/>
              </a:rPr>
              <a:t>Copilot</a:t>
            </a: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t-EE" sz="2400" noProof="0" dirty="0">
                <a:ea typeface="Inter"/>
                <a:cs typeface="Noto Serif"/>
                <a:hlinkClick r:id="rId5"/>
              </a:rPr>
              <a:t>Claude</a:t>
            </a:r>
            <a:endParaRPr lang="et-EE" sz="2400" noProof="0" dirty="0">
              <a:ea typeface="Inter"/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t-EE" sz="2400" noProof="0" dirty="0" err="1">
                <a:ea typeface="Inter"/>
                <a:cs typeface="Noto Serif"/>
                <a:hlinkClick r:id="rId6"/>
              </a:rPr>
              <a:t>NotebookLM</a:t>
            </a:r>
            <a:endParaRPr lang="et-EE" sz="2400" noProof="0" dirty="0">
              <a:cs typeface="Noto Serif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</a:pPr>
            <a:r>
              <a:rPr lang="et-EE" sz="2400" noProof="0" dirty="0">
                <a:ea typeface="Inter"/>
                <a:cs typeface="Noto Serif"/>
              </a:rPr>
              <a:t>Nt proovi "Show </a:t>
            </a:r>
            <a:r>
              <a:rPr lang="et-EE" sz="2400" noProof="0" dirty="0" err="1">
                <a:ea typeface="Inter"/>
                <a:cs typeface="Noto Serif"/>
              </a:rPr>
              <a:t>world</a:t>
            </a:r>
            <a:r>
              <a:rPr lang="et-EE" sz="2400" noProof="0" dirty="0">
                <a:ea typeface="Inter"/>
                <a:cs typeface="Noto Serif"/>
              </a:rPr>
              <a:t> </a:t>
            </a:r>
            <a:r>
              <a:rPr lang="et-EE" sz="2400" noProof="0" dirty="0" err="1">
                <a:ea typeface="Inter"/>
                <a:cs typeface="Noto Serif"/>
              </a:rPr>
              <a:t>population</a:t>
            </a:r>
            <a:r>
              <a:rPr lang="et-EE" sz="2400" noProof="0" dirty="0">
                <a:ea typeface="Inter"/>
                <a:cs typeface="Noto Serif"/>
              </a:rPr>
              <a:t> on </a:t>
            </a:r>
            <a:r>
              <a:rPr lang="et-EE" sz="2400" noProof="0" dirty="0" err="1">
                <a:ea typeface="Inter"/>
                <a:cs typeface="Noto Serif"/>
              </a:rPr>
              <a:t>graph</a:t>
            </a:r>
            <a:r>
              <a:rPr lang="et-EE" sz="2400" noProof="0" dirty="0">
                <a:ea typeface="Inter"/>
                <a:cs typeface="Noto Serif"/>
              </a:rPr>
              <a:t>."</a:t>
            </a: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t-EE" sz="2400" noProof="0" dirty="0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t-EE" sz="2400" noProof="0" dirty="0">
              <a:cs typeface="Arial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endParaRPr lang="et-EE" sz="2400" noProof="0" dirty="0">
              <a:cs typeface="Arial"/>
            </a:endParaRPr>
          </a:p>
          <a:p>
            <a:pPr marL="514350" indent="-514350">
              <a:lnSpc>
                <a:spcPct val="150000"/>
              </a:lnSpc>
            </a:pPr>
            <a:endParaRPr lang="et-EE" sz="2800" noProof="0" dirty="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t-EE" sz="2800" noProof="0" dirty="0"/>
          </a:p>
        </p:txBody>
      </p:sp>
    </p:spTree>
    <p:extLst>
      <p:ext uri="{BB962C8B-B14F-4D97-AF65-F5344CB8AC3E}">
        <p14:creationId xmlns:p14="http://schemas.microsoft.com/office/powerpoint/2010/main" val="5744699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B96E0-0447-F416-DAB5-8BD8EEA42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4CA12E-8239-93DD-2B09-FE46CB68CA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4923" y="479570"/>
            <a:ext cx="10044112" cy="357043"/>
          </a:xfrm>
        </p:spPr>
        <p:txBody>
          <a:bodyPr/>
          <a:lstStyle/>
          <a:p>
            <a:r>
              <a:rPr lang="et-EE" b="1" noProof="0" dirty="0"/>
              <a:t>Tehisaru – levinumad kasutusvõimalused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AEE41D-2DBC-64AB-6A9E-0377C470EE0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t-EE" sz="2000" noProof="0" dirty="0">
                <a:ea typeface="Inter"/>
                <a:cs typeface="Noto Serif"/>
              </a:rPr>
              <a:t>Koodi ja valemite loomine ning paluda selgitused juurde</a:t>
            </a:r>
            <a:endParaRPr lang="et-EE" sz="20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t-EE" sz="2000" noProof="0" dirty="0">
                <a:ea typeface="Inter"/>
                <a:cs typeface="Noto Serif"/>
              </a:rPr>
              <a:t>Veateadete lahendamine</a:t>
            </a:r>
            <a:endParaRPr lang="et-EE" sz="20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t-EE" sz="2000" noProof="0" dirty="0">
                <a:ea typeface="Inter"/>
                <a:cs typeface="Noto Serif"/>
              </a:rPr>
              <a:t>Andmemudeli loomine</a:t>
            </a:r>
            <a:endParaRPr lang="et-EE" sz="20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t-EE" sz="2000" noProof="0" dirty="0">
                <a:ea typeface="Inter"/>
                <a:cs typeface="Noto Serif"/>
              </a:rPr>
              <a:t>Näidisandmestike loomine</a:t>
            </a: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t-EE" sz="2000" noProof="0" dirty="0">
                <a:ea typeface="Inter"/>
                <a:cs typeface="Noto Serif"/>
              </a:rPr>
              <a:t>Graafikute loomine</a:t>
            </a: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t-EE" sz="2000" noProof="0" dirty="0">
                <a:ea typeface="Inter"/>
                <a:cs typeface="Noto Serif"/>
              </a:rPr>
              <a:t>Statistiliste analüüside tegemine</a:t>
            </a: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t-EE" sz="2000" noProof="0" dirty="0">
                <a:ea typeface="Inter"/>
                <a:cs typeface="Noto Serif"/>
              </a:rPr>
              <a:t>Kokkuvõtete tegemine, tulemuste tõlgendamine</a:t>
            </a:r>
            <a:endParaRPr lang="et-EE" sz="20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0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t-EE" sz="2400" noProof="0" dirty="0">
                <a:ea typeface="Inter"/>
                <a:cs typeface="Noto Serif"/>
              </a:rPr>
              <a:t>NB! Kasutamisel tuleb silmas pidada andmekaitset ja ärisaladuse hoidmist. Tavaliselt vestlusrobotid kasutavad saadud andmeid edasiseks treenimiseks.</a:t>
            </a: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t-EE" sz="2400" noProof="0" dirty="0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t-EE" sz="2400" noProof="0" dirty="0">
              <a:cs typeface="Arial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endParaRPr lang="et-EE" sz="2400" noProof="0" dirty="0">
              <a:cs typeface="Arial"/>
            </a:endParaRPr>
          </a:p>
          <a:p>
            <a:pPr marL="514350" indent="-514350">
              <a:lnSpc>
                <a:spcPct val="150000"/>
              </a:lnSpc>
            </a:pPr>
            <a:endParaRPr lang="et-EE" sz="2800" noProof="0" dirty="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t-EE" sz="2800" noProof="0" dirty="0"/>
          </a:p>
        </p:txBody>
      </p:sp>
    </p:spTree>
    <p:extLst>
      <p:ext uri="{BB962C8B-B14F-4D97-AF65-F5344CB8AC3E}">
        <p14:creationId xmlns:p14="http://schemas.microsoft.com/office/powerpoint/2010/main" val="18942154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1ADE9-9363-85CB-B4E2-88FFEFF67A4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9B827E-3573-517D-8E13-7A036189F89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t-EE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EC61094-F6EB-7D49-C2E9-BD2283B48C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3986" y="479570"/>
            <a:ext cx="7718331" cy="5145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39849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DDEC0-4E0D-7B98-5997-874242016A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3632AA-1804-C95A-235A-B1630A75A2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4923" y="479570"/>
            <a:ext cx="10044112" cy="357043"/>
          </a:xfrm>
        </p:spPr>
        <p:txBody>
          <a:bodyPr/>
          <a:lstStyle/>
          <a:p>
            <a:r>
              <a:rPr lang="et-EE" b="1" noProof="0" dirty="0"/>
              <a:t>Tehisaru – eduka sisendi kirjutamine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D24C29-7DB7-412C-B56A-46EC71179C1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t-EE" sz="2400" noProof="0" dirty="0">
                <a:ea typeface="Inter"/>
                <a:cs typeface="Noto Serif"/>
              </a:rPr>
              <a:t>Sisend = keelemudelile antud </a:t>
            </a:r>
            <a:r>
              <a:rPr lang="et-EE" sz="2400" noProof="0" dirty="0" err="1">
                <a:ea typeface="Inter"/>
                <a:cs typeface="Noto Serif"/>
              </a:rPr>
              <a:t>viip</a:t>
            </a:r>
            <a:endParaRPr lang="et-EE" sz="2400" noProof="0" dirty="0">
              <a:ea typeface="Inter"/>
              <a:cs typeface="Noto Serif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t-EE" sz="2400" noProof="0" dirty="0">
                <a:ea typeface="Inter"/>
                <a:cs typeface="Noto Serif"/>
              </a:rPr>
              <a:t>Anna võimalikult palju konteksti ning millises formaadis vastust soovid</a:t>
            </a: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t-EE" sz="2400" noProof="0" dirty="0">
                <a:ea typeface="Inter"/>
                <a:cs typeface="Noto Serif"/>
              </a:rPr>
              <a:t>Täpsusta, millist tarkvara kasutad, kui valemeid küsid</a:t>
            </a: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t-EE" sz="2400" noProof="0" dirty="0">
                <a:ea typeface="Inter"/>
                <a:cs typeface="Noto Serif"/>
              </a:rPr>
              <a:t>Iteratiivne protsess – kui kohe ei saa õiget vastust, siis täienda</a:t>
            </a: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t-EE" sz="2400" noProof="0" dirty="0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t-EE" sz="2400" noProof="0" dirty="0">
              <a:cs typeface="Arial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endParaRPr lang="et-EE" sz="2400" noProof="0" dirty="0">
              <a:cs typeface="Arial"/>
            </a:endParaRPr>
          </a:p>
          <a:p>
            <a:pPr marL="514350" indent="-514350">
              <a:lnSpc>
                <a:spcPct val="150000"/>
              </a:lnSpc>
            </a:pPr>
            <a:endParaRPr lang="et-EE" sz="2800" noProof="0" dirty="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t-EE" sz="2800" noProof="0" dirty="0"/>
          </a:p>
        </p:txBody>
      </p:sp>
    </p:spTree>
    <p:extLst>
      <p:ext uri="{BB962C8B-B14F-4D97-AF65-F5344CB8AC3E}">
        <p14:creationId xmlns:p14="http://schemas.microsoft.com/office/powerpoint/2010/main" val="4027656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E4613B-AA18-2E8F-A97B-F0B013DE239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Sisendi kirjutamise põhimõtted (CRAFT mudel)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A70332-1D1A-2C6E-9052-C6A2A200967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457200" indent="0">
              <a:lnSpc>
                <a:spcPct val="150000"/>
              </a:lnSpc>
              <a:buNone/>
            </a:pPr>
            <a:r>
              <a:rPr lang="et-EE" sz="2400" noProof="0" dirty="0">
                <a:ea typeface="Inter"/>
              </a:rPr>
              <a:t>1) Kontekst - taustainfo</a:t>
            </a:r>
          </a:p>
          <a:p>
            <a:pPr marL="457200" indent="0">
              <a:lnSpc>
                <a:spcPct val="150000"/>
              </a:lnSpc>
              <a:buNone/>
            </a:pPr>
            <a:r>
              <a:rPr lang="et-EE" sz="2400" noProof="0" dirty="0">
                <a:ea typeface="Inter"/>
              </a:rPr>
              <a:t>2) Roll – kelle rolli tehisaru võtab, nt ametiala</a:t>
            </a:r>
          </a:p>
          <a:p>
            <a:pPr marL="457200" indent="0">
              <a:lnSpc>
                <a:spcPct val="150000"/>
              </a:lnSpc>
              <a:buNone/>
            </a:pPr>
            <a:r>
              <a:rPr lang="et-EE" sz="2400" noProof="0" dirty="0">
                <a:ea typeface="Inter"/>
              </a:rPr>
              <a:t>3) Tegevus – mis on eesmärk ja oodatud tulemus</a:t>
            </a:r>
          </a:p>
          <a:p>
            <a:pPr marL="457200" indent="0">
              <a:lnSpc>
                <a:spcPct val="150000"/>
              </a:lnSpc>
              <a:buNone/>
            </a:pPr>
            <a:r>
              <a:rPr lang="et-EE" sz="2400" noProof="0" dirty="0">
                <a:ea typeface="Inter"/>
              </a:rPr>
              <a:t>4) Formaat – millises formaadis vastust soovid</a:t>
            </a:r>
            <a:endParaRPr lang="et-EE" noProof="0" dirty="0">
              <a:ea typeface="Inter"/>
            </a:endParaRPr>
          </a:p>
          <a:p>
            <a:pPr marL="457200" indent="0">
              <a:lnSpc>
                <a:spcPct val="150000"/>
              </a:lnSpc>
              <a:buNone/>
            </a:pPr>
            <a:r>
              <a:rPr lang="et-EE" sz="2400" noProof="0" dirty="0">
                <a:ea typeface="Inter"/>
              </a:rPr>
              <a:t>5) Sihtgrupp - kellele on tulem suunatud</a:t>
            </a:r>
            <a:endParaRPr lang="et-EE" noProof="0" dirty="0"/>
          </a:p>
          <a:p>
            <a:pPr marL="742950" lvl="1" indent="-285750">
              <a:lnSpc>
                <a:spcPct val="150000"/>
              </a:lnSpc>
            </a:pPr>
            <a:endParaRPr lang="et-EE" noProof="0" dirty="0">
              <a:solidFill>
                <a:srgbClr val="12121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65157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7509EE-22F1-1315-8A2D-3282644AA9E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Sisendi näide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E5931E-0B21-061A-1BAA-585EFA37FA4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t-EE" sz="2400" noProof="0" dirty="0">
                <a:ea typeface="Inter"/>
              </a:rPr>
              <a:t>Algne: </a:t>
            </a:r>
            <a:r>
              <a:rPr lang="et-EE" sz="2400" noProof="0" dirty="0">
                <a:ea typeface="+mn-lt"/>
                <a:cs typeface="+mn-lt"/>
              </a:rPr>
              <a:t>Analüüsi andmeid.</a:t>
            </a:r>
            <a:endParaRPr lang="et-EE" sz="2400" noProof="0" dirty="0"/>
          </a:p>
          <a:p>
            <a:pPr marL="0" indent="0">
              <a:buNone/>
            </a:pPr>
            <a:endParaRPr lang="et-EE" sz="2400" noProof="0" dirty="0"/>
          </a:p>
          <a:p>
            <a:pPr>
              <a:lnSpc>
                <a:spcPct val="150000"/>
              </a:lnSpc>
            </a:pPr>
            <a:r>
              <a:rPr lang="et-EE" sz="2400" noProof="0" dirty="0">
                <a:ea typeface="Inter"/>
              </a:rPr>
              <a:t>Täiendatud:</a:t>
            </a:r>
          </a:p>
          <a:p>
            <a:pPr lvl="1">
              <a:lnSpc>
                <a:spcPct val="150000"/>
              </a:lnSpc>
            </a:pPr>
            <a:r>
              <a:rPr lang="et-EE" sz="2000" noProof="0" dirty="0">
                <a:ea typeface="Inter"/>
              </a:rPr>
              <a:t>Siin on andmestik kahe pakiroboti tarneaja kohta. </a:t>
            </a:r>
            <a:r>
              <a:rPr lang="et-EE" sz="2000" i="1" noProof="0" dirty="0">
                <a:ea typeface="Inter"/>
              </a:rPr>
              <a:t>(Kontekst)</a:t>
            </a:r>
            <a:endParaRPr lang="et-EE" sz="2000" i="1" noProof="0" dirty="0"/>
          </a:p>
          <a:p>
            <a:pPr lvl="1">
              <a:lnSpc>
                <a:spcPct val="150000"/>
              </a:lnSpc>
            </a:pPr>
            <a:r>
              <a:rPr lang="et-EE" sz="2000" noProof="0" dirty="0">
                <a:ea typeface="Inter"/>
              </a:rPr>
              <a:t>Sa oled seenior andmeanalüütik. </a:t>
            </a:r>
            <a:r>
              <a:rPr lang="et-EE" sz="2000" i="1" noProof="0" dirty="0">
                <a:ea typeface="Inter"/>
              </a:rPr>
              <a:t>(Roll)</a:t>
            </a:r>
            <a:endParaRPr lang="et-EE" sz="2000" i="1" noProof="0" dirty="0"/>
          </a:p>
          <a:p>
            <a:pPr lvl="1">
              <a:lnSpc>
                <a:spcPct val="150000"/>
              </a:lnSpc>
              <a:buClr>
                <a:srgbClr val="121212"/>
              </a:buClr>
            </a:pPr>
            <a:r>
              <a:rPr lang="et-EE" sz="2000" noProof="0" dirty="0">
                <a:ea typeface="+mn-lt"/>
                <a:cs typeface="+mn-lt"/>
              </a:rPr>
              <a:t>Võrdle erinevust vana ja uue tarkvaraga pakiroboti vahel. </a:t>
            </a:r>
            <a:r>
              <a:rPr lang="et-EE" sz="2000" i="1" noProof="0" dirty="0">
                <a:ea typeface="+mn-lt"/>
                <a:cs typeface="+mn-lt"/>
              </a:rPr>
              <a:t>(Tegevus)</a:t>
            </a:r>
          </a:p>
          <a:p>
            <a:pPr lvl="1">
              <a:lnSpc>
                <a:spcPct val="150000"/>
              </a:lnSpc>
              <a:buClr>
                <a:srgbClr val="121212"/>
              </a:buClr>
            </a:pPr>
            <a:r>
              <a:rPr lang="et-EE" sz="2000" noProof="0" dirty="0">
                <a:ea typeface="+mn-lt"/>
                <a:cs typeface="+mn-lt"/>
              </a:rPr>
              <a:t>Loo </a:t>
            </a:r>
            <a:r>
              <a:rPr lang="et-EE" sz="2000" noProof="0" dirty="0" err="1">
                <a:ea typeface="+mn-lt"/>
                <a:cs typeface="+mn-lt"/>
              </a:rPr>
              <a:t>Jupyter</a:t>
            </a:r>
            <a:r>
              <a:rPr lang="et-EE" sz="2000" noProof="0" dirty="0">
                <a:ea typeface="+mn-lt"/>
                <a:cs typeface="+mn-lt"/>
              </a:rPr>
              <a:t> </a:t>
            </a:r>
            <a:r>
              <a:rPr lang="et-EE" sz="2000" noProof="0" dirty="0" err="1">
                <a:ea typeface="+mn-lt"/>
                <a:cs typeface="+mn-lt"/>
              </a:rPr>
              <a:t>Notebook</a:t>
            </a:r>
            <a:r>
              <a:rPr lang="et-EE" sz="2000" noProof="0" dirty="0">
                <a:ea typeface="+mn-lt"/>
                <a:cs typeface="+mn-lt"/>
              </a:rPr>
              <a:t> fail. </a:t>
            </a:r>
            <a:r>
              <a:rPr lang="et-EE" sz="2000" i="1" noProof="0" dirty="0">
                <a:ea typeface="+mn-lt"/>
                <a:cs typeface="+mn-lt"/>
              </a:rPr>
              <a:t>(Formaat)</a:t>
            </a:r>
          </a:p>
          <a:p>
            <a:pPr lvl="1">
              <a:lnSpc>
                <a:spcPct val="150000"/>
              </a:lnSpc>
              <a:buClr>
                <a:srgbClr val="121212"/>
              </a:buClr>
            </a:pPr>
            <a:r>
              <a:rPr lang="et-EE" sz="2000" noProof="0" dirty="0">
                <a:ea typeface="+mn-lt"/>
                <a:cs typeface="+mn-lt"/>
              </a:rPr>
              <a:t>Esitlus on mõeldud tootetiimile.</a:t>
            </a:r>
            <a:r>
              <a:rPr lang="et-EE" sz="2000" i="1" noProof="0" dirty="0">
                <a:ea typeface="+mn-lt"/>
                <a:cs typeface="+mn-lt"/>
              </a:rPr>
              <a:t> (Sihtgrupp)</a:t>
            </a:r>
          </a:p>
          <a:p>
            <a:pPr lvl="1">
              <a:lnSpc>
                <a:spcPct val="150000"/>
              </a:lnSpc>
              <a:buClr>
                <a:srgbClr val="121212"/>
              </a:buClr>
              <a:buFont typeface="Courier New" panose="020B0502030000000004" pitchFamily="34" charset="0"/>
              <a:buChar char="o"/>
            </a:pPr>
            <a:endParaRPr lang="et-EE" sz="2400" noProof="0" dirty="0"/>
          </a:p>
          <a:p>
            <a:pPr lvl="1">
              <a:buClr>
                <a:srgbClr val="121212"/>
              </a:buClr>
              <a:buFont typeface="Courier New" panose="020B0502030000000004" pitchFamily="34" charset="0"/>
              <a:buChar char="o"/>
            </a:pPr>
            <a:endParaRPr lang="et-EE" sz="2400" noProof="0" dirty="0"/>
          </a:p>
          <a:p>
            <a:pPr lvl="1">
              <a:buFont typeface="Courier New" panose="020B0502030000000004" pitchFamily="34" charset="0"/>
              <a:buChar char="o"/>
            </a:pPr>
            <a:endParaRPr lang="et-EE" sz="2400" noProof="0" dirty="0"/>
          </a:p>
          <a:p>
            <a:pPr lvl="1">
              <a:buFont typeface="Courier New" panose="020B0502030000000004" pitchFamily="34" charset="0"/>
              <a:buChar char="o"/>
            </a:pPr>
            <a:endParaRPr lang="et-EE" noProof="0" dirty="0"/>
          </a:p>
        </p:txBody>
      </p:sp>
    </p:spTree>
    <p:extLst>
      <p:ext uri="{BB962C8B-B14F-4D97-AF65-F5344CB8AC3E}">
        <p14:creationId xmlns:p14="http://schemas.microsoft.com/office/powerpoint/2010/main" val="36677324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FB36D3-A970-D5A5-D02E-FEE0E6B0D1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noProof="0" dirty="0"/>
              <a:t>Tehisaru - personaliseerimine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B6FC87-C50E-09CA-7F87-C4C23D6BFC7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t-EE" sz="2400" noProof="0" dirty="0">
                <a:ea typeface="Inter"/>
              </a:rPr>
              <a:t>Saab lisada info, mida iga päringu tegemisel jooksutatakse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t-EE" sz="2400" noProof="0" dirty="0">
                <a:ea typeface="Inter"/>
              </a:rPr>
              <a:t>Nt </a:t>
            </a:r>
            <a:r>
              <a:rPr lang="en-US" sz="2400" noProof="0" dirty="0">
                <a:ea typeface="Inter"/>
              </a:rPr>
              <a:t>Claude</a:t>
            </a:r>
            <a:r>
              <a:rPr lang="et-EE" sz="2400" noProof="0" dirty="0">
                <a:ea typeface="Inter"/>
              </a:rPr>
              <a:t> --&gt; kliki oma profiilil --&gt; </a:t>
            </a:r>
            <a:r>
              <a:rPr lang="en-US" sz="2400" dirty="0">
                <a:ea typeface="Inter"/>
              </a:rPr>
              <a:t>Settings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endParaRPr lang="en-US" sz="2400" noProof="0" dirty="0">
              <a:ea typeface="Inter"/>
            </a:endParaRPr>
          </a:p>
          <a:p>
            <a:pPr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>
                <a:ea typeface="Inter"/>
              </a:rPr>
              <a:t>Projects</a:t>
            </a:r>
          </a:p>
          <a:p>
            <a:pPr>
              <a:lnSpc>
                <a:spcPct val="150000"/>
              </a:lnSpc>
              <a:buFont typeface="Courier New" panose="020B0502030000000004" pitchFamily="34" charset="0"/>
              <a:buChar char="o"/>
            </a:pPr>
            <a:endParaRPr lang="en-US" sz="2400" noProof="0" dirty="0">
              <a:ea typeface="Inter"/>
            </a:endParaRPr>
          </a:p>
          <a:p>
            <a:pPr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 err="1">
                <a:ea typeface="Inter"/>
              </a:rPr>
              <a:t>Mudeli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valik</a:t>
            </a:r>
            <a:endParaRPr lang="en-US" sz="2400" noProof="0" dirty="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6826300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6B0F9-9A44-A96E-0A3E-14C2C20C76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2FCE63-0FB0-32F6-8A25-B0877487D27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t-EE" sz="2800" noProof="0" dirty="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t-EE" sz="2000" noProof="0" dirty="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DEE2DCD-5528-0E71-8160-938192ACA3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61336" y="2675333"/>
            <a:ext cx="6575007" cy="357043"/>
          </a:xfrm>
        </p:spPr>
        <p:txBody>
          <a:bodyPr/>
          <a:lstStyle/>
          <a:p>
            <a:r>
              <a:rPr lang="et-EE" noProof="0" dirty="0"/>
              <a:t>Lõunapaus 12:15-13:15</a:t>
            </a:r>
          </a:p>
        </p:txBody>
      </p:sp>
    </p:spTree>
    <p:extLst>
      <p:ext uri="{BB962C8B-B14F-4D97-AF65-F5344CB8AC3E}">
        <p14:creationId xmlns:p14="http://schemas.microsoft.com/office/powerpoint/2010/main" val="14942372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5C7D33-8F01-1754-4E8C-82C6A6EFF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29B55-022C-CCF6-9EF2-07D4A3BCE7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4923" y="479570"/>
            <a:ext cx="10044112" cy="357043"/>
          </a:xfrm>
        </p:spPr>
        <p:txBody>
          <a:bodyPr/>
          <a:lstStyle/>
          <a:p>
            <a:r>
              <a:rPr lang="et-EE" b="1" noProof="0" dirty="0"/>
              <a:t>Tehisaru – vestlusrobotid - praktiline harjutus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0A66F8-FBDE-40E8-405E-245CA696AFB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t-EE" sz="2400" noProof="0" dirty="0">
                <a:ea typeface="Inter"/>
                <a:cs typeface="Noto Serif"/>
              </a:rPr>
              <a:t>Ava  Müügiraporti Power BI </a:t>
            </a:r>
            <a:endParaRPr lang="et-EE" sz="2400" noProof="0" dirty="0">
              <a:cs typeface="Noto Serif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r>
              <a:rPr lang="en-US" sz="2400" noProof="0" dirty="0">
                <a:ea typeface="Inter"/>
                <a:cs typeface="Noto Serif"/>
              </a:rPr>
              <a:t>Palu </a:t>
            </a:r>
            <a:r>
              <a:rPr lang="en-US" sz="2400" noProof="0" dirty="0" err="1">
                <a:ea typeface="Inter"/>
                <a:cs typeface="Noto Serif"/>
              </a:rPr>
              <a:t>vestlusrobotitel</a:t>
            </a:r>
            <a:r>
              <a:rPr lang="en-US" sz="2400" noProof="0" dirty="0">
                <a:ea typeface="Inter"/>
                <a:cs typeface="Noto Serif"/>
              </a:rPr>
              <a:t> </a:t>
            </a:r>
            <a:r>
              <a:rPr lang="en-US" sz="2400" noProof="0" dirty="0" err="1">
                <a:ea typeface="Inter"/>
                <a:cs typeface="Noto Serif"/>
              </a:rPr>
              <a:t>selgitada</a:t>
            </a:r>
            <a:r>
              <a:rPr lang="en-US" sz="2400" noProof="0" dirty="0">
                <a:ea typeface="Inter"/>
                <a:cs typeface="Noto Serif"/>
              </a:rPr>
              <a:t> </a:t>
            </a:r>
            <a:r>
              <a:rPr lang="en-US" sz="2400" noProof="0" dirty="0" err="1">
                <a:ea typeface="Inter"/>
                <a:cs typeface="Noto Serif"/>
              </a:rPr>
              <a:t>saadud</a:t>
            </a:r>
            <a:r>
              <a:rPr lang="en-US" sz="2400" noProof="0" dirty="0">
                <a:ea typeface="Inter"/>
                <a:cs typeface="Noto Serif"/>
              </a:rPr>
              <a:t> </a:t>
            </a:r>
            <a:r>
              <a:rPr lang="en-US" sz="2400" noProof="0" dirty="0" err="1">
                <a:ea typeface="Inter"/>
                <a:cs typeface="Noto Serif"/>
              </a:rPr>
              <a:t>mõõdikuid</a:t>
            </a:r>
            <a:endParaRPr lang="en-US" sz="2400" noProof="0" dirty="0">
              <a:ea typeface="Inter"/>
              <a:cs typeface="Noto Serif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r>
              <a:rPr lang="et-EE" sz="2400" noProof="0" dirty="0">
                <a:ea typeface="Inter"/>
                <a:cs typeface="Noto Serif"/>
              </a:rPr>
              <a:t>Palu erinevatel vestlusrobotitel luua samu arvutatud tulpasid ja mõõdikuid, mida analüüsis kasutasime. Võrdle vestlusrobotite vahelisi tulemusi ning meie poolt kirjutatud valemeid. </a:t>
            </a: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r>
              <a:rPr lang="et-EE" sz="2400" noProof="0" dirty="0">
                <a:cs typeface="Noto Serif"/>
              </a:rPr>
              <a:t>Uuri sama </a:t>
            </a:r>
            <a:r>
              <a:rPr lang="et-EE" sz="2400" noProof="0" dirty="0" err="1">
                <a:cs typeface="Noto Serif"/>
              </a:rPr>
              <a:t>Employee</a:t>
            </a:r>
            <a:r>
              <a:rPr lang="et-EE" sz="2400" noProof="0" dirty="0">
                <a:cs typeface="Noto Serif"/>
              </a:rPr>
              <a:t> </a:t>
            </a:r>
            <a:r>
              <a:rPr lang="et-EE" sz="2400" noProof="0" dirty="0" err="1">
                <a:cs typeface="Noto Serif"/>
              </a:rPr>
              <a:t>Overview</a:t>
            </a:r>
            <a:r>
              <a:rPr lang="et-EE" sz="2400" noProof="0" dirty="0">
                <a:cs typeface="Noto Serif"/>
              </a:rPr>
              <a:t> raporti mõõdikute kohta</a:t>
            </a:r>
          </a:p>
          <a:p>
            <a:pPr marL="342900">
              <a:lnSpc>
                <a:spcPct val="150000"/>
              </a:lnSpc>
              <a:buClr>
                <a:srgbClr val="121212"/>
              </a:buClr>
            </a:pP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t-EE" sz="2400" noProof="0" dirty="0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t-EE" sz="2400" noProof="0" dirty="0">
              <a:cs typeface="Arial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endParaRPr lang="et-EE" sz="2400" noProof="0" dirty="0">
              <a:cs typeface="Arial"/>
            </a:endParaRPr>
          </a:p>
          <a:p>
            <a:pPr marL="514350" indent="-514350">
              <a:lnSpc>
                <a:spcPct val="150000"/>
              </a:lnSpc>
            </a:pPr>
            <a:endParaRPr lang="et-EE" sz="2800" noProof="0" dirty="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t-EE" sz="2800" noProof="0" dirty="0"/>
          </a:p>
        </p:txBody>
      </p:sp>
    </p:spTree>
    <p:extLst>
      <p:ext uri="{BB962C8B-B14F-4D97-AF65-F5344CB8AC3E}">
        <p14:creationId xmlns:p14="http://schemas.microsoft.com/office/powerpoint/2010/main" val="26418174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AD065C-5832-C00B-D532-FF4338797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915822-6BB3-759C-184D-73740C8BDF9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t-EE" sz="2800" noProof="0" dirty="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t-EE" sz="2000" noProof="0" dirty="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6EAEB33-E2E1-C05F-2B41-C3ECC3F9D6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t-EE" noProof="0" dirty="0"/>
              <a:t>Paus 14:45-15:00</a:t>
            </a:r>
          </a:p>
        </p:txBody>
      </p:sp>
    </p:spTree>
    <p:extLst>
      <p:ext uri="{BB962C8B-B14F-4D97-AF65-F5344CB8AC3E}">
        <p14:creationId xmlns:p14="http://schemas.microsoft.com/office/powerpoint/2010/main" val="36529016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315517-C270-925D-C52A-A98C4F9B279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Power BI projekt fail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90FC9E-D933-7C41-1F8D-FC5BCD05661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t-EE" dirty="0"/>
              <a:t>.pbip failid on tegelikult tavalised tekstifailid (JSON või TMDL)</a:t>
            </a:r>
          </a:p>
          <a:p>
            <a:r>
              <a:rPr lang="et-EE" b="1" dirty="0"/>
              <a:t>Mugav ja kiire nipp tasuta versioonis:</a:t>
            </a:r>
          </a:p>
          <a:p>
            <a:r>
              <a:rPr lang="et-EE" dirty="0"/>
              <a:t>Et sa ei peaks ridadest näpuga järge ajama ja käsitsi teksti asendama, kasuta seda taktikat:</a:t>
            </a:r>
          </a:p>
          <a:p>
            <a:pPr lvl="0"/>
            <a:r>
              <a:rPr lang="et-EE" dirty="0"/>
              <a:t>Laadi oma .json või .tmdl fail tasuta Claude'i üles.</a:t>
            </a:r>
          </a:p>
          <a:p>
            <a:pPr lvl="0"/>
            <a:r>
              <a:rPr lang="et-EE" dirty="0"/>
              <a:t>Kirjuta juurde: </a:t>
            </a:r>
            <a:r>
              <a:rPr lang="et-EE" i="1" dirty="0"/>
              <a:t>"Muuda selles failis [sinu soov] ja </a:t>
            </a:r>
            <a:r>
              <a:rPr lang="et-EE" b="1" i="1" dirty="0"/>
              <a:t>anna mulle tagasi täielik muudetud fail uuesti allalaadimiseks</a:t>
            </a:r>
            <a:r>
              <a:rPr lang="et-EE" i="1" dirty="0"/>
              <a:t>."</a:t>
            </a:r>
            <a:endParaRPr lang="et-EE" dirty="0"/>
          </a:p>
          <a:p>
            <a:pPr lvl="0"/>
            <a:r>
              <a:rPr lang="et-EE" dirty="0"/>
              <a:t>Claude töötleb koodi ja tekitab vestlusesse uue faili ikooni.</a:t>
            </a:r>
          </a:p>
          <a:p>
            <a:pPr lvl="0"/>
            <a:r>
              <a:rPr lang="et-EE" dirty="0"/>
              <a:t>Klikid lihtsalt nuppu </a:t>
            </a:r>
            <a:r>
              <a:rPr lang="et-EE" b="1" dirty="0"/>
              <a:t>"Download"</a:t>
            </a:r>
            <a:r>
              <a:rPr lang="et-EE" dirty="0"/>
              <a:t> ja salvestad selle faili oma .pbip kausta vana faili peale (asendad vana faili uuega). Nii jääb ära koodi seest ridade kopeerimine.</a:t>
            </a:r>
          </a:p>
          <a:p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1226244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3393A-A8F2-67EE-DB4D-EC30357C74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181A30-3F12-3F34-4B12-D2A75ABF59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4923" y="479570"/>
            <a:ext cx="10044112" cy="357043"/>
          </a:xfrm>
        </p:spPr>
        <p:txBody>
          <a:bodyPr/>
          <a:lstStyle/>
          <a:p>
            <a:r>
              <a:rPr lang="et-EE" b="1" noProof="0" dirty="0"/>
              <a:t>Tehisaru – Visual Studio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1B2D3B-479E-EDB2-3538-B9498FA1C19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t-EE" sz="2400" noProof="0" dirty="0" err="1">
                <a:ea typeface="Inter"/>
                <a:cs typeface="Noto Serif"/>
              </a:rPr>
              <a:t>View</a:t>
            </a:r>
            <a:r>
              <a:rPr lang="et-EE" sz="2400" noProof="0" dirty="0">
                <a:ea typeface="Inter"/>
                <a:cs typeface="Noto Serif"/>
              </a:rPr>
              <a:t> --&gt; Chat</a:t>
            </a:r>
            <a:endParaRPr lang="et-EE" sz="2400" noProof="0" dirty="0">
              <a:cs typeface="Noto Serif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r>
              <a:rPr lang="et-EE" sz="2400" noProof="0" dirty="0">
                <a:ea typeface="Inter"/>
                <a:cs typeface="Noto Serif"/>
              </a:rPr>
              <a:t>Ühendus valitud vestlusrobotiga</a:t>
            </a: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r>
              <a:rPr lang="et-EE" sz="2400" noProof="0" dirty="0">
                <a:ea typeface="Inter"/>
                <a:cs typeface="Noto Serif"/>
              </a:rPr>
              <a:t>Võimalik ette anda kontekst</a:t>
            </a: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</a:pPr>
            <a:r>
              <a:rPr lang="et-EE" sz="2400" noProof="0" dirty="0">
                <a:ea typeface="Inter"/>
                <a:cs typeface="Noto Serif"/>
              </a:rPr>
              <a:t>Proovi luua SQL päringuid kirjelduse abil</a:t>
            </a:r>
            <a:endParaRPr lang="et-EE" sz="2400" noProof="0" dirty="0">
              <a:cs typeface="Noto Serif"/>
            </a:endParaRPr>
          </a:p>
          <a:p>
            <a:pPr marL="342900">
              <a:lnSpc>
                <a:spcPct val="150000"/>
              </a:lnSpc>
              <a:buClr>
                <a:srgbClr val="121212"/>
              </a:buClr>
            </a:pP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t-EE" sz="2400" noProof="0" dirty="0">
              <a:cs typeface="Noto Serif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endParaRPr lang="et-EE" sz="2400" noProof="0" dirty="0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o"/>
            </a:pPr>
            <a:endParaRPr lang="et-EE" sz="2400" noProof="0" dirty="0">
              <a:cs typeface="Arial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endParaRPr lang="et-EE" sz="2400" noProof="0" dirty="0">
              <a:cs typeface="Arial"/>
            </a:endParaRPr>
          </a:p>
          <a:p>
            <a:pPr marL="514350" indent="-514350">
              <a:lnSpc>
                <a:spcPct val="150000"/>
              </a:lnSpc>
            </a:pPr>
            <a:endParaRPr lang="et-EE" sz="2800" noProof="0" dirty="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t-EE" sz="2800" noProof="0" dirty="0"/>
          </a:p>
        </p:txBody>
      </p:sp>
    </p:spTree>
    <p:extLst>
      <p:ext uri="{BB962C8B-B14F-4D97-AF65-F5344CB8AC3E}">
        <p14:creationId xmlns:p14="http://schemas.microsoft.com/office/powerpoint/2010/main" val="1362109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1CACB-377A-85A1-C8EE-D4FFE701BAE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Versioonihaldus</a:t>
            </a:r>
            <a:r>
              <a:rPr lang="en-US"/>
              <a:t> – </a:t>
            </a:r>
            <a:r>
              <a:rPr lang="en-US" err="1"/>
              <a:t>Eesmärk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98BACB-3B2E-7441-2028-49BA6BC09FC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>
                <a:ea typeface="Inter"/>
              </a:rPr>
              <a:t>Enda </a:t>
            </a:r>
            <a:r>
              <a:rPr lang="en-US" sz="2400" err="1">
                <a:ea typeface="Inter"/>
              </a:rPr>
              <a:t>tööprotsessi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salvestamine</a:t>
            </a:r>
            <a:endParaRPr lang="en-US" sz="2400" err="1"/>
          </a:p>
          <a:p>
            <a:pPr>
              <a:lnSpc>
                <a:spcPct val="150000"/>
              </a:lnSpc>
              <a:buClr>
                <a:srgbClr val="121212"/>
              </a:buClr>
            </a:pPr>
            <a:r>
              <a:rPr lang="en-US" sz="2400" err="1">
                <a:ea typeface="Inter"/>
              </a:rPr>
              <a:t>Koostöö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teistega</a:t>
            </a:r>
            <a:r>
              <a:rPr lang="en-US" sz="2400">
                <a:ea typeface="Inter"/>
              </a:rPr>
              <a:t> – </a:t>
            </a:r>
            <a:r>
              <a:rPr lang="en-US" sz="2400" err="1">
                <a:ea typeface="Inter"/>
              </a:rPr>
              <a:t>eri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versioonide</a:t>
            </a:r>
            <a:r>
              <a:rPr lang="en-US" sz="2400">
                <a:ea typeface="Inter"/>
              </a:rPr>
              <a:t> </a:t>
            </a:r>
            <a:r>
              <a:rPr lang="en-US" sz="2400" err="1">
                <a:ea typeface="Inter"/>
              </a:rPr>
              <a:t>võrdlus</a:t>
            </a:r>
            <a:r>
              <a:rPr lang="en-US" sz="2400">
                <a:ea typeface="Inter"/>
              </a:rPr>
              <a:t> ja </a:t>
            </a:r>
            <a:r>
              <a:rPr lang="en-US" sz="2400" err="1">
                <a:ea typeface="Inter"/>
              </a:rPr>
              <a:t>kokkupanek</a:t>
            </a:r>
            <a:endParaRPr lang="en-US" sz="2400" err="1"/>
          </a:p>
          <a:p>
            <a:pPr>
              <a:buClr>
                <a:srgbClr val="121212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1430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0F92B2-12B6-3EEC-F2B3-F755D2D65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10E0A-018E-5EE0-FA27-54E6A8EE89C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Versioonihaldus</a:t>
            </a:r>
            <a:r>
              <a:rPr lang="en-US"/>
              <a:t> – </a:t>
            </a:r>
            <a:r>
              <a:rPr lang="en-US" err="1"/>
              <a:t>Github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2C74D9-D356-E267-1957-9BD976270E9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Veebipõhine </a:t>
            </a:r>
            <a:r>
              <a:rPr lang="en-US" sz="2400" dirty="0" err="1">
                <a:ea typeface="Inter"/>
              </a:rPr>
              <a:t>tööriist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koodi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halduseks</a:t>
            </a:r>
            <a:r>
              <a:rPr lang="en-US" sz="2400" dirty="0">
                <a:ea typeface="Inter"/>
              </a:rPr>
              <a:t> ja </a:t>
            </a:r>
            <a:r>
              <a:rPr lang="en-US" sz="2400" dirty="0" err="1">
                <a:ea typeface="Inter"/>
              </a:rPr>
              <a:t>jagamiseks</a:t>
            </a:r>
            <a:endParaRPr lang="en-US" sz="2400" dirty="0" err="1"/>
          </a:p>
          <a:p>
            <a:pPr>
              <a:lnSpc>
                <a:spcPct val="150000"/>
              </a:lnSpc>
              <a:buClr>
                <a:srgbClr val="121212"/>
              </a:buClr>
            </a:pPr>
            <a:r>
              <a:rPr lang="en-US" sz="2400" dirty="0">
                <a:ea typeface="Inter"/>
                <a:hlinkClick r:id="rId3"/>
              </a:rPr>
              <a:t>github.com</a:t>
            </a:r>
            <a:r>
              <a:rPr lang="en-US" sz="2400" dirty="0">
                <a:ea typeface="Inter"/>
              </a:rPr>
              <a:t> </a:t>
            </a:r>
          </a:p>
          <a:p>
            <a:pPr>
              <a:lnSpc>
                <a:spcPct val="150000"/>
              </a:lnSpc>
              <a:buClr>
                <a:srgbClr val="121212"/>
              </a:buClr>
            </a:pPr>
            <a:r>
              <a:rPr lang="en-US" sz="2400" dirty="0">
                <a:ea typeface="Inter"/>
              </a:rPr>
              <a:t>Loo </a:t>
            </a:r>
            <a:r>
              <a:rPr lang="en-US" sz="2400" dirty="0" err="1">
                <a:ea typeface="Inter"/>
              </a:rPr>
              <a:t>konto</a:t>
            </a:r>
            <a:endParaRPr lang="en-US" sz="2400" dirty="0">
              <a:ea typeface="Inter"/>
            </a:endParaRPr>
          </a:p>
          <a:p>
            <a:pPr>
              <a:lnSpc>
                <a:spcPct val="150000"/>
              </a:lnSpc>
              <a:buClr>
                <a:srgbClr val="121212"/>
              </a:buClr>
            </a:pPr>
            <a:r>
              <a:rPr lang="en-US" sz="2400" dirty="0">
                <a:ea typeface="Inter"/>
              </a:rPr>
              <a:t>Loo </a:t>
            </a:r>
            <a:r>
              <a:rPr lang="en-US" sz="2400" dirty="0" err="1">
                <a:ea typeface="Inter"/>
              </a:rPr>
              <a:t>projekt</a:t>
            </a:r>
            <a:r>
              <a:rPr lang="en-US" sz="2400" dirty="0">
                <a:ea typeface="Inter"/>
              </a:rPr>
              <a:t> (repository)</a:t>
            </a:r>
            <a:endParaRPr lang="en-US" sz="2400" dirty="0" err="1"/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 err="1">
                <a:ea typeface="Inter"/>
              </a:rPr>
              <a:t>Projekti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nimi</a:t>
            </a:r>
            <a:endParaRPr lang="en-US" sz="2400" dirty="0">
              <a:ea typeface="Inter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>
                <a:ea typeface="Inter"/>
              </a:rPr>
              <a:t>Visibility: private </a:t>
            </a:r>
            <a:r>
              <a:rPr lang="en-US" sz="2400" dirty="0" err="1">
                <a:ea typeface="Inter"/>
              </a:rPr>
              <a:t>või</a:t>
            </a:r>
            <a:r>
              <a:rPr lang="en-US" sz="2400" dirty="0">
                <a:ea typeface="Inter"/>
              </a:rPr>
              <a:t> public</a:t>
            </a:r>
            <a:endParaRPr lang="en-US" sz="2400" dirty="0"/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>
                <a:ea typeface="Inter"/>
              </a:rPr>
              <a:t>Add README: </a:t>
            </a:r>
            <a:r>
              <a:rPr lang="en-US" sz="2400" dirty="0" err="1">
                <a:ea typeface="Inter"/>
              </a:rPr>
              <a:t>loob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tekstifaili</a:t>
            </a:r>
            <a:endParaRPr lang="en-US" sz="2400" dirty="0" err="1"/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>
                <a:ea typeface="Inter"/>
              </a:rPr>
              <a:t>Add .</a:t>
            </a:r>
            <a:r>
              <a:rPr lang="en-US" sz="2400" dirty="0" err="1">
                <a:ea typeface="Inter"/>
              </a:rPr>
              <a:t>gitignore</a:t>
            </a:r>
            <a:r>
              <a:rPr lang="en-US" sz="2400" dirty="0">
                <a:ea typeface="Inter"/>
              </a:rPr>
              <a:t> - </a:t>
            </a:r>
            <a:r>
              <a:rPr lang="en-US" sz="2400" dirty="0" err="1">
                <a:ea typeface="Inter"/>
              </a:rPr>
              <a:t>praegu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ei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lisa</a:t>
            </a:r>
            <a:endParaRPr lang="en-US" sz="2400" dirty="0" err="1"/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>
                <a:ea typeface="Inter"/>
              </a:rPr>
              <a:t>Add license – </a:t>
            </a:r>
            <a:r>
              <a:rPr lang="en-US" sz="2400" dirty="0" err="1">
                <a:ea typeface="Inter"/>
              </a:rPr>
              <a:t>praegu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ei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lisa</a:t>
            </a:r>
          </a:p>
          <a:p>
            <a:pPr>
              <a:buClr>
                <a:srgbClr val="121212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3412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7AB9A-674C-6748-A625-68CFB18866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46F7E5-84ED-CD9A-104B-2FFB5F94742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Git </a:t>
            </a:r>
            <a:r>
              <a:rPr lang="en-US" dirty="0" err="1"/>
              <a:t>kasutaja</a:t>
            </a:r>
            <a:r>
              <a:rPr lang="en-US" dirty="0"/>
              <a:t> </a:t>
            </a:r>
            <a:r>
              <a:rPr lang="en-US" dirty="0" err="1"/>
              <a:t>seadistamine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8FD335-8F6B-9D9D-E050-1D08E24A529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Vaja </a:t>
            </a:r>
            <a:r>
              <a:rPr lang="en-US" sz="2400" dirty="0" err="1">
                <a:ea typeface="Inter"/>
              </a:rPr>
              <a:t>teha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üks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kord</a:t>
            </a:r>
            <a:endParaRPr lang="en-US" sz="2400" dirty="0" err="1"/>
          </a:p>
          <a:p>
            <a:pPr>
              <a:lnSpc>
                <a:spcPct val="150000"/>
              </a:lnSpc>
              <a:buClr>
                <a:srgbClr val="121212"/>
              </a:buClr>
            </a:pPr>
            <a:r>
              <a:rPr lang="en-US" sz="2400" dirty="0">
                <a:ea typeface="Inter"/>
              </a:rPr>
              <a:t>Ava Terminal ja </a:t>
            </a:r>
            <a:r>
              <a:rPr lang="en-US" sz="2400" dirty="0" err="1">
                <a:ea typeface="Inter"/>
              </a:rPr>
              <a:t>jooksuta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käsud</a:t>
            </a:r>
            <a:endParaRPr lang="en-US" sz="2400" dirty="0" err="1"/>
          </a:p>
          <a:p>
            <a:pPr lvl="2">
              <a:lnSpc>
                <a:spcPct val="150000"/>
              </a:lnSpc>
              <a:buFont typeface="Wingdings,Sans-Serif" panose="020B0502030000000004" pitchFamily="34" charset="0"/>
              <a:buChar char="§"/>
            </a:pPr>
            <a:r>
              <a:rPr lang="en-US" sz="2400" dirty="0">
                <a:ea typeface="Inter"/>
              </a:rPr>
              <a:t>git config --global </a:t>
            </a:r>
            <a:r>
              <a:rPr lang="en-US" sz="2400" dirty="0" err="1">
                <a:ea typeface="Inter"/>
              </a:rPr>
              <a:t>user.email</a:t>
            </a:r>
            <a:r>
              <a:rPr lang="en-US" sz="2400" dirty="0">
                <a:ea typeface="Inter"/>
              </a:rPr>
              <a:t> "</a:t>
            </a:r>
            <a:r>
              <a:rPr lang="en-US" sz="2400" i="1" dirty="0">
                <a:ea typeface="Inter"/>
                <a:hlinkClick r:id="rId3"/>
              </a:rPr>
              <a:t>sinuemail@email.com</a:t>
            </a:r>
            <a:r>
              <a:rPr lang="en-US" sz="2400" dirty="0">
                <a:ea typeface="Inter"/>
              </a:rPr>
              <a:t>"</a:t>
            </a:r>
          </a:p>
          <a:p>
            <a:pPr lvl="2">
              <a:lnSpc>
                <a:spcPct val="150000"/>
              </a:lnSpc>
              <a:buFont typeface="Wingdings,Sans-Serif" panose="020B0502030000000004" pitchFamily="34" charset="0"/>
              <a:buChar char="§"/>
            </a:pPr>
            <a:r>
              <a:rPr lang="en-US" sz="2400" dirty="0">
                <a:ea typeface="Inter"/>
              </a:rPr>
              <a:t>git config --global user.name "</a:t>
            </a:r>
            <a:r>
              <a:rPr lang="en-US" sz="2400" i="1" dirty="0" err="1">
                <a:ea typeface="Inter"/>
              </a:rPr>
              <a:t>sinukasutajanimi</a:t>
            </a:r>
            <a:r>
              <a:rPr lang="en-US" sz="2400" dirty="0">
                <a:ea typeface="Inter"/>
              </a:rPr>
              <a:t>"</a:t>
            </a:r>
            <a:endParaRPr lang="en-US" dirty="0">
              <a:ea typeface="Inter"/>
            </a:endParaRPr>
          </a:p>
          <a:p>
            <a:pPr>
              <a:lnSpc>
                <a:spcPct val="150000"/>
              </a:lnSpc>
              <a:buClr>
                <a:srgbClr val="121212"/>
              </a:buClr>
            </a:pPr>
            <a:r>
              <a:rPr lang="en-US" sz="2400" dirty="0">
                <a:ea typeface="Inter"/>
              </a:rPr>
              <a:t>Kui </a:t>
            </a:r>
            <a:r>
              <a:rPr lang="en-US" sz="2400" dirty="0" err="1">
                <a:ea typeface="Inter"/>
              </a:rPr>
              <a:t>tahad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seadeid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kontrollida</a:t>
            </a:r>
            <a:r>
              <a:rPr lang="en-US" sz="2400" dirty="0">
                <a:ea typeface="Inter"/>
              </a:rPr>
              <a:t>, </a:t>
            </a:r>
            <a:r>
              <a:rPr lang="en-US" sz="2400" dirty="0" err="1">
                <a:ea typeface="Inter"/>
              </a:rPr>
              <a:t>siis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võid</a:t>
            </a:r>
            <a:r>
              <a:rPr lang="en-US" sz="2400" dirty="0">
                <a:ea typeface="Inter"/>
              </a:rPr>
              <a:t> Terminalis </a:t>
            </a:r>
            <a:r>
              <a:rPr lang="en-US" sz="2400" dirty="0" err="1">
                <a:ea typeface="Inter"/>
              </a:rPr>
              <a:t>jooksutada</a:t>
            </a:r>
            <a:r>
              <a:rPr lang="en-US" sz="2400" dirty="0">
                <a:ea typeface="Inter"/>
              </a:rPr>
              <a:t>: </a:t>
            </a:r>
            <a:endParaRPr lang="en-US" sz="2400" dirty="0"/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>
                <a:solidFill>
                  <a:srgbClr val="333333"/>
                </a:solidFill>
                <a:latin typeface="Consolas"/>
                <a:ea typeface="Inter"/>
              </a:rPr>
              <a:t>git config --list --show-origin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endParaRPr lang="en-US" sz="2400" dirty="0">
              <a:solidFill>
                <a:srgbClr val="333333"/>
              </a:solidFill>
              <a:latin typeface="Consolas"/>
              <a:ea typeface="Inter"/>
            </a:endParaRPr>
          </a:p>
          <a:p>
            <a:pPr>
              <a:lnSpc>
                <a:spcPct val="150000"/>
              </a:lnSpc>
              <a:buClr>
                <a:srgbClr val="121212"/>
              </a:buClr>
            </a:pPr>
            <a:r>
              <a:rPr lang="en-US" sz="2400" dirty="0" err="1">
                <a:solidFill>
                  <a:srgbClr val="333333"/>
                </a:solidFill>
                <a:latin typeface="Consolas"/>
                <a:ea typeface="Inter"/>
              </a:rPr>
              <a:t>Pikem</a:t>
            </a:r>
            <a:r>
              <a:rPr lang="en-US" sz="2400" dirty="0">
                <a:solidFill>
                  <a:srgbClr val="333333"/>
                </a:solidFill>
                <a:latin typeface="Consolas"/>
                <a:ea typeface="Inter"/>
              </a:rPr>
              <a:t> </a:t>
            </a:r>
            <a:r>
              <a:rPr lang="en-US" sz="2400" dirty="0" err="1">
                <a:solidFill>
                  <a:srgbClr val="333333"/>
                </a:solidFill>
                <a:latin typeface="Consolas"/>
                <a:ea typeface="Inter"/>
              </a:rPr>
              <a:t>juhend</a:t>
            </a:r>
            <a:r>
              <a:rPr lang="en-US" sz="2400" dirty="0">
                <a:solidFill>
                  <a:srgbClr val="333333"/>
                </a:solidFill>
                <a:latin typeface="Consolas"/>
                <a:ea typeface="Inter"/>
              </a:rPr>
              <a:t>: </a:t>
            </a:r>
            <a:r>
              <a:rPr lang="en-US" sz="2400" dirty="0">
                <a:solidFill>
                  <a:srgbClr val="333333"/>
                </a:solidFill>
                <a:latin typeface="Inter"/>
                <a:ea typeface="+mn-lt"/>
                <a:cs typeface="+mn-lt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First </a:t>
            </a:r>
            <a:r>
              <a:rPr lang="en-US" sz="2400" dirty="0">
                <a:solidFill>
                  <a:srgbClr val="333333"/>
                </a:solidFill>
                <a:latin typeface="Inter"/>
                <a:ea typeface="+mn-lt"/>
                <a:cs typeface="+mn-lt"/>
                <a:hlinkClick r:id="rId4"/>
              </a:rPr>
              <a:t>Time Gi</a:t>
            </a:r>
            <a:r>
              <a:rPr lang="en-US" sz="2400" dirty="0">
                <a:solidFill>
                  <a:srgbClr val="333333"/>
                </a:solidFill>
                <a:latin typeface="Inter"/>
                <a:ea typeface="+mn-lt"/>
                <a:cs typeface="+mn-lt"/>
              </a:rPr>
              <a:t>t</a:t>
            </a:r>
            <a:r>
              <a:rPr lang="en-US" sz="2400" dirty="0">
                <a:solidFill>
                  <a:srgbClr val="333333"/>
                </a:solidFill>
                <a:latin typeface="Inter"/>
                <a:ea typeface="+mn-lt"/>
                <a:cs typeface="+mn-lt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Setup</a:t>
            </a:r>
            <a:endParaRPr lang="en-US" sz="2400" dirty="0">
              <a:solidFill>
                <a:srgbClr val="333333"/>
              </a:solidFill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7084884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5F0D99-04FE-F49E-5B40-5962A8904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59F1A-DB4C-E883-2B4C-CF59EE75789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Versioonihaldus</a:t>
            </a:r>
            <a:r>
              <a:rPr lang="en-US"/>
              <a:t> – Git ja Visual Studio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EA46AF-CF26-119E-3252-58FD3592F91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Ava Visual Studio Code</a:t>
            </a:r>
            <a:endParaRPr lang="en-US" sz="2400" dirty="0"/>
          </a:p>
          <a:p>
            <a:pPr>
              <a:lnSpc>
                <a:spcPct val="150000"/>
              </a:lnSpc>
              <a:buClr>
                <a:srgbClr val="121212"/>
              </a:buClr>
            </a:pPr>
            <a:r>
              <a:rPr lang="en-US" sz="2400" dirty="0">
                <a:ea typeface="Inter"/>
              </a:rPr>
              <a:t>Vali </a:t>
            </a:r>
            <a:r>
              <a:rPr lang="en-US" sz="2400" dirty="0" err="1">
                <a:ea typeface="Inter"/>
              </a:rPr>
              <a:t>vasakult</a:t>
            </a:r>
            <a:r>
              <a:rPr lang="en-US" sz="2400" dirty="0">
                <a:ea typeface="Inter"/>
              </a:rPr>
              <a:t> Source Control </a:t>
            </a:r>
            <a:endParaRPr lang="en-US" sz="2400" dirty="0"/>
          </a:p>
          <a:p>
            <a:pPr>
              <a:lnSpc>
                <a:spcPct val="150000"/>
              </a:lnSpc>
              <a:buClr>
                <a:srgbClr val="121212"/>
              </a:buClr>
            </a:pPr>
            <a:r>
              <a:rPr lang="en-US" sz="2400" dirty="0">
                <a:ea typeface="Inter"/>
              </a:rPr>
              <a:t>Vali Clone Git Repository --&gt; </a:t>
            </a:r>
            <a:r>
              <a:rPr lang="en-US" sz="2400" dirty="0" err="1">
                <a:ea typeface="Inter"/>
              </a:rPr>
              <a:t>GitHubis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õiguste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kinnitus</a:t>
            </a:r>
            <a:endParaRPr lang="en-US" sz="2400" dirty="0"/>
          </a:p>
          <a:p>
            <a:pPr>
              <a:lnSpc>
                <a:spcPct val="150000"/>
              </a:lnSpc>
              <a:buClr>
                <a:srgbClr val="121212"/>
              </a:buClr>
            </a:pPr>
            <a:r>
              <a:rPr lang="en-US" sz="2400" dirty="0">
                <a:ea typeface="Inter"/>
              </a:rPr>
              <a:t>Vali </a:t>
            </a:r>
            <a:r>
              <a:rPr lang="en-US" sz="2400" dirty="0" err="1">
                <a:ea typeface="Inter"/>
              </a:rPr>
              <a:t>projekt</a:t>
            </a:r>
            <a:endParaRPr lang="en-US" sz="2400" dirty="0"/>
          </a:p>
          <a:p>
            <a:pPr>
              <a:lnSpc>
                <a:spcPct val="150000"/>
              </a:lnSpc>
              <a:buClr>
                <a:srgbClr val="121212"/>
              </a:buClr>
            </a:pPr>
            <a:r>
              <a:rPr lang="en-US" sz="2400" dirty="0">
                <a:ea typeface="Inter"/>
              </a:rPr>
              <a:t>Vali </a:t>
            </a:r>
            <a:r>
              <a:rPr lang="en-US" sz="2400" dirty="0" err="1">
                <a:ea typeface="Inter"/>
              </a:rPr>
              <a:t>kohalik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kaust</a:t>
            </a:r>
            <a:r>
              <a:rPr lang="en-US" sz="2400" dirty="0">
                <a:ea typeface="Inter"/>
              </a:rPr>
              <a:t>, </a:t>
            </a:r>
            <a:r>
              <a:rPr lang="en-US" sz="2400" dirty="0" err="1">
                <a:ea typeface="Inter"/>
              </a:rPr>
              <a:t>kuhu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luua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GitHubi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kaust</a:t>
            </a:r>
            <a:endParaRPr lang="en-US" sz="2400" dirty="0"/>
          </a:p>
          <a:p>
            <a:pPr>
              <a:lnSpc>
                <a:spcPct val="150000"/>
              </a:lnSpc>
              <a:buClr>
                <a:srgbClr val="121212"/>
              </a:buClr>
            </a:pPr>
            <a:r>
              <a:rPr lang="en-US" sz="2400" dirty="0">
                <a:ea typeface="Inter"/>
              </a:rPr>
              <a:t>Loo </a:t>
            </a:r>
            <a:r>
              <a:rPr lang="en-US" sz="2400" dirty="0" err="1">
                <a:ea typeface="Inter"/>
              </a:rPr>
              <a:t>enda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haru</a:t>
            </a:r>
            <a:endParaRPr lang="en-US" sz="2400" dirty="0"/>
          </a:p>
          <a:p>
            <a:pPr lvl="1">
              <a:lnSpc>
                <a:spcPct val="150000"/>
              </a:lnSpc>
              <a:buFont typeface="Wingdings" panose="020B0502030000000004" pitchFamily="34" charset="0"/>
              <a:buChar char="Ø"/>
            </a:pPr>
            <a:r>
              <a:rPr lang="en-US" sz="2400" dirty="0">
                <a:ea typeface="Inter"/>
              </a:rPr>
              <a:t>Alt </a:t>
            </a:r>
            <a:r>
              <a:rPr lang="en-US" sz="2400" dirty="0" err="1">
                <a:ea typeface="Inter"/>
              </a:rPr>
              <a:t>vasakult</a:t>
            </a:r>
            <a:r>
              <a:rPr lang="en-US" sz="2400" dirty="0">
                <a:ea typeface="Inter"/>
              </a:rPr>
              <a:t> vali "main" --&gt; Create new branch from --&gt; origin/main </a:t>
            </a:r>
            <a:endParaRPr lang="en-US" sz="2400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en-US" sz="2400" dirty="0">
                <a:ea typeface="Inter"/>
              </a:rPr>
              <a:t>--&gt; </a:t>
            </a:r>
            <a:r>
              <a:rPr lang="en-US" sz="2400" dirty="0" err="1">
                <a:ea typeface="Inter"/>
              </a:rPr>
              <a:t>uue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haru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nimi</a:t>
            </a:r>
            <a:r>
              <a:rPr lang="en-US" sz="2400" dirty="0">
                <a:ea typeface="Inter"/>
              </a:rPr>
              <a:t> </a:t>
            </a:r>
            <a:endParaRPr lang="en-US" sz="2400" dirty="0"/>
          </a:p>
          <a:p>
            <a:pPr>
              <a:lnSpc>
                <a:spcPct val="150000"/>
              </a:lnSpc>
              <a:buClr>
                <a:srgbClr val="121212"/>
              </a:buClr>
            </a:pPr>
            <a:endParaRPr lang="en-US" sz="2400" dirty="0"/>
          </a:p>
          <a:p>
            <a:pPr lvl="1">
              <a:lnSpc>
                <a:spcPct val="150000"/>
              </a:lnSpc>
              <a:buFont typeface="Wingdings" panose="020B0502030000000004" pitchFamily="34" charset="0"/>
              <a:buChar char="Ø"/>
            </a:pPr>
            <a:endParaRPr lang="en-US" sz="2400" dirty="0"/>
          </a:p>
          <a:p>
            <a:pPr>
              <a:buClr>
                <a:srgbClr val="121212"/>
              </a:buClr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267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80EE9B-3020-A266-14D5-3A10FD239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B3CE6-A314-B235-7804-1DB6617CEBB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Versioonihaldus</a:t>
            </a:r>
            <a:r>
              <a:rPr lang="en-US" dirty="0"/>
              <a:t> – </a:t>
            </a:r>
            <a:r>
              <a:rPr lang="en-US" dirty="0" err="1"/>
              <a:t>muutuste</a:t>
            </a:r>
            <a:r>
              <a:rPr lang="en-US" dirty="0"/>
              <a:t> </a:t>
            </a:r>
            <a:r>
              <a:rPr lang="en-US" dirty="0" err="1"/>
              <a:t>üles</a:t>
            </a:r>
            <a:r>
              <a:rPr lang="en-US" dirty="0"/>
              <a:t> </a:t>
            </a:r>
            <a:r>
              <a:rPr lang="en-US" dirty="0" err="1"/>
              <a:t>laadimine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773C7E-895D-19CD-768D-5D677901F55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45720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>
                <a:ea typeface="Inter"/>
              </a:rPr>
              <a:t>Tee </a:t>
            </a:r>
            <a:r>
              <a:rPr lang="en-US" sz="2400" dirty="0" err="1">
                <a:ea typeface="Inter"/>
              </a:rPr>
              <a:t>muutused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kohalikus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kaustas</a:t>
            </a:r>
            <a:endParaRPr lang="en-US" sz="2400" dirty="0">
              <a:ea typeface="Inter"/>
            </a:endParaRPr>
          </a:p>
          <a:p>
            <a:pPr marL="40005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>
                <a:ea typeface="Inter"/>
              </a:rPr>
              <a:t>Vali </a:t>
            </a:r>
            <a:r>
              <a:rPr lang="en-US" sz="2400" dirty="0" err="1">
                <a:ea typeface="Inter"/>
              </a:rPr>
              <a:t>enda</a:t>
            </a:r>
            <a:r>
              <a:rPr lang="en-US" sz="2400" dirty="0">
                <a:ea typeface="Inter"/>
              </a:rPr>
              <a:t> Branch</a:t>
            </a:r>
            <a:endParaRPr lang="en-US" dirty="0"/>
          </a:p>
          <a:p>
            <a:pPr marL="40005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>
                <a:ea typeface="Inter"/>
              </a:rPr>
              <a:t>VS Code: Pull from main</a:t>
            </a:r>
            <a:endParaRPr lang="en-US" dirty="0"/>
          </a:p>
          <a:p>
            <a:pPr marL="40005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>
                <a:ea typeface="Inter"/>
              </a:rPr>
              <a:t>VS Code: Lisa </a:t>
            </a:r>
            <a:r>
              <a:rPr lang="en-US" sz="2400" err="1">
                <a:ea typeface="Inter"/>
              </a:rPr>
              <a:t>kommentaar</a:t>
            </a:r>
            <a:r>
              <a:rPr lang="en-US" sz="2400" dirty="0">
                <a:ea typeface="Inter"/>
              </a:rPr>
              <a:t> ja Commit</a:t>
            </a:r>
            <a:endParaRPr lang="en-US" sz="2400" dirty="0"/>
          </a:p>
          <a:p>
            <a:pPr marL="40005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>
                <a:ea typeface="Inter"/>
              </a:rPr>
              <a:t>VS Code: Sync Changes</a:t>
            </a:r>
            <a:endParaRPr lang="en-US" sz="2400" dirty="0"/>
          </a:p>
          <a:p>
            <a:pPr marL="40005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err="1">
                <a:ea typeface="Inter"/>
              </a:rPr>
              <a:t>Github</a:t>
            </a:r>
            <a:r>
              <a:rPr lang="en-US" sz="2400" dirty="0">
                <a:ea typeface="Inter"/>
              </a:rPr>
              <a:t>: Vali </a:t>
            </a:r>
            <a:r>
              <a:rPr lang="en-US" sz="2400" err="1">
                <a:ea typeface="Inter"/>
              </a:rPr>
              <a:t>enda</a:t>
            </a:r>
            <a:r>
              <a:rPr lang="en-US" sz="2400" dirty="0">
                <a:ea typeface="Inter"/>
              </a:rPr>
              <a:t> Branch</a:t>
            </a:r>
          </a:p>
          <a:p>
            <a:pPr marL="40005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 err="1">
                <a:ea typeface="Inter"/>
              </a:rPr>
              <a:t>Github</a:t>
            </a:r>
            <a:r>
              <a:rPr lang="en-US" sz="2400" dirty="0">
                <a:ea typeface="Inter"/>
              </a:rPr>
              <a:t>: </a:t>
            </a:r>
            <a:r>
              <a:rPr lang="en-US" sz="2400" dirty="0" err="1">
                <a:ea typeface="Inter"/>
              </a:rPr>
              <a:t>Kliki</a:t>
            </a:r>
            <a:r>
              <a:rPr lang="en-US" sz="2400" dirty="0">
                <a:ea typeface="Inter"/>
              </a:rPr>
              <a:t> "This branch is 1 commit ahead"</a:t>
            </a:r>
          </a:p>
          <a:p>
            <a:pPr marL="40005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>
                <a:ea typeface="Inter"/>
              </a:rPr>
              <a:t>GitHub: Create Pull Request</a:t>
            </a:r>
            <a:endParaRPr lang="en-US" sz="2400" dirty="0"/>
          </a:p>
          <a:p>
            <a:pPr marL="400050" indent="-457200">
              <a:lnSpc>
                <a:spcPct val="150000"/>
              </a:lnSpc>
              <a:buClr>
                <a:srgbClr val="121212"/>
              </a:buClr>
              <a:buAutoNum type="arabicPeriod"/>
            </a:pPr>
            <a:r>
              <a:rPr lang="en-US" sz="2400" dirty="0">
                <a:ea typeface="Inter"/>
              </a:rPr>
              <a:t>GitHub: Merge Pull Request</a:t>
            </a:r>
            <a:endParaRPr lang="en-US" sz="2400" dirty="0"/>
          </a:p>
          <a:p>
            <a:pPr>
              <a:buClr>
                <a:srgbClr val="121212"/>
              </a:buClr>
              <a:buAutoNum type="arabicPeriod"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942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EDC947-79A9-F714-73CC-816203DEC6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4E898-0421-4BA1-15C5-4454CAE60D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Versioonihaldus</a:t>
            </a:r>
            <a:r>
              <a:rPr lang="en-US" dirty="0"/>
              <a:t> – debugging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FC9A07-9099-38E1-FAD1-E21FB6E9578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lnSpc>
                <a:spcPct val="150000"/>
              </a:lnSpc>
            </a:pPr>
            <a:r>
              <a:rPr lang="en-US" sz="2400" dirty="0">
                <a:ea typeface="Inter"/>
              </a:rPr>
              <a:t>Kui </a:t>
            </a:r>
            <a:r>
              <a:rPr lang="en-US" sz="2400" dirty="0" err="1">
                <a:ea typeface="Inter"/>
              </a:rPr>
              <a:t>viskab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errori</a:t>
            </a:r>
            <a:r>
              <a:rPr lang="en-US" sz="2400" dirty="0">
                <a:ea typeface="Inter"/>
              </a:rPr>
              <a:t>, </a:t>
            </a:r>
            <a:r>
              <a:rPr lang="en-US" sz="2400" dirty="0" err="1">
                <a:ea typeface="Inter"/>
              </a:rPr>
              <a:t>siis</a:t>
            </a:r>
            <a:r>
              <a:rPr lang="en-US" sz="2400" dirty="0">
                <a:ea typeface="Inter"/>
              </a:rPr>
              <a:t> vali View --&gt; Output</a:t>
            </a:r>
            <a:endParaRPr lang="en-US" dirty="0"/>
          </a:p>
          <a:p>
            <a:pPr marL="857250" lvl="1" indent="-3429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 err="1">
                <a:ea typeface="Inter"/>
              </a:rPr>
              <a:t>Näitab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viimaseid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jooksutatud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käske</a:t>
            </a:r>
            <a:r>
              <a:rPr lang="en-US" sz="2400" dirty="0">
                <a:ea typeface="Inter"/>
              </a:rPr>
              <a:t> ja </a:t>
            </a:r>
            <a:r>
              <a:rPr lang="en-US" sz="2400" dirty="0" err="1">
                <a:ea typeface="Inter"/>
              </a:rPr>
              <a:t>veateateid</a:t>
            </a:r>
            <a:r>
              <a:rPr lang="en-US" sz="2400" dirty="0">
                <a:ea typeface="Inter"/>
              </a:rPr>
              <a:t>.</a:t>
            </a:r>
            <a:endParaRPr lang="en-US" sz="2400" dirty="0"/>
          </a:p>
          <a:p>
            <a:pPr>
              <a:buClr>
                <a:srgbClr val="121212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875783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B579C6-2B7B-9D02-3C2F-B59D80FC00F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Visual Studio Code ja Git </a:t>
            </a:r>
            <a:r>
              <a:rPr lang="en-US" dirty="0" err="1"/>
              <a:t>juhendid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0E67CC-13AC-AA20-0482-1081CE4F01F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1141576" cy="4465637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>
                <a:ea typeface="+mn-lt"/>
                <a:cs typeface="+mn-lt"/>
                <a:hlinkClick r:id="rId3"/>
              </a:rPr>
              <a:t>Git juhendmaterjal: Git Book</a:t>
            </a:r>
            <a:endParaRPr lang="en-US" sz="2400" dirty="0">
              <a:ea typeface="+mn-lt"/>
              <a:cs typeface="+mn-lt"/>
            </a:endParaRPr>
          </a:p>
          <a:p>
            <a:pPr>
              <a:lnSpc>
                <a:spcPct val="150000"/>
              </a:lnSpc>
            </a:pPr>
            <a:r>
              <a:rPr lang="en-US" sz="2400" dirty="0">
                <a:ea typeface="+mn-lt"/>
                <a:cs typeface="+mn-lt"/>
                <a:hlinkClick r:id="" action="ppaction://noaction"/>
              </a:rPr>
              <a:t>Visual Studio Code Documentation: </a:t>
            </a:r>
            <a:r>
              <a:rPr lang="en-US" sz="2400" dirty="0">
                <a:ea typeface="+mn-lt"/>
                <a:cs typeface="+mn-lt"/>
                <a:hlinkClick r:id="rId4"/>
              </a:rPr>
              <a:t>Documentation for Visual Studio Code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>
                <a:ea typeface="+mn-lt"/>
                <a:cs typeface="+mn-lt"/>
              </a:rPr>
              <a:t>Visual Studio Code ja Git </a:t>
            </a:r>
            <a:r>
              <a:rPr lang="en-US" sz="2400" err="1">
                <a:ea typeface="+mn-lt"/>
                <a:cs typeface="+mn-lt"/>
              </a:rPr>
              <a:t>peatükk</a:t>
            </a:r>
            <a:r>
              <a:rPr lang="en-US" sz="2400" dirty="0">
                <a:ea typeface="+mn-lt"/>
                <a:cs typeface="+mn-lt"/>
              </a:rPr>
              <a:t>: </a:t>
            </a:r>
            <a:r>
              <a:rPr lang="en-US" sz="2400" dirty="0">
                <a:ea typeface="+mn-lt"/>
                <a:cs typeface="+mn-lt"/>
                <a:hlinkClick r:id="rId5"/>
              </a:rPr>
              <a:t>Introduction to Git in VS Code</a:t>
            </a:r>
            <a:endParaRPr lang="en-US" sz="2400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587763248"/>
      </p:ext>
    </p:extLst>
  </p:cSld>
  <p:clrMapOvr>
    <a:masterClrMapping/>
  </p:clrMapOvr>
</p:sld>
</file>

<file path=ppt/theme/theme1.xml><?xml version="1.0" encoding="utf-8"?>
<a:theme xmlns:a="http://schemas.openxmlformats.org/drawingml/2006/main" name="BCS">
  <a:themeElements>
    <a:clrScheme name="Custom 18">
      <a:dk1>
        <a:srgbClr val="121212"/>
      </a:dk1>
      <a:lt1>
        <a:srgbClr val="FFFFFF"/>
      </a:lt1>
      <a:dk2>
        <a:srgbClr val="584FF5"/>
      </a:dk2>
      <a:lt2>
        <a:srgbClr val="F2F2F2"/>
      </a:lt2>
      <a:accent1>
        <a:srgbClr val="584FF5"/>
      </a:accent1>
      <a:accent2>
        <a:srgbClr val="EC6249"/>
      </a:accent2>
      <a:accent3>
        <a:srgbClr val="FAE060"/>
      </a:accent3>
      <a:accent4>
        <a:srgbClr val="54BA77"/>
      </a:accent4>
      <a:accent5>
        <a:srgbClr val="F0F0FF"/>
      </a:accent5>
      <a:accent6>
        <a:srgbClr val="EEF7F5"/>
      </a:accent6>
      <a:hlink>
        <a:srgbClr val="121212"/>
      </a:hlink>
      <a:folHlink>
        <a:srgbClr val="121212"/>
      </a:folHlink>
    </a:clrScheme>
    <a:fontScheme name="Custom 28">
      <a:majorFont>
        <a:latin typeface="Inter Bold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4D27B8FA8976546BCD79313C588588D" ma:contentTypeVersion="8" ma:contentTypeDescription="Create a new document." ma:contentTypeScope="" ma:versionID="a112c56f6fe148a79025c76584832af0">
  <xsd:schema xmlns:xsd="http://www.w3.org/2001/XMLSchema" xmlns:xs="http://www.w3.org/2001/XMLSchema" xmlns:p="http://schemas.microsoft.com/office/2006/metadata/properties" xmlns:ns2="a1a2d923-8fea-42f1-bd41-9cdfff65694e" targetNamespace="http://schemas.microsoft.com/office/2006/metadata/properties" ma:root="true" ma:fieldsID="97c8655d467eaa9470a714421e7268c0" ns2:_="">
    <xsd:import namespace="a1a2d923-8fea-42f1-bd41-9cdfff65694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a2d923-8fea-42f1-bd41-9cdfff6569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DC439CA-6F1C-4005-ACA6-A52E04DEE0A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BDF4908-A52A-47DD-A794-6E02D71942FC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9CF4F972-2392-44D0-AA45-41AC4FDC4A59}">
  <ds:schemaRefs>
    <ds:schemaRef ds:uri="a1a2d923-8fea-42f1-bd41-9cdfff65694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914</TotalTime>
  <Words>1012</Words>
  <Application>Microsoft Office PowerPoint</Application>
  <PresentationFormat>Widescreen</PresentationFormat>
  <Paragraphs>198</Paragraphs>
  <Slides>26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8" baseType="lpstr">
      <vt:lpstr>Consolas</vt:lpstr>
      <vt:lpstr>Wingdings,Sans-Serif</vt:lpstr>
      <vt:lpstr>Inter</vt:lpstr>
      <vt:lpstr>Poppins SemiBold</vt:lpstr>
      <vt:lpstr>Arial</vt:lpstr>
      <vt:lpstr>Arial,Sans-Serif</vt:lpstr>
      <vt:lpstr>Wingdings</vt:lpstr>
      <vt:lpstr>Inter Bold</vt:lpstr>
      <vt:lpstr>Calibri</vt:lpstr>
      <vt:lpstr>Courier New</vt:lpstr>
      <vt:lpstr>Noto Serif</vt:lpstr>
      <vt:lpstr>BCS</vt:lpstr>
      <vt:lpstr>Vali Andmetarkus!</vt:lpstr>
      <vt:lpstr>Päevakava - XV päev</vt:lpstr>
      <vt:lpstr>Paus 10:30-10:45</vt:lpstr>
      <vt:lpstr>Kuidas generatiivne tehisaru töötab?</vt:lpstr>
      <vt:lpstr>Generatiivne tehisaru – suured keelemudelid (LLMs)</vt:lpstr>
      <vt:lpstr>PowerPoint Presentation</vt:lpstr>
      <vt:lpstr>Lisamaterjale tehisaru olemuse mõistmiseks</vt:lpstr>
      <vt:lpstr>Tehisaru – levinumad vestlusrobotid </vt:lpstr>
      <vt:lpstr>Tehisaru – levinumad kasutusvõimalused </vt:lpstr>
      <vt:lpstr>PowerPoint Presentation</vt:lpstr>
      <vt:lpstr>Tehisaru – eduka sisendi kirjutamine </vt:lpstr>
      <vt:lpstr>Sisendi kirjutamise põhimõtted (CRAFT mudel)</vt:lpstr>
      <vt:lpstr>Sisendi näide</vt:lpstr>
      <vt:lpstr>Tehisaru - personaliseerimine</vt:lpstr>
      <vt:lpstr>Lõunapaus 12:15-13:15</vt:lpstr>
      <vt:lpstr>Tehisaru – vestlusrobotid - praktiline harjutus</vt:lpstr>
      <vt:lpstr>Paus 14:45-15:00</vt:lpstr>
      <vt:lpstr>Power BI projekt fail</vt:lpstr>
      <vt:lpstr>Tehisaru – Visual Studio Code</vt:lpstr>
      <vt:lpstr>Versioonihaldus – Eesmärk</vt:lpstr>
      <vt:lpstr>Versioonihaldus – Github</vt:lpstr>
      <vt:lpstr>Git kasutaja seadistamine</vt:lpstr>
      <vt:lpstr>Versioonihaldus – Git ja Visual Studio Code</vt:lpstr>
      <vt:lpstr>Versioonihaldus – muutuste üles laadimine</vt:lpstr>
      <vt:lpstr>Versioonihaldus – debugging</vt:lpstr>
      <vt:lpstr>Visual Studio Code ja Git juhendid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Emilie Abel</cp:lastModifiedBy>
  <cp:revision>225</cp:revision>
  <dcterms:created xsi:type="dcterms:W3CDTF">2021-08-27T11:35:28Z</dcterms:created>
  <dcterms:modified xsi:type="dcterms:W3CDTF">2026-08-27T17:57:23Z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0x010100C4D27B8FA8976546BCD79313C588588D</vt:lpwstr>
  </property>
</Properties>
</file>