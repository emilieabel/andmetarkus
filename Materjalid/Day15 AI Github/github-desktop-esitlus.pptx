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479" r:id="rId2"/>
    <p:sldId id="256" r:id="rId3"/>
    <p:sldId id="266" r:id="rId4"/>
    <p:sldId id="480" r:id="rId5"/>
    <p:sldId id="258" r:id="rId6"/>
    <p:sldId id="481" r:id="rId7"/>
    <p:sldId id="262" r:id="rId8"/>
    <p:sldId id="263" r:id="rId9"/>
    <p:sldId id="264" r:id="rId10"/>
    <p:sldId id="482" r:id="rId11"/>
    <p:sldId id="484" r:id="rId12"/>
    <p:sldId id="483" r:id="rId13"/>
    <p:sldId id="265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custSel modSld">
      <pc:chgData name="Emilie Abel" userId="20dec598-1860-40de-ab3f-181316cc4da6" providerId="ADAL" clId="{3EAE1975-14BE-41D5-9E3B-28573F0EE5DC}" dt="2026-09-16T12:58:44.010" v="42" actId="20577"/>
      <pc:docMkLst>
        <pc:docMk/>
      </pc:docMkLst>
      <pc:sldChg chg="delSp mod">
        <pc:chgData name="Emilie Abel" userId="20dec598-1860-40de-ab3f-181316cc4da6" providerId="ADAL" clId="{3EAE1975-14BE-41D5-9E3B-28573F0EE5DC}" dt="2026-09-16T12:58:00.055" v="0" actId="478"/>
        <pc:sldMkLst>
          <pc:docMk/>
          <pc:sldMk cId="0" sldId="256"/>
        </pc:sldMkLst>
        <pc:spChg chg="del">
          <ac:chgData name="Emilie Abel" userId="20dec598-1860-40de-ab3f-181316cc4da6" providerId="ADAL" clId="{3EAE1975-14BE-41D5-9E3B-28573F0EE5DC}" dt="2026-09-16T12:58:00.055" v="0" actId="478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16T12:58:44.010" v="42" actId="20577"/>
        <pc:sldMkLst>
          <pc:docMk/>
          <pc:sldMk cId="0" sldId="257"/>
        </pc:sldMkLst>
        <pc:spChg chg="mod">
          <ac:chgData name="Emilie Abel" userId="20dec598-1860-40de-ab3f-181316cc4da6" providerId="ADAL" clId="{3EAE1975-14BE-41D5-9E3B-28573F0EE5DC}" dt="2026-09-16T12:58:44.010" v="42" actId="20577"/>
          <ac:spMkLst>
            <pc:docMk/>
            <pc:sldMk cId="0" sldId="257"/>
            <ac:spMk id="5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E941F6-9D8D-4A15-9C93-1C66F398C183}" type="datetimeFigureOut">
              <a:rPr lang="en-GB" smtClean="0"/>
              <a:t>17/09/2026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0FAF33-D0D0-4735-9A99-E737B02B0B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02372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) on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tarkvara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dokumentide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muude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failide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muudatuste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süstemaatiline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haldamine</a:t>
            </a:r>
            <a:r>
              <a:rPr lang="en-GB" dirty="0"/>
              <a:t>. See </a:t>
            </a:r>
            <a:r>
              <a:rPr lang="en-GB" dirty="0" err="1"/>
              <a:t>võimaldab</a:t>
            </a:r>
            <a:r>
              <a:rPr lang="en-GB" dirty="0"/>
              <a:t> </a:t>
            </a:r>
            <a:r>
              <a:rPr lang="en-GB" dirty="0" err="1"/>
              <a:t>jälgida</a:t>
            </a:r>
            <a:r>
              <a:rPr lang="en-GB" dirty="0"/>
              <a:t> </a:t>
            </a:r>
            <a:r>
              <a:rPr lang="en-GB" dirty="0" err="1"/>
              <a:t>failide</a:t>
            </a:r>
            <a:r>
              <a:rPr lang="en-GB" dirty="0"/>
              <a:t> </a:t>
            </a:r>
            <a:r>
              <a:rPr lang="en-GB" dirty="0" err="1"/>
              <a:t>ajalugu</a:t>
            </a:r>
            <a:r>
              <a:rPr lang="en-GB" dirty="0"/>
              <a:t>, </a:t>
            </a:r>
            <a:r>
              <a:rPr lang="en-GB" dirty="0" err="1"/>
              <a:t>vaadata</a:t>
            </a:r>
            <a:r>
              <a:rPr lang="en-GB" dirty="0"/>
              <a:t> </a:t>
            </a:r>
            <a:r>
              <a:rPr lang="en-GB" dirty="0" err="1"/>
              <a:t>tehtud</a:t>
            </a:r>
            <a:r>
              <a:rPr lang="en-GB" dirty="0"/>
              <a:t> </a:t>
            </a:r>
            <a:r>
              <a:rPr lang="en-GB" dirty="0" err="1"/>
              <a:t>muudatusi</a:t>
            </a:r>
            <a:r>
              <a:rPr lang="en-GB" dirty="0"/>
              <a:t>, </a:t>
            </a:r>
            <a:r>
              <a:rPr lang="en-GB" dirty="0" err="1"/>
              <a:t>vajadusel</a:t>
            </a:r>
            <a:r>
              <a:rPr lang="en-GB" dirty="0"/>
              <a:t> </a:t>
            </a:r>
            <a:r>
              <a:rPr lang="en-GB" dirty="0" err="1"/>
              <a:t>naasta</a:t>
            </a:r>
            <a:r>
              <a:rPr lang="en-GB" dirty="0"/>
              <a:t> </a:t>
            </a:r>
            <a:r>
              <a:rPr lang="en-GB" dirty="0" err="1"/>
              <a:t>vanade</a:t>
            </a:r>
            <a:r>
              <a:rPr lang="en-GB" dirty="0"/>
              <a:t> </a:t>
            </a:r>
            <a:r>
              <a:rPr lang="en-GB" dirty="0" err="1"/>
              <a:t>versioonide</a:t>
            </a:r>
            <a:r>
              <a:rPr lang="en-GB" dirty="0"/>
              <a:t> </a:t>
            </a:r>
            <a:r>
              <a:rPr lang="en-GB" dirty="0" err="1"/>
              <a:t>juurde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teha</a:t>
            </a:r>
            <a:r>
              <a:rPr lang="en-GB" dirty="0"/>
              <a:t> </a:t>
            </a:r>
            <a:r>
              <a:rPr lang="en-GB" dirty="0" err="1"/>
              <a:t>sujuvalt</a:t>
            </a:r>
            <a:r>
              <a:rPr lang="en-GB" dirty="0"/>
              <a:t> </a:t>
            </a:r>
            <a:r>
              <a:rPr lang="en-GB" dirty="0" err="1"/>
              <a:t>koostööd</a:t>
            </a:r>
            <a:r>
              <a:rPr lang="en-GB" dirty="0"/>
              <a:t> </a:t>
            </a:r>
            <a:r>
              <a:rPr lang="en-GB" dirty="0" err="1"/>
              <a:t>teiste</a:t>
            </a:r>
            <a:r>
              <a:rPr lang="en-GB" dirty="0"/>
              <a:t> </a:t>
            </a:r>
            <a:r>
              <a:rPr lang="en-GB" dirty="0" err="1"/>
              <a:t>arendajate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autoritega</a:t>
            </a:r>
            <a:r>
              <a:rPr lang="en-GB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0FAF33-D0D0-4735-9A99-E737B02B0BD0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2926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FB0FC-D3C9-19BF-D8AB-DB4934E6D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E4D2A2-6988-5012-2FED-9164F521E1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9FCF1B-A8E5-3E68-0FBC-D69A30ECC7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) on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tarkvara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dokumentide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muude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failide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muudatuste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süstemaatiline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haldamine</a:t>
            </a:r>
            <a:r>
              <a:rPr lang="en-GB" dirty="0"/>
              <a:t>. See </a:t>
            </a:r>
            <a:r>
              <a:rPr lang="en-GB" dirty="0" err="1"/>
              <a:t>võimaldab</a:t>
            </a:r>
            <a:r>
              <a:rPr lang="en-GB" dirty="0"/>
              <a:t> </a:t>
            </a:r>
            <a:r>
              <a:rPr lang="en-GB" dirty="0" err="1"/>
              <a:t>jälgida</a:t>
            </a:r>
            <a:r>
              <a:rPr lang="en-GB" dirty="0"/>
              <a:t> </a:t>
            </a:r>
            <a:r>
              <a:rPr lang="en-GB" dirty="0" err="1"/>
              <a:t>failide</a:t>
            </a:r>
            <a:r>
              <a:rPr lang="en-GB" dirty="0"/>
              <a:t> </a:t>
            </a:r>
            <a:r>
              <a:rPr lang="en-GB" dirty="0" err="1"/>
              <a:t>ajalugu</a:t>
            </a:r>
            <a:r>
              <a:rPr lang="en-GB" dirty="0"/>
              <a:t>, </a:t>
            </a:r>
            <a:r>
              <a:rPr lang="en-GB" dirty="0" err="1"/>
              <a:t>vaadata</a:t>
            </a:r>
            <a:r>
              <a:rPr lang="en-GB" dirty="0"/>
              <a:t> </a:t>
            </a:r>
            <a:r>
              <a:rPr lang="en-GB" dirty="0" err="1"/>
              <a:t>tehtud</a:t>
            </a:r>
            <a:r>
              <a:rPr lang="en-GB" dirty="0"/>
              <a:t> </a:t>
            </a:r>
            <a:r>
              <a:rPr lang="en-GB" dirty="0" err="1"/>
              <a:t>muudatusi</a:t>
            </a:r>
            <a:r>
              <a:rPr lang="en-GB" dirty="0"/>
              <a:t>, </a:t>
            </a:r>
            <a:r>
              <a:rPr lang="en-GB" dirty="0" err="1"/>
              <a:t>vajadusel</a:t>
            </a:r>
            <a:r>
              <a:rPr lang="en-GB" dirty="0"/>
              <a:t> </a:t>
            </a:r>
            <a:r>
              <a:rPr lang="en-GB" dirty="0" err="1"/>
              <a:t>naasta</a:t>
            </a:r>
            <a:r>
              <a:rPr lang="en-GB" dirty="0"/>
              <a:t> </a:t>
            </a:r>
            <a:r>
              <a:rPr lang="en-GB" dirty="0" err="1"/>
              <a:t>vanade</a:t>
            </a:r>
            <a:r>
              <a:rPr lang="en-GB" dirty="0"/>
              <a:t> </a:t>
            </a:r>
            <a:r>
              <a:rPr lang="en-GB" dirty="0" err="1"/>
              <a:t>versioonide</a:t>
            </a:r>
            <a:r>
              <a:rPr lang="en-GB" dirty="0"/>
              <a:t> </a:t>
            </a:r>
            <a:r>
              <a:rPr lang="en-GB" dirty="0" err="1"/>
              <a:t>juurde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teha</a:t>
            </a:r>
            <a:r>
              <a:rPr lang="en-GB" dirty="0"/>
              <a:t> </a:t>
            </a:r>
            <a:r>
              <a:rPr lang="en-GB" dirty="0" err="1"/>
              <a:t>sujuvalt</a:t>
            </a:r>
            <a:r>
              <a:rPr lang="en-GB" dirty="0"/>
              <a:t> </a:t>
            </a:r>
            <a:r>
              <a:rPr lang="en-GB" dirty="0" err="1"/>
              <a:t>koostööd</a:t>
            </a:r>
            <a:r>
              <a:rPr lang="en-GB" dirty="0"/>
              <a:t> </a:t>
            </a:r>
            <a:r>
              <a:rPr lang="en-GB" dirty="0" err="1"/>
              <a:t>teiste</a:t>
            </a:r>
            <a:r>
              <a:rPr lang="en-GB" dirty="0"/>
              <a:t> </a:t>
            </a:r>
            <a:r>
              <a:rPr lang="en-GB" dirty="0" err="1"/>
              <a:t>arendajate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autoritega</a:t>
            </a:r>
            <a:r>
              <a:rPr lang="en-GB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EEE382-6871-1862-F127-8D632E8645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0FAF33-D0D0-4735-9A99-E737B02B0BD0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81413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15589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hyperlink" Target="https://desktop.github.com/download/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72D32-F63A-E758-B4AD-98B1A2FF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FE7A2D-F34A-AFF4-F094-9247F2654D3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sz="3600" b="1" noProof="0" dirty="0">
                <a:ea typeface="+mj-lt"/>
                <a:cs typeface="+mj-lt"/>
              </a:rPr>
              <a:t>Päevakava - XV päev</a:t>
            </a:r>
            <a:endParaRPr lang="et-EE" noProof="0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5E32B2B-E742-662F-CC36-DC7E268CAC3C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2566067917"/>
              </p:ext>
            </p:extLst>
          </p:nvPr>
        </p:nvGraphicFramePr>
        <p:xfrm>
          <a:off x="623888" y="1268413"/>
          <a:ext cx="11021261" cy="462559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021261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0" lvl="0" indent="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LÕUNALE –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mitu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inimest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tuleb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?</a:t>
                      </a:r>
                    </a:p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Koolitus – esineja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Delfi</a:t>
                      </a:r>
                      <a:endParaRPr lang="et-EE" sz="2400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Koolitus – </a:t>
                      </a:r>
                      <a:r>
                        <a:rPr lang="en-GB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Versioonihaldus</a:t>
                      </a:r>
                      <a:r>
                        <a:rPr lang="en-GB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GB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ja</a:t>
                      </a:r>
                      <a:r>
                        <a:rPr lang="en-GB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GB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harjutus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t-EE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 </a:t>
                      </a:r>
                      <a:endParaRPr lang="et-EE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Koolitus –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esineja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TEHIK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Koolitus –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tagasiside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ja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lõputööde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arutelu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: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teemade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valik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, consult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aegade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bron</a:t>
                      </a:r>
                      <a:endParaRPr lang="et-EE" sz="2400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92345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49526"/>
                </a:solidFill>
                <a:latin typeface="Calibri"/>
              </a:rPr>
              <a:t>Andmetarkus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72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GitHub ja GitHub Desktop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2C41E-6724-6CAB-2075-337292EF0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C17A49E-86C8-2655-205D-AEAD9756524A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9AF4CED-56C1-8851-3284-B8C3A1EC385F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31CA1E-71A6-7F93-77DA-AF8FC0BFA0BF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0CBA85-C0D8-E4D0-733C-1331BB1C6DF6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VERSIOONIHALDUS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31375A5-8C11-D300-57F3-2FAC76E93734}"/>
              </a:ext>
            </a:extLst>
          </p:cNvPr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86AB92-6E07-0B19-2A31-5A089A021F54}"/>
              </a:ext>
            </a:extLst>
          </p:cNvPr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D7DA17-D84D-AEC0-F489-BE156667EC7D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4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17C4E8F-EA49-F4CA-0DF5-FECD6DAEFBB3}"/>
              </a:ext>
            </a:extLst>
          </p:cNvPr>
          <p:cNvSpPr/>
          <p:nvPr/>
        </p:nvSpPr>
        <p:spPr>
          <a:xfrm>
            <a:off x="365760" y="1170432"/>
            <a:ext cx="11430000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20B9C8-E0D9-ED2D-B3C6-FA4454DAD815}"/>
              </a:ext>
            </a:extLst>
          </p:cNvPr>
          <p:cNvSpPr/>
          <p:nvPr/>
        </p:nvSpPr>
        <p:spPr>
          <a:xfrm>
            <a:off x="365760" y="1170432"/>
            <a:ext cx="109728" cy="12070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AA27C1-57AA-8291-12A4-0291F2274254}"/>
              </a:ext>
            </a:extLst>
          </p:cNvPr>
          <p:cNvSpPr txBox="1"/>
          <p:nvPr/>
        </p:nvSpPr>
        <p:spPr>
          <a:xfrm>
            <a:off x="685800" y="1569309"/>
            <a:ext cx="237744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2000" b="1" dirty="0" err="1"/>
              <a:t>Versioonihaldus</a:t>
            </a:r>
            <a:endParaRPr sz="20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047E6-5884-04A5-7D49-963ED634694C}"/>
              </a:ext>
            </a:extLst>
          </p:cNvPr>
          <p:cNvSpPr txBox="1"/>
          <p:nvPr/>
        </p:nvSpPr>
        <p:spPr>
          <a:xfrm>
            <a:off x="3200400" y="1600087"/>
            <a:ext cx="832104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1600" dirty="0" err="1"/>
              <a:t>Tarkvara</a:t>
            </a:r>
            <a:r>
              <a:rPr lang="en-GB" sz="1600" dirty="0"/>
              <a:t>, </a:t>
            </a:r>
            <a:r>
              <a:rPr lang="en-GB" sz="1600" dirty="0" err="1"/>
              <a:t>dokumentide</a:t>
            </a:r>
            <a:r>
              <a:rPr lang="en-GB" sz="1600" dirty="0"/>
              <a:t> </a:t>
            </a:r>
            <a:r>
              <a:rPr lang="en-GB" sz="1600" dirty="0" err="1"/>
              <a:t>ja</a:t>
            </a:r>
            <a:r>
              <a:rPr lang="en-GB" sz="1600" dirty="0"/>
              <a:t> </a:t>
            </a:r>
            <a:r>
              <a:rPr lang="en-GB" sz="1600" dirty="0" err="1"/>
              <a:t>muude</a:t>
            </a:r>
            <a:r>
              <a:rPr lang="en-GB" sz="1600" dirty="0"/>
              <a:t> </a:t>
            </a:r>
            <a:r>
              <a:rPr lang="en-GB" sz="1600" dirty="0" err="1"/>
              <a:t>failide</a:t>
            </a:r>
            <a:r>
              <a:rPr lang="en-GB" sz="1600" dirty="0"/>
              <a:t> </a:t>
            </a:r>
            <a:r>
              <a:rPr lang="en-GB" sz="1600" dirty="0" err="1"/>
              <a:t>muudatuste</a:t>
            </a:r>
            <a:r>
              <a:rPr lang="en-GB" sz="1600" dirty="0"/>
              <a:t> </a:t>
            </a:r>
            <a:r>
              <a:rPr lang="en-GB" sz="1600" b="1" dirty="0" err="1"/>
              <a:t>süstemaatiline</a:t>
            </a:r>
            <a:r>
              <a:rPr lang="en-GB" sz="1600" b="1" dirty="0"/>
              <a:t> </a:t>
            </a:r>
            <a:r>
              <a:rPr lang="en-GB" sz="1600" b="1" dirty="0" err="1"/>
              <a:t>haldamine</a:t>
            </a:r>
            <a:endParaRPr lang="en-GB" sz="1600" b="1" dirty="0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FC14680-15D7-4EF7-9996-009F58376B0C}"/>
              </a:ext>
            </a:extLst>
          </p:cNvPr>
          <p:cNvSpPr/>
          <p:nvPr/>
        </p:nvSpPr>
        <p:spPr>
          <a:xfrm>
            <a:off x="365760" y="2468880"/>
            <a:ext cx="11430000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843E32A-B09C-F14A-ED74-337BF60EB925}"/>
              </a:ext>
            </a:extLst>
          </p:cNvPr>
          <p:cNvSpPr/>
          <p:nvPr/>
        </p:nvSpPr>
        <p:spPr>
          <a:xfrm>
            <a:off x="365760" y="2468880"/>
            <a:ext cx="109728" cy="12070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0C02F8-5EFB-B598-FFC7-A720E1A3540C}"/>
              </a:ext>
            </a:extLst>
          </p:cNvPr>
          <p:cNvSpPr txBox="1"/>
          <p:nvPr/>
        </p:nvSpPr>
        <p:spPr>
          <a:xfrm>
            <a:off x="685800" y="2867757"/>
            <a:ext cx="237744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000" b="1" dirty="0" err="1">
                <a:solidFill>
                  <a:srgbClr val="0F203E"/>
                </a:solidFill>
                <a:latin typeface="Calibri"/>
              </a:rPr>
              <a:t>Ajaloo</a:t>
            </a:r>
            <a:r>
              <a:rPr lang="en-GB" sz="20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0F203E"/>
                </a:solidFill>
                <a:latin typeface="Calibri"/>
              </a:rPr>
              <a:t>säilitamine</a:t>
            </a:r>
            <a:endParaRPr sz="20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6E2216-D4FD-E398-F4C0-E0CE3B951D1B}"/>
              </a:ext>
            </a:extLst>
          </p:cNvPr>
          <p:cNvSpPr txBox="1"/>
          <p:nvPr/>
        </p:nvSpPr>
        <p:spPr>
          <a:xfrm>
            <a:off x="3200400" y="2775424"/>
            <a:ext cx="832104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1600" dirty="0"/>
              <a:t>Iga </a:t>
            </a:r>
            <a:r>
              <a:rPr lang="en-GB" sz="1600" b="1" dirty="0" err="1"/>
              <a:t>muudatus</a:t>
            </a:r>
            <a:r>
              <a:rPr lang="en-GB" sz="1600" b="1" dirty="0"/>
              <a:t> </a:t>
            </a:r>
            <a:r>
              <a:rPr lang="en-GB" sz="1600" b="1" dirty="0" err="1"/>
              <a:t>salvestatakse</a:t>
            </a:r>
            <a:r>
              <a:rPr lang="en-GB" sz="1600" b="1" dirty="0"/>
              <a:t> </a:t>
            </a:r>
            <a:r>
              <a:rPr lang="en-GB" sz="1600" dirty="0" err="1"/>
              <a:t>eraldi</a:t>
            </a:r>
            <a:r>
              <a:rPr lang="en-GB" sz="1600" dirty="0"/>
              <a:t> </a:t>
            </a:r>
            <a:r>
              <a:rPr lang="en-GB" sz="1600" dirty="0" err="1"/>
              <a:t>sissekandena</a:t>
            </a:r>
            <a:r>
              <a:rPr lang="en-GB" sz="1600" dirty="0"/>
              <a:t> (</a:t>
            </a:r>
            <a:r>
              <a:rPr lang="en-GB" sz="1600" dirty="0" err="1"/>
              <a:t>kehtestus</a:t>
            </a:r>
            <a:r>
              <a:rPr lang="en-GB" sz="1600" dirty="0"/>
              <a:t> </a:t>
            </a:r>
            <a:r>
              <a:rPr lang="en-GB" sz="1600" dirty="0" err="1"/>
              <a:t>ehk</a:t>
            </a:r>
            <a:r>
              <a:rPr lang="en-GB" sz="1600" dirty="0"/>
              <a:t> commit). Sa </a:t>
            </a:r>
            <a:r>
              <a:rPr lang="en-GB" sz="1600" dirty="0" err="1"/>
              <a:t>tead</a:t>
            </a:r>
            <a:r>
              <a:rPr lang="en-GB" sz="1600" dirty="0"/>
              <a:t> </a:t>
            </a:r>
            <a:r>
              <a:rPr lang="en-GB" sz="1600" dirty="0" err="1"/>
              <a:t>alati</a:t>
            </a:r>
            <a:r>
              <a:rPr lang="en-GB" sz="1600" dirty="0"/>
              <a:t>, </a:t>
            </a:r>
            <a:r>
              <a:rPr lang="en-GB" sz="1600" dirty="0" err="1"/>
              <a:t>kes</a:t>
            </a:r>
            <a:r>
              <a:rPr lang="en-GB" sz="1600" dirty="0"/>
              <a:t>, </a:t>
            </a:r>
            <a:r>
              <a:rPr lang="en-GB" sz="1600" dirty="0" err="1"/>
              <a:t>mida</a:t>
            </a:r>
            <a:r>
              <a:rPr lang="en-GB" sz="1600" dirty="0"/>
              <a:t> </a:t>
            </a:r>
            <a:r>
              <a:rPr lang="en-GB" sz="1600" dirty="0" err="1"/>
              <a:t>ja</a:t>
            </a:r>
            <a:r>
              <a:rPr lang="en-GB" sz="1600" dirty="0"/>
              <a:t> </a:t>
            </a:r>
            <a:r>
              <a:rPr lang="en-GB" sz="1600" dirty="0" err="1"/>
              <a:t>millal</a:t>
            </a:r>
            <a:r>
              <a:rPr lang="en-GB" sz="1600" dirty="0"/>
              <a:t> </a:t>
            </a:r>
            <a:r>
              <a:rPr lang="en-GB" sz="1600" dirty="0" err="1"/>
              <a:t>muutis</a:t>
            </a:r>
            <a:r>
              <a:rPr lang="en-GB" sz="1600" dirty="0"/>
              <a:t>.</a:t>
            </a:r>
            <a:endParaRPr sz="1600" dirty="0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C4DF7BAB-4300-4B66-3C4C-AF166CAB8B44}"/>
              </a:ext>
            </a:extLst>
          </p:cNvPr>
          <p:cNvSpPr/>
          <p:nvPr/>
        </p:nvSpPr>
        <p:spPr>
          <a:xfrm>
            <a:off x="365760" y="3767328"/>
            <a:ext cx="11430000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1C3B076-43A0-F675-88BD-B2A6F599F30F}"/>
              </a:ext>
            </a:extLst>
          </p:cNvPr>
          <p:cNvSpPr/>
          <p:nvPr/>
        </p:nvSpPr>
        <p:spPr>
          <a:xfrm>
            <a:off x="365760" y="3767328"/>
            <a:ext cx="109728" cy="12070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C718DAD-7EFF-6727-B040-823143D82619}"/>
              </a:ext>
            </a:extLst>
          </p:cNvPr>
          <p:cNvSpPr txBox="1"/>
          <p:nvPr/>
        </p:nvSpPr>
        <p:spPr>
          <a:xfrm>
            <a:off x="685800" y="4012317"/>
            <a:ext cx="2377440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000" b="1" dirty="0" err="1">
                <a:solidFill>
                  <a:srgbClr val="0F203E"/>
                </a:solidFill>
                <a:latin typeface="Calibri"/>
              </a:rPr>
              <a:t>Turvalisus</a:t>
            </a:r>
            <a:r>
              <a:rPr lang="en-GB" sz="20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0F203E"/>
                </a:solidFill>
                <a:latin typeface="Calibri"/>
              </a:rPr>
              <a:t>ja</a:t>
            </a:r>
            <a:r>
              <a:rPr lang="en-GB" sz="20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0F203E"/>
                </a:solidFill>
                <a:latin typeface="Calibri"/>
              </a:rPr>
              <a:t>varundus</a:t>
            </a:r>
            <a:endParaRPr sz="20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08FEB5A-9346-EE50-D199-94FD4ABF7C98}"/>
              </a:ext>
            </a:extLst>
          </p:cNvPr>
          <p:cNvSpPr txBox="1"/>
          <p:nvPr/>
        </p:nvSpPr>
        <p:spPr>
          <a:xfrm>
            <a:off x="3200400" y="4135761"/>
            <a:ext cx="832104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1600" dirty="0"/>
              <a:t>Kui </a:t>
            </a:r>
            <a:r>
              <a:rPr lang="en-GB" sz="1600" dirty="0" err="1"/>
              <a:t>uus</a:t>
            </a:r>
            <a:r>
              <a:rPr lang="en-GB" sz="1600" dirty="0"/>
              <a:t> </a:t>
            </a:r>
            <a:r>
              <a:rPr lang="en-GB" sz="1600" dirty="0" err="1"/>
              <a:t>kood</a:t>
            </a:r>
            <a:r>
              <a:rPr lang="en-GB" sz="1600" dirty="0"/>
              <a:t> </a:t>
            </a:r>
            <a:r>
              <a:rPr lang="en-GB" sz="1600" dirty="0" err="1"/>
              <a:t>või</a:t>
            </a:r>
            <a:r>
              <a:rPr lang="en-GB" sz="1600" dirty="0"/>
              <a:t> </a:t>
            </a:r>
            <a:r>
              <a:rPr lang="en-GB" sz="1600" dirty="0" err="1"/>
              <a:t>tekst</a:t>
            </a:r>
            <a:r>
              <a:rPr lang="en-GB" sz="1600" dirty="0"/>
              <a:t> </a:t>
            </a:r>
            <a:r>
              <a:rPr lang="en-GB" sz="1600" dirty="0" err="1"/>
              <a:t>lõhub</a:t>
            </a:r>
            <a:r>
              <a:rPr lang="en-GB" sz="1600" dirty="0"/>
              <a:t> </a:t>
            </a:r>
            <a:r>
              <a:rPr lang="en-GB" sz="1600" dirty="0" err="1"/>
              <a:t>midagi</a:t>
            </a:r>
            <a:r>
              <a:rPr lang="en-GB" sz="1600" dirty="0"/>
              <a:t> </a:t>
            </a:r>
            <a:r>
              <a:rPr lang="en-GB" sz="1600" dirty="0" err="1"/>
              <a:t>ära</a:t>
            </a:r>
            <a:r>
              <a:rPr lang="en-GB" sz="1600" dirty="0"/>
              <a:t>, </a:t>
            </a:r>
            <a:r>
              <a:rPr lang="en-GB" sz="1600" dirty="0" err="1"/>
              <a:t>saab</a:t>
            </a:r>
            <a:r>
              <a:rPr lang="en-GB" sz="1600" dirty="0"/>
              <a:t> </a:t>
            </a:r>
            <a:r>
              <a:rPr lang="en-GB" sz="1600" b="1" dirty="0" err="1"/>
              <a:t>taastada</a:t>
            </a:r>
            <a:r>
              <a:rPr lang="en-GB" sz="1600" b="1" dirty="0"/>
              <a:t> </a:t>
            </a:r>
            <a:r>
              <a:rPr lang="en-GB" sz="1600" b="1" dirty="0" err="1"/>
              <a:t>varasema</a:t>
            </a:r>
            <a:r>
              <a:rPr lang="en-GB" sz="1600" b="1" dirty="0"/>
              <a:t> </a:t>
            </a:r>
            <a:r>
              <a:rPr lang="en-GB" sz="1600" b="1" dirty="0" err="1"/>
              <a:t>töötava</a:t>
            </a:r>
            <a:r>
              <a:rPr lang="en-GB" sz="1600" b="1" dirty="0"/>
              <a:t> </a:t>
            </a:r>
            <a:r>
              <a:rPr lang="en-GB" sz="1600" b="1" dirty="0" err="1"/>
              <a:t>versiooni</a:t>
            </a:r>
            <a:r>
              <a:rPr lang="en-GB" sz="1600" dirty="0"/>
              <a:t>.</a:t>
            </a:r>
            <a:endParaRPr sz="16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E1E4384E-4E0A-5CA6-5DEC-3EC8987D52B7}"/>
              </a:ext>
            </a:extLst>
          </p:cNvPr>
          <p:cNvSpPr/>
          <p:nvPr/>
        </p:nvSpPr>
        <p:spPr>
          <a:xfrm>
            <a:off x="365760" y="5065776"/>
            <a:ext cx="11430000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E266C5C-6210-5003-B071-D08C53B34F63}"/>
              </a:ext>
            </a:extLst>
          </p:cNvPr>
          <p:cNvSpPr/>
          <p:nvPr/>
        </p:nvSpPr>
        <p:spPr>
          <a:xfrm>
            <a:off x="365760" y="5065776"/>
            <a:ext cx="109728" cy="12070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1631643-3E86-175D-4C86-6A64696DB42B}"/>
              </a:ext>
            </a:extLst>
          </p:cNvPr>
          <p:cNvSpPr txBox="1"/>
          <p:nvPr/>
        </p:nvSpPr>
        <p:spPr>
          <a:xfrm>
            <a:off x="685800" y="5310765"/>
            <a:ext cx="2377440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000" b="1" dirty="0" err="1">
                <a:solidFill>
                  <a:srgbClr val="0F203E"/>
                </a:solidFill>
                <a:latin typeface="Calibri"/>
              </a:rPr>
              <a:t>Koostöö</a:t>
            </a:r>
            <a:r>
              <a:rPr lang="en-GB" sz="20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0F203E"/>
                </a:solidFill>
                <a:latin typeface="Calibri"/>
              </a:rPr>
              <a:t>ja</a:t>
            </a:r>
            <a:r>
              <a:rPr lang="en-GB" sz="20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0F203E"/>
                </a:solidFill>
                <a:latin typeface="Calibri"/>
              </a:rPr>
              <a:t>harunemine</a:t>
            </a:r>
            <a:endParaRPr sz="20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6E75E37-C99F-E58C-8BC4-0B791816BF13}"/>
              </a:ext>
            </a:extLst>
          </p:cNvPr>
          <p:cNvSpPr txBox="1"/>
          <p:nvPr/>
        </p:nvSpPr>
        <p:spPr>
          <a:xfrm>
            <a:off x="3200400" y="5249209"/>
            <a:ext cx="8321040" cy="83099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1600" b="1" dirty="0" err="1"/>
              <a:t>Mitme</a:t>
            </a:r>
            <a:r>
              <a:rPr lang="en-GB" sz="1600" b="1" dirty="0"/>
              <a:t> </a:t>
            </a:r>
            <a:r>
              <a:rPr lang="en-GB" sz="1600" b="1" dirty="0" err="1"/>
              <a:t>inimesega</a:t>
            </a:r>
            <a:r>
              <a:rPr lang="en-GB" sz="1600" b="1" dirty="0"/>
              <a:t> </a:t>
            </a:r>
            <a:r>
              <a:rPr lang="en-GB" sz="1600" dirty="0" err="1"/>
              <a:t>sama</a:t>
            </a:r>
            <a:r>
              <a:rPr lang="en-GB" sz="1600" dirty="0"/>
              <a:t> </a:t>
            </a:r>
            <a:r>
              <a:rPr lang="en-GB" sz="1600" dirty="0" err="1"/>
              <a:t>projekti</a:t>
            </a:r>
            <a:r>
              <a:rPr lang="en-GB" sz="1600" dirty="0"/>
              <a:t> </a:t>
            </a:r>
            <a:r>
              <a:rPr lang="en-GB" sz="1600" dirty="0" err="1"/>
              <a:t>kallal</a:t>
            </a:r>
            <a:r>
              <a:rPr lang="en-GB" sz="1600" dirty="0"/>
              <a:t> </a:t>
            </a:r>
            <a:r>
              <a:rPr lang="en-GB" sz="1600" dirty="0" err="1"/>
              <a:t>töötades</a:t>
            </a:r>
            <a:r>
              <a:rPr lang="en-GB" sz="1600" dirty="0"/>
              <a:t> </a:t>
            </a:r>
            <a:r>
              <a:rPr lang="en-GB" sz="1600" dirty="0" err="1"/>
              <a:t>võimaldab</a:t>
            </a:r>
            <a:r>
              <a:rPr lang="en-GB" sz="1600" dirty="0"/>
              <a:t> </a:t>
            </a:r>
            <a:r>
              <a:rPr lang="en-GB" sz="1600" dirty="0" err="1"/>
              <a:t>versioonihaldus</a:t>
            </a:r>
            <a:r>
              <a:rPr lang="en-GB" sz="1600" dirty="0"/>
              <a:t> </a:t>
            </a:r>
            <a:r>
              <a:rPr lang="en-GB" sz="1600" dirty="0" err="1"/>
              <a:t>luua</a:t>
            </a:r>
            <a:r>
              <a:rPr lang="en-GB" sz="1600" dirty="0"/>
              <a:t> "</a:t>
            </a:r>
            <a:r>
              <a:rPr lang="en-GB" sz="1600" dirty="0" err="1"/>
              <a:t>harusid</a:t>
            </a:r>
            <a:r>
              <a:rPr lang="en-GB" sz="1600" dirty="0"/>
              <a:t>" (branches). </a:t>
            </a:r>
            <a:r>
              <a:rPr lang="en-GB" sz="1600" dirty="0" err="1"/>
              <a:t>Igaüks</a:t>
            </a:r>
            <a:r>
              <a:rPr lang="en-GB" sz="1600" dirty="0"/>
              <a:t> </a:t>
            </a:r>
            <a:r>
              <a:rPr lang="en-GB" sz="1600" dirty="0" err="1"/>
              <a:t>saab</a:t>
            </a:r>
            <a:r>
              <a:rPr lang="en-GB" sz="1600" dirty="0"/>
              <a:t> </a:t>
            </a:r>
            <a:r>
              <a:rPr lang="en-GB" sz="1600" dirty="0" err="1"/>
              <a:t>töötada</a:t>
            </a:r>
            <a:r>
              <a:rPr lang="en-GB" sz="1600" dirty="0"/>
              <a:t> </a:t>
            </a:r>
            <a:r>
              <a:rPr lang="en-GB" sz="1600" dirty="0" err="1"/>
              <a:t>oma</a:t>
            </a:r>
            <a:r>
              <a:rPr lang="en-GB" sz="1600" dirty="0"/>
              <a:t> </a:t>
            </a:r>
            <a:r>
              <a:rPr lang="en-GB" sz="1600" dirty="0" err="1"/>
              <a:t>funktsiooni</a:t>
            </a:r>
            <a:r>
              <a:rPr lang="en-GB" sz="1600" dirty="0"/>
              <a:t> </a:t>
            </a:r>
            <a:r>
              <a:rPr lang="en-GB" sz="1600" dirty="0" err="1"/>
              <a:t>kallal</a:t>
            </a:r>
            <a:r>
              <a:rPr lang="en-GB" sz="1600" dirty="0"/>
              <a:t> </a:t>
            </a:r>
            <a:r>
              <a:rPr lang="en-GB" sz="1600" dirty="0" err="1"/>
              <a:t>ilma</a:t>
            </a:r>
            <a:r>
              <a:rPr lang="en-GB" sz="1600" dirty="0"/>
              <a:t> </a:t>
            </a:r>
            <a:r>
              <a:rPr lang="en-GB" sz="1600" dirty="0" err="1"/>
              <a:t>teiste</a:t>
            </a:r>
            <a:r>
              <a:rPr lang="en-GB" sz="1600" dirty="0"/>
              <a:t> </a:t>
            </a:r>
            <a:r>
              <a:rPr lang="en-GB" sz="1600" dirty="0" err="1"/>
              <a:t>tööd</a:t>
            </a:r>
            <a:r>
              <a:rPr lang="en-GB" sz="1600" dirty="0"/>
              <a:t> </a:t>
            </a:r>
            <a:r>
              <a:rPr lang="en-GB" sz="1600" dirty="0" err="1"/>
              <a:t>segamata</a:t>
            </a:r>
            <a:r>
              <a:rPr lang="en-GB" sz="1600" dirty="0"/>
              <a:t>, </a:t>
            </a:r>
            <a:r>
              <a:rPr lang="en-GB" sz="1600" dirty="0" err="1"/>
              <a:t>ja</a:t>
            </a:r>
            <a:r>
              <a:rPr lang="en-GB" sz="1600" dirty="0"/>
              <a:t> </a:t>
            </a:r>
            <a:r>
              <a:rPr lang="en-GB" sz="1600" dirty="0" err="1"/>
              <a:t>hiljem</a:t>
            </a:r>
            <a:r>
              <a:rPr lang="en-GB" sz="1600" dirty="0"/>
              <a:t> </a:t>
            </a:r>
            <a:r>
              <a:rPr lang="en-GB" sz="1600" dirty="0" err="1"/>
              <a:t>muudatused</a:t>
            </a:r>
            <a:r>
              <a:rPr lang="en-GB" sz="1600" dirty="0"/>
              <a:t> </a:t>
            </a:r>
            <a:r>
              <a:rPr lang="en-GB" sz="1600" dirty="0" err="1"/>
              <a:t>kokku</a:t>
            </a:r>
            <a:r>
              <a:rPr lang="en-GB" sz="1600" dirty="0"/>
              <a:t> </a:t>
            </a:r>
            <a:r>
              <a:rPr lang="en-GB" sz="1600" dirty="0" err="1"/>
              <a:t>sulatada</a:t>
            </a:r>
            <a:r>
              <a:rPr lang="en-GB" sz="1600" dirty="0"/>
              <a:t> (merge)</a:t>
            </a:r>
            <a:endParaRPr sz="1600" dirty="0"/>
          </a:p>
        </p:txBody>
      </p:sp>
      <p:pic>
        <p:nvPicPr>
          <p:cNvPr id="26" name="Graphic 25" descr="Group brainstorm outline">
            <a:extLst>
              <a:ext uri="{FF2B5EF4-FFF2-40B4-BE49-F238E27FC236}">
                <a16:creationId xmlns:a16="http://schemas.microsoft.com/office/drawing/2014/main" id="{46C12246-E1BF-2FCA-0278-53C4D89B24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31137" y="5337675"/>
            <a:ext cx="694943" cy="694943"/>
          </a:xfrm>
          <a:prstGeom prst="rect">
            <a:avLst/>
          </a:prstGeom>
        </p:spPr>
      </p:pic>
      <p:pic>
        <p:nvPicPr>
          <p:cNvPr id="28" name="Picture 27" descr="Abstract blue design with wavy lines and dots">
            <a:extLst>
              <a:ext uri="{FF2B5EF4-FFF2-40B4-BE49-F238E27FC236}">
                <a16:creationId xmlns:a16="http://schemas.microsoft.com/office/drawing/2014/main" id="{D5BE7748-99AC-C73D-5A03-41AFECF752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7812" y="137160"/>
            <a:ext cx="2029121" cy="1352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84466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38FEC-4E5A-7E2C-65D9-B6688065C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1E05A46-370A-7C61-D831-B4D978279D85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2DDD9F8-9F9A-834E-2BE7-62397F13143C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DBEC4B-6F37-1D6D-5E16-BD6D0CAA65E9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VERSIOONIHALDUS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124E6F-29BC-F74C-87A6-5C3165F8C16B}"/>
              </a:ext>
            </a:extLst>
          </p:cNvPr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D9F3F6-7A03-2D53-2127-59F2FCBF2F0B}"/>
              </a:ext>
            </a:extLst>
          </p:cNvPr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38F9AC-C92E-E217-5AA2-43497EC5EA82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4</a:t>
            </a:r>
          </a:p>
        </p:txBody>
      </p:sp>
      <p:pic>
        <p:nvPicPr>
          <p:cNvPr id="27" name="Picture 26" descr="How Git Works: A Visual Guide with Code">
            <a:extLst>
              <a:ext uri="{FF2B5EF4-FFF2-40B4-BE49-F238E27FC236}">
                <a16:creationId xmlns:a16="http://schemas.microsoft.com/office/drawing/2014/main" id="{808B5565-8C5C-B815-443D-8CF580ECF5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925" y="683918"/>
            <a:ext cx="4844519" cy="5634981"/>
          </a:xfrm>
          <a:prstGeom prst="rect">
            <a:avLst/>
          </a:prstGeom>
        </p:spPr>
      </p:pic>
      <p:pic>
        <p:nvPicPr>
          <p:cNvPr id="29" name="Picture 28" descr="How Does Git Work? {Git Workflows Explained}">
            <a:extLst>
              <a:ext uri="{FF2B5EF4-FFF2-40B4-BE49-F238E27FC236}">
                <a16:creationId xmlns:a16="http://schemas.microsoft.com/office/drawing/2014/main" id="{2D473622-C929-7971-8E42-F7C18A3A9C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780" y="1085904"/>
            <a:ext cx="3895344" cy="1736206"/>
          </a:xfrm>
          <a:prstGeom prst="rect">
            <a:avLst/>
          </a:prstGeom>
        </p:spPr>
      </p:pic>
      <p:sp>
        <p:nvSpPr>
          <p:cNvPr id="31" name="Rounded Rectangle 8">
            <a:extLst>
              <a:ext uri="{FF2B5EF4-FFF2-40B4-BE49-F238E27FC236}">
                <a16:creationId xmlns:a16="http://schemas.microsoft.com/office/drawing/2014/main" id="{3C75EC98-6073-D18D-F3BE-12B8BA91D4A7}"/>
              </a:ext>
            </a:extLst>
          </p:cNvPr>
          <p:cNvSpPr/>
          <p:nvPr/>
        </p:nvSpPr>
        <p:spPr>
          <a:xfrm>
            <a:off x="5191756" y="3682190"/>
            <a:ext cx="6753015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8393601-5320-8B7B-7271-1F9927C75724}"/>
              </a:ext>
            </a:extLst>
          </p:cNvPr>
          <p:cNvSpPr/>
          <p:nvPr/>
        </p:nvSpPr>
        <p:spPr>
          <a:xfrm>
            <a:off x="5191757" y="2702422"/>
            <a:ext cx="109728" cy="12070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6B42EBF-0B06-F33F-93E1-2E2B52B2B389}"/>
              </a:ext>
            </a:extLst>
          </p:cNvPr>
          <p:cNvSpPr txBox="1"/>
          <p:nvPr/>
        </p:nvSpPr>
        <p:spPr>
          <a:xfrm>
            <a:off x="5511797" y="3101299"/>
            <a:ext cx="237744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2000" b="1" dirty="0"/>
              <a:t>Branch</a:t>
            </a:r>
            <a:endParaRPr sz="20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56AB070-580A-D995-5D0A-0A7E4F359A13}"/>
              </a:ext>
            </a:extLst>
          </p:cNvPr>
          <p:cNvSpPr txBox="1"/>
          <p:nvPr/>
        </p:nvSpPr>
        <p:spPr>
          <a:xfrm>
            <a:off x="5240864" y="3957956"/>
            <a:ext cx="6703907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dirty="0" err="1"/>
              <a:t>Lihtsalt</a:t>
            </a:r>
            <a:r>
              <a:rPr lang="en-GB" dirty="0"/>
              <a:t> </a:t>
            </a:r>
            <a:r>
              <a:rPr lang="en-GB" dirty="0" err="1"/>
              <a:t>öeldes</a:t>
            </a:r>
            <a:r>
              <a:rPr lang="en-GB" dirty="0"/>
              <a:t> on </a:t>
            </a:r>
            <a:r>
              <a:rPr lang="en-GB" dirty="0" err="1"/>
              <a:t>haru</a:t>
            </a:r>
            <a:r>
              <a:rPr lang="en-GB" dirty="0"/>
              <a:t> </a:t>
            </a:r>
            <a:r>
              <a:rPr lang="en-GB" b="1" dirty="0" err="1"/>
              <a:t>projekti</a:t>
            </a:r>
            <a:r>
              <a:rPr lang="en-GB" b="1" dirty="0"/>
              <a:t> </a:t>
            </a:r>
            <a:r>
              <a:rPr lang="en-GB" b="1" dirty="0" err="1"/>
              <a:t>koodi</a:t>
            </a:r>
            <a:r>
              <a:rPr lang="en-GB" b="1" dirty="0"/>
              <a:t> </a:t>
            </a:r>
            <a:r>
              <a:rPr lang="en-GB" b="1" dirty="0" err="1"/>
              <a:t>või</a:t>
            </a:r>
            <a:r>
              <a:rPr lang="en-GB" b="1" dirty="0"/>
              <a:t> </a:t>
            </a:r>
            <a:r>
              <a:rPr lang="en-GB" b="1" dirty="0" err="1"/>
              <a:t>failide</a:t>
            </a:r>
            <a:r>
              <a:rPr lang="en-GB" b="1" dirty="0"/>
              <a:t> </a:t>
            </a:r>
            <a:r>
              <a:rPr lang="en-GB" b="1" dirty="0" err="1"/>
              <a:t>iseseisev</a:t>
            </a:r>
            <a:r>
              <a:rPr lang="en-GB" b="1" dirty="0"/>
              <a:t> </a:t>
            </a:r>
            <a:r>
              <a:rPr lang="en-GB" b="1" dirty="0" err="1"/>
              <a:t>koopia</a:t>
            </a:r>
            <a:r>
              <a:rPr lang="en-GB" b="1" dirty="0"/>
              <a:t> (</a:t>
            </a:r>
            <a:r>
              <a:rPr lang="en-GB" b="1" dirty="0" err="1"/>
              <a:t>kloon</a:t>
            </a:r>
            <a:r>
              <a:rPr lang="en-GB" b="1" dirty="0"/>
              <a:t>)</a:t>
            </a:r>
            <a:r>
              <a:rPr lang="en-GB" dirty="0"/>
              <a:t>, </a:t>
            </a:r>
            <a:r>
              <a:rPr lang="en-GB" dirty="0" err="1"/>
              <a:t>kus</a:t>
            </a:r>
            <a:r>
              <a:rPr lang="en-GB" dirty="0"/>
              <a:t> </a:t>
            </a:r>
            <a:r>
              <a:rPr lang="en-GB" dirty="0" err="1"/>
              <a:t>saab</a:t>
            </a:r>
            <a:r>
              <a:rPr lang="en-GB" dirty="0"/>
              <a:t> </a:t>
            </a:r>
            <a:r>
              <a:rPr lang="en-GB" dirty="0" err="1"/>
              <a:t>teha</a:t>
            </a:r>
            <a:r>
              <a:rPr lang="en-GB" dirty="0"/>
              <a:t> </a:t>
            </a:r>
            <a:r>
              <a:rPr lang="en-GB" dirty="0" err="1"/>
              <a:t>muudatusi</a:t>
            </a:r>
            <a:r>
              <a:rPr lang="en-GB" dirty="0"/>
              <a:t> </a:t>
            </a:r>
            <a:r>
              <a:rPr lang="en-GB" dirty="0" err="1"/>
              <a:t>ilma</a:t>
            </a:r>
            <a:r>
              <a:rPr lang="en-GB" dirty="0"/>
              <a:t> </a:t>
            </a:r>
            <a:r>
              <a:rPr lang="en-GB" dirty="0" err="1"/>
              <a:t>põhiprojekti</a:t>
            </a:r>
            <a:r>
              <a:rPr lang="en-GB" dirty="0"/>
              <a:t> </a:t>
            </a:r>
            <a:r>
              <a:rPr lang="en-GB" dirty="0" err="1"/>
              <a:t>mõjutamata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533907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Github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3657600" cy="5074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91440" cy="50749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1252728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GitHub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618488"/>
            <a:ext cx="3246120" cy="151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 b="1" dirty="0" err="1">
                <a:solidFill>
                  <a:srgbClr val="334155"/>
                </a:solidFill>
                <a:latin typeface="Calibri"/>
              </a:rPr>
              <a:t>Veebileht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github.com</a:t>
            </a:r>
          </a:p>
          <a:p>
            <a:pPr>
              <a:spcAft>
                <a:spcPts val="500"/>
              </a:spcAft>
            </a:pPr>
            <a:r>
              <a:rPr sz="1600" b="0" dirty="0" err="1">
                <a:solidFill>
                  <a:srgbClr val="334155"/>
                </a:solidFill>
                <a:latin typeface="Calibri"/>
              </a:rPr>
              <a:t>Siin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elab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334155"/>
                </a:solidFill>
                <a:latin typeface="Calibri"/>
              </a:rPr>
              <a:t>repositoorium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500"/>
              </a:spcAft>
            </a:pPr>
            <a:r>
              <a:rPr lang="en-GB" sz="1600" b="0" dirty="0">
                <a:solidFill>
                  <a:srgbClr val="334155"/>
                </a:solidFill>
                <a:latin typeface="Calibri"/>
              </a:rPr>
              <a:t>K</a:t>
            </a:r>
            <a:r>
              <a:rPr sz="1600" b="1" dirty="0" err="1">
                <a:solidFill>
                  <a:srgbClr val="334155"/>
                </a:solidFill>
                <a:latin typeface="Calibri"/>
              </a:rPr>
              <a:t>asutaja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loomine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500"/>
              </a:spcAft>
            </a:pP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Versioonide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muudatuste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ajaloo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hoidmine</a:t>
            </a: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251960" y="1143000"/>
            <a:ext cx="3657600" cy="5074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51960" y="1143000"/>
            <a:ext cx="91440" cy="507492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07992" y="1252728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GitHub Desktop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7992" y="1618488"/>
            <a:ext cx="3246120" cy="9592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 b="1" dirty="0" err="1">
                <a:solidFill>
                  <a:srgbClr val="334155"/>
                </a:solidFill>
                <a:latin typeface="Calibri"/>
              </a:rPr>
              <a:t>Programm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su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arvutis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500"/>
              </a:spcAft>
            </a:pP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Graafiline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kasutajaliides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.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500"/>
              </a:spcAft>
            </a:pP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Muudatuste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nägemine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haldus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ED961DB-746A-8119-1976-F2B40567C59A}"/>
              </a:ext>
            </a:extLst>
          </p:cNvPr>
          <p:cNvSpPr txBox="1"/>
          <p:nvPr/>
        </p:nvSpPr>
        <p:spPr>
          <a:xfrm>
            <a:off x="926184" y="1110231"/>
            <a:ext cx="9179350" cy="1892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en-GB" sz="1800" b="0" u="none" strike="noStrike" dirty="0" err="1">
                <a:effectLst/>
                <a:latin typeface="+mn-lt"/>
              </a:rPr>
              <a:t>Lülitu</a:t>
            </a:r>
            <a:r>
              <a:rPr lang="en-GB" sz="1800" b="0" u="none" strike="noStrike" dirty="0">
                <a:effectLst/>
                <a:latin typeface="+mn-lt"/>
              </a:rPr>
              <a:t> </a:t>
            </a:r>
            <a:r>
              <a:rPr lang="en-GB" sz="1800" b="0" u="none" strike="noStrike" dirty="0" err="1">
                <a:effectLst/>
                <a:latin typeface="+mn-lt"/>
              </a:rPr>
              <a:t>korraks</a:t>
            </a:r>
            <a:r>
              <a:rPr lang="en-GB" sz="1800" b="0" u="none" strike="noStrike" dirty="0">
                <a:effectLst/>
                <a:latin typeface="+mn-lt"/>
              </a:rPr>
              <a:t> </a:t>
            </a:r>
            <a:r>
              <a:rPr lang="en-GB" sz="1800" b="0" u="none" strike="noStrike" dirty="0" err="1">
                <a:effectLst/>
                <a:latin typeface="+mn-lt"/>
              </a:rPr>
              <a:t>harule</a:t>
            </a:r>
            <a:r>
              <a:rPr lang="en-GB" sz="1800" b="0" u="none" strike="noStrike" dirty="0">
                <a:effectLst/>
                <a:latin typeface="+mn-lt"/>
              </a:rPr>
              <a:t> main.</a:t>
            </a:r>
          </a:p>
          <a:p>
            <a:pPr marL="342900" marR="0" lvl="0" indent="-342900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en-GB" sz="1800" b="0" u="none" strike="noStrike" dirty="0" err="1">
                <a:effectLst/>
                <a:latin typeface="+mn-lt"/>
              </a:rPr>
              <a:t>Vajuta</a:t>
            </a:r>
            <a:r>
              <a:rPr lang="en-GB" sz="1800" b="0" u="none" strike="noStrike" dirty="0">
                <a:effectLst/>
                <a:latin typeface="+mn-lt"/>
              </a:rPr>
              <a:t> </a:t>
            </a:r>
            <a:r>
              <a:rPr lang="en-GB" sz="1800" b="1" u="none" strike="noStrike" dirty="0">
                <a:effectLst/>
                <a:latin typeface="+mn-lt"/>
              </a:rPr>
              <a:t>Fetch origin</a:t>
            </a:r>
            <a:r>
              <a:rPr lang="en-GB" sz="1800" b="0" u="none" strike="noStrike" dirty="0">
                <a:effectLst/>
                <a:latin typeface="+mn-lt"/>
              </a:rPr>
              <a:t> </a:t>
            </a:r>
            <a:r>
              <a:rPr lang="en-GB" sz="1800" b="0" u="none" strike="noStrike" dirty="0" err="1">
                <a:effectLst/>
                <a:latin typeface="+mn-lt"/>
              </a:rPr>
              <a:t>ja</a:t>
            </a:r>
            <a:r>
              <a:rPr lang="en-GB" sz="1800" b="0" u="none" strike="noStrike" dirty="0">
                <a:effectLst/>
                <a:latin typeface="+mn-lt"/>
              </a:rPr>
              <a:t> </a:t>
            </a:r>
            <a:r>
              <a:rPr lang="en-GB" sz="1800" b="0" u="none" strike="noStrike" dirty="0" err="1">
                <a:effectLst/>
                <a:latin typeface="+mn-lt"/>
              </a:rPr>
              <a:t>vajadusel</a:t>
            </a:r>
            <a:r>
              <a:rPr lang="en-GB" sz="1800" b="0" u="none" strike="noStrike" dirty="0">
                <a:effectLst/>
                <a:latin typeface="+mn-lt"/>
              </a:rPr>
              <a:t> </a:t>
            </a:r>
            <a:r>
              <a:rPr lang="en-GB" sz="1800" b="1" u="none" strike="noStrike" dirty="0">
                <a:effectLst/>
                <a:latin typeface="+mn-lt"/>
              </a:rPr>
              <a:t>Pull origin</a:t>
            </a:r>
            <a:r>
              <a:rPr lang="en-GB" sz="1800" b="0" u="none" strike="noStrike" dirty="0">
                <a:effectLst/>
                <a:latin typeface="+mn-lt"/>
              </a:rPr>
              <a:t>.</a:t>
            </a:r>
          </a:p>
          <a:p>
            <a:pPr marL="342900" marR="0" lvl="0" indent="-342900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en-GB" sz="1800" b="0" u="none" strike="noStrike" dirty="0" err="1">
                <a:effectLst/>
                <a:latin typeface="+mn-lt"/>
              </a:rPr>
              <a:t>Lülitu</a:t>
            </a:r>
            <a:r>
              <a:rPr lang="en-GB" sz="1800" b="0" u="none" strike="noStrike" dirty="0">
                <a:effectLst/>
                <a:latin typeface="+mn-lt"/>
              </a:rPr>
              <a:t> </a:t>
            </a:r>
            <a:r>
              <a:rPr lang="en-GB" sz="1800" b="0" u="none" strike="noStrike" dirty="0" err="1">
                <a:effectLst/>
                <a:latin typeface="+mn-lt"/>
              </a:rPr>
              <a:t>tagasi</a:t>
            </a:r>
            <a:r>
              <a:rPr lang="en-GB" sz="1800" b="0" u="none" strike="noStrike" dirty="0">
                <a:effectLst/>
                <a:latin typeface="+mn-lt"/>
              </a:rPr>
              <a:t> </a:t>
            </a:r>
            <a:r>
              <a:rPr lang="en-GB" sz="1800" b="0" u="none" strike="noStrike" dirty="0" err="1">
                <a:effectLst/>
                <a:latin typeface="+mn-lt"/>
              </a:rPr>
              <a:t>oma</a:t>
            </a:r>
            <a:r>
              <a:rPr lang="en-GB" sz="1800" b="0" u="none" strike="noStrike" dirty="0">
                <a:effectLst/>
                <a:latin typeface="+mn-lt"/>
              </a:rPr>
              <a:t> </a:t>
            </a:r>
            <a:r>
              <a:rPr lang="en-GB" sz="1800" b="0" u="none" strike="noStrike" dirty="0" err="1">
                <a:effectLst/>
                <a:latin typeface="+mn-lt"/>
              </a:rPr>
              <a:t>harule</a:t>
            </a:r>
            <a:r>
              <a:rPr lang="en-GB" sz="1800" b="0" u="none" strike="noStrike" dirty="0">
                <a:effectLst/>
                <a:latin typeface="+mn-lt"/>
              </a:rPr>
              <a:t>.</a:t>
            </a:r>
          </a:p>
          <a:p>
            <a:pPr marL="342900" marR="0" lvl="0" indent="-342900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en-GB" sz="1800" b="0" u="none" strike="noStrike" dirty="0">
                <a:effectLst/>
                <a:latin typeface="+mn-lt"/>
              </a:rPr>
              <a:t>Nüüd </a:t>
            </a:r>
            <a:r>
              <a:rPr lang="en-GB" sz="1800" b="0" u="none" strike="noStrike" dirty="0" err="1">
                <a:effectLst/>
                <a:latin typeface="+mn-lt"/>
              </a:rPr>
              <a:t>näitab</a:t>
            </a:r>
            <a:r>
              <a:rPr lang="en-GB" sz="1800" b="0" u="none" strike="noStrike" dirty="0">
                <a:effectLst/>
                <a:latin typeface="+mn-lt"/>
              </a:rPr>
              <a:t> GitHub Desktop </a:t>
            </a:r>
            <a:r>
              <a:rPr lang="en-GB" sz="1800" b="0" u="none" strike="noStrike" dirty="0" err="1">
                <a:effectLst/>
                <a:latin typeface="+mn-lt"/>
              </a:rPr>
              <a:t>erinevust</a:t>
            </a:r>
            <a:r>
              <a:rPr lang="en-GB" sz="1800" b="0" u="none" strike="noStrike" dirty="0">
                <a:effectLst/>
                <a:latin typeface="+mn-lt"/>
              </a:rPr>
              <a:t> </a:t>
            </a:r>
            <a:r>
              <a:rPr lang="en-GB" sz="1800" b="0" u="none" strike="noStrike" dirty="0" err="1">
                <a:effectLst/>
                <a:latin typeface="+mn-lt"/>
              </a:rPr>
              <a:t>sinu</a:t>
            </a:r>
            <a:r>
              <a:rPr lang="en-GB" sz="1800" b="0" u="none" strike="noStrike" dirty="0">
                <a:effectLst/>
                <a:latin typeface="+mn-lt"/>
              </a:rPr>
              <a:t> </a:t>
            </a:r>
            <a:r>
              <a:rPr lang="en-GB" sz="1800" b="0" u="none" strike="noStrike" dirty="0" err="1">
                <a:effectLst/>
                <a:latin typeface="+mn-lt"/>
              </a:rPr>
              <a:t>koodi</a:t>
            </a:r>
            <a:r>
              <a:rPr lang="en-GB" sz="1800" b="0" u="none" strike="noStrike" dirty="0">
                <a:effectLst/>
                <a:latin typeface="+mn-lt"/>
              </a:rPr>
              <a:t> </a:t>
            </a:r>
            <a:r>
              <a:rPr lang="en-GB" sz="1800" b="0" u="none" strike="noStrike" dirty="0" err="1">
                <a:effectLst/>
                <a:latin typeface="+mn-lt"/>
              </a:rPr>
              <a:t>ja</a:t>
            </a:r>
            <a:r>
              <a:rPr lang="en-GB" sz="1800" b="0" u="none" strike="noStrike" dirty="0">
                <a:effectLst/>
                <a:latin typeface="+mn-lt"/>
              </a:rPr>
              <a:t> </a:t>
            </a:r>
            <a:r>
              <a:rPr lang="en-GB" sz="1800" b="0" u="none" strike="noStrike" dirty="0" err="1">
                <a:effectLst/>
                <a:latin typeface="+mn-lt"/>
              </a:rPr>
              <a:t>teiste</a:t>
            </a:r>
            <a:r>
              <a:rPr lang="en-GB" sz="1800" b="0" u="none" strike="noStrike" dirty="0">
                <a:effectLst/>
                <a:latin typeface="+mn-lt"/>
              </a:rPr>
              <a:t> </a:t>
            </a:r>
            <a:r>
              <a:rPr lang="en-GB" sz="1800" b="0" u="none" strike="noStrike" dirty="0" err="1">
                <a:effectLst/>
                <a:latin typeface="+mn-lt"/>
              </a:rPr>
              <a:t>kõige</a:t>
            </a:r>
            <a:r>
              <a:rPr lang="en-GB" sz="1800" b="0" u="none" strike="noStrike" dirty="0">
                <a:effectLst/>
                <a:latin typeface="+mn-lt"/>
              </a:rPr>
              <a:t> </a:t>
            </a:r>
            <a:r>
              <a:rPr lang="en-GB" sz="1800" b="0" u="none" strike="noStrike" dirty="0" err="1">
                <a:effectLst/>
                <a:latin typeface="+mn-lt"/>
              </a:rPr>
              <a:t>värskema</a:t>
            </a:r>
            <a:r>
              <a:rPr lang="en-GB" sz="1800" b="0" u="none" strike="noStrike" dirty="0">
                <a:effectLst/>
                <a:latin typeface="+mn-lt"/>
              </a:rPr>
              <a:t> </a:t>
            </a:r>
            <a:r>
              <a:rPr lang="en-GB" sz="1800" b="0" u="none" strike="noStrike" dirty="0" err="1">
                <a:effectLst/>
                <a:latin typeface="+mn-lt"/>
              </a:rPr>
              <a:t>koodi</a:t>
            </a:r>
            <a:r>
              <a:rPr lang="en-GB" sz="1800" b="0" u="none" strike="noStrike" dirty="0">
                <a:effectLst/>
                <a:latin typeface="+mn-lt"/>
              </a:rPr>
              <a:t> </a:t>
            </a:r>
            <a:r>
              <a:rPr lang="en-GB" sz="1800" b="0" u="none" strike="noStrike" dirty="0" err="1">
                <a:effectLst/>
                <a:latin typeface="+mn-lt"/>
              </a:rPr>
              <a:t>vahel</a:t>
            </a:r>
            <a:r>
              <a:rPr lang="en-GB" sz="1800" b="0" u="none" strike="noStrike" dirty="0">
                <a:effectLst/>
                <a:latin typeface="+mn-lt"/>
              </a:rPr>
              <a:t>.</a:t>
            </a:r>
            <a:endParaRPr lang="en-GB" sz="1200" b="0" u="none" strike="noStrike" dirty="0">
              <a:effectLst/>
              <a:latin typeface="Google Sans"/>
            </a:endParaRPr>
          </a:p>
        </p:txBody>
      </p:sp>
    </p:spTree>
    <p:extLst>
      <p:ext uri="{BB962C8B-B14F-4D97-AF65-F5344CB8AC3E}">
        <p14:creationId xmlns:p14="http://schemas.microsoft.com/office/powerpoint/2010/main" val="38871450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49526"/>
                </a:solidFill>
                <a:latin typeface="Calibri"/>
              </a:rPr>
              <a:t>Ülesanne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Kasutaja, Desktop, fail, sync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118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BACCE0"/>
                </a:solidFill>
                <a:latin typeface="Calibri"/>
              </a:rPr>
              <a:t>Kõigepealt vaatame koos. Siis teed ise. ISE-slaidil lahendust ei ole.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>
                <a:solidFill>
                  <a:srgbClr val="92D050"/>
                </a:solidFill>
                <a:latin typeface="Calibri"/>
              </a:rPr>
              <a:t>NÄITAN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1920240" cy="329184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78992"/>
            <a:ext cx="19202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Koolitaja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1078992"/>
            <a:ext cx="9326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Calibri"/>
              </a:rPr>
              <a:t>Tee need sammud ekraanil. Õpilane vaatab, ei kliki kaasa.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54480"/>
            <a:ext cx="56692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1719072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Kasutaja ja programm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148840"/>
            <a:ext cx="521208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Ava github.com → Sign up.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Kinnita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e-post.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Ava desktop.github.com → Download.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Paigalda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Ava GitHub Desktop → Sign in to GitHub.com.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4.  File → New repository. 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Nimi vali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endale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sobiv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. 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Create.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>
                <a:solidFill>
                  <a:srgbClr val="FF0000"/>
                </a:solidFill>
                <a:latin typeface="Calibri"/>
              </a:rPr>
              <a:t>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1920240" cy="329184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78992"/>
            <a:ext cx="19202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Proovi 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55448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Tee oma masinas: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011680"/>
            <a:ext cx="11430000" cy="4251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2221992"/>
            <a:ext cx="10972800" cy="4914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dirty="0">
                <a:solidFill>
                  <a:srgbClr val="334155"/>
                </a:solidFill>
                <a:latin typeface="Calibri"/>
              </a:rPr>
              <a:t>1.  Loo </a:t>
            </a:r>
            <a:r>
              <a:rPr sz="2000" b="0" dirty="0" err="1">
                <a:solidFill>
                  <a:srgbClr val="334155"/>
                </a:solidFill>
                <a:latin typeface="Calibri"/>
              </a:rPr>
              <a:t>GitHubi</a:t>
            </a:r>
            <a:r>
              <a:rPr sz="20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334155"/>
                </a:solidFill>
                <a:latin typeface="Calibri"/>
              </a:rPr>
              <a:t>kasutaja</a:t>
            </a:r>
            <a:r>
              <a:rPr sz="20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2000" b="0" dirty="0" err="1">
                <a:solidFill>
                  <a:srgbClr val="334155"/>
                </a:solidFill>
                <a:latin typeface="Calibri"/>
              </a:rPr>
              <a:t>kinnita</a:t>
            </a:r>
            <a:r>
              <a:rPr sz="2000" b="0" dirty="0">
                <a:solidFill>
                  <a:srgbClr val="334155"/>
                </a:solidFill>
                <a:latin typeface="Calibri"/>
              </a:rPr>
              <a:t> e-post.</a:t>
            </a:r>
            <a:endParaRPr lang="en-GB" sz="20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2000" dirty="0">
                <a:solidFill>
                  <a:srgbClr val="334155"/>
                </a:solidFill>
                <a:latin typeface="Calibri"/>
              </a:rPr>
              <a:t>	e-post,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logi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e-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posti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sisse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saad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koodi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kinnita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konto</a:t>
            </a:r>
            <a:endParaRPr lang="en-GB" sz="20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lang="en-GB" sz="20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2000" b="0" dirty="0">
                <a:solidFill>
                  <a:srgbClr val="334155"/>
                </a:solidFill>
                <a:latin typeface="Calibri"/>
              </a:rPr>
              <a:t>2.  Lae alla ja </a:t>
            </a:r>
            <a:r>
              <a:rPr sz="2000" b="0" dirty="0" err="1">
                <a:solidFill>
                  <a:srgbClr val="334155"/>
                </a:solidFill>
                <a:latin typeface="Calibri"/>
              </a:rPr>
              <a:t>paigalda</a:t>
            </a:r>
            <a:r>
              <a:rPr sz="2000" b="0" dirty="0">
                <a:solidFill>
                  <a:srgbClr val="334155"/>
                </a:solidFill>
                <a:latin typeface="Calibri"/>
              </a:rPr>
              <a:t> GitHub Desktop. </a:t>
            </a:r>
            <a:r>
              <a:rPr lang="en-GB" sz="2000" dirty="0">
                <a:solidFill>
                  <a:srgbClr val="334155"/>
                </a:solidFill>
                <a:hlinkClick r:id="rId2"/>
              </a:rPr>
              <a:t>https://desktop.github.com/download/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Installi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ja</a:t>
            </a:r>
            <a:r>
              <a:rPr lang="en-GB" sz="2000" dirty="0">
                <a:solidFill>
                  <a:srgbClr val="334155"/>
                </a:solidFill>
              </a:rPr>
              <a:t> l</a:t>
            </a:r>
            <a:r>
              <a:rPr sz="2000" b="0" dirty="0" err="1">
                <a:solidFill>
                  <a:srgbClr val="334155"/>
                </a:solidFill>
                <a:latin typeface="Calibri"/>
              </a:rPr>
              <a:t>ogi</a:t>
            </a:r>
            <a:r>
              <a:rPr sz="20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334155"/>
                </a:solidFill>
                <a:latin typeface="Calibri"/>
              </a:rPr>
              <a:t>sisse</a:t>
            </a:r>
            <a:r>
              <a:rPr sz="20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endParaRPr lang="en-GB" sz="20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2000" b="0" dirty="0">
                <a:solidFill>
                  <a:srgbClr val="334155"/>
                </a:solidFill>
                <a:latin typeface="Calibri"/>
              </a:rPr>
              <a:t>3.  Loo </a:t>
            </a:r>
            <a:r>
              <a:rPr sz="2000" b="0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sz="20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334155"/>
                </a:solidFill>
                <a:latin typeface="Calibri"/>
              </a:rPr>
              <a:t>repositoorium</a:t>
            </a:r>
            <a:r>
              <a:rPr sz="2000" b="0" dirty="0">
                <a:solidFill>
                  <a:srgbClr val="334155"/>
                </a:solidFill>
                <a:latin typeface="Calibri"/>
              </a:rPr>
              <a:t>.</a:t>
            </a:r>
            <a:endParaRPr lang="en-GB" sz="20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lang="en-GB" sz="20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lang="en-GB" sz="20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2000" b="0" dirty="0">
                <a:solidFill>
                  <a:srgbClr val="334155"/>
                </a:solidFill>
                <a:latin typeface="Calibri"/>
              </a:rPr>
              <a:t>4. </a:t>
            </a:r>
            <a:r>
              <a:rPr lang="en-GB" sz="2000" b="0" dirty="0" err="1">
                <a:solidFill>
                  <a:srgbClr val="334155"/>
                </a:solidFill>
                <a:latin typeface="Calibri"/>
              </a:rPr>
              <a:t>Publitseeri</a:t>
            </a:r>
            <a:r>
              <a:rPr lang="en-GB" sz="2000" b="0" dirty="0">
                <a:solidFill>
                  <a:srgbClr val="334155"/>
                </a:solidFill>
                <a:latin typeface="Calibri"/>
              </a:rPr>
              <a:t> repo. </a:t>
            </a:r>
          </a:p>
          <a:p>
            <a:pPr>
              <a:spcAft>
                <a:spcPts val="800"/>
              </a:spcAft>
            </a:pPr>
            <a:r>
              <a:rPr lang="en-GB" sz="2000" dirty="0" err="1">
                <a:solidFill>
                  <a:srgbClr val="334155"/>
                </a:solidFill>
              </a:rPr>
              <a:t>Ära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märgi</a:t>
            </a:r>
            <a:r>
              <a:rPr lang="en-GB" sz="2000" dirty="0">
                <a:solidFill>
                  <a:srgbClr val="334155"/>
                </a:solidFill>
              </a:rPr>
              <a:t> Keep this code private, </a:t>
            </a:r>
            <a:r>
              <a:rPr lang="en-GB" sz="2000" dirty="0" err="1">
                <a:solidFill>
                  <a:srgbClr val="334155"/>
                </a:solidFill>
              </a:rPr>
              <a:t>kui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tahad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jagada</a:t>
            </a:r>
            <a:endParaRPr lang="en-GB" sz="2000" dirty="0">
              <a:solidFill>
                <a:srgbClr val="334155"/>
              </a:solidFill>
            </a:endParaRPr>
          </a:p>
          <a:p>
            <a:pPr>
              <a:spcAft>
                <a:spcPts val="800"/>
              </a:spcAft>
            </a:pPr>
            <a:r>
              <a:rPr lang="en-GB" sz="2000" b="0" dirty="0" err="1">
                <a:solidFill>
                  <a:srgbClr val="334155"/>
                </a:solidFill>
                <a:latin typeface="Calibri"/>
              </a:rPr>
              <a:t>Vaata</a:t>
            </a:r>
            <a:r>
              <a:rPr lang="en-GB" sz="20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b="0" dirty="0" err="1">
                <a:solidFill>
                  <a:srgbClr val="334155"/>
                </a:solidFill>
                <a:latin typeface="Calibri"/>
              </a:rPr>
              <a:t>veebist</a:t>
            </a:r>
            <a:r>
              <a:rPr lang="en-GB" sz="20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b="0" dirty="0" err="1">
                <a:solidFill>
                  <a:srgbClr val="334155"/>
                </a:solidFill>
                <a:latin typeface="Calibri"/>
              </a:rPr>
              <a:t>tulemust</a:t>
            </a:r>
            <a:r>
              <a:rPr lang="en-GB" sz="20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endParaRPr sz="20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F951FC2-31E6-9B48-B22D-E614AD5DC7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0685" y="1857729"/>
            <a:ext cx="1295581" cy="38105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F216A8E-7C1C-8A96-9A00-65D804571C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1290" y="2111324"/>
            <a:ext cx="1181265" cy="58110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E6FF5CC-53FB-06BB-9080-394E1E6BF4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7210" y="127535"/>
            <a:ext cx="2853990" cy="261708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68036F14-4CC8-7635-C093-A2E6389020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1764" y="2995994"/>
            <a:ext cx="3687958" cy="315955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4D6970B8-5C1C-3748-9EAD-2CAF5EE90C4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86812" y="3786899"/>
            <a:ext cx="3687959" cy="1640781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4BAB826F-318B-4005-56CA-B43D0DAB288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27018" y="3819539"/>
            <a:ext cx="3664138" cy="2197213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64E4CDC6-7981-AF65-FD10-443D5254BD4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55689" y="5477561"/>
            <a:ext cx="2176898" cy="101301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4F6CB-4AA2-A66B-1B64-37AFB7B3C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E033204-81C6-D5BB-68AB-A63FAD281BE7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8C842F-5458-76E8-026A-50F82A927584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A8B909-2919-68EA-AA01-056E30D6EB58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</a:t>
            </a:r>
            <a:endParaRPr sz="2400" b="1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65C4A5-3859-B1EC-5664-769E1306B44D}"/>
              </a:ext>
            </a:extLst>
          </p:cNvPr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67679B-7AFE-B558-C00F-5C4960BAD4F0}"/>
              </a:ext>
            </a:extLst>
          </p:cNvPr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73F141-A8B8-7BEF-21A2-2CA273C92628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A49512E-80CB-95B3-2800-D02DB9FFE096}"/>
              </a:ext>
            </a:extLst>
          </p:cNvPr>
          <p:cNvSpPr/>
          <p:nvPr/>
        </p:nvSpPr>
        <p:spPr>
          <a:xfrm>
            <a:off x="365760" y="1078992"/>
            <a:ext cx="1920240" cy="329184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6AB2B0-3A80-BCB2-49C6-A6A94EBEDC2E}"/>
              </a:ext>
            </a:extLst>
          </p:cNvPr>
          <p:cNvSpPr txBox="1"/>
          <p:nvPr/>
        </p:nvSpPr>
        <p:spPr>
          <a:xfrm>
            <a:off x="365760" y="1078992"/>
            <a:ext cx="19202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Koolitaja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6C2B8DBE-0644-E7FC-298A-138A68BB79D1}"/>
              </a:ext>
            </a:extLst>
          </p:cNvPr>
          <p:cNvSpPr/>
          <p:nvPr/>
        </p:nvSpPr>
        <p:spPr>
          <a:xfrm>
            <a:off x="365760" y="1554480"/>
            <a:ext cx="1131824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BF5C9C-7CF9-734A-0948-02F17B80B7BC}"/>
              </a:ext>
            </a:extLst>
          </p:cNvPr>
          <p:cNvSpPr txBox="1"/>
          <p:nvPr/>
        </p:nvSpPr>
        <p:spPr>
          <a:xfrm>
            <a:off x="1728409" y="288607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800" b="1" dirty="0" err="1">
                <a:solidFill>
                  <a:schemeClr val="bg1"/>
                </a:solidFill>
                <a:latin typeface="Calibri"/>
              </a:rPr>
              <a:t>Teise</a:t>
            </a:r>
            <a:r>
              <a:rPr lang="en-GB" sz="1800" b="1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1800" b="1" dirty="0" err="1">
                <a:solidFill>
                  <a:schemeClr val="bg1"/>
                </a:solidFill>
                <a:latin typeface="Calibri"/>
              </a:rPr>
              <a:t>branchi</a:t>
            </a:r>
            <a:r>
              <a:rPr lang="en-GB" sz="1800" b="1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1800" b="1" dirty="0" err="1">
                <a:solidFill>
                  <a:schemeClr val="bg1"/>
                </a:solidFill>
                <a:latin typeface="Calibri"/>
              </a:rPr>
              <a:t>tegemine</a:t>
            </a:r>
            <a:endParaRPr lang="en-GB" sz="1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E75B0C-A499-2196-7EDC-18C765821DBB}"/>
              </a:ext>
            </a:extLst>
          </p:cNvPr>
          <p:cNvSpPr txBox="1"/>
          <p:nvPr/>
        </p:nvSpPr>
        <p:spPr>
          <a:xfrm>
            <a:off x="594359" y="2148840"/>
            <a:ext cx="965030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Veebis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branch ‘dev’</a:t>
            </a:r>
          </a:p>
          <a:p>
            <a:pPr>
              <a:spcAft>
                <a:spcPts val="800"/>
              </a:spcAft>
            </a:pP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Desktopis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tõmba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branch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arvutisse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</a:p>
          <a:p>
            <a:pPr>
              <a:spcAft>
                <a:spcPts val="8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tekstifail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github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kausta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kuhu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repo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tegid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) 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1500" dirty="0" err="1">
                <a:solidFill>
                  <a:srgbClr val="334155"/>
                </a:solidFill>
                <a:latin typeface="Calibri"/>
              </a:rPr>
              <a:t>Näed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lisandunud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faili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Tee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failis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muudatus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.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Märgista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soovitud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muudatused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. </a:t>
            </a:r>
          </a:p>
          <a:p>
            <a:pPr>
              <a:spcAft>
                <a:spcPts val="800"/>
              </a:spcAft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Pane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kommentaar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vajuta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Commit to ‘dev’</a:t>
            </a:r>
          </a:p>
          <a:p>
            <a:pPr>
              <a:spcAft>
                <a:spcPts val="800"/>
              </a:spcAft>
            </a:pPr>
            <a:r>
              <a:rPr lang="en-GB" sz="1500" dirty="0" err="1">
                <a:solidFill>
                  <a:srgbClr val="334155"/>
                </a:solidFill>
                <a:latin typeface="Calibri"/>
              </a:rPr>
              <a:t>Vajuta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‘Push Origin’</a:t>
            </a:r>
          </a:p>
          <a:p>
            <a:pPr>
              <a:spcAft>
                <a:spcPts val="800"/>
              </a:spcAft>
            </a:pPr>
            <a:r>
              <a:rPr lang="en-GB" sz="1500" dirty="0" err="1">
                <a:solidFill>
                  <a:srgbClr val="334155"/>
                </a:solidFill>
                <a:latin typeface="Calibri"/>
              </a:rPr>
              <a:t>Vajuta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‘Preview Pull request’</a:t>
            </a:r>
          </a:p>
          <a:p>
            <a:pPr>
              <a:spcAft>
                <a:spcPts val="8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229482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0ADEA6-452B-D33C-FE72-D5280A3C5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997A8CE-BC2A-4059-760D-0B54BED3E340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9DE1AB6-1270-EA7E-9E52-45FB0B2228F8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5918EE-1FE6-BC45-B0B6-DA0EF6B49AD2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</a:rPr>
              <a:t>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66EF75F-B4F0-426A-78E5-CBBFBFF7B90A}"/>
              </a:ext>
            </a:extLst>
          </p:cNvPr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C7C6D6-0FF7-D0BD-1073-5BD10D0888B0}"/>
              </a:ext>
            </a:extLst>
          </p:cNvPr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1D47C6-DDE5-7AA7-CE05-6A261DDBB658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233A25DE-0C8A-178A-97BD-7ABAA30CE2FE}"/>
              </a:ext>
            </a:extLst>
          </p:cNvPr>
          <p:cNvSpPr/>
          <p:nvPr/>
        </p:nvSpPr>
        <p:spPr>
          <a:xfrm>
            <a:off x="365760" y="1078992"/>
            <a:ext cx="1920240" cy="329184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4FA656-D32B-5984-164B-E2233FC0B3EC}"/>
              </a:ext>
            </a:extLst>
          </p:cNvPr>
          <p:cNvSpPr txBox="1"/>
          <p:nvPr/>
        </p:nvSpPr>
        <p:spPr>
          <a:xfrm>
            <a:off x="365760" y="1078992"/>
            <a:ext cx="19202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Koolitaja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147ED9D-2F75-ACD7-A79C-DC3B49B6DCD5}"/>
              </a:ext>
            </a:extLst>
          </p:cNvPr>
          <p:cNvSpPr/>
          <p:nvPr/>
        </p:nvSpPr>
        <p:spPr>
          <a:xfrm>
            <a:off x="365760" y="1554480"/>
            <a:ext cx="1131824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C255D6-7353-2174-2EA7-5F9C2BDFE627}"/>
              </a:ext>
            </a:extLst>
          </p:cNvPr>
          <p:cNvSpPr txBox="1"/>
          <p:nvPr/>
        </p:nvSpPr>
        <p:spPr>
          <a:xfrm>
            <a:off x="1728409" y="288607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800" b="1" dirty="0" err="1">
                <a:solidFill>
                  <a:schemeClr val="bg1"/>
                </a:solidFill>
                <a:latin typeface="Calibri"/>
              </a:rPr>
              <a:t>Teise</a:t>
            </a:r>
            <a:r>
              <a:rPr lang="en-GB" sz="1800" b="1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1800" b="1" dirty="0" err="1">
                <a:solidFill>
                  <a:schemeClr val="bg1"/>
                </a:solidFill>
                <a:latin typeface="Calibri"/>
              </a:rPr>
              <a:t>branchi</a:t>
            </a:r>
            <a:r>
              <a:rPr lang="en-GB" sz="1800" b="1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1800" b="1" dirty="0" err="1">
                <a:solidFill>
                  <a:schemeClr val="bg1"/>
                </a:solidFill>
                <a:latin typeface="Calibri"/>
              </a:rPr>
              <a:t>tegemine</a:t>
            </a:r>
            <a:endParaRPr lang="en-GB" sz="1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DF415C-2621-07E2-0E2A-27325A0FCA55}"/>
              </a:ext>
            </a:extLst>
          </p:cNvPr>
          <p:cNvSpPr txBox="1"/>
          <p:nvPr/>
        </p:nvSpPr>
        <p:spPr>
          <a:xfrm>
            <a:off x="594359" y="2148840"/>
            <a:ext cx="9650307" cy="4657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Veebis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branch ‘dev’</a:t>
            </a:r>
          </a:p>
          <a:p>
            <a:pPr>
              <a:spcAft>
                <a:spcPts val="800"/>
              </a:spcAft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Desktopis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tõmba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branch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arvutisse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</a:p>
          <a:p>
            <a:pPr>
              <a:spcAft>
                <a:spcPts val="8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tekstifail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github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kausta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kuhu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repo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tegid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) </a:t>
            </a: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1500" dirty="0" err="1">
                <a:solidFill>
                  <a:srgbClr val="334155"/>
                </a:solidFill>
                <a:latin typeface="Calibri"/>
              </a:rPr>
              <a:t>Näed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lisandunud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faili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.</a:t>
            </a: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Tee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failis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muudatus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.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Märgista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soovitud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muudatused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</a:p>
          <a:p>
            <a:pPr>
              <a:spcAft>
                <a:spcPts val="800"/>
              </a:spcAft>
            </a:pPr>
            <a:r>
              <a:rPr lang="en-GB" sz="150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pane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kommentaar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vajuta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Commit to ‘dev’</a:t>
            </a:r>
          </a:p>
          <a:p>
            <a:pPr>
              <a:spcAft>
                <a:spcPts val="800"/>
              </a:spcAft>
            </a:pPr>
            <a:r>
              <a:rPr lang="en-GB" sz="1500" dirty="0" err="1">
                <a:solidFill>
                  <a:srgbClr val="334155"/>
                </a:solidFill>
                <a:latin typeface="Calibri"/>
              </a:rPr>
              <a:t>Vajuta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‘Push Origin’</a:t>
            </a:r>
          </a:p>
          <a:p>
            <a:pPr>
              <a:spcAft>
                <a:spcPts val="8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26A4ECE-B3FA-6630-607B-A75230B448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274" y="1038014"/>
            <a:ext cx="4840475" cy="188332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84546DA-271E-ADE9-C9F0-4C92546B15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7608" y="1008072"/>
            <a:ext cx="1709198" cy="2868407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20EF387-1643-75BE-EEDB-A50F8B8589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550" y="2954606"/>
            <a:ext cx="3157517" cy="630679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958EF5F-174F-15E1-0090-5ACE484461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9435" y="3585285"/>
            <a:ext cx="1285445" cy="96408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6C72E74-AAFB-CC4E-A8DB-06ACA817CA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28409" y="4101751"/>
            <a:ext cx="2752151" cy="784735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E74597C8-DDC5-3402-CD84-FE161FAD5C8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9576" y="3809405"/>
            <a:ext cx="3790380" cy="2650031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53B9AFBA-75C2-A940-EF41-DFB1CA5C37E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87251" y="5789656"/>
            <a:ext cx="1423299" cy="527249"/>
          </a:xfrm>
          <a:prstGeom prst="rect">
            <a:avLst/>
          </a:prstGeom>
        </p:spPr>
      </p:pic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70AE872-C3B9-E218-6535-EEE997BE7C91}"/>
              </a:ext>
            </a:extLst>
          </p:cNvPr>
          <p:cNvCxnSpPr/>
          <p:nvPr/>
        </p:nvCxnSpPr>
        <p:spPr>
          <a:xfrm>
            <a:off x="4368800" y="5647267"/>
            <a:ext cx="2294467" cy="6696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24416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B0777-A0E0-F67E-EE8C-F107DA07E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E1A3B87-665F-422C-B8A2-67D3C6685B7A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5EEBF20-DC2D-708E-9329-4C8C914774A0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721361-07DF-10EE-9FBE-847E7C9914E9}"/>
              </a:ext>
            </a:extLst>
          </p:cNvPr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>
                <a:solidFill>
                  <a:srgbClr val="FFFFFF"/>
                </a:solidFill>
                <a:latin typeface="Calibri"/>
              </a:rPr>
              <a:t>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3436FD0-C857-B4A8-F1A9-0EC46D3BAF9C}"/>
              </a:ext>
            </a:extLst>
          </p:cNvPr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D05E35-8098-F3EF-A939-2FA4B5445767}"/>
              </a:ext>
            </a:extLst>
          </p:cNvPr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7F6AD3-9352-4EE5-0268-02FAB54395F0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9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7439BC8-9430-FE61-E44B-78C6D804242F}"/>
              </a:ext>
            </a:extLst>
          </p:cNvPr>
          <p:cNvSpPr/>
          <p:nvPr/>
        </p:nvSpPr>
        <p:spPr>
          <a:xfrm>
            <a:off x="365760" y="1078992"/>
            <a:ext cx="1920240" cy="329184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9A7D54-BC2F-DAE2-5477-F159266D07C1}"/>
              </a:ext>
            </a:extLst>
          </p:cNvPr>
          <p:cNvSpPr txBox="1"/>
          <p:nvPr/>
        </p:nvSpPr>
        <p:spPr>
          <a:xfrm>
            <a:off x="365760" y="1078992"/>
            <a:ext cx="19202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Proovi ise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E0C628-6E19-95A4-7DAE-4412D232D12C}"/>
              </a:ext>
            </a:extLst>
          </p:cNvPr>
          <p:cNvSpPr txBox="1"/>
          <p:nvPr/>
        </p:nvSpPr>
        <p:spPr>
          <a:xfrm>
            <a:off x="365760" y="155448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Tee oma masinas: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552C61C-DE63-A3B4-272F-4245450A8286}"/>
              </a:ext>
            </a:extLst>
          </p:cNvPr>
          <p:cNvSpPr/>
          <p:nvPr/>
        </p:nvSpPr>
        <p:spPr>
          <a:xfrm>
            <a:off x="365760" y="2011680"/>
            <a:ext cx="11430000" cy="4251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56E61F-CD26-C7C1-7644-AA12F8BACDA3}"/>
              </a:ext>
            </a:extLst>
          </p:cNvPr>
          <p:cNvSpPr txBox="1"/>
          <p:nvPr/>
        </p:nvSpPr>
        <p:spPr>
          <a:xfrm>
            <a:off x="640080" y="2221992"/>
            <a:ext cx="1097280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endParaRPr sz="20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2000" b="0" dirty="0">
                <a:solidFill>
                  <a:srgbClr val="334155"/>
                </a:solidFill>
                <a:latin typeface="Calibri"/>
              </a:rPr>
              <a:t>4.  Tee </a:t>
            </a:r>
            <a:r>
              <a:rPr sz="2000" b="0" dirty="0" err="1">
                <a:solidFill>
                  <a:srgbClr val="334155"/>
                </a:solidFill>
                <a:latin typeface="Calibri"/>
              </a:rPr>
              <a:t>lühike</a:t>
            </a:r>
            <a:r>
              <a:rPr sz="20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334155"/>
                </a:solidFill>
                <a:latin typeface="Calibri"/>
              </a:rPr>
              <a:t>tekstifail</a:t>
            </a:r>
            <a:r>
              <a:rPr sz="2000" b="0" dirty="0">
                <a:solidFill>
                  <a:srgbClr val="334155"/>
                </a:solidFill>
                <a:latin typeface="Calibri"/>
              </a:rPr>
              <a:t> (.txt) ja tee commit.</a:t>
            </a:r>
          </a:p>
          <a:p>
            <a:pPr>
              <a:spcAft>
                <a:spcPts val="800"/>
              </a:spcAft>
            </a:pPr>
            <a:r>
              <a:rPr sz="2000" b="0" dirty="0">
                <a:solidFill>
                  <a:srgbClr val="334155"/>
                </a:solidFill>
                <a:latin typeface="Calibri"/>
              </a:rPr>
              <a:t>5.  </a:t>
            </a:r>
            <a:r>
              <a:rPr sz="2000" b="0" dirty="0" err="1">
                <a:solidFill>
                  <a:srgbClr val="334155"/>
                </a:solidFill>
                <a:latin typeface="Calibri"/>
              </a:rPr>
              <a:t>Muuda</a:t>
            </a:r>
            <a:r>
              <a:rPr sz="20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334155"/>
                </a:solidFill>
                <a:latin typeface="Calibri"/>
              </a:rPr>
              <a:t>sama</a:t>
            </a:r>
            <a:r>
              <a:rPr sz="20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334155"/>
                </a:solidFill>
                <a:latin typeface="Calibri"/>
              </a:rPr>
              <a:t>faili</a:t>
            </a:r>
            <a:r>
              <a:rPr sz="2000" b="0" dirty="0">
                <a:solidFill>
                  <a:srgbClr val="334155"/>
                </a:solidFill>
                <a:latin typeface="Calibri"/>
              </a:rPr>
              <a:t> ja tee </a:t>
            </a:r>
            <a:r>
              <a:rPr sz="2000" b="0" dirty="0" err="1">
                <a:solidFill>
                  <a:srgbClr val="334155"/>
                </a:solidFill>
                <a:latin typeface="Calibri"/>
              </a:rPr>
              <a:t>teine</a:t>
            </a:r>
            <a:r>
              <a:rPr sz="2000" b="0" dirty="0">
                <a:solidFill>
                  <a:srgbClr val="334155"/>
                </a:solidFill>
                <a:latin typeface="Calibri"/>
              </a:rPr>
              <a:t> commit.</a:t>
            </a:r>
          </a:p>
          <a:p>
            <a:pPr>
              <a:spcAft>
                <a:spcPts val="800"/>
              </a:spcAft>
            </a:pPr>
            <a:r>
              <a:rPr sz="2000" b="0" dirty="0">
                <a:solidFill>
                  <a:srgbClr val="334155"/>
                </a:solidFill>
                <a:latin typeface="Calibri"/>
              </a:rPr>
              <a:t>6.  Sync / Publish / Push — ava github.com ja </a:t>
            </a:r>
            <a:r>
              <a:rPr sz="2000" b="0" dirty="0" err="1">
                <a:solidFill>
                  <a:srgbClr val="334155"/>
                </a:solidFill>
                <a:latin typeface="Calibri"/>
              </a:rPr>
              <a:t>veendu</a:t>
            </a:r>
            <a:r>
              <a:rPr sz="2000" b="0" dirty="0">
                <a:solidFill>
                  <a:srgbClr val="334155"/>
                </a:solidFill>
                <a:latin typeface="Calibri"/>
              </a:rPr>
              <a:t>, et fail on repos.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63AD47F6-4ABC-DE4D-E035-8F8696BC2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1764" y="2995994"/>
            <a:ext cx="3687958" cy="315955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A927CCFB-5E63-0F2A-B05D-980A220918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3949340"/>
            <a:ext cx="2426342" cy="145494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6315EFB-0E94-CA39-887A-87161A0244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4733" y="3005971"/>
            <a:ext cx="5835114" cy="1210081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6BA8881-0F01-F74D-58E8-30143D3702A2}"/>
              </a:ext>
            </a:extLst>
          </p:cNvPr>
          <p:cNvSpPr txBox="1"/>
          <p:nvPr/>
        </p:nvSpPr>
        <p:spPr>
          <a:xfrm>
            <a:off x="6731000" y="5280935"/>
            <a:ext cx="6096000" cy="9900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Desktop: Changes. Summary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«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esimene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fail». Commit to main.</a:t>
            </a:r>
          </a:p>
          <a:p>
            <a:pPr>
              <a:spcAft>
                <a:spcPts val="8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4. 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Muuda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sama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faili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salvesta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. Commit. Push origin.</a:t>
            </a:r>
          </a:p>
          <a:p>
            <a:pPr>
              <a:spcAft>
                <a:spcPts val="8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5.  Ava github.com →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oma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repo → fail on sees,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teine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versioon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Historys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701194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Valmis, kui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234440"/>
            <a:ext cx="1143000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234440"/>
            <a:ext cx="868680" cy="8686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123444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1234440"/>
            <a:ext cx="101498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F203E"/>
                </a:solidFill>
                <a:latin typeface="Calibri"/>
              </a:rPr>
              <a:t>github.com-is on sinu kasutaja.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221992"/>
            <a:ext cx="1143000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65760" y="2221992"/>
            <a:ext cx="868680" cy="8686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5760" y="222199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2221992"/>
            <a:ext cx="101498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F203E"/>
                </a:solidFill>
                <a:latin typeface="Calibri"/>
              </a:rPr>
              <a:t>GitHub Desktop on avatud ja sisse logitud.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209544"/>
            <a:ext cx="1143000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65760" y="3209544"/>
            <a:ext cx="868680" cy="8686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5760" y="3209544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209544"/>
            <a:ext cx="101498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F203E"/>
                </a:solidFill>
                <a:latin typeface="Calibri"/>
              </a:rPr>
              <a:t>Repo on näha nii Desktopis kui github.com-is.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4197096"/>
            <a:ext cx="1143000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65760" y="4197096"/>
            <a:ext cx="868680" cy="8686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5760" y="4197096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4197096"/>
            <a:ext cx="101498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F203E"/>
                </a:solidFill>
                <a:latin typeface="Calibri"/>
              </a:rPr>
              <a:t>Tekstifailil on kaks commitit (esimene + muudatus).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5184648"/>
            <a:ext cx="1143000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65760" y="5184648"/>
            <a:ext cx="868680" cy="8686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5760" y="5184648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5184648"/>
            <a:ext cx="101498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F203E"/>
                </a:solidFill>
                <a:latin typeface="Calibri"/>
              </a:rPr>
              <a:t>Viimane versioon on veebis, mitte ainult arvutis.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1483</TotalTime>
  <Words>823</Words>
  <Application>Microsoft Office PowerPoint</Application>
  <PresentationFormat>Widescreen</PresentationFormat>
  <Paragraphs>135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</vt:lpstr>
      <vt:lpstr>Arial</vt:lpstr>
      <vt:lpstr>Calibri</vt:lpstr>
      <vt:lpstr>Google Sans</vt:lpstr>
      <vt:lpstr>Inter</vt:lpstr>
      <vt:lpstr>Office Theme</vt:lpstr>
      <vt:lpstr>Päevakava - XV päev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Emilie Abel</cp:lastModifiedBy>
  <cp:revision>5</cp:revision>
  <dcterms:created xsi:type="dcterms:W3CDTF">2013-01-27T09:14:16Z</dcterms:created>
  <dcterms:modified xsi:type="dcterms:W3CDTF">2026-09-17T13:44:20Z</dcterms:modified>
  <cp:category/>
</cp:coreProperties>
</file>