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417" r:id="rId5"/>
    <p:sldId id="544" r:id="rId6"/>
    <p:sldId id="607" r:id="rId7"/>
    <p:sldId id="608" r:id="rId8"/>
    <p:sldId id="609" r:id="rId9"/>
    <p:sldId id="589" r:id="rId10"/>
    <p:sldId id="590" r:id="rId11"/>
    <p:sldId id="591" r:id="rId12"/>
    <p:sldId id="605" r:id="rId13"/>
    <p:sldId id="592" r:id="rId14"/>
    <p:sldId id="594" r:id="rId15"/>
    <p:sldId id="604" r:id="rId16"/>
    <p:sldId id="595" r:id="rId17"/>
    <p:sldId id="593" r:id="rId18"/>
    <p:sldId id="596" r:id="rId19"/>
    <p:sldId id="598" r:id="rId20"/>
    <p:sldId id="599" r:id="rId21"/>
    <p:sldId id="600" r:id="rId22"/>
    <p:sldId id="601" r:id="rId23"/>
    <p:sldId id="602" r:id="rId24"/>
    <p:sldId id="606" r:id="rId25"/>
  </p:sldIdLst>
  <p:sldSz cx="12192000" cy="6858000"/>
  <p:notesSz cx="6858000" cy="9144000"/>
  <p:embeddedFontLst>
    <p:embeddedFont>
      <p:font typeface="Consolas" panose="020B0609020204030204" pitchFamily="49" charset="0"/>
      <p:regular r:id="rId28"/>
      <p:bold r:id="rId29"/>
      <p:italic r:id="rId30"/>
      <p:boldItalic r:id="rId31"/>
    </p:embeddedFont>
    <p:embeddedFont>
      <p:font typeface="Inter" panose="020B0604020202020204" charset="0"/>
      <p:regular r:id="rId32"/>
      <p:bold r:id="rId33"/>
      <p:italic r:id="rId34"/>
      <p:boldItalic r:id="rId35"/>
    </p:embeddedFont>
    <p:embeddedFont>
      <p:font typeface="Inter Bold" panose="020B0604020202020204" charset="0"/>
      <p:bold r:id="rId36"/>
    </p:embeddedFont>
    <p:embeddedFont>
      <p:font typeface="Poppins SemiBold" panose="00000700000000000000" pitchFamily="2" charset="-70"/>
      <p:bold r:id="rId37"/>
      <p:boldItalic r:id="rId3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989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font" Target="fonts/font7.fntdata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2.fntdata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29.08.2026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29.08.2026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linkedin.com/safety/go/?url=https%3A%2F%2Flnkd%2Ein%2FdEjYPJwU&amp;urlhash=C7Jz&amp;mt=qtaS-rvUithp4RlW2ltqmuQZaSR3Vh8jh59knduxr7oms4SvpuV_ePe-s6WNuvfeTfebFiWhb0ukRXv72Fs0Pps6mqSszrJwe9CNRV6fapn7gFPH0xskGaW9IA&amp;isSdui=true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learn.microsoft.com/en-us/credentials/certifications/data-analyst-associate/?practice-assessment-type=certification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19A6-DCE9-EA22-C881-DEB1096AA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5BDE-11A9-1070-B66F-ACDB952A54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54F4C5-8A9F-F004-8F6C-428D0A8B473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418933935"/>
              </p:ext>
            </p:extLst>
          </p:nvPr>
        </p:nvGraphicFramePr>
        <p:xfrm>
          <a:off x="623888" y="1268413"/>
          <a:ext cx="10941050" cy="44352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Personaliosakonna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andmestik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Aktiivsete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töötajate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Lahkunud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töötajate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-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Rahulolu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küsitluse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tulemused</a:t>
                      </a:r>
                      <a:endParaRPr lang="en-US" sz="24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arutelu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716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6EF2D-5F17-D5FE-9F17-431AFB34A9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dirty="0">
                <a:hlinkClick r:id="rId2"/>
              </a:rPr>
              <a:t>https://lnkd.in/dEjYPJwU</a:t>
            </a:r>
            <a:endParaRPr lang="et-E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EE95383-DF4F-1E85-BF8C-61142D94733E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623888" y="1196181"/>
            <a:ext cx="591082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004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CBFD7-25DF-FE47-6699-72A2E22BE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267F5-F1BA-CCF4-191C-0FC44270F3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5C43A-8988-3CE6-80D0-769810CA8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1" y="224303"/>
            <a:ext cx="481711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376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DBAAE-D5E8-07A0-2DA7-4591A75F7B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Soovituslikud materjalid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AAA36-50E7-94BE-049E-85EBF6FB02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Power BI Microsoft Learn koolitus </a:t>
            </a:r>
            <a:br>
              <a:rPr lang="et-EE" dirty="0"/>
            </a:br>
            <a:r>
              <a:rPr lang="et-EE" dirty="0">
                <a:hlinkClick r:id="rId2"/>
              </a:rPr>
              <a:t>https://learn.microsoft.com/en-us/credentials/certifications/data-analyst-associate/?practice-assessment-type=certification</a:t>
            </a:r>
            <a:br>
              <a:rPr lang="et-EE" dirty="0"/>
            </a:br>
            <a:br>
              <a:rPr lang="et-EE" dirty="0"/>
            </a:br>
            <a:br>
              <a:rPr lang="et-EE" dirty="0"/>
            </a:br>
            <a:br>
              <a:rPr lang="et-EE" dirty="0"/>
            </a:br>
            <a:endParaRPr lang="et-EE" dirty="0"/>
          </a:p>
          <a:p>
            <a:r>
              <a:rPr lang="et-EE" dirty="0"/>
              <a:t>Raamat The Data Warehouse Toolkit, Ralph Kimball</a:t>
            </a:r>
            <a:br>
              <a:rPr lang="et-EE" dirty="0"/>
            </a:br>
            <a:r>
              <a:rPr lang="et-EE" b="1" dirty="0"/>
              <a:t>„The Data Warehouse Toolkit“</a:t>
            </a:r>
            <a:r>
              <a:rPr lang="et-EE" dirty="0"/>
              <a:t> on Ralph Kimballi kirjutatud andmelao disaini </a:t>
            </a:r>
            <a:br>
              <a:rPr lang="et-EE" dirty="0"/>
            </a:br>
            <a:r>
              <a:rPr lang="et-EE" dirty="0"/>
              <a:t>käsiraamat, mida peetakse dimensioonilise modelleerimise ja </a:t>
            </a:r>
            <a:br>
              <a:rPr lang="et-EE" dirty="0"/>
            </a:br>
            <a:r>
              <a:rPr lang="et-EE" dirty="0"/>
              <a:t>tähetüüpi skeemi (star schema) ülemaailmseks standardiks. </a:t>
            </a:r>
            <a:br>
              <a:rPr lang="et-EE" dirty="0"/>
            </a:br>
            <a:r>
              <a:rPr lang="et-EE" dirty="0"/>
              <a:t>Raamat õpetab äriprotsesse tõhusalt andmetabeliteks struktureerima, et </a:t>
            </a:r>
            <a:br>
              <a:rPr lang="et-EE" dirty="0"/>
            </a:br>
            <a:r>
              <a:rPr lang="et-EE" dirty="0"/>
              <a:t>tagada infosüsteemides kiire päringute jõudlus ja kasutajasõbralik aruandlus.</a:t>
            </a:r>
          </a:p>
          <a:p>
            <a:endParaRPr lang="et-EE" dirty="0"/>
          </a:p>
          <a:p>
            <a:endParaRPr lang="et-EE" dirty="0"/>
          </a:p>
          <a:p>
            <a:endParaRPr lang="et-EE" dirty="0"/>
          </a:p>
        </p:txBody>
      </p:sp>
      <p:pic>
        <p:nvPicPr>
          <p:cNvPr id="4" name="Picture 3" descr="The Data Warehouse Toolkit, 3rd Edition">
            <a:extLst>
              <a:ext uri="{FF2B5EF4-FFF2-40B4-BE49-F238E27FC236}">
                <a16:creationId xmlns:a16="http://schemas.microsoft.com/office/drawing/2014/main" id="{1A2062F4-0C0B-6A58-7CEC-239EF0EFB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76" y="4793456"/>
            <a:ext cx="1280659" cy="15849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8AE414-8736-3160-6B39-3EF403371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705" y="2059781"/>
            <a:ext cx="3689378" cy="375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280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8DC20-E201-D5F2-3273-1BA2B51C6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E522-8E04-2952-58EF-F17BB863F8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Personaliosakond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probleemi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püstitus</a:t>
            </a:r>
            <a:endParaRPr lang="en-US" sz="36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54E90-61EC-06AA-D6ED-1B1A7B0E04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aktiivseid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töötajaid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osakondade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kaupa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staaži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gruppide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kaupa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lahkunud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töötajaid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omal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algatusel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ettevõtte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algatusel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Kuidas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rahulolu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69106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B99CE-1848-5A31-1906-07FCEE7A5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92D4E-361F-7000-4B5D-6F2065AE58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Personaliosakond</a:t>
            </a:r>
            <a:r>
              <a:rPr lang="en-US" sz="3600" b="1">
                <a:ea typeface="+mj-lt"/>
                <a:cs typeface="+mj-lt"/>
              </a:rPr>
              <a:t> – andmestik </a:t>
            </a:r>
            <a:endParaRPr lang="en-US" sz="36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98CB17-1EB8-3F89-A7E4-ED297E3825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Lae alla </a:t>
            </a:r>
            <a:r>
              <a:rPr lang="en-US" sz="2000" dirty="0" err="1">
                <a:ea typeface="Inter"/>
              </a:rPr>
              <a:t>alliktabel</a:t>
            </a:r>
            <a:r>
              <a:rPr lang="en-US" sz="2000" dirty="0">
                <a:ea typeface="Inter"/>
              </a:rPr>
              <a:t>: Day5 --&gt; </a:t>
            </a:r>
            <a:r>
              <a:rPr lang="en-US" sz="2000" dirty="0" err="1">
                <a:ea typeface="Inter"/>
              </a:rPr>
              <a:t>HR_dataset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Lae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Power BI-</a:t>
            </a:r>
            <a:r>
              <a:rPr lang="en-US" sz="2000" dirty="0" err="1">
                <a:ea typeface="Inter"/>
              </a:rPr>
              <a:t>sse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Vaata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tulbad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vormistus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Mis </a:t>
            </a:r>
            <a:r>
              <a:rPr lang="en-US" sz="2000" dirty="0" err="1">
                <a:ea typeface="Inter"/>
              </a:rPr>
              <a:t>dimensioone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oleks</a:t>
            </a:r>
            <a:r>
              <a:rPr lang="en-US" sz="2000" dirty="0">
                <a:ea typeface="Inter"/>
              </a:rPr>
              <a:t>?</a:t>
            </a:r>
            <a:endParaRPr lang="en-US" sz="2000" dirty="0"/>
          </a:p>
          <a:p>
            <a:pPr marL="102870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Kalendritabel</a:t>
            </a:r>
            <a:endParaRPr lang="en-US" sz="2000" dirty="0"/>
          </a:p>
          <a:p>
            <a:pPr marL="1771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New table</a:t>
            </a:r>
          </a:p>
          <a:p>
            <a:pPr marL="1771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DateTable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= CALENDAR ( MIN('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HR_dataset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'[Hire Date]), TODAY() )</a:t>
            </a: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>
              <a:solidFill>
                <a:srgbClr val="121212"/>
              </a:solidFill>
              <a:latin typeface="Inter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5195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EC416-9C7F-78C5-E121-51A8E8A01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4349-5E7B-586C-2DC9-996869E4FD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Töötajate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arv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aja</a:t>
            </a:r>
            <a:r>
              <a:rPr lang="en-US" sz="3600" b="1">
                <a:ea typeface="+mj-lt"/>
                <a:cs typeface="+mj-lt"/>
              </a:rPr>
              <a:t>  </a:t>
            </a:r>
            <a:r>
              <a:rPr lang="en-US" sz="3600" b="1" err="1">
                <a:ea typeface="+mj-lt"/>
                <a:cs typeface="+mj-lt"/>
              </a:rPr>
              <a:t>lõikes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857962-58CB-7E44-74C7-8FC02CB315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00000"/>
              </a:lnSpc>
              <a:buClr>
                <a:srgbClr val="121212"/>
              </a:buClr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Olemas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liitumise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kuupäev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lahkumise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kuupäev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- kuidas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leida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töötajate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arv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ajas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?</a:t>
            </a:r>
            <a:endParaRPr lang="en-US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</a:rPr>
              <a:t>Mõõdiku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</a:rPr>
              <a:t>loogika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</a:rPr>
              <a:t>: </a:t>
            </a:r>
            <a:endParaRPr lang="en-US" sz="2000" dirty="0">
              <a:solidFill>
                <a:srgbClr val="121212"/>
              </a:solidFill>
              <a:latin typeface="Inter"/>
            </a:endParaRPr>
          </a:p>
          <a:p>
            <a:pPr marL="1143000" lvl="1">
              <a:lnSpc>
                <a:spcPct val="150000"/>
              </a:lnSpc>
            </a:pPr>
            <a:r>
              <a:rPr lang="en-US" sz="2000" dirty="0" err="1">
                <a:ea typeface="Inter"/>
              </a:rPr>
              <a:t>Viimane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kuupäev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ridade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arv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liitumiskuupäeva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lahkumiskuupäeva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vahel</a:t>
            </a:r>
            <a:endParaRPr lang="en-US" sz="2000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Mõõdik</a:t>
            </a:r>
            <a:r>
              <a:rPr lang="en-US" sz="2000" dirty="0">
                <a:ea typeface="Inter"/>
              </a:rPr>
              <a:t>:</a:t>
            </a:r>
            <a:endParaRPr lang="en-US" sz="2000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   Active Employees = </a:t>
            </a:r>
            <a:endParaRPr lang="en-US" dirty="0">
              <a:solidFill>
                <a:srgbClr val="000000"/>
              </a:solidFill>
              <a:latin typeface="Consolas"/>
            </a:endParaRPr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FF"/>
                </a:solidFill>
                <a:latin typeface="Consolas"/>
                <a:ea typeface="+mn-lt"/>
                <a:cs typeface="+mn-lt"/>
              </a:rPr>
              <a:t>   VAR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dirty="0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MAX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DateTable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</a:t>
            </a:r>
            <a:r>
              <a:rPr lang="en-US" dirty="0">
                <a:solidFill>
                  <a:srgbClr val="0000FF"/>
                </a:solidFill>
                <a:latin typeface="Consolas"/>
                <a:ea typeface="+mn-lt"/>
                <a:cs typeface="+mn-lt"/>
              </a:rPr>
              <a:t>  RETURN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CALCULATE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COUNTROWS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'[Hire 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&lt;= </a:t>
            </a:r>
            <a:r>
              <a:rPr lang="en-US" dirty="0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'[Leave 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&gt;= </a:t>
            </a:r>
            <a:r>
              <a:rPr lang="en-US" dirty="0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|| </a:t>
            </a:r>
            <a:r>
              <a:rPr lang="en-US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ISBLANK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'[Leave Date]</a:t>
            </a: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 )</a:t>
            </a:r>
            <a:endParaRPr lang="en-US" dirty="0"/>
          </a:p>
          <a:p>
            <a:pPr marL="0" indent="0">
              <a:buClr>
                <a:srgbClr val="121212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)</a:t>
            </a:r>
            <a:br>
              <a:rPr lang="en-US" dirty="0"/>
            </a:br>
            <a:endParaRPr lang="en-US" dirty="0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/>
              <a:t>Aktiivsed</a:t>
            </a:r>
            <a:r>
              <a:rPr lang="en-US" sz="2000" dirty="0"/>
              <a:t> </a:t>
            </a:r>
            <a:r>
              <a:rPr lang="en-US" sz="2000" dirty="0" err="1"/>
              <a:t>Tootajad</a:t>
            </a:r>
            <a:r>
              <a:rPr lang="en-US" sz="2000" dirty="0"/>
              <a:t> = -- 1. SALVESTAME VALITUD PERIOODI VIIMASE KUUPÄEVA-- MAX </a:t>
            </a:r>
            <a:r>
              <a:rPr lang="en-US" sz="2000" dirty="0" err="1"/>
              <a:t>funktsioon</a:t>
            </a:r>
            <a:r>
              <a:rPr lang="en-US" sz="2000" dirty="0"/>
              <a:t> </a:t>
            </a:r>
            <a:r>
              <a:rPr lang="en-US" sz="2000" dirty="0" err="1"/>
              <a:t>leiab</a:t>
            </a:r>
            <a:r>
              <a:rPr lang="en-US" sz="2000" dirty="0"/>
              <a:t> </a:t>
            </a:r>
            <a:r>
              <a:rPr lang="en-US" sz="2000" dirty="0" err="1"/>
              <a:t>kalendritabelist</a:t>
            </a:r>
            <a:r>
              <a:rPr lang="en-US" sz="2000" dirty="0"/>
              <a:t> </a:t>
            </a:r>
            <a:r>
              <a:rPr lang="en-US" sz="2000" dirty="0" err="1"/>
              <a:t>viimase</a:t>
            </a:r>
            <a:r>
              <a:rPr lang="en-US" sz="2000" dirty="0"/>
              <a:t> </a:t>
            </a:r>
            <a:r>
              <a:rPr lang="en-US" sz="2000" dirty="0" err="1"/>
              <a:t>kuupäeva</a:t>
            </a:r>
            <a:r>
              <a:rPr lang="en-US" sz="2000" dirty="0"/>
              <a:t>, mis on hetkel </a:t>
            </a:r>
            <a:r>
              <a:rPr lang="en-US" sz="2000" dirty="0" err="1"/>
              <a:t>filtris</a:t>
            </a:r>
            <a:r>
              <a:rPr lang="en-US" sz="2000" dirty="0"/>
              <a:t> (</a:t>
            </a:r>
            <a:r>
              <a:rPr lang="en-US" sz="2000" dirty="0" err="1"/>
              <a:t>nt</a:t>
            </a:r>
            <a:r>
              <a:rPr lang="en-US" sz="2000" dirty="0"/>
              <a:t> </a:t>
            </a:r>
            <a:r>
              <a:rPr lang="en-US" sz="2000" dirty="0" err="1"/>
              <a:t>valitud</a:t>
            </a:r>
            <a:r>
              <a:rPr lang="en-US" sz="2000" dirty="0"/>
              <a:t> kuu </a:t>
            </a:r>
            <a:r>
              <a:rPr lang="en-US" sz="2000" dirty="0" err="1"/>
              <a:t>viimane</a:t>
            </a:r>
            <a:r>
              <a:rPr lang="en-US" sz="2000" dirty="0"/>
              <a:t> </a:t>
            </a:r>
            <a:r>
              <a:rPr lang="en-US" sz="2000" dirty="0" err="1"/>
              <a:t>päev</a:t>
            </a:r>
            <a:r>
              <a:rPr lang="en-US" sz="2000" dirty="0"/>
              <a:t>)VAR </a:t>
            </a:r>
            <a:r>
              <a:rPr lang="en-US" sz="2000" dirty="0" err="1"/>
              <a:t>LastVisibleDate</a:t>
            </a:r>
            <a:r>
              <a:rPr lang="en-US" sz="2000" dirty="0"/>
              <a:t> = MAX('</a:t>
            </a:r>
            <a:r>
              <a:rPr lang="en-US" sz="2000" dirty="0" err="1"/>
              <a:t>DateTable</a:t>
            </a:r>
            <a:r>
              <a:rPr lang="en-US" sz="2000" dirty="0"/>
              <a:t>'[Date])RETURN    -- 2. MUUDAME FILTRIKONTEKSTI ANDMETE LOENDAMISEKS    CALCULATE(        -- </a:t>
            </a:r>
            <a:r>
              <a:rPr lang="en-US" sz="2000" dirty="0" err="1"/>
              <a:t>Loendame</a:t>
            </a:r>
            <a:r>
              <a:rPr lang="en-US" sz="2000" dirty="0"/>
              <a:t> kokku </a:t>
            </a:r>
            <a:r>
              <a:rPr lang="en-US" sz="2000" dirty="0" err="1"/>
              <a:t>personalitabeli</a:t>
            </a:r>
            <a:r>
              <a:rPr lang="en-US" sz="2000" dirty="0"/>
              <a:t> read (</a:t>
            </a:r>
            <a:r>
              <a:rPr lang="en-US" sz="2000" dirty="0" err="1"/>
              <a:t>töötajad</a:t>
            </a:r>
            <a:r>
              <a:rPr lang="en-US" sz="2000" dirty="0"/>
              <a:t>)        COUNTROWS('</a:t>
            </a:r>
            <a:r>
              <a:rPr lang="en-US" sz="2000" dirty="0" err="1"/>
              <a:t>HR_dataset</a:t>
            </a:r>
            <a:r>
              <a:rPr lang="en-US" sz="2000" dirty="0"/>
              <a:t>'),                -- </a:t>
            </a:r>
            <a:r>
              <a:rPr lang="en-US" sz="2000" dirty="0" err="1"/>
              <a:t>Kriteerium</a:t>
            </a:r>
            <a:r>
              <a:rPr lang="en-US" sz="2000" dirty="0"/>
              <a:t> A: </a:t>
            </a:r>
            <a:r>
              <a:rPr lang="en-US" sz="2000" dirty="0" err="1"/>
              <a:t>Töötaja</a:t>
            </a:r>
            <a:r>
              <a:rPr lang="en-US" sz="2000" dirty="0"/>
              <a:t> </a:t>
            </a:r>
            <a:r>
              <a:rPr lang="en-US" sz="2000" dirty="0" err="1"/>
              <a:t>tööleasumise</a:t>
            </a:r>
            <a:r>
              <a:rPr lang="en-US" sz="2000" dirty="0"/>
              <a:t> </a:t>
            </a:r>
            <a:r>
              <a:rPr lang="en-US" sz="2000" dirty="0" err="1"/>
              <a:t>kuupäev</a:t>
            </a:r>
            <a:r>
              <a:rPr lang="en-US" sz="2000" dirty="0"/>
              <a:t> peab olema enne või </a:t>
            </a:r>
            <a:r>
              <a:rPr lang="en-US" sz="2000" dirty="0" err="1"/>
              <a:t>võrdne</a:t>
            </a:r>
            <a:r>
              <a:rPr lang="en-US" sz="2000" dirty="0"/>
              <a:t> </a:t>
            </a:r>
            <a:r>
              <a:rPr lang="en-US" sz="2000" dirty="0" err="1"/>
              <a:t>valitud</a:t>
            </a:r>
            <a:r>
              <a:rPr lang="en-US" sz="2000" dirty="0"/>
              <a:t> </a:t>
            </a:r>
            <a:r>
              <a:rPr lang="en-US" sz="2000" dirty="0" err="1"/>
              <a:t>perioodi</a:t>
            </a:r>
            <a:r>
              <a:rPr lang="en-US" sz="2000" dirty="0"/>
              <a:t> </a:t>
            </a:r>
            <a:r>
              <a:rPr lang="en-US" sz="2000" dirty="0" err="1"/>
              <a:t>lõpuga</a:t>
            </a:r>
            <a:r>
              <a:rPr lang="en-US" sz="2000" dirty="0"/>
              <a:t>        '</a:t>
            </a:r>
            <a:r>
              <a:rPr lang="en-US" sz="2000" dirty="0" err="1"/>
              <a:t>HR_dataset</a:t>
            </a:r>
            <a:r>
              <a:rPr lang="en-US" sz="2000" dirty="0"/>
              <a:t>'[Hire Date] &lt;= </a:t>
            </a:r>
            <a:r>
              <a:rPr lang="en-US" sz="2000" dirty="0" err="1"/>
              <a:t>LastVisibleDate</a:t>
            </a:r>
            <a:r>
              <a:rPr lang="en-US" sz="2000" dirty="0"/>
              <a:t>,                -- </a:t>
            </a:r>
            <a:r>
              <a:rPr lang="en-US" sz="2000" dirty="0" err="1"/>
              <a:t>Kriteerium</a:t>
            </a:r>
            <a:r>
              <a:rPr lang="en-US" sz="2000" dirty="0"/>
              <a:t> B: </a:t>
            </a:r>
            <a:r>
              <a:rPr lang="en-US" sz="2000" dirty="0" err="1"/>
              <a:t>Töötaja</a:t>
            </a:r>
            <a:r>
              <a:rPr lang="en-US" sz="2000" dirty="0"/>
              <a:t> peab olema </a:t>
            </a:r>
            <a:r>
              <a:rPr lang="en-US" sz="2000" dirty="0" err="1"/>
              <a:t>valitud</a:t>
            </a:r>
            <a:r>
              <a:rPr lang="en-US" sz="2000" dirty="0"/>
              <a:t> </a:t>
            </a:r>
            <a:r>
              <a:rPr lang="en-US" sz="2000" dirty="0" err="1"/>
              <a:t>perioodil</a:t>
            </a:r>
            <a:r>
              <a:rPr lang="en-US" sz="2000" dirty="0"/>
              <a:t> veel </a:t>
            </a:r>
            <a:r>
              <a:rPr lang="en-US" sz="2000" dirty="0" err="1"/>
              <a:t>ettevõttes</a:t>
            </a:r>
            <a:r>
              <a:rPr lang="en-US" sz="2000" dirty="0"/>
              <a:t>.        -- See </a:t>
            </a:r>
            <a:r>
              <a:rPr lang="en-US" sz="2000" dirty="0" err="1"/>
              <a:t>tähendab</a:t>
            </a:r>
            <a:r>
              <a:rPr lang="en-US" sz="2000" dirty="0"/>
              <a:t>, et </a:t>
            </a:r>
            <a:r>
              <a:rPr lang="en-US" sz="2000" dirty="0" err="1"/>
              <a:t>tema</a:t>
            </a:r>
            <a:r>
              <a:rPr lang="en-US" sz="2000" dirty="0"/>
              <a:t> </a:t>
            </a:r>
            <a:r>
              <a:rPr lang="en-US" sz="2000" dirty="0" err="1"/>
              <a:t>lahkumiskuupäev</a:t>
            </a:r>
            <a:r>
              <a:rPr lang="en-US" sz="2000" dirty="0"/>
              <a:t> on </a:t>
            </a:r>
            <a:r>
              <a:rPr lang="en-US" sz="2000" dirty="0" err="1"/>
              <a:t>tulevikus</a:t>
            </a:r>
            <a:r>
              <a:rPr lang="en-US" sz="2000" dirty="0"/>
              <a:t> (</a:t>
            </a:r>
            <a:r>
              <a:rPr lang="en-US" sz="2000" dirty="0" err="1"/>
              <a:t>suurem</a:t>
            </a:r>
            <a:r>
              <a:rPr lang="en-US" sz="2000" dirty="0"/>
              <a:t> </a:t>
            </a:r>
            <a:r>
              <a:rPr lang="en-US" sz="2000" dirty="0" err="1"/>
              <a:t>kui</a:t>
            </a:r>
            <a:r>
              <a:rPr lang="en-US" sz="2000" dirty="0"/>
              <a:t> </a:t>
            </a:r>
            <a:r>
              <a:rPr lang="en-US" sz="2000" dirty="0" err="1"/>
              <a:t>valitud</a:t>
            </a:r>
            <a:r>
              <a:rPr lang="en-US" sz="2000" dirty="0"/>
              <a:t> </a:t>
            </a:r>
            <a:r>
              <a:rPr lang="en-US" sz="2000" dirty="0" err="1"/>
              <a:t>kuupäev</a:t>
            </a:r>
            <a:r>
              <a:rPr lang="en-US" sz="2000" dirty="0"/>
              <a:t>)        -- VÕI (</a:t>
            </a:r>
            <a:r>
              <a:rPr lang="en-US" sz="2000" dirty="0" err="1"/>
              <a:t>sümbol</a:t>
            </a:r>
            <a:r>
              <a:rPr lang="en-US" sz="2000" dirty="0"/>
              <a:t> ||) </a:t>
            </a:r>
            <a:r>
              <a:rPr lang="en-US" sz="2000" dirty="0" err="1"/>
              <a:t>tal</a:t>
            </a:r>
            <a:r>
              <a:rPr lang="en-US" sz="2000" dirty="0"/>
              <a:t> </a:t>
            </a:r>
            <a:r>
              <a:rPr lang="en-US" sz="2000" dirty="0" err="1"/>
              <a:t>puudub</a:t>
            </a:r>
            <a:r>
              <a:rPr lang="en-US" sz="2000" dirty="0"/>
              <a:t> </a:t>
            </a:r>
            <a:r>
              <a:rPr lang="en-US" sz="2000" dirty="0" err="1"/>
              <a:t>lahkumiskuupäev</a:t>
            </a:r>
            <a:r>
              <a:rPr lang="en-US" sz="2000" dirty="0"/>
              <a:t> </a:t>
            </a:r>
            <a:r>
              <a:rPr lang="en-US" sz="2000" dirty="0" err="1"/>
              <a:t>täielikult</a:t>
            </a:r>
            <a:r>
              <a:rPr lang="en-US" sz="2000" dirty="0"/>
              <a:t> (on </a:t>
            </a:r>
            <a:r>
              <a:rPr lang="en-US" sz="2000" dirty="0" err="1"/>
              <a:t>alles</a:t>
            </a:r>
            <a:r>
              <a:rPr lang="en-US" sz="2000" dirty="0"/>
              <a:t> </a:t>
            </a:r>
            <a:r>
              <a:rPr lang="en-US" sz="2000" dirty="0" err="1"/>
              <a:t>tööl</a:t>
            </a:r>
            <a:r>
              <a:rPr lang="en-US" sz="2000" dirty="0"/>
              <a:t>)        '</a:t>
            </a:r>
            <a:r>
              <a:rPr lang="en-US" sz="2000" dirty="0" err="1"/>
              <a:t>HR_dataset</a:t>
            </a:r>
            <a:r>
              <a:rPr lang="en-US" sz="2000" dirty="0"/>
              <a:t>'[Leave Date] &gt; </a:t>
            </a:r>
            <a:r>
              <a:rPr lang="en-US" sz="2000" dirty="0" err="1"/>
              <a:t>LastVisibleDate</a:t>
            </a:r>
            <a:r>
              <a:rPr lang="en-US" sz="2000" dirty="0"/>
              <a:t> || ISBLANK('</a:t>
            </a:r>
            <a:r>
              <a:rPr lang="en-US" sz="2000" dirty="0" err="1"/>
              <a:t>HR_dataset</a:t>
            </a:r>
            <a:r>
              <a:rPr lang="en-US" sz="2000" dirty="0"/>
              <a:t>'[Leave Date])    )</a:t>
            </a:r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948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299C1-83A9-FA28-163D-7350776A64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A2E3B-05F6-C5B5-74E3-30C3FFF3467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822941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1FB46-CD7F-56F2-1278-63CD2BBA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E7AFC-7430-F378-C0C9-AB6FB63011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Aktiivsete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osakondade</a:t>
            </a:r>
            <a:r>
              <a:rPr lang="en-US" sz="2800" b="1">
                <a:ea typeface="+mj-lt"/>
                <a:cs typeface="+mj-lt"/>
              </a:rPr>
              <a:t> ja </a:t>
            </a:r>
            <a:r>
              <a:rPr lang="en-US" sz="2800" b="1" err="1">
                <a:ea typeface="+mj-lt"/>
                <a:cs typeface="+mj-lt"/>
              </a:rPr>
              <a:t>aja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lõikes</a:t>
            </a:r>
            <a:endParaRPr lang="en-US" sz="28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5D6F38-6BB9-6CCB-6FC0-EEFF0379C1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0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Risttabel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57387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07C-1CBD-609C-2DD5-82DEC1A1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0C9F6-9B44-EC39-A8A4-BF3AAD8C53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01C13-8AF6-57EC-09E9-26FFC7C07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847990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29400-AEB4-F66A-F62F-405D92BF53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Staažigruppide</a:t>
            </a:r>
            <a:r>
              <a:rPr lang="en-US" dirty="0"/>
              <a:t> </a:t>
            </a:r>
            <a:r>
              <a:rPr lang="en-US" dirty="0" err="1"/>
              <a:t>kaupa</a:t>
            </a:r>
            <a:r>
              <a:rPr lang="en-US" dirty="0"/>
              <a:t> </a:t>
            </a:r>
            <a:r>
              <a:rPr lang="en-US" dirty="0" err="1"/>
              <a:t>aja</a:t>
            </a:r>
            <a:r>
              <a:rPr lang="en-US" dirty="0"/>
              <a:t> </a:t>
            </a:r>
            <a:r>
              <a:rPr lang="en-US" dirty="0" err="1"/>
              <a:t>lõikes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07CC-9703-F975-7E21-724DACD02F5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800" dirty="0" err="1"/>
              <a:t>Tahame</a:t>
            </a:r>
            <a:r>
              <a:rPr lang="en-US" sz="2800" dirty="0"/>
              <a:t> </a:t>
            </a:r>
            <a:r>
              <a:rPr lang="en-US" sz="2800" dirty="0" err="1"/>
              <a:t>näha</a:t>
            </a:r>
            <a:r>
              <a:rPr lang="en-US" sz="2800" dirty="0"/>
              <a:t> </a:t>
            </a:r>
            <a:r>
              <a:rPr lang="en-US" sz="2800" dirty="0" err="1"/>
              <a:t>aja</a:t>
            </a:r>
            <a:r>
              <a:rPr lang="en-US" sz="2800" dirty="0"/>
              <a:t> </a:t>
            </a:r>
            <a:r>
              <a:rPr lang="en-US" sz="2800" dirty="0" err="1"/>
              <a:t>lõikes</a:t>
            </a:r>
            <a:r>
              <a:rPr lang="en-US" sz="2800" dirty="0"/>
              <a:t>, </a:t>
            </a:r>
            <a:r>
              <a:rPr lang="en-US" sz="2800" dirty="0" err="1"/>
              <a:t>kui</a:t>
            </a:r>
            <a:r>
              <a:rPr lang="en-US" sz="2800" dirty="0"/>
              <a:t> </a:t>
            </a:r>
            <a:r>
              <a:rPr lang="en-US" sz="2800" dirty="0" err="1"/>
              <a:t>palju</a:t>
            </a:r>
            <a:r>
              <a:rPr lang="en-US" sz="2800" dirty="0"/>
              <a:t> on </a:t>
            </a:r>
            <a:r>
              <a:rPr lang="en-US" sz="2800" dirty="0" err="1"/>
              <a:t>eri</a:t>
            </a:r>
            <a:r>
              <a:rPr lang="en-US" sz="2800" dirty="0"/>
              <a:t> </a:t>
            </a:r>
            <a:r>
              <a:rPr lang="en-US" sz="2800" dirty="0" err="1"/>
              <a:t>staažiga</a:t>
            </a:r>
            <a:r>
              <a:rPr lang="en-US" sz="2800" dirty="0"/>
              <a:t> </a:t>
            </a:r>
            <a:r>
              <a:rPr lang="en-US" sz="2800" dirty="0" err="1"/>
              <a:t>töötajaid</a:t>
            </a:r>
            <a:r>
              <a:rPr lang="en-US" sz="2800" dirty="0"/>
              <a:t>. </a:t>
            </a:r>
          </a:p>
          <a:p>
            <a:r>
              <a:rPr lang="en-US" sz="2800" dirty="0" err="1"/>
              <a:t>Grupid</a:t>
            </a:r>
            <a:r>
              <a:rPr lang="en-US" sz="2800" dirty="0"/>
              <a:t>: </a:t>
            </a:r>
          </a:p>
          <a:p>
            <a:pPr lvl="1"/>
            <a:r>
              <a:rPr lang="en-US" sz="2800" dirty="0"/>
              <a:t>&lt; 1 </a:t>
            </a:r>
            <a:r>
              <a:rPr lang="en-US" sz="2800" dirty="0" err="1"/>
              <a:t>aasta</a:t>
            </a:r>
            <a:endParaRPr lang="en-US" sz="2800" dirty="0"/>
          </a:p>
          <a:p>
            <a:pPr lvl="1"/>
            <a:r>
              <a:rPr lang="en-US" sz="2800" dirty="0"/>
              <a:t>1-3 </a:t>
            </a:r>
            <a:r>
              <a:rPr lang="en-US" sz="2800" dirty="0" err="1"/>
              <a:t>aastat</a:t>
            </a:r>
            <a:endParaRPr lang="en-US" sz="2800" dirty="0"/>
          </a:p>
          <a:p>
            <a:pPr lvl="1"/>
            <a:r>
              <a:rPr lang="en-US" sz="2800" dirty="0"/>
              <a:t>3-5 </a:t>
            </a:r>
            <a:r>
              <a:rPr lang="en-US" sz="2800" dirty="0" err="1"/>
              <a:t>aastat</a:t>
            </a:r>
            <a:r>
              <a:rPr lang="en-US" sz="2800" dirty="0"/>
              <a:t> </a:t>
            </a:r>
          </a:p>
          <a:p>
            <a:pPr lvl="1"/>
            <a:r>
              <a:rPr lang="en-US" sz="2800" dirty="0"/>
              <a:t>5+ </a:t>
            </a:r>
            <a:r>
              <a:rPr lang="en-US" sz="2800" dirty="0" err="1"/>
              <a:t>aastat</a:t>
            </a:r>
            <a:endParaRPr lang="et-EE" sz="2800" dirty="0"/>
          </a:p>
        </p:txBody>
      </p:sp>
    </p:spTree>
    <p:extLst>
      <p:ext uri="{BB962C8B-B14F-4D97-AF65-F5344CB8AC3E}">
        <p14:creationId xmlns:p14="http://schemas.microsoft.com/office/powerpoint/2010/main" val="1361550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9BF8-350A-ADDE-E073-2D078F29D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7113-50DA-68D2-E5DE-147E8B638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dirty="0">
                <a:ea typeface="+mj-lt"/>
                <a:cs typeface="+mj-lt"/>
              </a:rPr>
              <a:t>Vaja </a:t>
            </a:r>
            <a:r>
              <a:rPr lang="en-US" sz="2800" b="1" dirty="0" err="1">
                <a:ea typeface="+mj-lt"/>
                <a:cs typeface="+mj-lt"/>
              </a:rPr>
              <a:t>tabel</a:t>
            </a:r>
            <a:r>
              <a:rPr lang="en-US" sz="2800" b="1" dirty="0">
                <a:ea typeface="+mj-lt"/>
                <a:cs typeface="+mj-lt"/>
              </a:rPr>
              <a:t> </a:t>
            </a:r>
            <a:r>
              <a:rPr lang="en-US" sz="2800" b="1" dirty="0" err="1">
                <a:ea typeface="+mj-lt"/>
                <a:cs typeface="+mj-lt"/>
              </a:rPr>
              <a:t>grupi</a:t>
            </a:r>
            <a:r>
              <a:rPr lang="en-US" sz="2800" b="1" dirty="0">
                <a:ea typeface="+mj-lt"/>
                <a:cs typeface="+mj-lt"/>
              </a:rPr>
              <a:t> </a:t>
            </a:r>
            <a:r>
              <a:rPr lang="en-US" sz="2800" b="1" dirty="0" err="1">
                <a:ea typeface="+mj-lt"/>
                <a:cs typeface="+mj-lt"/>
              </a:rPr>
              <a:t>väärtustega</a:t>
            </a:r>
            <a:endParaRPr lang="en-US" sz="2800" b="1" dirty="0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E3252-9EE5-796F-1929-624EBDF780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2801" y="1268413"/>
            <a:ext cx="11419534" cy="4465637"/>
          </a:xfrm>
        </p:spPr>
        <p:txBody>
          <a:bodyPr/>
          <a:lstStyle/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Tenure Groups Table = 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FF"/>
                </a:solidFill>
                <a:latin typeface="Consolas"/>
                <a:ea typeface="Inter"/>
              </a:rPr>
              <a:t>DATATABLE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"Tenure Group"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>
                <a:solidFill>
                  <a:srgbClr val="3165BB"/>
                </a:solidFill>
                <a:latin typeface="Consolas"/>
                <a:ea typeface="Inter"/>
              </a:rPr>
              <a:t>STRING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{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"0-1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"1-3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"3-5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"5+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}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/>
          </a:p>
          <a:p>
            <a:pPr marL="285750" indent="0">
              <a:lnSpc>
                <a:spcPct val="100000"/>
              </a:lnSpc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20229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077F8-C292-6A84-8298-1B0A4F172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B6B0-A819-9D53-F541-0427E36D1C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Aktiivsete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staaži</a:t>
            </a:r>
            <a:r>
              <a:rPr lang="en-US" sz="2800" b="1">
                <a:ea typeface="+mj-lt"/>
                <a:cs typeface="+mj-lt"/>
              </a:rPr>
              <a:t> ja </a:t>
            </a:r>
            <a:r>
              <a:rPr lang="en-US" sz="2800" b="1" err="1">
                <a:ea typeface="+mj-lt"/>
                <a:cs typeface="+mj-lt"/>
              </a:rPr>
              <a:t>aja</a:t>
            </a:r>
            <a:r>
              <a:rPr lang="en-US" sz="2800" b="1">
                <a:ea typeface="+mj-lt"/>
                <a:cs typeface="+mj-lt"/>
              </a:rPr>
              <a:t> lõikes</a:t>
            </a:r>
            <a:endParaRPr lang="en-US" sz="28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C94A45-CC06-8374-FACC-46D1558E557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07" y="1268413"/>
            <a:ext cx="11950928" cy="4465637"/>
          </a:xfrm>
        </p:spPr>
        <p:txBody>
          <a:bodyPr/>
          <a:lstStyle/>
          <a:p>
            <a:pPr marL="28575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Tenure Group Count = 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LASTDATE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TenureGroups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ADDCOLUMNS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FILTER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&lt;=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(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ISBLANK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||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&gt;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),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</a:t>
            </a:r>
            <a:r>
              <a:rPr lang="en-US" sz="1200" dirty="0" err="1">
                <a:solidFill>
                  <a:srgbClr val="A31515"/>
                </a:solidFill>
                <a:latin typeface="Consolas"/>
                <a:ea typeface="Inter"/>
              </a:rPr>
              <a:t>TenureCategory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SWITCH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TRUE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(),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"0-1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"1-3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"3-5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"5+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"Unknown"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COUNTROWS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FILTER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TenureGroups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[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TenureCategory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SELECTEDVALUE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'Tenure Groups Table'[Tenure Group]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)))</a:t>
            </a:r>
            <a:br>
              <a:rPr lang="en-US" dirty="0"/>
            </a:br>
            <a:endParaRPr lang="en-US" dirty="0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43309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48D9-37EF-87B3-9301-28F1C629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33F06-2AB6-79CC-EB7E-1D6901803E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3B8A8A-8989-55BB-98A0-1F64CFD87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587349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41D2-600B-2E5C-3C40-39420DA9A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Lahkunud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lahkumise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põhjuse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kaupa</a:t>
            </a:r>
            <a:endParaRPr lang="en-US" sz="2800" err="1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6B835-68AB-ECF1-B70B-EDF27B0BEB5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1800" err="1">
                <a:ea typeface="Inter"/>
              </a:rPr>
              <a:t>Mõõdik</a:t>
            </a:r>
            <a:r>
              <a:rPr lang="en-US" sz="1800">
                <a:ea typeface="Inter"/>
              </a:rPr>
              <a:t>: </a:t>
            </a:r>
          </a:p>
          <a:p>
            <a:pPr>
              <a:lnSpc>
                <a:spcPct val="100000"/>
              </a:lnSpc>
            </a:pPr>
            <a:endParaRPr lang="en-US" sz="1800"/>
          </a:p>
          <a:p>
            <a:pPr marL="0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  Left Employees = </a:t>
            </a:r>
            <a:endParaRPr lang="en-US" sz="2000">
              <a:latin typeface="Consolas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3165BB"/>
                </a:solidFill>
                <a:latin typeface="Consolas"/>
              </a:rPr>
              <a:t>CALCULATE</a:t>
            </a:r>
            <a:r>
              <a:rPr lang="en-US" sz="2000">
                <a:solidFill>
                  <a:srgbClr val="000000"/>
                </a:solidFill>
                <a:latin typeface="Consolas"/>
              </a:rPr>
              <a:t>(</a:t>
            </a:r>
            <a:endParaRPr lang="en-US" sz="2000">
              <a:latin typeface="Consolas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COUNTROWS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&gt;=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MIN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&lt;=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00FF"/>
                </a:solidFill>
                <a:latin typeface="Consolas"/>
                <a:ea typeface="Inter"/>
              </a:rPr>
              <a:t>NOT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ISBLANK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 )</a:t>
            </a:r>
            <a:endParaRPr lang="en-US" sz="2000">
              <a:latin typeface="Consolas"/>
              <a:ea typeface="Inter"/>
            </a:endParaRPr>
          </a:p>
          <a:p>
            <a:pPr lvl="1">
              <a:lnSpc>
                <a:spcPct val="100000"/>
              </a:lnSpc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Graafiku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legendi </a:t>
            </a: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lahkumise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põhjus</a:t>
            </a:r>
            <a:endParaRPr lang="en-US" err="1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24181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A165-250D-4525-1250-935B69B3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F9711-F4F6-415E-F6BE-C62BC9D633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Lahkunud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% </a:t>
            </a:r>
            <a:endParaRPr lang="en-US" sz="2800" b="1">
              <a:solidFill>
                <a:srgbClr val="121212"/>
              </a:solidFill>
              <a:ea typeface="+mj-lt"/>
              <a:cs typeface="+mj-lt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97558-9A9E-7C2F-DD57-536AEEA2046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</a:rPr>
              <a:t>Mõõdik</a:t>
            </a:r>
            <a:r>
              <a:rPr lang="en-US" sz="2000">
                <a:ea typeface="Inter"/>
              </a:rPr>
              <a:t>: </a:t>
            </a:r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buNone/>
            </a:pPr>
            <a:r>
              <a:rPr lang="en-US" sz="2400">
                <a:solidFill>
                  <a:srgbClr val="000000"/>
                </a:solidFill>
                <a:latin typeface="Consolas"/>
                <a:ea typeface="Inter"/>
              </a:rPr>
              <a:t>  Employee Turnover = </a:t>
            </a:r>
            <a:r>
              <a:rPr lang="en-US" sz="2400">
                <a:solidFill>
                  <a:srgbClr val="68349C"/>
                </a:solidFill>
                <a:latin typeface="Consolas"/>
                <a:ea typeface="Inter"/>
              </a:rPr>
              <a:t>[Left Employees]</a:t>
            </a:r>
            <a:r>
              <a:rPr lang="en-US" sz="2400">
                <a:solidFill>
                  <a:srgbClr val="000000"/>
                </a:solidFill>
                <a:latin typeface="Consolas"/>
                <a:ea typeface="Inter"/>
              </a:rPr>
              <a:t>/</a:t>
            </a:r>
            <a:r>
              <a:rPr lang="en-US" sz="2400">
                <a:solidFill>
                  <a:srgbClr val="68349C"/>
                </a:solidFill>
                <a:latin typeface="Consolas"/>
                <a:ea typeface="Inter"/>
              </a:rPr>
              <a:t>[Active Employees]</a:t>
            </a:r>
            <a:endParaRPr lang="en-US" sz="2400">
              <a:solidFill>
                <a:srgbClr val="68349C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>
              <a:solidFill>
                <a:srgbClr val="000000"/>
              </a:solidFill>
              <a:latin typeface="Consolas"/>
              <a:ea typeface="Inter"/>
            </a:endParaRPr>
          </a:p>
          <a:p>
            <a:pPr lvl="1" indent="-285750">
              <a:lnSpc>
                <a:spcPct val="100000"/>
              </a:lnSpc>
            </a:pPr>
            <a:r>
              <a:rPr lang="en-US" sz="2000" err="1">
                <a:latin typeface="Consolas"/>
                <a:ea typeface="Inter"/>
              </a:rPr>
              <a:t>Vormistada</a:t>
            </a:r>
            <a:r>
              <a:rPr lang="en-US" sz="2000">
                <a:latin typeface="Consolas"/>
                <a:ea typeface="Inter"/>
              </a:rPr>
              <a:t> %-</a:t>
            </a:r>
            <a:r>
              <a:rPr lang="en-US" sz="2000" err="1">
                <a:latin typeface="Consolas"/>
                <a:ea typeface="Inter"/>
              </a:rPr>
              <a:t>na</a:t>
            </a:r>
            <a:endParaRPr lang="en-US" sz="2000" err="1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>
                <a:latin typeface="Inter"/>
                <a:ea typeface="Inter"/>
              </a:rPr>
              <a:t>Kas </a:t>
            </a:r>
            <a:r>
              <a:rPr lang="en-US" sz="2000" err="1">
                <a:latin typeface="Inter"/>
                <a:ea typeface="Inter"/>
              </a:rPr>
              <a:t>graafikute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vaheline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suhtlus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töötab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korrektselt</a:t>
            </a:r>
            <a:r>
              <a:rPr lang="en-US" sz="2000">
                <a:latin typeface="Inter"/>
                <a:ea typeface="Inter"/>
              </a:rPr>
              <a:t>?</a:t>
            </a:r>
          </a:p>
          <a:p>
            <a:pPr marL="857250" lvl="1" indent="-342900">
              <a:lnSpc>
                <a:spcPct val="150000"/>
              </a:lnSpc>
            </a:pPr>
            <a:r>
              <a:rPr lang="en-US" sz="2000">
                <a:latin typeface="Inter"/>
                <a:ea typeface="Inter"/>
              </a:rPr>
              <a:t>Ei, </a:t>
            </a:r>
            <a:r>
              <a:rPr lang="en-US" sz="2000" err="1">
                <a:latin typeface="Inter"/>
                <a:ea typeface="Inter"/>
              </a:rPr>
              <a:t>sest</a:t>
            </a:r>
            <a:r>
              <a:rPr lang="en-US" sz="2000">
                <a:latin typeface="Inter"/>
                <a:ea typeface="Inter"/>
              </a:rPr>
              <a:t> "Active Employees" </a:t>
            </a:r>
            <a:r>
              <a:rPr lang="en-US" sz="2000" err="1">
                <a:latin typeface="Inter"/>
                <a:ea typeface="Inter"/>
              </a:rPr>
              <a:t>mõõdik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filtreerib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välja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ainult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töötajad</a:t>
            </a:r>
            <a:r>
              <a:rPr lang="en-US" sz="2000">
                <a:latin typeface="Inter"/>
                <a:ea typeface="Inter"/>
              </a:rPr>
              <a:t>, </a:t>
            </a:r>
            <a:r>
              <a:rPr lang="en-US" sz="2000" err="1">
                <a:latin typeface="Inter"/>
                <a:ea typeface="Inter"/>
              </a:rPr>
              <a:t>kellel</a:t>
            </a:r>
            <a:r>
              <a:rPr lang="en-US" sz="2000">
                <a:latin typeface="Inter"/>
                <a:ea typeface="Inter"/>
              </a:rPr>
              <a:t> on "Leave Reason" </a:t>
            </a:r>
            <a:r>
              <a:rPr lang="en-US" sz="2000" err="1">
                <a:latin typeface="Inter"/>
                <a:ea typeface="Inter"/>
              </a:rPr>
              <a:t>täidetud</a:t>
            </a:r>
          </a:p>
          <a:p>
            <a:pPr marL="857250" lvl="1" indent="-342900">
              <a:lnSpc>
                <a:spcPct val="150000"/>
              </a:lnSpc>
            </a:pPr>
            <a:r>
              <a:rPr lang="en-US" sz="2000" err="1">
                <a:latin typeface="Inter"/>
                <a:ea typeface="Inter"/>
              </a:rPr>
              <a:t>Täiendada</a:t>
            </a:r>
            <a:r>
              <a:rPr lang="en-US" sz="2000">
                <a:latin typeface="Inter"/>
                <a:ea typeface="Inter"/>
              </a:rPr>
              <a:t> "Active Employees" </a:t>
            </a:r>
            <a:r>
              <a:rPr lang="en-US" sz="2000" err="1">
                <a:latin typeface="Inter"/>
                <a:ea typeface="Inter"/>
              </a:rPr>
              <a:t>mõõdik</a:t>
            </a:r>
            <a:r>
              <a:rPr lang="en-US" sz="2000">
                <a:latin typeface="Inter"/>
                <a:ea typeface="Inter"/>
              </a:rPr>
              <a:t>: </a:t>
            </a:r>
          </a:p>
          <a:p>
            <a:pPr lvl="2">
              <a:lnSpc>
                <a:spcPct val="150000"/>
              </a:lnSpc>
            </a:pPr>
            <a:r>
              <a:rPr lang="en-US">
                <a:solidFill>
                  <a:srgbClr val="3165BB"/>
                </a:solidFill>
                <a:latin typeface="Consolas"/>
                <a:ea typeface="Inter"/>
              </a:rPr>
              <a:t>REMOVEFILTERS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Inter"/>
              </a:rPr>
              <a:t>[Leave Reason]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>
              <a:latin typeface="Inter"/>
              <a:ea typeface="Inter"/>
            </a:endParaRPr>
          </a:p>
          <a:p>
            <a:pPr marL="1257300" lvl="2" indent="-342900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>
              <a:latin typeface="Inter"/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0986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61051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5F0-BCFC-5B9F-E9BD-78649F0A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BD36-6DF8-CDC0-6356-8AEAA4A54E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Personaliosakond</a:t>
            </a:r>
            <a:r>
              <a:rPr lang="en-US" sz="2800" b="1">
                <a:ea typeface="+mj-lt"/>
                <a:cs typeface="+mj-lt"/>
              </a:rPr>
              <a:t> – </a:t>
            </a:r>
            <a:r>
              <a:rPr lang="en-US" sz="2800" b="1" err="1">
                <a:ea typeface="+mj-lt"/>
                <a:cs typeface="+mj-lt"/>
              </a:rPr>
              <a:t>rahuloluküsitlus</a:t>
            </a:r>
            <a:r>
              <a:rPr lang="en-US" sz="2800" b="1">
                <a:ea typeface="+mj-lt"/>
                <a:cs typeface="+mj-lt"/>
              </a:rPr>
              <a:t> - </a:t>
            </a:r>
            <a:r>
              <a:rPr lang="en-US" sz="2800" b="1" err="1">
                <a:ea typeface="+mj-lt"/>
                <a:cs typeface="+mj-lt"/>
              </a:rPr>
              <a:t>andmestik</a:t>
            </a:r>
            <a:r>
              <a:rPr lang="en-US" sz="2800" b="1">
                <a:ea typeface="+mj-lt"/>
                <a:cs typeface="+mj-lt"/>
              </a:rPr>
              <a:t> </a:t>
            </a:r>
            <a:endParaRPr lang="en-US" sz="28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59BF5E-38FE-A27E-A7EA-FAC4C70A42A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Lae </a:t>
            </a:r>
            <a:r>
              <a:rPr lang="en-US" sz="2000" err="1">
                <a:ea typeface="Inter"/>
              </a:rPr>
              <a:t>alla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alliktabel</a:t>
            </a:r>
            <a:r>
              <a:rPr lang="en-US" sz="2000">
                <a:ea typeface="Inter"/>
              </a:rPr>
              <a:t>: Day5 --&gt; </a:t>
            </a:r>
            <a:r>
              <a:rPr lang="en-US" sz="2000" err="1">
                <a:ea typeface="Inter"/>
              </a:rPr>
              <a:t>Employee_Satisfaction_Survey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Lae </a:t>
            </a:r>
            <a:r>
              <a:rPr lang="en-US" sz="2000" err="1">
                <a:ea typeface="Inter"/>
              </a:rPr>
              <a:t>üles</a:t>
            </a:r>
            <a:r>
              <a:rPr lang="en-US" sz="2000">
                <a:ea typeface="Inter"/>
              </a:rPr>
              <a:t> Power BI-</a:t>
            </a:r>
            <a:r>
              <a:rPr lang="en-US" sz="2000" err="1">
                <a:ea typeface="Inter"/>
              </a:rPr>
              <a:t>sse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Vaata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vormistus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Kui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tahame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küsimuste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kaupa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tulemusi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filtreerida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, kas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praegusel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kujul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andmestik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sobib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?</a:t>
            </a:r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Vaja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teha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Unpivot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Valime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"Question Round" ja "Answer ID"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ning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"Unpivot Other Columns"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79717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F94B-C51D-F5D0-EA6E-B59170145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57E66-9AE4-19EB-285E-E5AFB83715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Personaliosakond</a:t>
            </a:r>
            <a:r>
              <a:rPr lang="en-US" sz="2800" b="1">
                <a:ea typeface="+mj-lt"/>
                <a:cs typeface="+mj-lt"/>
              </a:rPr>
              <a:t> – </a:t>
            </a:r>
            <a:r>
              <a:rPr lang="en-US" sz="2800" b="1" err="1">
                <a:ea typeface="+mj-lt"/>
                <a:cs typeface="+mj-lt"/>
              </a:rPr>
              <a:t>rahuloluküsitlus</a:t>
            </a:r>
            <a:r>
              <a:rPr lang="en-US" sz="2800" b="1">
                <a:ea typeface="+mj-lt"/>
                <a:cs typeface="+mj-lt"/>
              </a:rPr>
              <a:t> - </a:t>
            </a:r>
            <a:r>
              <a:rPr lang="en-US" sz="2800" b="1" err="1">
                <a:ea typeface="+mj-lt"/>
                <a:cs typeface="+mj-lt"/>
              </a:rPr>
              <a:t>raporti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leht</a:t>
            </a:r>
            <a:r>
              <a:rPr lang="en-US" sz="2800" b="1">
                <a:ea typeface="+mj-lt"/>
                <a:cs typeface="+mj-lt"/>
              </a:rPr>
              <a:t> </a:t>
            </a:r>
            <a:endParaRPr lang="en-US" sz="28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1896A-D27C-8337-FE2C-84CCEB0B165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Näitame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kvartalite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kaupa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rahuloluküsitluse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tulemusi</a:t>
            </a:r>
            <a:endParaRPr lang="en-US" sz="2000" err="1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93589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BF211-2DCE-D9F9-2179-457B48E712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Lõputööd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00CB4-E528-A606-C7F5-435332E2E0A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err="1"/>
              <a:t>Eelmiste</a:t>
            </a:r>
            <a:r>
              <a:rPr lang="en-US" dirty="0"/>
              <a:t> </a:t>
            </a:r>
            <a:r>
              <a:rPr lang="en-US" dirty="0" err="1"/>
              <a:t>kursuste</a:t>
            </a:r>
            <a:r>
              <a:rPr lang="en-US" dirty="0"/>
              <a:t> </a:t>
            </a:r>
            <a:r>
              <a:rPr lang="en-US" dirty="0" err="1"/>
              <a:t>lõputööd</a:t>
            </a:r>
            <a:endParaRPr lang="en-US" dirty="0"/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7897714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1725</TotalTime>
  <Words>1019</Words>
  <Application>Microsoft Office PowerPoint</Application>
  <PresentationFormat>Widescreen</PresentationFormat>
  <Paragraphs>150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Inter Bold</vt:lpstr>
      <vt:lpstr>Consolas</vt:lpstr>
      <vt:lpstr>Courier New</vt:lpstr>
      <vt:lpstr>Inter</vt:lpstr>
      <vt:lpstr>Poppins SemiBold</vt:lpstr>
      <vt:lpstr>Arial</vt:lpstr>
      <vt:lpstr>Wingdings</vt:lpstr>
      <vt:lpstr>Arial,Sans-Serif</vt:lpstr>
      <vt:lpstr>Calibri</vt:lpstr>
      <vt:lpstr>BCS</vt:lpstr>
      <vt:lpstr>Vali Andmetarkus!</vt:lpstr>
      <vt:lpstr>Päevakava - IV päev</vt:lpstr>
      <vt:lpstr>https://lnkd.in/dEjYPJwU</vt:lpstr>
      <vt:lpstr>PowerPoint Presentation</vt:lpstr>
      <vt:lpstr>Soovituslikud materjalid</vt:lpstr>
      <vt:lpstr>Personaliosakond – probleemi püstitus</vt:lpstr>
      <vt:lpstr>Personaliosakond – andmestik </vt:lpstr>
      <vt:lpstr>Töötajate arv aja  lõikes</vt:lpstr>
      <vt:lpstr>PowerPoint Presentation</vt:lpstr>
      <vt:lpstr>Aktiivsete töötajate arv osakondade ja aja lõikes</vt:lpstr>
      <vt:lpstr>Paus 10:30-10:45</vt:lpstr>
      <vt:lpstr>Staažigruppide kaupa aja lõikes</vt:lpstr>
      <vt:lpstr>Vaja tabel grupi väärtustega</vt:lpstr>
      <vt:lpstr>Aktiivsete töötajate arv staaži ja aja lõikes</vt:lpstr>
      <vt:lpstr>Lõunapaus 12:15-13:15</vt:lpstr>
      <vt:lpstr>Lahkunud töötajate arv lahkumise põhjuse kaupa </vt:lpstr>
      <vt:lpstr>Lahkunud töötajate %  </vt:lpstr>
      <vt:lpstr>Paus 14:45-15:00</vt:lpstr>
      <vt:lpstr>Personaliosakond – rahuloluküsitlus - andmestik </vt:lpstr>
      <vt:lpstr>Personaliosakond – rahuloluküsitlus - raporti leht </vt:lpstr>
      <vt:lpstr>Lõputööd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8</cp:revision>
  <dcterms:created xsi:type="dcterms:W3CDTF">2021-08-27T11:35:28Z</dcterms:created>
  <dcterms:modified xsi:type="dcterms:W3CDTF">2026-08-29T10:14:14Z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