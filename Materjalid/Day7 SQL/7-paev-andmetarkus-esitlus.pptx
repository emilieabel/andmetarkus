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489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modSld">
      <pc:chgData name="Emilie Abel" userId="20dec598-1860-40de-ab3f-181316cc4da6" providerId="ADAL" clId="{3EAE1975-14BE-41D5-9E3B-28573F0EE5DC}" dt="2026-09-07T14:21:33.507" v="143" actId="14100"/>
      <pc:docMkLst>
        <pc:docMk/>
      </pc:docMkLst>
      <pc:sldChg chg="modSp mod">
        <pc:chgData name="Emilie Abel" userId="20dec598-1860-40de-ab3f-181316cc4da6" providerId="ADAL" clId="{3EAE1975-14BE-41D5-9E3B-28573F0EE5DC}" dt="2026-09-07T14:13:47.225" v="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7T14:13:47.225" v="7" actId="20577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32.681" v="30" actId="1076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7T14:14:27.162" v="28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25.173" v="27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0.401" v="29" actId="107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2.681" v="30" actId="1076"/>
          <ac:spMkLst>
            <pc:docMk/>
            <pc:sldMk cId="0" sldId="268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19.736" v="26" actId="1076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7T14:14:09.604" v="22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2.100" v="23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05.515" v="21" actId="20577"/>
          <ac:spMkLst>
            <pc:docMk/>
            <pc:sldMk cId="0" sldId="26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6.983" v="25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5.019" v="24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9.736" v="26" actId="1076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10.676" v="34" actId="1076"/>
        <pc:sldMkLst>
          <pc:docMk/>
          <pc:sldMk cId="0" sldId="274"/>
        </pc:sldMkLst>
        <pc:spChg chg="mod">
          <ac:chgData name="Emilie Abel" userId="20dec598-1860-40de-ab3f-181316cc4da6" providerId="ADAL" clId="{3EAE1975-14BE-41D5-9E3B-28573F0EE5DC}" dt="2026-09-07T14:15:06.564" v="33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04.226" v="32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58.677" v="31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10.676" v="34" actId="1076"/>
          <ac:spMkLst>
            <pc:docMk/>
            <pc:sldMk cId="0" sldId="274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32.302" v="36" actId="403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7T14:15:32.302" v="36" actId="403"/>
          <ac:spMkLst>
            <pc:docMk/>
            <pc:sldMk cId="0" sldId="278"/>
            <ac:spMk id="11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15:51.577" v="37" actId="478"/>
        <pc:sldMkLst>
          <pc:docMk/>
          <pc:sldMk cId="0" sldId="279"/>
        </pc:sldMkLst>
        <pc:spChg chg="del">
          <ac:chgData name="Emilie Abel" userId="20dec598-1860-40de-ab3f-181316cc4da6" providerId="ADAL" clId="{3EAE1975-14BE-41D5-9E3B-28573F0EE5DC}" dt="2026-09-07T14:15:51.577" v="37" actId="478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6:40.984" v="41" actId="1076"/>
        <pc:sldMkLst>
          <pc:docMk/>
          <pc:sldMk cId="0" sldId="280"/>
        </pc:sldMkLst>
        <pc:spChg chg="mod">
          <ac:chgData name="Emilie Abel" userId="20dec598-1860-40de-ab3f-181316cc4da6" providerId="ADAL" clId="{3EAE1975-14BE-41D5-9E3B-28573F0EE5DC}" dt="2026-09-07T14:16:33.784" v="39" actId="107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1.685" v="38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7.631" v="40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40.984" v="41" actId="1076"/>
          <ac:spMkLst>
            <pc:docMk/>
            <pc:sldMk cId="0" sldId="280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7:23.134" v="50" actId="1076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7T14:17:03.776" v="45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9.660" v="49" actId="14100"/>
          <ac:spMkLst>
            <pc:docMk/>
            <pc:sldMk cId="0" sldId="28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0.032" v="47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3.715" v="48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23.134" v="50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56.114" v="44" actId="1076"/>
          <ac:spMkLst>
            <pc:docMk/>
            <pc:sldMk cId="0" sldId="281"/>
            <ac:spMk id="2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7T14:17:31.276" v="53" actId="478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7T14:17:31.276" v="53" actId="478"/>
          <ac:spMkLst>
            <pc:docMk/>
            <pc:sldMk cId="0" sldId="28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7T14:17:30.531" v="52" actId="478"/>
          <ac:spMkLst>
            <pc:docMk/>
            <pc:sldMk cId="0" sldId="283"/>
            <ac:spMk id="7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17:35.523" v="54" actId="478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7T14:17:35.523" v="54" actId="478"/>
          <ac:spMkLst>
            <pc:docMk/>
            <pc:sldMk cId="0" sldId="284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8:18.419" v="63" actId="1076"/>
        <pc:sldMkLst>
          <pc:docMk/>
          <pc:sldMk cId="0" sldId="285"/>
        </pc:sldMkLst>
        <pc:spChg chg="mod">
          <ac:chgData name="Emilie Abel" userId="20dec598-1860-40de-ab3f-181316cc4da6" providerId="ADAL" clId="{3EAE1975-14BE-41D5-9E3B-28573F0EE5DC}" dt="2026-09-07T14:17:56.044" v="56" actId="107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5.247" v="59" actId="107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2.009" v="58" actId="1076"/>
          <ac:spMkLst>
            <pc:docMk/>
            <pc:sldMk cId="0" sldId="285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8.126" v="60" actId="1076"/>
          <ac:spMkLst>
            <pc:docMk/>
            <pc:sldMk cId="0" sldId="285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5.686" v="62" actId="1410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8.419" v="63" actId="1076"/>
          <ac:spMkLst>
            <pc:docMk/>
            <pc:sldMk cId="0" sldId="285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00.951" v="84" actId="1076"/>
        <pc:sldMkLst>
          <pc:docMk/>
          <pc:sldMk cId="0" sldId="286"/>
        </pc:sldMkLst>
        <pc:spChg chg="mod">
          <ac:chgData name="Emilie Abel" userId="20dec598-1860-40de-ab3f-181316cc4da6" providerId="ADAL" clId="{3EAE1975-14BE-41D5-9E3B-28573F0EE5DC}" dt="2026-09-07T14:19:56.983" v="83" actId="1076"/>
          <ac:spMkLst>
            <pc:docMk/>
            <pc:sldMk cId="0" sldId="28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4.620" v="64" actId="1076"/>
          <ac:spMkLst>
            <pc:docMk/>
            <pc:sldMk cId="0" sldId="28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7.844" v="65" actId="14100"/>
          <ac:spMkLst>
            <pc:docMk/>
            <pc:sldMk cId="0" sldId="286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23.810" v="78" actId="1076"/>
          <ac:spMkLst>
            <pc:docMk/>
            <pc:sldMk cId="0" sldId="28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33.734" v="67" actId="1076"/>
          <ac:spMkLst>
            <pc:docMk/>
            <pc:sldMk cId="0" sldId="28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9.470" v="81" actId="14100"/>
          <ac:spMkLst>
            <pc:docMk/>
            <pc:sldMk cId="0" sldId="28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5.371" v="80" actId="20577"/>
          <ac:spMkLst>
            <pc:docMk/>
            <pc:sldMk cId="0" sldId="286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00.951" v="84" actId="1076"/>
          <ac:spMkLst>
            <pc:docMk/>
            <pc:sldMk cId="0" sldId="28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5.199" v="77" actId="14100"/>
          <ac:spMkLst>
            <pc:docMk/>
            <pc:sldMk cId="0" sldId="28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1.786" v="76" actId="1076"/>
          <ac:spMkLst>
            <pc:docMk/>
            <pc:sldMk cId="0" sldId="286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56.998" v="72" actId="1076"/>
          <ac:spMkLst>
            <pc:docMk/>
            <pc:sldMk cId="0" sldId="286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08.869" v="75" actId="1076"/>
          <ac:spMkLst>
            <pc:docMk/>
            <pc:sldMk cId="0" sldId="286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20:21.402" v="86" actId="478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7T14:20:20.208" v="85" actId="478"/>
          <ac:spMkLst>
            <pc:docMk/>
            <pc:sldMk cId="0" sldId="287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20:21.402" v="86" actId="478"/>
          <ac:spMkLst>
            <pc:docMk/>
            <pc:sldMk cId="0" sldId="287"/>
            <ac:spMk id="13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47.382" v="94" actId="2057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7T14:20:38.966" v="90" actId="20577"/>
          <ac:spMkLst>
            <pc:docMk/>
            <pc:sldMk cId="0" sldId="28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47.382" v="94" actId="20577"/>
          <ac:spMkLst>
            <pc:docMk/>
            <pc:sldMk cId="0" sldId="288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1:33.507" v="143" actId="14100"/>
        <pc:sldMkLst>
          <pc:docMk/>
          <pc:sldMk cId="0" sldId="290"/>
        </pc:sldMkLst>
        <pc:spChg chg="mod">
          <ac:chgData name="Emilie Abel" userId="20dec598-1860-40de-ab3f-181316cc4da6" providerId="ADAL" clId="{3EAE1975-14BE-41D5-9E3B-28573F0EE5DC}" dt="2026-09-07T14:21:25.962" v="142" actId="20577"/>
          <ac:spMkLst>
            <pc:docMk/>
            <pc:sldMk cId="0" sldId="290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1:33.507" v="143" actId="14100"/>
          <ac:spMkLst>
            <pc:docMk/>
            <pc:sldMk cId="0" sldId="290"/>
            <ac:spMk id="1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8761274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1800" b="1" dirty="0">
                          <a:solidFill>
                            <a:srgbClr val="0F203E"/>
                          </a:solidFill>
                          <a:latin typeface="+mn-lt"/>
                        </a:rPr>
                        <a:t>GROUP BY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Andmestik — viis CSV-faili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37160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371600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188719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klient_id, nimi, linn, liitumise_kuupäev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103120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395727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0" y="2395727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212848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toode_id, nimetus, kategooria, hind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27248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200400"/>
            <a:ext cx="384048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kategooriad.csv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–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uus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aga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ära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praegu</a:t>
            </a:r>
            <a:r>
              <a:rPr lang="en-GB" sz="18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800" b="1" dirty="0" err="1">
                <a:solidFill>
                  <a:srgbClr val="0F203E"/>
                </a:solidFill>
                <a:latin typeface="Calibri"/>
              </a:rPr>
              <a:t>võta</a:t>
            </a:r>
            <a:endParaRPr sz="18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572000" y="3419856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3419856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6 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36976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kategooria_id, nimetus, osakond, km_maar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151376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42245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4443984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443984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261104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tellimus_id, klient_id, kuupäev, staatus, makseviis, tarneviis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175504"/>
            <a:ext cx="11430000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4360" y="524865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5468112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5468112"/>
            <a:ext cx="1371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5285232"/>
            <a:ext cx="53949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tellimus_rida_id, tellimus_id, toode_id, kogus, allahindlus_pct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Seosed ja SQL-lause järjekord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kliendid → tellimused → tellimuse_read → tooted → kategooriad
Täna töötame ühe tabeliga; homme liidame.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43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FROM /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667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43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667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15.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AS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paneb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veerule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loetava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COUNT(hind)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vahele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NULL-id;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COUNT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allesjäänud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
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7C9AE-4A3A-AB53-29CD-A61845F65937}"/>
              </a:ext>
            </a:extLst>
          </p:cNvPr>
          <p:cNvSpPr txBox="1"/>
          <p:nvPr/>
        </p:nvSpPr>
        <p:spPr>
          <a:xfrm>
            <a:off x="530352" y="4314403"/>
            <a:ext cx="6094476" cy="151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klienti on Tallinnas?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klientide_arv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</a:t>
            </a:r>
            <a:r>
              <a:rPr lang="en-GB" sz="1700" b="0" dirty="0" err="1">
                <a:latin typeface="Consolas"/>
              </a:rPr>
              <a:t>kliendid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linn = ‘Tallinn’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23DC3-330F-070C-16F0-00A64C63B076}"/>
              </a:ext>
            </a:extLst>
          </p:cNvPr>
          <p:cNvSpPr txBox="1"/>
          <p:nvPr/>
        </p:nvSpPr>
        <p:spPr>
          <a:xfrm>
            <a:off x="5839968" y="4318934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lisaseadmete_arv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</a:t>
            </a:r>
            <a:r>
              <a:rPr lang="en-GB" sz="1700" b="0" dirty="0" err="1">
                <a:latin typeface="Consolas"/>
              </a:rPr>
              <a:t>kategooria</a:t>
            </a:r>
            <a:r>
              <a:rPr lang="en-GB" sz="1700" b="0" dirty="0">
                <a:latin typeface="Consolas"/>
              </a:rPr>
              <a:t> = ‘</a:t>
            </a:r>
            <a:r>
              <a:rPr lang="fi-FI" sz="1700" dirty="0">
                <a:solidFill>
                  <a:srgbClr val="334155"/>
                </a:solidFill>
              </a:rPr>
              <a:t>Lisaseadmed</a:t>
            </a:r>
            <a:r>
              <a:rPr lang="en-GB" sz="1700" b="0" dirty="0">
                <a:latin typeface="Consolas"/>
              </a:rPr>
              <a:t>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ROUND(AVG(hind), 2)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Tallinnas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kokku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komakohta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Lisaseadmed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 ja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nende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3464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Mitu klienti elab Tallinnas?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tallinlasi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Mitu tellimust on tabelis kokku?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858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tellimuste_arv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6362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2550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Lisaseadmed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ja mis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nende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hindade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31529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203115"/>
            <a:ext cx="1110081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000" dirty="0">
                <a:solidFill>
                  <a:srgbClr val="E2E8F0"/>
                </a:solidFill>
                <a:latin typeface="Consolas"/>
              </a:rPr>
              <a:t>AVG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hindade_summa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Lisaseadmed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Mis on kategooria 'Arvutid' toodete arv ja keskmine hind?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toodete_arv, AVG(hind) AS keskmine_hind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kategooria = 'Arvutid';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GROUP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SELECT-is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olla: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agregaadid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(AVG, COUNT …).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olla SELECT-is,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pole GROUP BY-s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vastupidi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viga.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 err="1">
                <a:solidFill>
                  <a:srgbClr val="FF0000"/>
                </a:solidFill>
                <a:latin typeface="Calibri"/>
              </a:rPr>
              <a:t>Näita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 viga: SELECT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nimetus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, AVG(hind) GROUP BY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kategooria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Iga linn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rea. Tallinn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eesotsas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Aliast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klientide_arv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ORDER BY-s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kasutada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loogika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makseviisi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Arvuta toodete keskmine hind tootekategooriate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toodete arv kategooriate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odavaim ja kalleim hind igas kategoorias.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klientide arv linnade lõikes, suuremast väiksemani.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tellimuste arv makseviiside lõikes,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Kuva tellimuste arv staatuse lõikes.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keskmine tootehind kategooriate lõikes, kallimad ees.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847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9806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MIN(hind) AS odavaim, MAX(hind) AS kalleim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9496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tarneviis;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813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staatus;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keskmine tootehind kategooriate lõikes, kallimad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218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keskmine_hind DESC;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HAVING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algread enne rühmitamist.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staatus = 'Täidetud'.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45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visatakse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/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rühmitatakse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HAVING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</a:t>
            </a:r>
            <a:r>
              <a:rPr b="0" dirty="0">
                <a:solidFill>
                  <a:srgbClr val="FF0000"/>
                </a:solidFill>
                <a:latin typeface="Calibri"/>
              </a:rPr>
              <a:t>Koos: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kategooriad</a:t>
            </a:r>
            <a:r>
              <a:rPr b="0" dirty="0">
                <a:solidFill>
                  <a:srgbClr val="FF0000"/>
                </a:solidFill>
                <a:latin typeface="Calibri"/>
              </a:rPr>
              <a:t>,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kus</a:t>
            </a:r>
            <a:r>
              <a:rPr b="0" dirty="0">
                <a:solidFill>
                  <a:srgbClr val="FF0000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b="0" dirty="0">
                <a:solidFill>
                  <a:srgbClr val="FF0000"/>
                </a:solidFill>
                <a:latin typeface="Calibri"/>
              </a:rPr>
              <a:t>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kui</a:t>
            </a:r>
            <a:r>
              <a:rPr b="0" dirty="0">
                <a:solidFill>
                  <a:srgbClr val="FF0000"/>
                </a:solidFill>
                <a:latin typeface="Calibri"/>
              </a:rPr>
              <a:t> 3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toodet</a:t>
            </a:r>
            <a:r>
              <a:rPr b="0" dirty="0">
                <a:solidFill>
                  <a:srgbClr val="FF0000"/>
                </a:solidFill>
                <a:latin typeface="Calibri"/>
              </a:rPr>
              <a:t>.</a:t>
            </a:r>
            <a:endParaRPr sz="16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makseviisid, mida on kasutatud vähemalt 4 korda.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Ainult täidetud tellimused: makseviisid, millel on vähemalt 3 täidetud tellimust,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kategooriad, mille keskmine hind on üle 200 €.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Ainult täidetud: tarneviisid, mida on kasutatud rohkem kui 3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kategooriad, kus odavaim toode on alla 100 €.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072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2394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makseviisid, mida on kasutatud vähemalt 4 korda.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COUNT(*) &gt;= 4;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06984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makseviisid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millel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vähemalt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3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suuremad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53312"/>
            <a:ext cx="11430000" cy="12527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807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Leia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712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kategooriad, kus odavaim toode on alla 100 €.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MIN(hind) AS odavaim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MIN(hind) &lt; 100;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END AS hinnaklass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WHEN-id ülevalt alla; esimene tõene võidab. MacBook → Premium, monitor → Kesklahendus, hiir → Odav.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Kuva tooted veeruga: alla 100 = 'Odav', 100–500 = 'Kesklahendus', muidu 'Premium'.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Lisa tellimustele veerg: Täidetud = 'OK', Tühistatud = 'Katkestatud', muidu 'Töös'.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Kuva tooted hinnaklassiga, sorteerituna hinna järgi kahanevalt.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Loenda, mitu toodet on klassides Odav, Kesklahendus ja Premium (CASE GROUP BY-s).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Kuva ainult tooted, mille hind on üle 50 €, koos hinnaklassiga.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Rühmita tellimused: 'Pakiautomaat' vs 'Muu tarne'. Kuva arv.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Rühmita tellimused: 'Pangalink' vs 'Muu makse'. Kuva arv.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0817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439" y="1453896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50592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Lisa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tellimustele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veerg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'OK',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Tühistatud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Katkestatud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muidu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Töös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tellimus_id, staatus,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CASE WHEN staatus = 'Täidetud' THEN 'OK'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     WHEN staatus = 'Tühistatud' THEN 'Katkestatud'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     ELSE 'Töös' END AS seis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14984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     ELSE 'Premium' END AS hinnaklass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675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nimi, linn,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CASE WHEN linn = 'Tallinn' THEN 'Pealinn'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     ELSE 'Muu linn' END AS linnatüüp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Loenda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mitu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klassides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Odav,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Kesklahendus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71600"/>
            <a:ext cx="11430000" cy="11155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07592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tooted,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50 €,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koos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hinnaklassiga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7899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111008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WHERE hind &gt; 50;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Rühmita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Pakiautomaat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vs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tarne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29437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200" b="1" dirty="0" err="1">
                <a:solidFill>
                  <a:srgbClr val="334155"/>
                </a:solidFill>
                <a:latin typeface="Calibri"/>
              </a:rPr>
              <a:t>Rühmita</a:t>
            </a:r>
            <a:r>
              <a:rPr sz="12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200" b="1" dirty="0">
                <a:solidFill>
                  <a:srgbClr val="334155"/>
                </a:solidFill>
                <a:latin typeface="Calibri"/>
              </a:rPr>
              <a:t>: '</a:t>
            </a:r>
            <a:r>
              <a:rPr sz="1200" b="1" dirty="0" err="1">
                <a:solidFill>
                  <a:srgbClr val="334155"/>
                </a:solidFill>
                <a:latin typeface="Calibri"/>
              </a:rPr>
              <a:t>Pangalink</a:t>
            </a:r>
            <a:r>
              <a:rPr sz="1200" b="1" dirty="0">
                <a:solidFill>
                  <a:srgbClr val="334155"/>
                </a:solidFill>
                <a:latin typeface="Calibri"/>
              </a:rPr>
              <a:t>' vs '</a:t>
            </a:r>
            <a:r>
              <a:rPr sz="1200" b="1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2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334155"/>
                </a:solidFill>
                <a:latin typeface="Calibri"/>
              </a:rPr>
              <a:t>makse</a:t>
            </a:r>
            <a:r>
              <a:rPr sz="1200" b="1" dirty="0">
                <a:solidFill>
                  <a:srgbClr val="334155"/>
                </a:solidFill>
                <a:latin typeface="Calibri"/>
              </a:rPr>
              <a:t>'. Kuva </a:t>
            </a:r>
            <a:r>
              <a:rPr sz="1200" b="1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200" b="1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56869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45439" y="5559552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Pangalink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Pangalink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Pangalink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Pangalink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1: COUNT, MIN, MAX, SUM, AVG — mitu rida ja otspunktid.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2: GROUP BY — üks rida rühma kohta.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3: HAVING — filter pärast rühmitamist.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Plokk 4: CASE — uus veerg tingimuse järgi.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2 ülesannet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20774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Sama mis tase 1,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on alla 200,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Soodne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'Kallis'.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päring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Valmis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Pooleli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AVG(hind) AS keskmine_hind,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MIN(hind) AS odavaim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Kuva iga staatuse kohta tellimuste arv, suuremad ees.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staatus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200" b="0" dirty="0">
                <a:solidFill>
                  <a:srgbClr val="E2E8F0"/>
                </a:solidFill>
                <a:latin typeface="Consolas"/>
              </a:rPr>
              <a:t>CO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toodete_arv,AVG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keskmine_hind,MIN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odavaim,CASE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WHEN AVG(hind) &lt; 200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Soodne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ELSE 'Kallis' END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hinnatase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Sama, aga ainult staatused vähemalt 5 tellimusega. Lisa veerg: Täidetud = 'Valmis', muidu 'Pooleli'.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7251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CASE WHEN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Valmis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Pooleli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 END AS seis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5</a:t>
            </a:r>
          </a:p>
          <a:p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PÄEVA LÕPP  ·  MITTE PÕHIKAVA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Kes ploki harjutusega valmis saab — siit juurde, sama teema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3308</Words>
  <Application>Microsoft Office PowerPoint</Application>
  <PresentationFormat>Widescreen</PresentationFormat>
  <Paragraphs>511</Paragraphs>
  <Slides>37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Calibri</vt:lpstr>
      <vt:lpstr>Consolas</vt:lpstr>
      <vt:lpstr>Inter</vt:lpstr>
      <vt:lpstr>Office Theme</vt:lpstr>
      <vt:lpstr>PowerPoint Presentation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6</cp:revision>
  <dcterms:created xsi:type="dcterms:W3CDTF">2013-01-27T09:14:16Z</dcterms:created>
  <dcterms:modified xsi:type="dcterms:W3CDTF">2026-09-07T14:21:33Z</dcterms:modified>
  <cp:category/>
</cp:coreProperties>
</file>