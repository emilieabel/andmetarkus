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489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AA0B6A-941B-4944-B140-87817CB84C4C}" type="datetimeFigureOut">
              <a:rPr lang="en-GB" smtClean="0"/>
              <a:t>06/09/2026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2A790-CAE1-4036-9760-3E4C661760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1052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WHERE COUNT(*) &gt; 5 ei tööta. See on päeva peamine komistuskivi.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Kata kogu päeva teema.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2072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FB0F8B-9E23-166D-3268-A1AE51330EF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7E45BAB-0A4D-FAE6-2637-06CE42F19CFF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2C9CA05-F601-5A06-EEC2-869F5340162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48344C2-2414-764C-07DD-D8799B5FD47D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5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C49526"/>
                </a:solidFill>
                <a:latin typeface="Calibri"/>
              </a:rPr>
              <a:t>1. PÄEV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Agregeerimine</a:t>
            </a:r>
            <a:r>
              <a:rPr lang="en-GB" sz="4000" b="1" dirty="0">
                <a:solidFill>
                  <a:srgbClr val="FFFFFF"/>
                </a:solidFill>
                <a:latin typeface="Calibri"/>
              </a:rPr>
              <a:t> e </a:t>
            </a:r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4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COUNT, MIN, MAX, SUM, AVG  ·  GROUP BY  ·  HAVING  ·  CASE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8328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1  ·  agregaadid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383280"/>
            <a:ext cx="228600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3383280"/>
            <a:ext cx="2286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2  ·  GROUP BY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383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3  ·  HAVING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383280"/>
            <a:ext cx="192024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3383280"/>
            <a:ext cx="1920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4  · 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1480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kliendid  ·  tooted  ·  kategooriad  ·  tellimused  ·  tellimuse_read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08761274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sv-SE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COUNT, MIN, MAX, SUM, AVG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1800" b="1" dirty="0">
                          <a:solidFill>
                            <a:srgbClr val="0F203E"/>
                          </a:solidFill>
                          <a:latin typeface="+mn-lt"/>
                        </a:rPr>
                        <a:t>GROUP BY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GB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HAVING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CASE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Tänane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28016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58191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COUNT, MIN, MAX, SUM, AVG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58191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42316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56032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6207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6207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0332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84048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42231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142231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83479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512064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2239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42239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Andmestik — viis CSV-faili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kliendid.csv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37160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371600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188719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klient_id, nimi, linn, liitumise_kuupäev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103120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17627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tooted.csv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2395727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2395727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15 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212848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toode_id, nimetus, kategooria, hind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127248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200400"/>
            <a:ext cx="384048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kategooriad.csv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–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uus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aga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ära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praegu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võta</a:t>
            </a:r>
            <a:endParaRPr sz="18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572000" y="3419856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0" y="3419856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6 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36976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kategooria_id, nimetus, osakond, km_maar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151376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422452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tellimused.csv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4443984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4443984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261104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tellimus_id, klient_id, kuupäev, staatus, makseviis, tarneviis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5175504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360" y="5248656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tellimuse_read.csv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5468112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0" y="5468112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58 rida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85232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tellimus_rida_id, tellimus_id, toode_id, kogus, allahindlus_pct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Seosed ja SQL-lause järjekord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kliendid → tellimused → tellimuse_read → tooted → kategooriad
Täna töötame ühe tabeliga; homme liidame.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9659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94360" y="2606039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60603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9659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SELECT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9659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80560" y="2606039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0560" y="260603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19659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FROM / JOIN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9659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366760" y="2606039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60" y="260603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9659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0233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94360" y="466344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4663440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40233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480560" y="466344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80560" y="4663440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40233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0233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366760" y="466344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66760" y="4663440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40233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ORDER BY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1. PÄEV  ·  8 AK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Agregaadid → GROUP BY → HAVING → CASE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COUNT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mitu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?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sz="2800" b="1" dirty="0">
                <a:solidFill>
                  <a:srgbClr val="92D050"/>
                </a:solidFill>
                <a:latin typeface="Calibri"/>
              </a:rPr>
              <a:t> 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COUNT(*) AS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toodete_koguarv</a:t>
            </a:r>
            <a:endParaRPr sz="18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11247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COUNT(*) loendab read. Kataloogis on 15 toodet → tulemus 15.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AS paneb veerule loetava nime.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COUNT(hind) jätab vahele NULL-id; COUNT(*) loendab ka tühjad.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Koos WHERE-iga: mitu tellimust on staatusega 'Ootel'?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COUNT + WHERE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90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SELECT COUNT(*) AS ootel_arv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WHERE staatus = 'Ootel';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12471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Kõigepealt WHERE jätab read, siis COUNT loendab allesjäänud.
Koos: mitu klienti on Tallinnas? mitu toodet kategoorias 'Lisaseadmed'?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MIN, MAX, SUM, AVG  (~15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MIN(hind)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09728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väikseim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09728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Odavaim toode?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37743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3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MAX(hind)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37743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suurim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3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Kalleim toode?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65760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SUM(hind)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65760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65760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Hindade kogusumma?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3775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93775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AVG(hind)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93775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keskmine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93775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Keskmine tootehind?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MIN ja MAX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ühes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päringus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SELECT MIN(hind) AS odavaim, MAX(hind) AS kalleim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88036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2990088"/>
            <a:ext cx="11100816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SELECT ROUND(AVG(hind), 2) AS keskmine_hind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Oodatav: odavaim ~20 €, kalleim 1200 €. MIN/MAX tagastab arvu, mitte nime.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53312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Lahendused on järgmistel slaididel.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Mitu toodet on kataloogis?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Mis on odavaim ja kalleim hind?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Mitu klienti elab Tallinnas?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Mitu tellimust on staatusega 'Ootel'?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Mis on kogu kataloogi keskmine tootehind (kaks komakohta)?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Mitu toodet on kategoorias 'Lisaseadmed' ja mis on nende hindade summa?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toodet on kataloogis?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COUNT(*) AS toodete_koguarv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odavaim ja kalleim hind?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MIN(hind) AS odavaim, MAX(hind) AS kalleim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Mitu klienti elab Tallinnas?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COUNT(*) AS tallinlasi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linn = 'Tallinn';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tellimust on staatusega 'Ootel'?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COUNT(*) AS ootel_arv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staatus = 'Ootel';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kogu kataloogi keskmine tootehind (kaks komakohta)?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ROUND(AVG(hind), 2) AS keskmine_hind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Mitu toodet on kategoorias 'Lisaseadmed' ja mis on nende hindade summa?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COUNT(*) AS toodete_arv, SUM(hind) AS hindade_summa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kategooria = 'Lisaseadmed';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GROUP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GROUP BY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üks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iga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ko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ht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SELECT kategooria, AVG(hind) AS keskmine_hind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29184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291840"/>
            <a:ext cx="91440" cy="29260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40156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767328"/>
            <a:ext cx="110185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SELECT-is tohib olla: rühma võti (kategooria) ja agregaadid (AVG, COUNT …).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nimetus ei tohi olla SELECT-is, kui seda pole GROUP BY-s — muidu viga.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Näita viga: SELECT nimetus, AVG(hind) GROUP BY kategooria.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kliendid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linnade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kaupa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5760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Iga linn saab ühe rea. Tallinn on eesotsas.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Aliast klientide_arv võib ORDER BY-s kasutada.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Sama loogika: tellimused makseviisi kaupa.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53312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Lahendused on järgmistel slaididel.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Arvuta toodete keskmine hind tootekategooriate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toodete arv kategooriate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odavaim ja kalleim hind igas kategoorias.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klientide arv linnade lõikes, suuremast väiksemani.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Kuva tellimuste arv makseviiside lõikes, suuremad ees.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Kuva tellimuste arv staatuse lõikes.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Arvuta toodete keskmine hind tootekategooriate lõikes.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kategooria, AVG(hind) AS keskmine_hind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toodete arv kategooriate lõikes.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odavaim ja kalleim hind igas kategoorias.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kategooria, MIN(hind) AS odavaim, MAX(hind) AS kalleim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klientide arv linnade lõikes, suuremast väiksemani.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Kuva tellimuste arv makseviiside lõikes, suuremad ees.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tellimuste arv staatuse lõikes.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staatus, COUNT(*) AS tellimuste_arv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staatus;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HAVING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HAVING — filter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pärast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rühmitamist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611880"/>
            <a:ext cx="566928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611880"/>
            <a:ext cx="91440" cy="26060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7216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087368"/>
            <a:ext cx="5257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Filtreerib algread enne rühmitamist.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Nt staatus = 'Täidetud'.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11880"/>
            <a:ext cx="5532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3611880"/>
            <a:ext cx="91440" cy="260604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9672" y="372160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4087368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Filtreerib rühmi pärast koondamist.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Nt COUNT(*) &gt; 5.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WHERE ja HAVING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lang="en-GB" sz="2400" b="1" dirty="0">
                <a:solidFill>
                  <a:srgbClr val="92D050"/>
                </a:solidFill>
              </a:rPr>
              <a:t>NÄITAN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651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450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WHERE staatus = 'Täidetud'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77639"/>
            <a:ext cx="11247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Kõigepealt visatakse ootel/tühistatud välja, siis rühmitatakse, siis HAVING jätab alles rühmad.
Koos: kategooriad, kus on rohkem kui 3 toodet.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53312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Lahendused on järgmistel slaididel.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tarneviisid, mida on kasutatud rohkem kui 5 korda.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tootekategooriad, kus on rohkem kui 3 toodet.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linnad, kus on rohkem kui 4 klienti.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Ainult täidetud tellimused: makseviisid, millel on vähemalt 3 täidetud tellimust, suuremad ees.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kategooriad, mille keskmine hind on üle 200 €.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Ainult täidetud: tarneviisid, mida on kasutatud rohkem kui 3 korda.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tarneviisid, mida on kasutatud rohkem kui 5 korda.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tootekategooriad, kus on rohkem kui 3 toodet.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linnad, kus on rohkem kui 4 klienti.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HAVING COUNT(*) &gt; 4;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Ainult täidetud tellimused: makseviisid, millel on vähemalt 3 täidetud tellimust, suuremad ees.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staatus = 'Täidetud'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kategooriad, mille keskmine hind on üle 200 €.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kategooria, AVG(hind) AS keskmine_hind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HAVING AVG(hind) &gt; 200;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Ainult täidetud: tarneviisid, mida on kasutatud rohkem kui 3 korda.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staatus = 'Täidetud'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CASE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uus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veerg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tingimuse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järgi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794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3593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CASE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    WHEN hind &lt; 100 THEN 'Odav'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    WHEN hind BETWEEN 100 AND 500 THEN 'Kesklahendus'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    ELSE 'Premium'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END AS hinnaklass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WHEN-id ülevalt alla; esimene tõene võidab. MacBook → Premium, monitor → Kesklahendus, hiir → Odav.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53312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Lahendused on järgmistel slaididel.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Kuva tooted veeruga: alla 100 = 'Odav', 100–500 = 'Kesklahendus', muidu 'Premium'.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Lisa tellimustele veerg: Täidetud = 'OK', Tühistatud = 'Katkestatud', muidu 'Töös'.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Kuva tooted hinnaklassiga, sorteerituna hinna järgi kahanevalt.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Loenda, mitu toodet on klassides Odav, Kesklahendus ja Premium (CASE GROUP BY-s).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Kuva ainult tooted, mille hind on üle 50 €, koos hinnaklassiga.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Rühmita tellimused: 'Pakiautomaat' vs 'Muu tarne'. Kuva arv.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Kuva tooted veeruga: alla 100 = 'Odav', 100–500 = 'Kesklahendus', muidu 'Premium'.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WHEN hind BETWEEN 100 AND 500 THEN 'Kesklahendus'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ELSE 'Premium' END AS hinnaklass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Lisa tellimustele veerg: Täidetud = 'OK', Tühistatud = 'Katkestatud', muidu 'Töös'.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tellimus_id, staatus,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CASE WHEN staatus = 'Täidetud' THEN 'OK'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WHEN staatus = 'Tühistatud' THEN 'Katkestatud'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ELSE 'Töös' END AS seis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tooted hinnaklassiga, sorteerituna hinna järgi kahanevalt.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WHEN hind BETWEEN 100 AND 500 THEN 'Kesklahendus'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ELSE 'Premium' END AS hinnaklass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hind DESC;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Loenda, mitu toodet on klassides Odav, Kesklahendus ja Premium (CASE GROUP BY-s).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CASE WHEN hind &lt; 100 THEN 'Odav'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WHEN hind BETWEEN 100 AND 500 THEN 'Kesklahendus'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ELSE 'Premium' END AS hinnaklass,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COUNT(*) AS toodete_arv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CASE WHEN hind &lt; 100 THEN 'Odav'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  WHEN hind BETWEEN 100 AND 500 THEN 'Kesklahendus'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  ELSE 'Premium' END;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Kuva ainult tooted, mille hind on üle 50 €, koos hinnaklassiga.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WHEN hind BETWEEN 100 AND 500 THEN 'Kesklahendus'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ELSE 'Premium' END AS hinnaklass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hind &gt; 50;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Rühmita tellimused: 'Pakiautomaat' vs 'Muu tarne'. Kuva arv.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CASE WHEN tarneviis = 'Pakiautomaat' THEN 'Pakiautomaat'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ELSE 'Muu tarne' END AS tarnegrupp,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COUNT(*) AS tellimuste_arv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CASE WHEN tarneviis = 'Pakiautomaat' THEN 'Pakiautomaat'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  ELSE 'Muu tarne' END;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1. päeva kokkuvõte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Plokk 1: COUNT, MIN, MAX, SUM, AVG — mitu rida ja otspunktid.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Plokk 2: GROUP BY — üks rida rühma kohta.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Plokk 3: HAVING — filter pärast rühmitamist.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Plokk 4: CASE — uus veerg tingimuse järgi.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297680"/>
            <a:ext cx="114300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4297680"/>
            <a:ext cx="91440" cy="1920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440740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Homme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773168"/>
            <a:ext cx="11018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Liidame tabelid: kliendi nimi tellimuse kõrvale, osakond toote kõrvale, tulu pärast allahindlust.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kokkuvõttev harjutus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1 ülesanne taseme 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Lahendused on järgmistel slaididel.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83080"/>
            <a:ext cx="566928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52120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Kuva iga kategooria kohta toodete arv, keskmine hind ja odavaim hind. Sorteeri toodete arvu järgi kahanevalt.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5321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23160"/>
            <a:ext cx="50749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Sama mis tase 1, aga ainult kategooriad, kus on vähemalt 2 toodet. Lisa veerg: kui keskmine hind on alla 200, siis 'Soodne', muidu 'Kallis'.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Kuva iga kategooria kohta toodete arv, keskmine hind ja odavaim hind. Sorteeri toodete arvu järgi kahanevalt.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2860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560320"/>
            <a:ext cx="11430000" cy="3886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670048"/>
            <a:ext cx="11100816" cy="3685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kategooria,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COUNT(*) AS toodete_arv,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AVG(hind) AS keskmine_hind,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MIN(hind) AS odavaim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toodete_arv DESC;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Sama mis tase 1, aga ainult kategooriad, kus on vähemalt 2 toodet. Lisa veerg: kui keskmine hind on alla 200, siis 'Soodne', muidu 'Kallis'.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2860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560320"/>
            <a:ext cx="11430000" cy="3886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670048"/>
            <a:ext cx="11100816" cy="3685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kategooria,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COUNT(*) AS toodete_arv,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AVG(hind) AS keskmine_hind,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MIN(hind) AS odavaim,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CASE WHEN AVG(hind) &lt; 200 THEN 'Soodne'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     ELSE 'Kallis' END AS hinnatase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HAVING COUNT(*) &gt;= 2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toodete_arv DESC;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1. PÄEVA LÕPP  ·  MITTE PÕHIKAVA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Lisaülesanded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Kes ploki harjutusega valmis saab — siit juurde, sama teema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(koondid)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COUNT + WHERE  ·  mitu ootel tellimust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53312"/>
            <a:ext cx="11430000" cy="12344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63040"/>
            <a:ext cx="11100816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COUNT(*) AS ootel_arv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tellimused WHERE staatus = 'Ootel';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kliendid linnade kaupa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99232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108960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663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CASE  ·  hinnaklass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956048"/>
            <a:ext cx="11430000" cy="1280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5065776"/>
            <a:ext cx="111008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CASE WHEN hind &lt; 100 THEN 'Odav' WHEN hind BETWEEN 100 AND 500 THEN 'Kesklahendus' ELSE 'Premium' END AS hinnaklass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jätk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HAVING  ·  kategooriad, kus on üle 3 toote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737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918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tellimused makseviisiti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118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721608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2816</Words>
  <Application>Microsoft Office PowerPoint</Application>
  <PresentationFormat>Widescreen</PresentationFormat>
  <Paragraphs>442</Paragraphs>
  <Slides>37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Arial</vt:lpstr>
      <vt:lpstr>Calibri</vt:lpstr>
      <vt:lpstr>Consolas</vt:lpstr>
      <vt:lpstr>Inter</vt:lpstr>
      <vt:lpstr>Office Theme</vt:lpstr>
      <vt:lpstr>PowerPoint Presentation</vt:lpstr>
      <vt:lpstr>Päevakava - VII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3</cp:revision>
  <dcterms:created xsi:type="dcterms:W3CDTF">2013-01-27T09:14:16Z</dcterms:created>
  <dcterms:modified xsi:type="dcterms:W3CDTF">2026-09-06T18:01:49Z</dcterms:modified>
  <cp:category/>
</cp:coreProperties>
</file>