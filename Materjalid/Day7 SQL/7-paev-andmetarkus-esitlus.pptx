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9"/>
  </p:notesMasterIdLst>
  <p:sldIdLst>
    <p:sldId id="256" r:id="rId2"/>
    <p:sldId id="489" r:id="rId3"/>
    <p:sldId id="258" r:id="rId4"/>
    <p:sldId id="259" r:id="rId5"/>
    <p:sldId id="260" r:id="rId6"/>
    <p:sldId id="261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512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AA0B6A-941B-4944-B140-87817CB84C4C}" type="datetimeFigureOut">
              <a:rPr lang="en-GB" smtClean="0"/>
              <a:t>06/09/2026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02A790-CAE1-4036-9760-3E4C6617608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10529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Jäta see slaid ekraanile. Kolm harjutust mõlemal tasemel. Lahendused järgmistel slaididel.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Jäta see slaid ekraanile. Kolm harjutust mõlemal tasemel. Lahendused järgmistel slaididel.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WHERE COUNT(*) &gt; 5 ei tööta. See on päeva peamine komistuskivi.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Jäta see slaid ekraanile. Kolm harjutust mõlemal tasemel. Lahendused järgmistel slaididel.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Jäta see slaid ekraanile. Kolm harjutust mõlemal tasemel. Lahendused järgmistel slaididel.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Päeva lõpu harjutus. Tase 1 kõigile, tase 2 kiiretele. Kata kogu päeva teema.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Tase 1 kõigile. Kes valmis, võta tase 2. Kes ka selle teeb, mine esitluse lõppu lisaülesannete juurde.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Tase 1 kõigile. Kes valmis, võta tase 2. Kes ka selle teeb, mine esitluse lõppu lisaülesannete juurde.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620729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FFB0F8B-9E23-166D-3268-A1AE51330EF9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7E45BAB-0A4D-FAE6-2637-06CE42F19CFF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2C9CA05-F601-5A06-EEC2-869F53401620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548344C2-2414-764C-07DD-D8799B5FD47D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54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0972800" cy="3231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dirty="0">
                <a:solidFill>
                  <a:srgbClr val="C49526"/>
                </a:solidFill>
                <a:latin typeface="Calibri"/>
              </a:rPr>
              <a:t>1. PÄEV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70788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4000" b="1" dirty="0" err="1">
                <a:solidFill>
                  <a:srgbClr val="FFFFFF"/>
                </a:solidFill>
                <a:latin typeface="Calibri"/>
              </a:rPr>
              <a:t>Agregeerimine</a:t>
            </a:r>
            <a:r>
              <a:rPr lang="en-GB" sz="4000" b="1" dirty="0">
                <a:solidFill>
                  <a:srgbClr val="FFFFFF"/>
                </a:solidFill>
                <a:latin typeface="Calibri"/>
              </a:rPr>
              <a:t> e </a:t>
            </a:r>
            <a:r>
              <a:rPr lang="en-GB" sz="4000" b="1" dirty="0" err="1">
                <a:solidFill>
                  <a:srgbClr val="FFFFFF"/>
                </a:solidFill>
                <a:latin typeface="Calibri"/>
              </a:rPr>
              <a:t>arvutused</a:t>
            </a:r>
            <a:endParaRPr sz="40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40080" y="26060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BACCE0"/>
                </a:solidFill>
                <a:latin typeface="Calibri"/>
              </a:rPr>
              <a:t>COUNT, MIN, MAX, SUM, AVG  ·  GROUP BY  ·  HAVING  ·  CASE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83280"/>
            <a:ext cx="2468880" cy="41148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3383280"/>
            <a:ext cx="24688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Plokk 1  ·  agregaadid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6120" y="3383280"/>
            <a:ext cx="2286000" cy="41148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46120" y="3383280"/>
            <a:ext cx="22860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Plokk 2  ·  GROUP BY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0" y="3383280"/>
            <a:ext cx="2103120" cy="41148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669280" y="3383280"/>
            <a:ext cx="21031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Plokk 3  ·  HAVING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09560" y="3383280"/>
            <a:ext cx="1920240" cy="41148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909560" y="3383280"/>
            <a:ext cx="19202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Plokk 4  ·  CASE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11480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4A3B8"/>
                </a:solidFill>
                <a:latin typeface="Calibri"/>
              </a:rPr>
              <a:t>kliendid  ·  tooted  ·  kategooriad  ·  tellimused  ·  tellimuse_read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0372B-A5B8-260D-C940-47B5F56C1F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A291BE-55D8-719B-FCEB-18D326A1599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dirty="0" err="1">
                <a:ea typeface="+mj-lt"/>
                <a:cs typeface="+mj-lt"/>
              </a:rPr>
              <a:t>Päevakava</a:t>
            </a:r>
            <a:r>
              <a:rPr lang="en-US" sz="3600" b="1" dirty="0">
                <a:ea typeface="+mj-lt"/>
                <a:cs typeface="+mj-lt"/>
              </a:rPr>
              <a:t> - VII </a:t>
            </a:r>
            <a:r>
              <a:rPr lang="en-US" sz="3600" b="1" dirty="0" err="1">
                <a:ea typeface="+mj-lt"/>
                <a:cs typeface="+mj-lt"/>
              </a:rPr>
              <a:t>päev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55805DDA-288D-DB3E-2A59-EC7449C89D98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2087612740"/>
              </p:ext>
            </p:extLst>
          </p:nvPr>
        </p:nvGraphicFramePr>
        <p:xfrm>
          <a:off x="623888" y="1268413"/>
          <a:ext cx="10941050" cy="409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941050">
                  <a:extLst>
                    <a:ext uri="{9D8B030D-6E8A-4147-A177-3AD203B41FA5}">
                      <a16:colId xmlns:a16="http://schemas.microsoft.com/office/drawing/2014/main" val="265845882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342900" marR="0" lvl="0" indent="-342900" algn="l" defTabSz="457200" rtl="0" eaLnBrk="1" fontAlgn="base" latinLnBrk="0" hangingPunct="1">
                        <a:lnSpc>
                          <a:spcPts val="31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09:00 – 10:30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andmebaasi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kontroll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, </a:t>
                      </a:r>
                      <a:r>
                        <a:rPr lang="sv-SE" sz="2400" b="0" dirty="0">
                          <a:solidFill>
                            <a:srgbClr val="0F203E"/>
                          </a:solidFill>
                          <a:latin typeface="+mn-lt"/>
                        </a:rPr>
                        <a:t>COUNT, MIN, MAX, SUM, AVG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976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10:30 – 10:45 –  Paus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182460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marR="0" lvl="0" indent="-342900" algn="l" defTabSz="457200" rtl="0" eaLnBrk="1" fontAlgn="base" latinLnBrk="0" hangingPunct="1">
                        <a:lnSpc>
                          <a:spcPts val="31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10:45 – 12:15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GB" sz="1800" b="1" dirty="0">
                          <a:solidFill>
                            <a:srgbClr val="0F203E"/>
                          </a:solidFill>
                          <a:latin typeface="+mn-lt"/>
                        </a:rPr>
                        <a:t>GROUP BY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0537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12:15 – 13:15 –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Lõunapaus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endParaRPr lang="en-US" b="0" i="0" u="none" strike="noStrike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2074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342900" marR="0" lvl="0" indent="-342900" algn="l" defTabSz="457200" rtl="0" eaLnBrk="1" fontAlgn="base" latinLnBrk="0" hangingPunct="1">
                        <a:lnSpc>
                          <a:spcPts val="31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13:15 – 14:45 – Koolitus – </a:t>
                      </a:r>
                      <a:r>
                        <a:rPr lang="en-GB" sz="2400" b="0" dirty="0">
                          <a:solidFill>
                            <a:srgbClr val="0F203E"/>
                          </a:solidFill>
                          <a:latin typeface="+mn-lt"/>
                        </a:rPr>
                        <a:t>HAVING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24087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14:45 – 15:00 – Paus </a:t>
                      </a:r>
                      <a:endParaRPr lang="en-US" b="0" i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35736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15:00 – 16:30 – Koolitus – CASE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78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69187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Tänane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kava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11430000" cy="1170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1280160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dirty="0" err="1">
                <a:solidFill>
                  <a:srgbClr val="64748B"/>
                </a:solidFill>
                <a:latin typeface="Calibri"/>
              </a:rPr>
              <a:t>Plokk</a:t>
            </a:r>
            <a:r>
              <a:rPr sz="1300" b="0" dirty="0">
                <a:solidFill>
                  <a:srgbClr val="64748B"/>
                </a:solidFill>
                <a:latin typeface="Calibri"/>
              </a:rPr>
              <a:t>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581912"/>
            <a:ext cx="77724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dirty="0">
                <a:solidFill>
                  <a:srgbClr val="0F203E"/>
                </a:solidFill>
                <a:latin typeface="Calibri"/>
              </a:rPr>
              <a:t>COUNT, MIN, MAX, SUM, AVG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1581912"/>
            <a:ext cx="3017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07073"/>
                </a:solidFill>
                <a:latin typeface="Calibri"/>
              </a:rPr>
              <a:t>Väike harjutus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2423160"/>
            <a:ext cx="11430000" cy="1170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" y="2560320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dirty="0" err="1">
                <a:solidFill>
                  <a:srgbClr val="64748B"/>
                </a:solidFill>
                <a:latin typeface="Calibri"/>
              </a:rPr>
              <a:t>Plokk</a:t>
            </a:r>
            <a:r>
              <a:rPr sz="1300" b="0" dirty="0">
                <a:solidFill>
                  <a:srgbClr val="64748B"/>
                </a:solidFill>
                <a:latin typeface="Calibri"/>
              </a:rPr>
              <a:t>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62072"/>
            <a:ext cx="77724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dirty="0">
                <a:solidFill>
                  <a:srgbClr val="0F203E"/>
                </a:solidFill>
                <a:latin typeface="Calibri"/>
              </a:rPr>
              <a:t>GROUP BY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2862072"/>
            <a:ext cx="3017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07073"/>
                </a:solidFill>
                <a:latin typeface="Calibri"/>
              </a:rPr>
              <a:t>Väike harjutus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3703320"/>
            <a:ext cx="11430000" cy="1170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94360" y="3840480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dirty="0" err="1">
                <a:solidFill>
                  <a:srgbClr val="64748B"/>
                </a:solidFill>
                <a:latin typeface="Calibri"/>
              </a:rPr>
              <a:t>Plokk</a:t>
            </a:r>
            <a:r>
              <a:rPr sz="1300" b="0" dirty="0">
                <a:solidFill>
                  <a:srgbClr val="64748B"/>
                </a:solidFill>
                <a:latin typeface="Calibri"/>
              </a:rPr>
              <a:t>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142231"/>
            <a:ext cx="77724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dirty="0">
                <a:solidFill>
                  <a:srgbClr val="0F203E"/>
                </a:solidFill>
                <a:latin typeface="Calibri"/>
              </a:rPr>
              <a:t>HAVING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4142231"/>
            <a:ext cx="3017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07073"/>
                </a:solidFill>
                <a:latin typeface="Calibri"/>
              </a:rPr>
              <a:t>Väike harjutus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4983479"/>
            <a:ext cx="11430000" cy="1170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94360" y="5120640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dirty="0" err="1">
                <a:solidFill>
                  <a:srgbClr val="64748B"/>
                </a:solidFill>
                <a:latin typeface="Calibri"/>
              </a:rPr>
              <a:t>Plokk</a:t>
            </a:r>
            <a:r>
              <a:rPr sz="1300" b="0" dirty="0">
                <a:solidFill>
                  <a:srgbClr val="64748B"/>
                </a:solidFill>
                <a:latin typeface="Calibri"/>
              </a:rPr>
              <a:t>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5422392"/>
            <a:ext cx="77724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CASE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5422392"/>
            <a:ext cx="3017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07073"/>
                </a:solidFill>
                <a:latin typeface="Calibri"/>
              </a:rPr>
              <a:t>Väike harjutus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Andmestik — viis CSV-faili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78992"/>
            <a:ext cx="11430000" cy="9326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kliendid.csv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0" y="1371600"/>
            <a:ext cx="1371600" cy="347472"/>
          </a:xfrm>
          <a:prstGeom prst="roundRect">
            <a:avLst>
              <a:gd name="adj" fmla="val 8000"/>
            </a:avLst>
          </a:prstGeom>
          <a:solidFill>
            <a:srgbClr val="E0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0" y="1371600"/>
            <a:ext cx="13716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05457"/>
                </a:solidFill>
                <a:latin typeface="Calibri"/>
              </a:rPr>
              <a:t>30 rida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1188719"/>
            <a:ext cx="53949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Calibri"/>
              </a:rPr>
              <a:t>klient_id, nimi, linn, liitumise_kuupäev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2103120"/>
            <a:ext cx="11430000" cy="9326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94360" y="2176272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tooted.csv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0" y="2395727"/>
            <a:ext cx="1371600" cy="347472"/>
          </a:xfrm>
          <a:prstGeom prst="roundRect">
            <a:avLst>
              <a:gd name="adj" fmla="val 8000"/>
            </a:avLst>
          </a:prstGeom>
          <a:solidFill>
            <a:srgbClr val="E0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0" y="2395727"/>
            <a:ext cx="13716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05457"/>
                </a:solidFill>
                <a:latin typeface="Calibri"/>
              </a:rPr>
              <a:t>15 rida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2212848"/>
            <a:ext cx="53949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Calibri"/>
              </a:rPr>
              <a:t>toode_id, nimetus, kategooria, hind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127248"/>
            <a:ext cx="11430000" cy="9326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4360" y="3200400"/>
            <a:ext cx="3840480" cy="6463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dirty="0">
                <a:solidFill>
                  <a:srgbClr val="0F203E"/>
                </a:solidFill>
                <a:latin typeface="Calibri"/>
              </a:rPr>
              <a:t>kategooriad.csv</a:t>
            </a:r>
            <a:r>
              <a:rPr lang="en-GB" sz="1800" b="1" dirty="0">
                <a:solidFill>
                  <a:srgbClr val="0F203E"/>
                </a:solidFill>
                <a:latin typeface="Calibri"/>
              </a:rPr>
              <a:t> – </a:t>
            </a:r>
            <a:r>
              <a:rPr lang="en-GB" sz="1800" b="1" dirty="0" err="1">
                <a:solidFill>
                  <a:srgbClr val="0F203E"/>
                </a:solidFill>
                <a:latin typeface="Calibri"/>
              </a:rPr>
              <a:t>uus</a:t>
            </a:r>
            <a:r>
              <a:rPr lang="en-GB" sz="1800" b="1" dirty="0">
                <a:solidFill>
                  <a:srgbClr val="0F203E"/>
                </a:solidFill>
                <a:latin typeface="Calibri"/>
              </a:rPr>
              <a:t> aga </a:t>
            </a:r>
            <a:r>
              <a:rPr lang="en-GB" sz="1800" b="1" dirty="0" err="1">
                <a:solidFill>
                  <a:srgbClr val="0F203E"/>
                </a:solidFill>
                <a:latin typeface="Calibri"/>
              </a:rPr>
              <a:t>ära</a:t>
            </a:r>
            <a:r>
              <a:rPr lang="en-GB" sz="18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1800" b="1" dirty="0" err="1">
                <a:solidFill>
                  <a:srgbClr val="0F203E"/>
                </a:solidFill>
                <a:latin typeface="Calibri"/>
              </a:rPr>
              <a:t>praegu</a:t>
            </a:r>
            <a:r>
              <a:rPr lang="en-GB" sz="18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1800" b="1" dirty="0" err="1">
                <a:solidFill>
                  <a:srgbClr val="0F203E"/>
                </a:solidFill>
                <a:latin typeface="Calibri"/>
              </a:rPr>
              <a:t>võta</a:t>
            </a:r>
            <a:endParaRPr sz="18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4572000" y="3419856"/>
            <a:ext cx="1371600" cy="347472"/>
          </a:xfrm>
          <a:prstGeom prst="roundRect">
            <a:avLst>
              <a:gd name="adj" fmla="val 8000"/>
            </a:avLst>
          </a:prstGeom>
          <a:solidFill>
            <a:srgbClr val="E0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72000" y="3419856"/>
            <a:ext cx="13716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05457"/>
                </a:solidFill>
                <a:latin typeface="Calibri"/>
              </a:rPr>
              <a:t>6 rida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3236976"/>
            <a:ext cx="53949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Calibri"/>
              </a:rPr>
              <a:t>kategooria_id, nimetus, osakond, km_maar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" y="4151376"/>
            <a:ext cx="11430000" cy="9326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94360" y="4224528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tellimused.csv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0" y="4443984"/>
            <a:ext cx="1371600" cy="347472"/>
          </a:xfrm>
          <a:prstGeom prst="roundRect">
            <a:avLst>
              <a:gd name="adj" fmla="val 8000"/>
            </a:avLst>
          </a:prstGeom>
          <a:solidFill>
            <a:srgbClr val="E0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572000" y="4443984"/>
            <a:ext cx="13716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05457"/>
                </a:solidFill>
                <a:latin typeface="Calibri"/>
              </a:rPr>
              <a:t>30 rida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4261104"/>
            <a:ext cx="53949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Calibri"/>
              </a:rPr>
              <a:t>tellimus_id, klient_id, kuupäev, staatus, makseviis, tarneviis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5760" y="5175504"/>
            <a:ext cx="11430000" cy="9326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94360" y="5248656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tellimuse_read.csv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0" y="5468112"/>
            <a:ext cx="1371600" cy="347472"/>
          </a:xfrm>
          <a:prstGeom prst="roundRect">
            <a:avLst>
              <a:gd name="adj" fmla="val 8000"/>
            </a:avLst>
          </a:prstGeom>
          <a:solidFill>
            <a:srgbClr val="E0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572000" y="5468112"/>
            <a:ext cx="13716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05457"/>
                </a:solidFill>
                <a:latin typeface="Calibri"/>
              </a:rPr>
              <a:t>58 rida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0" y="5285232"/>
            <a:ext cx="53949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Calibri"/>
              </a:rPr>
              <a:t>tellimus_rida_id, tellimus_id, toode_id, kogus, allahindlus_pct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Seosed ja SQL-lause järjekord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5156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Calibri"/>
              </a:rPr>
              <a:t>kliendid → tellimused → tellimuse_read → tooted → kategooriad
Täna töötame ühe tabeliga; homme liidame.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965960"/>
            <a:ext cx="370332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594360" y="2606039"/>
            <a:ext cx="502920" cy="45720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4360" y="2606039"/>
            <a:ext cx="502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1965960"/>
            <a:ext cx="256032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dirty="0">
                <a:solidFill>
                  <a:srgbClr val="0F203E"/>
                </a:solidFill>
                <a:latin typeface="Calibri"/>
              </a:rPr>
              <a:t>SELECT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51960" y="1965960"/>
            <a:ext cx="370332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480560" y="2606039"/>
            <a:ext cx="502920" cy="45720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480560" y="2606039"/>
            <a:ext cx="502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66360" y="1965960"/>
            <a:ext cx="256032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FROM / JOIN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1965960"/>
            <a:ext cx="370332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366760" y="2606039"/>
            <a:ext cx="502920" cy="45720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66760" y="2606039"/>
            <a:ext cx="502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1965960"/>
            <a:ext cx="256032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WHERE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4023360"/>
            <a:ext cx="370332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594360" y="4663440"/>
            <a:ext cx="502920" cy="45720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94360" y="4663440"/>
            <a:ext cx="502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023360"/>
            <a:ext cx="256032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GROUP BY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51960" y="4023360"/>
            <a:ext cx="370332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4480560" y="4663440"/>
            <a:ext cx="502920" cy="45720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480560" y="4663440"/>
            <a:ext cx="502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66360" y="4023360"/>
            <a:ext cx="256032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HAVING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38160" y="4023360"/>
            <a:ext cx="370332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8366760" y="4663440"/>
            <a:ext cx="502920" cy="45720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366760" y="4663440"/>
            <a:ext cx="502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52560" y="4023360"/>
            <a:ext cx="256032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ORDER BY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C49526"/>
                </a:solidFill>
                <a:latin typeface="Calibri"/>
              </a:rPr>
              <a:t>1. PÄEV  ·  8 AK 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61555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3400" b="1" dirty="0" err="1">
                <a:solidFill>
                  <a:srgbClr val="FFFFFF"/>
                </a:solidFill>
                <a:latin typeface="Calibri"/>
              </a:rPr>
              <a:t>Arvutused</a:t>
            </a:r>
            <a:endParaRPr sz="3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35204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BACCE0"/>
                </a:solidFill>
                <a:latin typeface="Calibri"/>
              </a:rPr>
              <a:t>Agregaadid → GROUP BY → HAVING → CASE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SQL koolitus  ·  1. päev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77302"/>
            <a:ext cx="11430000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>
                <a:solidFill>
                  <a:srgbClr val="FFFFFF"/>
                </a:solidFill>
                <a:latin typeface="Calibri"/>
              </a:rPr>
              <a:t>COUNT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mitu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rida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?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800" b="1" dirty="0">
                <a:solidFill>
                  <a:srgbClr val="92D050"/>
                </a:solidFill>
                <a:latin typeface="Calibri"/>
              </a:rPr>
              <a:t>NÄITAN</a:t>
            </a:r>
            <a:r>
              <a:rPr sz="2800" b="1" dirty="0">
                <a:solidFill>
                  <a:srgbClr val="92D050"/>
                </a:solidFill>
                <a:latin typeface="Calibri"/>
              </a:rPr>
              <a:t> </a:t>
            </a:r>
            <a:endParaRPr sz="2400" b="1" dirty="0">
              <a:solidFill>
                <a:srgbClr val="92D05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15544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11100816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800" b="0" dirty="0">
                <a:solidFill>
                  <a:srgbClr val="E2E8F0"/>
                </a:solidFill>
                <a:latin typeface="Consolas"/>
              </a:rPr>
              <a:t>SELECT COUNT(*) AS </a:t>
            </a:r>
            <a:r>
              <a:rPr sz="1800" b="0" dirty="0" err="1">
                <a:solidFill>
                  <a:srgbClr val="E2E8F0"/>
                </a:solidFill>
                <a:latin typeface="Consolas"/>
              </a:rPr>
              <a:t>toodete_koguarv</a:t>
            </a:r>
            <a:endParaRPr sz="18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800" b="0" dirty="0">
                <a:solidFill>
                  <a:srgbClr val="E2E8F0"/>
                </a:solidFill>
                <a:latin typeface="Consolas"/>
              </a:rPr>
              <a:t>FROM tooted;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880360"/>
            <a:ext cx="112471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•  COUNT(*) loendab read. Kataloogis on 15 toodet → tulemus 15.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•  AS paneb veerule loetava nime.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•  COUNT(hind) jätab vahele NULL-id; COUNT(*) loendab ka tühjad.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•  Koos WHERE-iga: mitu tellimust on staatusega 'Ootel'?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 dirty="0">
                <a:solidFill>
                  <a:srgbClr val="FFFFFF"/>
                </a:solidFill>
                <a:latin typeface="Calibri"/>
              </a:rPr>
              <a:t>COUNT + WHERE </a:t>
            </a:r>
            <a:r>
              <a:rPr lang="en-GB" sz="2400" b="1" dirty="0">
                <a:solidFill>
                  <a:srgbClr val="92D050"/>
                </a:solidFill>
              </a:rPr>
              <a:t>NÄITAN 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210312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11100816" cy="19019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0">
                <a:solidFill>
                  <a:srgbClr val="E2E8F0"/>
                </a:solidFill>
                <a:latin typeface="Consolas"/>
              </a:rPr>
              <a:t>SELECT COUNT(*) AS ootel_arv</a:t>
            </a:r>
          </a:p>
          <a:p>
            <a:pPr>
              <a:spcAft>
                <a:spcPts val="300"/>
              </a:spcAft>
            </a:pPr>
            <a:r>
              <a:rPr sz="1700" b="0">
                <a:solidFill>
                  <a:srgbClr val="E2E8F0"/>
                </a:solidFill>
                <a:latin typeface="Consolas"/>
              </a:rPr>
              <a:t>FROM tellimused</a:t>
            </a:r>
          </a:p>
          <a:p>
            <a:pPr>
              <a:spcAft>
                <a:spcPts val="300"/>
              </a:spcAft>
            </a:pPr>
            <a:r>
              <a:rPr sz="1700" b="0">
                <a:solidFill>
                  <a:srgbClr val="E2E8F0"/>
                </a:solidFill>
                <a:latin typeface="Consolas"/>
              </a:rPr>
              <a:t>WHERE staatus = 'Ootel';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429000"/>
            <a:ext cx="112471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Kõigepealt WHERE jätab read, siis COUNT loendab allesjäänud.
Koos: mitu klienti on Tallinnas? mitu toodet kategoorias 'Lisaseadmed'?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MIN, MAX, SUM, AVG  (~15 min)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1097280"/>
            <a:ext cx="32004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MIN(hind)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1097280"/>
            <a:ext cx="22860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07073"/>
                </a:solidFill>
                <a:latin typeface="Calibri"/>
              </a:rPr>
              <a:t>väikseim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097280"/>
            <a:ext cx="521208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Odavaim toode?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2377439"/>
            <a:ext cx="1143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2377439"/>
            <a:ext cx="32004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MAX(hind)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2377439"/>
            <a:ext cx="22860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07073"/>
                </a:solidFill>
                <a:latin typeface="Calibri"/>
              </a:rPr>
              <a:t>suurim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377439"/>
            <a:ext cx="521208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Kalleim toode?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3657600"/>
            <a:ext cx="1143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3657600"/>
            <a:ext cx="32004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SUM(hind)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3657600"/>
            <a:ext cx="22860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07073"/>
                </a:solidFill>
                <a:latin typeface="Calibri"/>
              </a:rPr>
              <a:t>summa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657600"/>
            <a:ext cx="521208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Hindade kogusumma?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4937759"/>
            <a:ext cx="1143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" y="4937759"/>
            <a:ext cx="32004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AVG(hind)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4937759"/>
            <a:ext cx="22860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07073"/>
                </a:solidFill>
                <a:latin typeface="Calibri"/>
              </a:rPr>
              <a:t>keskmine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937759"/>
            <a:ext cx="521208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Keskmine tootehind?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 dirty="0">
                <a:solidFill>
                  <a:srgbClr val="FFFFFF"/>
                </a:solidFill>
                <a:latin typeface="Calibri"/>
              </a:rPr>
              <a:t>MIN ja MAX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ühes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päringus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</a:rPr>
              <a:t>NÄITAN 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15544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11100816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0">
                <a:solidFill>
                  <a:srgbClr val="E2E8F0"/>
                </a:solidFill>
                <a:latin typeface="Consolas"/>
              </a:rPr>
              <a:t>SELECT MIN(hind) AS odavaim, MAX(hind) AS kalleim</a:t>
            </a:r>
          </a:p>
          <a:p>
            <a:pPr>
              <a:spcAft>
                <a:spcPts val="300"/>
              </a:spcAft>
            </a:pPr>
            <a:r>
              <a:rPr sz="1700" b="0">
                <a:solidFill>
                  <a:srgbClr val="E2E8F0"/>
                </a:solidFill>
                <a:latin typeface="Consolas"/>
              </a:rPr>
              <a:t>FROM tooted;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2880360"/>
            <a:ext cx="11430000" cy="141732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30352" y="2990088"/>
            <a:ext cx="11100816" cy="1216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0">
                <a:solidFill>
                  <a:srgbClr val="E2E8F0"/>
                </a:solidFill>
                <a:latin typeface="Consolas"/>
              </a:rPr>
              <a:t>SELECT ROUND(AVG(hind), 2) AS keskmine_hind</a:t>
            </a:r>
          </a:p>
          <a:p>
            <a:pPr>
              <a:spcAft>
                <a:spcPts val="300"/>
              </a:spcAft>
            </a:pPr>
            <a:r>
              <a:rPr sz="1700" b="0">
                <a:solidFill>
                  <a:srgbClr val="E2E8F0"/>
                </a:solidFill>
                <a:latin typeface="Consolas"/>
              </a:rPr>
              <a:t>FROM tooted;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526280"/>
            <a:ext cx="1124712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Oodatav: odavaim ~20 €, kalleim 1200 €. MIN/MAX tagastab arvu, mitte nime.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46525"/>
            <a:ext cx="11430000" cy="5847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proovi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2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42415"/>
            <a:ext cx="384048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42415"/>
            <a:ext cx="3840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kõigile  ·  tase 2 kui valmis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353312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Calibri"/>
              </a:rPr>
              <a:t>Lahendused on järgmistel slaididel.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286000"/>
            <a:ext cx="5303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1.  Mitu toodet on kataloogis?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2.  Mis on odavaim ja kalleim hind?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3.  Mitu klienti elab Tallinnas?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286000"/>
            <a:ext cx="5166359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1.  Mitu tellimust on staatusega 'Ootel'?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2.  Mis on kogu kataloogi keskmine tootehind (kaks komakohta)?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3.  Mitu toodet on kategoorias 'Lisaseadmed' ja mis on nende hindade summa?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Lahendused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24128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37160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1.  Mitu toodet on kataloogis?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2763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30352" y="173736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COUNT(*) AS toodete_koguarv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tooted;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324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2.  Mis on odavaim ja kalleim hind?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31927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342900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MIN(hind) AS odavaim, MAX(hind) AS kalleim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tooted;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75488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3.  Mitu klienti elab Tallinnas?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501091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0352" y="512064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COUNT(*) AS tallinlasi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kliendid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WHERE linn = 'Tallinn';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Lahendused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24128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37160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1.  Mitu tellimust on staatusega 'Ootel'?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2763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30352" y="173736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COUNT(*) AS ootel_arv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tellimused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WHERE staatus = 'Ootel';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324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2.  Mis on kogu kataloogi keskmine tootehind (kaks komakohta)?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31927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342900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ROUND(AVG(hind), 2) AS keskmine_hind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tooted;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75488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3.  Mitu toodet on kategoorias 'Lisaseadmed' ja mis on nende hindade summa?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501091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0352" y="512064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COUNT(*) AS toodete_arv, SUM(hind) AS hindade_summa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WHERE kategooria = 'Lisaseadmed';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C49526"/>
                </a:solidFill>
                <a:latin typeface="Calibri"/>
              </a:rPr>
              <a:t>PLOKK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GROUP BY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 dirty="0">
                <a:solidFill>
                  <a:srgbClr val="FFFFFF"/>
                </a:solidFill>
                <a:latin typeface="Calibri"/>
              </a:rPr>
              <a:t>GROUP BY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üks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rida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iga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rühma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ko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ht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a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</a:rPr>
              <a:t>NÄITAN 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19659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11100816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0">
                <a:solidFill>
                  <a:srgbClr val="E2E8F0"/>
                </a:solidFill>
                <a:latin typeface="Consolas"/>
              </a:rPr>
              <a:t>SELECT kategooria, AVG(hind) AS keskmine_hind</a:t>
            </a:r>
          </a:p>
          <a:p>
            <a:pPr>
              <a:spcAft>
                <a:spcPts val="300"/>
              </a:spcAft>
            </a:pPr>
            <a:r>
              <a:rPr sz="1700" b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pPr>
              <a:spcAft>
                <a:spcPts val="300"/>
              </a:spcAft>
            </a:pPr>
            <a:r>
              <a:rPr sz="1700" b="0">
                <a:solidFill>
                  <a:srgbClr val="E2E8F0"/>
                </a:solidFill>
                <a:latin typeface="Consolas"/>
              </a:rPr>
              <a:t>GROUP BY kategooria;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3291840"/>
            <a:ext cx="11430000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65760" y="3291840"/>
            <a:ext cx="91440" cy="292608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1792" y="3401568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Reegel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767328"/>
            <a:ext cx="1101852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SELECT-is tohib olla: rühma võti (kategooria) ja agregaadid (AVG, COUNT …).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nimetus ei tohi olla SELECT-is, kui seda pole GROUP BY-s — muidu viga.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Näita viga: SELECT nimetus, AVG(hind) GROUP BY kategooria.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 dirty="0" err="1">
                <a:solidFill>
                  <a:srgbClr val="FFFFFF"/>
                </a:solidFill>
                <a:latin typeface="Calibri"/>
              </a:rPr>
              <a:t>Näide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: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kliendid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linnade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kaupa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</a:rPr>
              <a:t>NÄITAN 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22860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11100816" cy="2084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SELECT linn, COUNT(*) AS klientide_arv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FROM kliendid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GROUP BY linn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ORDER BY klientide_arv DESC;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657600"/>
            <a:ext cx="112471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•  Iga linn saab ühe rea. Tallinn on eesotsas.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•  Aliast klientide_arv võib ORDER BY-s kasutada.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•  Sama loogika: tellimused makseviisi kaupa.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proovi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42415"/>
            <a:ext cx="384048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42415"/>
            <a:ext cx="3840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kõigile  ·  tase 2 kui valmis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353312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Calibri"/>
              </a:rPr>
              <a:t>Lahendused on järgmistel slaididel.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286000"/>
            <a:ext cx="5303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1.  Arvuta toodete keskmine hind tootekategooriate lõikes.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2.  Leia toodete arv kategooriate lõikes.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3.  Leia odavaim ja kalleim hind igas kategoorias.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286000"/>
            <a:ext cx="5166359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1.  Leia klientide arv linnade lõikes, suuremast väiksemani.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2.  Kuva tellimuste arv makseviiside lõikes, suuremad ees.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3.  Kuva tellimuste arv staatuse lõikes.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Lahendused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24128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37160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1.  Arvuta toodete keskmine hind tootekategooriate lõikes.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2763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30352" y="173736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kategooria, AVG(hind) AS keskmine_hind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GROUP BY kategooria;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324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2.  Leia toodete arv kategooriate lõikes.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31927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342900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kategooria, COUNT(*) AS toodete_arv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GROUP BY kategooria;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75488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3.  Leia odavaim ja kalleim hind igas kategoorias.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501091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0352" y="512064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kategooria, MIN(hind) AS odavaim, MAX(hind) AS kalleim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GROUP BY kategooria;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Lahendused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24128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37160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1.  Leia klientide arv linnade lõikes, suuremast väiksemani.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2763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30352" y="173736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linn, COUNT(*) AS klientide_arv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kliendid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GROUP BY linn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ORDER BY klientide_arv DESC;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324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2.  Kuva tellimuste arv makseviiside lõikes, suuremad ees.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31927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342900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makseviis, COUNT(*) AS tellimuste_arv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tellimused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GROUP BY makseviis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ORDER BY tellimuste_arv DESC;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75488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3.  Kuva tellimuste arv staatuse lõikes.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501091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0352" y="512064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staatus, COUNT(*) AS tellimuste_arv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tellimused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GROUP BY staatus;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C49526"/>
                </a:solidFill>
                <a:latin typeface="Calibri"/>
              </a:rPr>
              <a:t>PLOKK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HAVING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 dirty="0">
                <a:solidFill>
                  <a:srgbClr val="FFFFFF"/>
                </a:solidFill>
                <a:latin typeface="Calibri"/>
              </a:rPr>
              <a:t>HAVING — filter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pärast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rühmitamist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</a:rPr>
              <a:t>NÄITAN 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22860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11100816" cy="2084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SELECT tarneviis, COUNT(*) AS tellimuste_arv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FROM tellimused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GROUP BY tarneviis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HAVING COUNT(*) &gt; 5;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3611880"/>
            <a:ext cx="5669280" cy="2606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65760" y="3611880"/>
            <a:ext cx="91440" cy="260604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1792" y="3721608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WHERE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4087368"/>
            <a:ext cx="5257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Filtreerib algread enne rühmitamist.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Nt staatus = 'Täidetud'.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611880"/>
            <a:ext cx="5532120" cy="2606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263640" y="3611880"/>
            <a:ext cx="91440" cy="260604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19672" y="3721608"/>
            <a:ext cx="516635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HAVING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9672" y="4087368"/>
            <a:ext cx="5120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Filtreerib rühmi pärast koondamist.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Nt COUNT(*) &gt; 5.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 dirty="0">
                <a:solidFill>
                  <a:srgbClr val="FFFFFF"/>
                </a:solidFill>
                <a:latin typeface="Calibri"/>
              </a:rPr>
              <a:t>WHERE ja HAVING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koos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lang="en-GB" sz="2400" b="1" dirty="0">
                <a:solidFill>
                  <a:srgbClr val="92D050"/>
                </a:solidFill>
              </a:rPr>
              <a:t>NÄITAN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26517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11100816" cy="24505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SELECT makseviis, COUNT(*) AS tellimuste_arv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FROM tellimused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WHERE staatus = 'Täidetud'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GROUP BY makseviis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HAVING COUNT(*) &gt;= 3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ORDER BY tellimuste_arv DESC;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977639"/>
            <a:ext cx="112471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Kõigepealt visatakse ootel/tühistatud välja, siis rühmitatakse, siis HAVING jätab alles rühmad.
Koos: kategooriad, kus on rohkem kui 3 toodet.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77302"/>
            <a:ext cx="11430000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proovi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8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42415"/>
            <a:ext cx="384048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42415"/>
            <a:ext cx="3840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kõigile  ·  tase 2 kui valmis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353312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Calibri"/>
              </a:rPr>
              <a:t>Lahendused on järgmistel slaididel.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286000"/>
            <a:ext cx="5303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1.  Leia tarneviisid, mida on kasutatud rohkem kui 5 korda.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2.  Leia tootekategooriad, kus on rohkem kui 3 toodet.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3.  Leia linnad, kus on rohkem kui 4 klienti.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286000"/>
            <a:ext cx="5166359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1.  Ainult täidetud tellimused: makseviisid, millel on vähemalt 3 täidetud tellimust, suuremad ees.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2.  Leia kategooriad, mille keskmine hind on üle 200 €.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3.  Ainult täidetud: tarneviisid, mida on kasutatud rohkem kui 3 korda.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Lahendused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24128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37160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1.  Leia tarneviisid, mida on kasutatud rohkem kui 5 korda.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2763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30352" y="173736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tarneviis, COUNT(*) AS tellimuste_arv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tellimused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GROUP BY tarneviis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HAVING COUNT(*) &gt; 5;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324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2.  Leia tootekategooriad, kus on rohkem kui 3 toodet.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31927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342900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kategooria, COUNT(*) AS toodete_arv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GROUP BY kategooria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HAVING COUNT(*) &gt; 3;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75488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3.  Leia linnad, kus on rohkem kui 4 klienti.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501091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0352" y="512064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linn, COUNT(*) AS klientide_arv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kliendid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GROUP BY linn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HAVING COUNT(*) &gt; 4;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Lahendused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24128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37160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1.  Ainult täidetud tellimused: makseviisid, millel on vähemalt 3 täidetud tellimust, suuremad ees.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2763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30352" y="173736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makseviis, COUNT(*) AS tellimuste_arv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tellimused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WHERE staatus = 'Täidetud'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GROUP BY makseviis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HAVING COUNT(*) &gt;= 3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ORDER BY tellimuste_arv DESC;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324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2.  Leia kategooriad, mille keskmine hind on üle 200 €.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31927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342900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kategooria, AVG(hind) AS keskmine_hind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GROUP BY kategooria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HAVING AVG(hind) &gt; 200;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75488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3.  Ainult täidetud: tarneviisid, mida on kasutatud rohkem kui 3 korda.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501091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0352" y="512064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tarneviis, COUNT(*) AS tellimuste_arv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tellimused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WHERE staatus = 'Täidetud'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GROUP BY tarneviis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HAVING COUNT(*) &gt; 3;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C49526"/>
                </a:solidFill>
                <a:latin typeface="Calibri"/>
              </a:rPr>
              <a:t>PLOKK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CASE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 dirty="0">
                <a:solidFill>
                  <a:srgbClr val="FFFFFF"/>
                </a:solidFill>
                <a:latin typeface="Calibri"/>
              </a:rPr>
              <a:t>CASE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uus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veerg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tingimuse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järgi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</a:rPr>
              <a:t>NÄITAN 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SQL koolitus  ·  1. päev · plokk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37947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11100816" cy="3593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SELECT nimetus, hind,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       CASE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           WHEN hind &lt; 100 THEN 'Odav'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           WHEN hind BETWEEN 100 AND 500 THEN 'Kesklahendus'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           ELSE 'Premium'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       END AS hinnaklass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FROM tooted;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074920"/>
            <a:ext cx="1124712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Calibri"/>
              </a:rPr>
              <a:t>WHEN-id ülevalt alla; esimene tõene võidab. MacBook → Premium, monitor → Kesklahendus, hiir → Odav.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proovi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SQL koolitus  ·  1. päev · plokk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42415"/>
            <a:ext cx="384048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42415"/>
            <a:ext cx="3840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kõigile  ·  tase 2 kui valmis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353312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Calibri"/>
              </a:rPr>
              <a:t>Lahendused on järgmistel slaididel.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286000"/>
            <a:ext cx="5303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1.  Kuva tooted veeruga: alla 100 = 'Odav', 100–500 = 'Kesklahendus', muidu 'Premium'.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2.  Lisa tellimustele veerg: Täidetud = 'OK', Tühistatud = 'Katkestatud', muidu 'Töös'.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3.  Kuva tooted hinnaklassiga, sorteerituna hinna järgi kahanevalt.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286000"/>
            <a:ext cx="5166359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1.  Loenda, mitu toodet on klassides Odav, Kesklahendus ja Premium (CASE GROUP BY-s).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2.  Kuva ainult tooted, mille hind on üle 50 €, koos hinnaklassiga.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3.  Rühmita tellimused: 'Pakiautomaat' vs 'Muu tarne'. Kuva arv.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Lahendused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SQL koolitus  ·  1. päev · plokk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24128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37160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1.  Kuva tooted veeruga: alla 100 = 'Odav', 100–500 = 'Kesklahendus', muidu 'Premium'.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2763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30352" y="173736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nimetus, hind,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   CASE WHEN hind &lt; 100 THEN 'Odav'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        WHEN hind BETWEEN 100 AND 500 THEN 'Kesklahendus'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        ELSE 'Premium' END AS hinnaklass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tooted;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324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2.  Lisa tellimustele veerg: Täidetud = 'OK', Tühistatud = 'Katkestatud', muidu 'Töös'.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31927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342900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tellimus_id, staatus,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   CASE WHEN staatus = 'Täidetud' THEN 'OK'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        WHEN staatus = 'Tühistatud' THEN 'Katkestatud'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        ELSE 'Töös' END AS seis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tellimused;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75488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3.  Kuva tooted hinnaklassiga, sorteerituna hinna järgi kahanevalt.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501091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0352" y="512064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nimetus, hind,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   CASE WHEN hind &lt; 100 THEN 'Odav'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        WHEN hind BETWEEN 100 AND 500 THEN 'Kesklahendus'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        ELSE 'Premium' END AS hinnaklass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ORDER BY hind DESC;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Lahendused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SQL koolitus  ·  1. päev · plokk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24128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37160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1.  Loenda, mitu toodet on klassides Odav, Kesklahendus ja Premium (CASE GROUP BY-s).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2763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30352" y="173736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CASE WHEN hind &lt; 100 THEN 'Odav'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        WHEN hind BETWEEN 100 AND 500 THEN 'Kesklahendus'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        ELSE 'Premium' END AS hinnaklass,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   COUNT(*) AS toodete_arv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GROUP BY CASE WHEN hind &lt; 100 THEN 'Odav'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          WHEN hind BETWEEN 100 AND 500 THEN 'Kesklahendus'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          ELSE 'Premium' END;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324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2.  Kuva ainult tooted, mille hind on üle 50 €, koos hinnaklassiga.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31927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342900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nimetus, hind,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   CASE WHEN hind &lt; 100 THEN 'Odav'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        WHEN hind BETWEEN 100 AND 500 THEN 'Kesklahendus'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        ELSE 'Premium' END AS hinnaklass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WHERE hind &gt; 50;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75488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3.  Rühmita tellimused: 'Pakiautomaat' vs 'Muu tarne'. Kuva arv.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5010912"/>
            <a:ext cx="11430000" cy="135331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0352" y="5120640"/>
            <a:ext cx="1110081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CASE WHEN tarneviis = 'Pakiautomaat' THEN 'Pakiautomaat'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        ELSE 'Muu tarne' END AS tarnegrupp,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   COUNT(*) AS tellimuste_arv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tellimused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GROUP BY CASE WHEN tarneviis = 'Pakiautomaat' THEN 'Pakiautomaat'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          ELSE 'Muu tarne' END;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1. päeva kokkuvõte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SQL koolitus  ·  1. päev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188720"/>
            <a:ext cx="112471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 b="0">
                <a:solidFill>
                  <a:srgbClr val="334155"/>
                </a:solidFill>
                <a:latin typeface="Calibri"/>
              </a:rPr>
              <a:t>•  Plokk 1: COUNT, MIN, MAX, SUM, AVG — mitu rida ja otspunktid.</a:t>
            </a:r>
          </a:p>
          <a:p>
            <a:pPr>
              <a:spcAft>
                <a:spcPts val="900"/>
              </a:spcAft>
            </a:pPr>
            <a:r>
              <a:rPr sz="1800" b="0">
                <a:solidFill>
                  <a:srgbClr val="334155"/>
                </a:solidFill>
                <a:latin typeface="Calibri"/>
              </a:rPr>
              <a:t>•  Plokk 2: GROUP BY — üks rida rühma kohta.</a:t>
            </a:r>
          </a:p>
          <a:p>
            <a:pPr>
              <a:spcAft>
                <a:spcPts val="900"/>
              </a:spcAft>
            </a:pPr>
            <a:r>
              <a:rPr sz="1800" b="0">
                <a:solidFill>
                  <a:srgbClr val="334155"/>
                </a:solidFill>
                <a:latin typeface="Calibri"/>
              </a:rPr>
              <a:t>•  Plokk 3: HAVING — filter pärast rühmitamist.</a:t>
            </a:r>
          </a:p>
          <a:p>
            <a:pPr>
              <a:spcAft>
                <a:spcPts val="900"/>
              </a:spcAft>
            </a:pPr>
            <a:r>
              <a:rPr sz="1800" b="0">
                <a:solidFill>
                  <a:srgbClr val="334155"/>
                </a:solidFill>
                <a:latin typeface="Calibri"/>
              </a:rPr>
              <a:t>•  Plokk 4: CASE — uus veerg tingimuse järgi.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4297680"/>
            <a:ext cx="114300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65760" y="4297680"/>
            <a:ext cx="91440" cy="192024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1792" y="4407408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Homme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4773168"/>
            <a:ext cx="110185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Liidame tabelid: kliendi nimi tellimuse kõrvale, osakond toote kõrvale, tulu pärast allahindlust.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Päeva kokkuvõttev harjutus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42415"/>
            <a:ext cx="493776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42415"/>
            <a:ext cx="49377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Kogu päeva oskused  ·  1 ülesanne taseme kohta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371600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Calibri"/>
              </a:rPr>
              <a:t>Lahendused on järgmistel slaididel.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783080"/>
            <a:ext cx="5669280" cy="4526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1783080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1783080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423160"/>
            <a:ext cx="521208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Kuva iga kategooria kohta toodete arv, keskmine hind ja odavaim hind. Sorteeri toodete arvu järgi kahanevalt.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532120" cy="4526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1783080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1783080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423160"/>
            <a:ext cx="507492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Sama mis tase 1, aga ainult kategooriad, kus on vähemalt 2 toodet. Lisa veerg: kui keskmine hind on alla 200, siis 'Soodne', muidu 'Kallis'.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Päeva lõpp · tase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78992"/>
            <a:ext cx="1965960" cy="310896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78992"/>
            <a:ext cx="19659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Harjutus · ploki lõpp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68880" y="1078992"/>
            <a:ext cx="1325880" cy="310896"/>
          </a:xfrm>
          <a:prstGeom prst="roundRect">
            <a:avLst>
              <a:gd name="adj" fmla="val 8000"/>
            </a:avLst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68880" y="1078992"/>
            <a:ext cx="132588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1508760"/>
            <a:ext cx="114300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334155"/>
                </a:solidFill>
                <a:latin typeface="Calibri"/>
              </a:rPr>
              <a:t>Kuva iga kategooria kohta toodete arv, keskmine hind ja odavaim hind. Sorteeri toodete arvu järgi kahanevalt.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28600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07073"/>
                </a:solidFill>
                <a:latin typeface="Calibri"/>
              </a:rPr>
              <a:t>Lahendus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560320"/>
            <a:ext cx="11430000" cy="38862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2670048"/>
            <a:ext cx="11100816" cy="3685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SELECT kategooria,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       COUNT(*) AS toodete_arv,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       AVG(hind) AS keskmine_hind,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       MIN(hind) AS odavaim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GROUP BY kategooria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ORDER BY toodete_arv DESC;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Päeva lõpp · tase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78992"/>
            <a:ext cx="1965960" cy="310896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78992"/>
            <a:ext cx="19659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Harjutus · ploki lõpp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68880" y="1078992"/>
            <a:ext cx="1325880" cy="310896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68880" y="1078992"/>
            <a:ext cx="132588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1508760"/>
            <a:ext cx="114300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334155"/>
                </a:solidFill>
                <a:latin typeface="Calibri"/>
              </a:rPr>
              <a:t>Sama mis tase 1, aga ainult kategooriad, kus on vähemalt 2 toodet. Lisa veerg: kui keskmine hind on alla 200, siis 'Soodne', muidu 'Kallis'.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28600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07073"/>
                </a:solidFill>
                <a:latin typeface="Calibri"/>
              </a:rPr>
              <a:t>Lahendus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560320"/>
            <a:ext cx="11430000" cy="38862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2670048"/>
            <a:ext cx="11100816" cy="3685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SELECT kategooria,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       COUNT(*) AS toodete_arv,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       AVG(hind) AS keskmine_hind,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       MIN(hind) AS odavaim,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       CASE WHEN AVG(hind) &lt; 200 THEN 'Soodne'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            ELSE 'Kallis' END AS hinnatase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GROUP BY kategooria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HAVING COUNT(*) &gt;= 2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ORDER BY toodete_arv DESC;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C49526"/>
                </a:solidFill>
                <a:latin typeface="Calibri"/>
              </a:rPr>
              <a:t>1. PÄEVA LÕPP  ·  MITTE PÕHIKAVA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Lisaülesanded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204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BACCE0"/>
                </a:solidFill>
                <a:latin typeface="Calibri"/>
              </a:rPr>
              <a:t>Kes ploki harjutusega valmis saab — siit juurde, sama teema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Lisa · 1. päev (koondid)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5156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7073"/>
                </a:solidFill>
                <a:latin typeface="Calibri"/>
              </a:rPr>
              <a:t>COUNT + WHERE  ·  mitu ootel tellimust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353312"/>
            <a:ext cx="11430000" cy="12344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" y="1463040"/>
            <a:ext cx="11100816" cy="1033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>
                <a:solidFill>
                  <a:srgbClr val="E2E8F0"/>
                </a:solidFill>
                <a:latin typeface="Consolas"/>
              </a:rPr>
              <a:t>SELECT COUNT(*) AS ootel_arv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E2E8F0"/>
                </a:solidFill>
                <a:latin typeface="Consolas"/>
              </a:rPr>
              <a:t>FROM tellimused WHERE staatus = 'Ootel';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6974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7073"/>
                </a:solidFill>
                <a:latin typeface="Calibri"/>
              </a:rPr>
              <a:t>GROUP BY  ·  kliendid linnade kaupa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2999232"/>
            <a:ext cx="11430000" cy="15544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30352" y="3108960"/>
            <a:ext cx="11100816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>
                <a:solidFill>
                  <a:srgbClr val="E2E8F0"/>
                </a:solidFill>
                <a:latin typeface="Consolas"/>
              </a:rPr>
              <a:t>SELECT linn, COUNT(*) AS klientide_arv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E2E8F0"/>
                </a:solidFill>
                <a:latin typeface="Consolas"/>
              </a:rPr>
              <a:t>FROM kliendid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E2E8F0"/>
                </a:solidFill>
                <a:latin typeface="Consolas"/>
              </a:rPr>
              <a:t>GROUP BY linn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E2E8F0"/>
                </a:solidFill>
                <a:latin typeface="Consolas"/>
              </a:rPr>
              <a:t>ORDER BY klientide_arv DESC;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4663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7073"/>
                </a:solidFill>
                <a:latin typeface="Calibri"/>
              </a:rPr>
              <a:t>CASE  ·  hinnaklass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4956048"/>
            <a:ext cx="11430000" cy="12801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30352" y="5065776"/>
            <a:ext cx="11100816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nimetus, hind,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CASE WHEN hind &lt; 100 THEN 'Odav' WHEN hind BETWEEN 100 AND 500 THEN 'Kesklahendus' ELSE 'Premium' END AS hinnaklass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tooted;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Lisa · 1. päev jätk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5156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7073"/>
                </a:solidFill>
                <a:latin typeface="Calibri"/>
              </a:rPr>
              <a:t>HAVING  ·  kategooriad, kus on üle 3 toote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371600"/>
            <a:ext cx="11430000" cy="17373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" y="1481328"/>
            <a:ext cx="11100816" cy="1536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SELECT kategooria, COUNT(*) AS toodete_arv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GROUP BY kategooria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HAVING COUNT(*) &gt; 3;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2918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7073"/>
                </a:solidFill>
                <a:latin typeface="Calibri"/>
              </a:rPr>
              <a:t>GROUP BY  ·  tellimused makseviisiti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611880"/>
            <a:ext cx="11430000" cy="19659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30352" y="3721608"/>
            <a:ext cx="11100816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SELECT makseviis, COUNT(*) AS tellimuste_arv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FROM tellimused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GROUP BY makseviis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ORDER BY tellimuste_arv DESC;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2816</Words>
  <Application>Microsoft Office PowerPoint</Application>
  <PresentationFormat>Widescreen</PresentationFormat>
  <Paragraphs>442</Paragraphs>
  <Slides>37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3" baseType="lpstr">
      <vt:lpstr>Aptos</vt:lpstr>
      <vt:lpstr>Arial</vt:lpstr>
      <vt:lpstr>Calibri</vt:lpstr>
      <vt:lpstr>Consolas</vt:lpstr>
      <vt:lpstr>Inter</vt:lpstr>
      <vt:lpstr>Office Theme</vt:lpstr>
      <vt:lpstr>PowerPoint Presentation</vt:lpstr>
      <vt:lpstr>Päevakava - VII päev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Emilie Abel</cp:lastModifiedBy>
  <cp:revision>3</cp:revision>
  <dcterms:created xsi:type="dcterms:W3CDTF">2013-01-27T09:14:16Z</dcterms:created>
  <dcterms:modified xsi:type="dcterms:W3CDTF">2026-09-06T14:57:34Z</dcterms:modified>
  <cp:category/>
</cp:coreProperties>
</file>