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20"/>
  </p:notesMasterIdLst>
  <p:handoutMasterIdLst>
    <p:handoutMasterId r:id="rId21"/>
  </p:handoutMasterIdLst>
  <p:sldIdLst>
    <p:sldId id="417" r:id="rId5"/>
    <p:sldId id="489" r:id="rId6"/>
    <p:sldId id="470" r:id="rId7"/>
    <p:sldId id="643" r:id="rId8"/>
    <p:sldId id="473" r:id="rId9"/>
    <p:sldId id="471" r:id="rId10"/>
    <p:sldId id="554" r:id="rId11"/>
    <p:sldId id="641" r:id="rId12"/>
    <p:sldId id="644" r:id="rId13"/>
    <p:sldId id="555" r:id="rId14"/>
    <p:sldId id="645" r:id="rId15"/>
    <p:sldId id="492" r:id="rId16"/>
    <p:sldId id="558" r:id="rId17"/>
    <p:sldId id="472" r:id="rId18"/>
    <p:sldId id="557" r:id="rId19"/>
  </p:sldIdLst>
  <p:sldSz cx="12192000" cy="6858000"/>
  <p:notesSz cx="6858000" cy="9144000"/>
  <p:embeddedFontLst>
    <p:embeddedFont>
      <p:font typeface="Inter" panose="020B0604020202020204" charset="0"/>
      <p:regular r:id="rId22"/>
      <p:bold r:id="rId23"/>
    </p:embeddedFont>
    <p:embeddedFont>
      <p:font typeface="Inter Bold" panose="020B0604020202020204" charset="0"/>
      <p:bold r:id="rId24"/>
    </p:embeddedFont>
    <p:embeddedFont>
      <p:font typeface="Poppins SemiBold" panose="00000700000000000000" pitchFamily="2" charset="0"/>
      <p:bold r:id="rId25"/>
      <p:boldItalic r:id="rId26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96" y="1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font" Target="fonts/font5.fntdata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4.fntdata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3.fntdata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2.fntdata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1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custSel modSld">
      <pc:chgData name="Emilie Abel" userId="20dec598-1860-40de-ab3f-181316cc4da6" providerId="ADAL" clId="{3EAE1975-14BE-41D5-9E3B-28573F0EE5DC}" dt="2026-08-18T11:48:31.084" v="28" actId="20577"/>
      <pc:docMkLst>
        <pc:docMk/>
      </pc:docMkLst>
      <pc:sldChg chg="delSp modSp mod">
        <pc:chgData name="Emilie Abel" userId="20dec598-1860-40de-ab3f-181316cc4da6" providerId="ADAL" clId="{3EAE1975-14BE-41D5-9E3B-28573F0EE5DC}" dt="2026-08-18T11:48:31.084" v="28" actId="20577"/>
        <pc:sldMkLst>
          <pc:docMk/>
          <pc:sldMk cId="4169291970" sldId="417"/>
        </pc:sldMkLst>
        <pc:spChg chg="mod">
          <ac:chgData name="Emilie Abel" userId="20dec598-1860-40de-ab3f-181316cc4da6" providerId="ADAL" clId="{3EAE1975-14BE-41D5-9E3B-28573F0EE5DC}" dt="2026-08-18T11:48:31.084" v="28" actId="20577"/>
          <ac:spMkLst>
            <pc:docMk/>
            <pc:sldMk cId="4169291970" sldId="417"/>
            <ac:spMk id="5" creationId="{3496B8E7-2B01-285F-88ED-B3ADE66A3D31}"/>
          </ac:spMkLst>
        </pc:spChg>
        <pc:picChg chg="del">
          <ac:chgData name="Emilie Abel" userId="20dec598-1860-40de-ab3f-181316cc4da6" providerId="ADAL" clId="{3EAE1975-14BE-41D5-9E3B-28573F0EE5DC}" dt="2026-08-18T11:48:19.862" v="0" actId="478"/>
          <ac:picMkLst>
            <pc:docMk/>
            <pc:sldMk cId="4169291970" sldId="417"/>
            <ac:picMk id="3" creationId="{59426EB3-96A0-6F7B-BD8A-B89C052D49B0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8/18/2026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18.08.2026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ostgresql.org/" TargetMode="Externa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ostgresql.org/docs/current/datatype.html" TargetMode="Externa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>
                <a:cs typeface="Poppins SemiBold"/>
              </a:rPr>
              <a:t>Vali </a:t>
            </a:r>
            <a:r>
              <a:rPr lang="en-US" err="1">
                <a:cs typeface="Poppins SemiBold"/>
              </a:rPr>
              <a:t>Andmetarkus</a:t>
            </a:r>
            <a:r>
              <a:rPr lang="en-US">
                <a:cs typeface="Poppins SemiBold"/>
              </a:rPr>
              <a:t>!</a:t>
            </a:r>
            <a:endParaRPr lang="en-US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Inter"/>
              </a:rPr>
              <a:t>Emilie Abel</a:t>
            </a:r>
            <a:endParaRPr lang="en-US" dirty="0"/>
          </a:p>
          <a:p>
            <a:r>
              <a:rPr lang="en-US" dirty="0">
                <a:ea typeface="Inter"/>
              </a:rPr>
              <a:t>eilime@live.com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0372B-A5B8-260D-C940-47B5F56C1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291BE-55D8-719B-FCEB-18D326A159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VI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5805DDA-288D-DB3E-2A59-EC7449C89D98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676927514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kohaliku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andmebaasi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üles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seadmine</a:t>
                      </a:r>
                      <a:endParaRPr lang="en-US" b="0" i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DBeaveris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andmete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üles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laadimine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ja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pärimine</a:t>
                      </a:r>
                      <a:endParaRPr lang="en-US" b="0" i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Koolitus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Tabelite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ühendamine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Koolitus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Tabeli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loomine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ja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uuendamine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SQL 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abil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6918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DA9F0-A0F5-C46E-D262-05F5E5B7D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2E485-0C35-F9F2-525E-0BEE1F6277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PostgreSQL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8C1C2EC-E034-3DAF-EC3F-59EA67456D8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>
              <a:lnSpc>
                <a:spcPct val="150000"/>
              </a:lnSpc>
            </a:pPr>
            <a:r>
              <a:rPr lang="en-US" dirty="0">
                <a:ea typeface="+mn-lt"/>
                <a:cs typeface="+mn-lt"/>
                <a:hlinkClick r:id="rId2"/>
              </a:rPr>
              <a:t>https://www.postgresql.org/</a:t>
            </a:r>
            <a:endParaRPr lang="en-US" dirty="0"/>
          </a:p>
          <a:p>
            <a:pPr marL="285750" indent="-285750">
              <a:lnSpc>
                <a:spcPct val="150000"/>
              </a:lnSpc>
            </a:pPr>
            <a:r>
              <a:rPr lang="en-US" dirty="0" err="1">
                <a:ea typeface="Inter"/>
                <a:cs typeface="+mn-lt"/>
              </a:rPr>
              <a:t>Üks</a:t>
            </a:r>
            <a:r>
              <a:rPr lang="en-US" dirty="0">
                <a:ea typeface="Inter"/>
                <a:cs typeface="+mn-lt"/>
              </a:rPr>
              <a:t> </a:t>
            </a:r>
            <a:r>
              <a:rPr lang="en-US" dirty="0" err="1">
                <a:ea typeface="Inter"/>
                <a:cs typeface="+mn-lt"/>
              </a:rPr>
              <a:t>populaarsemaid</a:t>
            </a:r>
            <a:r>
              <a:rPr lang="en-US" dirty="0">
                <a:ea typeface="Inter"/>
                <a:cs typeface="+mn-lt"/>
              </a:rPr>
              <a:t> </a:t>
            </a:r>
            <a:r>
              <a:rPr lang="en-US" dirty="0" err="1">
                <a:ea typeface="Inter"/>
                <a:cs typeface="+mn-lt"/>
              </a:rPr>
              <a:t>andmebaasi</a:t>
            </a:r>
            <a:r>
              <a:rPr lang="en-US" dirty="0">
                <a:ea typeface="Inter"/>
                <a:cs typeface="+mn-lt"/>
              </a:rPr>
              <a:t> </a:t>
            </a:r>
            <a:r>
              <a:rPr lang="en-US" dirty="0" err="1">
                <a:ea typeface="Inter"/>
                <a:cs typeface="+mn-lt"/>
              </a:rPr>
              <a:t>süsteeme</a:t>
            </a:r>
            <a:endParaRPr lang="en-US" dirty="0">
              <a:cs typeface="+mn-lt"/>
            </a:endParaRPr>
          </a:p>
          <a:p>
            <a:pPr marL="285750" indent="-285750">
              <a:lnSpc>
                <a:spcPct val="150000"/>
              </a:lnSpc>
            </a:pPr>
            <a:r>
              <a:rPr lang="en-US" dirty="0">
                <a:ea typeface="Inter"/>
                <a:cs typeface="+mn-lt"/>
              </a:rPr>
              <a:t>Enda </a:t>
            </a:r>
            <a:r>
              <a:rPr lang="en-US" dirty="0" err="1">
                <a:ea typeface="Inter"/>
                <a:cs typeface="+mn-lt"/>
              </a:rPr>
              <a:t>arvutis</a:t>
            </a:r>
            <a:r>
              <a:rPr lang="en-US" dirty="0">
                <a:ea typeface="Inter"/>
                <a:cs typeface="+mn-lt"/>
              </a:rPr>
              <a:t> </a:t>
            </a:r>
            <a:r>
              <a:rPr lang="en-US" dirty="0" err="1">
                <a:ea typeface="Inter"/>
                <a:cs typeface="+mn-lt"/>
              </a:rPr>
              <a:t>käivitamiseks</a:t>
            </a:r>
            <a:endParaRPr lang="en-US" dirty="0">
              <a:cs typeface="+mn-lt"/>
            </a:endParaRPr>
          </a:p>
          <a:p>
            <a:pPr marL="857250" lvl="1" indent="-342900">
              <a:lnSpc>
                <a:spcPct val="150000"/>
              </a:lnSpc>
              <a:buAutoNum type="arabicPeriod"/>
            </a:pPr>
            <a:r>
              <a:rPr lang="en-US" dirty="0">
                <a:ea typeface="Inter"/>
                <a:cs typeface="+mn-lt"/>
              </a:rPr>
              <a:t>Lae </a:t>
            </a:r>
            <a:r>
              <a:rPr lang="en-US" dirty="0" err="1">
                <a:ea typeface="Inter"/>
                <a:cs typeface="+mn-lt"/>
              </a:rPr>
              <a:t>alla</a:t>
            </a:r>
            <a:r>
              <a:rPr lang="en-US" dirty="0">
                <a:ea typeface="Inter"/>
                <a:cs typeface="+mn-lt"/>
              </a:rPr>
              <a:t> </a:t>
            </a:r>
            <a:r>
              <a:rPr lang="en-US" dirty="0" err="1">
                <a:ea typeface="Inter"/>
                <a:cs typeface="+mn-lt"/>
              </a:rPr>
              <a:t>kodulehe</a:t>
            </a:r>
            <a:r>
              <a:rPr lang="en-US" dirty="0">
                <a:ea typeface="Inter"/>
                <a:cs typeface="+mn-lt"/>
              </a:rPr>
              <a:t> </a:t>
            </a:r>
            <a:r>
              <a:rPr lang="en-US" dirty="0" err="1">
                <a:ea typeface="Inter"/>
                <a:cs typeface="+mn-lt"/>
              </a:rPr>
              <a:t>kaudu</a:t>
            </a:r>
            <a:endParaRPr lang="en-US" dirty="0">
              <a:ea typeface="Inter"/>
              <a:cs typeface="+mn-lt"/>
            </a:endParaRPr>
          </a:p>
          <a:p>
            <a:pPr marL="857250" lvl="1" indent="-342900">
              <a:lnSpc>
                <a:spcPct val="150000"/>
              </a:lnSpc>
              <a:buAutoNum type="arabicPeriod"/>
            </a:pPr>
            <a:r>
              <a:rPr lang="en-US" dirty="0">
                <a:ea typeface="Inter"/>
                <a:cs typeface="+mn-lt"/>
              </a:rPr>
              <a:t>Ava .exe fail</a:t>
            </a:r>
          </a:p>
          <a:p>
            <a:pPr marL="857250" lvl="1" indent="-342900">
              <a:lnSpc>
                <a:spcPct val="150000"/>
              </a:lnSpc>
              <a:buAutoNum type="arabicPeriod"/>
            </a:pPr>
            <a:r>
              <a:rPr lang="en-US" dirty="0" err="1">
                <a:ea typeface="Inter"/>
                <a:cs typeface="+mn-lt"/>
              </a:rPr>
              <a:t>Määra</a:t>
            </a:r>
            <a:r>
              <a:rPr lang="en-US" dirty="0">
                <a:ea typeface="Inter"/>
                <a:cs typeface="+mn-lt"/>
              </a:rPr>
              <a:t> </a:t>
            </a:r>
            <a:r>
              <a:rPr lang="en-US" dirty="0" err="1">
                <a:ea typeface="Inter"/>
                <a:cs typeface="+mn-lt"/>
              </a:rPr>
              <a:t>salasõna</a:t>
            </a:r>
            <a:endParaRPr lang="en-US" dirty="0">
              <a:cs typeface="+mn-lt"/>
            </a:endParaRPr>
          </a:p>
          <a:p>
            <a:pPr marL="857250" lvl="1" indent="-342900">
              <a:lnSpc>
                <a:spcPct val="150000"/>
              </a:lnSpc>
              <a:buAutoNum type="arabicPeriod"/>
            </a:pPr>
            <a:r>
              <a:rPr lang="en-US" dirty="0">
                <a:ea typeface="Inter"/>
                <a:cs typeface="+mn-lt"/>
              </a:rPr>
              <a:t>Ava </a:t>
            </a:r>
            <a:r>
              <a:rPr lang="en-US" dirty="0" err="1">
                <a:ea typeface="Inter"/>
                <a:cs typeface="+mn-lt"/>
              </a:rPr>
              <a:t>pgAdmin</a:t>
            </a:r>
            <a:r>
              <a:rPr lang="en-US" dirty="0">
                <a:ea typeface="Inter"/>
                <a:cs typeface="+mn-lt"/>
              </a:rPr>
              <a:t> – </a:t>
            </a:r>
            <a:r>
              <a:rPr lang="en-US" dirty="0" err="1">
                <a:ea typeface="Inter"/>
                <a:cs typeface="+mn-lt"/>
              </a:rPr>
              <a:t>käivitab</a:t>
            </a:r>
            <a:r>
              <a:rPr lang="en-US" dirty="0">
                <a:ea typeface="Inter"/>
                <a:cs typeface="+mn-lt"/>
              </a:rPr>
              <a:t> </a:t>
            </a:r>
            <a:r>
              <a:rPr lang="en-US" dirty="0" err="1">
                <a:ea typeface="Inter"/>
                <a:cs typeface="+mn-lt"/>
              </a:rPr>
              <a:t>andmebaasi</a:t>
            </a:r>
            <a:r>
              <a:rPr lang="en-US" dirty="0">
                <a:ea typeface="Inter"/>
                <a:cs typeface="+mn-lt"/>
              </a:rPr>
              <a:t> </a:t>
            </a:r>
            <a:r>
              <a:rPr lang="en-US" dirty="0" err="1">
                <a:ea typeface="Inter"/>
                <a:cs typeface="+mn-lt"/>
              </a:rPr>
              <a:t>serveri</a:t>
            </a:r>
            <a:endParaRPr lang="en-US" dirty="0">
              <a:cs typeface="+mn-lt"/>
            </a:endParaRPr>
          </a:p>
          <a:p>
            <a:pPr marL="857250" lvl="1" indent="-342900">
              <a:lnSpc>
                <a:spcPct val="150000"/>
              </a:lnSpc>
              <a:buAutoNum type="arabicPeriod"/>
            </a:pPr>
            <a:r>
              <a:rPr lang="en-US" dirty="0">
                <a:ea typeface="Inter"/>
                <a:cs typeface="+mn-lt"/>
              </a:rPr>
              <a:t>Ava </a:t>
            </a:r>
            <a:r>
              <a:rPr lang="en-US" dirty="0" err="1">
                <a:ea typeface="Inter"/>
                <a:cs typeface="+mn-lt"/>
              </a:rPr>
              <a:t>DBeaver</a:t>
            </a:r>
            <a:r>
              <a:rPr lang="en-US" dirty="0">
                <a:ea typeface="Inter"/>
                <a:cs typeface="+mn-lt"/>
              </a:rPr>
              <a:t> ja </a:t>
            </a:r>
            <a:r>
              <a:rPr lang="en-US" dirty="0" err="1">
                <a:ea typeface="Inter"/>
                <a:cs typeface="+mn-lt"/>
              </a:rPr>
              <a:t>ühendu</a:t>
            </a:r>
            <a:r>
              <a:rPr lang="en-US" dirty="0">
                <a:ea typeface="Inter"/>
                <a:cs typeface="+mn-lt"/>
              </a:rPr>
              <a:t> </a:t>
            </a:r>
            <a:r>
              <a:rPr lang="en-US" dirty="0" err="1">
                <a:ea typeface="Inter"/>
                <a:cs typeface="+mn-lt"/>
              </a:rPr>
              <a:t>serveriga</a:t>
            </a:r>
            <a:endParaRPr lang="en-US" dirty="0">
              <a:ea typeface="Inter"/>
              <a:cs typeface="+mn-lt"/>
            </a:endParaRPr>
          </a:p>
          <a:p>
            <a:pPr marL="1257300" lvl="2" indent="-342900">
              <a:lnSpc>
                <a:spcPct val="150000"/>
              </a:lnSpc>
              <a:buFont typeface="Wingdings"/>
              <a:buChar char="§"/>
            </a:pPr>
            <a:r>
              <a:rPr lang="en-US" dirty="0">
                <a:ea typeface="Inter"/>
                <a:cs typeface="+mn-lt"/>
              </a:rPr>
              <a:t>Database </a:t>
            </a:r>
            <a:r>
              <a:rPr lang="en-US" dirty="0">
                <a:ea typeface="Inter"/>
                <a:cs typeface="+mn-lt"/>
                <a:sym typeface="Wingdings" panose="05000000000000000000" pitchFamily="2" charset="2"/>
              </a:rPr>
              <a:t> New database connection</a:t>
            </a:r>
            <a:endParaRPr lang="en-US" dirty="0">
              <a:ea typeface="Inter"/>
              <a:cs typeface="+mn-lt"/>
            </a:endParaRPr>
          </a:p>
          <a:p>
            <a:pPr marL="1257300" lvl="2" indent="-342900">
              <a:lnSpc>
                <a:spcPct val="150000"/>
              </a:lnSpc>
              <a:buFont typeface="Wingdings"/>
              <a:buChar char="§"/>
            </a:pPr>
            <a:r>
              <a:rPr lang="en-US" dirty="0">
                <a:ea typeface="Inter"/>
                <a:cs typeface="+mn-lt"/>
              </a:rPr>
              <a:t>Vali PostgreSQL</a:t>
            </a:r>
          </a:p>
          <a:p>
            <a:pPr marL="1257300" lvl="2" indent="-342900">
              <a:lnSpc>
                <a:spcPct val="150000"/>
              </a:lnSpc>
              <a:buFont typeface="Wingdings"/>
              <a:buChar char="§"/>
            </a:pPr>
            <a:r>
              <a:rPr lang="en-US" dirty="0">
                <a:ea typeface="Inter"/>
                <a:cs typeface="+mn-lt"/>
              </a:rPr>
              <a:t>Database: </a:t>
            </a:r>
            <a:r>
              <a:rPr lang="en-US" dirty="0" err="1">
                <a:ea typeface="Inter"/>
                <a:cs typeface="+mn-lt"/>
              </a:rPr>
              <a:t>kliki</a:t>
            </a:r>
            <a:r>
              <a:rPr lang="en-US" dirty="0">
                <a:ea typeface="Inter"/>
                <a:cs typeface="+mn-lt"/>
              </a:rPr>
              <a:t> “Show all databases”</a:t>
            </a:r>
            <a:endParaRPr lang="en-US" dirty="0">
              <a:cs typeface="+mn-lt"/>
            </a:endParaRPr>
          </a:p>
          <a:p>
            <a:pPr marL="1257300" lvl="2" indent="-342900">
              <a:lnSpc>
                <a:spcPct val="150000"/>
              </a:lnSpc>
              <a:buFont typeface="Wingdings"/>
              <a:buChar char="§"/>
            </a:pPr>
            <a:r>
              <a:rPr lang="en-US" dirty="0" err="1">
                <a:ea typeface="Inter"/>
                <a:cs typeface="+mn-lt"/>
              </a:rPr>
              <a:t>Sisesta</a:t>
            </a:r>
            <a:r>
              <a:rPr lang="en-US" dirty="0">
                <a:ea typeface="Inter"/>
                <a:cs typeface="+mn-lt"/>
              </a:rPr>
              <a:t> </a:t>
            </a:r>
            <a:r>
              <a:rPr lang="en-US" dirty="0" err="1">
                <a:ea typeface="Inter"/>
                <a:cs typeface="+mn-lt"/>
              </a:rPr>
              <a:t>parool</a:t>
            </a:r>
            <a:endParaRPr lang="en-US" dirty="0">
              <a:cs typeface="+mn-lt"/>
            </a:endParaRPr>
          </a:p>
          <a:p>
            <a:pPr marL="1257300" lvl="2" indent="-342900">
              <a:lnSpc>
                <a:spcPct val="150000"/>
              </a:lnSpc>
              <a:buFont typeface="Wingdings"/>
              <a:buChar char="§"/>
            </a:pPr>
            <a:r>
              <a:rPr lang="en-US" dirty="0">
                <a:ea typeface="Inter"/>
                <a:cs typeface="+mn-lt"/>
              </a:rPr>
              <a:t>Test connection, </a:t>
            </a:r>
            <a:r>
              <a:rPr lang="en-US" dirty="0" err="1">
                <a:ea typeface="Inter"/>
                <a:cs typeface="+mn-lt"/>
              </a:rPr>
              <a:t>vajadusel</a:t>
            </a:r>
            <a:r>
              <a:rPr lang="en-US" dirty="0">
                <a:ea typeface="Inter"/>
                <a:cs typeface="+mn-lt"/>
              </a:rPr>
              <a:t> </a:t>
            </a:r>
            <a:r>
              <a:rPr lang="en-US" dirty="0" err="1">
                <a:ea typeface="Inter"/>
                <a:cs typeface="+mn-lt"/>
              </a:rPr>
              <a:t>installi</a:t>
            </a:r>
            <a:r>
              <a:rPr lang="en-US" dirty="0">
                <a:ea typeface="Inter"/>
                <a:cs typeface="+mn-lt"/>
              </a:rPr>
              <a:t> </a:t>
            </a:r>
            <a:r>
              <a:rPr lang="en-US" dirty="0" err="1">
                <a:ea typeface="Inter"/>
                <a:cs typeface="+mn-lt"/>
              </a:rPr>
              <a:t>draiverid</a:t>
            </a:r>
            <a:endParaRPr lang="en-US" dirty="0">
              <a:cs typeface="+mn-lt"/>
            </a:endParaRPr>
          </a:p>
          <a:p>
            <a:pPr marL="1257300" lvl="2" indent="-342900">
              <a:lnSpc>
                <a:spcPct val="150000"/>
              </a:lnSpc>
              <a:buFont typeface="Wingdings"/>
              <a:buChar char="§"/>
            </a:pPr>
            <a:endParaRPr lang="en-US" dirty="0">
              <a:cs typeface="+mn-lt"/>
            </a:endParaRPr>
          </a:p>
          <a:p>
            <a:pPr marL="857250" lvl="1" indent="-342900">
              <a:lnSpc>
                <a:spcPct val="150000"/>
              </a:lnSpc>
              <a:buAutoNum type="arabicPeriod"/>
            </a:pPr>
            <a:endParaRPr lang="en-US" dirty="0">
              <a:cs typeface="+mn-lt"/>
            </a:endParaRPr>
          </a:p>
          <a:p>
            <a:pPr marL="857250" lvl="1" indent="-342900">
              <a:lnSpc>
                <a:spcPct val="150000"/>
              </a:lnSpc>
              <a:buAutoNum type="arabicPeriod"/>
            </a:pPr>
            <a:endParaRPr lang="en-US" dirty="0">
              <a:cs typeface="+mn-lt"/>
            </a:endParaRPr>
          </a:p>
          <a:p>
            <a:pPr marL="0" indent="0">
              <a:buNone/>
            </a:pPr>
            <a:endParaRPr lang="en-US" dirty="0">
              <a:cs typeface="+mn-lt"/>
            </a:endParaRPr>
          </a:p>
          <a:p>
            <a:endParaRPr lang="en-US" dirty="0"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374467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06CDB2-9145-1517-74B9-1D85A1A094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PostgreSQL </a:t>
            </a:r>
            <a:r>
              <a:rPr lang="en-US" dirty="0" err="1"/>
              <a:t>baasi</a:t>
            </a:r>
            <a:r>
              <a:rPr lang="en-US" dirty="0"/>
              <a:t> </a:t>
            </a:r>
            <a:r>
              <a:rPr lang="en-US" dirty="0" err="1"/>
              <a:t>nimetamispraktikad</a:t>
            </a: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63FFA0-927B-E444-49B4-38B1CC7C83D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/>
              <a:t>Tabelite</a:t>
            </a:r>
            <a:r>
              <a:rPr lang="en-US" sz="2400" dirty="0"/>
              <a:t> ja </a:t>
            </a:r>
            <a:r>
              <a:rPr lang="en-US" sz="2400" dirty="0" err="1"/>
              <a:t>tulpade</a:t>
            </a:r>
            <a:r>
              <a:rPr lang="en-US" sz="2400" dirty="0"/>
              <a:t> </a:t>
            </a:r>
            <a:r>
              <a:rPr lang="en-US" sz="2400" dirty="0" err="1"/>
              <a:t>nimed</a:t>
            </a:r>
            <a:r>
              <a:rPr lang="en-US" sz="2400" dirty="0"/>
              <a:t>: </a:t>
            </a:r>
          </a:p>
          <a:p>
            <a:pPr lvl="1">
              <a:lnSpc>
                <a:spcPct val="150000"/>
              </a:lnSpc>
            </a:pPr>
            <a:r>
              <a:rPr lang="en-US" sz="2400" dirty="0"/>
              <a:t>Parim </a:t>
            </a:r>
            <a:r>
              <a:rPr lang="en-US" sz="2400" dirty="0" err="1"/>
              <a:t>praktika</a:t>
            </a:r>
            <a:r>
              <a:rPr lang="en-US" sz="2400" dirty="0"/>
              <a:t>: </a:t>
            </a:r>
            <a:r>
              <a:rPr lang="et-EE" sz="2400" b="1" dirty="0" err="1"/>
              <a:t>lowercase_with_underscores</a:t>
            </a:r>
            <a:r>
              <a:rPr lang="et-EE" sz="2400" dirty="0"/>
              <a:t> </a:t>
            </a:r>
            <a:endParaRPr lang="en-US" sz="2400" dirty="0"/>
          </a:p>
          <a:p>
            <a:pPr lvl="1">
              <a:lnSpc>
                <a:spcPct val="150000"/>
              </a:lnSpc>
            </a:pPr>
            <a:r>
              <a:rPr lang="en-US" sz="2400" dirty="0" err="1"/>
              <a:t>Nt</a:t>
            </a:r>
            <a:r>
              <a:rPr lang="en-US" sz="2400" dirty="0"/>
              <a:t> </a:t>
            </a:r>
            <a:r>
              <a:rPr lang="en-US" sz="2400" dirty="0" err="1"/>
              <a:t>tabeli</a:t>
            </a:r>
            <a:r>
              <a:rPr lang="en-US" sz="2400" dirty="0"/>
              <a:t> </a:t>
            </a:r>
            <a:r>
              <a:rPr lang="en-US" sz="2400" dirty="0" err="1"/>
              <a:t>nimed</a:t>
            </a:r>
            <a:r>
              <a:rPr lang="en-US" sz="2400" dirty="0"/>
              <a:t>: </a:t>
            </a:r>
            <a:r>
              <a:rPr lang="en-US" sz="2400" dirty="0" err="1"/>
              <a:t>sales_table</a:t>
            </a:r>
            <a:r>
              <a:rPr lang="en-US" sz="2400" dirty="0"/>
              <a:t>, </a:t>
            </a:r>
            <a:r>
              <a:rPr lang="en-US" sz="2400" dirty="0" err="1"/>
              <a:t>customer_table</a:t>
            </a:r>
            <a:r>
              <a:rPr lang="en-US" sz="2400" dirty="0"/>
              <a:t>, </a:t>
            </a:r>
            <a:r>
              <a:rPr lang="en-US" sz="2400" dirty="0" err="1"/>
              <a:t>date_table</a:t>
            </a:r>
            <a:endParaRPr lang="en-US" sz="2400" dirty="0"/>
          </a:p>
          <a:p>
            <a:pPr lvl="1">
              <a:lnSpc>
                <a:spcPct val="150000"/>
              </a:lnSpc>
            </a:pPr>
            <a:r>
              <a:rPr lang="en-US" sz="2400" dirty="0" err="1"/>
              <a:t>Nt</a:t>
            </a:r>
            <a:r>
              <a:rPr lang="en-US" sz="2400" dirty="0"/>
              <a:t> </a:t>
            </a:r>
            <a:r>
              <a:rPr lang="en-US" sz="2400" dirty="0" err="1"/>
              <a:t>tulpade</a:t>
            </a:r>
            <a:r>
              <a:rPr lang="en-US" sz="2400" dirty="0"/>
              <a:t> </a:t>
            </a:r>
            <a:r>
              <a:rPr lang="en-US" sz="2400" dirty="0" err="1"/>
              <a:t>nimed</a:t>
            </a:r>
            <a:r>
              <a:rPr lang="en-US" sz="2400" dirty="0"/>
              <a:t>: </a:t>
            </a:r>
            <a:r>
              <a:rPr lang="en-US" sz="2400" dirty="0" err="1"/>
              <a:t>sale_id</a:t>
            </a:r>
            <a:r>
              <a:rPr lang="en-US" sz="2400" dirty="0"/>
              <a:t>, </a:t>
            </a:r>
            <a:r>
              <a:rPr lang="en-US" sz="2400" dirty="0" err="1"/>
              <a:t>customer_id</a:t>
            </a:r>
            <a:r>
              <a:rPr lang="en-US" sz="2400" dirty="0"/>
              <a:t>, </a:t>
            </a:r>
            <a:r>
              <a:rPr lang="en-US" sz="2400" dirty="0" err="1"/>
              <a:t>unit_price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/>
              <a:t>Kui on </a:t>
            </a:r>
            <a:r>
              <a:rPr lang="en-US" sz="2400" dirty="0" err="1"/>
              <a:t>suurtähed</a:t>
            </a:r>
            <a:r>
              <a:rPr lang="en-US" sz="2400" dirty="0"/>
              <a:t> </a:t>
            </a:r>
            <a:r>
              <a:rPr lang="en-US" sz="2400" dirty="0" err="1"/>
              <a:t>või</a:t>
            </a:r>
            <a:r>
              <a:rPr lang="en-US" sz="2400" dirty="0"/>
              <a:t> </a:t>
            </a:r>
            <a:r>
              <a:rPr lang="en-US" sz="2400" dirty="0" err="1"/>
              <a:t>väike</a:t>
            </a:r>
            <a:r>
              <a:rPr lang="en-US" sz="2400" dirty="0"/>
              <a:t>-ja </a:t>
            </a:r>
            <a:r>
              <a:rPr lang="en-US" sz="2400" dirty="0" err="1"/>
              <a:t>suurtähed</a:t>
            </a:r>
            <a:r>
              <a:rPr lang="en-US" sz="2400" dirty="0"/>
              <a:t> </a:t>
            </a:r>
            <a:r>
              <a:rPr lang="en-US" sz="2400" dirty="0" err="1"/>
              <a:t>segamini</a:t>
            </a:r>
            <a:r>
              <a:rPr lang="en-US" sz="2400" dirty="0"/>
              <a:t>, </a:t>
            </a:r>
            <a:r>
              <a:rPr lang="en-US" sz="2400" dirty="0" err="1"/>
              <a:t>siis</a:t>
            </a:r>
            <a:r>
              <a:rPr lang="en-US" sz="2400" dirty="0"/>
              <a:t> </a:t>
            </a:r>
            <a:r>
              <a:rPr lang="en-US" sz="2400" dirty="0" err="1"/>
              <a:t>tulevad</a:t>
            </a:r>
            <a:r>
              <a:rPr lang="en-US" sz="2400" dirty="0"/>
              <a:t> </a:t>
            </a:r>
            <a:r>
              <a:rPr lang="en-US" sz="2400" dirty="0" err="1"/>
              <a:t>ümber</a:t>
            </a:r>
            <a:r>
              <a:rPr lang="en-US" sz="2400" dirty="0"/>
              <a:t> </a:t>
            </a:r>
            <a:r>
              <a:rPr lang="en-US" sz="2400" dirty="0" err="1"/>
              <a:t>jutumärgid</a:t>
            </a:r>
            <a:endParaRPr lang="et-EE" sz="2400" dirty="0"/>
          </a:p>
        </p:txBody>
      </p:sp>
    </p:spTree>
    <p:extLst>
      <p:ext uri="{BB962C8B-B14F-4D97-AF65-F5344CB8AC3E}">
        <p14:creationId xmlns:p14="http://schemas.microsoft.com/office/powerpoint/2010/main" val="3084332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B82FD-643F-6AFD-B782-B19E179EA81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Põhilised</a:t>
            </a:r>
            <a:r>
              <a:rPr lang="en-US" dirty="0"/>
              <a:t> </a:t>
            </a:r>
            <a:r>
              <a:rPr lang="en-US" dirty="0" err="1"/>
              <a:t>andmetüübid</a:t>
            </a:r>
            <a:r>
              <a:rPr lang="en-US" dirty="0"/>
              <a:t> PostgreSQL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25113B-F938-FA92-45B7-A088D0CA451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INT - </a:t>
            </a:r>
            <a:r>
              <a:rPr lang="en-US" sz="2400" dirty="0" err="1">
                <a:ea typeface="Inter"/>
              </a:rPr>
              <a:t>täisnumber</a:t>
            </a:r>
            <a:endParaRPr lang="en-US" sz="2400" dirty="0"/>
          </a:p>
          <a:p>
            <a:pPr>
              <a:lnSpc>
                <a:spcPct val="100000"/>
              </a:lnSpc>
            </a:pPr>
            <a:r>
              <a:rPr lang="en-US" sz="2400" dirty="0">
                <a:ea typeface="Inter"/>
              </a:rPr>
              <a:t>NUMERIC (x, y) - </a:t>
            </a:r>
            <a:r>
              <a:rPr lang="en-US" sz="2400" dirty="0" err="1">
                <a:ea typeface="Inter"/>
              </a:rPr>
              <a:t>komakohtadega</a:t>
            </a:r>
            <a:r>
              <a:rPr lang="en-US" sz="2400" dirty="0">
                <a:ea typeface="Inter"/>
              </a:rPr>
              <a:t> number, </a:t>
            </a:r>
            <a:r>
              <a:rPr lang="en-US" sz="2400" dirty="0" err="1">
                <a:ea typeface="Inter"/>
              </a:rPr>
              <a:t>kus</a:t>
            </a:r>
            <a:r>
              <a:rPr lang="en-US" sz="2400" dirty="0">
                <a:ea typeface="Inter"/>
              </a:rPr>
              <a:t> x </a:t>
            </a:r>
            <a:r>
              <a:rPr lang="en-US" sz="2400" dirty="0" err="1">
                <a:ea typeface="Inter"/>
              </a:rPr>
              <a:t>täpsustab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tulba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pikkuse</a:t>
            </a:r>
            <a:r>
              <a:rPr lang="en-US" sz="2400" dirty="0">
                <a:ea typeface="Inter"/>
              </a:rPr>
              <a:t> ja y </a:t>
            </a:r>
            <a:r>
              <a:rPr lang="en-US" sz="2400" dirty="0" err="1">
                <a:ea typeface="Inter"/>
              </a:rPr>
              <a:t>komakohtade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arvu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</a:rPr>
              <a:t>nt</a:t>
            </a:r>
            <a:r>
              <a:rPr lang="en-US" sz="2400" dirty="0">
                <a:ea typeface="Inter"/>
              </a:rPr>
              <a:t> 100,55 </a:t>
            </a:r>
            <a:r>
              <a:rPr lang="en-US" sz="2400" dirty="0" err="1">
                <a:ea typeface="Inter"/>
              </a:rPr>
              <a:t>oleks</a:t>
            </a:r>
            <a:r>
              <a:rPr lang="en-US" sz="2400" dirty="0">
                <a:ea typeface="Inter"/>
              </a:rPr>
              <a:t> NUMERIC(5,2)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TEXT – </a:t>
            </a:r>
            <a:r>
              <a:rPr lang="en-US" sz="2400" dirty="0" err="1">
                <a:ea typeface="Inter"/>
              </a:rPr>
              <a:t>pikkuse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piiranguteta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tekstiväli</a:t>
            </a: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VARCHAR (n) - </a:t>
            </a:r>
            <a:r>
              <a:rPr lang="en-US" sz="2400" dirty="0" err="1">
                <a:ea typeface="Inter"/>
              </a:rPr>
              <a:t>pikkuse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piiranguga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tekstiväli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</a:rPr>
              <a:t>kus</a:t>
            </a:r>
            <a:r>
              <a:rPr lang="en-US" sz="2400" dirty="0">
                <a:ea typeface="Inter"/>
              </a:rPr>
              <a:t> n </a:t>
            </a:r>
            <a:r>
              <a:rPr lang="en-US" sz="2400" dirty="0" err="1">
                <a:ea typeface="Inter"/>
              </a:rPr>
              <a:t>tähistab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välja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pikkust</a:t>
            </a: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BOOLEAN – </a:t>
            </a:r>
            <a:r>
              <a:rPr lang="en-US" sz="2400" dirty="0" err="1">
                <a:ea typeface="Inter"/>
              </a:rPr>
              <a:t>kahe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väärtusega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väli</a:t>
            </a:r>
            <a:r>
              <a:rPr lang="en-US" sz="2400" dirty="0">
                <a:ea typeface="Inter"/>
              </a:rPr>
              <a:t>, TRUE, FALSE ja </a:t>
            </a:r>
            <a:r>
              <a:rPr lang="en-US" sz="2400" dirty="0" err="1">
                <a:ea typeface="Inter"/>
              </a:rPr>
              <a:t>tühiväärtus</a:t>
            </a:r>
            <a:r>
              <a:rPr lang="en-US" sz="2400" dirty="0">
                <a:ea typeface="Inter"/>
              </a:rPr>
              <a:t> (NULL)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DATE - </a:t>
            </a:r>
            <a:r>
              <a:rPr lang="en-US" sz="2400" dirty="0" err="1">
                <a:ea typeface="Inter"/>
              </a:rPr>
              <a:t>kuupäev</a:t>
            </a: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TIMESTAMP - </a:t>
            </a:r>
            <a:r>
              <a:rPr lang="en-US" sz="2400" dirty="0" err="1">
                <a:ea typeface="Inter"/>
              </a:rPr>
              <a:t>kuupäev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kellaajaga</a:t>
            </a: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Dokumentatsioon</a:t>
            </a:r>
            <a:r>
              <a:rPr lang="en-US" sz="2400" dirty="0">
                <a:ea typeface="Inter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US" sz="2400" dirty="0">
                <a:ea typeface="Inter"/>
                <a:hlinkClick r:id="rId2"/>
              </a:rPr>
              <a:t>https://www.postgresql.org/docs/current/datatype.html</a:t>
            </a:r>
            <a:r>
              <a:rPr lang="en-US" sz="2400" dirty="0">
                <a:ea typeface="Inter"/>
              </a:rPr>
              <a:t> 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938061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8CD66-B432-CE0D-D666-FC12193AE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2C1C5-CFE2-C4AB-8934-6B183158AE9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DBeaver</a:t>
            </a:r>
            <a:r>
              <a:rPr lang="en-US"/>
              <a:t> – </a:t>
            </a:r>
            <a:r>
              <a:rPr lang="en-US" err="1"/>
              <a:t>andmete</a:t>
            </a:r>
            <a:r>
              <a:rPr lang="en-US"/>
              <a:t> </a:t>
            </a:r>
            <a:r>
              <a:rPr lang="en-US" err="1"/>
              <a:t>lisamine</a:t>
            </a:r>
            <a:r>
              <a:rPr lang="en-US"/>
              <a:t> </a:t>
            </a:r>
            <a:r>
              <a:rPr lang="en-US" err="1"/>
              <a:t>andmebaasi</a:t>
            </a:r>
            <a:r>
              <a:rPr lang="en-US"/>
              <a:t> UI </a:t>
            </a:r>
            <a:r>
              <a:rPr lang="en-US" err="1"/>
              <a:t>kaudu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6EFDB5F-311B-A003-161F-6FE2F574F60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>
              <a:lnSpc>
                <a:spcPct val="150000"/>
              </a:lnSpc>
            </a:pPr>
            <a:r>
              <a:rPr lang="en-US" sz="2000" dirty="0">
                <a:ea typeface="+mn-lt"/>
                <a:cs typeface="+mn-lt"/>
              </a:rPr>
              <a:t>Saab </a:t>
            </a:r>
            <a:r>
              <a:rPr lang="en-US" sz="2000" dirty="0" err="1">
                <a:ea typeface="+mn-lt"/>
                <a:cs typeface="+mn-lt"/>
              </a:rPr>
              <a:t>luua</a:t>
            </a:r>
            <a:r>
              <a:rPr lang="en-US" sz="2000" dirty="0">
                <a:ea typeface="+mn-lt"/>
                <a:cs typeface="+mn-lt"/>
              </a:rPr>
              <a:t> SQL </a:t>
            </a:r>
            <a:r>
              <a:rPr lang="en-US" sz="2000" dirty="0" err="1">
                <a:ea typeface="+mn-lt"/>
                <a:cs typeface="+mn-lt"/>
              </a:rPr>
              <a:t>koodi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abil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tabeleid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või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üles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laadida</a:t>
            </a:r>
            <a:r>
              <a:rPr lang="en-US" sz="2000" dirty="0">
                <a:ea typeface="+mn-lt"/>
                <a:cs typeface="+mn-lt"/>
              </a:rPr>
              <a:t> CSV </a:t>
            </a:r>
            <a:r>
              <a:rPr lang="en-US" sz="2000" dirty="0" err="1">
                <a:ea typeface="+mn-lt"/>
                <a:cs typeface="+mn-lt"/>
              </a:rPr>
              <a:t>faile</a:t>
            </a:r>
            <a:endParaRPr lang="en-US" sz="2000" dirty="0">
              <a:ea typeface="+mn-lt"/>
              <a:cs typeface="+mn-lt"/>
            </a:endParaRPr>
          </a:p>
          <a:p>
            <a:pPr marL="800100" lvl="1">
              <a:lnSpc>
                <a:spcPct val="150000"/>
              </a:lnSpc>
            </a:pPr>
            <a:r>
              <a:rPr lang="en-US" sz="2000" dirty="0" err="1">
                <a:ea typeface="+mn-lt"/>
                <a:cs typeface="+mn-lt"/>
              </a:rPr>
              <a:t>Laeme</a:t>
            </a:r>
            <a:r>
              <a:rPr lang="en-US" sz="2000" dirty="0">
                <a:ea typeface="+mn-lt"/>
                <a:cs typeface="+mn-lt"/>
              </a:rPr>
              <a:t> alla Day6 </a:t>
            </a:r>
            <a:r>
              <a:rPr lang="en-US" sz="2000" dirty="0" err="1">
                <a:ea typeface="+mn-lt"/>
                <a:cs typeface="+mn-lt"/>
              </a:rPr>
              <a:t>andmeallikad</a:t>
            </a:r>
            <a:r>
              <a:rPr lang="en-US" sz="2000" dirty="0">
                <a:ea typeface="+mn-lt"/>
                <a:cs typeface="+mn-lt"/>
              </a:rPr>
              <a:t>: </a:t>
            </a:r>
            <a:r>
              <a:rPr lang="en-US" sz="2000" dirty="0" err="1">
                <a:ea typeface="+mn-lt"/>
                <a:cs typeface="+mn-lt"/>
              </a:rPr>
              <a:t>sales_table</a:t>
            </a:r>
            <a:r>
              <a:rPr lang="en-US" sz="2000" dirty="0">
                <a:ea typeface="+mn-lt"/>
                <a:cs typeface="+mn-lt"/>
              </a:rPr>
              <a:t>, </a:t>
            </a:r>
            <a:r>
              <a:rPr lang="en-US" sz="2000" dirty="0" err="1">
                <a:ea typeface="+mn-lt"/>
                <a:cs typeface="+mn-lt"/>
              </a:rPr>
              <a:t>sales_rep_table</a:t>
            </a:r>
            <a:r>
              <a:rPr lang="en-US" sz="2000" dirty="0">
                <a:ea typeface="+mn-lt"/>
                <a:cs typeface="+mn-lt"/>
              </a:rPr>
              <a:t>, </a:t>
            </a:r>
            <a:r>
              <a:rPr lang="en-US" sz="2000" dirty="0" err="1">
                <a:ea typeface="+mn-lt"/>
                <a:cs typeface="+mn-lt"/>
              </a:rPr>
              <a:t>budget_table</a:t>
            </a:r>
            <a:endParaRPr lang="en-US" sz="2000" dirty="0">
              <a:ea typeface="+mn-lt"/>
              <a:cs typeface="+mn-lt"/>
            </a:endParaRPr>
          </a:p>
          <a:p>
            <a:pPr marL="285750" indent="-285750">
              <a:lnSpc>
                <a:spcPct val="150000"/>
              </a:lnSpc>
            </a:pPr>
            <a:r>
              <a:rPr lang="en-US" sz="2000" dirty="0" err="1">
                <a:ea typeface="+mn-lt"/>
                <a:cs typeface="+mn-lt"/>
              </a:rPr>
              <a:t>Esiteks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loome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andmebaasi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>
                <a:ea typeface="Inter"/>
                <a:cs typeface="+mn-lt"/>
              </a:rPr>
              <a:t>"</a:t>
            </a:r>
            <a:r>
              <a:rPr lang="en-US" sz="2000" dirty="0" err="1">
                <a:ea typeface="Inter"/>
                <a:cs typeface="+mn-lt"/>
              </a:rPr>
              <a:t>salesdb</a:t>
            </a:r>
            <a:r>
              <a:rPr lang="en-US" sz="2000" dirty="0">
                <a:ea typeface="Inter"/>
                <a:cs typeface="+mn-lt"/>
              </a:rPr>
              <a:t>“: Databases </a:t>
            </a:r>
            <a:r>
              <a:rPr lang="en-US" sz="2000" dirty="0" err="1">
                <a:ea typeface="Inter"/>
                <a:cs typeface="+mn-lt"/>
              </a:rPr>
              <a:t>parem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klõps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>
                <a:ea typeface="Inter"/>
                <a:cs typeface="+mn-lt"/>
                <a:sym typeface="Wingdings" panose="05000000000000000000" pitchFamily="2" charset="2"/>
              </a:rPr>
              <a:t> Create new database </a:t>
            </a:r>
            <a:endParaRPr lang="en-US" sz="2000" dirty="0">
              <a:ea typeface="Inter"/>
              <a:cs typeface="+mn-lt"/>
            </a:endParaRPr>
          </a:p>
          <a:p>
            <a:pPr marL="285750" indent="-285750">
              <a:lnSpc>
                <a:spcPct val="150000"/>
              </a:lnSpc>
            </a:pPr>
            <a:r>
              <a:rPr lang="en-US" sz="2000" dirty="0" err="1">
                <a:cs typeface="+mn-lt"/>
              </a:rPr>
              <a:t>Teiseks</a:t>
            </a:r>
            <a:r>
              <a:rPr lang="en-US" sz="2000" dirty="0">
                <a:cs typeface="+mn-lt"/>
              </a:rPr>
              <a:t> </a:t>
            </a:r>
            <a:r>
              <a:rPr lang="en-US" sz="2000" dirty="0" err="1">
                <a:cs typeface="+mn-lt"/>
              </a:rPr>
              <a:t>loome</a:t>
            </a:r>
            <a:r>
              <a:rPr lang="en-US" sz="2000" dirty="0">
                <a:cs typeface="+mn-lt"/>
              </a:rPr>
              <a:t> </a:t>
            </a:r>
            <a:r>
              <a:rPr lang="en-US" sz="2000" dirty="0" err="1">
                <a:cs typeface="+mn-lt"/>
              </a:rPr>
              <a:t>skeemi</a:t>
            </a:r>
            <a:r>
              <a:rPr lang="en-US" sz="2000" dirty="0">
                <a:cs typeface="+mn-lt"/>
              </a:rPr>
              <a:t> “sales”</a:t>
            </a:r>
            <a:r>
              <a:rPr lang="en-US" sz="2000" dirty="0">
                <a:ea typeface="Inter"/>
                <a:cs typeface="+mn-lt"/>
              </a:rPr>
              <a:t>: Ava </a:t>
            </a:r>
            <a:r>
              <a:rPr lang="en-US" sz="2000" dirty="0" err="1">
                <a:ea typeface="Inter"/>
                <a:cs typeface="+mn-lt"/>
              </a:rPr>
              <a:t>salesdb</a:t>
            </a:r>
            <a:r>
              <a:rPr lang="en-US" sz="2000" dirty="0">
                <a:ea typeface="Inter"/>
                <a:cs typeface="+mn-lt"/>
              </a:rPr>
              <a:t> Schemas </a:t>
            </a:r>
            <a:r>
              <a:rPr lang="en-US" sz="2000" dirty="0" err="1">
                <a:ea typeface="Inter"/>
                <a:cs typeface="+mn-lt"/>
              </a:rPr>
              <a:t>parem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klõps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>
                <a:ea typeface="Inter"/>
                <a:cs typeface="+mn-lt"/>
                <a:sym typeface="Wingdings" panose="05000000000000000000" pitchFamily="2" charset="2"/>
              </a:rPr>
              <a:t> Create new schema</a:t>
            </a:r>
            <a:endParaRPr lang="en-US" sz="2000" dirty="0">
              <a:cs typeface="+mn-lt"/>
            </a:endParaRPr>
          </a:p>
          <a:p>
            <a:pPr marL="285750" indent="-285750">
              <a:lnSpc>
                <a:spcPct val="150000"/>
              </a:lnSpc>
              <a:buClr>
                <a:srgbClr val="121212"/>
              </a:buClr>
            </a:pPr>
            <a:r>
              <a:rPr lang="en-US" sz="2000" dirty="0" err="1">
                <a:ea typeface="Inter"/>
                <a:cs typeface="+mn-lt"/>
              </a:rPr>
              <a:t>Laeme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üles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sales_table</a:t>
            </a:r>
            <a:r>
              <a:rPr lang="en-US" sz="2000" dirty="0">
                <a:ea typeface="Inter"/>
                <a:cs typeface="+mn-lt"/>
              </a:rPr>
              <a:t> CSV </a:t>
            </a:r>
            <a:r>
              <a:rPr lang="en-US" sz="2000" dirty="0" err="1">
                <a:ea typeface="Inter"/>
                <a:cs typeface="+mn-lt"/>
              </a:rPr>
              <a:t>faili</a:t>
            </a:r>
            <a:endParaRPr lang="en-US" sz="2000" dirty="0">
              <a:ea typeface="Inter"/>
              <a:cs typeface="+mn-lt"/>
            </a:endParaRPr>
          </a:p>
          <a:p>
            <a:pPr marL="800100" lvl="1">
              <a:lnSpc>
                <a:spcPct val="150000"/>
              </a:lnSpc>
              <a:buAutoNum type="arabicPeriod"/>
            </a:pPr>
            <a:r>
              <a:rPr lang="en-US" sz="2000" dirty="0" err="1">
                <a:ea typeface="Inter"/>
                <a:cs typeface="+mn-lt"/>
              </a:rPr>
              <a:t>Skeemi</a:t>
            </a:r>
            <a:r>
              <a:rPr lang="en-US" sz="2000" dirty="0">
                <a:ea typeface="Inter"/>
                <a:cs typeface="+mn-lt"/>
              </a:rPr>
              <a:t> peal </a:t>
            </a:r>
            <a:r>
              <a:rPr lang="en-US" sz="2000" dirty="0" err="1">
                <a:ea typeface="Inter"/>
                <a:cs typeface="+mn-lt"/>
              </a:rPr>
              <a:t>parem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klõps</a:t>
            </a:r>
            <a:r>
              <a:rPr lang="en-US" sz="2000" dirty="0">
                <a:ea typeface="Inter"/>
                <a:cs typeface="+mn-lt"/>
              </a:rPr>
              <a:t> ja "Import Data"</a:t>
            </a:r>
            <a:endParaRPr lang="en-US" sz="2000" dirty="0">
              <a:cs typeface="+mn-lt"/>
            </a:endParaRPr>
          </a:p>
          <a:p>
            <a:pPr marL="12001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 err="1">
                <a:ea typeface="Inter"/>
                <a:cs typeface="+mn-lt"/>
              </a:rPr>
              <a:t>Valime</a:t>
            </a:r>
            <a:r>
              <a:rPr lang="en-US" sz="2000" dirty="0">
                <a:ea typeface="Inter"/>
                <a:cs typeface="+mn-lt"/>
              </a:rPr>
              <a:t> “sales_table.csv”</a:t>
            </a:r>
            <a:endParaRPr lang="en-US" sz="2000" dirty="0">
              <a:cs typeface="+mn-lt"/>
            </a:endParaRPr>
          </a:p>
          <a:p>
            <a:pPr marL="12001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 err="1">
                <a:ea typeface="Inter"/>
                <a:cs typeface="+mn-lt"/>
              </a:rPr>
              <a:t>Võimalik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andmeid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vaadata</a:t>
            </a:r>
            <a:r>
              <a:rPr lang="en-US" sz="2000" dirty="0">
                <a:ea typeface="Inter"/>
                <a:cs typeface="+mn-lt"/>
              </a:rPr>
              <a:t> - "Preview Data"</a:t>
            </a:r>
            <a:endParaRPr lang="en-US" sz="2000" dirty="0">
              <a:cs typeface="+mn-lt"/>
            </a:endParaRPr>
          </a:p>
          <a:p>
            <a:pPr marL="12001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 err="1">
                <a:ea typeface="Inter"/>
                <a:cs typeface="+mn-lt"/>
              </a:rPr>
              <a:t>Võimalik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vormistust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muuta</a:t>
            </a:r>
            <a:r>
              <a:rPr lang="en-US" sz="2000" dirty="0">
                <a:ea typeface="Inter"/>
                <a:cs typeface="+mn-lt"/>
              </a:rPr>
              <a:t> - "Configure Data“</a:t>
            </a:r>
          </a:p>
          <a:p>
            <a:pPr marL="1657350" lvl="3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 err="1">
                <a:ea typeface="Inter"/>
                <a:cs typeface="+mn-lt"/>
              </a:rPr>
              <a:t>Muudame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tüübid</a:t>
            </a:r>
            <a:endParaRPr lang="en-US" sz="2000" dirty="0">
              <a:ea typeface="Inter"/>
              <a:cs typeface="+mn-lt"/>
            </a:endParaRPr>
          </a:p>
          <a:p>
            <a:pPr marL="285750">
              <a:lnSpc>
                <a:spcPct val="150000"/>
              </a:lnSpc>
            </a:pPr>
            <a:r>
              <a:rPr lang="en-US" sz="2000" dirty="0" err="1">
                <a:ea typeface="Inter"/>
                <a:cs typeface="+mn-lt"/>
              </a:rPr>
              <a:t>Laeme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samamoodi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üles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budget_table</a:t>
            </a:r>
            <a:r>
              <a:rPr lang="en-US" sz="2000" dirty="0">
                <a:ea typeface="Inter"/>
                <a:cs typeface="+mn-lt"/>
              </a:rPr>
              <a:t> ja </a:t>
            </a:r>
            <a:r>
              <a:rPr lang="en-US" sz="2000" dirty="0" err="1">
                <a:ea typeface="Inter"/>
                <a:cs typeface="+mn-lt"/>
              </a:rPr>
              <a:t>sales_rep_table</a:t>
            </a:r>
            <a:endParaRPr lang="en-US" sz="2000" dirty="0">
              <a:ea typeface="Inter"/>
              <a:cs typeface="+mn-lt"/>
            </a:endParaRPr>
          </a:p>
          <a:p>
            <a:pPr marL="857250" lvl="1" indent="-342900">
              <a:lnSpc>
                <a:spcPct val="150000"/>
              </a:lnSpc>
              <a:buAutoNum type="arabicPeriod"/>
            </a:pPr>
            <a:endParaRPr lang="en-US" dirty="0">
              <a:solidFill>
                <a:srgbClr val="121212"/>
              </a:solidFill>
              <a:cs typeface="+mn-lt"/>
            </a:endParaRPr>
          </a:p>
          <a:p>
            <a:pPr marL="857250" lvl="1" indent="-342900">
              <a:lnSpc>
                <a:spcPct val="150000"/>
              </a:lnSpc>
              <a:buAutoNum type="arabicPeriod"/>
            </a:pPr>
            <a:endParaRPr lang="en-US" dirty="0">
              <a:cs typeface="+mn-lt"/>
            </a:endParaRPr>
          </a:p>
          <a:p>
            <a:pPr marL="0" indent="0">
              <a:buClr>
                <a:srgbClr val="121212"/>
              </a:buClr>
              <a:buNone/>
            </a:pPr>
            <a:endParaRPr lang="en-US" dirty="0">
              <a:cs typeface="+mn-lt"/>
            </a:endParaRPr>
          </a:p>
          <a:p>
            <a:endParaRPr lang="en-US" dirty="0"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91438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9E57D-0698-A888-A781-B5BA4506C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BE8A2B-41F3-0AD3-D3F7-DF4AC897F52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A4C1C95-F9A5-B2F3-AAC1-345A2C3966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21564857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68293-66B4-9531-CEB8-1310D457F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9379B-8B4D-351D-FB50-463F7244159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– </a:t>
            </a:r>
            <a:r>
              <a:rPr lang="en-US" err="1"/>
              <a:t>tabelite</a:t>
            </a:r>
            <a:r>
              <a:rPr lang="en-US"/>
              <a:t> </a:t>
            </a:r>
            <a:r>
              <a:rPr lang="en-US" err="1"/>
              <a:t>ühendamine</a:t>
            </a:r>
          </a:p>
        </p:txBody>
      </p:sp>
      <p:pic>
        <p:nvPicPr>
          <p:cNvPr id="4" name="Content Placeholder 3" descr="A diagram of a diagram&#10;&#10;AI-generated content may be incorrect.">
            <a:extLst>
              <a:ext uri="{FF2B5EF4-FFF2-40B4-BE49-F238E27FC236}">
                <a16:creationId xmlns:a16="http://schemas.microsoft.com/office/drawing/2014/main" id="{CD786AF0-AFD6-3E5D-F34D-476B12CA5EE5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1105773" y="978462"/>
            <a:ext cx="3946694" cy="512994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CC3A1CD-3F5D-D5BD-4A3E-F94218F8E9CB}"/>
              </a:ext>
            </a:extLst>
          </p:cNvPr>
          <p:cNvSpPr txBox="1"/>
          <p:nvPr/>
        </p:nvSpPr>
        <p:spPr>
          <a:xfrm>
            <a:off x="6007608" y="1444752"/>
            <a:ext cx="5742432" cy="874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 err="1"/>
              <a:t>Vaatame</a:t>
            </a:r>
            <a:r>
              <a:rPr lang="en-US" dirty="0"/>
              <a:t> </a:t>
            </a:r>
            <a:r>
              <a:rPr lang="en-US" dirty="0" err="1"/>
              <a:t>loogikat</a:t>
            </a:r>
            <a:r>
              <a:rPr lang="en-US" dirty="0"/>
              <a:t> </a:t>
            </a:r>
            <a:r>
              <a:rPr lang="en-US" dirty="0" err="1"/>
              <a:t>näite</a:t>
            </a:r>
            <a:r>
              <a:rPr lang="en-US" dirty="0"/>
              <a:t> </a:t>
            </a:r>
            <a:r>
              <a:rPr lang="en-US" dirty="0" err="1"/>
              <a:t>põhjal</a:t>
            </a:r>
            <a:r>
              <a:rPr lang="en-US" dirty="0"/>
              <a:t>: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/>
              <a:t>Github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 Day6: JOINS_loogika.XLSX</a:t>
            </a:r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11379724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12F7D-0F32-EA88-B041-16143FEB8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D3BBAC-BC5C-05AA-FECD-7B676920956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DBeaver</a:t>
            </a:r>
            <a:r>
              <a:rPr lang="en-US" dirty="0"/>
              <a:t> – </a:t>
            </a:r>
            <a:r>
              <a:rPr lang="en-US" dirty="0" err="1"/>
              <a:t>tabelite</a:t>
            </a:r>
            <a:r>
              <a:rPr lang="en-US" dirty="0"/>
              <a:t> </a:t>
            </a:r>
            <a:r>
              <a:rPr lang="en-US" dirty="0" err="1"/>
              <a:t>ühendamine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8F9C816-F533-C6F6-6632-43FAF5E2553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>
              <a:lnSpc>
                <a:spcPct val="150000"/>
              </a:lnSpc>
            </a:pPr>
            <a:r>
              <a:rPr lang="en-US" sz="2400" dirty="0" err="1">
                <a:ea typeface="Inter"/>
                <a:cs typeface="+mn-lt"/>
              </a:rPr>
              <a:t>Lahendame</a:t>
            </a:r>
            <a:r>
              <a:rPr lang="en-US" sz="2400" dirty="0">
                <a:ea typeface="Inter"/>
                <a:cs typeface="+mn-lt"/>
              </a:rPr>
              <a:t>: Day6 </a:t>
            </a:r>
            <a:r>
              <a:rPr lang="en-US" sz="2400" dirty="0">
                <a:ea typeface="Inter"/>
                <a:cs typeface="+mn-lt"/>
                <a:sym typeface="Wingdings" panose="05000000000000000000" pitchFamily="2" charset="2"/>
              </a:rPr>
              <a:t> </a:t>
            </a:r>
            <a:r>
              <a:rPr lang="en-US" sz="2400" dirty="0">
                <a:ea typeface="Inter"/>
                <a:cs typeface="+mn-lt"/>
              </a:rPr>
              <a:t>sql_ulesanded_5.txt</a:t>
            </a:r>
          </a:p>
          <a:p>
            <a:pPr marL="857250" lvl="1" indent="-342900">
              <a:lnSpc>
                <a:spcPct val="150000"/>
              </a:lnSpc>
              <a:buAutoNum type="arabicPeriod"/>
            </a:pPr>
            <a:endParaRPr lang="en-US" dirty="0">
              <a:solidFill>
                <a:srgbClr val="121212"/>
              </a:solidFill>
              <a:cs typeface="+mn-lt"/>
            </a:endParaRPr>
          </a:p>
          <a:p>
            <a:pPr marL="857250" lvl="1" indent="-342900">
              <a:lnSpc>
                <a:spcPct val="150000"/>
              </a:lnSpc>
              <a:buAutoNum type="arabicPeriod"/>
            </a:pPr>
            <a:endParaRPr lang="en-US" dirty="0">
              <a:cs typeface="+mn-lt"/>
            </a:endParaRPr>
          </a:p>
          <a:p>
            <a:pPr marL="0" indent="0">
              <a:buClr>
                <a:srgbClr val="121212"/>
              </a:buClr>
              <a:buNone/>
            </a:pPr>
            <a:endParaRPr lang="en-US" dirty="0">
              <a:cs typeface="+mn-lt"/>
            </a:endParaRPr>
          </a:p>
          <a:p>
            <a:endParaRPr lang="en-US" dirty="0"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386083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7CCB3-B259-3DCD-0027-751990971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52BBB6-15C6-757A-20FC-DF1337597FA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0E3282D-2EB8-4929-1315-48292A4A96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22502467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1193C7-7A5B-3160-EC42-93B70B0DAC4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400" dirty="0" err="1"/>
              <a:t>Dbeaver</a:t>
            </a:r>
            <a:r>
              <a:rPr lang="en-US" sz="2400" dirty="0"/>
              <a:t> – </a:t>
            </a:r>
            <a:r>
              <a:rPr lang="en-US" sz="2400" dirty="0" err="1"/>
              <a:t>andmete</a:t>
            </a:r>
            <a:r>
              <a:rPr lang="en-US" sz="2400" dirty="0"/>
              <a:t> </a:t>
            </a:r>
            <a:r>
              <a:rPr lang="en-US" sz="2400" dirty="0" err="1"/>
              <a:t>ühendamine</a:t>
            </a:r>
            <a:r>
              <a:rPr lang="en-US" sz="2400" dirty="0"/>
              <a:t> – </a:t>
            </a:r>
            <a:r>
              <a:rPr lang="en-US" sz="2400" dirty="0" err="1"/>
              <a:t>vaatame</a:t>
            </a:r>
            <a:r>
              <a:rPr lang="en-US" sz="2400" dirty="0"/>
              <a:t> </a:t>
            </a:r>
            <a:r>
              <a:rPr lang="en-US" sz="2400" dirty="0" err="1"/>
              <a:t>lahendused</a:t>
            </a:r>
            <a:r>
              <a:rPr lang="en-US" sz="2400" dirty="0"/>
              <a:t> </a:t>
            </a:r>
            <a:r>
              <a:rPr lang="en-US" sz="2400" dirty="0" err="1"/>
              <a:t>üle</a:t>
            </a:r>
            <a:endParaRPr lang="et-EE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B3417E-5909-8D66-EE8F-A63F18106F0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393173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20294-3B0C-1FA8-EA29-F48F16C2F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7D87FE-C19E-B5D7-602C-B58CD8DC846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</a:t>
            </a:r>
            <a:r>
              <a:rPr lang="en-US" err="1"/>
              <a:t>päring</a:t>
            </a:r>
            <a:r>
              <a:rPr lang="en-US"/>
              <a:t> </a:t>
            </a:r>
            <a:r>
              <a:rPr lang="en-US" err="1"/>
              <a:t>müügiandmete</a:t>
            </a:r>
            <a:r>
              <a:rPr lang="en-US"/>
              <a:t> </a:t>
            </a:r>
            <a:r>
              <a:rPr lang="en-US" err="1"/>
              <a:t>analüüsiks</a:t>
            </a:r>
            <a:r>
              <a:rPr lang="en-US"/>
              <a:t> 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9CF221A-8E5D-03C4-56B6-F5CA02C825C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>
              <a:lnSpc>
                <a:spcPct val="150000"/>
              </a:lnSpc>
            </a:pPr>
            <a:r>
              <a:rPr lang="en-US" sz="2000" dirty="0">
                <a:ea typeface="Inter"/>
                <a:cs typeface="+mn-lt"/>
              </a:rPr>
              <a:t>Leia </a:t>
            </a:r>
            <a:r>
              <a:rPr lang="en-US" sz="2000" dirty="0" err="1">
                <a:ea typeface="Inter"/>
                <a:cs typeface="+mn-lt"/>
              </a:rPr>
              <a:t>müügisummad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toodete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kaupa</a:t>
            </a:r>
            <a:r>
              <a:rPr lang="en-US" sz="2000" dirty="0">
                <a:ea typeface="Inter"/>
                <a:cs typeface="+mn-lt"/>
              </a:rPr>
              <a:t> – </a:t>
            </a:r>
            <a:r>
              <a:rPr lang="en-US" sz="2000" dirty="0" err="1">
                <a:ea typeface="Inter"/>
                <a:cs typeface="+mn-lt"/>
              </a:rPr>
              <a:t>toote</a:t>
            </a:r>
            <a:r>
              <a:rPr lang="en-US" sz="2000" dirty="0">
                <a:ea typeface="Inter"/>
                <a:cs typeface="+mn-lt"/>
              </a:rPr>
              <a:t> ID ja </a:t>
            </a:r>
            <a:r>
              <a:rPr lang="en-US" sz="2000" dirty="0" err="1">
                <a:ea typeface="Inter"/>
                <a:cs typeface="+mn-lt"/>
              </a:rPr>
              <a:t>müügisumma</a:t>
            </a:r>
            <a:endParaRPr lang="en-US" sz="2000" dirty="0">
              <a:cs typeface="+mn-lt"/>
            </a:endParaRPr>
          </a:p>
          <a:p>
            <a:pPr marL="285750" indent="-285750">
              <a:lnSpc>
                <a:spcPct val="150000"/>
              </a:lnSpc>
            </a:pPr>
            <a:r>
              <a:rPr lang="en-US" sz="2000" dirty="0">
                <a:ea typeface="Inter"/>
                <a:cs typeface="+mn-lt"/>
              </a:rPr>
              <a:t>Leia </a:t>
            </a:r>
            <a:r>
              <a:rPr lang="en-US" sz="2000" dirty="0" err="1">
                <a:ea typeface="Inter"/>
                <a:cs typeface="+mn-lt"/>
              </a:rPr>
              <a:t>müügisummad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klientide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kaupa</a:t>
            </a:r>
            <a:r>
              <a:rPr lang="en-US" sz="2000" dirty="0">
                <a:ea typeface="Inter"/>
                <a:cs typeface="+mn-lt"/>
              </a:rPr>
              <a:t> – </a:t>
            </a:r>
            <a:r>
              <a:rPr lang="en-US" sz="2000" dirty="0" err="1">
                <a:ea typeface="Inter"/>
                <a:cs typeface="+mn-lt"/>
              </a:rPr>
              <a:t>kliendi</a:t>
            </a:r>
            <a:r>
              <a:rPr lang="en-US" sz="2000" dirty="0">
                <a:ea typeface="Inter"/>
                <a:cs typeface="+mn-lt"/>
              </a:rPr>
              <a:t> ID ja </a:t>
            </a:r>
            <a:r>
              <a:rPr lang="en-US" sz="2000" dirty="0" err="1">
                <a:ea typeface="Inter"/>
                <a:cs typeface="+mn-lt"/>
              </a:rPr>
              <a:t>müügisumma</a:t>
            </a:r>
            <a:endParaRPr lang="en-US" sz="2000" dirty="0">
              <a:cs typeface="+mn-lt"/>
            </a:endParaRPr>
          </a:p>
          <a:p>
            <a:pPr marL="285750" indent="-285750">
              <a:lnSpc>
                <a:spcPct val="150000"/>
              </a:lnSpc>
              <a:buClr>
                <a:srgbClr val="121212"/>
              </a:buClr>
            </a:pPr>
            <a:r>
              <a:rPr lang="en-US" sz="2000" dirty="0">
                <a:ea typeface="Inter"/>
                <a:cs typeface="+mn-lt"/>
              </a:rPr>
              <a:t>Leia </a:t>
            </a:r>
            <a:r>
              <a:rPr lang="en-US" sz="2000" dirty="0" err="1">
                <a:ea typeface="Inter"/>
                <a:cs typeface="+mn-lt"/>
              </a:rPr>
              <a:t>müügisummad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müügiesindajate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kaupa</a:t>
            </a:r>
            <a:r>
              <a:rPr lang="en-US" sz="2000" dirty="0">
                <a:ea typeface="Inter"/>
                <a:cs typeface="+mn-lt"/>
              </a:rPr>
              <a:t> – </a:t>
            </a:r>
            <a:r>
              <a:rPr lang="en-US" sz="2000" dirty="0" err="1">
                <a:ea typeface="Inter"/>
                <a:cs typeface="+mn-lt"/>
              </a:rPr>
              <a:t>kliendiesindaja</a:t>
            </a:r>
            <a:r>
              <a:rPr lang="en-US" sz="2000" dirty="0">
                <a:ea typeface="Inter"/>
                <a:cs typeface="+mn-lt"/>
              </a:rPr>
              <a:t> ID ja </a:t>
            </a:r>
            <a:r>
              <a:rPr lang="en-US" sz="2000" dirty="0" err="1">
                <a:ea typeface="Inter"/>
                <a:cs typeface="+mn-lt"/>
              </a:rPr>
              <a:t>müügisumma</a:t>
            </a:r>
            <a:endParaRPr lang="en-US" sz="2000" dirty="0">
              <a:cs typeface="+mn-lt"/>
            </a:endParaRPr>
          </a:p>
          <a:p>
            <a:pPr marL="285750" indent="-285750">
              <a:lnSpc>
                <a:spcPct val="150000"/>
              </a:lnSpc>
              <a:buClr>
                <a:srgbClr val="121212"/>
              </a:buClr>
            </a:pPr>
            <a:r>
              <a:rPr lang="en-US" sz="2000" dirty="0">
                <a:ea typeface="Inter"/>
                <a:cs typeface="+mn-lt"/>
              </a:rPr>
              <a:t>Leia </a:t>
            </a:r>
            <a:r>
              <a:rPr lang="en-US" sz="2000" dirty="0" err="1">
                <a:ea typeface="Inter"/>
                <a:cs typeface="+mn-lt"/>
              </a:rPr>
              <a:t>müügisummad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aastate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kaupa</a:t>
            </a:r>
            <a:r>
              <a:rPr lang="en-US" sz="2000" dirty="0">
                <a:ea typeface="Inter"/>
                <a:cs typeface="+mn-lt"/>
              </a:rPr>
              <a:t> – </a:t>
            </a:r>
            <a:r>
              <a:rPr lang="en-US" sz="2000" dirty="0" err="1">
                <a:ea typeface="Inter"/>
                <a:cs typeface="+mn-lt"/>
              </a:rPr>
              <a:t>aasta</a:t>
            </a:r>
            <a:r>
              <a:rPr lang="en-US" sz="2000" dirty="0">
                <a:ea typeface="Inter"/>
                <a:cs typeface="+mn-lt"/>
              </a:rPr>
              <a:t> ja </a:t>
            </a:r>
            <a:r>
              <a:rPr lang="en-US" sz="2000" dirty="0" err="1">
                <a:ea typeface="Inter"/>
                <a:cs typeface="+mn-lt"/>
              </a:rPr>
              <a:t>müügisumma</a:t>
            </a:r>
            <a:endParaRPr lang="en-US" sz="2000" dirty="0">
              <a:cs typeface="+mn-lt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</a:pPr>
            <a:r>
              <a:rPr lang="en-US" sz="2000" dirty="0">
                <a:ea typeface="Inter"/>
                <a:cs typeface="+mn-lt"/>
              </a:rPr>
              <a:t>Lisa </a:t>
            </a:r>
            <a:r>
              <a:rPr lang="en-US" sz="2000" dirty="0" err="1">
                <a:ea typeface="Inter"/>
                <a:cs typeface="+mn-lt"/>
              </a:rPr>
              <a:t>müükidele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müügisumma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kategooriad</a:t>
            </a:r>
            <a:endParaRPr lang="en-US" sz="2000" dirty="0">
              <a:cs typeface="+mn-lt"/>
            </a:endParaRPr>
          </a:p>
          <a:p>
            <a:pPr marL="857250" lvl="1">
              <a:lnSpc>
                <a:spcPct val="150000"/>
              </a:lnSpc>
              <a:buAutoNum type="arabicPeriod"/>
            </a:pPr>
            <a:r>
              <a:rPr lang="en-US" sz="2000" dirty="0">
                <a:ea typeface="Inter"/>
                <a:cs typeface="+mn-lt"/>
              </a:rPr>
              <a:t>Large Sale &gt; 500</a:t>
            </a:r>
            <a:endParaRPr lang="en-US" sz="2000" dirty="0">
              <a:cs typeface="+mn-lt"/>
            </a:endParaRPr>
          </a:p>
          <a:p>
            <a:pPr marL="857250" lvl="1">
              <a:lnSpc>
                <a:spcPct val="150000"/>
              </a:lnSpc>
              <a:buAutoNum type="arabicPeriod"/>
            </a:pPr>
            <a:r>
              <a:rPr lang="en-US" sz="2000" dirty="0">
                <a:ea typeface="Inter"/>
                <a:cs typeface="+mn-lt"/>
              </a:rPr>
              <a:t>Medium Sale &lt;= 500 and &gt;= 250</a:t>
            </a:r>
            <a:endParaRPr lang="en-US" sz="2000" dirty="0">
              <a:cs typeface="+mn-lt"/>
            </a:endParaRPr>
          </a:p>
          <a:p>
            <a:pPr marL="857250" lvl="1">
              <a:lnSpc>
                <a:spcPct val="150000"/>
              </a:lnSpc>
              <a:buAutoNum type="arabicPeriod"/>
            </a:pPr>
            <a:r>
              <a:rPr lang="en-US" sz="2000" dirty="0">
                <a:ea typeface="Inter"/>
                <a:cs typeface="+mn-lt"/>
              </a:rPr>
              <a:t>Small Sale &lt; 250</a:t>
            </a:r>
            <a:endParaRPr lang="en-US" sz="2000" dirty="0">
              <a:cs typeface="+mn-lt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</a:pPr>
            <a:r>
              <a:rPr lang="en-US" sz="2000" dirty="0">
                <a:ea typeface="Inter"/>
                <a:cs typeface="+mn-lt"/>
              </a:rPr>
              <a:t>Leia </a:t>
            </a:r>
            <a:r>
              <a:rPr lang="en-US" sz="2000" dirty="0" err="1">
                <a:ea typeface="Inter"/>
                <a:cs typeface="+mn-lt"/>
              </a:rPr>
              <a:t>müükide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arv</a:t>
            </a:r>
            <a:r>
              <a:rPr lang="en-US" sz="2000" dirty="0">
                <a:ea typeface="Inter"/>
                <a:cs typeface="+mn-lt"/>
              </a:rPr>
              <a:t> ja </a:t>
            </a:r>
            <a:r>
              <a:rPr lang="en-US" sz="2000" dirty="0" err="1">
                <a:ea typeface="Inter"/>
                <a:cs typeface="+mn-lt"/>
              </a:rPr>
              <a:t>müügisumma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müügisumma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kategooriate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kaupa</a:t>
            </a:r>
            <a:endParaRPr lang="en-US" sz="2000" dirty="0">
              <a:ea typeface="Inter"/>
              <a:cs typeface="+mn-lt"/>
            </a:endParaRPr>
          </a:p>
          <a:p>
            <a:pPr marL="857250" lvl="1" indent="-342900">
              <a:lnSpc>
                <a:spcPct val="150000"/>
              </a:lnSpc>
              <a:buClr>
                <a:srgbClr val="121212"/>
              </a:buClr>
            </a:pPr>
            <a:r>
              <a:rPr lang="en-US" sz="2000" dirty="0" err="1">
                <a:ea typeface="Inter"/>
                <a:cs typeface="+mn-lt"/>
              </a:rPr>
              <a:t>Müügisumma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kategooria</a:t>
            </a:r>
            <a:r>
              <a:rPr lang="en-US" sz="2000" dirty="0">
                <a:ea typeface="Inter"/>
                <a:cs typeface="+mn-lt"/>
              </a:rPr>
              <a:t>, </a:t>
            </a:r>
            <a:r>
              <a:rPr lang="en-US" sz="2000" dirty="0" err="1">
                <a:ea typeface="Inter"/>
                <a:cs typeface="+mn-lt"/>
              </a:rPr>
              <a:t>müükide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arv</a:t>
            </a:r>
            <a:r>
              <a:rPr lang="en-US" sz="2000" dirty="0">
                <a:ea typeface="Inter"/>
                <a:cs typeface="+mn-lt"/>
              </a:rPr>
              <a:t>, </a:t>
            </a:r>
            <a:r>
              <a:rPr lang="en-US" sz="2000" dirty="0" err="1">
                <a:ea typeface="Inter"/>
                <a:cs typeface="+mn-lt"/>
              </a:rPr>
              <a:t>müügisumma</a:t>
            </a:r>
            <a:endParaRPr lang="en-US" sz="2000" dirty="0">
              <a:cs typeface="+mn-lt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</a:pPr>
            <a:r>
              <a:rPr lang="en-US" sz="2000" dirty="0">
                <a:ea typeface="Inter"/>
                <a:cs typeface="+mn-lt"/>
              </a:rPr>
              <a:t>Mida </a:t>
            </a:r>
            <a:r>
              <a:rPr lang="en-US" sz="2000" dirty="0" err="1">
                <a:ea typeface="Inter"/>
                <a:cs typeface="+mn-lt"/>
              </a:rPr>
              <a:t>veel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võiks</a:t>
            </a:r>
            <a:r>
              <a:rPr lang="en-US" sz="2000" dirty="0">
                <a:ea typeface="Inter"/>
                <a:cs typeface="+mn-lt"/>
              </a:rPr>
              <a:t> </a:t>
            </a:r>
            <a:r>
              <a:rPr lang="en-US" sz="2000" dirty="0" err="1">
                <a:ea typeface="Inter"/>
                <a:cs typeface="+mn-lt"/>
              </a:rPr>
              <a:t>leida</a:t>
            </a:r>
            <a:r>
              <a:rPr lang="en-US" sz="2000" dirty="0">
                <a:ea typeface="Inter"/>
                <a:cs typeface="+mn-lt"/>
              </a:rPr>
              <a:t>?</a:t>
            </a:r>
            <a:endParaRPr lang="en-US" sz="2000" dirty="0">
              <a:cs typeface="+mn-lt"/>
            </a:endParaRPr>
          </a:p>
          <a:p>
            <a:pPr marL="857250" lvl="1" indent="-342900">
              <a:lnSpc>
                <a:spcPct val="150000"/>
              </a:lnSpc>
              <a:buAutoNum type="arabicPeriod"/>
            </a:pPr>
            <a:endParaRPr lang="en-US" dirty="0">
              <a:cs typeface="+mn-lt"/>
            </a:endParaRPr>
          </a:p>
          <a:p>
            <a:pPr marL="0" indent="0">
              <a:buNone/>
            </a:pPr>
            <a:endParaRPr lang="en-US" dirty="0">
              <a:cs typeface="+mn-lt"/>
            </a:endParaRPr>
          </a:p>
          <a:p>
            <a:endParaRPr lang="en-US" dirty="0"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2641206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CBF13-0577-C954-E859-4485C0A77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39D38-56B4-329D-1362-22E4CB980DC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E74B9BA-4701-AF0C-7FCF-4AAD3F3B4C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14:45-15:00</a:t>
            </a:r>
          </a:p>
        </p:txBody>
      </p:sp>
    </p:spTree>
    <p:extLst>
      <p:ext uri="{BB962C8B-B14F-4D97-AF65-F5344CB8AC3E}">
        <p14:creationId xmlns:p14="http://schemas.microsoft.com/office/powerpoint/2010/main" val="41203724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CAB85-ABDF-A4AE-95F6-18C60EA2F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164C5-FDD9-B59E-7AE1-995A6BC4E0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DBeaver</a:t>
            </a:r>
            <a:r>
              <a:rPr lang="en-US"/>
              <a:t> – </a:t>
            </a:r>
            <a:r>
              <a:rPr lang="en-US" err="1"/>
              <a:t>andmete</a:t>
            </a:r>
            <a:r>
              <a:rPr lang="en-US"/>
              <a:t> </a:t>
            </a:r>
            <a:r>
              <a:rPr lang="en-US" err="1"/>
              <a:t>lisamine</a:t>
            </a:r>
            <a:r>
              <a:rPr lang="en-US"/>
              <a:t> </a:t>
            </a:r>
            <a:r>
              <a:rPr lang="en-US" err="1"/>
              <a:t>andmebaasi</a:t>
            </a:r>
            <a:r>
              <a:rPr lang="en-US"/>
              <a:t> SQL </a:t>
            </a:r>
            <a:r>
              <a:rPr lang="en-US" err="1"/>
              <a:t>abil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C3AFA46-4814-2DAA-F416-09B34193687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>
              <a:lnSpc>
                <a:spcPct val="150000"/>
              </a:lnSpc>
            </a:pPr>
            <a:r>
              <a:rPr lang="en-US" sz="2000">
                <a:ea typeface="+mn-lt"/>
                <a:cs typeface="+mn-lt"/>
              </a:rPr>
              <a:t>CREATE</a:t>
            </a:r>
          </a:p>
          <a:p>
            <a:pPr marL="285750" indent="-285750">
              <a:lnSpc>
                <a:spcPct val="150000"/>
              </a:lnSpc>
            </a:pPr>
            <a:r>
              <a:rPr lang="en-US" sz="2000">
                <a:ea typeface="Inter"/>
                <a:cs typeface="+mn-lt"/>
              </a:rPr>
              <a:t>INSERT</a:t>
            </a:r>
            <a:endParaRPr lang="en-US" sz="2000">
              <a:cs typeface="+mn-lt"/>
            </a:endParaRPr>
          </a:p>
          <a:p>
            <a:pPr marL="285750" indent="-285750">
              <a:lnSpc>
                <a:spcPct val="150000"/>
              </a:lnSpc>
            </a:pPr>
            <a:r>
              <a:rPr lang="en-US" sz="2000">
                <a:ea typeface="Inter"/>
                <a:cs typeface="+mn-lt"/>
              </a:rPr>
              <a:t>ALTER</a:t>
            </a:r>
          </a:p>
          <a:p>
            <a:pPr marL="285750" indent="-285750">
              <a:lnSpc>
                <a:spcPct val="150000"/>
              </a:lnSpc>
            </a:pPr>
            <a:r>
              <a:rPr lang="en-US" sz="2000">
                <a:ea typeface="Inter"/>
                <a:cs typeface="+mn-lt"/>
              </a:rPr>
              <a:t>UPDATE</a:t>
            </a:r>
            <a:endParaRPr lang="en-US" sz="2000">
              <a:cs typeface="+mn-lt"/>
            </a:endParaRPr>
          </a:p>
          <a:p>
            <a:pPr marL="285750" indent="-285750">
              <a:lnSpc>
                <a:spcPct val="150000"/>
              </a:lnSpc>
            </a:pPr>
            <a:r>
              <a:rPr lang="en-US" sz="2000">
                <a:ea typeface="Inter"/>
                <a:cs typeface="+mn-lt"/>
              </a:rPr>
              <a:t>DROP</a:t>
            </a:r>
            <a:endParaRPr lang="en-US" sz="2000">
              <a:cs typeface="+mn-lt"/>
            </a:endParaRPr>
          </a:p>
          <a:p>
            <a:pPr marL="285750" indent="-285750">
              <a:lnSpc>
                <a:spcPct val="150000"/>
              </a:lnSpc>
              <a:buClr>
                <a:srgbClr val="121212"/>
              </a:buClr>
            </a:pPr>
            <a:endParaRPr lang="en-US" sz="2000">
              <a:cs typeface="+mn-lt"/>
            </a:endParaRPr>
          </a:p>
          <a:p>
            <a:pPr marL="285750" indent="-285750">
              <a:lnSpc>
                <a:spcPct val="150000"/>
              </a:lnSpc>
              <a:buClr>
                <a:srgbClr val="121212"/>
              </a:buClr>
            </a:pPr>
            <a:r>
              <a:rPr lang="en-US" sz="2000">
                <a:ea typeface="Inter"/>
                <a:cs typeface="+mn-lt"/>
              </a:rPr>
              <a:t>NB! Kui </a:t>
            </a:r>
            <a:r>
              <a:rPr lang="en-US" sz="2000" err="1">
                <a:ea typeface="Inter"/>
                <a:cs typeface="+mn-lt"/>
              </a:rPr>
              <a:t>päring</a:t>
            </a:r>
            <a:r>
              <a:rPr lang="en-US" sz="2000">
                <a:ea typeface="Inter"/>
                <a:cs typeface="+mn-lt"/>
              </a:rPr>
              <a:t> on </a:t>
            </a:r>
            <a:r>
              <a:rPr lang="en-US" sz="2000" err="1">
                <a:ea typeface="Inter"/>
                <a:cs typeface="+mn-lt"/>
              </a:rPr>
              <a:t>jooksutatud</a:t>
            </a:r>
            <a:r>
              <a:rPr lang="en-US" sz="2000">
                <a:ea typeface="Inter"/>
                <a:cs typeface="+mn-lt"/>
              </a:rPr>
              <a:t>, </a:t>
            </a:r>
            <a:r>
              <a:rPr lang="en-US" sz="2000" err="1">
                <a:ea typeface="Inter"/>
                <a:cs typeface="+mn-lt"/>
              </a:rPr>
              <a:t>siis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ei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saa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muudatusi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lihtsalt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tagasi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võtta</a:t>
            </a:r>
            <a:r>
              <a:rPr lang="en-US" sz="2000">
                <a:ea typeface="Inter"/>
                <a:cs typeface="+mn-lt"/>
              </a:rPr>
              <a:t>, </a:t>
            </a:r>
            <a:r>
              <a:rPr lang="en-US" sz="2000" err="1">
                <a:ea typeface="Inter"/>
                <a:cs typeface="+mn-lt"/>
              </a:rPr>
              <a:t>seega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tuleb</a:t>
            </a:r>
            <a:r>
              <a:rPr lang="en-US" sz="2000">
                <a:ea typeface="Inter"/>
                <a:cs typeface="+mn-lt"/>
              </a:rPr>
              <a:t> olla </a:t>
            </a:r>
            <a:r>
              <a:rPr lang="en-US" sz="2000" err="1">
                <a:ea typeface="Inter"/>
                <a:cs typeface="+mn-lt"/>
              </a:rPr>
              <a:t>kindel</a:t>
            </a:r>
            <a:r>
              <a:rPr lang="en-US" sz="2000">
                <a:ea typeface="Inter"/>
                <a:cs typeface="+mn-lt"/>
              </a:rPr>
              <a:t>, et </a:t>
            </a:r>
            <a:r>
              <a:rPr lang="en-US" sz="2000" err="1">
                <a:ea typeface="Inter"/>
                <a:cs typeface="+mn-lt"/>
              </a:rPr>
              <a:t>muudatuse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päring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teeb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õiget</a:t>
            </a:r>
            <a:r>
              <a:rPr lang="en-US" sz="2000">
                <a:ea typeface="Inter"/>
                <a:cs typeface="+mn-lt"/>
              </a:rPr>
              <a:t> </a:t>
            </a:r>
            <a:r>
              <a:rPr lang="en-US" sz="2000" err="1">
                <a:ea typeface="Inter"/>
                <a:cs typeface="+mn-lt"/>
              </a:rPr>
              <a:t>asja</a:t>
            </a:r>
            <a:r>
              <a:rPr lang="en-US" sz="2000">
                <a:ea typeface="Inter"/>
                <a:cs typeface="+mn-lt"/>
              </a:rPr>
              <a:t>.</a:t>
            </a:r>
            <a:endParaRPr lang="en-US" sz="2000">
              <a:cs typeface="+mn-lt"/>
            </a:endParaRPr>
          </a:p>
          <a:p>
            <a:pPr marL="857250" lvl="1" indent="-342900">
              <a:lnSpc>
                <a:spcPct val="150000"/>
              </a:lnSpc>
              <a:buAutoNum type="arabicPeriod"/>
            </a:pPr>
            <a:endParaRPr lang="en-US">
              <a:cs typeface="+mn-lt"/>
            </a:endParaRPr>
          </a:p>
          <a:p>
            <a:pPr marL="857250" lvl="1" indent="-342900">
              <a:lnSpc>
                <a:spcPct val="150000"/>
              </a:lnSpc>
              <a:buAutoNum type="arabicPeriod"/>
            </a:pPr>
            <a:endParaRPr lang="en-US">
              <a:cs typeface="+mn-lt"/>
            </a:endParaRPr>
          </a:p>
          <a:p>
            <a:pPr marL="0" indent="0">
              <a:buNone/>
            </a:pPr>
            <a:endParaRPr lang="en-US">
              <a:cs typeface="+mn-lt"/>
            </a:endParaRPr>
          </a:p>
          <a:p>
            <a:endParaRPr lang="en-US"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354464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D6ECC-EA01-FFED-B7EB-B180AFB5E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AAA5C-5C05-F132-EB20-4628BD9557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DBeaver</a:t>
            </a:r>
            <a:r>
              <a:rPr lang="en-US"/>
              <a:t> – </a:t>
            </a:r>
            <a:r>
              <a:rPr lang="en-US" err="1"/>
              <a:t>andmetabelite</a:t>
            </a:r>
            <a:r>
              <a:rPr lang="en-US"/>
              <a:t> </a:t>
            </a:r>
            <a:r>
              <a:rPr lang="en-US" err="1"/>
              <a:t>loomine</a:t>
            </a:r>
            <a:r>
              <a:rPr lang="en-US"/>
              <a:t> ja </a:t>
            </a:r>
            <a:r>
              <a:rPr lang="en-US" err="1"/>
              <a:t>muutmine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40E0336-9570-F87B-8FD7-66C1B297155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>
              <a:lnSpc>
                <a:spcPct val="150000"/>
              </a:lnSpc>
            </a:pPr>
            <a:r>
              <a:rPr lang="en-US" sz="2400">
                <a:ea typeface="Inter"/>
                <a:cs typeface="+mn-lt"/>
              </a:rPr>
              <a:t>Loome </a:t>
            </a:r>
            <a:r>
              <a:rPr lang="en-US" sz="2400" err="1">
                <a:ea typeface="Inter"/>
                <a:cs typeface="+mn-lt"/>
              </a:rPr>
              <a:t>koos</a:t>
            </a:r>
            <a:r>
              <a:rPr lang="en-US" sz="2400">
                <a:ea typeface="Inter"/>
                <a:cs typeface="+mn-lt"/>
              </a:rPr>
              <a:t>: </a:t>
            </a:r>
            <a:r>
              <a:rPr lang="en-US" sz="2400" err="1">
                <a:solidFill>
                  <a:srgbClr val="121212"/>
                </a:solidFill>
                <a:ea typeface="+mn-lt"/>
                <a:cs typeface="+mn-lt"/>
              </a:rPr>
              <a:t>SQL_tabeli_muutmine.sql</a:t>
            </a:r>
            <a:endParaRPr lang="en-US" sz="2400" err="1">
              <a:solidFill>
                <a:srgbClr val="121212"/>
              </a:solidFill>
              <a:ea typeface="Inter"/>
              <a:cs typeface="+mn-lt"/>
            </a:endParaRPr>
          </a:p>
          <a:p>
            <a:pPr marL="857250" lvl="1" indent="-342900">
              <a:lnSpc>
                <a:spcPct val="150000"/>
              </a:lnSpc>
              <a:buAutoNum type="arabicPeriod"/>
            </a:pPr>
            <a:endParaRPr lang="en-US">
              <a:solidFill>
                <a:srgbClr val="121212"/>
              </a:solidFill>
              <a:cs typeface="+mn-lt"/>
            </a:endParaRPr>
          </a:p>
          <a:p>
            <a:pPr marL="857250" lvl="1" indent="-342900">
              <a:lnSpc>
                <a:spcPct val="150000"/>
              </a:lnSpc>
              <a:buAutoNum type="arabicPeriod"/>
            </a:pPr>
            <a:endParaRPr lang="en-US">
              <a:cs typeface="+mn-lt"/>
            </a:endParaRPr>
          </a:p>
          <a:p>
            <a:pPr marL="0" indent="0">
              <a:buClr>
                <a:srgbClr val="121212"/>
              </a:buClr>
              <a:buNone/>
            </a:pPr>
            <a:endParaRPr lang="en-US">
              <a:cs typeface="+mn-lt"/>
            </a:endParaRPr>
          </a:p>
          <a:p>
            <a:endParaRPr lang="en-US"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1507908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371</TotalTime>
  <Words>578</Words>
  <Application>Microsoft Office PowerPoint</Application>
  <PresentationFormat>Widescreen</PresentationFormat>
  <Paragraphs>97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Poppins SemiBold</vt:lpstr>
      <vt:lpstr>Wingdings</vt:lpstr>
      <vt:lpstr>Inter Bold</vt:lpstr>
      <vt:lpstr>Calibri</vt:lpstr>
      <vt:lpstr>Arial</vt:lpstr>
      <vt:lpstr>Inter</vt:lpstr>
      <vt:lpstr>BCS</vt:lpstr>
      <vt:lpstr>Vali Andmetarkus!</vt:lpstr>
      <vt:lpstr>Päevakava - VI päev</vt:lpstr>
      <vt:lpstr>PostgreSQL</vt:lpstr>
      <vt:lpstr>PostgreSQL baasi nimetamispraktikad</vt:lpstr>
      <vt:lpstr>Põhilised andmetüübid PostgreSQL</vt:lpstr>
      <vt:lpstr>DBeaver – andmete lisamine andmebaasi UI kaudu</vt:lpstr>
      <vt:lpstr>Paus 10:30-10:45</vt:lpstr>
      <vt:lpstr>SQL – tabelite ühendamine</vt:lpstr>
      <vt:lpstr>DBeaver – tabelite ühendamine</vt:lpstr>
      <vt:lpstr>Lõunapaus 12:15-13:15</vt:lpstr>
      <vt:lpstr>Dbeaver – andmete ühendamine – vaatame lahendused üle</vt:lpstr>
      <vt:lpstr>SQL päring müügiandmete analüüsiks </vt:lpstr>
      <vt:lpstr>Paus 14:45-15:00</vt:lpstr>
      <vt:lpstr>DBeaver – andmete lisamine andmebaasi SQL abil</vt:lpstr>
      <vt:lpstr>DBeaver – andmetabelite loomine ja muutmine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36</cp:revision>
  <dcterms:created xsi:type="dcterms:W3CDTF">2021-08-27T11:35:28Z</dcterms:created>
  <dcterms:modified xsi:type="dcterms:W3CDTF">2026-08-18T11:48:34Z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