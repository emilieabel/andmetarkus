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489" r:id="rId2"/>
    <p:sldId id="256" r:id="rId3"/>
    <p:sldId id="258" r:id="rId4"/>
    <p:sldId id="261" r:id="rId5"/>
    <p:sldId id="263" r:id="rId6"/>
    <p:sldId id="264" r:id="rId7"/>
    <p:sldId id="265" r:id="rId8"/>
    <p:sldId id="266" r:id="rId9"/>
    <p:sldId id="490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491" r:id="rId26"/>
    <p:sldId id="282" r:id="rId27"/>
    <p:sldId id="283" r:id="rId28"/>
    <p:sldId id="493" r:id="rId29"/>
    <p:sldId id="284" r:id="rId30"/>
    <p:sldId id="285" r:id="rId31"/>
    <p:sldId id="286" r:id="rId32"/>
    <p:sldId id="287" r:id="rId33"/>
    <p:sldId id="288" r:id="rId34"/>
    <p:sldId id="290" r:id="rId35"/>
    <p:sldId id="492" r:id="rId36"/>
    <p:sldId id="292" r:id="rId37"/>
    <p:sldId id="293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ADD162-9A04-4A09-B1D8-E47EADD1DA9E}" v="1" dt="2026-09-07T17:01:24.8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29" autoAdjust="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81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ilie Abel" userId="20dec598-1860-40de-ab3f-181316cc4da6" providerId="ADAL" clId="{3EAE1975-14BE-41D5-9E3B-28573F0EE5DC}"/>
    <pc:docChg chg="undo custSel addSld delSld modSld">
      <pc:chgData name="Emilie Abel" userId="20dec598-1860-40de-ab3f-181316cc4da6" providerId="ADAL" clId="{3EAE1975-14BE-41D5-9E3B-28573F0EE5DC}" dt="2026-09-07T17:14:56.355" v="610" actId="47"/>
      <pc:docMkLst>
        <pc:docMk/>
      </pc:docMkLst>
      <pc:sldChg chg="modSp mod">
        <pc:chgData name="Emilie Abel" userId="20dec598-1860-40de-ab3f-181316cc4da6" providerId="ADAL" clId="{3EAE1975-14BE-41D5-9E3B-28573F0EE5DC}" dt="2026-09-07T17:00:49.437" v="232" actId="14100"/>
        <pc:sldMkLst>
          <pc:docMk/>
          <pc:sldMk cId="0" sldId="263"/>
        </pc:sldMkLst>
        <pc:spChg chg="mod">
          <ac:chgData name="Emilie Abel" userId="20dec598-1860-40de-ab3f-181316cc4da6" providerId="ADAL" clId="{3EAE1975-14BE-41D5-9E3B-28573F0EE5DC}" dt="2026-09-07T17:00:49.437" v="232" actId="14100"/>
          <ac:spMkLst>
            <pc:docMk/>
            <pc:sldMk cId="0" sldId="263"/>
            <ac:spMk id="9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7T17:00:45.008" v="231" actId="20577"/>
          <ac:spMkLst>
            <pc:docMk/>
            <pc:sldMk cId="0" sldId="263"/>
            <ac:spMk id="10" creationId="{00000000-0000-0000-0000-000000000000}"/>
          </ac:spMkLst>
        </pc:spChg>
      </pc:sldChg>
      <pc:sldChg chg="modSp mod">
        <pc:chgData name="Emilie Abel" userId="20dec598-1860-40de-ab3f-181316cc4da6" providerId="ADAL" clId="{3EAE1975-14BE-41D5-9E3B-28573F0EE5DC}" dt="2026-09-07T17:00:31.861" v="203" actId="20577"/>
        <pc:sldMkLst>
          <pc:docMk/>
          <pc:sldMk cId="0" sldId="264"/>
        </pc:sldMkLst>
        <pc:spChg chg="mod">
          <ac:chgData name="Emilie Abel" userId="20dec598-1860-40de-ab3f-181316cc4da6" providerId="ADAL" clId="{3EAE1975-14BE-41D5-9E3B-28573F0EE5DC}" dt="2026-09-07T17:00:15.791" v="177" actId="20577"/>
          <ac:spMkLst>
            <pc:docMk/>
            <pc:sldMk cId="0" sldId="264"/>
            <ac:spMk id="6" creationId="{60F7C9AE-4A3A-AB53-29CD-A61845F65937}"/>
          </ac:spMkLst>
        </pc:spChg>
        <pc:spChg chg="mod">
          <ac:chgData name="Emilie Abel" userId="20dec598-1860-40de-ab3f-181316cc4da6" providerId="ADAL" clId="{3EAE1975-14BE-41D5-9E3B-28573F0EE5DC}" dt="2026-09-07T17:00:31.861" v="203" actId="20577"/>
          <ac:spMkLst>
            <pc:docMk/>
            <pc:sldMk cId="0" sldId="264"/>
            <ac:spMk id="10" creationId="{00000000-0000-0000-0000-000000000000}"/>
          </ac:spMkLst>
        </pc:spChg>
      </pc:sldChg>
      <pc:sldChg chg="addSp delSp modSp mod">
        <pc:chgData name="Emilie Abel" userId="20dec598-1860-40de-ab3f-181316cc4da6" providerId="ADAL" clId="{3EAE1975-14BE-41D5-9E3B-28573F0EE5DC}" dt="2026-09-07T17:01:50.556" v="282"/>
        <pc:sldMkLst>
          <pc:docMk/>
          <pc:sldMk cId="0" sldId="266"/>
        </pc:sldMkLst>
        <pc:spChg chg="add del mod">
          <ac:chgData name="Emilie Abel" userId="20dec598-1860-40de-ab3f-181316cc4da6" providerId="ADAL" clId="{3EAE1975-14BE-41D5-9E3B-28573F0EE5DC}" dt="2026-09-07T17:01:50.556" v="282"/>
          <ac:spMkLst>
            <pc:docMk/>
            <pc:sldMk cId="0" sldId="266"/>
            <ac:spMk id="2" creationId="{F729E62B-8499-203A-E506-11317354E181}"/>
          </ac:spMkLst>
        </pc:spChg>
        <pc:spChg chg="mod">
          <ac:chgData name="Emilie Abel" userId="20dec598-1860-40de-ab3f-181316cc4da6" providerId="ADAL" clId="{3EAE1975-14BE-41D5-9E3B-28573F0EE5DC}" dt="2026-09-07T17:01:22.088" v="279" actId="20577"/>
          <ac:spMkLst>
            <pc:docMk/>
            <pc:sldMk cId="0" sldId="266"/>
            <ac:spMk id="10" creationId="{00000000-0000-0000-0000-000000000000}"/>
          </ac:spMkLst>
        </pc:spChg>
      </pc:sldChg>
      <pc:sldChg chg="modSp mod">
        <pc:chgData name="Emilie Abel" userId="20dec598-1860-40de-ab3f-181316cc4da6" providerId="ADAL" clId="{3EAE1975-14BE-41D5-9E3B-28573F0EE5DC}" dt="2026-09-07T17:02:14.277" v="301" actId="20577"/>
        <pc:sldMkLst>
          <pc:docMk/>
          <pc:sldMk cId="0" sldId="267"/>
        </pc:sldMkLst>
        <pc:spChg chg="mod">
          <ac:chgData name="Emilie Abel" userId="20dec598-1860-40de-ab3f-181316cc4da6" providerId="ADAL" clId="{3EAE1975-14BE-41D5-9E3B-28573F0EE5DC}" dt="2026-09-07T17:02:14.277" v="301" actId="20577"/>
          <ac:spMkLst>
            <pc:docMk/>
            <pc:sldMk cId="0" sldId="267"/>
            <ac:spMk id="15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7T14:13:47.225" v="7" actId="20577"/>
          <ac:spMkLst>
            <pc:docMk/>
            <pc:sldMk cId="0" sldId="267"/>
            <ac:spMk id="19" creationId="{00000000-0000-0000-0000-000000000000}"/>
          </ac:spMkLst>
        </pc:spChg>
      </pc:sldChg>
      <pc:sldChg chg="modSp mod">
        <pc:chgData name="Emilie Abel" userId="20dec598-1860-40de-ab3f-181316cc4da6" providerId="ADAL" clId="{3EAE1975-14BE-41D5-9E3B-28573F0EE5DC}" dt="2026-09-07T17:02:22.465" v="313" actId="20577"/>
        <pc:sldMkLst>
          <pc:docMk/>
          <pc:sldMk cId="0" sldId="268"/>
        </pc:sldMkLst>
        <pc:spChg chg="mod">
          <ac:chgData name="Emilie Abel" userId="20dec598-1860-40de-ab3f-181316cc4da6" providerId="ADAL" clId="{3EAE1975-14BE-41D5-9E3B-28573F0EE5DC}" dt="2026-09-07T14:14:27.162" v="28" actId="1076"/>
          <ac:spMkLst>
            <pc:docMk/>
            <pc:sldMk cId="0" sldId="268"/>
            <ac:spMk id="12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7T14:14:25.173" v="27" actId="1076"/>
          <ac:spMkLst>
            <pc:docMk/>
            <pc:sldMk cId="0" sldId="268"/>
            <ac:spMk id="15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7T14:14:30.401" v="29" actId="1076"/>
          <ac:spMkLst>
            <pc:docMk/>
            <pc:sldMk cId="0" sldId="268"/>
            <ac:spMk id="18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7T14:14:32.681" v="30" actId="1076"/>
          <ac:spMkLst>
            <pc:docMk/>
            <pc:sldMk cId="0" sldId="268"/>
            <ac:spMk id="21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7T17:02:22.465" v="313" actId="20577"/>
          <ac:spMkLst>
            <pc:docMk/>
            <pc:sldMk cId="0" sldId="268"/>
            <ac:spMk id="22" creationId="{00000000-0000-0000-0000-000000000000}"/>
          </ac:spMkLst>
        </pc:spChg>
      </pc:sldChg>
      <pc:sldChg chg="modSp mod">
        <pc:chgData name="Emilie Abel" userId="20dec598-1860-40de-ab3f-181316cc4da6" providerId="ADAL" clId="{3EAE1975-14BE-41D5-9E3B-28573F0EE5DC}" dt="2026-09-07T14:14:19.736" v="26" actId="1076"/>
        <pc:sldMkLst>
          <pc:docMk/>
          <pc:sldMk cId="0" sldId="269"/>
        </pc:sldMkLst>
        <pc:spChg chg="mod">
          <ac:chgData name="Emilie Abel" userId="20dec598-1860-40de-ab3f-181316cc4da6" providerId="ADAL" clId="{3EAE1975-14BE-41D5-9E3B-28573F0EE5DC}" dt="2026-09-07T14:14:09.604" v="22" actId="1076"/>
          <ac:spMkLst>
            <pc:docMk/>
            <pc:sldMk cId="0" sldId="269"/>
            <ac:spMk id="12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7T14:14:12.100" v="23" actId="1076"/>
          <ac:spMkLst>
            <pc:docMk/>
            <pc:sldMk cId="0" sldId="269"/>
            <ac:spMk id="15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7T14:14:05.515" v="21" actId="20577"/>
          <ac:spMkLst>
            <pc:docMk/>
            <pc:sldMk cId="0" sldId="269"/>
            <ac:spMk id="17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7T14:14:16.983" v="25" actId="1076"/>
          <ac:spMkLst>
            <pc:docMk/>
            <pc:sldMk cId="0" sldId="269"/>
            <ac:spMk id="18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7T14:14:15.019" v="24" actId="1076"/>
          <ac:spMkLst>
            <pc:docMk/>
            <pc:sldMk cId="0" sldId="269"/>
            <ac:spMk id="19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7T14:14:19.736" v="26" actId="1076"/>
          <ac:spMkLst>
            <pc:docMk/>
            <pc:sldMk cId="0" sldId="269"/>
            <ac:spMk id="21" creationId="{00000000-0000-0000-0000-000000000000}"/>
          </ac:spMkLst>
        </pc:spChg>
      </pc:sldChg>
      <pc:sldChg chg="modSp mod">
        <pc:chgData name="Emilie Abel" userId="20dec598-1860-40de-ab3f-181316cc4da6" providerId="ADAL" clId="{3EAE1975-14BE-41D5-9E3B-28573F0EE5DC}" dt="2026-09-07T17:04:06.852" v="342" actId="20577"/>
        <pc:sldMkLst>
          <pc:docMk/>
          <pc:sldMk cId="0" sldId="270"/>
        </pc:sldMkLst>
        <pc:spChg chg="mod">
          <ac:chgData name="Emilie Abel" userId="20dec598-1860-40de-ab3f-181316cc4da6" providerId="ADAL" clId="{3EAE1975-14BE-41D5-9E3B-28573F0EE5DC}" dt="2026-09-07T17:04:06.852" v="342" actId="20577"/>
          <ac:spMkLst>
            <pc:docMk/>
            <pc:sldMk cId="0" sldId="270"/>
            <ac:spMk id="5" creationId="{00000000-0000-0000-0000-000000000000}"/>
          </ac:spMkLst>
        </pc:spChg>
      </pc:sldChg>
      <pc:sldChg chg="modSp mod">
        <pc:chgData name="Emilie Abel" userId="20dec598-1860-40de-ab3f-181316cc4da6" providerId="ADAL" clId="{3EAE1975-14BE-41D5-9E3B-28573F0EE5DC}" dt="2026-09-07T17:04:16.075" v="343" actId="20577"/>
        <pc:sldMkLst>
          <pc:docMk/>
          <pc:sldMk cId="0" sldId="271"/>
        </pc:sldMkLst>
        <pc:spChg chg="mod">
          <ac:chgData name="Emilie Abel" userId="20dec598-1860-40de-ab3f-181316cc4da6" providerId="ADAL" clId="{3EAE1975-14BE-41D5-9E3B-28573F0EE5DC}" dt="2026-09-07T17:04:16.075" v="343" actId="20577"/>
          <ac:spMkLst>
            <pc:docMk/>
            <pc:sldMk cId="0" sldId="271"/>
            <ac:spMk id="14" creationId="{00000000-0000-0000-0000-000000000000}"/>
          </ac:spMkLst>
        </pc:spChg>
      </pc:sldChg>
      <pc:sldChg chg="modSp mod">
        <pc:chgData name="Emilie Abel" userId="20dec598-1860-40de-ab3f-181316cc4da6" providerId="ADAL" clId="{3EAE1975-14BE-41D5-9E3B-28573F0EE5DC}" dt="2026-09-07T14:15:10.676" v="34" actId="1076"/>
        <pc:sldMkLst>
          <pc:docMk/>
          <pc:sldMk cId="0" sldId="274"/>
        </pc:sldMkLst>
        <pc:spChg chg="mod">
          <ac:chgData name="Emilie Abel" userId="20dec598-1860-40de-ab3f-181316cc4da6" providerId="ADAL" clId="{3EAE1975-14BE-41D5-9E3B-28573F0EE5DC}" dt="2026-09-07T14:15:06.564" v="33" actId="1076"/>
          <ac:spMkLst>
            <pc:docMk/>
            <pc:sldMk cId="0" sldId="274"/>
            <ac:spMk id="12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7T14:15:04.226" v="32" actId="1076"/>
          <ac:spMkLst>
            <pc:docMk/>
            <pc:sldMk cId="0" sldId="274"/>
            <ac:spMk id="15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7T14:14:58.677" v="31" actId="1076"/>
          <ac:spMkLst>
            <pc:docMk/>
            <pc:sldMk cId="0" sldId="274"/>
            <ac:spMk id="18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7T14:15:10.676" v="34" actId="1076"/>
          <ac:spMkLst>
            <pc:docMk/>
            <pc:sldMk cId="0" sldId="274"/>
            <ac:spMk id="21" creationId="{00000000-0000-0000-0000-000000000000}"/>
          </ac:spMkLst>
        </pc:spChg>
      </pc:sldChg>
      <pc:sldChg chg="modSp mod">
        <pc:chgData name="Emilie Abel" userId="20dec598-1860-40de-ab3f-181316cc4da6" providerId="ADAL" clId="{3EAE1975-14BE-41D5-9E3B-28573F0EE5DC}" dt="2026-09-07T17:05:30.516" v="395" actId="20577"/>
        <pc:sldMkLst>
          <pc:docMk/>
          <pc:sldMk cId="0" sldId="276"/>
        </pc:sldMkLst>
        <pc:spChg chg="mod">
          <ac:chgData name="Emilie Abel" userId="20dec598-1860-40de-ab3f-181316cc4da6" providerId="ADAL" clId="{3EAE1975-14BE-41D5-9E3B-28573F0EE5DC}" dt="2026-09-07T17:05:30.516" v="395" actId="20577"/>
          <ac:spMkLst>
            <pc:docMk/>
            <pc:sldMk cId="0" sldId="276"/>
            <ac:spMk id="5" creationId="{00000000-0000-0000-0000-000000000000}"/>
          </ac:spMkLst>
        </pc:spChg>
      </pc:sldChg>
      <pc:sldChg chg="modSp mod">
        <pc:chgData name="Emilie Abel" userId="20dec598-1860-40de-ab3f-181316cc4da6" providerId="ADAL" clId="{3EAE1975-14BE-41D5-9E3B-28573F0EE5DC}" dt="2026-09-07T17:06:38.904" v="426" actId="20577"/>
        <pc:sldMkLst>
          <pc:docMk/>
          <pc:sldMk cId="0" sldId="278"/>
        </pc:sldMkLst>
        <pc:spChg chg="mod">
          <ac:chgData name="Emilie Abel" userId="20dec598-1860-40de-ab3f-181316cc4da6" providerId="ADAL" clId="{3EAE1975-14BE-41D5-9E3B-28573F0EE5DC}" dt="2026-09-07T17:05:59.326" v="396" actId="14100"/>
          <ac:spMkLst>
            <pc:docMk/>
            <pc:sldMk cId="0" sldId="278"/>
            <ac:spMk id="9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7T17:06:38.904" v="426" actId="20577"/>
          <ac:spMkLst>
            <pc:docMk/>
            <pc:sldMk cId="0" sldId="278"/>
            <ac:spMk id="10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7T14:15:32.302" v="36" actId="403"/>
          <ac:spMkLst>
            <pc:docMk/>
            <pc:sldMk cId="0" sldId="278"/>
            <ac:spMk id="11" creationId="{00000000-0000-0000-0000-000000000000}"/>
          </ac:spMkLst>
        </pc:spChg>
      </pc:sldChg>
      <pc:sldChg chg="addSp delSp modSp mod">
        <pc:chgData name="Emilie Abel" userId="20dec598-1860-40de-ab3f-181316cc4da6" providerId="ADAL" clId="{3EAE1975-14BE-41D5-9E3B-28573F0EE5DC}" dt="2026-09-07T17:13:25.305" v="607" actId="403"/>
        <pc:sldMkLst>
          <pc:docMk/>
          <pc:sldMk cId="0" sldId="279"/>
        </pc:sldMkLst>
        <pc:spChg chg="add mod">
          <ac:chgData name="Emilie Abel" userId="20dec598-1860-40de-ab3f-181316cc4da6" providerId="ADAL" clId="{3EAE1975-14BE-41D5-9E3B-28573F0EE5DC}" dt="2026-09-07T17:13:25.305" v="607" actId="403"/>
          <ac:spMkLst>
            <pc:docMk/>
            <pc:sldMk cId="0" sldId="279"/>
            <ac:spMk id="6" creationId="{2740A2EC-FEC4-54F8-D38E-3C69BACF57FF}"/>
          </ac:spMkLst>
        </pc:spChg>
        <pc:spChg chg="del">
          <ac:chgData name="Emilie Abel" userId="20dec598-1860-40de-ab3f-181316cc4da6" providerId="ADAL" clId="{3EAE1975-14BE-41D5-9E3B-28573F0EE5DC}" dt="2026-09-07T14:15:51.577" v="37" actId="478"/>
          <ac:spMkLst>
            <pc:docMk/>
            <pc:sldMk cId="0" sldId="279"/>
            <ac:spMk id="11" creationId="{00000000-0000-0000-0000-000000000000}"/>
          </ac:spMkLst>
        </pc:spChg>
      </pc:sldChg>
      <pc:sldChg chg="modSp mod">
        <pc:chgData name="Emilie Abel" userId="20dec598-1860-40de-ab3f-181316cc4da6" providerId="ADAL" clId="{3EAE1975-14BE-41D5-9E3B-28573F0EE5DC}" dt="2026-09-07T14:16:40.984" v="41" actId="1076"/>
        <pc:sldMkLst>
          <pc:docMk/>
          <pc:sldMk cId="0" sldId="280"/>
        </pc:sldMkLst>
        <pc:spChg chg="mod">
          <ac:chgData name="Emilie Abel" userId="20dec598-1860-40de-ab3f-181316cc4da6" providerId="ADAL" clId="{3EAE1975-14BE-41D5-9E3B-28573F0EE5DC}" dt="2026-09-07T14:16:33.784" v="39" actId="1076"/>
          <ac:spMkLst>
            <pc:docMk/>
            <pc:sldMk cId="0" sldId="280"/>
            <ac:spMk id="12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7T14:16:31.685" v="38" actId="1076"/>
          <ac:spMkLst>
            <pc:docMk/>
            <pc:sldMk cId="0" sldId="280"/>
            <ac:spMk id="15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7T14:16:37.631" v="40" actId="1076"/>
          <ac:spMkLst>
            <pc:docMk/>
            <pc:sldMk cId="0" sldId="280"/>
            <ac:spMk id="18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7T14:16:40.984" v="41" actId="1076"/>
          <ac:spMkLst>
            <pc:docMk/>
            <pc:sldMk cId="0" sldId="280"/>
            <ac:spMk id="21" creationId="{00000000-0000-0000-0000-000000000000}"/>
          </ac:spMkLst>
        </pc:spChg>
      </pc:sldChg>
      <pc:sldChg chg="modSp mod">
        <pc:chgData name="Emilie Abel" userId="20dec598-1860-40de-ab3f-181316cc4da6" providerId="ADAL" clId="{3EAE1975-14BE-41D5-9E3B-28573F0EE5DC}" dt="2026-09-07T14:17:23.134" v="50" actId="1076"/>
        <pc:sldMkLst>
          <pc:docMk/>
          <pc:sldMk cId="0" sldId="281"/>
        </pc:sldMkLst>
        <pc:spChg chg="mod">
          <ac:chgData name="Emilie Abel" userId="20dec598-1860-40de-ab3f-181316cc4da6" providerId="ADAL" clId="{3EAE1975-14BE-41D5-9E3B-28573F0EE5DC}" dt="2026-09-07T14:17:03.776" v="45" actId="1076"/>
          <ac:spMkLst>
            <pc:docMk/>
            <pc:sldMk cId="0" sldId="281"/>
            <ac:spMk id="11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7T14:17:19.660" v="49" actId="14100"/>
          <ac:spMkLst>
            <pc:docMk/>
            <pc:sldMk cId="0" sldId="281"/>
            <ac:spMk id="12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7T14:17:10.032" v="47" actId="1076"/>
          <ac:spMkLst>
            <pc:docMk/>
            <pc:sldMk cId="0" sldId="281"/>
            <ac:spMk id="13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7T14:17:13.715" v="48" actId="1076"/>
          <ac:spMkLst>
            <pc:docMk/>
            <pc:sldMk cId="0" sldId="281"/>
            <ac:spMk id="15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7T14:17:23.134" v="50" actId="1076"/>
          <ac:spMkLst>
            <pc:docMk/>
            <pc:sldMk cId="0" sldId="281"/>
            <ac:spMk id="18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7T14:16:56.114" v="44" actId="1076"/>
          <ac:spMkLst>
            <pc:docMk/>
            <pc:sldMk cId="0" sldId="281"/>
            <ac:spMk id="21" creationId="{00000000-0000-0000-0000-000000000000}"/>
          </ac:spMkLst>
        </pc:spChg>
      </pc:sldChg>
      <pc:sldChg chg="delSp modSp mod">
        <pc:chgData name="Emilie Abel" userId="20dec598-1860-40de-ab3f-181316cc4da6" providerId="ADAL" clId="{3EAE1975-14BE-41D5-9E3B-28573F0EE5DC}" dt="2026-09-07T14:17:31.276" v="53" actId="478"/>
        <pc:sldMkLst>
          <pc:docMk/>
          <pc:sldMk cId="0" sldId="283"/>
        </pc:sldMkLst>
        <pc:spChg chg="del">
          <ac:chgData name="Emilie Abel" userId="20dec598-1860-40de-ab3f-181316cc4da6" providerId="ADAL" clId="{3EAE1975-14BE-41D5-9E3B-28573F0EE5DC}" dt="2026-09-07T14:17:31.276" v="53" actId="478"/>
          <ac:spMkLst>
            <pc:docMk/>
            <pc:sldMk cId="0" sldId="283"/>
            <ac:spMk id="6" creationId="{00000000-0000-0000-0000-000000000000}"/>
          </ac:spMkLst>
        </pc:spChg>
        <pc:spChg chg="del mod">
          <ac:chgData name="Emilie Abel" userId="20dec598-1860-40de-ab3f-181316cc4da6" providerId="ADAL" clId="{3EAE1975-14BE-41D5-9E3B-28573F0EE5DC}" dt="2026-09-07T14:17:30.531" v="52" actId="478"/>
          <ac:spMkLst>
            <pc:docMk/>
            <pc:sldMk cId="0" sldId="283"/>
            <ac:spMk id="7" creationId="{00000000-0000-0000-0000-000000000000}"/>
          </ac:spMkLst>
        </pc:spChg>
      </pc:sldChg>
      <pc:sldChg chg="addSp delSp modSp mod">
        <pc:chgData name="Emilie Abel" userId="20dec598-1860-40de-ab3f-181316cc4da6" providerId="ADAL" clId="{3EAE1975-14BE-41D5-9E3B-28573F0EE5DC}" dt="2026-09-07T17:13:53.935" v="609" actId="478"/>
        <pc:sldMkLst>
          <pc:docMk/>
          <pc:sldMk cId="0" sldId="284"/>
        </pc:sldMkLst>
        <pc:spChg chg="del">
          <ac:chgData name="Emilie Abel" userId="20dec598-1860-40de-ab3f-181316cc4da6" providerId="ADAL" clId="{3EAE1975-14BE-41D5-9E3B-28573F0EE5DC}" dt="2026-09-07T17:13:53.935" v="609" actId="478"/>
          <ac:spMkLst>
            <pc:docMk/>
            <pc:sldMk cId="0" sldId="284"/>
            <ac:spMk id="2" creationId="{00000000-0000-0000-0000-000000000000}"/>
          </ac:spMkLst>
        </pc:spChg>
        <pc:spChg chg="del">
          <ac:chgData name="Emilie Abel" userId="20dec598-1860-40de-ab3f-181316cc4da6" providerId="ADAL" clId="{3EAE1975-14BE-41D5-9E3B-28573F0EE5DC}" dt="2026-09-07T14:17:35.523" v="54" actId="478"/>
          <ac:spMkLst>
            <pc:docMk/>
            <pc:sldMk cId="0" sldId="284"/>
            <ac:spMk id="11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7T17:10:21.034" v="486" actId="20577"/>
          <ac:spMkLst>
            <pc:docMk/>
            <pc:sldMk cId="0" sldId="284"/>
            <ac:spMk id="15" creationId="{00000000-0000-0000-0000-000000000000}"/>
          </ac:spMkLst>
        </pc:spChg>
        <pc:spChg chg="add">
          <ac:chgData name="Emilie Abel" userId="20dec598-1860-40de-ab3f-181316cc4da6" providerId="ADAL" clId="{3EAE1975-14BE-41D5-9E3B-28573F0EE5DC}" dt="2026-09-07T17:13:51.406" v="608" actId="22"/>
          <ac:spMkLst>
            <pc:docMk/>
            <pc:sldMk cId="0" sldId="284"/>
            <ac:spMk id="20" creationId="{E7C05380-9665-EC30-AB7C-737357EF7A17}"/>
          </ac:spMkLst>
        </pc:spChg>
      </pc:sldChg>
      <pc:sldChg chg="modSp mod">
        <pc:chgData name="Emilie Abel" userId="20dec598-1860-40de-ab3f-181316cc4da6" providerId="ADAL" clId="{3EAE1975-14BE-41D5-9E3B-28573F0EE5DC}" dt="2026-09-07T17:10:47.110" v="491" actId="20577"/>
        <pc:sldMkLst>
          <pc:docMk/>
          <pc:sldMk cId="0" sldId="285"/>
        </pc:sldMkLst>
        <pc:spChg chg="mod">
          <ac:chgData name="Emilie Abel" userId="20dec598-1860-40de-ab3f-181316cc4da6" providerId="ADAL" clId="{3EAE1975-14BE-41D5-9E3B-28573F0EE5DC}" dt="2026-09-07T14:17:56.044" v="56" actId="1076"/>
          <ac:spMkLst>
            <pc:docMk/>
            <pc:sldMk cId="0" sldId="285"/>
            <ac:spMk id="11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7T14:18:05.247" v="59" actId="1076"/>
          <ac:spMkLst>
            <pc:docMk/>
            <pc:sldMk cId="0" sldId="285"/>
            <ac:spMk id="12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7T14:18:02.009" v="58" actId="1076"/>
          <ac:spMkLst>
            <pc:docMk/>
            <pc:sldMk cId="0" sldId="285"/>
            <ac:spMk id="13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7T14:18:08.126" v="60" actId="1076"/>
          <ac:spMkLst>
            <pc:docMk/>
            <pc:sldMk cId="0" sldId="285"/>
            <ac:spMk id="14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7T17:10:43.368" v="489" actId="14100"/>
          <ac:spMkLst>
            <pc:docMk/>
            <pc:sldMk cId="0" sldId="285"/>
            <ac:spMk id="18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7T17:10:47.110" v="491" actId="20577"/>
          <ac:spMkLst>
            <pc:docMk/>
            <pc:sldMk cId="0" sldId="285"/>
            <ac:spMk id="19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7T14:18:18.419" v="63" actId="1076"/>
          <ac:spMkLst>
            <pc:docMk/>
            <pc:sldMk cId="0" sldId="285"/>
            <ac:spMk id="21" creationId="{00000000-0000-0000-0000-000000000000}"/>
          </ac:spMkLst>
        </pc:spChg>
      </pc:sldChg>
      <pc:sldChg chg="modSp mod">
        <pc:chgData name="Emilie Abel" userId="20dec598-1860-40de-ab3f-181316cc4da6" providerId="ADAL" clId="{3EAE1975-14BE-41D5-9E3B-28573F0EE5DC}" dt="2026-09-07T17:12:18.605" v="573" actId="6549"/>
        <pc:sldMkLst>
          <pc:docMk/>
          <pc:sldMk cId="0" sldId="286"/>
        </pc:sldMkLst>
        <pc:spChg chg="mod">
          <ac:chgData name="Emilie Abel" userId="20dec598-1860-40de-ab3f-181316cc4da6" providerId="ADAL" clId="{3EAE1975-14BE-41D5-9E3B-28573F0EE5DC}" dt="2026-09-07T14:19:56.983" v="83" actId="1076"/>
          <ac:spMkLst>
            <pc:docMk/>
            <pc:sldMk cId="0" sldId="286"/>
            <ac:spMk id="2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7T14:18:24.620" v="64" actId="1076"/>
          <ac:spMkLst>
            <pc:docMk/>
            <pc:sldMk cId="0" sldId="286"/>
            <ac:spMk id="11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7T14:18:27.844" v="65" actId="14100"/>
          <ac:spMkLst>
            <pc:docMk/>
            <pc:sldMk cId="0" sldId="286"/>
            <ac:spMk id="12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7T17:12:18.605" v="573" actId="6549"/>
          <ac:spMkLst>
            <pc:docMk/>
            <pc:sldMk cId="0" sldId="286"/>
            <ac:spMk id="13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7T14:18:33.734" v="67" actId="1076"/>
          <ac:spMkLst>
            <pc:docMk/>
            <pc:sldMk cId="0" sldId="286"/>
            <ac:spMk id="14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7T14:19:39.470" v="81" actId="14100"/>
          <ac:spMkLst>
            <pc:docMk/>
            <pc:sldMk cId="0" sldId="286"/>
            <ac:spMk id="15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7T17:12:00.507" v="557" actId="6549"/>
          <ac:spMkLst>
            <pc:docMk/>
            <pc:sldMk cId="0" sldId="286"/>
            <ac:spMk id="16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7T14:20:00.951" v="84" actId="1076"/>
          <ac:spMkLst>
            <pc:docMk/>
            <pc:sldMk cId="0" sldId="286"/>
            <ac:spMk id="17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7T14:19:15.199" v="77" actId="14100"/>
          <ac:spMkLst>
            <pc:docMk/>
            <pc:sldMk cId="0" sldId="286"/>
            <ac:spMk id="18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7T14:19:11.786" v="76" actId="1076"/>
          <ac:spMkLst>
            <pc:docMk/>
            <pc:sldMk cId="0" sldId="286"/>
            <ac:spMk id="20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7T14:18:56.998" v="72" actId="1076"/>
          <ac:spMkLst>
            <pc:docMk/>
            <pc:sldMk cId="0" sldId="286"/>
            <ac:spMk id="21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7T17:11:32.634" v="524" actId="6549"/>
          <ac:spMkLst>
            <pc:docMk/>
            <pc:sldMk cId="0" sldId="286"/>
            <ac:spMk id="22" creationId="{00000000-0000-0000-0000-000000000000}"/>
          </ac:spMkLst>
        </pc:spChg>
      </pc:sldChg>
      <pc:sldChg chg="delSp mod">
        <pc:chgData name="Emilie Abel" userId="20dec598-1860-40de-ab3f-181316cc4da6" providerId="ADAL" clId="{3EAE1975-14BE-41D5-9E3B-28573F0EE5DC}" dt="2026-09-07T14:20:21.402" v="86" actId="478"/>
        <pc:sldMkLst>
          <pc:docMk/>
          <pc:sldMk cId="0" sldId="287"/>
        </pc:sldMkLst>
        <pc:spChg chg="del">
          <ac:chgData name="Emilie Abel" userId="20dec598-1860-40de-ab3f-181316cc4da6" providerId="ADAL" clId="{3EAE1975-14BE-41D5-9E3B-28573F0EE5DC}" dt="2026-09-07T14:20:20.208" v="85" actId="478"/>
          <ac:spMkLst>
            <pc:docMk/>
            <pc:sldMk cId="0" sldId="287"/>
            <ac:spMk id="12" creationId="{00000000-0000-0000-0000-000000000000}"/>
          </ac:spMkLst>
        </pc:spChg>
        <pc:spChg chg="del">
          <ac:chgData name="Emilie Abel" userId="20dec598-1860-40de-ab3f-181316cc4da6" providerId="ADAL" clId="{3EAE1975-14BE-41D5-9E3B-28573F0EE5DC}" dt="2026-09-07T14:20:21.402" v="86" actId="478"/>
          <ac:spMkLst>
            <pc:docMk/>
            <pc:sldMk cId="0" sldId="287"/>
            <ac:spMk id="13" creationId="{00000000-0000-0000-0000-000000000000}"/>
          </ac:spMkLst>
        </pc:spChg>
      </pc:sldChg>
      <pc:sldChg chg="modSp mod">
        <pc:chgData name="Emilie Abel" userId="20dec598-1860-40de-ab3f-181316cc4da6" providerId="ADAL" clId="{3EAE1975-14BE-41D5-9E3B-28573F0EE5DC}" dt="2026-09-07T14:20:47.382" v="94" actId="20577"/>
        <pc:sldMkLst>
          <pc:docMk/>
          <pc:sldMk cId="0" sldId="288"/>
        </pc:sldMkLst>
        <pc:spChg chg="mod">
          <ac:chgData name="Emilie Abel" userId="20dec598-1860-40de-ab3f-181316cc4da6" providerId="ADAL" clId="{3EAE1975-14BE-41D5-9E3B-28573F0EE5DC}" dt="2026-09-07T14:20:38.966" v="90" actId="20577"/>
          <ac:spMkLst>
            <pc:docMk/>
            <pc:sldMk cId="0" sldId="288"/>
            <ac:spMk id="15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7T14:20:47.382" v="94" actId="20577"/>
          <ac:spMkLst>
            <pc:docMk/>
            <pc:sldMk cId="0" sldId="288"/>
            <ac:spMk id="19" creationId="{00000000-0000-0000-0000-000000000000}"/>
          </ac:spMkLst>
        </pc:spChg>
      </pc:sldChg>
      <pc:sldChg chg="modSp mod">
        <pc:chgData name="Emilie Abel" userId="20dec598-1860-40de-ab3f-181316cc4da6" providerId="ADAL" clId="{3EAE1975-14BE-41D5-9E3B-28573F0EE5DC}" dt="2026-09-07T14:21:33.507" v="143" actId="14100"/>
        <pc:sldMkLst>
          <pc:docMk/>
          <pc:sldMk cId="0" sldId="290"/>
        </pc:sldMkLst>
        <pc:spChg chg="mod">
          <ac:chgData name="Emilie Abel" userId="20dec598-1860-40de-ab3f-181316cc4da6" providerId="ADAL" clId="{3EAE1975-14BE-41D5-9E3B-28573F0EE5DC}" dt="2026-09-07T14:21:25.962" v="142" actId="20577"/>
          <ac:spMkLst>
            <pc:docMk/>
            <pc:sldMk cId="0" sldId="290"/>
            <ac:spMk id="16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7T14:21:33.507" v="143" actId="14100"/>
          <ac:spMkLst>
            <pc:docMk/>
            <pc:sldMk cId="0" sldId="290"/>
            <ac:spMk id="19" creationId="{00000000-0000-0000-0000-000000000000}"/>
          </ac:spMkLst>
        </pc:spChg>
      </pc:sldChg>
      <pc:sldChg chg="del">
        <pc:chgData name="Emilie Abel" userId="20dec598-1860-40de-ab3f-181316cc4da6" providerId="ADAL" clId="{3EAE1975-14BE-41D5-9E3B-28573F0EE5DC}" dt="2026-09-07T17:14:56.355" v="610" actId="47"/>
        <pc:sldMkLst>
          <pc:docMk/>
          <pc:sldMk cId="0" sldId="291"/>
        </pc:sldMkLst>
      </pc:sldChg>
      <pc:sldChg chg="new">
        <pc:chgData name="Emilie Abel" userId="20dec598-1860-40de-ab3f-181316cc4da6" providerId="ADAL" clId="{3EAE1975-14BE-41D5-9E3B-28573F0EE5DC}" dt="2026-09-07T17:07:23.532" v="427" actId="680"/>
        <pc:sldMkLst>
          <pc:docMk/>
          <pc:sldMk cId="79081028" sldId="49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AA0B6A-941B-4944-B140-87817CB84C4C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02A790-CAE1-4036-9760-3E4C661760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1052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Jäta see slaid ekraanile. Kolm harjutust mõlemal tasemel. Lahendused järgmistel slaididel.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Jäta see slaid ekraanile. Kolm harjutust mõlemal tasemel. Lahendused järgmistel slaididel.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WHERE COUNT(*) &gt; 5 ei tööta. See on päeva peamine komistuskivi.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Jäta see slaid ekraanile. Kolm harjutust mõlemal tasemel. Lahendused järgmistel slaididel.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Jäta see slaid ekraanile. Kolm harjutust mõlemal tasemel. Lahendused järgmistel slaididel.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Päeva lõpu harjutus. Tase 1 kõigile, tase 2 kiiretele. Kata kogu päeva teema.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Tase 1 kõigile. Kes valmis, võta tase 2. Kes ka selle teeb, mine esitluse lõppu lisaülesannete juurde.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10941050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62072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FFB0F8B-9E23-166D-3268-A1AE51330EF9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7E45BAB-0A4D-FAE6-2637-06CE42F19CFF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2C9CA05-F601-5A06-EEC2-869F53401620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48344C2-2414-764C-07DD-D8799B5FD47D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0372B-A5B8-260D-C940-47B5F56C1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291BE-55D8-719B-FCEB-18D326A159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 err="1">
                <a:ea typeface="+mj-lt"/>
                <a:cs typeface="+mj-lt"/>
              </a:rPr>
              <a:t>Päevakava</a:t>
            </a:r>
            <a:r>
              <a:rPr lang="en-US" sz="3600" b="1" dirty="0">
                <a:ea typeface="+mj-lt"/>
                <a:cs typeface="+mj-lt"/>
              </a:rPr>
              <a:t> - VII </a:t>
            </a:r>
            <a:r>
              <a:rPr lang="en-US" sz="3600" b="1" dirty="0" err="1">
                <a:ea typeface="+mj-lt"/>
                <a:cs typeface="+mj-lt"/>
              </a:rPr>
              <a:t>päev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5805DDA-288D-DB3E-2A59-EC7449C89D98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659186038"/>
              </p:ext>
            </p:extLst>
          </p:nvPr>
        </p:nvGraphicFramePr>
        <p:xfrm>
          <a:off x="623888" y="1268413"/>
          <a:ext cx="10941050" cy="430209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941050">
                  <a:extLst>
                    <a:ext uri="{9D8B030D-6E8A-4147-A177-3AD203B41FA5}">
                      <a16:colId xmlns:a16="http://schemas.microsoft.com/office/drawing/2014/main" val="265845882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342900" marR="0" lvl="0" indent="-342900" algn="l" defTabSz="457200" rtl="0" eaLnBrk="1" fontAlgn="base" latinLnBrk="0" hangingPunct="1">
                        <a:lnSpc>
                          <a:spcPts val="31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09:00 – 10:30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andmebaasi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kontroll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, </a:t>
                      </a:r>
                      <a:r>
                        <a:rPr lang="sv-SE" sz="2400" b="0" dirty="0">
                          <a:solidFill>
                            <a:srgbClr val="0F203E"/>
                          </a:solidFill>
                          <a:latin typeface="+mn-lt"/>
                        </a:rPr>
                        <a:t>COUNT, MIN, MAX, SUM, AVG Harjutus</a:t>
                      </a: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7976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10:30 – 10:45 –  Paus</a:t>
                      </a: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182460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marR="0" lvl="0" indent="-342900" algn="l" defTabSz="457200" rtl="0" eaLnBrk="1" fontAlgn="base" latinLnBrk="0" hangingPunct="1">
                        <a:lnSpc>
                          <a:spcPts val="31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10:45 – 12:15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</a:t>
                      </a:r>
                      <a:r>
                        <a:rPr lang="en-GB" sz="2400" b="0" kern="1200" dirty="0">
                          <a:solidFill>
                            <a:srgbClr val="0F203E"/>
                          </a:solidFill>
                          <a:latin typeface="+mn-lt"/>
                          <a:ea typeface="+mn-ea"/>
                          <a:cs typeface="+mn-cs"/>
                        </a:rPr>
                        <a:t>GROUP BY </a:t>
                      </a:r>
                      <a:r>
                        <a:rPr lang="en-GB" sz="2400" b="0" kern="1200" dirty="0" err="1">
                          <a:solidFill>
                            <a:srgbClr val="0F203E"/>
                          </a:solidFill>
                          <a:latin typeface="+mn-lt"/>
                          <a:ea typeface="+mn-ea"/>
                          <a:cs typeface="+mn-cs"/>
                        </a:rPr>
                        <a:t>Harjutus</a:t>
                      </a:r>
                      <a:endParaRPr lang="en-GB" sz="2400" b="0" kern="1200" dirty="0">
                        <a:solidFill>
                          <a:srgbClr val="0F203E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0537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12:15 – 13:15 – </a:t>
                      </a:r>
                      <a:r>
                        <a:rPr lang="en-US" sz="2400" b="0" i="0" u="none" strike="noStrike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Lõunapaus</a:t>
                      </a:r>
                      <a:r>
                        <a:rPr lang="en-US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endParaRPr lang="en-US" b="0" i="0" u="none" strike="noStrike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82074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342900" marR="0" lvl="0" indent="-342900" algn="l" defTabSz="457200" rtl="0" eaLnBrk="1" fontAlgn="base" latinLnBrk="0" hangingPunct="1">
                        <a:lnSpc>
                          <a:spcPts val="31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13:15 – 14:45 – Koolitus – </a:t>
                      </a:r>
                      <a:r>
                        <a:rPr lang="en-GB" sz="2400" b="0" dirty="0">
                          <a:solidFill>
                            <a:srgbClr val="0F203E"/>
                          </a:solidFill>
                          <a:latin typeface="+mn-lt"/>
                        </a:rPr>
                        <a:t>HAVING </a:t>
                      </a:r>
                      <a:r>
                        <a:rPr lang="en-GB" sz="2400" b="0" dirty="0" err="1">
                          <a:solidFill>
                            <a:srgbClr val="0F203E"/>
                          </a:solidFill>
                          <a:latin typeface="+mn-lt"/>
                        </a:rPr>
                        <a:t>Harjutus</a:t>
                      </a:r>
                      <a:endParaRPr lang="en-GB" sz="2400" b="0" dirty="0">
                        <a:solidFill>
                          <a:srgbClr val="0F203E"/>
                        </a:solidFill>
                        <a:latin typeface="+mn-lt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24087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14:45 – 15:00 – Paus </a:t>
                      </a:r>
                      <a:endParaRPr lang="en-US" b="0" i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35736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15:00 – 16:30 – Koolitus – CASE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Harjutus</a:t>
                      </a:r>
                      <a:endParaRPr lang="en-US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78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6918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5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C49526"/>
                </a:solidFill>
                <a:latin typeface="Calibri"/>
              </a:rPr>
              <a:t>1. PÄEV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GB" sz="4000" b="1" dirty="0" err="1">
                <a:solidFill>
                  <a:srgbClr val="FFFFFF"/>
                </a:solidFill>
                <a:latin typeface="Calibri"/>
              </a:rPr>
              <a:t>Agregeerimine</a:t>
            </a:r>
            <a:r>
              <a:rPr lang="en-GB" sz="4000" b="1" dirty="0">
                <a:solidFill>
                  <a:srgbClr val="FFFFFF"/>
                </a:solidFill>
                <a:latin typeface="Calibri"/>
              </a:rPr>
              <a:t> e </a:t>
            </a:r>
            <a:r>
              <a:rPr lang="en-GB" sz="4000" b="1" dirty="0" err="1">
                <a:solidFill>
                  <a:srgbClr val="FFFFFF"/>
                </a:solidFill>
                <a:latin typeface="Calibri"/>
              </a:rPr>
              <a:t>arvutused</a:t>
            </a:r>
            <a:endParaRPr sz="40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BACCE0"/>
                </a:solidFill>
                <a:latin typeface="Calibri"/>
              </a:rPr>
              <a:t>COUNT, MIN, MAX, SUM, AVG  ·  GROUP BY  ·  HAVING  ·  CASE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83280"/>
            <a:ext cx="2468880" cy="411480"/>
          </a:xfrm>
          <a:prstGeom prst="roundRect">
            <a:avLst>
              <a:gd name="adj" fmla="val 8000"/>
            </a:avLst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2468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Plokk 1  ·  agregaadid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3383280"/>
            <a:ext cx="2286000" cy="411480"/>
          </a:xfrm>
          <a:prstGeom prst="roundRect">
            <a:avLst>
              <a:gd name="adj" fmla="val 8000"/>
            </a:avLst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46120" y="3383280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Plokk 2  ·  GROUP BY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3383280"/>
            <a:ext cx="2103120" cy="411480"/>
          </a:xfrm>
          <a:prstGeom prst="roundRect">
            <a:avLst>
              <a:gd name="adj" fmla="val 8000"/>
            </a:avLst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0" y="3383280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Plokk 3  ·  HAVING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3383280"/>
            <a:ext cx="1920240" cy="411480"/>
          </a:xfrm>
          <a:prstGeom prst="roundRect">
            <a:avLst>
              <a:gd name="adj" fmla="val 8000"/>
            </a:avLst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09560" y="3383280"/>
            <a:ext cx="1920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Plokk 4  ·  CASE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kliendid  ·  tooted  ·  kategooriad  ·  tellimused  ·  tellimuse_read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 err="1">
                <a:solidFill>
                  <a:srgbClr val="FFFFFF"/>
                </a:solidFill>
                <a:latin typeface="Calibri"/>
              </a:rPr>
              <a:t>Tänane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kava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43000"/>
            <a:ext cx="1143000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rgbClr val="64748B"/>
                </a:solidFill>
                <a:latin typeface="Calibri"/>
              </a:rPr>
              <a:t>Plokk</a:t>
            </a:r>
            <a:r>
              <a:rPr sz="1300" b="0" dirty="0">
                <a:solidFill>
                  <a:srgbClr val="64748B"/>
                </a:solidFill>
                <a:latin typeface="Calibri"/>
              </a:rPr>
              <a:t>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581912"/>
            <a:ext cx="7772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0F203E"/>
                </a:solidFill>
                <a:latin typeface="Calibri"/>
              </a:rPr>
              <a:t>COUNT, MIN, MAX, SUM, AVG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581912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7073"/>
                </a:solidFill>
                <a:latin typeface="Calibri"/>
              </a:rPr>
              <a:t>Väike harjutus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423160"/>
            <a:ext cx="1143000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560320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rgbClr val="64748B"/>
                </a:solidFill>
                <a:latin typeface="Calibri"/>
              </a:rPr>
              <a:t>Plokk</a:t>
            </a:r>
            <a:r>
              <a:rPr sz="1300" b="0" dirty="0">
                <a:solidFill>
                  <a:srgbClr val="64748B"/>
                </a:solidFill>
                <a:latin typeface="Calibri"/>
              </a:rPr>
              <a:t>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62072"/>
            <a:ext cx="7772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0F203E"/>
                </a:solidFill>
                <a:latin typeface="Calibri"/>
              </a:rPr>
              <a:t>GROUP BY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862072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7073"/>
                </a:solidFill>
                <a:latin typeface="Calibri"/>
              </a:rPr>
              <a:t>Väike harjutus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03320"/>
            <a:ext cx="1143000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3840480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rgbClr val="64748B"/>
                </a:solidFill>
                <a:latin typeface="Calibri"/>
              </a:rPr>
              <a:t>Plokk</a:t>
            </a:r>
            <a:r>
              <a:rPr sz="1300" b="0" dirty="0">
                <a:solidFill>
                  <a:srgbClr val="64748B"/>
                </a:solidFill>
                <a:latin typeface="Calibri"/>
              </a:rPr>
              <a:t>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142231"/>
            <a:ext cx="7772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0F203E"/>
                </a:solidFill>
                <a:latin typeface="Calibri"/>
              </a:rPr>
              <a:t>HAVING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142231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7073"/>
                </a:solidFill>
                <a:latin typeface="Calibri"/>
              </a:rPr>
              <a:t>Väike harjutus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983479"/>
            <a:ext cx="1143000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5120640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rgbClr val="64748B"/>
                </a:solidFill>
                <a:latin typeface="Calibri"/>
              </a:rPr>
              <a:t>Plokk</a:t>
            </a:r>
            <a:r>
              <a:rPr sz="1300" b="0" dirty="0">
                <a:solidFill>
                  <a:srgbClr val="64748B"/>
                </a:solidFill>
                <a:latin typeface="Calibri"/>
              </a:rPr>
              <a:t>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422392"/>
            <a:ext cx="7772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03E"/>
                </a:solidFill>
                <a:latin typeface="Calibri"/>
              </a:rPr>
              <a:t>CASE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5422392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7073"/>
                </a:solidFill>
                <a:latin typeface="Calibri"/>
              </a:rPr>
              <a:t>Väike harjutus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49526"/>
                </a:solidFill>
                <a:latin typeface="Calibri"/>
              </a:rPr>
              <a:t>1. PÄEV  ·  8 AK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GB" sz="3400" b="1" dirty="0" err="1">
                <a:solidFill>
                  <a:srgbClr val="FFFFFF"/>
                </a:solidFill>
                <a:latin typeface="Calibri"/>
              </a:rPr>
              <a:t>Arvutused</a:t>
            </a:r>
            <a:endParaRPr sz="3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35204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BACCE0"/>
                </a:solidFill>
                <a:latin typeface="Calibri"/>
              </a:rPr>
              <a:t>Agregaadid → GROUP BY → HAVING →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16F9C3-2AF9-BF2B-395D-A4F20C679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4377" y="219026"/>
            <a:ext cx="3600907" cy="47254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92683DA-EA6F-C819-E92A-3CBA29C02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028" y="1134286"/>
            <a:ext cx="2324424" cy="20291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81862BD-C01E-F66A-1BEA-CD072A5C7B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028" y="219026"/>
            <a:ext cx="1924319" cy="6573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AB5A32-3CFE-F25D-8853-32AA31DE17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2334" y="3572863"/>
            <a:ext cx="2429586" cy="23659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77302"/>
            <a:ext cx="114300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  <a:latin typeface="Calibri"/>
              </a:rPr>
              <a:t>COUNT —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mitu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rida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?</a:t>
            </a:r>
            <a:r>
              <a:rPr lang="en-GB"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2800" b="1" dirty="0">
                <a:solidFill>
                  <a:srgbClr val="92D050"/>
                </a:solidFill>
                <a:latin typeface="Calibri"/>
              </a:rPr>
              <a:t>NÄITAN</a:t>
            </a:r>
            <a:r>
              <a:rPr sz="2800" b="1" dirty="0">
                <a:solidFill>
                  <a:srgbClr val="92D050"/>
                </a:solidFill>
                <a:latin typeface="Calibri"/>
              </a:rPr>
              <a:t> </a:t>
            </a:r>
            <a:endParaRPr sz="2400" b="1" dirty="0">
              <a:solidFill>
                <a:srgbClr val="92D050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097280"/>
            <a:ext cx="11430000" cy="1783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1207007"/>
            <a:ext cx="1110081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GB" sz="1800" b="0" dirty="0">
                <a:solidFill>
                  <a:srgbClr val="E2E8F0"/>
                </a:solidFill>
                <a:latin typeface="Consolas"/>
              </a:rPr>
              <a:t>SELECT * FROM tooted;</a:t>
            </a:r>
          </a:p>
          <a:p>
            <a:pPr>
              <a:spcAft>
                <a:spcPts val="300"/>
              </a:spcAft>
            </a:pPr>
            <a:endParaRPr lang="en-GB" sz="18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lang="en-GB" sz="1800" b="0" dirty="0">
                <a:solidFill>
                  <a:srgbClr val="E2E8F0"/>
                </a:solidFill>
                <a:latin typeface="Consolas"/>
              </a:rPr>
              <a:t>--Kui </a:t>
            </a:r>
            <a:r>
              <a:rPr lang="en-GB" sz="1800" b="0" dirty="0" err="1">
                <a:solidFill>
                  <a:srgbClr val="E2E8F0"/>
                </a:solidFill>
                <a:latin typeface="Consolas"/>
              </a:rPr>
              <a:t>palju</a:t>
            </a:r>
            <a:r>
              <a:rPr lang="en-GB" sz="1800" b="0" dirty="0">
                <a:solidFill>
                  <a:srgbClr val="E2E8F0"/>
                </a:solidFill>
                <a:latin typeface="Consolas"/>
              </a:rPr>
              <a:t> on </a:t>
            </a:r>
            <a:r>
              <a:rPr lang="en-GB" sz="1800" b="0" dirty="0" err="1">
                <a:solidFill>
                  <a:srgbClr val="E2E8F0"/>
                </a:solidFill>
                <a:latin typeface="Consolas"/>
              </a:rPr>
              <a:t>tooteid</a:t>
            </a:r>
            <a:r>
              <a:rPr lang="en-GB" sz="180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lang="en-GB" sz="1800" b="0" dirty="0" err="1">
                <a:solidFill>
                  <a:srgbClr val="E2E8F0"/>
                </a:solidFill>
                <a:latin typeface="Consolas"/>
              </a:rPr>
              <a:t>kokku</a:t>
            </a:r>
            <a:r>
              <a:rPr lang="en-GB" sz="1800" b="0" dirty="0">
                <a:solidFill>
                  <a:srgbClr val="E2E8F0"/>
                </a:solidFill>
                <a:latin typeface="Consolas"/>
              </a:rPr>
              <a:t>?</a:t>
            </a:r>
          </a:p>
          <a:p>
            <a:pPr>
              <a:spcAft>
                <a:spcPts val="300"/>
              </a:spcAft>
            </a:pPr>
            <a:r>
              <a:rPr sz="1800" b="0" dirty="0">
                <a:solidFill>
                  <a:srgbClr val="E2E8F0"/>
                </a:solidFill>
                <a:latin typeface="Consolas"/>
              </a:rPr>
              <a:t>SELECT COUNT(*) AS </a:t>
            </a:r>
            <a:r>
              <a:rPr sz="1800" b="0" dirty="0" err="1">
                <a:solidFill>
                  <a:srgbClr val="E2E8F0"/>
                </a:solidFill>
                <a:latin typeface="Consolas"/>
              </a:rPr>
              <a:t>toodete_koguarv</a:t>
            </a:r>
            <a:endParaRPr sz="18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800" b="0" dirty="0">
                <a:solidFill>
                  <a:srgbClr val="E2E8F0"/>
                </a:solidFill>
                <a:latin typeface="Consolas"/>
              </a:rPr>
              <a:t>FROM tooted;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80360"/>
            <a:ext cx="1124712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 dirty="0">
                <a:solidFill>
                  <a:srgbClr val="334155"/>
                </a:solidFill>
                <a:latin typeface="Calibri"/>
              </a:rPr>
              <a:t>•  COUNT(*)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loendab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read.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Kataloogis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on 15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toodet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→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tulemus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15.</a:t>
            </a:r>
          </a:p>
          <a:p>
            <a:pPr>
              <a:spcAft>
                <a:spcPts val="900"/>
              </a:spcAft>
            </a:pPr>
            <a:r>
              <a:rPr sz="1700" b="0" dirty="0">
                <a:solidFill>
                  <a:srgbClr val="334155"/>
                </a:solidFill>
                <a:latin typeface="Calibri"/>
              </a:rPr>
              <a:t>•  AS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paneb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veerule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loetava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nime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900"/>
              </a:spcAft>
            </a:pPr>
            <a:r>
              <a:rPr sz="1700" b="0" dirty="0">
                <a:solidFill>
                  <a:srgbClr val="334155"/>
                </a:solidFill>
                <a:latin typeface="Calibri"/>
              </a:rPr>
              <a:t>•  COUNT(hind)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jätab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vahele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NULL-id; COUNT(*)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loendab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ka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tühjad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dirty="0">
                <a:solidFill>
                  <a:srgbClr val="FFFFFF"/>
                </a:solidFill>
                <a:latin typeface="Calibri"/>
              </a:rPr>
              <a:t>COUNT + WHERE </a:t>
            </a:r>
            <a:r>
              <a:rPr lang="en-GB" sz="2400" b="1" dirty="0">
                <a:solidFill>
                  <a:srgbClr val="92D050"/>
                </a:solidFill>
              </a:rPr>
              <a:t>NÄITAN </a:t>
            </a:r>
            <a:endParaRPr sz="2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097280"/>
            <a:ext cx="11430000" cy="21031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1207007"/>
            <a:ext cx="11100816" cy="1854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GB" sz="1700" b="0" dirty="0">
                <a:solidFill>
                  <a:srgbClr val="E2E8F0"/>
                </a:solidFill>
                <a:latin typeface="Consolas"/>
              </a:rPr>
              <a:t>--Mitu </a:t>
            </a:r>
            <a:r>
              <a:rPr lang="en-GB" sz="1700" b="0" dirty="0" err="1">
                <a:solidFill>
                  <a:srgbClr val="E2E8F0"/>
                </a:solidFill>
                <a:latin typeface="Consolas"/>
              </a:rPr>
              <a:t>tellimust</a:t>
            </a:r>
            <a:r>
              <a:rPr lang="en-GB" sz="1700" b="0" dirty="0">
                <a:solidFill>
                  <a:srgbClr val="E2E8F0"/>
                </a:solidFill>
                <a:latin typeface="Consolas"/>
              </a:rPr>
              <a:t> on </a:t>
            </a:r>
            <a:r>
              <a:rPr lang="en-GB" sz="1700" b="0" dirty="0" err="1">
                <a:solidFill>
                  <a:srgbClr val="E2E8F0"/>
                </a:solidFill>
                <a:latin typeface="Consolas"/>
              </a:rPr>
              <a:t>ootel</a:t>
            </a:r>
            <a:r>
              <a:rPr lang="en-GB" sz="1700" b="0" dirty="0">
                <a:solidFill>
                  <a:srgbClr val="E2E8F0"/>
                </a:solidFill>
                <a:latin typeface="Consolas"/>
              </a:rPr>
              <a:t>?</a:t>
            </a:r>
          </a:p>
          <a:p>
            <a:pPr>
              <a:spcAft>
                <a:spcPts val="300"/>
              </a:spcAft>
            </a:pPr>
            <a:endParaRPr lang="en-GB" sz="17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700" b="0" dirty="0">
                <a:solidFill>
                  <a:srgbClr val="E2E8F0"/>
                </a:solidFill>
                <a:latin typeface="Consolas"/>
              </a:rPr>
              <a:t>SELECT </a:t>
            </a:r>
            <a:endParaRPr lang="en-GB" sz="17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lang="en-GB" sz="1700" dirty="0">
                <a:solidFill>
                  <a:srgbClr val="E2E8F0"/>
                </a:solidFill>
                <a:latin typeface="Consolas"/>
              </a:rPr>
              <a:t>	</a:t>
            </a:r>
            <a:r>
              <a:rPr sz="1700" b="0" dirty="0">
                <a:solidFill>
                  <a:srgbClr val="E2E8F0"/>
                </a:solidFill>
                <a:latin typeface="Consolas"/>
              </a:rPr>
              <a:t>COUNT(*) AS </a:t>
            </a:r>
            <a:r>
              <a:rPr sz="1700" b="0" dirty="0" err="1">
                <a:solidFill>
                  <a:srgbClr val="E2E8F0"/>
                </a:solidFill>
                <a:latin typeface="Consolas"/>
              </a:rPr>
              <a:t>ootel_arv</a:t>
            </a:r>
            <a:endParaRPr sz="17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700" b="0" dirty="0">
                <a:solidFill>
                  <a:srgbClr val="E2E8F0"/>
                </a:solidFill>
                <a:latin typeface="Consolas"/>
              </a:rPr>
              <a:t>FROM </a:t>
            </a:r>
            <a:r>
              <a:rPr sz="1700" b="0" dirty="0" err="1">
                <a:solidFill>
                  <a:srgbClr val="E2E8F0"/>
                </a:solidFill>
                <a:latin typeface="Consolas"/>
              </a:rPr>
              <a:t>tellimused</a:t>
            </a:r>
            <a:endParaRPr sz="17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700" b="0" dirty="0">
                <a:solidFill>
                  <a:srgbClr val="E2E8F0"/>
                </a:solidFill>
                <a:latin typeface="Consolas"/>
              </a:rPr>
              <a:t>WHERE </a:t>
            </a:r>
            <a:r>
              <a:rPr sz="1700" b="0" dirty="0" err="1">
                <a:solidFill>
                  <a:srgbClr val="E2E8F0"/>
                </a:solidFill>
                <a:latin typeface="Consolas"/>
              </a:rPr>
              <a:t>staatus</a:t>
            </a:r>
            <a:r>
              <a:rPr sz="1700" b="0" dirty="0">
                <a:solidFill>
                  <a:srgbClr val="E2E8F0"/>
                </a:solidFill>
                <a:latin typeface="Consolas"/>
              </a:rPr>
              <a:t> = '</a:t>
            </a:r>
            <a:r>
              <a:rPr sz="1700" b="0" dirty="0" err="1">
                <a:solidFill>
                  <a:srgbClr val="E2E8F0"/>
                </a:solidFill>
                <a:latin typeface="Consolas"/>
              </a:rPr>
              <a:t>Ootel</a:t>
            </a:r>
            <a:r>
              <a:rPr sz="1700" b="0" dirty="0">
                <a:solidFill>
                  <a:srgbClr val="E2E8F0"/>
                </a:solidFill>
                <a:latin typeface="Consolas"/>
              </a:rPr>
              <a:t>';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11247120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dirty="0" err="1">
                <a:solidFill>
                  <a:srgbClr val="334155"/>
                </a:solidFill>
                <a:latin typeface="Calibri"/>
              </a:rPr>
              <a:t>Kõigepealt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WHERE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jätab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read,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siis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COUNT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loendab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allesjäänud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.
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F7C9AE-4A3A-AB53-29CD-A61845F65937}"/>
              </a:ext>
            </a:extLst>
          </p:cNvPr>
          <p:cNvSpPr txBox="1"/>
          <p:nvPr/>
        </p:nvSpPr>
        <p:spPr>
          <a:xfrm>
            <a:off x="530352" y="4314403"/>
            <a:ext cx="6094476" cy="1254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fi-FI" sz="1700" dirty="0">
                <a:solidFill>
                  <a:srgbClr val="334155"/>
                </a:solidFill>
              </a:rPr>
              <a:t>Mitu klienti on Tallinnas? </a:t>
            </a:r>
          </a:p>
          <a:p>
            <a:pPr>
              <a:spcAft>
                <a:spcPts val="300"/>
              </a:spcAft>
            </a:pPr>
            <a:r>
              <a:rPr lang="en-GB" sz="1700" b="0" dirty="0">
                <a:latin typeface="Consolas"/>
              </a:rPr>
              <a:t>SELECT COUNT(*) AS </a:t>
            </a:r>
            <a:r>
              <a:rPr lang="en-GB" sz="1700" b="0" dirty="0" err="1">
                <a:latin typeface="Consolas"/>
              </a:rPr>
              <a:t>klientide_arv</a:t>
            </a:r>
            <a:endParaRPr lang="en-GB" sz="1700" b="0" dirty="0">
              <a:latin typeface="Consolas"/>
            </a:endParaRPr>
          </a:p>
          <a:p>
            <a:pPr>
              <a:spcAft>
                <a:spcPts val="300"/>
              </a:spcAft>
            </a:pPr>
            <a:r>
              <a:rPr lang="en-GB" sz="1700" b="0" dirty="0">
                <a:latin typeface="Consolas"/>
              </a:rPr>
              <a:t>FROM </a:t>
            </a:r>
            <a:r>
              <a:rPr lang="en-GB" sz="1700" b="0" dirty="0" err="1">
                <a:latin typeface="Consolas"/>
              </a:rPr>
              <a:t>kliendid</a:t>
            </a:r>
            <a:endParaRPr lang="en-GB" sz="1700" b="0" dirty="0">
              <a:latin typeface="Consolas"/>
            </a:endParaRPr>
          </a:p>
          <a:p>
            <a:pPr>
              <a:spcAft>
                <a:spcPts val="300"/>
              </a:spcAft>
            </a:pPr>
            <a:r>
              <a:rPr lang="en-GB" sz="1700" b="0" dirty="0">
                <a:latin typeface="Consolas"/>
              </a:rPr>
              <a:t>WHERE linn = ‘Tallinn’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123DC3-330F-070C-16F0-00A64C63B076}"/>
              </a:ext>
            </a:extLst>
          </p:cNvPr>
          <p:cNvSpPr txBox="1"/>
          <p:nvPr/>
        </p:nvSpPr>
        <p:spPr>
          <a:xfrm>
            <a:off x="5839968" y="4318934"/>
            <a:ext cx="6094476" cy="1254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fi-FI" sz="1700" dirty="0">
                <a:solidFill>
                  <a:srgbClr val="334155"/>
                </a:solidFill>
              </a:rPr>
              <a:t>Koos: mitu toodet kategoorias 'Lisaseadmed'?</a:t>
            </a:r>
            <a:endParaRPr lang="en-GB" sz="1700" b="0" dirty="0">
              <a:latin typeface="Consolas"/>
            </a:endParaRPr>
          </a:p>
          <a:p>
            <a:pPr>
              <a:spcAft>
                <a:spcPts val="300"/>
              </a:spcAft>
            </a:pPr>
            <a:r>
              <a:rPr lang="en-GB" sz="1700" b="0" dirty="0">
                <a:latin typeface="Consolas"/>
              </a:rPr>
              <a:t>SELECT COUNT(*) AS </a:t>
            </a:r>
            <a:r>
              <a:rPr lang="en-GB" sz="1700" b="0" dirty="0" err="1">
                <a:latin typeface="Consolas"/>
              </a:rPr>
              <a:t>lisaseadmete_arv</a:t>
            </a:r>
            <a:endParaRPr lang="en-GB" sz="1700" b="0" dirty="0">
              <a:latin typeface="Consolas"/>
            </a:endParaRPr>
          </a:p>
          <a:p>
            <a:pPr>
              <a:spcAft>
                <a:spcPts val="300"/>
              </a:spcAft>
            </a:pPr>
            <a:r>
              <a:rPr lang="en-GB" sz="1700" b="0" dirty="0">
                <a:latin typeface="Consolas"/>
              </a:rPr>
              <a:t>FROM tooted</a:t>
            </a:r>
          </a:p>
          <a:p>
            <a:pPr>
              <a:spcAft>
                <a:spcPts val="300"/>
              </a:spcAft>
            </a:pPr>
            <a:r>
              <a:rPr lang="en-GB" sz="1700" b="0" dirty="0">
                <a:latin typeface="Consolas"/>
              </a:rPr>
              <a:t>WHERE </a:t>
            </a:r>
            <a:r>
              <a:rPr lang="en-GB" sz="1700" b="0" dirty="0" err="1">
                <a:latin typeface="Consolas"/>
              </a:rPr>
              <a:t>kategooria</a:t>
            </a:r>
            <a:r>
              <a:rPr lang="en-GB" sz="1700" b="0" dirty="0">
                <a:latin typeface="Consolas"/>
              </a:rPr>
              <a:t> = ‘</a:t>
            </a:r>
            <a:r>
              <a:rPr lang="fi-FI" sz="1700" dirty="0">
                <a:solidFill>
                  <a:srgbClr val="334155"/>
                </a:solidFill>
              </a:rPr>
              <a:t>Lisaseadmed</a:t>
            </a:r>
            <a:r>
              <a:rPr lang="en-GB" sz="1700" b="0" dirty="0">
                <a:latin typeface="Consolas"/>
              </a:rPr>
              <a:t>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MIN, MAX, SUM, AVG  (~15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097280"/>
            <a:ext cx="11430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32004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F203E"/>
                </a:solidFill>
                <a:latin typeface="Calibri"/>
              </a:rPr>
              <a:t>MIN(hind)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097280"/>
            <a:ext cx="22860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07073"/>
                </a:solidFill>
                <a:latin typeface="Calibri"/>
              </a:rPr>
              <a:t>väikseim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097280"/>
            <a:ext cx="52120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Odavaim toode?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377439"/>
            <a:ext cx="11430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377439"/>
            <a:ext cx="32004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F203E"/>
                </a:solidFill>
                <a:latin typeface="Calibri"/>
              </a:rPr>
              <a:t>MAX(hind)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377439"/>
            <a:ext cx="22860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07073"/>
                </a:solidFill>
                <a:latin typeface="Calibri"/>
              </a:rPr>
              <a:t>suurim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377439"/>
            <a:ext cx="52120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Kalleim toode?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657600"/>
            <a:ext cx="11430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657600"/>
            <a:ext cx="32004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F203E"/>
                </a:solidFill>
                <a:latin typeface="Calibri"/>
              </a:rPr>
              <a:t>SUM(hind)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657600"/>
            <a:ext cx="22860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07073"/>
                </a:solidFill>
                <a:latin typeface="Calibri"/>
              </a:rPr>
              <a:t>summa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657600"/>
            <a:ext cx="52120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Hindade kogusumma?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937759"/>
            <a:ext cx="11430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4937759"/>
            <a:ext cx="32004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F203E"/>
                </a:solidFill>
                <a:latin typeface="Calibri"/>
              </a:rPr>
              <a:t>AVG(hind)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4937759"/>
            <a:ext cx="22860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07073"/>
                </a:solidFill>
                <a:latin typeface="Calibri"/>
              </a:rPr>
              <a:t>keskmine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937759"/>
            <a:ext cx="52120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Keskmine tootehind?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dirty="0">
                <a:solidFill>
                  <a:srgbClr val="FFFFFF"/>
                </a:solidFill>
                <a:latin typeface="Calibri"/>
              </a:rPr>
              <a:t>MIN ja MAX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ühes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päringus</a:t>
            </a:r>
            <a:r>
              <a:rPr lang="en-GB"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2400" b="1" dirty="0">
                <a:solidFill>
                  <a:srgbClr val="92D050"/>
                </a:solidFill>
              </a:rPr>
              <a:t>NÄITAN </a:t>
            </a:r>
            <a:endParaRPr sz="2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097280"/>
            <a:ext cx="11430000" cy="15544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1207007"/>
            <a:ext cx="11100816" cy="1254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0" dirty="0">
                <a:solidFill>
                  <a:srgbClr val="E2E8F0"/>
                </a:solidFill>
                <a:latin typeface="Consolas"/>
              </a:rPr>
              <a:t>SELECT </a:t>
            </a:r>
            <a:endParaRPr lang="en-GB" sz="17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lang="en-GB" sz="1700" b="0" dirty="0">
                <a:solidFill>
                  <a:srgbClr val="E2E8F0"/>
                </a:solidFill>
                <a:latin typeface="Consolas"/>
              </a:rPr>
              <a:t>	</a:t>
            </a:r>
            <a:r>
              <a:rPr sz="1700" b="0" dirty="0">
                <a:solidFill>
                  <a:srgbClr val="E2E8F0"/>
                </a:solidFill>
                <a:latin typeface="Consolas"/>
              </a:rPr>
              <a:t>MIN(hind) AS </a:t>
            </a:r>
            <a:r>
              <a:rPr sz="1700" b="0" dirty="0" err="1">
                <a:solidFill>
                  <a:srgbClr val="E2E8F0"/>
                </a:solidFill>
                <a:latin typeface="Consolas"/>
              </a:rPr>
              <a:t>odavaim</a:t>
            </a:r>
            <a:r>
              <a:rPr sz="1700" b="0" dirty="0">
                <a:solidFill>
                  <a:srgbClr val="E2E8F0"/>
                </a:solidFill>
                <a:latin typeface="Consolas"/>
              </a:rPr>
              <a:t>,</a:t>
            </a:r>
            <a:r>
              <a:rPr lang="en-GB" sz="1700" b="0" dirty="0">
                <a:solidFill>
                  <a:srgbClr val="E2E8F0"/>
                </a:solidFill>
                <a:latin typeface="Consolas"/>
              </a:rPr>
              <a:t> ----</a:t>
            </a:r>
            <a:r>
              <a:rPr lang="en-GB" sz="1700" b="0" dirty="0" err="1">
                <a:solidFill>
                  <a:srgbClr val="E2E8F0"/>
                </a:solidFill>
                <a:latin typeface="Consolas"/>
              </a:rPr>
              <a:t>kõige</a:t>
            </a:r>
            <a:r>
              <a:rPr lang="en-GB" sz="170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lang="en-GB" sz="1700" b="0" dirty="0" err="1">
                <a:solidFill>
                  <a:srgbClr val="E2E8F0"/>
                </a:solidFill>
                <a:latin typeface="Consolas"/>
              </a:rPr>
              <a:t>odavam</a:t>
            </a:r>
            <a:r>
              <a:rPr lang="en-GB" sz="170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1700" b="0" dirty="0">
                <a:solidFill>
                  <a:srgbClr val="E2E8F0"/>
                </a:solidFill>
                <a:latin typeface="Consolas"/>
              </a:rPr>
              <a:t> </a:t>
            </a:r>
            <a:endParaRPr lang="en-GB" sz="17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lang="en-GB" sz="1700" b="0" dirty="0">
                <a:solidFill>
                  <a:srgbClr val="E2E8F0"/>
                </a:solidFill>
                <a:latin typeface="Consolas"/>
              </a:rPr>
              <a:t>	</a:t>
            </a:r>
            <a:r>
              <a:rPr sz="1700" b="0" dirty="0">
                <a:solidFill>
                  <a:srgbClr val="E2E8F0"/>
                </a:solidFill>
                <a:latin typeface="Consolas"/>
              </a:rPr>
              <a:t>MAX(hind) AS </a:t>
            </a:r>
            <a:r>
              <a:rPr sz="1700" b="0" dirty="0" err="1">
                <a:solidFill>
                  <a:srgbClr val="E2E8F0"/>
                </a:solidFill>
                <a:latin typeface="Consolas"/>
              </a:rPr>
              <a:t>kalleim</a:t>
            </a:r>
            <a:r>
              <a:rPr lang="en-GB" sz="1700" b="0" dirty="0">
                <a:solidFill>
                  <a:srgbClr val="E2E8F0"/>
                </a:solidFill>
                <a:latin typeface="Consolas"/>
              </a:rPr>
              <a:t> ---</a:t>
            </a:r>
            <a:r>
              <a:rPr lang="en-GB" sz="1700" b="0" dirty="0" err="1">
                <a:solidFill>
                  <a:srgbClr val="E2E8F0"/>
                </a:solidFill>
                <a:latin typeface="Consolas"/>
              </a:rPr>
              <a:t>ja</a:t>
            </a:r>
            <a:r>
              <a:rPr lang="en-GB" sz="170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lang="en-GB" sz="1700" b="0" dirty="0" err="1">
                <a:solidFill>
                  <a:srgbClr val="E2E8F0"/>
                </a:solidFill>
                <a:latin typeface="Consolas"/>
              </a:rPr>
              <a:t>kõige</a:t>
            </a:r>
            <a:r>
              <a:rPr lang="en-GB" sz="170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lang="en-GB" sz="1700" b="0" dirty="0" err="1">
                <a:solidFill>
                  <a:srgbClr val="E2E8F0"/>
                </a:solidFill>
                <a:latin typeface="Consolas"/>
              </a:rPr>
              <a:t>kallim</a:t>
            </a:r>
            <a:r>
              <a:rPr lang="en-GB" sz="170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lang="en-GB" sz="1700" b="0" dirty="0" err="1">
                <a:solidFill>
                  <a:srgbClr val="E2E8F0"/>
                </a:solidFill>
                <a:latin typeface="Consolas"/>
              </a:rPr>
              <a:t>tootehind</a:t>
            </a:r>
            <a:endParaRPr sz="17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700" b="0" dirty="0">
                <a:solidFill>
                  <a:srgbClr val="E2E8F0"/>
                </a:solidFill>
                <a:latin typeface="Consolas"/>
              </a:rPr>
              <a:t>FROM tooted;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880360"/>
            <a:ext cx="11430000" cy="14173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2990088"/>
            <a:ext cx="1110081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0" dirty="0">
                <a:solidFill>
                  <a:srgbClr val="E2E8F0"/>
                </a:solidFill>
                <a:latin typeface="Consolas"/>
              </a:rPr>
              <a:t>SELECT </a:t>
            </a:r>
            <a:endParaRPr lang="en-GB" sz="17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lang="en-GB" sz="1700" b="0" dirty="0">
                <a:solidFill>
                  <a:srgbClr val="E2E8F0"/>
                </a:solidFill>
                <a:latin typeface="Consolas"/>
              </a:rPr>
              <a:t>	</a:t>
            </a:r>
            <a:r>
              <a:rPr sz="1700" b="0" dirty="0">
                <a:solidFill>
                  <a:srgbClr val="E2E8F0"/>
                </a:solidFill>
                <a:latin typeface="Consolas"/>
              </a:rPr>
              <a:t>ROUND(AVG(hind), 2) AS </a:t>
            </a:r>
            <a:r>
              <a:rPr sz="1700" b="0" dirty="0" err="1">
                <a:solidFill>
                  <a:srgbClr val="E2E8F0"/>
                </a:solidFill>
                <a:latin typeface="Consolas"/>
              </a:rPr>
              <a:t>keskmine_hind</a:t>
            </a:r>
            <a:endParaRPr sz="17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700" b="0" dirty="0">
                <a:solidFill>
                  <a:srgbClr val="E2E8F0"/>
                </a:solidFill>
                <a:latin typeface="Consolas"/>
              </a:rPr>
              <a:t>FROM tooted;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26280"/>
            <a:ext cx="112471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Oodatav: odavaim ~20 €, kalleim 1200 €. MIN/MAX tagastab arvu, mitte nime.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78F0D-204F-7E0D-7154-BE31465981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Harjutused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E29B7-549D-D70B-986B-39317625D19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 err="1"/>
              <a:t>Dbeaver</a:t>
            </a:r>
            <a:endParaRPr lang="en-GB" dirty="0"/>
          </a:p>
          <a:p>
            <a:r>
              <a:rPr lang="en-GB" dirty="0"/>
              <a:t>Samad </a:t>
            </a:r>
            <a:r>
              <a:rPr lang="en-GB" dirty="0" err="1"/>
              <a:t>tabelid</a:t>
            </a:r>
            <a:endParaRPr lang="en-GB" dirty="0"/>
          </a:p>
          <a:p>
            <a:r>
              <a:rPr lang="en-GB" dirty="0"/>
              <a:t>New SQL script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 err="1"/>
              <a:t>Salvesta</a:t>
            </a:r>
            <a:r>
              <a:rPr lang="en-GB" dirty="0"/>
              <a:t> </a:t>
            </a:r>
            <a:r>
              <a:rPr lang="en-GB" dirty="0" err="1"/>
              <a:t>iga</a:t>
            </a:r>
            <a:r>
              <a:rPr lang="en-GB" dirty="0"/>
              <a:t> </a:t>
            </a:r>
            <a:r>
              <a:rPr lang="en-GB" dirty="0" err="1"/>
              <a:t>harjutuse</a:t>
            </a:r>
            <a:r>
              <a:rPr lang="en-GB" dirty="0"/>
              <a:t> SQL </a:t>
            </a:r>
            <a:r>
              <a:rPr lang="en-GB" dirty="0" err="1"/>
              <a:t>päringud</a:t>
            </a:r>
            <a:r>
              <a:rPr lang="en-GB" dirty="0"/>
              <a:t> </a:t>
            </a:r>
            <a:r>
              <a:rPr lang="en-GB" dirty="0" err="1"/>
              <a:t>eraldi</a:t>
            </a:r>
            <a:r>
              <a:rPr lang="en-GB" dirty="0"/>
              <a:t> </a:t>
            </a:r>
            <a:r>
              <a:rPr lang="en-GB" dirty="0" err="1"/>
              <a:t>faili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8F856E-CF6E-47F9-68EE-D0C7FA6C9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871" y="199142"/>
            <a:ext cx="7792537" cy="24292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C0C32D-9A33-313A-BFEF-F9B1731EF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9800" y="3060156"/>
            <a:ext cx="2764959" cy="28953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DEFDBF-DAE7-00C3-91FC-EE59828F02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1159" y="2966256"/>
            <a:ext cx="3299386" cy="3199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178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46525"/>
            <a:ext cx="1143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 err="1">
                <a:solidFill>
                  <a:srgbClr val="FFFFFF"/>
                </a:solidFill>
                <a:latin typeface="Calibri"/>
              </a:rPr>
              <a:t>Harjutus</a:t>
            </a:r>
            <a:r>
              <a:rPr lang="en-GB" sz="2400" b="1" dirty="0">
                <a:solidFill>
                  <a:srgbClr val="FFFFFF"/>
                </a:solidFill>
                <a:latin typeface="Calibri"/>
              </a:rPr>
              <a:t> 1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—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proovi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3200" b="1" dirty="0">
                <a:solidFill>
                  <a:srgbClr val="FF0000"/>
                </a:solidFill>
                <a:latin typeface="Calibri"/>
              </a:rPr>
              <a:t>ISE 20 min </a:t>
            </a:r>
            <a:r>
              <a:rPr lang="en-GB" sz="3200" b="1" dirty="0" err="1">
                <a:solidFill>
                  <a:srgbClr val="FF0000"/>
                </a:solidFill>
                <a:latin typeface="Calibri"/>
              </a:rPr>
              <a:t>kuni</a:t>
            </a:r>
            <a:r>
              <a:rPr lang="en-GB" sz="3200" b="1" dirty="0">
                <a:solidFill>
                  <a:srgbClr val="FF0000"/>
                </a:solidFill>
                <a:latin typeface="Calibri"/>
              </a:rPr>
              <a:t> 9:45</a:t>
            </a:r>
            <a:endParaRPr sz="24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042415"/>
            <a:ext cx="3840480" cy="292608"/>
          </a:xfrm>
          <a:prstGeom prst="roundRect">
            <a:avLst>
              <a:gd name="adj" fmla="val 8000"/>
            </a:avLst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051561"/>
            <a:ext cx="3840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Tase 1 kõigile  ·  tase 2 kui valmis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682496"/>
            <a:ext cx="5669280" cy="4617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1480" y="1562202"/>
            <a:ext cx="5669280" cy="50292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1527048"/>
            <a:ext cx="5669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Tase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121408"/>
            <a:ext cx="53035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1.  Mitu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toodet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on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kataloogis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?</a:t>
            </a:r>
          </a:p>
          <a:p>
            <a:pPr>
              <a:spcAft>
                <a:spcPts val="12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2.  Mis on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odavaim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ja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kalleim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hind?</a:t>
            </a:r>
          </a:p>
          <a:p>
            <a:pPr>
              <a:spcAft>
                <a:spcPts val="12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3.  Mitu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klienti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elab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Tallinnas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?</a:t>
            </a:r>
          </a:p>
          <a:p>
            <a:pPr>
              <a:spcAft>
                <a:spcPts val="12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4.  Mis on kõigi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toodete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keskmine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hind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682496"/>
            <a:ext cx="5532120" cy="4617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1572768"/>
            <a:ext cx="5532120" cy="5029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1527048"/>
            <a:ext cx="5532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Tase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121408"/>
            <a:ext cx="5166359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1.  Mitu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tellimust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on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staatusega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'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Ootel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'?</a:t>
            </a:r>
          </a:p>
          <a:p>
            <a:pPr>
              <a:spcAft>
                <a:spcPts val="12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2.  Mis on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kogu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kataloogi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keskmine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tootehind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(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kaks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komakohta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)?</a:t>
            </a:r>
          </a:p>
          <a:p>
            <a:pPr>
              <a:spcAft>
                <a:spcPts val="12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3.  Mitu toodet on kategoorias 'Lisaseadmed' ja mis on nende hindade summa?</a:t>
            </a:r>
          </a:p>
          <a:p>
            <a:pPr>
              <a:spcAft>
                <a:spcPts val="12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4.  Ainult täidetud tellimused: mitu rida, kõige varasem ja kõige hilisem kuupäev?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DFA6BA-1741-9429-6307-625BE86BC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616" y="3754184"/>
            <a:ext cx="1971950" cy="6954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129F0E7-AF41-9867-A98A-DFAD004E18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447" y="3799804"/>
            <a:ext cx="2429214" cy="67636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F2DA2FC-B335-E9DF-E720-C7CE859BEE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870" y="4827793"/>
            <a:ext cx="1162212" cy="69542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036F9AB-6CDC-4DA3-AD98-8DA0BB1621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7447" y="4875424"/>
            <a:ext cx="2010056" cy="6001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CE52E1-2E54-42FE-F69D-EB0AA83AA6AE}"/>
              </a:ext>
            </a:extLst>
          </p:cNvPr>
          <p:cNvSpPr txBox="1"/>
          <p:nvPr/>
        </p:nvSpPr>
        <p:spPr>
          <a:xfrm>
            <a:off x="3268980" y="6015094"/>
            <a:ext cx="516635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Trepi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päring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endParaRPr sz="1500" b="0" dirty="0">
              <a:solidFill>
                <a:srgbClr val="334155"/>
              </a:solidFill>
              <a:latin typeface="Calibri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7DC1822-4F71-0E5B-6B79-AD476E71FB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6069" y="5785794"/>
            <a:ext cx="2924583" cy="10288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Lahendused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024128"/>
            <a:ext cx="1325880" cy="292608"/>
          </a:xfrm>
          <a:prstGeom prst="roundRect">
            <a:avLst>
              <a:gd name="adj" fmla="val 8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325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280160"/>
            <a:ext cx="11430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03E"/>
                </a:solidFill>
                <a:latin typeface="Calibri"/>
              </a:rPr>
              <a:t>1.  Mitu toodet on kataloogis?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36192"/>
            <a:ext cx="11430000" cy="10058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" y="1563624"/>
            <a:ext cx="1110081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SELECT </a:t>
            </a:r>
            <a:endParaRPr lang="en-GB" sz="12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lang="en-GB" sz="1000" dirty="0">
                <a:solidFill>
                  <a:srgbClr val="E2E8F0"/>
                </a:solidFill>
                <a:latin typeface="Consolas"/>
              </a:rPr>
              <a:t>	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COUNT(*) AS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toodete_koguarv</a:t>
            </a:r>
            <a:endParaRPr sz="12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FROM tooted;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560320"/>
            <a:ext cx="11430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03E"/>
                </a:solidFill>
                <a:latin typeface="Calibri"/>
              </a:rPr>
              <a:t>2.  Mis on odavaim ja kalleim hind?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834640"/>
            <a:ext cx="11430000" cy="10058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" y="2843784"/>
            <a:ext cx="1110081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SELECT </a:t>
            </a:r>
            <a:endParaRPr lang="en-GB" sz="12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lang="en-GB" sz="1000" dirty="0">
                <a:solidFill>
                  <a:srgbClr val="E2E8F0"/>
                </a:solidFill>
                <a:latin typeface="Consolas"/>
              </a:rPr>
              <a:t>	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MIN(hind) AS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odavaim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, </a:t>
            </a:r>
            <a:endParaRPr lang="en-GB" sz="12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lang="en-GB" sz="1000" dirty="0">
                <a:solidFill>
                  <a:srgbClr val="E2E8F0"/>
                </a:solidFill>
                <a:latin typeface="Consolas"/>
              </a:rPr>
              <a:t>	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MAX(hind) AS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kalleim</a:t>
            </a:r>
            <a:endParaRPr sz="12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FROM tooted;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840480"/>
            <a:ext cx="11430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0F203E"/>
                </a:solidFill>
                <a:latin typeface="Calibri"/>
              </a:rPr>
              <a:t>3.  Mitu </a:t>
            </a:r>
            <a:r>
              <a:rPr sz="1400" b="1" dirty="0" err="1">
                <a:solidFill>
                  <a:srgbClr val="0F203E"/>
                </a:solidFill>
                <a:latin typeface="Calibri"/>
              </a:rPr>
              <a:t>klienti</a:t>
            </a:r>
            <a:r>
              <a:rPr sz="1400" b="1" dirty="0">
                <a:solidFill>
                  <a:srgbClr val="0F203E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0F203E"/>
                </a:solidFill>
                <a:latin typeface="Calibri"/>
              </a:rPr>
              <a:t>elab</a:t>
            </a:r>
            <a:r>
              <a:rPr sz="1400" b="1" dirty="0">
                <a:solidFill>
                  <a:srgbClr val="0F203E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0F203E"/>
                </a:solidFill>
                <a:latin typeface="Calibri"/>
              </a:rPr>
              <a:t>Tallinnas</a:t>
            </a:r>
            <a:r>
              <a:rPr sz="1400" b="1" dirty="0">
                <a:solidFill>
                  <a:srgbClr val="0F203E"/>
                </a:solidFill>
                <a:latin typeface="Calibri"/>
              </a:rPr>
              <a:t>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114800"/>
            <a:ext cx="11430000" cy="10058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4123944"/>
            <a:ext cx="1110081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SELECT </a:t>
            </a:r>
            <a:endParaRPr lang="en-GB" sz="12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lang="en-GB" sz="1000" dirty="0">
                <a:solidFill>
                  <a:srgbClr val="E2E8F0"/>
                </a:solidFill>
                <a:latin typeface="Consolas"/>
              </a:rPr>
              <a:t>	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COUNT(*) AS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tallinlasi</a:t>
            </a:r>
            <a:endParaRPr sz="12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FROM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kliendid</a:t>
            </a:r>
            <a:endParaRPr sz="12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WHERE linn = 'Tallinn';</a:t>
            </a:r>
          </a:p>
        </p:txBody>
      </p:sp>
      <p:sp>
        <p:nvSpPr>
          <p:cNvPr id="20" name="TextBox 16 copy 20"/>
          <p:cNvSpPr txBox="1"/>
          <p:nvPr/>
        </p:nvSpPr>
        <p:spPr>
          <a:xfrm>
            <a:off x="365760" y="5120640"/>
            <a:ext cx="11430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34155"/>
                </a:solidFill>
                <a:latin typeface="Calibri"/>
              </a:rPr>
              <a:t>4.  Mis on kõigi toodete hindade summa?</a:t>
            </a:r>
          </a:p>
        </p:txBody>
      </p:sp>
      <p:sp>
        <p:nvSpPr>
          <p:cNvPr id="21" name="Rounded Rectangle 17 copy 21"/>
          <p:cNvSpPr/>
          <p:nvPr/>
        </p:nvSpPr>
        <p:spPr>
          <a:xfrm>
            <a:off x="365760" y="5385816"/>
            <a:ext cx="11430000" cy="10058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18 copy 22"/>
          <p:cNvSpPr txBox="1"/>
          <p:nvPr/>
        </p:nvSpPr>
        <p:spPr>
          <a:xfrm>
            <a:off x="530352" y="5404104"/>
            <a:ext cx="11100816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SELECT </a:t>
            </a:r>
            <a:r>
              <a:rPr lang="en-GB" sz="1000" dirty="0">
                <a:solidFill>
                  <a:srgbClr val="E2E8F0"/>
                </a:solidFill>
                <a:latin typeface="Consolas"/>
              </a:rPr>
              <a:t>AVG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(hind) AS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hindade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_</a:t>
            </a:r>
            <a:r>
              <a:rPr lang="en-GB" sz="1000" dirty="0" err="1">
                <a:solidFill>
                  <a:srgbClr val="E2E8F0"/>
                </a:solidFill>
                <a:latin typeface="Consolas"/>
              </a:rPr>
              <a:t>keskmine</a:t>
            </a:r>
            <a:endParaRPr lang="en-GB" sz="1200" b="0" dirty="0">
              <a:solidFill>
                <a:srgbClr val="E2E8F0"/>
              </a:solidFill>
              <a:latin typeface="Consolas"/>
            </a:endParaRPr>
          </a:p>
          <a:p>
            <a:r>
              <a:rPr sz="1000" b="0" dirty="0">
                <a:solidFill>
                  <a:srgbClr val="E2E8F0"/>
                </a:solidFill>
                <a:latin typeface="Consolas"/>
              </a:rPr>
              <a:t>FROM tooted;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Lahendused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024128"/>
            <a:ext cx="1325880" cy="292608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325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280160"/>
            <a:ext cx="11430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03E"/>
                </a:solidFill>
                <a:latin typeface="Calibri"/>
              </a:rPr>
              <a:t>1.  Mitu tellimust on staatusega 'Ootel'?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63624"/>
            <a:ext cx="11430000" cy="10058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" y="1563624"/>
            <a:ext cx="1110081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SELECT COUNT(*) AS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ootel_arv</a:t>
            </a:r>
            <a:endParaRPr sz="12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FROM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tellimused</a:t>
            </a:r>
            <a:endParaRPr sz="12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WHERE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staatus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 = '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Ootel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';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560320"/>
            <a:ext cx="11430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03E"/>
                </a:solidFill>
                <a:latin typeface="Calibri"/>
              </a:rPr>
              <a:t>2.  Mis on kogu kataloogi keskmine tootehind (kaks komakohta)?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825502"/>
            <a:ext cx="11430000" cy="10058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" y="2843784"/>
            <a:ext cx="1110081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SELECT ROUND(AVG(hind), 2) AS keskmine_hind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FROM tooted;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840480"/>
            <a:ext cx="1143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0F203E"/>
                </a:solidFill>
                <a:latin typeface="Calibri"/>
              </a:rPr>
              <a:t>3.  Mitu toodet on kategoorias 'Lisaseadmed' ja mis on nende hindade summa?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131529"/>
            <a:ext cx="11430000" cy="10058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4203115"/>
            <a:ext cx="11100816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SELECT COUNT(*) AS toodete_arv, SUM(hind) AS hindade_summa</a:t>
            </a:r>
            <a:endParaRPr sz="1000" b="0" dirty="0">
              <a:solidFill>
                <a:srgbClr val="E2E8F0"/>
              </a:solidFill>
              <a:latin typeface="Consolas"/>
            </a:endParaRPr>
          </a:p>
          <a:p>
            <a:r>
              <a:rPr sz="1000" b="0">
                <a:solidFill>
                  <a:srgbClr val="E2E8F0"/>
                </a:solidFill>
                <a:latin typeface="Consolas"/>
              </a:rPr>
              <a:t>FROM tooted</a:t>
            </a:r>
          </a:p>
          <a:p>
            <a:r>
              <a:rPr sz="1000" b="0">
                <a:solidFill>
                  <a:srgbClr val="E2E8F0"/>
                </a:solidFill>
                <a:latin typeface="Consolas"/>
              </a:rPr>
              <a:t>WHERE kategooria = 'Lisaseadmed';</a:t>
            </a:r>
          </a:p>
        </p:txBody>
      </p:sp>
      <p:sp>
        <p:nvSpPr>
          <p:cNvPr id="20" name="TextBox 16 copy 20"/>
          <p:cNvSpPr txBox="1"/>
          <p:nvPr/>
        </p:nvSpPr>
        <p:spPr>
          <a:xfrm>
            <a:off x="365760" y="5120640"/>
            <a:ext cx="11430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34155"/>
                </a:solidFill>
                <a:latin typeface="Calibri"/>
              </a:rPr>
              <a:t>4.  Ainult täidetud tellimused: mitu rida, kõige varasem ja kõige hilisem kuupäev?</a:t>
            </a:r>
          </a:p>
        </p:txBody>
      </p:sp>
      <p:sp>
        <p:nvSpPr>
          <p:cNvPr id="21" name="Rounded Rectangle 17 copy 21"/>
          <p:cNvSpPr/>
          <p:nvPr/>
        </p:nvSpPr>
        <p:spPr>
          <a:xfrm>
            <a:off x="365760" y="5404104"/>
            <a:ext cx="11430000" cy="10058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18 copy 22"/>
          <p:cNvSpPr txBox="1"/>
          <p:nvPr/>
        </p:nvSpPr>
        <p:spPr>
          <a:xfrm>
            <a:off x="530352" y="5404104"/>
            <a:ext cx="1110081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SELECT COUNT(*) AS täidetud_arv,</a:t>
            </a:r>
          </a:p>
          <a:p>
            <a:r>
              <a:rPr sz="1000" b="0">
                <a:solidFill>
                  <a:srgbClr val="E2E8F0"/>
                </a:solidFill>
                <a:latin typeface="Consolas"/>
              </a:rPr>
              <a:t>       MIN(kuupäev) AS esimene,</a:t>
            </a:r>
          </a:p>
          <a:p>
            <a:r>
              <a:rPr sz="1000" b="0">
                <a:solidFill>
                  <a:srgbClr val="E2E8F0"/>
                </a:solidFill>
                <a:latin typeface="Consolas"/>
              </a:rPr>
              <a:t>       MAX(kuupäev) AS viimane</a:t>
            </a:r>
          </a:p>
          <a:p>
            <a:r>
              <a:rPr sz="1000" b="0">
                <a:solidFill>
                  <a:srgbClr val="E2E8F0"/>
                </a:solidFill>
                <a:latin typeface="Consolas"/>
              </a:rPr>
              <a:t>FROM tellimused</a:t>
            </a:r>
          </a:p>
          <a:p>
            <a:r>
              <a:rPr sz="1000" b="0">
                <a:solidFill>
                  <a:srgbClr val="E2E8F0"/>
                </a:solidFill>
                <a:latin typeface="Consolas"/>
              </a:rPr>
              <a:t>WHERE staatus = 'Täidetud';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972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C49526"/>
                </a:solidFill>
                <a:latin typeface="Calibri"/>
              </a:rPr>
              <a:t>PLOKK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dirty="0">
                <a:solidFill>
                  <a:srgbClr val="FFFFFF"/>
                </a:solidFill>
                <a:latin typeface="Calibri"/>
              </a:rPr>
              <a:t>GROUP BY</a:t>
            </a:r>
            <a:r>
              <a:rPr lang="en-GB" sz="3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3400" b="1" dirty="0" err="1">
                <a:solidFill>
                  <a:srgbClr val="FFFFFF"/>
                </a:solidFill>
                <a:latin typeface="Calibri"/>
              </a:rPr>
              <a:t>summeerimine</a:t>
            </a:r>
            <a:r>
              <a:rPr lang="en-GB" sz="3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3400" b="1" dirty="0" err="1">
                <a:solidFill>
                  <a:srgbClr val="FFFFFF"/>
                </a:solidFill>
                <a:latin typeface="Calibri"/>
              </a:rPr>
              <a:t>tunnuste</a:t>
            </a:r>
            <a:r>
              <a:rPr lang="en-GB" sz="3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3400" b="1" dirty="0" err="1">
                <a:solidFill>
                  <a:srgbClr val="FFFFFF"/>
                </a:solidFill>
                <a:latin typeface="Calibri"/>
              </a:rPr>
              <a:t>alusel</a:t>
            </a:r>
            <a:endParaRPr sz="3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dirty="0">
                <a:solidFill>
                  <a:srgbClr val="FFFFFF"/>
                </a:solidFill>
                <a:latin typeface="Calibri"/>
              </a:rPr>
              <a:t>GROUP BY —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üks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rida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iga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rühma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ko</a:t>
            </a:r>
            <a:r>
              <a:rPr lang="en-GB" sz="2400" b="1" dirty="0" err="1">
                <a:solidFill>
                  <a:srgbClr val="FFFFFF"/>
                </a:solidFill>
                <a:latin typeface="Calibri"/>
              </a:rPr>
              <a:t>ht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a</a:t>
            </a:r>
            <a:r>
              <a:rPr lang="en-GB"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2400" b="1" dirty="0">
                <a:solidFill>
                  <a:srgbClr val="92D050"/>
                </a:solidFill>
              </a:rPr>
              <a:t>NÄITAN </a:t>
            </a:r>
            <a:endParaRPr sz="2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097280"/>
            <a:ext cx="11430000" cy="19659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1207007"/>
            <a:ext cx="1110081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0" dirty="0">
                <a:solidFill>
                  <a:srgbClr val="E2E8F0"/>
                </a:solidFill>
                <a:latin typeface="Consolas"/>
              </a:rPr>
              <a:t>SELECT </a:t>
            </a:r>
            <a:r>
              <a:rPr sz="1700" b="0" dirty="0" err="1">
                <a:solidFill>
                  <a:srgbClr val="E2E8F0"/>
                </a:solidFill>
                <a:latin typeface="Consolas"/>
              </a:rPr>
              <a:t>kategooria</a:t>
            </a:r>
            <a:r>
              <a:rPr sz="1700" b="0" dirty="0">
                <a:solidFill>
                  <a:srgbClr val="E2E8F0"/>
                </a:solidFill>
                <a:latin typeface="Consolas"/>
              </a:rPr>
              <a:t>, AVG(hind) AS </a:t>
            </a:r>
            <a:r>
              <a:rPr sz="1700" b="0" dirty="0" err="1">
                <a:solidFill>
                  <a:srgbClr val="E2E8F0"/>
                </a:solidFill>
                <a:latin typeface="Consolas"/>
              </a:rPr>
              <a:t>keskmine_hind</a:t>
            </a:r>
            <a:endParaRPr sz="17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700" b="0" dirty="0">
                <a:solidFill>
                  <a:srgbClr val="E2E8F0"/>
                </a:solidFill>
                <a:latin typeface="Consolas"/>
              </a:rPr>
              <a:t>FROM tooted</a:t>
            </a:r>
          </a:p>
          <a:p>
            <a:pPr>
              <a:spcAft>
                <a:spcPts val="300"/>
              </a:spcAft>
            </a:pPr>
            <a:r>
              <a:rPr sz="1700" b="0" dirty="0">
                <a:solidFill>
                  <a:schemeClr val="bg2"/>
                </a:solidFill>
                <a:latin typeface="Consolas"/>
              </a:rPr>
              <a:t>GROUP BY </a:t>
            </a:r>
            <a:r>
              <a:rPr sz="1700" b="0" dirty="0" err="1">
                <a:solidFill>
                  <a:schemeClr val="bg2"/>
                </a:solidFill>
                <a:latin typeface="Consolas"/>
              </a:rPr>
              <a:t>kategooria</a:t>
            </a:r>
            <a:r>
              <a:rPr sz="1700" b="0" dirty="0">
                <a:solidFill>
                  <a:schemeClr val="bg2"/>
                </a:solidFill>
                <a:latin typeface="Consolas"/>
              </a:rPr>
              <a:t>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291840"/>
            <a:ext cx="1143000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3291840"/>
            <a:ext cx="91440" cy="2926080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" y="340156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03E"/>
                </a:solidFill>
                <a:latin typeface="Calibri"/>
              </a:rPr>
              <a:t>Reegel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767328"/>
            <a:ext cx="11018520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SELECT-is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tohib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olla: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rühma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võti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(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kategooria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) ja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agregaadid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(AVG, COUNT …).</a:t>
            </a: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334155"/>
                </a:solidFill>
                <a:latin typeface="Calibri"/>
              </a:rPr>
              <a:t>nimetus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ei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tohi olla SELECT-is,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kui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seda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pole GROUP BY-s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ja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vastupidi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—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muidu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viga.</a:t>
            </a:r>
            <a:endParaRPr lang="en-GB" sz="15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endParaRPr sz="15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2000" b="0" dirty="0" err="1">
                <a:solidFill>
                  <a:srgbClr val="FF0000"/>
                </a:solidFill>
                <a:latin typeface="Calibri"/>
              </a:rPr>
              <a:t>Näita</a:t>
            </a:r>
            <a:r>
              <a:rPr sz="2000" b="0" dirty="0">
                <a:solidFill>
                  <a:srgbClr val="FF0000"/>
                </a:solidFill>
                <a:latin typeface="Calibri"/>
              </a:rPr>
              <a:t> viga: </a:t>
            </a:r>
            <a:endParaRPr lang="en-GB" sz="2000" b="0" dirty="0">
              <a:solidFill>
                <a:srgbClr val="FF0000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2000" b="0" dirty="0">
                <a:solidFill>
                  <a:srgbClr val="FF0000"/>
                </a:solidFill>
                <a:latin typeface="Calibri"/>
              </a:rPr>
              <a:t>SELECT </a:t>
            </a:r>
            <a:r>
              <a:rPr sz="2000" b="0" dirty="0" err="1">
                <a:solidFill>
                  <a:srgbClr val="FF0000"/>
                </a:solidFill>
                <a:latin typeface="Calibri"/>
              </a:rPr>
              <a:t>nimetus</a:t>
            </a:r>
            <a:r>
              <a:rPr sz="2000" b="0" dirty="0">
                <a:solidFill>
                  <a:srgbClr val="FF0000"/>
                </a:solidFill>
                <a:latin typeface="Calibri"/>
              </a:rPr>
              <a:t>, AVG(hind) GROUP BY </a:t>
            </a:r>
            <a:r>
              <a:rPr sz="2000" b="0" dirty="0" err="1">
                <a:solidFill>
                  <a:srgbClr val="FF0000"/>
                </a:solidFill>
                <a:latin typeface="Calibri"/>
              </a:rPr>
              <a:t>kategooria</a:t>
            </a:r>
            <a:r>
              <a:rPr sz="2000" b="0" dirty="0">
                <a:solidFill>
                  <a:srgbClr val="FF0000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dirty="0" err="1">
                <a:solidFill>
                  <a:srgbClr val="FFFFFF"/>
                </a:solidFill>
                <a:latin typeface="Calibri"/>
              </a:rPr>
              <a:t>Näide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: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kliendid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linnade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kaupa</a:t>
            </a:r>
            <a:r>
              <a:rPr lang="en-GB"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2400" b="1" dirty="0">
                <a:solidFill>
                  <a:srgbClr val="92D050"/>
                </a:solidFill>
              </a:rPr>
              <a:t>NÄITAN </a:t>
            </a:r>
            <a:endParaRPr sz="2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097280"/>
            <a:ext cx="11430000" cy="2286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1207007"/>
            <a:ext cx="11100816" cy="208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0" dirty="0">
                <a:solidFill>
                  <a:srgbClr val="E2E8F0"/>
                </a:solidFill>
                <a:latin typeface="Consolas"/>
              </a:rPr>
              <a:t>SELECT linn, COUNT(*) AS </a:t>
            </a:r>
            <a:r>
              <a:rPr sz="1600" b="0" dirty="0" err="1">
                <a:solidFill>
                  <a:srgbClr val="E2E8F0"/>
                </a:solidFill>
                <a:latin typeface="Consolas"/>
              </a:rPr>
              <a:t>klientide_arv</a:t>
            </a:r>
            <a:endParaRPr sz="16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600" b="0" dirty="0">
                <a:solidFill>
                  <a:srgbClr val="E2E8F0"/>
                </a:solidFill>
                <a:latin typeface="Consolas"/>
              </a:rPr>
              <a:t>FROM </a:t>
            </a:r>
            <a:r>
              <a:rPr sz="1600" b="0" dirty="0" err="1">
                <a:solidFill>
                  <a:srgbClr val="E2E8F0"/>
                </a:solidFill>
                <a:latin typeface="Consolas"/>
              </a:rPr>
              <a:t>kliendid</a:t>
            </a:r>
            <a:endParaRPr sz="16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600" b="0" dirty="0">
                <a:solidFill>
                  <a:srgbClr val="E2E8F0"/>
                </a:solidFill>
                <a:latin typeface="Consolas"/>
              </a:rPr>
              <a:t>GROUP BY linn</a:t>
            </a:r>
          </a:p>
          <a:p>
            <a:pPr>
              <a:spcAft>
                <a:spcPts val="300"/>
              </a:spcAft>
            </a:pPr>
            <a:r>
              <a:rPr sz="1600" b="0" dirty="0">
                <a:solidFill>
                  <a:srgbClr val="E2E8F0"/>
                </a:solidFill>
                <a:latin typeface="Consolas"/>
              </a:rPr>
              <a:t>ORDER BY </a:t>
            </a:r>
            <a:r>
              <a:rPr sz="1600" b="0" dirty="0" err="1">
                <a:solidFill>
                  <a:srgbClr val="E2E8F0"/>
                </a:solidFill>
                <a:latin typeface="Consolas"/>
              </a:rPr>
              <a:t>klientide_arv</a:t>
            </a:r>
            <a:r>
              <a:rPr sz="1600" b="0" dirty="0">
                <a:solidFill>
                  <a:srgbClr val="E2E8F0"/>
                </a:solidFill>
                <a:latin typeface="Consolas"/>
              </a:rPr>
              <a:t> DESC;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57600"/>
            <a:ext cx="11247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 dirty="0">
                <a:solidFill>
                  <a:srgbClr val="334155"/>
                </a:solidFill>
                <a:latin typeface="Calibri"/>
              </a:rPr>
              <a:t>•  Iga linn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saab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ühe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rea. Tallinn on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eesotsas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900"/>
              </a:spcAft>
            </a:pPr>
            <a:r>
              <a:rPr sz="1700" b="0" dirty="0">
                <a:solidFill>
                  <a:srgbClr val="334155"/>
                </a:solidFill>
                <a:latin typeface="Calibri"/>
              </a:rPr>
              <a:t>• 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Aliast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klientide_arv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võib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ORDER BY-s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kasutada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900"/>
              </a:spcAft>
            </a:pPr>
            <a:r>
              <a:rPr sz="1700" b="0" dirty="0">
                <a:solidFill>
                  <a:srgbClr val="334155"/>
                </a:solidFill>
                <a:latin typeface="Calibri"/>
              </a:rPr>
              <a:t>•  Sama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loogika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: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tellimused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makseviisi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kaupa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 err="1">
                <a:solidFill>
                  <a:srgbClr val="FFFFFF"/>
                </a:solidFill>
                <a:latin typeface="Calibri"/>
              </a:rPr>
              <a:t>Harjutus</a:t>
            </a:r>
            <a:r>
              <a:rPr lang="en-GB" sz="2400" b="1" dirty="0">
                <a:solidFill>
                  <a:srgbClr val="FFFFFF"/>
                </a:solidFill>
                <a:latin typeface="Calibri"/>
              </a:rPr>
              <a:t> 2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—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proovi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alibri"/>
              </a:rPr>
              <a:t>ISE</a:t>
            </a:r>
            <a:endParaRPr sz="24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042415"/>
            <a:ext cx="3840480" cy="292608"/>
          </a:xfrm>
          <a:prstGeom prst="roundRect">
            <a:avLst>
              <a:gd name="adj" fmla="val 8000"/>
            </a:avLst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042415"/>
            <a:ext cx="3840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Tase 1 kõigile  ·  tase 2 kui valmis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691640"/>
            <a:ext cx="5669280" cy="4617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1691640"/>
            <a:ext cx="5669280" cy="50292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1691640"/>
            <a:ext cx="5669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Tase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286000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1.  Arvuta toodete keskmine hind tootekategooriate lõikes.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2.  Leia toodete arv kategooriate lõikes.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3.  Leia odavaim ja kalleim hind igas kategoorias.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4.  Kuva tellimuste arv tarneviiside lõikes.</a:t>
            </a:r>
            <a:endParaRPr sz="1500" b="0" dirty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63640" y="1691640"/>
            <a:ext cx="5532120" cy="4617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691640"/>
            <a:ext cx="5532120" cy="5029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1691640"/>
            <a:ext cx="5532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Tase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286000"/>
            <a:ext cx="5166359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1.  Leia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klientide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arv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linnade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lõikes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suuremast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väiksemani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12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2.  Kuva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tellimuste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arv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makseviiside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lõikes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suuremad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ees.</a:t>
            </a:r>
          </a:p>
          <a:p>
            <a:pPr>
              <a:spcAft>
                <a:spcPts val="12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3.  Kuva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tellimuste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arv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staatuse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lõikes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suuremad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ees.</a:t>
            </a:r>
          </a:p>
          <a:p>
            <a:pPr>
              <a:spcAft>
                <a:spcPts val="12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4.  Leia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iga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makseviis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i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kohta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tellimuste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arv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ja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kõige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varasem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kuupäev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suuremad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ees.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9EF109-E1C4-CBA3-5332-8D6183863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1" y="4000500"/>
            <a:ext cx="1986373" cy="13242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D6B515-AC88-95D8-F626-70550F40EC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94" y="3947059"/>
            <a:ext cx="1918924" cy="137768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D0F2A09-765B-0053-1D7F-EB23BFC925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808" y="5422900"/>
            <a:ext cx="2613931" cy="14351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2784E76-94B5-0B65-038F-853095981F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2862" y="5490856"/>
            <a:ext cx="2886478" cy="121937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Lahendused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024128"/>
            <a:ext cx="1325880" cy="292608"/>
          </a:xfrm>
          <a:prstGeom prst="roundRect">
            <a:avLst>
              <a:gd name="adj" fmla="val 8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325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280160"/>
            <a:ext cx="11430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03E"/>
                </a:solidFill>
                <a:latin typeface="Calibri"/>
              </a:rPr>
              <a:t>1.  Arvuta toodete keskmine hind tootekategooriate lõikes.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847" y="1536192"/>
            <a:ext cx="11430000" cy="10058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" y="1563624"/>
            <a:ext cx="1110081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SELECT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kategooria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, AVG(hind) AS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keskmine_hind</a:t>
            </a:r>
            <a:endParaRPr sz="10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FROM tooted</a:t>
            </a: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GROUP BY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kategooria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560320"/>
            <a:ext cx="11430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03E"/>
                </a:solidFill>
                <a:latin typeface="Calibri"/>
              </a:rPr>
              <a:t>2.  Leia toodete arv kategooriate lõikes.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798064"/>
            <a:ext cx="11430000" cy="10058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" y="2843784"/>
            <a:ext cx="1110081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SELECT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kategooria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, COUNT(*) AS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toodete_arv</a:t>
            </a:r>
            <a:endParaRPr sz="10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FROM tooted</a:t>
            </a: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GROUP BY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kategooria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840480"/>
            <a:ext cx="11430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03E"/>
                </a:solidFill>
                <a:latin typeface="Calibri"/>
              </a:rPr>
              <a:t>3.  Leia odavaim ja kalleim hind igas kategoorias.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114800"/>
            <a:ext cx="11430000" cy="10058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4123944"/>
            <a:ext cx="1110081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SELECT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kategooria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, MIN(hind) AS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odavaim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, MAX(hind) AS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kalleim</a:t>
            </a:r>
            <a:endParaRPr sz="10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FROM tooted</a:t>
            </a: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GROUP BY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kategooria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;</a:t>
            </a:r>
          </a:p>
        </p:txBody>
      </p:sp>
      <p:sp>
        <p:nvSpPr>
          <p:cNvPr id="20" name="TextBox 16 copy 20"/>
          <p:cNvSpPr txBox="1"/>
          <p:nvPr/>
        </p:nvSpPr>
        <p:spPr>
          <a:xfrm>
            <a:off x="365760" y="5120640"/>
            <a:ext cx="11430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34155"/>
                </a:solidFill>
                <a:latin typeface="Calibri"/>
              </a:rPr>
              <a:t>4.  Kuva tellimuste arv tarneviiside lõikes.</a:t>
            </a:r>
          </a:p>
        </p:txBody>
      </p:sp>
      <p:sp>
        <p:nvSpPr>
          <p:cNvPr id="21" name="Rounded Rectangle 17 copy 21"/>
          <p:cNvSpPr/>
          <p:nvPr/>
        </p:nvSpPr>
        <p:spPr>
          <a:xfrm>
            <a:off x="365760" y="5394960"/>
            <a:ext cx="11430000" cy="850392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18 copy 22"/>
          <p:cNvSpPr txBox="1"/>
          <p:nvPr/>
        </p:nvSpPr>
        <p:spPr>
          <a:xfrm>
            <a:off x="530352" y="5404104"/>
            <a:ext cx="1110081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SELECT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tarneviis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, COUNT(*) AS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tellimuste_arv</a:t>
            </a:r>
            <a:endParaRPr sz="1000" b="0" dirty="0">
              <a:solidFill>
                <a:srgbClr val="E2E8F0"/>
              </a:solidFill>
              <a:latin typeface="Consolas"/>
            </a:endParaRPr>
          </a:p>
          <a:p>
            <a:r>
              <a:rPr sz="1000" b="0" dirty="0">
                <a:solidFill>
                  <a:srgbClr val="E2E8F0"/>
                </a:solidFill>
                <a:latin typeface="Consolas"/>
              </a:rPr>
              <a:t>FROM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tellimused</a:t>
            </a:r>
            <a:endParaRPr sz="1000" b="0" dirty="0">
              <a:solidFill>
                <a:srgbClr val="E2E8F0"/>
              </a:solidFill>
              <a:latin typeface="Consolas"/>
            </a:endParaRPr>
          </a:p>
          <a:p>
            <a:r>
              <a:rPr sz="1000" b="0" dirty="0">
                <a:solidFill>
                  <a:srgbClr val="E2E8F0"/>
                </a:solidFill>
                <a:latin typeface="Consolas"/>
              </a:rPr>
              <a:t>GROUP BY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tarneviis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Lahendused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024128"/>
            <a:ext cx="1325880" cy="292608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325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280160"/>
            <a:ext cx="11430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03E"/>
                </a:solidFill>
                <a:latin typeface="Calibri"/>
              </a:rPr>
              <a:t>1.  Leia klientide arv linnade lõikes, suuremast väiksemani.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481328"/>
            <a:ext cx="11430000" cy="10058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" y="1563624"/>
            <a:ext cx="1110081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SELECT linn, COUNT(*) AS klientide_arv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FROM kliendid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GROUP BY linn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ORDER BY klientide_arv DESC;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560320"/>
            <a:ext cx="11430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03E"/>
                </a:solidFill>
                <a:latin typeface="Calibri"/>
              </a:rPr>
              <a:t>2.  Kuva tellimuste arv makseviiside lõikes, suuremad ees.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761488"/>
            <a:ext cx="11430000" cy="10058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" y="2843784"/>
            <a:ext cx="1110081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SELECT makseviis, COUNT(*) AS tellimuste_arv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FROM tellimused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GROUP BY makseviis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ORDER BY tellimuste_arv DESC;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840480"/>
            <a:ext cx="11430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03E"/>
                </a:solidFill>
                <a:latin typeface="Calibri"/>
              </a:rPr>
              <a:t>3.  Kuva tellimuste arv staatuse lõikes, suuremad ees.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041648"/>
            <a:ext cx="11430000" cy="10058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4123944"/>
            <a:ext cx="1110081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SELECT staatus, COUNT(*) AS tellimuste_arv</a:t>
            </a:r>
          </a:p>
          <a:p>
            <a:r>
              <a:rPr sz="1000" b="0">
                <a:solidFill>
                  <a:srgbClr val="E2E8F0"/>
                </a:solidFill>
                <a:latin typeface="Consolas"/>
              </a:rPr>
              <a:t>FROM tellimused</a:t>
            </a:r>
          </a:p>
          <a:p>
            <a:r>
              <a:rPr sz="1000" b="0">
                <a:solidFill>
                  <a:srgbClr val="E2E8F0"/>
                </a:solidFill>
                <a:latin typeface="Consolas"/>
              </a:rPr>
              <a:t>GROUP BY staatus</a:t>
            </a:r>
          </a:p>
          <a:p>
            <a:r>
              <a:rPr sz="1000" b="0">
                <a:solidFill>
                  <a:srgbClr val="E2E8F0"/>
                </a:solidFill>
                <a:latin typeface="Consolas"/>
              </a:rPr>
              <a:t>ORDER BY tellimuste_arv DESC;</a:t>
            </a:r>
          </a:p>
        </p:txBody>
      </p:sp>
      <p:sp>
        <p:nvSpPr>
          <p:cNvPr id="20" name="TextBox 16 copy 20"/>
          <p:cNvSpPr txBox="1"/>
          <p:nvPr/>
        </p:nvSpPr>
        <p:spPr>
          <a:xfrm>
            <a:off x="365760" y="5120640"/>
            <a:ext cx="11430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34155"/>
                </a:solidFill>
                <a:latin typeface="Calibri"/>
              </a:rPr>
              <a:t>4.  Leia iga makseviis kohta tellimuste arv ja kõige varasem kuupäev, suuremad ees.</a:t>
            </a:r>
          </a:p>
        </p:txBody>
      </p:sp>
      <p:sp>
        <p:nvSpPr>
          <p:cNvPr id="21" name="Rounded Rectangle 17 copy 21"/>
          <p:cNvSpPr/>
          <p:nvPr/>
        </p:nvSpPr>
        <p:spPr>
          <a:xfrm>
            <a:off x="365760" y="5321808"/>
            <a:ext cx="11430000" cy="10058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18 copy 22"/>
          <p:cNvSpPr txBox="1"/>
          <p:nvPr/>
        </p:nvSpPr>
        <p:spPr>
          <a:xfrm>
            <a:off x="530352" y="5404104"/>
            <a:ext cx="11100816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SELECT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makseviis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,</a:t>
            </a:r>
          </a:p>
          <a:p>
            <a:r>
              <a:rPr sz="1000" b="0" dirty="0">
                <a:solidFill>
                  <a:srgbClr val="E2E8F0"/>
                </a:solidFill>
                <a:latin typeface="Consolas"/>
              </a:rPr>
              <a:t>       COUNT(*) AS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tellimuste_arv,MIN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(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kuupäev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) AS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esimene</a:t>
            </a:r>
            <a:endParaRPr sz="1000" b="0" dirty="0">
              <a:solidFill>
                <a:srgbClr val="E2E8F0"/>
              </a:solidFill>
              <a:latin typeface="Consolas"/>
            </a:endParaRPr>
          </a:p>
          <a:p>
            <a:r>
              <a:rPr sz="1000" b="0" dirty="0">
                <a:solidFill>
                  <a:srgbClr val="E2E8F0"/>
                </a:solidFill>
                <a:latin typeface="Consolas"/>
              </a:rPr>
              <a:t>FROM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tellimused</a:t>
            </a:r>
            <a:endParaRPr sz="1000" b="0" dirty="0">
              <a:solidFill>
                <a:srgbClr val="E2E8F0"/>
              </a:solidFill>
              <a:latin typeface="Consolas"/>
            </a:endParaRPr>
          </a:p>
          <a:p>
            <a:r>
              <a:rPr sz="1000" b="0" dirty="0">
                <a:solidFill>
                  <a:srgbClr val="E2E8F0"/>
                </a:solidFill>
                <a:latin typeface="Consolas"/>
              </a:rPr>
              <a:t>GROUP BY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makseviis</a:t>
            </a:r>
            <a:endParaRPr sz="1000" b="0" dirty="0">
              <a:solidFill>
                <a:srgbClr val="E2E8F0"/>
              </a:solidFill>
              <a:latin typeface="Consolas"/>
            </a:endParaRPr>
          </a:p>
          <a:p>
            <a:r>
              <a:rPr sz="1000" b="0" dirty="0">
                <a:solidFill>
                  <a:srgbClr val="E2E8F0"/>
                </a:solidFill>
                <a:latin typeface="Consolas"/>
              </a:rPr>
              <a:t>ORDER BY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tellimuste_arv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 DESC;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972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C49526"/>
                </a:solidFill>
                <a:latin typeface="Calibri"/>
              </a:rPr>
              <a:t>PLOKK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dirty="0">
                <a:solidFill>
                  <a:srgbClr val="FFFFFF"/>
                </a:solidFill>
                <a:latin typeface="Calibri"/>
              </a:rPr>
              <a:t>HAVING</a:t>
            </a:r>
            <a:r>
              <a:rPr lang="en-GB" sz="3400" b="1" dirty="0">
                <a:solidFill>
                  <a:srgbClr val="FFFFFF"/>
                </a:solidFill>
                <a:latin typeface="Calibri"/>
              </a:rPr>
              <a:t> – </a:t>
            </a:r>
            <a:r>
              <a:rPr lang="en-GB" sz="3400" b="1" dirty="0" err="1">
                <a:solidFill>
                  <a:srgbClr val="FFFFFF"/>
                </a:solidFill>
                <a:latin typeface="Calibri"/>
              </a:rPr>
              <a:t>filtreerimine</a:t>
            </a:r>
            <a:r>
              <a:rPr lang="en-GB" sz="3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3400" b="1" dirty="0" err="1">
                <a:solidFill>
                  <a:srgbClr val="FFFFFF"/>
                </a:solidFill>
                <a:latin typeface="Calibri"/>
              </a:rPr>
              <a:t>agregatsiooni</a:t>
            </a:r>
            <a:r>
              <a:rPr lang="en-GB" sz="3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3400" b="1" dirty="0" err="1">
                <a:solidFill>
                  <a:srgbClr val="FFFFFF"/>
                </a:solidFill>
                <a:latin typeface="Calibri"/>
              </a:rPr>
              <a:t>alusel</a:t>
            </a:r>
            <a:endParaRPr sz="3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dirty="0">
                <a:solidFill>
                  <a:srgbClr val="FFFFFF"/>
                </a:solidFill>
                <a:latin typeface="Calibri"/>
              </a:rPr>
              <a:t>HAVING — filter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pärast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rühmitamist</a:t>
            </a:r>
            <a:r>
              <a:rPr lang="en-GB"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2400" b="1" dirty="0">
                <a:solidFill>
                  <a:srgbClr val="92D050"/>
                </a:solidFill>
              </a:rPr>
              <a:t>NÄITAN </a:t>
            </a:r>
            <a:endParaRPr sz="2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097280"/>
            <a:ext cx="11430000" cy="2286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1207007"/>
            <a:ext cx="11100816" cy="208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0" dirty="0">
                <a:solidFill>
                  <a:srgbClr val="E2E8F0"/>
                </a:solidFill>
                <a:latin typeface="Consolas"/>
              </a:rPr>
              <a:t>SELECT </a:t>
            </a:r>
            <a:r>
              <a:rPr sz="1600" b="0" dirty="0" err="1">
                <a:solidFill>
                  <a:srgbClr val="E2E8F0"/>
                </a:solidFill>
                <a:latin typeface="Consolas"/>
              </a:rPr>
              <a:t>tarneviis</a:t>
            </a:r>
            <a:r>
              <a:rPr sz="1600" b="0" dirty="0">
                <a:solidFill>
                  <a:srgbClr val="E2E8F0"/>
                </a:solidFill>
                <a:latin typeface="Consolas"/>
              </a:rPr>
              <a:t>, COUNT(*) AS </a:t>
            </a:r>
            <a:r>
              <a:rPr sz="1600" b="0" dirty="0" err="1">
                <a:solidFill>
                  <a:srgbClr val="E2E8F0"/>
                </a:solidFill>
                <a:latin typeface="Consolas"/>
              </a:rPr>
              <a:t>tellimuste_arv</a:t>
            </a:r>
            <a:endParaRPr sz="16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600" b="0" dirty="0">
                <a:solidFill>
                  <a:srgbClr val="E2E8F0"/>
                </a:solidFill>
                <a:latin typeface="Consolas"/>
              </a:rPr>
              <a:t>FROM </a:t>
            </a:r>
            <a:r>
              <a:rPr sz="1600" b="0" dirty="0" err="1">
                <a:solidFill>
                  <a:srgbClr val="E2E8F0"/>
                </a:solidFill>
                <a:latin typeface="Consolas"/>
              </a:rPr>
              <a:t>tellimused</a:t>
            </a:r>
            <a:endParaRPr sz="16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600" b="0" dirty="0">
                <a:solidFill>
                  <a:srgbClr val="E2E8F0"/>
                </a:solidFill>
                <a:latin typeface="Consolas"/>
              </a:rPr>
              <a:t>GROUP BY </a:t>
            </a:r>
            <a:r>
              <a:rPr sz="1600" b="0" dirty="0" err="1">
                <a:solidFill>
                  <a:srgbClr val="E2E8F0"/>
                </a:solidFill>
                <a:latin typeface="Consolas"/>
              </a:rPr>
              <a:t>tarneviis</a:t>
            </a:r>
            <a:endParaRPr sz="16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600" b="0" dirty="0">
                <a:solidFill>
                  <a:srgbClr val="E2E8F0"/>
                </a:solidFill>
                <a:latin typeface="Consolas"/>
              </a:rPr>
              <a:t>HAVING COUNT(*) &gt; 5;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611880"/>
            <a:ext cx="566928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3611880"/>
            <a:ext cx="91440" cy="2606040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" y="3721608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03E"/>
                </a:solidFill>
                <a:latin typeface="Calibri"/>
              </a:rPr>
              <a:t>WHERE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087368"/>
            <a:ext cx="5257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334155"/>
                </a:solidFill>
                <a:latin typeface="Calibri"/>
              </a:rPr>
              <a:t>Filtreerib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algread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enne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rühmitamist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334155"/>
                </a:solidFill>
                <a:latin typeface="Calibri"/>
              </a:rPr>
              <a:t>Nt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staatus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= '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Täidetud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'.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611880"/>
            <a:ext cx="553212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63640" y="3611880"/>
            <a:ext cx="91440" cy="2606040"/>
          </a:xfrm>
          <a:prstGeom prst="rect">
            <a:avLst/>
          </a:prstGeom>
          <a:solidFill>
            <a:srgbClr val="C49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9672" y="3721608"/>
            <a:ext cx="51663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03E"/>
                </a:solidFill>
                <a:latin typeface="Calibri"/>
              </a:rPr>
              <a:t>HAVING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4087368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Filtreerib rühmi pärast koondamist.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Nt COUNT(*) &gt; 5.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dirty="0">
                <a:solidFill>
                  <a:srgbClr val="FFFFFF"/>
                </a:solidFill>
                <a:latin typeface="Calibri"/>
              </a:rPr>
              <a:t>WHERE ja HAVING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koos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— </a:t>
            </a:r>
            <a:r>
              <a:rPr lang="en-GB" sz="2400" b="1" dirty="0">
                <a:solidFill>
                  <a:srgbClr val="92D050"/>
                </a:solidFill>
              </a:rPr>
              <a:t>NÄITAN</a:t>
            </a:r>
            <a:endParaRPr sz="2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097280"/>
            <a:ext cx="11430000" cy="2139696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1207007"/>
            <a:ext cx="11100816" cy="1669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0" dirty="0">
                <a:solidFill>
                  <a:srgbClr val="E2E8F0"/>
                </a:solidFill>
                <a:latin typeface="Consolas"/>
              </a:rPr>
              <a:t>SELECT </a:t>
            </a:r>
            <a:r>
              <a:rPr sz="1500" b="0" dirty="0" err="1">
                <a:solidFill>
                  <a:srgbClr val="E2E8F0"/>
                </a:solidFill>
                <a:latin typeface="Consolas"/>
              </a:rPr>
              <a:t>makseviis</a:t>
            </a:r>
            <a:r>
              <a:rPr sz="1500" b="0" dirty="0">
                <a:solidFill>
                  <a:srgbClr val="E2E8F0"/>
                </a:solidFill>
                <a:latin typeface="Consolas"/>
              </a:rPr>
              <a:t>, COUNT(*) AS </a:t>
            </a:r>
            <a:r>
              <a:rPr sz="1500" b="0" dirty="0" err="1">
                <a:solidFill>
                  <a:srgbClr val="E2E8F0"/>
                </a:solidFill>
                <a:latin typeface="Consolas"/>
              </a:rPr>
              <a:t>tellimuste_arv</a:t>
            </a:r>
            <a:r>
              <a:rPr lang="en-GB" sz="1500" b="0" dirty="0">
                <a:solidFill>
                  <a:srgbClr val="E2E8F0"/>
                </a:solidFill>
                <a:latin typeface="Consolas"/>
              </a:rPr>
              <a:t> ---3</a:t>
            </a:r>
            <a:endParaRPr sz="15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500" b="0" dirty="0">
                <a:solidFill>
                  <a:srgbClr val="E2E8F0"/>
                </a:solidFill>
                <a:latin typeface="Consolas"/>
              </a:rPr>
              <a:t>FROM </a:t>
            </a:r>
            <a:r>
              <a:rPr sz="1500" b="0" dirty="0" err="1">
                <a:solidFill>
                  <a:srgbClr val="E2E8F0"/>
                </a:solidFill>
                <a:latin typeface="Consolas"/>
              </a:rPr>
              <a:t>tellimused</a:t>
            </a:r>
            <a:endParaRPr sz="15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500" b="0" dirty="0">
                <a:solidFill>
                  <a:srgbClr val="E2E8F0"/>
                </a:solidFill>
                <a:latin typeface="Consolas"/>
              </a:rPr>
              <a:t>WHERE </a:t>
            </a:r>
            <a:r>
              <a:rPr sz="1500" b="0" dirty="0" err="1">
                <a:solidFill>
                  <a:srgbClr val="E2E8F0"/>
                </a:solidFill>
                <a:latin typeface="Consolas"/>
              </a:rPr>
              <a:t>staatus</a:t>
            </a:r>
            <a:r>
              <a:rPr sz="1500" b="0" dirty="0">
                <a:solidFill>
                  <a:srgbClr val="E2E8F0"/>
                </a:solidFill>
                <a:latin typeface="Consolas"/>
              </a:rPr>
              <a:t> = '</a:t>
            </a:r>
            <a:r>
              <a:rPr sz="1500" b="0" dirty="0" err="1">
                <a:solidFill>
                  <a:srgbClr val="E2E8F0"/>
                </a:solidFill>
                <a:latin typeface="Consolas"/>
              </a:rPr>
              <a:t>Täidetud</a:t>
            </a:r>
            <a:r>
              <a:rPr sz="1500" b="0" dirty="0">
                <a:solidFill>
                  <a:srgbClr val="E2E8F0"/>
                </a:solidFill>
                <a:latin typeface="Consolas"/>
              </a:rPr>
              <a:t>’</a:t>
            </a:r>
            <a:r>
              <a:rPr lang="en-GB" sz="1500" b="0" dirty="0">
                <a:solidFill>
                  <a:srgbClr val="E2E8F0"/>
                </a:solidFill>
                <a:latin typeface="Consolas"/>
              </a:rPr>
              <a:t>  ----1</a:t>
            </a:r>
            <a:endParaRPr sz="15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500" b="0" dirty="0">
                <a:solidFill>
                  <a:srgbClr val="E2E8F0"/>
                </a:solidFill>
                <a:latin typeface="Consolas"/>
              </a:rPr>
              <a:t>GROUP BY </a:t>
            </a:r>
            <a:r>
              <a:rPr sz="1500" b="0" dirty="0" err="1">
                <a:solidFill>
                  <a:srgbClr val="E2E8F0"/>
                </a:solidFill>
                <a:latin typeface="Consolas"/>
              </a:rPr>
              <a:t>makseviis</a:t>
            </a:r>
            <a:r>
              <a:rPr lang="en-GB" sz="1500" b="0" dirty="0">
                <a:solidFill>
                  <a:srgbClr val="E2E8F0"/>
                </a:solidFill>
                <a:latin typeface="Consolas"/>
              </a:rPr>
              <a:t> ---2  </a:t>
            </a:r>
            <a:endParaRPr sz="15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500" b="0" dirty="0">
                <a:solidFill>
                  <a:srgbClr val="E2E8F0"/>
                </a:solidFill>
                <a:latin typeface="Consolas"/>
              </a:rPr>
              <a:t>HAVING COUNT(*) &gt;= 3</a:t>
            </a:r>
            <a:r>
              <a:rPr lang="en-GB" sz="1500" b="0" dirty="0">
                <a:solidFill>
                  <a:srgbClr val="E2E8F0"/>
                </a:solidFill>
                <a:latin typeface="Consolas"/>
              </a:rPr>
              <a:t> ---3</a:t>
            </a:r>
            <a:endParaRPr sz="15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500" b="0" dirty="0">
                <a:solidFill>
                  <a:srgbClr val="E2E8F0"/>
                </a:solidFill>
                <a:latin typeface="Consolas"/>
              </a:rPr>
              <a:t>ORDER BY </a:t>
            </a:r>
            <a:r>
              <a:rPr sz="1500" b="0" dirty="0" err="1">
                <a:solidFill>
                  <a:srgbClr val="E2E8F0"/>
                </a:solidFill>
                <a:latin typeface="Consolas"/>
              </a:rPr>
              <a:t>tellimuste_arv</a:t>
            </a:r>
            <a:r>
              <a:rPr sz="1500" b="0" dirty="0">
                <a:solidFill>
                  <a:srgbClr val="E2E8F0"/>
                </a:solidFill>
                <a:latin typeface="Consolas"/>
              </a:rPr>
              <a:t> DESC;</a:t>
            </a:r>
            <a:r>
              <a:rPr lang="en-GB" sz="1500" b="0" dirty="0">
                <a:solidFill>
                  <a:srgbClr val="E2E8F0"/>
                </a:solidFill>
                <a:latin typeface="Consolas"/>
              </a:rPr>
              <a:t> ---4</a:t>
            </a:r>
            <a:endParaRPr sz="1500" b="0" dirty="0">
              <a:solidFill>
                <a:srgbClr val="E2E8F0"/>
              </a:solidFill>
              <a:latin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3977639"/>
            <a:ext cx="11247120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 err="1">
                <a:solidFill>
                  <a:srgbClr val="334155"/>
                </a:solidFill>
                <a:latin typeface="Calibri"/>
              </a:rPr>
              <a:t>Kõigepealt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visatakse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ootel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/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tühistatud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välja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siis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rühmitatakse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siis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HAVING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jätab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alles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rühmad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.
</a:t>
            </a:r>
            <a:r>
              <a:rPr b="0" dirty="0">
                <a:solidFill>
                  <a:srgbClr val="FF0000"/>
                </a:solidFill>
                <a:latin typeface="Calibri"/>
              </a:rPr>
              <a:t>Koos: </a:t>
            </a:r>
            <a:r>
              <a:rPr b="0" dirty="0" err="1">
                <a:solidFill>
                  <a:srgbClr val="FF0000"/>
                </a:solidFill>
                <a:latin typeface="Calibri"/>
              </a:rPr>
              <a:t>kategooriad</a:t>
            </a:r>
            <a:r>
              <a:rPr b="0" dirty="0">
                <a:solidFill>
                  <a:srgbClr val="FF0000"/>
                </a:solidFill>
                <a:latin typeface="Calibri"/>
              </a:rPr>
              <a:t>, </a:t>
            </a:r>
            <a:r>
              <a:rPr b="0" dirty="0" err="1">
                <a:solidFill>
                  <a:srgbClr val="FF0000"/>
                </a:solidFill>
                <a:latin typeface="Calibri"/>
              </a:rPr>
              <a:t>kus</a:t>
            </a:r>
            <a:r>
              <a:rPr b="0" dirty="0">
                <a:solidFill>
                  <a:srgbClr val="FF0000"/>
                </a:solidFill>
                <a:latin typeface="Calibri"/>
              </a:rPr>
              <a:t> on </a:t>
            </a:r>
            <a:r>
              <a:rPr b="0" dirty="0" err="1">
                <a:solidFill>
                  <a:srgbClr val="FF0000"/>
                </a:solidFill>
                <a:latin typeface="Calibri"/>
              </a:rPr>
              <a:t>rohkem</a:t>
            </a:r>
            <a:r>
              <a:rPr b="0" dirty="0">
                <a:solidFill>
                  <a:srgbClr val="FF0000"/>
                </a:solidFill>
                <a:latin typeface="Calibri"/>
              </a:rPr>
              <a:t> </a:t>
            </a:r>
            <a:r>
              <a:rPr b="0" dirty="0" err="1">
                <a:solidFill>
                  <a:srgbClr val="FF0000"/>
                </a:solidFill>
                <a:latin typeface="Calibri"/>
              </a:rPr>
              <a:t>kui</a:t>
            </a:r>
            <a:r>
              <a:rPr b="0" dirty="0">
                <a:solidFill>
                  <a:srgbClr val="FF0000"/>
                </a:solidFill>
                <a:latin typeface="Calibri"/>
              </a:rPr>
              <a:t> 3 </a:t>
            </a:r>
            <a:r>
              <a:rPr b="0" dirty="0" err="1">
                <a:solidFill>
                  <a:srgbClr val="FF0000"/>
                </a:solidFill>
                <a:latin typeface="Calibri"/>
              </a:rPr>
              <a:t>toodet</a:t>
            </a:r>
            <a:r>
              <a:rPr b="0" dirty="0">
                <a:solidFill>
                  <a:srgbClr val="FF0000"/>
                </a:solidFill>
                <a:latin typeface="Calibri"/>
              </a:rPr>
              <a:t>.</a:t>
            </a:r>
            <a:endParaRPr sz="1600" b="0" dirty="0">
              <a:solidFill>
                <a:srgbClr val="FF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77302"/>
            <a:ext cx="114300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 err="1">
                <a:solidFill>
                  <a:srgbClr val="FFFFFF"/>
                </a:solidFill>
                <a:latin typeface="Calibri"/>
              </a:rPr>
              <a:t>Harjutus</a:t>
            </a:r>
            <a:r>
              <a:rPr lang="en-GB" sz="2400" b="1" dirty="0">
                <a:solidFill>
                  <a:srgbClr val="FFFFFF"/>
                </a:solidFill>
                <a:latin typeface="Calibri"/>
              </a:rPr>
              <a:t> 3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—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proovi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2800" b="1" dirty="0">
                <a:solidFill>
                  <a:srgbClr val="FF0000"/>
                </a:solidFill>
                <a:latin typeface="Calibri"/>
              </a:rPr>
              <a:t>ISE</a:t>
            </a:r>
            <a:endParaRPr sz="24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042415"/>
            <a:ext cx="3840480" cy="292608"/>
          </a:xfrm>
          <a:prstGeom prst="roundRect">
            <a:avLst>
              <a:gd name="adj" fmla="val 8000"/>
            </a:avLst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042415"/>
            <a:ext cx="3840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Tase 1 kõigile  ·  tase 2 kui valmis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691640"/>
            <a:ext cx="5669280" cy="4617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1691640"/>
            <a:ext cx="5669280" cy="50292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1691640"/>
            <a:ext cx="5669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Tase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286000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1.  Leia tarneviisid, mida on kasutatud rohkem kui 5 korda.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2.  Leia tootekategooriad, kus on rohkem kui 3 toodet.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3.  Leia linnad, kus on rohkem kui 4 klienti.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4.  Leia kategooriad, kus kalleim toode on üle 800 €.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691640"/>
            <a:ext cx="5532120" cy="4617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691640"/>
            <a:ext cx="5532120" cy="5029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1691640"/>
            <a:ext cx="5532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Tase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286000"/>
            <a:ext cx="5166359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1. 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Ainult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täidetud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tellimused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: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makseviisid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millel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on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vähemalt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3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täidetud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tellimust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suuremad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ees.</a:t>
            </a:r>
          </a:p>
          <a:p>
            <a:pPr>
              <a:spcAft>
                <a:spcPts val="12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2.  Leia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kategooriad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mille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keskmine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hind on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üle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200 €.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Ümarda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täisarvuks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.</a:t>
            </a:r>
            <a:endParaRPr sz="15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endParaRPr lang="en-GB" sz="15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endParaRPr lang="en-GB" sz="15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3. 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Ainult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täidetud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: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tarneviisid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mida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on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kasutatud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rohkem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kui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3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korda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.</a:t>
            </a:r>
            <a:endParaRPr lang="en-GB" sz="15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endParaRPr lang="en-GB" sz="15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4. 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Kliendid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alates 2025-06-01: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linnad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kus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on </a:t>
            </a:r>
            <a:br>
              <a:rPr lang="en-GB" sz="1500" b="0" dirty="0">
                <a:solidFill>
                  <a:srgbClr val="334155"/>
                </a:solidFill>
                <a:latin typeface="Calibri"/>
              </a:rPr>
            </a:br>
            <a:r>
              <a:rPr sz="1500" b="0" dirty="0" err="1">
                <a:solidFill>
                  <a:srgbClr val="334155"/>
                </a:solidFill>
                <a:latin typeface="Calibri"/>
              </a:rPr>
              <a:t>vähemalt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2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sellist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klienti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suuremad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ees.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40A2EC-FEC4-54F8-D38E-3C69BACF57FF}"/>
              </a:ext>
            </a:extLst>
          </p:cNvPr>
          <p:cNvSpPr txBox="1"/>
          <p:nvPr/>
        </p:nvSpPr>
        <p:spPr>
          <a:xfrm>
            <a:off x="4700016" y="1214366"/>
            <a:ext cx="40058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lang="en-GB" sz="2000" b="1" dirty="0" err="1">
                <a:solidFill>
                  <a:srgbClr val="FF0000"/>
                </a:solidFill>
                <a:latin typeface="Calibri"/>
              </a:rPr>
              <a:t>Trepi</a:t>
            </a:r>
            <a:r>
              <a:rPr lang="en-GB" sz="2000" b="1" dirty="0">
                <a:solidFill>
                  <a:srgbClr val="FF0000"/>
                </a:solidFill>
                <a:latin typeface="Calibri"/>
              </a:rPr>
              <a:t> </a:t>
            </a:r>
            <a:r>
              <a:rPr lang="en-GB" sz="2000" b="1" dirty="0" err="1">
                <a:solidFill>
                  <a:srgbClr val="FF0000"/>
                </a:solidFill>
                <a:latin typeface="Calibri"/>
              </a:rPr>
              <a:t>ja</a:t>
            </a:r>
            <a:r>
              <a:rPr lang="en-GB" sz="2000" b="1" dirty="0">
                <a:solidFill>
                  <a:srgbClr val="FF0000"/>
                </a:solidFill>
                <a:latin typeface="Calibri"/>
              </a:rPr>
              <a:t> </a:t>
            </a:r>
            <a:r>
              <a:rPr lang="en-GB" sz="2000" b="1" dirty="0" err="1">
                <a:solidFill>
                  <a:srgbClr val="FF0000"/>
                </a:solidFill>
                <a:latin typeface="Calibri"/>
              </a:rPr>
              <a:t>kommenteeri</a:t>
            </a:r>
            <a:r>
              <a:rPr lang="en-GB" sz="2000" b="1" dirty="0">
                <a:solidFill>
                  <a:srgbClr val="FF0000"/>
                </a:solidFill>
                <a:latin typeface="Calibri"/>
              </a:rPr>
              <a:t> </a:t>
            </a:r>
            <a:r>
              <a:rPr lang="en-GB" sz="2000" b="1" dirty="0" err="1">
                <a:solidFill>
                  <a:srgbClr val="FF0000"/>
                </a:solidFill>
                <a:latin typeface="Calibri"/>
              </a:rPr>
              <a:t>kood</a:t>
            </a:r>
            <a:endParaRPr sz="2000" b="1" dirty="0">
              <a:solidFill>
                <a:srgbClr val="FF0000"/>
              </a:solidFill>
              <a:latin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3B4D4B-D643-E7EE-71E2-2EFFDF4AE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764" y="3819834"/>
            <a:ext cx="2943636" cy="102884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2977B29-EE8E-89F1-696B-7C74AF2294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9396" y="3841912"/>
            <a:ext cx="2981741" cy="67636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E4DCBAD-695D-F96A-157F-08AC6F4B3F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764" y="5217655"/>
            <a:ext cx="2438740" cy="100026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3D9C963-A352-3536-741E-89A631E4A6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5856" y="5073928"/>
            <a:ext cx="2648320" cy="100026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8CBC7B9-B5E1-0829-5BC3-ECC2ED9CDF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035" y="4944533"/>
            <a:ext cx="1356075" cy="72826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22BED9D-C954-46DB-64BF-EE8F438D89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19671" y="3213174"/>
            <a:ext cx="2181529" cy="125747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A602DF6-6ED3-FA6D-326F-BA02850C685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01200" y="1298384"/>
            <a:ext cx="1629002" cy="91452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F377439-714F-AD01-74D7-B3B3016CED5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19671" y="-13655"/>
            <a:ext cx="2072388" cy="127761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0CC8A086-7807-D246-D445-0A05A0FE4FA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55267" y="5015696"/>
            <a:ext cx="1286054" cy="1209844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C72AF8E-AAA0-7DD9-1D11-8F45CB66CF6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01200" y="3461883"/>
            <a:ext cx="3042278" cy="125747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Lahendused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024128"/>
            <a:ext cx="1325880" cy="292608"/>
          </a:xfrm>
          <a:prstGeom prst="roundRect">
            <a:avLst>
              <a:gd name="adj" fmla="val 8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325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280160"/>
            <a:ext cx="11430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03E"/>
                </a:solidFill>
                <a:latin typeface="Calibri"/>
              </a:rPr>
              <a:t>1.  Leia tarneviisid, mida on kasutatud rohkem kui 5 korda.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45336"/>
            <a:ext cx="11430000" cy="10058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" y="1563624"/>
            <a:ext cx="1110081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SELECT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tarneviis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, COUNT(*) AS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tellimuste_arv</a:t>
            </a:r>
            <a:endParaRPr sz="10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FROM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tellimused</a:t>
            </a:r>
            <a:endParaRPr sz="10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GROUP BY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tarneviis</a:t>
            </a:r>
            <a:endParaRPr sz="10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HAVING COUNT(*) &gt; 5;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560320"/>
            <a:ext cx="11430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03E"/>
                </a:solidFill>
                <a:latin typeface="Calibri"/>
              </a:rPr>
              <a:t>2.  Leia tootekategooriad, kus on rohkem kui 3 toodet.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807208"/>
            <a:ext cx="11430000" cy="10058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" y="2843784"/>
            <a:ext cx="1110081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SELECT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kategooria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, COUNT(*) AS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toodete_arv</a:t>
            </a:r>
            <a:endParaRPr sz="10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FROM tooted</a:t>
            </a: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GROUP BY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kategooria</a:t>
            </a:r>
            <a:endParaRPr sz="10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HAVING COUNT(*) &gt; 3;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840480"/>
            <a:ext cx="11430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03E"/>
                </a:solidFill>
                <a:latin typeface="Calibri"/>
              </a:rPr>
              <a:t>3.  Leia linnad, kus on rohkem kui 4 klienti.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123944"/>
            <a:ext cx="11430000" cy="10058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530352" y="4123944"/>
            <a:ext cx="1110081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SELECT linn, COUNT(*) AS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klientide_arv</a:t>
            </a:r>
            <a:endParaRPr sz="10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FROM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kliendid</a:t>
            </a:r>
            <a:endParaRPr sz="10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GROUP BY linn</a:t>
            </a: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HAVING COUNT(*) &gt; 4;</a:t>
            </a:r>
          </a:p>
        </p:txBody>
      </p:sp>
      <p:sp>
        <p:nvSpPr>
          <p:cNvPr id="20" name="TextBox 16 copy 20"/>
          <p:cNvSpPr txBox="1"/>
          <p:nvPr/>
        </p:nvSpPr>
        <p:spPr>
          <a:xfrm>
            <a:off x="365760" y="5120640"/>
            <a:ext cx="11430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34155"/>
                </a:solidFill>
                <a:latin typeface="Calibri"/>
              </a:rPr>
              <a:t>4.  Leia kategooriad, kus kalleim toode on üle 800 €.</a:t>
            </a:r>
          </a:p>
        </p:txBody>
      </p:sp>
      <p:sp>
        <p:nvSpPr>
          <p:cNvPr id="21" name="Rounded Rectangle 17 copy 21"/>
          <p:cNvSpPr/>
          <p:nvPr/>
        </p:nvSpPr>
        <p:spPr>
          <a:xfrm>
            <a:off x="365760" y="5404104"/>
            <a:ext cx="11430000" cy="841248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18 copy 22"/>
          <p:cNvSpPr txBox="1"/>
          <p:nvPr/>
        </p:nvSpPr>
        <p:spPr>
          <a:xfrm>
            <a:off x="530352" y="5404104"/>
            <a:ext cx="1110081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SELECT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kategooria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, MAX(hind) AS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kalleim</a:t>
            </a:r>
            <a:endParaRPr sz="1000" b="0" dirty="0">
              <a:solidFill>
                <a:srgbClr val="E2E8F0"/>
              </a:solidFill>
              <a:latin typeface="Consolas"/>
            </a:endParaRPr>
          </a:p>
          <a:p>
            <a:r>
              <a:rPr sz="1000" b="0" dirty="0">
                <a:solidFill>
                  <a:srgbClr val="E2E8F0"/>
                </a:solidFill>
                <a:latin typeface="Consolas"/>
              </a:rPr>
              <a:t>FROM tooted</a:t>
            </a:r>
          </a:p>
          <a:p>
            <a:r>
              <a:rPr sz="1000" b="0" dirty="0">
                <a:solidFill>
                  <a:srgbClr val="E2E8F0"/>
                </a:solidFill>
                <a:latin typeface="Consolas"/>
              </a:rPr>
              <a:t>GROUP BY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kategooria</a:t>
            </a:r>
            <a:endParaRPr sz="1000" b="0" dirty="0">
              <a:solidFill>
                <a:srgbClr val="E2E8F0"/>
              </a:solidFill>
              <a:latin typeface="Consolas"/>
            </a:endParaRPr>
          </a:p>
          <a:p>
            <a:r>
              <a:rPr sz="1000" b="0" dirty="0">
                <a:solidFill>
                  <a:srgbClr val="E2E8F0"/>
                </a:solidFill>
                <a:latin typeface="Consolas"/>
              </a:rPr>
              <a:t>HAVING MAX(hind) &gt; 800;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Lahendused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024128"/>
            <a:ext cx="1325880" cy="292608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325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5648" y="1069848"/>
            <a:ext cx="11430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0F203E"/>
                </a:solidFill>
                <a:latin typeface="Calibri"/>
              </a:rPr>
              <a:t>1.  </a:t>
            </a:r>
            <a:r>
              <a:rPr sz="1400" b="1" dirty="0" err="1">
                <a:solidFill>
                  <a:srgbClr val="0F203E"/>
                </a:solidFill>
                <a:latin typeface="Calibri"/>
              </a:rPr>
              <a:t>Ainult</a:t>
            </a:r>
            <a:r>
              <a:rPr sz="1400" b="1" dirty="0">
                <a:solidFill>
                  <a:srgbClr val="0F203E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0F203E"/>
                </a:solidFill>
                <a:latin typeface="Calibri"/>
              </a:rPr>
              <a:t>täidetud</a:t>
            </a:r>
            <a:r>
              <a:rPr sz="1400" b="1" dirty="0">
                <a:solidFill>
                  <a:srgbClr val="0F203E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0F203E"/>
                </a:solidFill>
                <a:latin typeface="Calibri"/>
              </a:rPr>
              <a:t>tellimused</a:t>
            </a:r>
            <a:r>
              <a:rPr sz="1400" b="1" dirty="0">
                <a:solidFill>
                  <a:srgbClr val="0F203E"/>
                </a:solidFill>
                <a:latin typeface="Calibri"/>
              </a:rPr>
              <a:t>: </a:t>
            </a:r>
            <a:r>
              <a:rPr sz="1400" b="1" dirty="0" err="1">
                <a:solidFill>
                  <a:srgbClr val="0F203E"/>
                </a:solidFill>
                <a:latin typeface="Calibri"/>
              </a:rPr>
              <a:t>makseviisid</a:t>
            </a:r>
            <a:r>
              <a:rPr sz="1400" b="1" dirty="0">
                <a:solidFill>
                  <a:srgbClr val="0F203E"/>
                </a:solidFill>
                <a:latin typeface="Calibri"/>
              </a:rPr>
              <a:t>, </a:t>
            </a:r>
            <a:r>
              <a:rPr sz="1400" b="1" dirty="0" err="1">
                <a:solidFill>
                  <a:srgbClr val="0F203E"/>
                </a:solidFill>
                <a:latin typeface="Calibri"/>
              </a:rPr>
              <a:t>millel</a:t>
            </a:r>
            <a:r>
              <a:rPr sz="1400" b="1" dirty="0">
                <a:solidFill>
                  <a:srgbClr val="0F203E"/>
                </a:solidFill>
                <a:latin typeface="Calibri"/>
              </a:rPr>
              <a:t> on </a:t>
            </a:r>
            <a:r>
              <a:rPr sz="1400" b="1" dirty="0" err="1">
                <a:solidFill>
                  <a:srgbClr val="0F203E"/>
                </a:solidFill>
                <a:latin typeface="Calibri"/>
              </a:rPr>
              <a:t>vähemalt</a:t>
            </a:r>
            <a:r>
              <a:rPr sz="1400" b="1" dirty="0">
                <a:solidFill>
                  <a:srgbClr val="0F203E"/>
                </a:solidFill>
                <a:latin typeface="Calibri"/>
              </a:rPr>
              <a:t> 3 </a:t>
            </a:r>
            <a:r>
              <a:rPr sz="1400" b="1" dirty="0" err="1">
                <a:solidFill>
                  <a:srgbClr val="0F203E"/>
                </a:solidFill>
                <a:latin typeface="Calibri"/>
              </a:rPr>
              <a:t>täidetud</a:t>
            </a:r>
            <a:r>
              <a:rPr sz="1400" b="1" dirty="0">
                <a:solidFill>
                  <a:srgbClr val="0F203E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0F203E"/>
                </a:solidFill>
                <a:latin typeface="Calibri"/>
              </a:rPr>
              <a:t>tellimust</a:t>
            </a:r>
            <a:r>
              <a:rPr sz="1400" b="1" dirty="0">
                <a:solidFill>
                  <a:srgbClr val="0F203E"/>
                </a:solidFill>
                <a:latin typeface="Calibri"/>
              </a:rPr>
              <a:t>, </a:t>
            </a:r>
            <a:r>
              <a:rPr sz="1400" b="1" dirty="0" err="1">
                <a:solidFill>
                  <a:srgbClr val="0F203E"/>
                </a:solidFill>
                <a:latin typeface="Calibri"/>
              </a:rPr>
              <a:t>suuremad</a:t>
            </a:r>
            <a:r>
              <a:rPr sz="1400" b="1" dirty="0">
                <a:solidFill>
                  <a:srgbClr val="0F203E"/>
                </a:solidFill>
                <a:latin typeface="Calibri"/>
              </a:rPr>
              <a:t> ees.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353312"/>
            <a:ext cx="11430000" cy="1252728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" y="1380744"/>
            <a:ext cx="1110081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SELECT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makseviis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, COUNT(*) AS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tellimuste_arv</a:t>
            </a:r>
            <a:endParaRPr sz="10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FROM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tellimused</a:t>
            </a:r>
            <a:endParaRPr sz="10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WHERE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staatus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 = '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Täidetud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'</a:t>
            </a: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GROUP BY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makseviis</a:t>
            </a:r>
            <a:endParaRPr sz="10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HAVING COUNT(*) &gt;= 3</a:t>
            </a: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ORDER BY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tellimuste_arv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 DESC;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560320"/>
            <a:ext cx="11430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0F203E"/>
                </a:solidFill>
                <a:latin typeface="Calibri"/>
              </a:rPr>
              <a:t>2.  Leia </a:t>
            </a:r>
            <a:r>
              <a:rPr sz="1400" b="1" dirty="0" err="1">
                <a:solidFill>
                  <a:srgbClr val="0F203E"/>
                </a:solidFill>
                <a:latin typeface="Calibri"/>
              </a:rPr>
              <a:t>kategooriad</a:t>
            </a:r>
            <a:r>
              <a:rPr sz="1400" b="1" dirty="0">
                <a:solidFill>
                  <a:srgbClr val="0F203E"/>
                </a:solidFill>
                <a:latin typeface="Calibri"/>
              </a:rPr>
              <a:t>, </a:t>
            </a:r>
            <a:r>
              <a:rPr sz="1400" b="1" dirty="0" err="1">
                <a:solidFill>
                  <a:srgbClr val="0F203E"/>
                </a:solidFill>
                <a:latin typeface="Calibri"/>
              </a:rPr>
              <a:t>mille</a:t>
            </a:r>
            <a:r>
              <a:rPr sz="1400" b="1" dirty="0">
                <a:solidFill>
                  <a:srgbClr val="0F203E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0F203E"/>
                </a:solidFill>
                <a:latin typeface="Calibri"/>
              </a:rPr>
              <a:t>keskmine</a:t>
            </a:r>
            <a:r>
              <a:rPr sz="1400" b="1" dirty="0">
                <a:solidFill>
                  <a:srgbClr val="0F203E"/>
                </a:solidFill>
                <a:latin typeface="Calibri"/>
              </a:rPr>
              <a:t> hind on </a:t>
            </a:r>
            <a:r>
              <a:rPr sz="1400" b="1" dirty="0" err="1">
                <a:solidFill>
                  <a:srgbClr val="0F203E"/>
                </a:solidFill>
                <a:latin typeface="Calibri"/>
              </a:rPr>
              <a:t>üle</a:t>
            </a:r>
            <a:r>
              <a:rPr sz="1400" b="1" dirty="0">
                <a:solidFill>
                  <a:srgbClr val="0F203E"/>
                </a:solidFill>
                <a:latin typeface="Calibri"/>
              </a:rPr>
              <a:t> 200 €.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871216"/>
            <a:ext cx="11430000" cy="10058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" y="2843784"/>
            <a:ext cx="1110081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SELECT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kategooria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, AVG(hind) AS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keskmine_hind</a:t>
            </a:r>
            <a:endParaRPr sz="10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FROM tooted</a:t>
            </a: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GROUP BY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kategooria</a:t>
            </a:r>
            <a:endParaRPr sz="10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HAVING AVG(hind) &gt; 200;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840480"/>
            <a:ext cx="11430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03E"/>
                </a:solidFill>
                <a:latin typeface="Calibri"/>
              </a:rPr>
              <a:t>3.  Ainult täidetud: tarneviisid, mida on kasutatud rohkem kui 3 korda.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114800"/>
            <a:ext cx="11430000" cy="10058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4123944"/>
            <a:ext cx="1110081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SELECT tarneviis, COUNT(*) AS tellimuste_arv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FROM tellimused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WHERE staatus = 'Täidetud'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GROUP BY tarneviis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HAVING COUNT(*) &gt; 3;</a:t>
            </a:r>
          </a:p>
        </p:txBody>
      </p:sp>
      <p:sp>
        <p:nvSpPr>
          <p:cNvPr id="20" name="TextBox 16 copy 20"/>
          <p:cNvSpPr txBox="1"/>
          <p:nvPr/>
        </p:nvSpPr>
        <p:spPr>
          <a:xfrm>
            <a:off x="365760" y="5120640"/>
            <a:ext cx="11430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34155"/>
                </a:solidFill>
                <a:latin typeface="Calibri"/>
              </a:rPr>
              <a:t>4.  Kliendid alates 2025-06-01: linnad, kus on vähemalt 2 sellist klienti, suuremad ees.</a:t>
            </a:r>
          </a:p>
        </p:txBody>
      </p:sp>
      <p:sp>
        <p:nvSpPr>
          <p:cNvPr id="21" name="Rounded Rectangle 17 copy 21"/>
          <p:cNvSpPr/>
          <p:nvPr/>
        </p:nvSpPr>
        <p:spPr>
          <a:xfrm>
            <a:off x="365760" y="5404104"/>
            <a:ext cx="11430000" cy="900246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18 copy 22"/>
          <p:cNvSpPr txBox="1"/>
          <p:nvPr/>
        </p:nvSpPr>
        <p:spPr>
          <a:xfrm>
            <a:off x="530352" y="5404104"/>
            <a:ext cx="11100816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SELECT linn, COUNT(*) AS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klientide_arv</a:t>
            </a:r>
            <a:endParaRPr sz="1000" b="0" dirty="0">
              <a:solidFill>
                <a:srgbClr val="E2E8F0"/>
              </a:solidFill>
              <a:latin typeface="Consolas"/>
            </a:endParaRPr>
          </a:p>
          <a:p>
            <a:r>
              <a:rPr sz="1000" b="0" dirty="0">
                <a:solidFill>
                  <a:srgbClr val="E2E8F0"/>
                </a:solidFill>
                <a:latin typeface="Consolas"/>
              </a:rPr>
              <a:t>FROM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kliendid</a:t>
            </a:r>
            <a:endParaRPr sz="1000" b="0" dirty="0">
              <a:solidFill>
                <a:srgbClr val="E2E8F0"/>
              </a:solidFill>
              <a:latin typeface="Consolas"/>
            </a:endParaRPr>
          </a:p>
          <a:p>
            <a:r>
              <a:rPr sz="1000" b="0" dirty="0">
                <a:solidFill>
                  <a:srgbClr val="E2E8F0"/>
                </a:solidFill>
                <a:latin typeface="Consolas"/>
              </a:rPr>
              <a:t>WHERE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liitumise_kuupäev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 &gt;= '2025-06-01'</a:t>
            </a:r>
          </a:p>
          <a:p>
            <a:r>
              <a:rPr sz="1000" b="0" dirty="0">
                <a:solidFill>
                  <a:srgbClr val="E2E8F0"/>
                </a:solidFill>
                <a:latin typeface="Consolas"/>
              </a:rPr>
              <a:t>GROUP BY linn</a:t>
            </a:r>
            <a:r>
              <a:rPr lang="en-GB" sz="100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HAVING COUNT(*) &gt;= 2</a:t>
            </a:r>
          </a:p>
          <a:p>
            <a:r>
              <a:rPr sz="1000" b="0" dirty="0">
                <a:solidFill>
                  <a:srgbClr val="E2E8F0"/>
                </a:solidFill>
                <a:latin typeface="Consolas"/>
              </a:rPr>
              <a:t>ORDER BY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klientide_arv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 DESC;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QL Meme, you say? Check out the best SQL Memes ever.">
            <a:extLst>
              <a:ext uri="{FF2B5EF4-FFF2-40B4-BE49-F238E27FC236}">
                <a16:creationId xmlns:a16="http://schemas.microsoft.com/office/drawing/2014/main" id="{B8564E02-547D-AD96-FFDD-3E8CEC64A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04" y="26279"/>
            <a:ext cx="6348419" cy="6332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6577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972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C49526"/>
                </a:solidFill>
                <a:latin typeface="Calibri"/>
              </a:rPr>
              <a:t>PLOKK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dirty="0">
                <a:solidFill>
                  <a:srgbClr val="FFFFFF"/>
                </a:solidFill>
                <a:latin typeface="Calibri"/>
              </a:rPr>
              <a:t>CASE —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uus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veerg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tingimuse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järgi</a:t>
            </a:r>
            <a:r>
              <a:rPr lang="en-GB"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2400" b="1" dirty="0">
                <a:solidFill>
                  <a:srgbClr val="92D050"/>
                </a:solidFill>
              </a:rPr>
              <a:t>NÄITAN </a:t>
            </a:r>
            <a:endParaRPr sz="2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097280"/>
            <a:ext cx="11430000" cy="37947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1207007"/>
            <a:ext cx="11100816" cy="3593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0" dirty="0">
                <a:solidFill>
                  <a:srgbClr val="E2E8F0"/>
                </a:solidFill>
                <a:latin typeface="Consolas"/>
              </a:rPr>
              <a:t>SELECT </a:t>
            </a:r>
            <a:r>
              <a:rPr sz="1600" b="0" dirty="0" err="1">
                <a:solidFill>
                  <a:srgbClr val="E2E8F0"/>
                </a:solidFill>
                <a:latin typeface="Consolas"/>
              </a:rPr>
              <a:t>nimetus</a:t>
            </a:r>
            <a:r>
              <a:rPr sz="1600" b="0" dirty="0">
                <a:solidFill>
                  <a:srgbClr val="E2E8F0"/>
                </a:solidFill>
                <a:latin typeface="Consolas"/>
              </a:rPr>
              <a:t>, hind,</a:t>
            </a:r>
          </a:p>
          <a:p>
            <a:pPr>
              <a:spcAft>
                <a:spcPts val="300"/>
              </a:spcAft>
            </a:pPr>
            <a:r>
              <a:rPr sz="1600" b="0" dirty="0">
                <a:solidFill>
                  <a:srgbClr val="E2E8F0"/>
                </a:solidFill>
                <a:latin typeface="Consolas"/>
              </a:rPr>
              <a:t>       CASE</a:t>
            </a:r>
          </a:p>
          <a:p>
            <a:pPr>
              <a:spcAft>
                <a:spcPts val="300"/>
              </a:spcAft>
            </a:pPr>
            <a:r>
              <a:rPr sz="1600" b="0" dirty="0">
                <a:solidFill>
                  <a:srgbClr val="E2E8F0"/>
                </a:solidFill>
                <a:latin typeface="Consolas"/>
              </a:rPr>
              <a:t>           WHEN hind &lt; 100 THEN 'Odav'</a:t>
            </a:r>
          </a:p>
          <a:p>
            <a:pPr>
              <a:spcAft>
                <a:spcPts val="300"/>
              </a:spcAft>
            </a:pPr>
            <a:r>
              <a:rPr sz="1600" b="0" dirty="0">
                <a:solidFill>
                  <a:srgbClr val="E2E8F0"/>
                </a:solidFill>
                <a:latin typeface="Consolas"/>
              </a:rPr>
              <a:t>           WHEN hind BETWEEN 100 AND 500 THEN '</a:t>
            </a:r>
            <a:r>
              <a:rPr sz="1600" b="0" dirty="0" err="1">
                <a:solidFill>
                  <a:srgbClr val="E2E8F0"/>
                </a:solidFill>
                <a:latin typeface="Consolas"/>
              </a:rPr>
              <a:t>Kesklahendus</a:t>
            </a:r>
            <a:r>
              <a:rPr sz="1600" b="0" dirty="0">
                <a:solidFill>
                  <a:srgbClr val="E2E8F0"/>
                </a:solidFill>
                <a:latin typeface="Consolas"/>
              </a:rPr>
              <a:t>'</a:t>
            </a:r>
          </a:p>
          <a:p>
            <a:pPr>
              <a:spcAft>
                <a:spcPts val="300"/>
              </a:spcAft>
            </a:pPr>
            <a:r>
              <a:rPr sz="1600" b="0" dirty="0">
                <a:solidFill>
                  <a:srgbClr val="E2E8F0"/>
                </a:solidFill>
                <a:latin typeface="Consolas"/>
              </a:rPr>
              <a:t>           ELSE 'Premium'</a:t>
            </a:r>
          </a:p>
          <a:p>
            <a:pPr>
              <a:spcAft>
                <a:spcPts val="300"/>
              </a:spcAft>
            </a:pPr>
            <a:r>
              <a:rPr sz="1600" b="0" dirty="0">
                <a:solidFill>
                  <a:srgbClr val="E2E8F0"/>
                </a:solidFill>
                <a:latin typeface="Consolas"/>
              </a:rPr>
              <a:t>       END AS </a:t>
            </a:r>
            <a:r>
              <a:rPr sz="1600" b="0" dirty="0" err="1">
                <a:solidFill>
                  <a:srgbClr val="E2E8F0"/>
                </a:solidFill>
                <a:latin typeface="Consolas"/>
              </a:rPr>
              <a:t>hinnaklass</a:t>
            </a:r>
            <a:endParaRPr sz="16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600" b="0" dirty="0">
                <a:solidFill>
                  <a:srgbClr val="E2E8F0"/>
                </a:solidFill>
                <a:latin typeface="Consolas"/>
              </a:rPr>
              <a:t>FROM tooted;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74920"/>
            <a:ext cx="112471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>
                <a:solidFill>
                  <a:srgbClr val="334155"/>
                </a:solidFill>
                <a:latin typeface="Calibri"/>
              </a:rPr>
              <a:t>WHEN-id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ülevalt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alla;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esimene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tõene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võidab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. MacBook → Premium, monitor →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Kesklahendus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hiir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→ Odav.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B78191-C742-68A3-9703-A3DED8C80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158" y="0"/>
            <a:ext cx="43036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4620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 err="1">
                <a:solidFill>
                  <a:srgbClr val="FFFFFF"/>
                </a:solidFill>
                <a:latin typeface="Calibri"/>
              </a:rPr>
              <a:t>Harjutus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2400" b="1" dirty="0">
                <a:solidFill>
                  <a:srgbClr val="FFFFFF"/>
                </a:solidFill>
                <a:latin typeface="Calibri"/>
              </a:rPr>
              <a:t>4 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—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proovi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alibri"/>
              </a:rPr>
              <a:t>ISE</a:t>
            </a:r>
            <a:endParaRPr sz="24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SQL koolitus  ·  1. päev · plokk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042415"/>
            <a:ext cx="3840480" cy="292608"/>
          </a:xfrm>
          <a:prstGeom prst="roundRect">
            <a:avLst>
              <a:gd name="adj" fmla="val 8000"/>
            </a:avLst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042415"/>
            <a:ext cx="3840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Tase 1 kõigile  ·  tase 2 kui valmis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691640"/>
            <a:ext cx="5669280" cy="4617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1691640"/>
            <a:ext cx="5669280" cy="50292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1691640"/>
            <a:ext cx="5669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Tase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286000"/>
            <a:ext cx="530352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1.  Kuva tooted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veeruga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: alla 100 = 'Odav', 100–500 = '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Kesklahendus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',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muidu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'Premium'.</a:t>
            </a:r>
          </a:p>
          <a:p>
            <a:pPr>
              <a:spcAft>
                <a:spcPts val="12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2.  Lisa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tellimustele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veerg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: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Täidetud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= 'OK',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Tühistatud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= '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Katkestatud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',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muidu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'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Töös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'.</a:t>
            </a:r>
          </a:p>
          <a:p>
            <a:pPr>
              <a:spcAft>
                <a:spcPts val="12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3.  Kuva tooted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hinnaklassiga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(alla 100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odav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, 100-500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kesklahendus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ülejäänud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Premium)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sorteerituna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hinna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järgi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kahanevalt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12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4.  Kuva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kliendid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veeruga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: Tallinn = '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Pealinn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',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muidu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'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Muu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linn'.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691640"/>
            <a:ext cx="5532120" cy="4617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691640"/>
            <a:ext cx="5532120" cy="5029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1691640"/>
            <a:ext cx="5532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Tase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286000"/>
            <a:ext cx="5166359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1. 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Loenda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mitu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toodet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on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klassides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Odav,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Kesklahendus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ja Premium (CASE GROUP BY-s).</a:t>
            </a:r>
          </a:p>
          <a:p>
            <a:pPr>
              <a:spcAft>
                <a:spcPts val="12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2. 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Loenda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Odav /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Kesklahendus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/ Premium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ainult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toodetel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mille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hind on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üle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50 €.</a:t>
            </a:r>
            <a:endParaRPr lang="en-GB" sz="15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endParaRPr sz="15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3. 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Rühmita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tellimused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: '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Pakiautomaat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' vs '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Muu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tarne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'. Kuva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arv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.</a:t>
            </a:r>
            <a:endParaRPr lang="en-GB" sz="15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endParaRPr sz="15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endParaRPr lang="en-GB" sz="15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4. 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Loenda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tellimused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: OK /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Katkestatud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/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Töös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(CASE GROUP BY-s),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suuremad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ees.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C05380-9665-EC30-AB7C-737357EF7A17}"/>
              </a:ext>
            </a:extLst>
          </p:cNvPr>
          <p:cNvSpPr txBox="1"/>
          <p:nvPr/>
        </p:nvSpPr>
        <p:spPr>
          <a:xfrm>
            <a:off x="4687125" y="1011021"/>
            <a:ext cx="40058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lang="en-GB" sz="2000" b="1" dirty="0" err="1">
                <a:solidFill>
                  <a:srgbClr val="FF0000"/>
                </a:solidFill>
                <a:latin typeface="Calibri"/>
              </a:rPr>
              <a:t>Trepi</a:t>
            </a:r>
            <a:r>
              <a:rPr lang="en-GB" sz="2000" b="1" dirty="0">
                <a:solidFill>
                  <a:srgbClr val="FF0000"/>
                </a:solidFill>
                <a:latin typeface="Calibri"/>
              </a:rPr>
              <a:t> </a:t>
            </a:r>
            <a:r>
              <a:rPr lang="en-GB" sz="2000" b="1" dirty="0" err="1">
                <a:solidFill>
                  <a:srgbClr val="FF0000"/>
                </a:solidFill>
                <a:latin typeface="Calibri"/>
              </a:rPr>
              <a:t>ja</a:t>
            </a:r>
            <a:r>
              <a:rPr lang="en-GB" sz="2000" b="1" dirty="0">
                <a:solidFill>
                  <a:srgbClr val="FF0000"/>
                </a:solidFill>
                <a:latin typeface="Calibri"/>
              </a:rPr>
              <a:t> </a:t>
            </a:r>
            <a:r>
              <a:rPr lang="en-GB" sz="2000" b="1" dirty="0" err="1">
                <a:solidFill>
                  <a:srgbClr val="FF0000"/>
                </a:solidFill>
                <a:latin typeface="Calibri"/>
              </a:rPr>
              <a:t>kommenteeri</a:t>
            </a:r>
            <a:r>
              <a:rPr lang="en-GB" sz="2000" b="1" dirty="0">
                <a:solidFill>
                  <a:srgbClr val="FF0000"/>
                </a:solidFill>
                <a:latin typeface="Calibri"/>
              </a:rPr>
              <a:t> </a:t>
            </a:r>
            <a:r>
              <a:rPr lang="en-GB" sz="2000" b="1" dirty="0" err="1">
                <a:solidFill>
                  <a:srgbClr val="FF0000"/>
                </a:solidFill>
                <a:latin typeface="Calibri"/>
              </a:rPr>
              <a:t>kood</a:t>
            </a:r>
            <a:endParaRPr sz="2000" b="1" dirty="0">
              <a:solidFill>
                <a:srgbClr val="FF0000"/>
              </a:solidFill>
              <a:latin typeface="Calibri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18AD7DF-95F2-B40A-15BE-473C56EF0E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0979"/>
          <a:stretch>
            <a:fillRect/>
          </a:stretch>
        </p:blipFill>
        <p:spPr>
          <a:xfrm>
            <a:off x="-571" y="4728124"/>
            <a:ext cx="1773936" cy="96832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090DADB-7A2B-33A8-E49D-F21E0B8238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2125"/>
          <a:stretch>
            <a:fillRect/>
          </a:stretch>
        </p:blipFill>
        <p:spPr>
          <a:xfrm>
            <a:off x="1865692" y="4768291"/>
            <a:ext cx="2016364" cy="78223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62827D2-C386-743E-EC10-3DF05F1368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4937" y="4693153"/>
            <a:ext cx="2381583" cy="85737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973662A-B4FD-9EB7-1FA0-A7BD5BB28E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7743" y="5662887"/>
            <a:ext cx="2261150" cy="9238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2C85A4-B5F6-DBE0-F98A-C3AA0B643C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0" y="1284332"/>
            <a:ext cx="1905266" cy="87642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86FBAB2-967F-0AD4-E172-8F38F5964C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22637" y="3181236"/>
            <a:ext cx="2010056" cy="81926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FFA7B3C-5091-9502-3DC9-9BE9557CAC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22637" y="4155889"/>
            <a:ext cx="2457793" cy="75258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588FA43-79B7-21A0-941D-16563FCAA6D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6684" y="5345385"/>
            <a:ext cx="1867161" cy="82879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Lahendused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SQL koolitus  ·  1. päev · plokk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024128"/>
            <a:ext cx="1325880" cy="292608"/>
          </a:xfrm>
          <a:prstGeom prst="roundRect">
            <a:avLst>
              <a:gd name="adj" fmla="val 8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325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11096" y="1042416"/>
            <a:ext cx="11430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03E"/>
                </a:solidFill>
                <a:latin typeface="Calibri"/>
              </a:rPr>
              <a:t>1.  Kuva tooted veeruga: alla 100 = 'Odav', 100–500 = 'Kesklahendus', muidu 'Premium'.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408176"/>
            <a:ext cx="11430000" cy="10058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5439" y="1453896"/>
            <a:ext cx="1110081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SELECT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nimetus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, hind,</a:t>
            </a: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       CASE WHEN hind &lt; 100 THEN 'Odav'</a:t>
            </a: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            WHEN hind BETWEEN 100 AND 500 THEN '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Kesklahendus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'</a:t>
            </a: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            ELSE 'Premium' END AS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hinnaklass</a:t>
            </a:r>
            <a:endParaRPr sz="10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FROM tooted;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450592"/>
            <a:ext cx="11430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0F203E"/>
                </a:solidFill>
                <a:latin typeface="Calibri"/>
              </a:rPr>
              <a:t>2.  Lisa </a:t>
            </a:r>
            <a:r>
              <a:rPr sz="1400" b="1" dirty="0" err="1">
                <a:solidFill>
                  <a:srgbClr val="0F203E"/>
                </a:solidFill>
                <a:latin typeface="Calibri"/>
              </a:rPr>
              <a:t>tellimustele</a:t>
            </a:r>
            <a:r>
              <a:rPr sz="1400" b="1" dirty="0">
                <a:solidFill>
                  <a:srgbClr val="0F203E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0F203E"/>
                </a:solidFill>
                <a:latin typeface="Calibri"/>
              </a:rPr>
              <a:t>veerg</a:t>
            </a:r>
            <a:r>
              <a:rPr sz="1400" b="1" dirty="0">
                <a:solidFill>
                  <a:srgbClr val="0F203E"/>
                </a:solidFill>
                <a:latin typeface="Calibri"/>
              </a:rPr>
              <a:t>: </a:t>
            </a:r>
            <a:r>
              <a:rPr sz="1400" b="1" dirty="0" err="1">
                <a:solidFill>
                  <a:srgbClr val="0F203E"/>
                </a:solidFill>
                <a:latin typeface="Calibri"/>
              </a:rPr>
              <a:t>Täidetud</a:t>
            </a:r>
            <a:r>
              <a:rPr sz="1400" b="1" dirty="0">
                <a:solidFill>
                  <a:srgbClr val="0F203E"/>
                </a:solidFill>
                <a:latin typeface="Calibri"/>
              </a:rPr>
              <a:t> = 'OK', </a:t>
            </a:r>
            <a:r>
              <a:rPr sz="1400" b="1" dirty="0" err="1">
                <a:solidFill>
                  <a:srgbClr val="0F203E"/>
                </a:solidFill>
                <a:latin typeface="Calibri"/>
              </a:rPr>
              <a:t>Tühistatud</a:t>
            </a:r>
            <a:r>
              <a:rPr sz="1400" b="1" dirty="0">
                <a:solidFill>
                  <a:srgbClr val="0F203E"/>
                </a:solidFill>
                <a:latin typeface="Calibri"/>
              </a:rPr>
              <a:t> = '</a:t>
            </a:r>
            <a:r>
              <a:rPr sz="1400" b="1" dirty="0" err="1">
                <a:solidFill>
                  <a:srgbClr val="0F203E"/>
                </a:solidFill>
                <a:latin typeface="Calibri"/>
              </a:rPr>
              <a:t>Katkestatud</a:t>
            </a:r>
            <a:r>
              <a:rPr sz="1400" b="1" dirty="0">
                <a:solidFill>
                  <a:srgbClr val="0F203E"/>
                </a:solidFill>
                <a:latin typeface="Calibri"/>
              </a:rPr>
              <a:t>', </a:t>
            </a:r>
            <a:r>
              <a:rPr sz="1400" b="1" dirty="0" err="1">
                <a:solidFill>
                  <a:srgbClr val="0F203E"/>
                </a:solidFill>
                <a:latin typeface="Calibri"/>
              </a:rPr>
              <a:t>muidu</a:t>
            </a:r>
            <a:r>
              <a:rPr sz="1400" b="1" dirty="0">
                <a:solidFill>
                  <a:srgbClr val="0F203E"/>
                </a:solidFill>
                <a:latin typeface="Calibri"/>
              </a:rPr>
              <a:t> '</a:t>
            </a:r>
            <a:r>
              <a:rPr sz="1400" b="1" dirty="0" err="1">
                <a:solidFill>
                  <a:srgbClr val="0F203E"/>
                </a:solidFill>
                <a:latin typeface="Calibri"/>
              </a:rPr>
              <a:t>Töös</a:t>
            </a:r>
            <a:r>
              <a:rPr sz="1400" b="1" dirty="0">
                <a:solidFill>
                  <a:srgbClr val="0F203E"/>
                </a:solidFill>
                <a:latin typeface="Calibri"/>
              </a:rPr>
              <a:t>'.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761488"/>
            <a:ext cx="11430000" cy="10058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" y="2843784"/>
            <a:ext cx="1110081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SELECT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tellimus_id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,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staatus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       CASE WHEN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staatus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 = '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Täidetud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' THEN 'OK'</a:t>
            </a: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            WHEN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staatus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 = '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Tühistatud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' THEN '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Katkestatud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'</a:t>
            </a: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            ELSE '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Töös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' END AS seis</a:t>
            </a: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FROM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tellimused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840480"/>
            <a:ext cx="11430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03E"/>
                </a:solidFill>
                <a:latin typeface="Calibri"/>
              </a:rPr>
              <a:t>3.  Kuva tooted hinnaklassiga, sorteerituna hinna järgi kahanevalt.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114800"/>
            <a:ext cx="11430000" cy="987552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4123944"/>
            <a:ext cx="111008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SELECT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nimetus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, hind,</a:t>
            </a: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       CASE WHEN hind &lt; 100 THEN 'Odav'</a:t>
            </a: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            WHEN hind BETWEEN 100 AND 500 THEN '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Kesklahendus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'</a:t>
            </a: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            ELSE 'Premium' END AS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hinnaklass</a:t>
            </a:r>
            <a:endParaRPr sz="10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FROM tooted</a:t>
            </a:r>
            <a:r>
              <a:rPr lang="en-GB" sz="100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ORDER BY hind DESC;</a:t>
            </a:r>
          </a:p>
        </p:txBody>
      </p:sp>
      <p:sp>
        <p:nvSpPr>
          <p:cNvPr id="20" name="TextBox 16 copy 20"/>
          <p:cNvSpPr txBox="1"/>
          <p:nvPr/>
        </p:nvSpPr>
        <p:spPr>
          <a:xfrm>
            <a:off x="365760" y="5120640"/>
            <a:ext cx="11430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34155"/>
                </a:solidFill>
                <a:latin typeface="Calibri"/>
              </a:rPr>
              <a:t>4.  Kuva kliendid veeruga: Tallinn = 'Pealinn', muidu 'Muu linn'.</a:t>
            </a:r>
          </a:p>
        </p:txBody>
      </p:sp>
      <p:sp>
        <p:nvSpPr>
          <p:cNvPr id="21" name="Rounded Rectangle 17 copy 21"/>
          <p:cNvSpPr/>
          <p:nvPr/>
        </p:nvSpPr>
        <p:spPr>
          <a:xfrm>
            <a:off x="365760" y="5367528"/>
            <a:ext cx="11430000" cy="10058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18 copy 22"/>
          <p:cNvSpPr txBox="1"/>
          <p:nvPr/>
        </p:nvSpPr>
        <p:spPr>
          <a:xfrm>
            <a:off x="530352" y="5404104"/>
            <a:ext cx="1110081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SELECT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nimi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, linn,</a:t>
            </a:r>
          </a:p>
          <a:p>
            <a:r>
              <a:rPr sz="1000" b="0" dirty="0">
                <a:solidFill>
                  <a:srgbClr val="E2E8F0"/>
                </a:solidFill>
                <a:latin typeface="Consolas"/>
              </a:rPr>
              <a:t>       CASE WHEN linn = 'Tallinn' THEN '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Pealinn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'</a:t>
            </a:r>
          </a:p>
          <a:p>
            <a:r>
              <a:rPr sz="1000" b="0" dirty="0">
                <a:solidFill>
                  <a:srgbClr val="E2E8F0"/>
                </a:solidFill>
                <a:latin typeface="Consolas"/>
              </a:rPr>
              <a:t>            ELSE '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Muu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 linn' END AS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linnatüüp</a:t>
            </a:r>
            <a:endParaRPr sz="1000" b="0" dirty="0">
              <a:solidFill>
                <a:srgbClr val="E2E8F0"/>
              </a:solidFill>
              <a:latin typeface="Consolas"/>
            </a:endParaRPr>
          </a:p>
          <a:p>
            <a:r>
              <a:rPr sz="1000" b="0" dirty="0">
                <a:solidFill>
                  <a:srgbClr val="E2E8F0"/>
                </a:solidFill>
                <a:latin typeface="Consolas"/>
              </a:rPr>
              <a:t>FROM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kliendid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Lahendused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SQL koolitus  ·  1. päev · plokk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024128"/>
            <a:ext cx="1325880" cy="292608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325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042416"/>
            <a:ext cx="11430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0F203E"/>
                </a:solidFill>
                <a:latin typeface="Calibri"/>
              </a:rPr>
              <a:t>1.  </a:t>
            </a:r>
            <a:r>
              <a:rPr sz="1400" b="1" dirty="0" err="1">
                <a:solidFill>
                  <a:srgbClr val="0F203E"/>
                </a:solidFill>
                <a:latin typeface="Calibri"/>
              </a:rPr>
              <a:t>Loenda</a:t>
            </a:r>
            <a:r>
              <a:rPr sz="1400" b="1" dirty="0">
                <a:solidFill>
                  <a:srgbClr val="0F203E"/>
                </a:solidFill>
                <a:latin typeface="Calibri"/>
              </a:rPr>
              <a:t>, </a:t>
            </a:r>
            <a:r>
              <a:rPr sz="1400" b="1" dirty="0" err="1">
                <a:solidFill>
                  <a:srgbClr val="0F203E"/>
                </a:solidFill>
                <a:latin typeface="Calibri"/>
              </a:rPr>
              <a:t>mitu</a:t>
            </a:r>
            <a:r>
              <a:rPr sz="1400" b="1" dirty="0">
                <a:solidFill>
                  <a:srgbClr val="0F203E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0F203E"/>
                </a:solidFill>
                <a:latin typeface="Calibri"/>
              </a:rPr>
              <a:t>toodet</a:t>
            </a:r>
            <a:r>
              <a:rPr sz="1400" b="1" dirty="0">
                <a:solidFill>
                  <a:srgbClr val="0F203E"/>
                </a:solidFill>
                <a:latin typeface="Calibri"/>
              </a:rPr>
              <a:t> on </a:t>
            </a:r>
            <a:r>
              <a:rPr sz="1400" b="1" dirty="0" err="1">
                <a:solidFill>
                  <a:srgbClr val="0F203E"/>
                </a:solidFill>
                <a:latin typeface="Calibri"/>
              </a:rPr>
              <a:t>klassides</a:t>
            </a:r>
            <a:r>
              <a:rPr sz="1400" b="1" dirty="0">
                <a:solidFill>
                  <a:srgbClr val="0F203E"/>
                </a:solidFill>
                <a:latin typeface="Calibri"/>
              </a:rPr>
              <a:t> Odav, </a:t>
            </a:r>
            <a:r>
              <a:rPr sz="1400" b="1" dirty="0" err="1">
                <a:solidFill>
                  <a:srgbClr val="0F203E"/>
                </a:solidFill>
                <a:latin typeface="Calibri"/>
              </a:rPr>
              <a:t>Kesklahendus</a:t>
            </a:r>
            <a:r>
              <a:rPr sz="1400" b="1" dirty="0">
                <a:solidFill>
                  <a:srgbClr val="0F203E"/>
                </a:solidFill>
                <a:latin typeface="Calibri"/>
              </a:rPr>
              <a:t> ja Premium (CASE GROUP BY-s).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371600"/>
            <a:ext cx="11430000" cy="1115568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" y="1307592"/>
            <a:ext cx="11100816" cy="1208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SELECT CASE WHEN hind &lt; 100 THEN 'Odav'</a:t>
            </a: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            WHEN hind BETWEEN 100 AND 500 THEN '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Kesklahendus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'</a:t>
            </a: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            ELSE 'Premium' END AS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hinnaklass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       COUNT(*) AS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toodete_arv</a:t>
            </a:r>
            <a:endParaRPr sz="10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FROM tooted</a:t>
            </a:r>
            <a:r>
              <a:rPr lang="en-GB" sz="100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GROUP BY CASE WHEN hind &lt; 100 THEN 'Odav' WHEN hind BETWEEN 100 AND 500 THEN '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Kesklahendus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'</a:t>
            </a: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              ELSE 'Premium' END;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487168"/>
            <a:ext cx="11430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0F203E"/>
                </a:solidFill>
                <a:latin typeface="Calibri"/>
              </a:rPr>
              <a:t>2.  Loenda Odav / Kesklahendus / Premium ainult toodetel, mille hind on üle 50 €.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761488"/>
            <a:ext cx="11430000" cy="1078992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9496" y="2761488"/>
            <a:ext cx="11100816" cy="1054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SELECT CASE WHEN hind &lt; 100 THEN 'Odav' WHEN hind BETWEEN 100 AND 500 THEN '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Kesklahendus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' ELSE 'Premium' END AS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hinnaklass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,</a:t>
            </a:r>
          </a:p>
          <a:p>
            <a:r>
              <a:rPr sz="1000" b="0" dirty="0">
                <a:solidFill>
                  <a:srgbClr val="E2E8F0"/>
                </a:solidFill>
                <a:latin typeface="Consolas"/>
              </a:rPr>
              <a:t>       COUNT(*) AS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toodete_arv</a:t>
            </a:r>
            <a:endParaRPr sz="1000" b="0" dirty="0">
              <a:solidFill>
                <a:srgbClr val="E2E8F0"/>
              </a:solidFill>
              <a:latin typeface="Consolas"/>
            </a:endParaRPr>
          </a:p>
          <a:p>
            <a:r>
              <a:rPr sz="1000" b="0" dirty="0">
                <a:solidFill>
                  <a:srgbClr val="E2E8F0"/>
                </a:solidFill>
                <a:latin typeface="Consolas"/>
              </a:rPr>
              <a:t>FROM tooted</a:t>
            </a:r>
            <a:r>
              <a:rPr lang="en-GB" sz="100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WHERE hind &gt; 50</a:t>
            </a:r>
          </a:p>
          <a:p>
            <a:r>
              <a:rPr sz="1000" b="0" dirty="0">
                <a:solidFill>
                  <a:srgbClr val="E2E8F0"/>
                </a:solidFill>
                <a:latin typeface="Consolas"/>
              </a:rPr>
              <a:t>GROUP BY CASE WHEN hind &lt; 100 THEN 'Odav'</a:t>
            </a:r>
          </a:p>
          <a:p>
            <a:r>
              <a:rPr sz="1000" b="0" dirty="0">
                <a:solidFill>
                  <a:srgbClr val="E2E8F0"/>
                </a:solidFill>
                <a:latin typeface="Consolas"/>
              </a:rPr>
              <a:t>              WHEN hind BETWEEN 100 AND 500 THEN '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Kesklahendus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'</a:t>
            </a:r>
          </a:p>
          <a:p>
            <a:r>
              <a:rPr sz="1000" b="0" dirty="0">
                <a:solidFill>
                  <a:srgbClr val="E2E8F0"/>
                </a:solidFill>
                <a:latin typeface="Consolas"/>
              </a:rPr>
              <a:t>              ELSE 'Premium' END;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785616"/>
            <a:ext cx="11430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0F203E"/>
                </a:solidFill>
                <a:latin typeface="Calibri"/>
              </a:rPr>
              <a:t>3.  </a:t>
            </a:r>
            <a:r>
              <a:rPr sz="1400" b="1" dirty="0" err="1">
                <a:solidFill>
                  <a:srgbClr val="0F203E"/>
                </a:solidFill>
                <a:latin typeface="Calibri"/>
              </a:rPr>
              <a:t>Rühmita</a:t>
            </a:r>
            <a:r>
              <a:rPr sz="1400" b="1" dirty="0">
                <a:solidFill>
                  <a:srgbClr val="0F203E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0F203E"/>
                </a:solidFill>
                <a:latin typeface="Calibri"/>
              </a:rPr>
              <a:t>tellimused</a:t>
            </a:r>
            <a:r>
              <a:rPr sz="1400" b="1" dirty="0">
                <a:solidFill>
                  <a:srgbClr val="0F203E"/>
                </a:solidFill>
                <a:latin typeface="Calibri"/>
              </a:rPr>
              <a:t>: '</a:t>
            </a:r>
            <a:r>
              <a:rPr sz="1400" b="1" dirty="0" err="1">
                <a:solidFill>
                  <a:srgbClr val="0F203E"/>
                </a:solidFill>
                <a:latin typeface="Calibri"/>
              </a:rPr>
              <a:t>Pakiautomaat</a:t>
            </a:r>
            <a:r>
              <a:rPr sz="1400" b="1" dirty="0">
                <a:solidFill>
                  <a:srgbClr val="0F203E"/>
                </a:solidFill>
                <a:latin typeface="Calibri"/>
              </a:rPr>
              <a:t>' vs '</a:t>
            </a:r>
            <a:r>
              <a:rPr sz="1400" b="1" dirty="0" err="1">
                <a:solidFill>
                  <a:srgbClr val="0F203E"/>
                </a:solidFill>
                <a:latin typeface="Calibri"/>
              </a:rPr>
              <a:t>Muu</a:t>
            </a:r>
            <a:r>
              <a:rPr sz="1400" b="1" dirty="0">
                <a:solidFill>
                  <a:srgbClr val="0F203E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0F203E"/>
                </a:solidFill>
                <a:latin typeface="Calibri"/>
              </a:rPr>
              <a:t>tarne</a:t>
            </a:r>
            <a:r>
              <a:rPr sz="1400" b="1" dirty="0">
                <a:solidFill>
                  <a:srgbClr val="0F203E"/>
                </a:solidFill>
                <a:latin typeface="Calibri"/>
              </a:rPr>
              <a:t>'. Kuva </a:t>
            </a:r>
            <a:r>
              <a:rPr sz="1400" b="1" dirty="0" err="1">
                <a:solidFill>
                  <a:srgbClr val="0F203E"/>
                </a:solidFill>
                <a:latin typeface="Calibri"/>
              </a:rPr>
              <a:t>arv</a:t>
            </a:r>
            <a:r>
              <a:rPr sz="1400" b="1" dirty="0">
                <a:solidFill>
                  <a:srgbClr val="0F203E"/>
                </a:solidFill>
                <a:latin typeface="Calibri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041648"/>
            <a:ext cx="11430000" cy="12801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4123944"/>
            <a:ext cx="1110081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SELECT CASE WHEN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tarneviis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 = '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Pakiautomaat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' THEN '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Pakiautomaat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'</a:t>
            </a: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            ELSE '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Muu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tarne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' END AS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tarnegrupp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       COUNT(*) AS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tellimuste_arv</a:t>
            </a:r>
            <a:endParaRPr sz="10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FROM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tellimused</a:t>
            </a:r>
            <a:endParaRPr sz="10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GROUP BY CASE WHEN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tarneviis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 = '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Pakiautomaat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' THEN '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Pakiautomaat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'</a:t>
            </a: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              ELSE '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Muu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tarne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' END;</a:t>
            </a:r>
          </a:p>
        </p:txBody>
      </p:sp>
      <p:sp>
        <p:nvSpPr>
          <p:cNvPr id="20" name="TextBox 16 copy 20"/>
          <p:cNvSpPr txBox="1"/>
          <p:nvPr/>
        </p:nvSpPr>
        <p:spPr>
          <a:xfrm>
            <a:off x="365760" y="5294376"/>
            <a:ext cx="11430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334155"/>
                </a:solidFill>
                <a:latin typeface="Calibri"/>
              </a:rPr>
              <a:t>4.  Loenda tellimused: OK / Katkestatud / Töös (CASE GROUP BY-s), suuremad ees.</a:t>
            </a:r>
          </a:p>
        </p:txBody>
      </p:sp>
      <p:sp>
        <p:nvSpPr>
          <p:cNvPr id="21" name="Rounded Rectangle 17 copy 21"/>
          <p:cNvSpPr/>
          <p:nvPr/>
        </p:nvSpPr>
        <p:spPr>
          <a:xfrm>
            <a:off x="351958" y="5568696"/>
            <a:ext cx="11430000" cy="788959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18 copy 22"/>
          <p:cNvSpPr txBox="1"/>
          <p:nvPr/>
        </p:nvSpPr>
        <p:spPr>
          <a:xfrm>
            <a:off x="545439" y="5559552"/>
            <a:ext cx="11100816" cy="746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 dirty="0">
                <a:solidFill>
                  <a:srgbClr val="E2E8F0"/>
                </a:solidFill>
                <a:latin typeface="Consolas"/>
              </a:rPr>
              <a:t>SELECT CASE WHEN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staatus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 = '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Täidetud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' THEN 'OK'</a:t>
            </a:r>
            <a:r>
              <a:rPr lang="en-GB" sz="100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WHEN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staatus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 = '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Tühistatud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' THEN '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Katkestatud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' ELSE '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Töös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' END AS seis, COUNT(*) AS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tellimuste_arv</a:t>
            </a:r>
            <a:endParaRPr sz="1000" b="0" dirty="0">
              <a:solidFill>
                <a:srgbClr val="E2E8F0"/>
              </a:solidFill>
              <a:latin typeface="Consolas"/>
            </a:endParaRPr>
          </a:p>
          <a:p>
            <a:r>
              <a:rPr sz="1000" b="0" dirty="0">
                <a:solidFill>
                  <a:srgbClr val="E2E8F0"/>
                </a:solidFill>
                <a:latin typeface="Consolas"/>
              </a:rPr>
              <a:t>FROM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tellimused</a:t>
            </a:r>
            <a:endParaRPr sz="1000" b="0" dirty="0">
              <a:solidFill>
                <a:srgbClr val="E2E8F0"/>
              </a:solidFill>
              <a:latin typeface="Consolas"/>
            </a:endParaRPr>
          </a:p>
          <a:p>
            <a:r>
              <a:rPr sz="1000" b="0" dirty="0">
                <a:solidFill>
                  <a:srgbClr val="E2E8F0"/>
                </a:solidFill>
                <a:latin typeface="Consolas"/>
              </a:rPr>
              <a:t>GROUP BY CASE WHEN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staatus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 = '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Täidetud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' THEN 'OK'              WHEN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staatus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 = '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Tühistatud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' THEN '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Katkestatud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'              ELSE '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Töös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' END</a:t>
            </a:r>
          </a:p>
          <a:p>
            <a:r>
              <a:rPr sz="1000" b="0" dirty="0">
                <a:solidFill>
                  <a:srgbClr val="E2E8F0"/>
                </a:solidFill>
                <a:latin typeface="Consolas"/>
              </a:rPr>
              <a:t>ORDER BY </a:t>
            </a:r>
            <a:r>
              <a:rPr sz="1000" b="0" dirty="0" err="1">
                <a:solidFill>
                  <a:srgbClr val="E2E8F0"/>
                </a:solidFill>
                <a:latin typeface="Consolas"/>
              </a:rPr>
              <a:t>tellimuste_arv</a:t>
            </a:r>
            <a:r>
              <a:rPr sz="1000" b="0" dirty="0">
                <a:solidFill>
                  <a:srgbClr val="E2E8F0"/>
                </a:solidFill>
                <a:latin typeface="Consolas"/>
              </a:rPr>
              <a:t> DESC;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1. päeva kokkuvõte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SQL koolitus  ·  1. päev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47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 dirty="0">
                <a:solidFill>
                  <a:srgbClr val="334155"/>
                </a:solidFill>
                <a:latin typeface="Calibri"/>
              </a:rPr>
              <a:t>•  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Plokk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 1: COUNT, MIN, MAX, SUM, AVG — 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mitu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rida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 ja 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otspunktid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900"/>
              </a:spcAft>
            </a:pPr>
            <a:r>
              <a:rPr sz="1800" b="0" dirty="0">
                <a:solidFill>
                  <a:srgbClr val="334155"/>
                </a:solidFill>
                <a:latin typeface="Calibri"/>
              </a:rPr>
              <a:t>•  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Plokk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 2: GROUP BY — 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üks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rida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rühma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kohta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900"/>
              </a:spcAft>
            </a:pPr>
            <a:r>
              <a:rPr sz="1800" b="0" dirty="0">
                <a:solidFill>
                  <a:srgbClr val="334155"/>
                </a:solidFill>
                <a:latin typeface="Calibri"/>
              </a:rPr>
              <a:t>•  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Plokk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 3: HAVING — filter 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pärast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rühmitamist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900"/>
              </a:spcAft>
            </a:pPr>
            <a:r>
              <a:rPr sz="1800" b="0" dirty="0">
                <a:solidFill>
                  <a:srgbClr val="334155"/>
                </a:solidFill>
                <a:latin typeface="Calibri"/>
              </a:rPr>
              <a:t>•  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Plokk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 4: CASE — 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uus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veerg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tingimuse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järgi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297680"/>
            <a:ext cx="1143000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4297680"/>
            <a:ext cx="91440" cy="1920240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 err="1">
                <a:solidFill>
                  <a:srgbClr val="FFFFFF"/>
                </a:solidFill>
                <a:latin typeface="Calibri"/>
              </a:rPr>
              <a:t>Päeva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kokkuvõttev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harjutus</a:t>
            </a:r>
            <a:r>
              <a:rPr lang="en-GB" sz="2400" b="1" dirty="0">
                <a:solidFill>
                  <a:srgbClr val="FFFFFF"/>
                </a:solidFill>
                <a:latin typeface="Calibri"/>
              </a:rPr>
              <a:t> 5</a:t>
            </a:r>
            <a:endParaRPr sz="2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042415"/>
            <a:ext cx="4937760" cy="292608"/>
          </a:xfrm>
          <a:prstGeom prst="roundRect">
            <a:avLst>
              <a:gd name="adj" fmla="val 8000"/>
            </a:avLst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042415"/>
            <a:ext cx="4937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Kogu päeva oskused  ·  2 ülesannet taseme kohta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783080"/>
            <a:ext cx="566928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1783080"/>
            <a:ext cx="5669280" cy="50292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1783080"/>
            <a:ext cx="5669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Tase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423160"/>
            <a:ext cx="5212080" cy="18158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GB" sz="1700" b="0" dirty="0">
                <a:solidFill>
                  <a:srgbClr val="334155"/>
                </a:solidFill>
                <a:latin typeface="Calibri"/>
              </a:rPr>
              <a:t>1. 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Kuva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iga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kategooria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kohta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toodete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arv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keskmine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hind ja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odavaim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hind</a:t>
            </a:r>
            <a:r>
              <a:rPr lang="en-GB" sz="1700" dirty="0">
                <a:solidFill>
                  <a:srgbClr val="334155"/>
                </a:solidFill>
                <a:latin typeface="Calibri"/>
              </a:rPr>
              <a:t> (</a:t>
            </a:r>
            <a:r>
              <a:rPr lang="en-GB" sz="1700" dirty="0" err="1">
                <a:solidFill>
                  <a:srgbClr val="334155"/>
                </a:solidFill>
                <a:latin typeface="Calibri"/>
              </a:rPr>
              <a:t>ü</a:t>
            </a:r>
            <a:r>
              <a:rPr lang="en-GB" sz="1700" b="0" dirty="0" err="1">
                <a:solidFill>
                  <a:srgbClr val="334155"/>
                </a:solidFill>
                <a:latin typeface="Calibri"/>
              </a:rPr>
              <a:t>marda</a:t>
            </a:r>
            <a:r>
              <a:rPr lang="en-GB" sz="17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700" b="0" dirty="0" err="1">
                <a:solidFill>
                  <a:srgbClr val="334155"/>
                </a:solidFill>
                <a:latin typeface="Calibri"/>
              </a:rPr>
              <a:t>kümnelisteni</a:t>
            </a:r>
            <a:r>
              <a:rPr lang="en-GB" sz="1700" b="0" dirty="0">
                <a:solidFill>
                  <a:srgbClr val="334155"/>
                </a:solidFill>
                <a:latin typeface="Calibri"/>
              </a:rPr>
              <a:t>). 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Sorteeri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toodete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arvu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järgi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kahanevalt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1200"/>
              </a:spcAft>
            </a:pPr>
            <a:endParaRPr lang="en-GB" sz="17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sz="1700" b="0" dirty="0">
                <a:solidFill>
                  <a:srgbClr val="334155"/>
                </a:solidFill>
                <a:latin typeface="Calibri"/>
              </a:rPr>
              <a:t>2.  Kuva iga tarneviis kohta tellimuste arv ja kõige hilisem kuupäev, suuremad ees.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53212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532120" cy="5029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1783080"/>
            <a:ext cx="5532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Tase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23160"/>
            <a:ext cx="5074920" cy="18158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GB" sz="1700" b="0" dirty="0">
                <a:solidFill>
                  <a:srgbClr val="334155"/>
                </a:solidFill>
                <a:latin typeface="Calibri"/>
              </a:rPr>
              <a:t>1. 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Sama mis tase 1, aga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ainult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kategooriad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kus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on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vähemalt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2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toodet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. Lisa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veerg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: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kui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keskmine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hind on alla 200,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siis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'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Soodne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',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muidu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'Kallis'.</a:t>
            </a:r>
          </a:p>
          <a:p>
            <a:pPr>
              <a:spcAft>
                <a:spcPts val="1200"/>
              </a:spcAft>
            </a:pPr>
            <a:r>
              <a:rPr sz="1700" b="0" dirty="0">
                <a:solidFill>
                  <a:srgbClr val="334155"/>
                </a:solidFill>
                <a:latin typeface="Calibri"/>
              </a:rPr>
              <a:t>2.  Sama tarneviisi päring, aga ainult rühmad vähemalt 3 tellimusega. Lisa veerg: üle 8 = 'Sage',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muidu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'Harv’.</a:t>
            </a:r>
            <a:endParaRPr lang="en-GB" sz="17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lang="en-GB" sz="1700" dirty="0">
                <a:solidFill>
                  <a:srgbClr val="334155"/>
                </a:solidFill>
                <a:latin typeface="Calibri"/>
              </a:rPr>
              <a:t>LISAÜLESANNE</a:t>
            </a:r>
            <a:endParaRPr sz="1700" b="0" dirty="0">
              <a:solidFill>
                <a:srgbClr val="334155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A65BC0-18F8-CC24-12C4-31210232A3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142" y="4204042"/>
            <a:ext cx="3620623" cy="12926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51F50A-4D59-0527-3B4C-1E7B2464EE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430" y="5590965"/>
            <a:ext cx="2194561" cy="7075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A1B9B6-EA7B-8780-B0EE-C7D8CEA13AE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7778"/>
          <a:stretch>
            <a:fillRect/>
          </a:stretch>
        </p:blipFill>
        <p:spPr>
          <a:xfrm>
            <a:off x="4371867" y="5741158"/>
            <a:ext cx="5909447" cy="90876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AAF9577-C615-D1ED-C477-D2E6856808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6188" y="3729378"/>
            <a:ext cx="2830023" cy="213989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Päeva lõpp · tase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078992"/>
            <a:ext cx="1965960" cy="310896"/>
          </a:xfrm>
          <a:prstGeom prst="roundRect">
            <a:avLst>
              <a:gd name="adj" fmla="val 8000"/>
            </a:avLst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078992"/>
            <a:ext cx="1965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Harjutus · ploki lõpp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1078992"/>
            <a:ext cx="1325880" cy="310896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68880" y="1078992"/>
            <a:ext cx="13258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508760"/>
            <a:ext cx="1143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Calibri"/>
              </a:rPr>
              <a:t>Sama mis tase 1, aga ainult kategooriad, kus on vähemalt 2 toodet. Lisa veerg: kui keskmine hind on alla 200, siis 'Soodne', muidu 'Kallis'.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981200"/>
            <a:ext cx="11430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7073"/>
                </a:solidFill>
                <a:latin typeface="Calibri"/>
              </a:rPr>
              <a:t>Lahendus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194560"/>
            <a:ext cx="11430000" cy="18288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" y="2286000"/>
            <a:ext cx="11100816" cy="1392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 dirty="0">
                <a:solidFill>
                  <a:srgbClr val="E2E8F0"/>
                </a:solidFill>
                <a:latin typeface="Consolas"/>
              </a:rPr>
              <a:t>SELECT </a:t>
            </a:r>
            <a:r>
              <a:rPr sz="1200" b="0" dirty="0" err="1">
                <a:solidFill>
                  <a:srgbClr val="E2E8F0"/>
                </a:solidFill>
                <a:latin typeface="Consolas"/>
              </a:rPr>
              <a:t>kategooria</a:t>
            </a:r>
            <a:r>
              <a:rPr sz="1200" b="0" dirty="0">
                <a:solidFill>
                  <a:srgbClr val="E2E8F0"/>
                </a:solidFill>
                <a:latin typeface="Consolas"/>
              </a:rPr>
              <a:t>,</a:t>
            </a:r>
            <a:r>
              <a:rPr lang="en-GB" sz="1200" b="0" dirty="0">
                <a:solidFill>
                  <a:srgbClr val="E2E8F0"/>
                </a:solidFill>
                <a:latin typeface="Consolas"/>
              </a:rPr>
              <a:t>CO</a:t>
            </a:r>
            <a:r>
              <a:rPr sz="1200" b="0" dirty="0">
                <a:solidFill>
                  <a:srgbClr val="E2E8F0"/>
                </a:solidFill>
                <a:latin typeface="Consolas"/>
              </a:rPr>
              <a:t>UNT(*) AS </a:t>
            </a:r>
            <a:r>
              <a:rPr sz="1200" b="0" dirty="0" err="1">
                <a:solidFill>
                  <a:srgbClr val="E2E8F0"/>
                </a:solidFill>
                <a:latin typeface="Consolas"/>
              </a:rPr>
              <a:t>toodete_arv,AVG</a:t>
            </a:r>
            <a:r>
              <a:rPr sz="1200" b="0" dirty="0">
                <a:solidFill>
                  <a:srgbClr val="E2E8F0"/>
                </a:solidFill>
                <a:latin typeface="Consolas"/>
              </a:rPr>
              <a:t>(hind) AS </a:t>
            </a:r>
            <a:r>
              <a:rPr sz="1200" b="0" dirty="0" err="1">
                <a:solidFill>
                  <a:srgbClr val="E2E8F0"/>
                </a:solidFill>
                <a:latin typeface="Consolas"/>
              </a:rPr>
              <a:t>keskmine_hind,MIN</a:t>
            </a:r>
            <a:r>
              <a:rPr sz="1200" b="0" dirty="0">
                <a:solidFill>
                  <a:srgbClr val="E2E8F0"/>
                </a:solidFill>
                <a:latin typeface="Consolas"/>
              </a:rPr>
              <a:t>(hind) AS </a:t>
            </a:r>
            <a:r>
              <a:rPr sz="1200" b="0" dirty="0" err="1">
                <a:solidFill>
                  <a:srgbClr val="E2E8F0"/>
                </a:solidFill>
                <a:latin typeface="Consolas"/>
              </a:rPr>
              <a:t>odavaim,CASE</a:t>
            </a:r>
            <a:r>
              <a:rPr sz="1200" b="0" dirty="0">
                <a:solidFill>
                  <a:srgbClr val="E2E8F0"/>
                </a:solidFill>
                <a:latin typeface="Consolas"/>
              </a:rPr>
              <a:t> WHEN AVG(hind) &lt; 200 THEN '</a:t>
            </a:r>
            <a:r>
              <a:rPr sz="1200" b="0" dirty="0" err="1">
                <a:solidFill>
                  <a:srgbClr val="E2E8F0"/>
                </a:solidFill>
                <a:latin typeface="Consolas"/>
              </a:rPr>
              <a:t>Soodne</a:t>
            </a:r>
            <a:r>
              <a:rPr sz="1200" b="0" dirty="0">
                <a:solidFill>
                  <a:srgbClr val="E2E8F0"/>
                </a:solidFill>
                <a:latin typeface="Consolas"/>
              </a:rPr>
              <a:t>'</a:t>
            </a:r>
          </a:p>
          <a:p>
            <a:pPr>
              <a:spcAft>
                <a:spcPts val="300"/>
              </a:spcAft>
            </a:pPr>
            <a:r>
              <a:rPr sz="1200" b="0" dirty="0">
                <a:solidFill>
                  <a:srgbClr val="E2E8F0"/>
                </a:solidFill>
                <a:latin typeface="Consolas"/>
              </a:rPr>
              <a:t>ELSE 'Kallis' END AS </a:t>
            </a:r>
            <a:r>
              <a:rPr sz="1200" b="0" dirty="0" err="1">
                <a:solidFill>
                  <a:srgbClr val="E2E8F0"/>
                </a:solidFill>
                <a:latin typeface="Consolas"/>
              </a:rPr>
              <a:t>hinnatase</a:t>
            </a:r>
            <a:endParaRPr sz="12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200" b="0" dirty="0">
                <a:solidFill>
                  <a:srgbClr val="E2E8F0"/>
                </a:solidFill>
                <a:latin typeface="Consolas"/>
              </a:rPr>
              <a:t>FROM tooted</a:t>
            </a:r>
          </a:p>
          <a:p>
            <a:pPr>
              <a:spcAft>
                <a:spcPts val="300"/>
              </a:spcAft>
            </a:pPr>
            <a:r>
              <a:rPr sz="1200" b="0" dirty="0">
                <a:solidFill>
                  <a:srgbClr val="E2E8F0"/>
                </a:solidFill>
                <a:latin typeface="Consolas"/>
              </a:rPr>
              <a:t>GROUP BY </a:t>
            </a:r>
            <a:r>
              <a:rPr sz="1200" b="0" dirty="0" err="1">
                <a:solidFill>
                  <a:srgbClr val="E2E8F0"/>
                </a:solidFill>
                <a:latin typeface="Consolas"/>
              </a:rPr>
              <a:t>kategooria</a:t>
            </a:r>
            <a:endParaRPr sz="12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200" b="0" dirty="0">
                <a:solidFill>
                  <a:srgbClr val="E2E8F0"/>
                </a:solidFill>
                <a:latin typeface="Consolas"/>
              </a:rPr>
              <a:t>HAVING COUNT(*) &gt;= 2</a:t>
            </a:r>
          </a:p>
          <a:p>
            <a:pPr>
              <a:spcAft>
                <a:spcPts val="300"/>
              </a:spcAft>
            </a:pPr>
            <a:r>
              <a:rPr sz="1200" b="0" dirty="0">
                <a:solidFill>
                  <a:srgbClr val="E2E8F0"/>
                </a:solidFill>
                <a:latin typeface="Consolas"/>
              </a:rPr>
              <a:t>ORDER BY </a:t>
            </a:r>
            <a:r>
              <a:rPr sz="1200" b="0" dirty="0" err="1">
                <a:solidFill>
                  <a:srgbClr val="E2E8F0"/>
                </a:solidFill>
                <a:latin typeface="Consolas"/>
              </a:rPr>
              <a:t>toodete_arv</a:t>
            </a:r>
            <a:r>
              <a:rPr sz="1200" b="0" dirty="0">
                <a:solidFill>
                  <a:srgbClr val="E2E8F0"/>
                </a:solidFill>
                <a:latin typeface="Consolas"/>
              </a:rPr>
              <a:t> DESC;</a:t>
            </a:r>
          </a:p>
        </p:txBody>
      </p:sp>
      <p:sp>
        <p:nvSpPr>
          <p:cNvPr id="17" name="TextBox 12 copy 17"/>
          <p:cNvSpPr txBox="1"/>
          <p:nvPr/>
        </p:nvSpPr>
        <p:spPr>
          <a:xfrm>
            <a:off x="365760" y="4114800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2.  Sama, aga ainult tarneviisid vähemalt 3 tellimusega. Lisa veerg: üle 8 = 'Sage', muidu 'Harv'.</a:t>
            </a:r>
          </a:p>
        </p:txBody>
      </p:sp>
      <p:sp>
        <p:nvSpPr>
          <p:cNvPr id="18" name="TextBox 13 copy 18"/>
          <p:cNvSpPr txBox="1"/>
          <p:nvPr/>
        </p:nvSpPr>
        <p:spPr>
          <a:xfrm>
            <a:off x="365760" y="4663440"/>
            <a:ext cx="11430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7073"/>
                </a:solidFill>
                <a:latin typeface="Calibri"/>
              </a:rPr>
              <a:t>Lahendus</a:t>
            </a:r>
          </a:p>
        </p:txBody>
      </p:sp>
      <p:sp>
        <p:nvSpPr>
          <p:cNvPr id="19" name="Rounded Rectangle 14 copy 19"/>
          <p:cNvSpPr/>
          <p:nvPr/>
        </p:nvSpPr>
        <p:spPr>
          <a:xfrm>
            <a:off x="365760" y="4876800"/>
            <a:ext cx="11430000" cy="1423416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5 copy 20"/>
          <p:cNvSpPr txBox="1"/>
          <p:nvPr/>
        </p:nvSpPr>
        <p:spPr>
          <a:xfrm>
            <a:off x="530352" y="4968240"/>
            <a:ext cx="11100816" cy="1238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 dirty="0">
                <a:solidFill>
                  <a:srgbClr val="E2E8F0"/>
                </a:solidFill>
                <a:latin typeface="Consolas"/>
              </a:rPr>
              <a:t>SELECT </a:t>
            </a:r>
            <a:r>
              <a:rPr sz="1200" b="0" dirty="0" err="1">
                <a:solidFill>
                  <a:srgbClr val="E2E8F0"/>
                </a:solidFill>
                <a:latin typeface="Consolas"/>
              </a:rPr>
              <a:t>tarneviis</a:t>
            </a:r>
            <a:r>
              <a:rPr sz="1200" b="0" dirty="0">
                <a:solidFill>
                  <a:srgbClr val="E2E8F0"/>
                </a:solidFill>
                <a:latin typeface="Consolas"/>
              </a:rPr>
              <a:t>,</a:t>
            </a:r>
          </a:p>
          <a:p>
            <a:r>
              <a:rPr sz="1200" b="0" dirty="0">
                <a:solidFill>
                  <a:srgbClr val="E2E8F0"/>
                </a:solidFill>
                <a:latin typeface="Consolas"/>
              </a:rPr>
              <a:t>       COUNT(*) AS </a:t>
            </a:r>
            <a:r>
              <a:rPr sz="1200" b="0" dirty="0" err="1">
                <a:solidFill>
                  <a:srgbClr val="E2E8F0"/>
                </a:solidFill>
                <a:latin typeface="Consolas"/>
              </a:rPr>
              <a:t>tellimuste_arv</a:t>
            </a:r>
            <a:r>
              <a:rPr sz="1200" b="0" dirty="0">
                <a:solidFill>
                  <a:srgbClr val="E2E8F0"/>
                </a:solidFill>
                <a:latin typeface="Consolas"/>
              </a:rPr>
              <a:t>,</a:t>
            </a:r>
          </a:p>
          <a:p>
            <a:r>
              <a:rPr sz="1200" b="0" dirty="0">
                <a:solidFill>
                  <a:srgbClr val="E2E8F0"/>
                </a:solidFill>
                <a:latin typeface="Consolas"/>
              </a:rPr>
              <a:t>       MAX(</a:t>
            </a:r>
            <a:r>
              <a:rPr sz="1200" b="0" dirty="0" err="1">
                <a:solidFill>
                  <a:srgbClr val="E2E8F0"/>
                </a:solidFill>
                <a:latin typeface="Consolas"/>
              </a:rPr>
              <a:t>kuupäev</a:t>
            </a:r>
            <a:r>
              <a:rPr sz="1200" b="0" dirty="0">
                <a:solidFill>
                  <a:srgbClr val="E2E8F0"/>
                </a:solidFill>
                <a:latin typeface="Consolas"/>
              </a:rPr>
              <a:t>) AS </a:t>
            </a:r>
            <a:r>
              <a:rPr sz="1200" b="0" dirty="0" err="1">
                <a:solidFill>
                  <a:srgbClr val="E2E8F0"/>
                </a:solidFill>
                <a:latin typeface="Consolas"/>
              </a:rPr>
              <a:t>viimane</a:t>
            </a:r>
            <a:r>
              <a:rPr sz="1200" b="0" dirty="0">
                <a:solidFill>
                  <a:srgbClr val="E2E8F0"/>
                </a:solidFill>
                <a:latin typeface="Consolas"/>
              </a:rPr>
              <a:t>,</a:t>
            </a:r>
          </a:p>
          <a:p>
            <a:r>
              <a:rPr sz="1200" b="0" dirty="0">
                <a:solidFill>
                  <a:srgbClr val="E2E8F0"/>
                </a:solidFill>
                <a:latin typeface="Consolas"/>
              </a:rPr>
              <a:t>       CASE WHEN COUNT(*) &gt; 8 THEN 'Sage' ELSE 'Harv' END AS </a:t>
            </a:r>
            <a:r>
              <a:rPr sz="1200" b="0" dirty="0" err="1">
                <a:solidFill>
                  <a:srgbClr val="E2E8F0"/>
                </a:solidFill>
                <a:latin typeface="Consolas"/>
              </a:rPr>
              <a:t>sagedus</a:t>
            </a:r>
            <a:endParaRPr sz="1200" b="0" dirty="0">
              <a:solidFill>
                <a:srgbClr val="E2E8F0"/>
              </a:solidFill>
              <a:latin typeface="Consolas"/>
            </a:endParaRPr>
          </a:p>
          <a:p>
            <a:r>
              <a:rPr sz="1200" b="0" dirty="0">
                <a:solidFill>
                  <a:srgbClr val="E2E8F0"/>
                </a:solidFill>
                <a:latin typeface="Consolas"/>
              </a:rPr>
              <a:t>FROM </a:t>
            </a:r>
            <a:r>
              <a:rPr sz="1200" b="0" dirty="0" err="1">
                <a:solidFill>
                  <a:srgbClr val="E2E8F0"/>
                </a:solidFill>
                <a:latin typeface="Consolas"/>
              </a:rPr>
              <a:t>tellimused</a:t>
            </a:r>
            <a:r>
              <a:rPr lang="en-GB" sz="120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1200" b="0" dirty="0">
                <a:solidFill>
                  <a:srgbClr val="E2E8F0"/>
                </a:solidFill>
                <a:latin typeface="Consolas"/>
              </a:rPr>
              <a:t>GROUP BY </a:t>
            </a:r>
            <a:r>
              <a:rPr sz="1200" b="0" dirty="0" err="1">
                <a:solidFill>
                  <a:srgbClr val="E2E8F0"/>
                </a:solidFill>
                <a:latin typeface="Consolas"/>
              </a:rPr>
              <a:t>tarneviis</a:t>
            </a:r>
            <a:r>
              <a:rPr lang="en-GB" sz="120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1200" b="0" dirty="0">
                <a:solidFill>
                  <a:srgbClr val="E2E8F0"/>
                </a:solidFill>
                <a:latin typeface="Consolas"/>
              </a:rPr>
              <a:t>HAVING COUNT(*) &gt;= 3</a:t>
            </a:r>
          </a:p>
          <a:p>
            <a:r>
              <a:rPr sz="1200" b="0" dirty="0">
                <a:solidFill>
                  <a:srgbClr val="E2E8F0"/>
                </a:solidFill>
                <a:latin typeface="Consolas"/>
              </a:rPr>
              <a:t>ORDER BY </a:t>
            </a:r>
            <a:r>
              <a:rPr sz="1200" b="0" dirty="0" err="1">
                <a:solidFill>
                  <a:srgbClr val="E2E8F0"/>
                </a:solidFill>
                <a:latin typeface="Consolas"/>
              </a:rPr>
              <a:t>tellimuste_arv</a:t>
            </a:r>
            <a:r>
              <a:rPr sz="1200" b="0" dirty="0">
                <a:solidFill>
                  <a:srgbClr val="E2E8F0"/>
                </a:solidFill>
                <a:latin typeface="Consolas"/>
              </a:rPr>
              <a:t> DESC;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E2CB84-5BB1-7F1B-FFAE-337E8B357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00" y="0"/>
            <a:ext cx="6239746" cy="9050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0C15B3-E07F-394C-FB4B-76E41BCA47E9}"/>
              </a:ext>
            </a:extLst>
          </p:cNvPr>
          <p:cNvSpPr txBox="1"/>
          <p:nvPr/>
        </p:nvSpPr>
        <p:spPr>
          <a:xfrm>
            <a:off x="4411133" y="751343"/>
            <a:ext cx="6096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Kuva </a:t>
            </a:r>
            <a:r>
              <a:rPr lang="en-GB" dirty="0" err="1"/>
              <a:t>iga</a:t>
            </a:r>
            <a:r>
              <a:rPr lang="en-GB" dirty="0"/>
              <a:t> </a:t>
            </a:r>
            <a:r>
              <a:rPr lang="en-GB" dirty="0" err="1"/>
              <a:t>tarneviisi</a:t>
            </a:r>
            <a:r>
              <a:rPr lang="en-GB" dirty="0"/>
              <a:t> </a:t>
            </a:r>
            <a:r>
              <a:rPr lang="en-GB" dirty="0" err="1"/>
              <a:t>kohta:mitu</a:t>
            </a:r>
            <a:r>
              <a:rPr lang="en-GB" dirty="0"/>
              <a:t> </a:t>
            </a:r>
            <a:r>
              <a:rPr lang="en-GB" dirty="0" err="1"/>
              <a:t>tellimustkõige</a:t>
            </a:r>
            <a:r>
              <a:rPr lang="en-GB" dirty="0"/>
              <a:t> </a:t>
            </a:r>
            <a:r>
              <a:rPr lang="en-GB" dirty="0" err="1"/>
              <a:t>varasem</a:t>
            </a:r>
            <a:r>
              <a:rPr lang="en-GB" dirty="0"/>
              <a:t> </a:t>
            </a:r>
            <a:r>
              <a:rPr lang="en-GB" dirty="0" err="1"/>
              <a:t>kuupäevkõige</a:t>
            </a:r>
            <a:r>
              <a:rPr lang="en-GB" dirty="0"/>
              <a:t> </a:t>
            </a:r>
            <a:r>
              <a:rPr lang="en-GB" dirty="0" err="1"/>
              <a:t>hilisem</a:t>
            </a:r>
            <a:r>
              <a:rPr lang="en-GB" dirty="0"/>
              <a:t> </a:t>
            </a:r>
            <a:r>
              <a:rPr lang="en-GB" dirty="0" err="1"/>
              <a:t>kuupäevmitu</a:t>
            </a:r>
            <a:r>
              <a:rPr lang="en-GB" dirty="0"/>
              <a:t> </a:t>
            </a:r>
            <a:r>
              <a:rPr lang="en-GB" dirty="0" err="1"/>
              <a:t>päeva</a:t>
            </a:r>
            <a:r>
              <a:rPr lang="en-GB" dirty="0"/>
              <a:t> on </a:t>
            </a:r>
            <a:r>
              <a:rPr lang="en-GB" dirty="0" err="1"/>
              <a:t>esimese</a:t>
            </a:r>
            <a:r>
              <a:rPr lang="en-GB" dirty="0"/>
              <a:t> </a:t>
            </a:r>
            <a:r>
              <a:rPr lang="en-GB" dirty="0" err="1"/>
              <a:t>ja</a:t>
            </a:r>
            <a:r>
              <a:rPr lang="en-GB" dirty="0"/>
              <a:t> </a:t>
            </a:r>
            <a:r>
              <a:rPr lang="en-GB" dirty="0" err="1"/>
              <a:t>viimase</a:t>
            </a:r>
            <a:r>
              <a:rPr lang="en-GB" dirty="0"/>
              <a:t> </a:t>
            </a:r>
            <a:r>
              <a:rPr lang="en-GB" dirty="0" err="1"/>
              <a:t>kuupäeva</a:t>
            </a:r>
            <a:r>
              <a:rPr lang="en-GB" dirty="0"/>
              <a:t> </a:t>
            </a:r>
            <a:r>
              <a:rPr lang="en-GB" dirty="0" err="1"/>
              <a:t>vahelmitu</a:t>
            </a:r>
            <a:r>
              <a:rPr lang="en-GB" dirty="0"/>
              <a:t> </a:t>
            </a:r>
            <a:r>
              <a:rPr lang="en-GB" dirty="0" err="1"/>
              <a:t>päeva</a:t>
            </a:r>
            <a:r>
              <a:rPr lang="en-GB" dirty="0"/>
              <a:t> </a:t>
            </a:r>
            <a:r>
              <a:rPr lang="en-GB" dirty="0" err="1"/>
              <a:t>jooksva</a:t>
            </a:r>
            <a:r>
              <a:rPr lang="en-GB" dirty="0"/>
              <a:t> </a:t>
            </a:r>
            <a:r>
              <a:rPr lang="en-GB" dirty="0" err="1"/>
              <a:t>aasta</a:t>
            </a:r>
            <a:r>
              <a:rPr lang="en-GB" dirty="0"/>
              <a:t> 1. </a:t>
            </a:r>
            <a:r>
              <a:rPr lang="en-GB" dirty="0" err="1"/>
              <a:t>jaanuarist</a:t>
            </a:r>
            <a:r>
              <a:rPr lang="en-GB" dirty="0"/>
              <a:t> </a:t>
            </a:r>
            <a:r>
              <a:rPr lang="en-GB" dirty="0" err="1"/>
              <a:t>oli</a:t>
            </a:r>
            <a:r>
              <a:rPr lang="en-GB" dirty="0"/>
              <a:t> </a:t>
            </a:r>
            <a:r>
              <a:rPr lang="en-GB" dirty="0" err="1"/>
              <a:t>esimene</a:t>
            </a:r>
            <a:r>
              <a:rPr lang="en-GB" dirty="0"/>
              <a:t> </a:t>
            </a:r>
            <a:r>
              <a:rPr lang="en-GB" dirty="0" err="1"/>
              <a:t>tellimus</a:t>
            </a:r>
            <a:r>
              <a:rPr lang="en-GB" dirty="0"/>
              <a:t> </a:t>
            </a:r>
            <a:r>
              <a:rPr lang="en-GB" dirty="0" err="1"/>
              <a:t>selles</a:t>
            </a:r>
            <a:r>
              <a:rPr lang="en-GB" dirty="0"/>
              <a:t> </a:t>
            </a:r>
            <a:r>
              <a:rPr lang="en-GB" dirty="0" err="1"/>
              <a:t>tarneviisis</a:t>
            </a:r>
            <a:endParaRPr lang="et-EE" dirty="0"/>
          </a:p>
          <a:p>
            <a:endParaRPr lang="et-EE" dirty="0"/>
          </a:p>
          <a:p>
            <a:r>
              <a:rPr lang="en-GB" b="1" dirty="0"/>
              <a:t>SELECT</a:t>
            </a:r>
            <a:endParaRPr lang="en-GB" dirty="0"/>
          </a:p>
          <a:p>
            <a:r>
              <a:rPr lang="en-GB" dirty="0" err="1"/>
              <a:t>tarneviis</a:t>
            </a:r>
            <a:r>
              <a:rPr lang="en-GB" dirty="0"/>
              <a:t>,</a:t>
            </a:r>
          </a:p>
          <a:p>
            <a:r>
              <a:rPr lang="en-GB" b="1" dirty="0"/>
              <a:t>COUNT</a:t>
            </a:r>
            <a:r>
              <a:rPr lang="en-GB" dirty="0"/>
              <a:t>(*) </a:t>
            </a:r>
            <a:r>
              <a:rPr lang="en-GB" b="1" dirty="0"/>
              <a:t>AS</a:t>
            </a:r>
            <a:r>
              <a:rPr lang="en-GB" dirty="0"/>
              <a:t> </a:t>
            </a:r>
            <a:r>
              <a:rPr lang="en-GB" i="1" dirty="0" err="1"/>
              <a:t>tellimuste_arv</a:t>
            </a:r>
            <a:r>
              <a:rPr lang="en-GB" dirty="0"/>
              <a:t>,</a:t>
            </a:r>
          </a:p>
          <a:p>
            <a:r>
              <a:rPr lang="en-GB" b="1" dirty="0"/>
              <a:t>MIN</a:t>
            </a:r>
            <a:r>
              <a:rPr lang="en-GB" dirty="0"/>
              <a:t>(</a:t>
            </a:r>
            <a:r>
              <a:rPr lang="en-GB" u="sng" dirty="0" err="1"/>
              <a:t>kuup</a:t>
            </a:r>
            <a:r>
              <a:rPr lang="en-GB" dirty="0" err="1"/>
              <a:t>ä</a:t>
            </a:r>
            <a:r>
              <a:rPr lang="en-GB" u="sng" dirty="0" err="1"/>
              <a:t>ev</a:t>
            </a:r>
            <a:r>
              <a:rPr lang="en-GB" dirty="0"/>
              <a:t>) </a:t>
            </a:r>
            <a:r>
              <a:rPr lang="en-GB" b="1" dirty="0"/>
              <a:t>AS</a:t>
            </a:r>
            <a:r>
              <a:rPr lang="en-GB" dirty="0"/>
              <a:t> </a:t>
            </a:r>
            <a:r>
              <a:rPr lang="en-GB" i="1" dirty="0" err="1"/>
              <a:t>esimene</a:t>
            </a:r>
            <a:r>
              <a:rPr lang="en-GB" dirty="0"/>
              <a:t>,</a:t>
            </a:r>
          </a:p>
          <a:p>
            <a:r>
              <a:rPr lang="en-GB" b="1" dirty="0"/>
              <a:t>MAX</a:t>
            </a:r>
            <a:r>
              <a:rPr lang="en-GB" dirty="0"/>
              <a:t>(</a:t>
            </a:r>
            <a:r>
              <a:rPr lang="en-GB" u="sng" dirty="0" err="1"/>
              <a:t>kuup</a:t>
            </a:r>
            <a:r>
              <a:rPr lang="en-GB" dirty="0" err="1"/>
              <a:t>ä</a:t>
            </a:r>
            <a:r>
              <a:rPr lang="en-GB" u="sng" dirty="0" err="1"/>
              <a:t>ev</a:t>
            </a:r>
            <a:r>
              <a:rPr lang="en-GB" dirty="0"/>
              <a:t>) </a:t>
            </a:r>
            <a:r>
              <a:rPr lang="en-GB" b="1" dirty="0"/>
              <a:t>AS</a:t>
            </a:r>
            <a:r>
              <a:rPr lang="en-GB" dirty="0"/>
              <a:t> </a:t>
            </a:r>
            <a:r>
              <a:rPr lang="en-GB" i="1" dirty="0" err="1"/>
              <a:t>viimane</a:t>
            </a:r>
            <a:r>
              <a:rPr lang="en-GB" dirty="0"/>
              <a:t>,</a:t>
            </a:r>
          </a:p>
          <a:p>
            <a:r>
              <a:rPr lang="en-GB" b="1" dirty="0"/>
              <a:t>MAX</a:t>
            </a:r>
            <a:r>
              <a:rPr lang="en-GB" dirty="0"/>
              <a:t>(</a:t>
            </a:r>
            <a:r>
              <a:rPr lang="en-GB" u="sng" dirty="0" err="1"/>
              <a:t>kuup</a:t>
            </a:r>
            <a:r>
              <a:rPr lang="en-GB" dirty="0" err="1"/>
              <a:t>ä</a:t>
            </a:r>
            <a:r>
              <a:rPr lang="en-GB" u="sng" dirty="0" err="1"/>
              <a:t>ev</a:t>
            </a:r>
            <a:r>
              <a:rPr lang="en-GB" dirty="0"/>
              <a:t>) - </a:t>
            </a:r>
            <a:r>
              <a:rPr lang="en-GB" b="1" dirty="0"/>
              <a:t>MIN</a:t>
            </a:r>
            <a:r>
              <a:rPr lang="en-GB" dirty="0"/>
              <a:t>(</a:t>
            </a:r>
            <a:r>
              <a:rPr lang="en-GB" u="sng" dirty="0" err="1"/>
              <a:t>kuup</a:t>
            </a:r>
            <a:r>
              <a:rPr lang="en-GB" dirty="0" err="1"/>
              <a:t>ä</a:t>
            </a:r>
            <a:r>
              <a:rPr lang="en-GB" u="sng" dirty="0" err="1"/>
              <a:t>ev</a:t>
            </a:r>
            <a:r>
              <a:rPr lang="en-GB" dirty="0"/>
              <a:t>) </a:t>
            </a:r>
            <a:r>
              <a:rPr lang="en-GB" b="1" dirty="0"/>
              <a:t>AS</a:t>
            </a:r>
            <a:r>
              <a:rPr lang="en-GB" dirty="0"/>
              <a:t> </a:t>
            </a:r>
            <a:r>
              <a:rPr lang="en-GB" i="1" dirty="0" err="1"/>
              <a:t>paevi_vahemikus</a:t>
            </a:r>
            <a:r>
              <a:rPr lang="en-GB" dirty="0"/>
              <a:t>,</a:t>
            </a:r>
          </a:p>
          <a:p>
            <a:r>
              <a:rPr lang="en-GB" b="1" dirty="0"/>
              <a:t>MIN</a:t>
            </a:r>
            <a:r>
              <a:rPr lang="en-GB" dirty="0"/>
              <a:t>(</a:t>
            </a:r>
            <a:r>
              <a:rPr lang="en-GB" u="sng" dirty="0" err="1"/>
              <a:t>kuup</a:t>
            </a:r>
            <a:r>
              <a:rPr lang="en-GB" dirty="0" err="1"/>
              <a:t>ä</a:t>
            </a:r>
            <a:r>
              <a:rPr lang="en-GB" u="sng" dirty="0" err="1"/>
              <a:t>ev</a:t>
            </a:r>
            <a:r>
              <a:rPr lang="en-GB" dirty="0"/>
              <a:t>) - </a:t>
            </a:r>
            <a:r>
              <a:rPr lang="en-GB" b="1" dirty="0"/>
              <a:t>CAST</a:t>
            </a:r>
            <a:r>
              <a:rPr lang="en-GB" dirty="0"/>
              <a:t>(</a:t>
            </a:r>
            <a:r>
              <a:rPr lang="en-GB" b="1" dirty="0"/>
              <a:t>DATE_TRUNC</a:t>
            </a:r>
            <a:r>
              <a:rPr lang="en-GB" dirty="0"/>
              <a:t>('year', CURRENT_DATE) </a:t>
            </a:r>
            <a:r>
              <a:rPr lang="en-GB" b="1" dirty="0"/>
              <a:t>AS</a:t>
            </a:r>
            <a:r>
              <a:rPr lang="en-GB" dirty="0"/>
              <a:t> </a:t>
            </a:r>
            <a:r>
              <a:rPr lang="en-GB" b="1" dirty="0"/>
              <a:t>date</a:t>
            </a:r>
            <a:r>
              <a:rPr lang="en-GB" dirty="0"/>
              <a:t>)</a:t>
            </a:r>
          </a:p>
          <a:p>
            <a:r>
              <a:rPr lang="en-GB" b="1" dirty="0"/>
              <a:t>AS</a:t>
            </a:r>
            <a:r>
              <a:rPr lang="en-GB" dirty="0"/>
              <a:t> </a:t>
            </a:r>
            <a:r>
              <a:rPr lang="en-GB" i="1" dirty="0" err="1"/>
              <a:t>paevi_aasta_algusest</a:t>
            </a:r>
            <a:endParaRPr lang="en-GB" dirty="0"/>
          </a:p>
          <a:p>
            <a:r>
              <a:rPr lang="en-GB" b="1" dirty="0"/>
              <a:t>FROM</a:t>
            </a:r>
            <a:r>
              <a:rPr lang="en-GB" dirty="0"/>
              <a:t> </a:t>
            </a:r>
            <a:r>
              <a:rPr lang="en-GB" dirty="0" err="1"/>
              <a:t>tellimused</a:t>
            </a:r>
            <a:endParaRPr lang="en-GB" dirty="0"/>
          </a:p>
          <a:p>
            <a:r>
              <a:rPr lang="et-EE" b="1" dirty="0"/>
              <a:t>--</a:t>
            </a:r>
            <a:r>
              <a:rPr lang="en-GB" b="1" dirty="0"/>
              <a:t>where</a:t>
            </a:r>
            <a:r>
              <a:rPr lang="en-GB" dirty="0"/>
              <a:t> </a:t>
            </a:r>
            <a:r>
              <a:rPr lang="en-GB" dirty="0" err="1"/>
              <a:t>kuupäev</a:t>
            </a:r>
            <a:r>
              <a:rPr lang="en-GB" dirty="0"/>
              <a:t> </a:t>
            </a:r>
            <a:r>
              <a:rPr lang="en-GB" b="1" dirty="0"/>
              <a:t>between</a:t>
            </a:r>
            <a:r>
              <a:rPr lang="en-GB" dirty="0"/>
              <a:t> '2026-01-01' </a:t>
            </a:r>
            <a:r>
              <a:rPr lang="en-GB" b="1" dirty="0"/>
              <a:t>and</a:t>
            </a:r>
            <a:r>
              <a:rPr lang="en-GB" dirty="0"/>
              <a:t> '2026-12-31'</a:t>
            </a:r>
          </a:p>
          <a:p>
            <a:r>
              <a:rPr lang="en-GB" b="1" dirty="0"/>
              <a:t>GROUP</a:t>
            </a:r>
            <a:r>
              <a:rPr lang="en-GB" dirty="0"/>
              <a:t> </a:t>
            </a:r>
            <a:r>
              <a:rPr lang="en-GB" b="1" dirty="0"/>
              <a:t>BY</a:t>
            </a:r>
            <a:r>
              <a:rPr lang="en-GB" dirty="0"/>
              <a:t> </a:t>
            </a:r>
            <a:r>
              <a:rPr lang="en-GB" dirty="0" err="1"/>
              <a:t>tarneviis</a:t>
            </a:r>
            <a:endParaRPr lang="en-GB" dirty="0"/>
          </a:p>
          <a:p>
            <a:r>
              <a:rPr lang="en-GB" b="1" dirty="0"/>
              <a:t>ORDER</a:t>
            </a:r>
            <a:r>
              <a:rPr lang="en-GB" dirty="0"/>
              <a:t> </a:t>
            </a:r>
            <a:r>
              <a:rPr lang="en-GB" b="1" dirty="0"/>
              <a:t>BY</a:t>
            </a:r>
            <a:r>
              <a:rPr lang="en-GB" dirty="0"/>
              <a:t> </a:t>
            </a:r>
            <a:r>
              <a:rPr lang="en-GB" i="1" dirty="0" err="1"/>
              <a:t>tellimuste_arv</a:t>
            </a:r>
            <a:r>
              <a:rPr lang="en-GB" dirty="0"/>
              <a:t> </a:t>
            </a:r>
            <a:r>
              <a:rPr lang="en-GB" b="1" dirty="0"/>
              <a:t>DESC</a:t>
            </a:r>
            <a:r>
              <a:rPr lang="en-GB" dirty="0"/>
              <a:t>;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09013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Lisa · 1. päev (koondid)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05156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7073"/>
                </a:solidFill>
                <a:latin typeface="Calibri"/>
              </a:rPr>
              <a:t>COUNT + WHERE  ·  mitu ootel tellimust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353312"/>
            <a:ext cx="11430000" cy="12344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" y="1463040"/>
            <a:ext cx="1110081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SELECT COUNT(*) AS ootel_arv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FROM tellimused WHERE staatus = 'Ootel';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6974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7073"/>
                </a:solidFill>
                <a:latin typeface="Calibri"/>
              </a:rPr>
              <a:t>GROUP BY  ·  kliendid linnade kaupa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999232"/>
            <a:ext cx="11430000" cy="15544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" y="3108960"/>
            <a:ext cx="1110081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SELECT linn, COUNT(*) AS klientide_arv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FROM kliendid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GROUP BY linn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ORDER BY klientide_arv DESC;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663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7073"/>
                </a:solidFill>
                <a:latin typeface="Calibri"/>
              </a:rPr>
              <a:t>CASE  ·  hinnaklass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956048"/>
            <a:ext cx="11430000" cy="12801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" y="5065776"/>
            <a:ext cx="11100816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E2E8F0"/>
                </a:solidFill>
                <a:latin typeface="Consolas"/>
              </a:rPr>
              <a:t>SELECT nimetus, hind,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E2E8F0"/>
                </a:solidFill>
                <a:latin typeface="Consolas"/>
              </a:rPr>
              <a:t>  CASE WHEN hind &lt; 100 THEN 'Odav' WHEN hind BETWEEN 100 AND 500 THEN 'Kesklahendus' ELSE 'Premium' END AS hinnaklass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E2E8F0"/>
                </a:solidFill>
                <a:latin typeface="Consolas"/>
              </a:rPr>
              <a:t>FROM tooted;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Lisa · 1. päev jätk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05156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7073"/>
                </a:solidFill>
                <a:latin typeface="Calibri"/>
              </a:rPr>
              <a:t>HAVING  ·  kategooriad, kus on üle 3 toote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371600"/>
            <a:ext cx="11430000" cy="17373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" y="1481328"/>
            <a:ext cx="11100816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0">
                <a:solidFill>
                  <a:srgbClr val="E2E8F0"/>
                </a:solidFill>
                <a:latin typeface="Consolas"/>
              </a:rPr>
              <a:t>SELECT kategooria, COUNT(*) AS toodete_arv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E2E8F0"/>
                </a:solidFill>
                <a:latin typeface="Consolas"/>
              </a:rPr>
              <a:t>FROM tooted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E2E8F0"/>
                </a:solidFill>
                <a:latin typeface="Consolas"/>
              </a:rPr>
              <a:t>GROUP BY kategooria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E2E8F0"/>
                </a:solidFill>
                <a:latin typeface="Consolas"/>
              </a:rPr>
              <a:t>HAVING COUNT(*) &gt; 3;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918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7073"/>
                </a:solidFill>
                <a:latin typeface="Calibri"/>
              </a:rPr>
              <a:t>GROUP BY  ·  tellimused makseviisiti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611880"/>
            <a:ext cx="11430000" cy="19659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" y="3721608"/>
            <a:ext cx="11100816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0">
                <a:solidFill>
                  <a:srgbClr val="E2E8F0"/>
                </a:solidFill>
                <a:latin typeface="Consolas"/>
              </a:rPr>
              <a:t>SELECT makseviis, COUNT(*) AS tellimuste_arv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E2E8F0"/>
                </a:solidFill>
                <a:latin typeface="Consolas"/>
              </a:rPr>
              <a:t>FROM tellimused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E2E8F0"/>
                </a:solidFill>
                <a:latin typeface="Consolas"/>
              </a:rPr>
              <a:t>GROUP BY makseviis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E2E8F0"/>
                </a:solidFill>
                <a:latin typeface="Consolas"/>
              </a:rPr>
              <a:t>ORDER BY tellimuste_arv DESC;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fc69ca6-ce6b-4059-8ad9-2049c3c135b3}" enabled="0" method="" siteId="{4fc69ca6-ce6b-4059-8ad9-2049c3c135b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599</TotalTime>
  <Words>3355</Words>
  <Application>Microsoft Office PowerPoint</Application>
  <PresentationFormat>Widescreen</PresentationFormat>
  <Paragraphs>497</Paragraphs>
  <Slides>37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Aptos</vt:lpstr>
      <vt:lpstr>Arial</vt:lpstr>
      <vt:lpstr>Calibri</vt:lpstr>
      <vt:lpstr>Consolas</vt:lpstr>
      <vt:lpstr>Inter</vt:lpstr>
      <vt:lpstr>Office Theme</vt:lpstr>
      <vt:lpstr>Päevakava - VII päev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Harjutused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Emilie Abel</cp:lastModifiedBy>
  <cp:revision>19</cp:revision>
  <dcterms:created xsi:type="dcterms:W3CDTF">2013-01-27T09:14:16Z</dcterms:created>
  <dcterms:modified xsi:type="dcterms:W3CDTF">2026-10-02T07:37:20Z</dcterms:modified>
  <cp:category/>
</cp:coreProperties>
</file>