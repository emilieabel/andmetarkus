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489" r:id="rId2"/>
    <p:sldId id="256" r:id="rId3"/>
    <p:sldId id="258" r:id="rId4"/>
    <p:sldId id="261" r:id="rId5"/>
    <p:sldId id="263" r:id="rId6"/>
    <p:sldId id="264" r:id="rId7"/>
    <p:sldId id="265" r:id="rId8"/>
    <p:sldId id="266" r:id="rId9"/>
    <p:sldId id="490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491" r:id="rId26"/>
    <p:sldId id="282" r:id="rId27"/>
    <p:sldId id="283" r:id="rId28"/>
    <p:sldId id="493" r:id="rId29"/>
    <p:sldId id="284" r:id="rId30"/>
    <p:sldId id="285" r:id="rId31"/>
    <p:sldId id="286" r:id="rId32"/>
    <p:sldId id="287" r:id="rId33"/>
    <p:sldId id="288" r:id="rId34"/>
    <p:sldId id="290" r:id="rId35"/>
    <p:sldId id="492" r:id="rId36"/>
    <p:sldId id="292" r:id="rId37"/>
    <p:sldId id="293" r:id="rId3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ADD162-9A04-4A09-B1D8-E47EADD1DA9E}" v="1" dt="2026-09-07T17:01:24.80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129" autoAdjust="0"/>
    <p:restoredTop sz="94660"/>
  </p:normalViewPr>
  <p:slideViewPr>
    <p:cSldViewPr snapToGrid="0" snapToObjects="1">
      <p:cViewPr varScale="1">
        <p:scale>
          <a:sx n="111" d="100"/>
          <a:sy n="111" d="100"/>
        </p:scale>
        <p:origin x="816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undo custSel addSld delSld modSld">
      <pc:chgData name="Emilie Abel" userId="20dec598-1860-40de-ab3f-181316cc4da6" providerId="ADAL" clId="{3EAE1975-14BE-41D5-9E3B-28573F0EE5DC}" dt="2026-09-07T17:14:56.355" v="610" actId="47"/>
      <pc:docMkLst>
        <pc:docMk/>
      </pc:docMkLst>
      <pc:sldChg chg="modSp mod">
        <pc:chgData name="Emilie Abel" userId="20dec598-1860-40de-ab3f-181316cc4da6" providerId="ADAL" clId="{3EAE1975-14BE-41D5-9E3B-28573F0EE5DC}" dt="2026-09-07T17:00:49.437" v="232" actId="14100"/>
        <pc:sldMkLst>
          <pc:docMk/>
          <pc:sldMk cId="0" sldId="263"/>
        </pc:sldMkLst>
        <pc:spChg chg="mod">
          <ac:chgData name="Emilie Abel" userId="20dec598-1860-40de-ab3f-181316cc4da6" providerId="ADAL" clId="{3EAE1975-14BE-41D5-9E3B-28573F0EE5DC}" dt="2026-09-07T17:00:49.437" v="232" actId="14100"/>
          <ac:spMkLst>
            <pc:docMk/>
            <pc:sldMk cId="0" sldId="263"/>
            <ac:spMk id="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7:00:45.008" v="231" actId="20577"/>
          <ac:spMkLst>
            <pc:docMk/>
            <pc:sldMk cId="0" sldId="263"/>
            <ac:spMk id="10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7:00:31.861" v="203" actId="20577"/>
        <pc:sldMkLst>
          <pc:docMk/>
          <pc:sldMk cId="0" sldId="264"/>
        </pc:sldMkLst>
        <pc:spChg chg="mod">
          <ac:chgData name="Emilie Abel" userId="20dec598-1860-40de-ab3f-181316cc4da6" providerId="ADAL" clId="{3EAE1975-14BE-41D5-9E3B-28573F0EE5DC}" dt="2026-09-07T17:00:15.791" v="177" actId="20577"/>
          <ac:spMkLst>
            <pc:docMk/>
            <pc:sldMk cId="0" sldId="264"/>
            <ac:spMk id="6" creationId="{60F7C9AE-4A3A-AB53-29CD-A61845F65937}"/>
          </ac:spMkLst>
        </pc:spChg>
        <pc:spChg chg="mod">
          <ac:chgData name="Emilie Abel" userId="20dec598-1860-40de-ab3f-181316cc4da6" providerId="ADAL" clId="{3EAE1975-14BE-41D5-9E3B-28573F0EE5DC}" dt="2026-09-07T17:00:31.861" v="203" actId="20577"/>
          <ac:spMkLst>
            <pc:docMk/>
            <pc:sldMk cId="0" sldId="264"/>
            <ac:spMk id="10" creationId="{00000000-0000-0000-0000-000000000000}"/>
          </ac:spMkLst>
        </pc:spChg>
      </pc:sldChg>
      <pc:sldChg chg="addSp delSp modSp mod">
        <pc:chgData name="Emilie Abel" userId="20dec598-1860-40de-ab3f-181316cc4da6" providerId="ADAL" clId="{3EAE1975-14BE-41D5-9E3B-28573F0EE5DC}" dt="2026-09-07T17:01:50.556" v="282"/>
        <pc:sldMkLst>
          <pc:docMk/>
          <pc:sldMk cId="0" sldId="266"/>
        </pc:sldMkLst>
        <pc:spChg chg="add del mod">
          <ac:chgData name="Emilie Abel" userId="20dec598-1860-40de-ab3f-181316cc4da6" providerId="ADAL" clId="{3EAE1975-14BE-41D5-9E3B-28573F0EE5DC}" dt="2026-09-07T17:01:50.556" v="282"/>
          <ac:spMkLst>
            <pc:docMk/>
            <pc:sldMk cId="0" sldId="266"/>
            <ac:spMk id="2" creationId="{F729E62B-8499-203A-E506-11317354E181}"/>
          </ac:spMkLst>
        </pc:spChg>
        <pc:spChg chg="mod">
          <ac:chgData name="Emilie Abel" userId="20dec598-1860-40de-ab3f-181316cc4da6" providerId="ADAL" clId="{3EAE1975-14BE-41D5-9E3B-28573F0EE5DC}" dt="2026-09-07T17:01:22.088" v="279" actId="20577"/>
          <ac:spMkLst>
            <pc:docMk/>
            <pc:sldMk cId="0" sldId="266"/>
            <ac:spMk id="10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7:02:14.277" v="301" actId="20577"/>
        <pc:sldMkLst>
          <pc:docMk/>
          <pc:sldMk cId="0" sldId="267"/>
        </pc:sldMkLst>
        <pc:spChg chg="mod">
          <ac:chgData name="Emilie Abel" userId="20dec598-1860-40de-ab3f-181316cc4da6" providerId="ADAL" clId="{3EAE1975-14BE-41D5-9E3B-28573F0EE5DC}" dt="2026-09-07T17:02:14.277" v="301" actId="20577"/>
          <ac:spMkLst>
            <pc:docMk/>
            <pc:sldMk cId="0" sldId="267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3:47.225" v="7" actId="20577"/>
          <ac:spMkLst>
            <pc:docMk/>
            <pc:sldMk cId="0" sldId="267"/>
            <ac:spMk id="19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7:02:22.465" v="313" actId="20577"/>
        <pc:sldMkLst>
          <pc:docMk/>
          <pc:sldMk cId="0" sldId="268"/>
        </pc:sldMkLst>
        <pc:spChg chg="mod">
          <ac:chgData name="Emilie Abel" userId="20dec598-1860-40de-ab3f-181316cc4da6" providerId="ADAL" clId="{3EAE1975-14BE-41D5-9E3B-28573F0EE5DC}" dt="2026-09-07T14:14:27.162" v="28" actId="1076"/>
          <ac:spMkLst>
            <pc:docMk/>
            <pc:sldMk cId="0" sldId="268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4:25.173" v="27" actId="1076"/>
          <ac:spMkLst>
            <pc:docMk/>
            <pc:sldMk cId="0" sldId="268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4:30.401" v="29" actId="1076"/>
          <ac:spMkLst>
            <pc:docMk/>
            <pc:sldMk cId="0" sldId="268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4:32.681" v="30" actId="1076"/>
          <ac:spMkLst>
            <pc:docMk/>
            <pc:sldMk cId="0" sldId="268"/>
            <ac:spMk id="2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7:02:22.465" v="313" actId="20577"/>
          <ac:spMkLst>
            <pc:docMk/>
            <pc:sldMk cId="0" sldId="268"/>
            <ac:spMk id="22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4:14:19.736" v="26" actId="1076"/>
        <pc:sldMkLst>
          <pc:docMk/>
          <pc:sldMk cId="0" sldId="269"/>
        </pc:sldMkLst>
        <pc:spChg chg="mod">
          <ac:chgData name="Emilie Abel" userId="20dec598-1860-40de-ab3f-181316cc4da6" providerId="ADAL" clId="{3EAE1975-14BE-41D5-9E3B-28573F0EE5DC}" dt="2026-09-07T14:14:09.604" v="22" actId="1076"/>
          <ac:spMkLst>
            <pc:docMk/>
            <pc:sldMk cId="0" sldId="269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4:12.100" v="23" actId="1076"/>
          <ac:spMkLst>
            <pc:docMk/>
            <pc:sldMk cId="0" sldId="269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4:05.515" v="21" actId="20577"/>
          <ac:spMkLst>
            <pc:docMk/>
            <pc:sldMk cId="0" sldId="269"/>
            <ac:spMk id="1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4:16.983" v="25" actId="1076"/>
          <ac:spMkLst>
            <pc:docMk/>
            <pc:sldMk cId="0" sldId="269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4:15.019" v="24" actId="1076"/>
          <ac:spMkLst>
            <pc:docMk/>
            <pc:sldMk cId="0" sldId="269"/>
            <ac:spMk id="1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4:19.736" v="26" actId="1076"/>
          <ac:spMkLst>
            <pc:docMk/>
            <pc:sldMk cId="0" sldId="269"/>
            <ac:spMk id="21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7:04:06.852" v="342" actId="20577"/>
        <pc:sldMkLst>
          <pc:docMk/>
          <pc:sldMk cId="0" sldId="270"/>
        </pc:sldMkLst>
        <pc:spChg chg="mod">
          <ac:chgData name="Emilie Abel" userId="20dec598-1860-40de-ab3f-181316cc4da6" providerId="ADAL" clId="{3EAE1975-14BE-41D5-9E3B-28573F0EE5DC}" dt="2026-09-07T17:04:06.852" v="342" actId="20577"/>
          <ac:spMkLst>
            <pc:docMk/>
            <pc:sldMk cId="0" sldId="270"/>
            <ac:spMk id="5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7:04:16.075" v="343" actId="20577"/>
        <pc:sldMkLst>
          <pc:docMk/>
          <pc:sldMk cId="0" sldId="271"/>
        </pc:sldMkLst>
        <pc:spChg chg="mod">
          <ac:chgData name="Emilie Abel" userId="20dec598-1860-40de-ab3f-181316cc4da6" providerId="ADAL" clId="{3EAE1975-14BE-41D5-9E3B-28573F0EE5DC}" dt="2026-09-07T17:04:16.075" v="343" actId="20577"/>
          <ac:spMkLst>
            <pc:docMk/>
            <pc:sldMk cId="0" sldId="271"/>
            <ac:spMk id="14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4:15:10.676" v="34" actId="1076"/>
        <pc:sldMkLst>
          <pc:docMk/>
          <pc:sldMk cId="0" sldId="274"/>
        </pc:sldMkLst>
        <pc:spChg chg="mod">
          <ac:chgData name="Emilie Abel" userId="20dec598-1860-40de-ab3f-181316cc4da6" providerId="ADAL" clId="{3EAE1975-14BE-41D5-9E3B-28573F0EE5DC}" dt="2026-09-07T14:15:06.564" v="33" actId="1076"/>
          <ac:spMkLst>
            <pc:docMk/>
            <pc:sldMk cId="0" sldId="274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5:04.226" v="32" actId="1076"/>
          <ac:spMkLst>
            <pc:docMk/>
            <pc:sldMk cId="0" sldId="274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4:58.677" v="31" actId="1076"/>
          <ac:spMkLst>
            <pc:docMk/>
            <pc:sldMk cId="0" sldId="274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5:10.676" v="34" actId="1076"/>
          <ac:spMkLst>
            <pc:docMk/>
            <pc:sldMk cId="0" sldId="274"/>
            <ac:spMk id="21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7:05:30.516" v="395" actId="20577"/>
        <pc:sldMkLst>
          <pc:docMk/>
          <pc:sldMk cId="0" sldId="276"/>
        </pc:sldMkLst>
        <pc:spChg chg="mod">
          <ac:chgData name="Emilie Abel" userId="20dec598-1860-40de-ab3f-181316cc4da6" providerId="ADAL" clId="{3EAE1975-14BE-41D5-9E3B-28573F0EE5DC}" dt="2026-09-07T17:05:30.516" v="395" actId="20577"/>
          <ac:spMkLst>
            <pc:docMk/>
            <pc:sldMk cId="0" sldId="276"/>
            <ac:spMk id="5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7:06:38.904" v="426" actId="20577"/>
        <pc:sldMkLst>
          <pc:docMk/>
          <pc:sldMk cId="0" sldId="278"/>
        </pc:sldMkLst>
        <pc:spChg chg="mod">
          <ac:chgData name="Emilie Abel" userId="20dec598-1860-40de-ab3f-181316cc4da6" providerId="ADAL" clId="{3EAE1975-14BE-41D5-9E3B-28573F0EE5DC}" dt="2026-09-07T17:05:59.326" v="396" actId="14100"/>
          <ac:spMkLst>
            <pc:docMk/>
            <pc:sldMk cId="0" sldId="278"/>
            <ac:spMk id="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7:06:38.904" v="426" actId="20577"/>
          <ac:spMkLst>
            <pc:docMk/>
            <pc:sldMk cId="0" sldId="278"/>
            <ac:spMk id="1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5:32.302" v="36" actId="403"/>
          <ac:spMkLst>
            <pc:docMk/>
            <pc:sldMk cId="0" sldId="278"/>
            <ac:spMk id="11" creationId="{00000000-0000-0000-0000-000000000000}"/>
          </ac:spMkLst>
        </pc:spChg>
      </pc:sldChg>
      <pc:sldChg chg="addSp delSp modSp mod">
        <pc:chgData name="Emilie Abel" userId="20dec598-1860-40de-ab3f-181316cc4da6" providerId="ADAL" clId="{3EAE1975-14BE-41D5-9E3B-28573F0EE5DC}" dt="2026-09-07T17:13:25.305" v="607" actId="403"/>
        <pc:sldMkLst>
          <pc:docMk/>
          <pc:sldMk cId="0" sldId="279"/>
        </pc:sldMkLst>
        <pc:spChg chg="add mod">
          <ac:chgData name="Emilie Abel" userId="20dec598-1860-40de-ab3f-181316cc4da6" providerId="ADAL" clId="{3EAE1975-14BE-41D5-9E3B-28573F0EE5DC}" dt="2026-09-07T17:13:25.305" v="607" actId="403"/>
          <ac:spMkLst>
            <pc:docMk/>
            <pc:sldMk cId="0" sldId="279"/>
            <ac:spMk id="6" creationId="{2740A2EC-FEC4-54F8-D38E-3C69BACF57FF}"/>
          </ac:spMkLst>
        </pc:spChg>
        <pc:spChg chg="del">
          <ac:chgData name="Emilie Abel" userId="20dec598-1860-40de-ab3f-181316cc4da6" providerId="ADAL" clId="{3EAE1975-14BE-41D5-9E3B-28573F0EE5DC}" dt="2026-09-07T14:15:51.577" v="37" actId="478"/>
          <ac:spMkLst>
            <pc:docMk/>
            <pc:sldMk cId="0" sldId="279"/>
            <ac:spMk id="11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4:16:40.984" v="41" actId="1076"/>
        <pc:sldMkLst>
          <pc:docMk/>
          <pc:sldMk cId="0" sldId="280"/>
        </pc:sldMkLst>
        <pc:spChg chg="mod">
          <ac:chgData name="Emilie Abel" userId="20dec598-1860-40de-ab3f-181316cc4da6" providerId="ADAL" clId="{3EAE1975-14BE-41D5-9E3B-28573F0EE5DC}" dt="2026-09-07T14:16:33.784" v="39" actId="1076"/>
          <ac:spMkLst>
            <pc:docMk/>
            <pc:sldMk cId="0" sldId="280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6:31.685" v="38" actId="1076"/>
          <ac:spMkLst>
            <pc:docMk/>
            <pc:sldMk cId="0" sldId="280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6:37.631" v="40" actId="1076"/>
          <ac:spMkLst>
            <pc:docMk/>
            <pc:sldMk cId="0" sldId="280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6:40.984" v="41" actId="1076"/>
          <ac:spMkLst>
            <pc:docMk/>
            <pc:sldMk cId="0" sldId="280"/>
            <ac:spMk id="21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4:17:23.134" v="50" actId="1076"/>
        <pc:sldMkLst>
          <pc:docMk/>
          <pc:sldMk cId="0" sldId="281"/>
        </pc:sldMkLst>
        <pc:spChg chg="mod">
          <ac:chgData name="Emilie Abel" userId="20dec598-1860-40de-ab3f-181316cc4da6" providerId="ADAL" clId="{3EAE1975-14BE-41D5-9E3B-28573F0EE5DC}" dt="2026-09-07T14:17:03.776" v="45" actId="1076"/>
          <ac:spMkLst>
            <pc:docMk/>
            <pc:sldMk cId="0" sldId="281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7:19.660" v="49" actId="14100"/>
          <ac:spMkLst>
            <pc:docMk/>
            <pc:sldMk cId="0" sldId="281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7:10.032" v="47" actId="1076"/>
          <ac:spMkLst>
            <pc:docMk/>
            <pc:sldMk cId="0" sldId="281"/>
            <ac:spMk id="1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7:13.715" v="48" actId="1076"/>
          <ac:spMkLst>
            <pc:docMk/>
            <pc:sldMk cId="0" sldId="281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7:23.134" v="50" actId="1076"/>
          <ac:spMkLst>
            <pc:docMk/>
            <pc:sldMk cId="0" sldId="281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6:56.114" v="44" actId="1076"/>
          <ac:spMkLst>
            <pc:docMk/>
            <pc:sldMk cId="0" sldId="281"/>
            <ac:spMk id="21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7T14:17:31.276" v="53" actId="478"/>
        <pc:sldMkLst>
          <pc:docMk/>
          <pc:sldMk cId="0" sldId="283"/>
        </pc:sldMkLst>
        <pc:spChg chg="del">
          <ac:chgData name="Emilie Abel" userId="20dec598-1860-40de-ab3f-181316cc4da6" providerId="ADAL" clId="{3EAE1975-14BE-41D5-9E3B-28573F0EE5DC}" dt="2026-09-07T14:17:31.276" v="53" actId="478"/>
          <ac:spMkLst>
            <pc:docMk/>
            <pc:sldMk cId="0" sldId="283"/>
            <ac:spMk id="6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7T14:17:30.531" v="52" actId="478"/>
          <ac:spMkLst>
            <pc:docMk/>
            <pc:sldMk cId="0" sldId="283"/>
            <ac:spMk id="7" creationId="{00000000-0000-0000-0000-000000000000}"/>
          </ac:spMkLst>
        </pc:spChg>
      </pc:sldChg>
      <pc:sldChg chg="addSp delSp modSp mod">
        <pc:chgData name="Emilie Abel" userId="20dec598-1860-40de-ab3f-181316cc4da6" providerId="ADAL" clId="{3EAE1975-14BE-41D5-9E3B-28573F0EE5DC}" dt="2026-09-07T17:13:53.935" v="609" actId="478"/>
        <pc:sldMkLst>
          <pc:docMk/>
          <pc:sldMk cId="0" sldId="284"/>
        </pc:sldMkLst>
        <pc:spChg chg="del">
          <ac:chgData name="Emilie Abel" userId="20dec598-1860-40de-ab3f-181316cc4da6" providerId="ADAL" clId="{3EAE1975-14BE-41D5-9E3B-28573F0EE5DC}" dt="2026-09-07T17:13:53.935" v="609" actId="478"/>
          <ac:spMkLst>
            <pc:docMk/>
            <pc:sldMk cId="0" sldId="284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7T14:17:35.523" v="54" actId="478"/>
          <ac:spMkLst>
            <pc:docMk/>
            <pc:sldMk cId="0" sldId="284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7:10:21.034" v="486" actId="20577"/>
          <ac:spMkLst>
            <pc:docMk/>
            <pc:sldMk cId="0" sldId="284"/>
            <ac:spMk id="15" creationId="{00000000-0000-0000-0000-000000000000}"/>
          </ac:spMkLst>
        </pc:spChg>
        <pc:spChg chg="add">
          <ac:chgData name="Emilie Abel" userId="20dec598-1860-40de-ab3f-181316cc4da6" providerId="ADAL" clId="{3EAE1975-14BE-41D5-9E3B-28573F0EE5DC}" dt="2026-09-07T17:13:51.406" v="608" actId="22"/>
          <ac:spMkLst>
            <pc:docMk/>
            <pc:sldMk cId="0" sldId="284"/>
            <ac:spMk id="20" creationId="{E7C05380-9665-EC30-AB7C-737357EF7A17}"/>
          </ac:spMkLst>
        </pc:spChg>
      </pc:sldChg>
      <pc:sldChg chg="modSp mod">
        <pc:chgData name="Emilie Abel" userId="20dec598-1860-40de-ab3f-181316cc4da6" providerId="ADAL" clId="{3EAE1975-14BE-41D5-9E3B-28573F0EE5DC}" dt="2026-09-07T17:10:47.110" v="491" actId="20577"/>
        <pc:sldMkLst>
          <pc:docMk/>
          <pc:sldMk cId="0" sldId="285"/>
        </pc:sldMkLst>
        <pc:spChg chg="mod">
          <ac:chgData name="Emilie Abel" userId="20dec598-1860-40de-ab3f-181316cc4da6" providerId="ADAL" clId="{3EAE1975-14BE-41D5-9E3B-28573F0EE5DC}" dt="2026-09-07T14:17:56.044" v="56" actId="1076"/>
          <ac:spMkLst>
            <pc:docMk/>
            <pc:sldMk cId="0" sldId="285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8:05.247" v="59" actId="1076"/>
          <ac:spMkLst>
            <pc:docMk/>
            <pc:sldMk cId="0" sldId="285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8:02.009" v="58" actId="1076"/>
          <ac:spMkLst>
            <pc:docMk/>
            <pc:sldMk cId="0" sldId="285"/>
            <ac:spMk id="1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8:08.126" v="60" actId="1076"/>
          <ac:spMkLst>
            <pc:docMk/>
            <pc:sldMk cId="0" sldId="285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7:10:43.368" v="489" actId="14100"/>
          <ac:spMkLst>
            <pc:docMk/>
            <pc:sldMk cId="0" sldId="285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7:10:47.110" v="491" actId="20577"/>
          <ac:spMkLst>
            <pc:docMk/>
            <pc:sldMk cId="0" sldId="285"/>
            <ac:spMk id="1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8:18.419" v="63" actId="1076"/>
          <ac:spMkLst>
            <pc:docMk/>
            <pc:sldMk cId="0" sldId="285"/>
            <ac:spMk id="21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7:12:18.605" v="573" actId="6549"/>
        <pc:sldMkLst>
          <pc:docMk/>
          <pc:sldMk cId="0" sldId="286"/>
        </pc:sldMkLst>
        <pc:spChg chg="mod">
          <ac:chgData name="Emilie Abel" userId="20dec598-1860-40de-ab3f-181316cc4da6" providerId="ADAL" clId="{3EAE1975-14BE-41D5-9E3B-28573F0EE5DC}" dt="2026-09-07T14:19:56.983" v="83" actId="1076"/>
          <ac:spMkLst>
            <pc:docMk/>
            <pc:sldMk cId="0" sldId="286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8:24.620" v="64" actId="1076"/>
          <ac:spMkLst>
            <pc:docMk/>
            <pc:sldMk cId="0" sldId="286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8:27.844" v="65" actId="14100"/>
          <ac:spMkLst>
            <pc:docMk/>
            <pc:sldMk cId="0" sldId="286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7:12:18.605" v="573" actId="6549"/>
          <ac:spMkLst>
            <pc:docMk/>
            <pc:sldMk cId="0" sldId="286"/>
            <ac:spMk id="1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8:33.734" v="67" actId="1076"/>
          <ac:spMkLst>
            <pc:docMk/>
            <pc:sldMk cId="0" sldId="286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9:39.470" v="81" actId="14100"/>
          <ac:spMkLst>
            <pc:docMk/>
            <pc:sldMk cId="0" sldId="286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7:12:00.507" v="557" actId="6549"/>
          <ac:spMkLst>
            <pc:docMk/>
            <pc:sldMk cId="0" sldId="286"/>
            <ac:spMk id="1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20:00.951" v="84" actId="1076"/>
          <ac:spMkLst>
            <pc:docMk/>
            <pc:sldMk cId="0" sldId="286"/>
            <ac:spMk id="1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9:15.199" v="77" actId="14100"/>
          <ac:spMkLst>
            <pc:docMk/>
            <pc:sldMk cId="0" sldId="286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9:11.786" v="76" actId="1076"/>
          <ac:spMkLst>
            <pc:docMk/>
            <pc:sldMk cId="0" sldId="286"/>
            <ac:spMk id="2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8:56.998" v="72" actId="1076"/>
          <ac:spMkLst>
            <pc:docMk/>
            <pc:sldMk cId="0" sldId="286"/>
            <ac:spMk id="2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7:11:32.634" v="524" actId="6549"/>
          <ac:spMkLst>
            <pc:docMk/>
            <pc:sldMk cId="0" sldId="286"/>
            <ac:spMk id="22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7T14:20:21.402" v="86" actId="478"/>
        <pc:sldMkLst>
          <pc:docMk/>
          <pc:sldMk cId="0" sldId="287"/>
        </pc:sldMkLst>
        <pc:spChg chg="del">
          <ac:chgData name="Emilie Abel" userId="20dec598-1860-40de-ab3f-181316cc4da6" providerId="ADAL" clId="{3EAE1975-14BE-41D5-9E3B-28573F0EE5DC}" dt="2026-09-07T14:20:20.208" v="85" actId="478"/>
          <ac:spMkLst>
            <pc:docMk/>
            <pc:sldMk cId="0" sldId="287"/>
            <ac:spMk id="1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7T14:20:21.402" v="86" actId="478"/>
          <ac:spMkLst>
            <pc:docMk/>
            <pc:sldMk cId="0" sldId="287"/>
            <ac:spMk id="13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4:20:47.382" v="94" actId="20577"/>
        <pc:sldMkLst>
          <pc:docMk/>
          <pc:sldMk cId="0" sldId="288"/>
        </pc:sldMkLst>
        <pc:spChg chg="mod">
          <ac:chgData name="Emilie Abel" userId="20dec598-1860-40de-ab3f-181316cc4da6" providerId="ADAL" clId="{3EAE1975-14BE-41D5-9E3B-28573F0EE5DC}" dt="2026-09-07T14:20:38.966" v="90" actId="20577"/>
          <ac:spMkLst>
            <pc:docMk/>
            <pc:sldMk cId="0" sldId="288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20:47.382" v="94" actId="20577"/>
          <ac:spMkLst>
            <pc:docMk/>
            <pc:sldMk cId="0" sldId="288"/>
            <ac:spMk id="19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4:21:33.507" v="143" actId="14100"/>
        <pc:sldMkLst>
          <pc:docMk/>
          <pc:sldMk cId="0" sldId="290"/>
        </pc:sldMkLst>
        <pc:spChg chg="mod">
          <ac:chgData name="Emilie Abel" userId="20dec598-1860-40de-ab3f-181316cc4da6" providerId="ADAL" clId="{3EAE1975-14BE-41D5-9E3B-28573F0EE5DC}" dt="2026-09-07T14:21:25.962" v="142" actId="20577"/>
          <ac:spMkLst>
            <pc:docMk/>
            <pc:sldMk cId="0" sldId="290"/>
            <ac:spMk id="1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21:33.507" v="143" actId="14100"/>
          <ac:spMkLst>
            <pc:docMk/>
            <pc:sldMk cId="0" sldId="290"/>
            <ac:spMk id="19" creationId="{00000000-0000-0000-0000-000000000000}"/>
          </ac:spMkLst>
        </pc:spChg>
      </pc:sldChg>
      <pc:sldChg chg="del">
        <pc:chgData name="Emilie Abel" userId="20dec598-1860-40de-ab3f-181316cc4da6" providerId="ADAL" clId="{3EAE1975-14BE-41D5-9E3B-28573F0EE5DC}" dt="2026-09-07T17:14:56.355" v="610" actId="47"/>
        <pc:sldMkLst>
          <pc:docMk/>
          <pc:sldMk cId="0" sldId="291"/>
        </pc:sldMkLst>
      </pc:sldChg>
      <pc:sldChg chg="new">
        <pc:chgData name="Emilie Abel" userId="20dec598-1860-40de-ab3f-181316cc4da6" providerId="ADAL" clId="{3EAE1975-14BE-41D5-9E3B-28573F0EE5DC}" dt="2026-09-07T17:07:23.532" v="427" actId="680"/>
        <pc:sldMkLst>
          <pc:docMk/>
          <pc:sldMk cId="79081028" sldId="49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AA0B6A-941B-4944-B140-87817CB84C4C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02A790-CAE1-4036-9760-3E4C6617608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10529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WHERE COUNT(*) &gt; 5 ei tööta. See on päeva peamine komistuskivi.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Päeva lõpu harjutus. Tase 1 kõigile, tase 2 kiiretele. Kata kogu päeva teema.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Tase 1 kõigile. Kes valmis, võta tase 2. Kes ka selle teeb, mine esitluse lõppu lisaülesannete juurde.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62072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FFB0F8B-9E23-166D-3268-A1AE51330EF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7E45BAB-0A4D-FAE6-2637-06CE42F19CFF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2C9CA05-F601-5A06-EEC2-869F5340162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48344C2-2414-764C-07DD-D8799B5FD47D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10" Type="http://schemas.openxmlformats.org/officeDocument/2006/relationships/image" Target="../media/image36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0372B-A5B8-260D-C940-47B5F56C1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291BE-55D8-719B-FCEB-18D326A1599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>
                <a:ea typeface="+mj-lt"/>
                <a:cs typeface="+mj-lt"/>
              </a:rPr>
              <a:t>Päevakava</a:t>
            </a:r>
            <a:r>
              <a:rPr lang="en-US" sz="3600" b="1" dirty="0">
                <a:ea typeface="+mj-lt"/>
                <a:cs typeface="+mj-lt"/>
              </a:rPr>
              <a:t> - VII </a:t>
            </a:r>
            <a:r>
              <a:rPr lang="en-US" sz="3600" b="1" dirty="0" err="1">
                <a:ea typeface="+mj-lt"/>
                <a:cs typeface="+mj-lt"/>
              </a:rPr>
              <a:t>päev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55805DDA-288D-DB3E-2A59-EC7449C89D98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3659186038"/>
              </p:ext>
            </p:extLst>
          </p:nvPr>
        </p:nvGraphicFramePr>
        <p:xfrm>
          <a:off x="623888" y="1268413"/>
          <a:ext cx="10941050" cy="4302095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andmebaasi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kontroll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, </a:t>
                      </a:r>
                      <a:r>
                        <a:rPr lang="sv-SE" sz="2400" b="0" dirty="0">
                          <a:solidFill>
                            <a:srgbClr val="0F203E"/>
                          </a:solidFill>
                          <a:latin typeface="+mn-lt"/>
                        </a:rPr>
                        <a:t>COUNT, MIN, MAX, SUM, AVG Harjutus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GB" sz="2400" b="0" kern="1200" dirty="0">
                          <a:solidFill>
                            <a:srgbClr val="0F203E"/>
                          </a:solidFill>
                          <a:latin typeface="+mn-lt"/>
                          <a:ea typeface="+mn-ea"/>
                          <a:cs typeface="+mn-cs"/>
                        </a:rPr>
                        <a:t>GROUP BY </a:t>
                      </a:r>
                      <a:r>
                        <a:rPr lang="en-GB" sz="2400" b="0" kern="1200" dirty="0" err="1">
                          <a:solidFill>
                            <a:srgbClr val="0F203E"/>
                          </a:solidFill>
                          <a:latin typeface="+mn-lt"/>
                          <a:ea typeface="+mn-ea"/>
                          <a:cs typeface="+mn-cs"/>
                        </a:rPr>
                        <a:t>Harjutus</a:t>
                      </a:r>
                      <a:endParaRPr lang="en-GB" sz="2400" b="0" kern="1200" dirty="0">
                        <a:solidFill>
                          <a:srgbClr val="0F203E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Koolitus – </a:t>
                      </a:r>
                      <a:r>
                        <a:rPr lang="en-GB" sz="2400" b="0" dirty="0">
                          <a:solidFill>
                            <a:srgbClr val="0F203E"/>
                          </a:solidFill>
                          <a:latin typeface="+mn-lt"/>
                        </a:rPr>
                        <a:t>HAVING </a:t>
                      </a:r>
                      <a:r>
                        <a:rPr lang="en-GB" sz="2400" b="0" dirty="0" err="1">
                          <a:solidFill>
                            <a:srgbClr val="0F203E"/>
                          </a:solidFill>
                          <a:latin typeface="+mn-lt"/>
                        </a:rPr>
                        <a:t>Harjutus</a:t>
                      </a:r>
                      <a:endParaRPr lang="en-GB" sz="2400" b="0" dirty="0">
                        <a:solidFill>
                          <a:srgbClr val="0F203E"/>
                        </a:solidFill>
                        <a:latin typeface="+mn-lt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n-US" b="0" i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Koolitus – CASE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Harjutus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69187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54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72800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dirty="0">
                <a:solidFill>
                  <a:srgbClr val="C49526"/>
                </a:solidFill>
                <a:latin typeface="Calibri"/>
              </a:rPr>
              <a:t>1. PÄEV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70788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4000" b="1" dirty="0" err="1">
                <a:solidFill>
                  <a:srgbClr val="FFFFFF"/>
                </a:solidFill>
                <a:latin typeface="Calibri"/>
              </a:rPr>
              <a:t>Agregeerimine</a:t>
            </a:r>
            <a:r>
              <a:rPr lang="en-GB" sz="4000" b="1" dirty="0">
                <a:solidFill>
                  <a:srgbClr val="FFFFFF"/>
                </a:solidFill>
                <a:latin typeface="Calibri"/>
              </a:rPr>
              <a:t> e </a:t>
            </a:r>
            <a:r>
              <a:rPr lang="en-GB" sz="4000" b="1" dirty="0" err="1">
                <a:solidFill>
                  <a:srgbClr val="FFFFFF"/>
                </a:solidFill>
                <a:latin typeface="Calibri"/>
              </a:rPr>
              <a:t>arvutused</a:t>
            </a:r>
            <a:endParaRPr sz="4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" y="26060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BACCE0"/>
                </a:solidFill>
                <a:latin typeface="Calibri"/>
              </a:rPr>
              <a:t>COUNT, MIN, MAX, SUM, AVG  ·  GROUP BY  ·  HAVING  ·  CASE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83280"/>
            <a:ext cx="2468880" cy="41148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2468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Plokk 1  ·  agregaadid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3383280"/>
            <a:ext cx="2286000" cy="41148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46120" y="3383280"/>
            <a:ext cx="22860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Plokk 2  ·  GROUP BY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3383280"/>
            <a:ext cx="2103120" cy="41148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9280" y="3383280"/>
            <a:ext cx="21031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Plokk 3  ·  HAVING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9560" y="3383280"/>
            <a:ext cx="1920240" cy="41148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909560" y="3383280"/>
            <a:ext cx="19202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Plokk 4  ·  CASE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11480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kliendid  ·  tooted  ·  kategooriad  ·  tellimused  ·  tellimuse_read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Tänane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kava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114300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1280160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dirty="0" err="1">
                <a:solidFill>
                  <a:srgbClr val="64748B"/>
                </a:solidFill>
                <a:latin typeface="Calibri"/>
              </a:rPr>
              <a:t>Plokk</a:t>
            </a:r>
            <a:r>
              <a:rPr sz="1300" b="0" dirty="0">
                <a:solidFill>
                  <a:srgbClr val="64748B"/>
                </a:solidFill>
                <a:latin typeface="Calibri"/>
              </a:rPr>
              <a:t>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581912"/>
            <a:ext cx="7772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dirty="0">
                <a:solidFill>
                  <a:srgbClr val="0F203E"/>
                </a:solidFill>
                <a:latin typeface="Calibri"/>
              </a:rPr>
              <a:t>COUNT, MIN, MAX, SUM, AVG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1581912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7073"/>
                </a:solidFill>
                <a:latin typeface="Calibri"/>
              </a:rPr>
              <a:t>Väike harjutus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423160"/>
            <a:ext cx="114300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2560320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dirty="0" err="1">
                <a:solidFill>
                  <a:srgbClr val="64748B"/>
                </a:solidFill>
                <a:latin typeface="Calibri"/>
              </a:rPr>
              <a:t>Plokk</a:t>
            </a:r>
            <a:r>
              <a:rPr sz="1300" b="0" dirty="0">
                <a:solidFill>
                  <a:srgbClr val="64748B"/>
                </a:solidFill>
                <a:latin typeface="Calibri"/>
              </a:rPr>
              <a:t>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62072"/>
            <a:ext cx="7772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dirty="0">
                <a:solidFill>
                  <a:srgbClr val="0F203E"/>
                </a:solidFill>
                <a:latin typeface="Calibri"/>
              </a:rPr>
              <a:t>GROUP BY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862072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7073"/>
                </a:solidFill>
                <a:latin typeface="Calibri"/>
              </a:rPr>
              <a:t>Väike harjutus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703320"/>
            <a:ext cx="114300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4360" y="3840480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dirty="0" err="1">
                <a:solidFill>
                  <a:srgbClr val="64748B"/>
                </a:solidFill>
                <a:latin typeface="Calibri"/>
              </a:rPr>
              <a:t>Plokk</a:t>
            </a:r>
            <a:r>
              <a:rPr sz="1300" b="0" dirty="0">
                <a:solidFill>
                  <a:srgbClr val="64748B"/>
                </a:solidFill>
                <a:latin typeface="Calibri"/>
              </a:rPr>
              <a:t>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142231"/>
            <a:ext cx="7772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dirty="0">
                <a:solidFill>
                  <a:srgbClr val="0F203E"/>
                </a:solidFill>
                <a:latin typeface="Calibri"/>
              </a:rPr>
              <a:t>HAVING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4142231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7073"/>
                </a:solidFill>
                <a:latin typeface="Calibri"/>
              </a:rPr>
              <a:t>Väike harjutus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4983479"/>
            <a:ext cx="114300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4360" y="5120640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dirty="0" err="1">
                <a:solidFill>
                  <a:srgbClr val="64748B"/>
                </a:solidFill>
                <a:latin typeface="Calibri"/>
              </a:rPr>
              <a:t>Plokk</a:t>
            </a:r>
            <a:r>
              <a:rPr sz="1300" b="0" dirty="0">
                <a:solidFill>
                  <a:srgbClr val="64748B"/>
                </a:solidFill>
                <a:latin typeface="Calibri"/>
              </a:rPr>
              <a:t>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422392"/>
            <a:ext cx="7772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CASE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5422392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7073"/>
                </a:solidFill>
                <a:latin typeface="Calibri"/>
              </a:rPr>
              <a:t>Väike harjutus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49526"/>
                </a:solidFill>
                <a:latin typeface="Calibri"/>
              </a:rPr>
              <a:t>1. PÄEV  ·  8 AK 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Arvutused</a:t>
            </a:r>
            <a:endParaRPr sz="3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35204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BACCE0"/>
                </a:solidFill>
                <a:latin typeface="Calibri"/>
              </a:rPr>
              <a:t>Agregaadid → GROUP BY → HAVING →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6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C16F9C3-2AF9-BF2B-395D-A4F20C679D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4377" y="219026"/>
            <a:ext cx="3600907" cy="472542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92683DA-EA6F-C819-E92A-3CBA29C02E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028" y="1134286"/>
            <a:ext cx="2324424" cy="202910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81862BD-C01E-F66A-1BEA-CD072A5C7B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028" y="219026"/>
            <a:ext cx="1924319" cy="65731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8AB5A32-3CFE-F25D-8853-32AA31DE17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2334" y="3572863"/>
            <a:ext cx="2429586" cy="236590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77302"/>
            <a:ext cx="1143000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>
                <a:solidFill>
                  <a:srgbClr val="FFFFFF"/>
                </a:solidFill>
                <a:latin typeface="Calibri"/>
              </a:rPr>
              <a:t>COUNT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mitu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rida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?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800" b="1" dirty="0">
                <a:solidFill>
                  <a:srgbClr val="92D050"/>
                </a:solidFill>
                <a:latin typeface="Calibri"/>
              </a:rPr>
              <a:t>NÄITAN</a:t>
            </a:r>
            <a:r>
              <a:rPr sz="2800" b="1" dirty="0">
                <a:solidFill>
                  <a:srgbClr val="92D050"/>
                </a:solidFill>
                <a:latin typeface="Calibri"/>
              </a:rPr>
              <a:t> </a:t>
            </a:r>
            <a:endParaRPr sz="2400" b="1" dirty="0">
              <a:solidFill>
                <a:srgbClr val="92D05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1783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GB" sz="1800" b="0" dirty="0">
                <a:solidFill>
                  <a:srgbClr val="E2E8F0"/>
                </a:solidFill>
                <a:latin typeface="Consolas"/>
              </a:rPr>
              <a:t>SELECT * FROM tooted;</a:t>
            </a:r>
          </a:p>
          <a:p>
            <a:pPr>
              <a:spcAft>
                <a:spcPts val="300"/>
              </a:spcAft>
            </a:pPr>
            <a:endParaRPr lang="en-GB" sz="18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800" b="0" dirty="0">
                <a:solidFill>
                  <a:srgbClr val="E2E8F0"/>
                </a:solidFill>
                <a:latin typeface="Consolas"/>
              </a:rPr>
              <a:t>--Kui </a:t>
            </a:r>
            <a:r>
              <a:rPr lang="en-GB" sz="1800" b="0" dirty="0" err="1">
                <a:solidFill>
                  <a:srgbClr val="E2E8F0"/>
                </a:solidFill>
                <a:latin typeface="Consolas"/>
              </a:rPr>
              <a:t>palju</a:t>
            </a:r>
            <a:r>
              <a:rPr lang="en-GB" sz="1800" b="0" dirty="0">
                <a:solidFill>
                  <a:srgbClr val="E2E8F0"/>
                </a:solidFill>
                <a:latin typeface="Consolas"/>
              </a:rPr>
              <a:t> on </a:t>
            </a:r>
            <a:r>
              <a:rPr lang="en-GB" sz="1800" b="0" dirty="0" err="1">
                <a:solidFill>
                  <a:srgbClr val="E2E8F0"/>
                </a:solidFill>
                <a:latin typeface="Consolas"/>
              </a:rPr>
              <a:t>tooteid</a:t>
            </a:r>
            <a:r>
              <a:rPr lang="en-GB" sz="18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800" b="0" dirty="0" err="1">
                <a:solidFill>
                  <a:srgbClr val="E2E8F0"/>
                </a:solidFill>
                <a:latin typeface="Consolas"/>
              </a:rPr>
              <a:t>kokku</a:t>
            </a:r>
            <a:r>
              <a:rPr lang="en-GB" sz="1800" b="0" dirty="0">
                <a:solidFill>
                  <a:srgbClr val="E2E8F0"/>
                </a:solidFill>
                <a:latin typeface="Consolas"/>
              </a:rPr>
              <a:t>?</a:t>
            </a:r>
          </a:p>
          <a:p>
            <a:pPr>
              <a:spcAft>
                <a:spcPts val="300"/>
              </a:spcAft>
            </a:pPr>
            <a:r>
              <a:rPr sz="1800" b="0" dirty="0">
                <a:solidFill>
                  <a:srgbClr val="E2E8F0"/>
                </a:solidFill>
                <a:latin typeface="Consolas"/>
              </a:rPr>
              <a:t>SELECT COUNT(*) AS </a:t>
            </a:r>
            <a:r>
              <a:rPr sz="1800" b="0" dirty="0" err="1">
                <a:solidFill>
                  <a:srgbClr val="E2E8F0"/>
                </a:solidFill>
                <a:latin typeface="Consolas"/>
              </a:rPr>
              <a:t>toodete_koguarv</a:t>
            </a:r>
            <a:endParaRPr sz="18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800" b="0" dirty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80360"/>
            <a:ext cx="1124712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•  COUNT(*)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loendab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read.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Kataloogis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on 15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toodet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→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tulemus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15.</a:t>
            </a:r>
          </a:p>
          <a:p>
            <a:pPr>
              <a:spcAft>
                <a:spcPts val="9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•  AS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paneb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veerule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loetava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•  COUNT(hind)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jätab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vahele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NULL-id; COUNT(*)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loendab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ka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tühjad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>
                <a:solidFill>
                  <a:srgbClr val="FFFFFF"/>
                </a:solidFill>
                <a:latin typeface="Calibri"/>
              </a:rPr>
              <a:t>COUNT + WHERE </a:t>
            </a:r>
            <a:r>
              <a:rPr lang="en-GB" sz="2400" b="1" dirty="0">
                <a:solidFill>
                  <a:srgbClr val="92D050"/>
                </a:solidFill>
              </a:rPr>
              <a:t>NÄITAN 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21031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1854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GB" sz="1700" b="0" dirty="0">
                <a:solidFill>
                  <a:srgbClr val="E2E8F0"/>
                </a:solidFill>
                <a:latin typeface="Consolas"/>
              </a:rPr>
              <a:t>--Mitu </a:t>
            </a:r>
            <a:r>
              <a:rPr lang="en-GB" sz="1700" b="0" dirty="0" err="1">
                <a:solidFill>
                  <a:srgbClr val="E2E8F0"/>
                </a:solidFill>
                <a:latin typeface="Consolas"/>
              </a:rPr>
              <a:t>tellimust</a:t>
            </a:r>
            <a:r>
              <a:rPr lang="en-GB" sz="1700" b="0" dirty="0">
                <a:solidFill>
                  <a:srgbClr val="E2E8F0"/>
                </a:solidFill>
                <a:latin typeface="Consolas"/>
              </a:rPr>
              <a:t> on </a:t>
            </a:r>
            <a:r>
              <a:rPr lang="en-GB" sz="1700" b="0" dirty="0" err="1">
                <a:solidFill>
                  <a:srgbClr val="E2E8F0"/>
                </a:solidFill>
                <a:latin typeface="Consolas"/>
              </a:rPr>
              <a:t>ootel</a:t>
            </a:r>
            <a:r>
              <a:rPr lang="en-GB" sz="1700" b="0" dirty="0">
                <a:solidFill>
                  <a:srgbClr val="E2E8F0"/>
                </a:solidFill>
                <a:latin typeface="Consolas"/>
              </a:rPr>
              <a:t>?</a:t>
            </a:r>
          </a:p>
          <a:p>
            <a:pPr>
              <a:spcAft>
                <a:spcPts val="300"/>
              </a:spcAft>
            </a:pPr>
            <a:endParaRPr lang="en-GB"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700" b="0" dirty="0">
                <a:solidFill>
                  <a:srgbClr val="E2E8F0"/>
                </a:solidFill>
                <a:latin typeface="Consolas"/>
              </a:rPr>
              <a:t>SELECT </a:t>
            </a:r>
            <a:endParaRPr lang="en-GB"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7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700" b="0" dirty="0">
                <a:solidFill>
                  <a:srgbClr val="E2E8F0"/>
                </a:solidFill>
                <a:latin typeface="Consolas"/>
              </a:rPr>
              <a:t>COUNT(*) AS </a:t>
            </a:r>
            <a:r>
              <a:rPr sz="1700" b="0" dirty="0" err="1">
                <a:solidFill>
                  <a:srgbClr val="E2E8F0"/>
                </a:solidFill>
                <a:latin typeface="Consolas"/>
              </a:rPr>
              <a:t>ootel_arv</a:t>
            </a:r>
            <a:endParaRPr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7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700" b="0" dirty="0" err="1">
                <a:solidFill>
                  <a:srgbClr val="E2E8F0"/>
                </a:solidFill>
                <a:latin typeface="Consolas"/>
              </a:rPr>
              <a:t>tellimused</a:t>
            </a:r>
            <a:endParaRPr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700" b="0" dirty="0">
                <a:solidFill>
                  <a:srgbClr val="E2E8F0"/>
                </a:solidFill>
                <a:latin typeface="Consolas"/>
              </a:rPr>
              <a:t>WHERE </a:t>
            </a:r>
            <a:r>
              <a:rPr sz="17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7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700" b="0" dirty="0" err="1">
                <a:solidFill>
                  <a:srgbClr val="E2E8F0"/>
                </a:solidFill>
                <a:latin typeface="Consolas"/>
              </a:rPr>
              <a:t>Ootel</a:t>
            </a:r>
            <a:r>
              <a:rPr sz="1700" b="0" dirty="0">
                <a:solidFill>
                  <a:srgbClr val="E2E8F0"/>
                </a:solidFill>
                <a:latin typeface="Consolas"/>
              </a:rPr>
              <a:t>';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29000"/>
            <a:ext cx="1124712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dirty="0" err="1">
                <a:solidFill>
                  <a:srgbClr val="334155"/>
                </a:solidFill>
                <a:latin typeface="Calibri"/>
              </a:rPr>
              <a:t>Kõigepealt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WHERE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jätab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read,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siis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COUNT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loendab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allesjäänud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
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F7C9AE-4A3A-AB53-29CD-A61845F65937}"/>
              </a:ext>
            </a:extLst>
          </p:cNvPr>
          <p:cNvSpPr txBox="1"/>
          <p:nvPr/>
        </p:nvSpPr>
        <p:spPr>
          <a:xfrm>
            <a:off x="530352" y="4314403"/>
            <a:ext cx="6094476" cy="12541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fi-FI" sz="1700" dirty="0">
                <a:solidFill>
                  <a:srgbClr val="334155"/>
                </a:solidFill>
              </a:rPr>
              <a:t>Mitu klienti on Tallinnas? </a:t>
            </a:r>
          </a:p>
          <a:p>
            <a:pPr>
              <a:spcAft>
                <a:spcPts val="300"/>
              </a:spcAft>
            </a:pPr>
            <a:r>
              <a:rPr lang="en-GB" sz="1700" b="0" dirty="0">
                <a:latin typeface="Consolas"/>
              </a:rPr>
              <a:t>SELECT COUNT(*) AS </a:t>
            </a:r>
            <a:r>
              <a:rPr lang="en-GB" sz="1700" b="0" dirty="0" err="1">
                <a:latin typeface="Consolas"/>
              </a:rPr>
              <a:t>klientide_arv</a:t>
            </a:r>
            <a:endParaRPr lang="en-GB" sz="1700" b="0" dirty="0"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700" b="0" dirty="0">
                <a:latin typeface="Consolas"/>
              </a:rPr>
              <a:t>FROM </a:t>
            </a:r>
            <a:r>
              <a:rPr lang="en-GB" sz="1700" b="0" dirty="0" err="1">
                <a:latin typeface="Consolas"/>
              </a:rPr>
              <a:t>kliendid</a:t>
            </a:r>
            <a:endParaRPr lang="en-GB" sz="1700" b="0" dirty="0"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700" b="0" dirty="0">
                <a:latin typeface="Consolas"/>
              </a:rPr>
              <a:t>WHERE linn = ‘Tallinn’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8123DC3-330F-070C-16F0-00A64C63B076}"/>
              </a:ext>
            </a:extLst>
          </p:cNvPr>
          <p:cNvSpPr txBox="1"/>
          <p:nvPr/>
        </p:nvSpPr>
        <p:spPr>
          <a:xfrm>
            <a:off x="5839968" y="4318934"/>
            <a:ext cx="6094476" cy="12541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fi-FI" sz="1700" dirty="0">
                <a:solidFill>
                  <a:srgbClr val="334155"/>
                </a:solidFill>
              </a:rPr>
              <a:t>Koos: mitu toodet kategoorias 'Lisaseadmed'?</a:t>
            </a:r>
            <a:endParaRPr lang="en-GB" sz="1700" b="0" dirty="0"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700" b="0" dirty="0">
                <a:latin typeface="Consolas"/>
              </a:rPr>
              <a:t>SELECT COUNT(*) AS </a:t>
            </a:r>
            <a:r>
              <a:rPr lang="en-GB" sz="1700" b="0" dirty="0" err="1">
                <a:latin typeface="Consolas"/>
              </a:rPr>
              <a:t>lisaseadmete_arv</a:t>
            </a:r>
            <a:endParaRPr lang="en-GB" sz="1700" b="0" dirty="0"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700" b="0" dirty="0"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lang="en-GB" sz="1700" b="0" dirty="0">
                <a:latin typeface="Consolas"/>
              </a:rPr>
              <a:t>WHERE </a:t>
            </a:r>
            <a:r>
              <a:rPr lang="en-GB" sz="1700" b="0" dirty="0" err="1">
                <a:latin typeface="Consolas"/>
              </a:rPr>
              <a:t>kategooria</a:t>
            </a:r>
            <a:r>
              <a:rPr lang="en-GB" sz="1700" b="0" dirty="0">
                <a:latin typeface="Consolas"/>
              </a:rPr>
              <a:t> = ‘</a:t>
            </a:r>
            <a:r>
              <a:rPr lang="fi-FI" sz="1700" dirty="0">
                <a:solidFill>
                  <a:srgbClr val="334155"/>
                </a:solidFill>
              </a:rPr>
              <a:t>Lisaseadmed</a:t>
            </a:r>
            <a:r>
              <a:rPr lang="en-GB" sz="1700" b="0" dirty="0">
                <a:latin typeface="Consolas"/>
              </a:rPr>
              <a:t>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MIN, MAX, SUM, AVG  (~15 min)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1097280"/>
            <a:ext cx="32004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MIN(hind)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097280"/>
            <a:ext cx="22860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7073"/>
                </a:solidFill>
                <a:latin typeface="Calibri"/>
              </a:rPr>
              <a:t>väikseim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097280"/>
            <a:ext cx="521208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Odavaim toode?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377439"/>
            <a:ext cx="1143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2377439"/>
            <a:ext cx="32004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MAX(hind)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377439"/>
            <a:ext cx="22860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7073"/>
                </a:solidFill>
                <a:latin typeface="Calibri"/>
              </a:rPr>
              <a:t>suurim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377439"/>
            <a:ext cx="521208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Kalleim toode?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657600"/>
            <a:ext cx="1143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3657600"/>
            <a:ext cx="32004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SUM(hind)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3657600"/>
            <a:ext cx="22860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7073"/>
                </a:solidFill>
                <a:latin typeface="Calibri"/>
              </a:rPr>
              <a:t>summa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657600"/>
            <a:ext cx="521208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Hindade kogusumma?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4937759"/>
            <a:ext cx="1143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4937759"/>
            <a:ext cx="32004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AVG(hind)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4937759"/>
            <a:ext cx="22860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7073"/>
                </a:solidFill>
                <a:latin typeface="Calibri"/>
              </a:rPr>
              <a:t>keskmine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937759"/>
            <a:ext cx="521208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Keskmine tootehind?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>
                <a:solidFill>
                  <a:srgbClr val="FFFFFF"/>
                </a:solidFill>
                <a:latin typeface="Calibri"/>
              </a:rPr>
              <a:t>MIN ja MAX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ühes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päringus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</a:rPr>
              <a:t>NÄITAN 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15544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12541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0" dirty="0">
                <a:solidFill>
                  <a:srgbClr val="E2E8F0"/>
                </a:solidFill>
                <a:latin typeface="Consolas"/>
              </a:rPr>
              <a:t>SELECT </a:t>
            </a:r>
            <a:endParaRPr lang="en-GB"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700" b="0" dirty="0">
                <a:solidFill>
                  <a:srgbClr val="E2E8F0"/>
                </a:solidFill>
                <a:latin typeface="Consolas"/>
              </a:rPr>
              <a:t>	</a:t>
            </a:r>
            <a:r>
              <a:rPr sz="1700" b="0" dirty="0">
                <a:solidFill>
                  <a:srgbClr val="E2E8F0"/>
                </a:solidFill>
                <a:latin typeface="Consolas"/>
              </a:rPr>
              <a:t>MIN(hind) AS </a:t>
            </a:r>
            <a:r>
              <a:rPr sz="1700" b="0" dirty="0" err="1">
                <a:solidFill>
                  <a:srgbClr val="E2E8F0"/>
                </a:solidFill>
                <a:latin typeface="Consolas"/>
              </a:rPr>
              <a:t>odavaim</a:t>
            </a:r>
            <a:r>
              <a:rPr sz="1700" b="0" dirty="0">
                <a:solidFill>
                  <a:srgbClr val="E2E8F0"/>
                </a:solidFill>
                <a:latin typeface="Consolas"/>
              </a:rPr>
              <a:t>,</a:t>
            </a:r>
            <a:r>
              <a:rPr lang="en-GB" sz="1700" b="0" dirty="0">
                <a:solidFill>
                  <a:srgbClr val="E2E8F0"/>
                </a:solidFill>
                <a:latin typeface="Consolas"/>
              </a:rPr>
              <a:t> ----</a:t>
            </a:r>
            <a:r>
              <a:rPr lang="en-GB" sz="1700" b="0" dirty="0" err="1">
                <a:solidFill>
                  <a:srgbClr val="E2E8F0"/>
                </a:solidFill>
                <a:latin typeface="Consolas"/>
              </a:rPr>
              <a:t>kõige</a:t>
            </a:r>
            <a:r>
              <a:rPr lang="en-GB" sz="17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700" b="0" dirty="0" err="1">
                <a:solidFill>
                  <a:srgbClr val="E2E8F0"/>
                </a:solidFill>
                <a:latin typeface="Consolas"/>
              </a:rPr>
              <a:t>odavam</a:t>
            </a:r>
            <a:r>
              <a:rPr lang="en-GB" sz="17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700" b="0" dirty="0">
                <a:solidFill>
                  <a:srgbClr val="E2E8F0"/>
                </a:solidFill>
                <a:latin typeface="Consolas"/>
              </a:rPr>
              <a:t> </a:t>
            </a:r>
            <a:endParaRPr lang="en-GB"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700" b="0" dirty="0">
                <a:solidFill>
                  <a:srgbClr val="E2E8F0"/>
                </a:solidFill>
                <a:latin typeface="Consolas"/>
              </a:rPr>
              <a:t>	</a:t>
            </a:r>
            <a:r>
              <a:rPr sz="1700" b="0" dirty="0">
                <a:solidFill>
                  <a:srgbClr val="E2E8F0"/>
                </a:solidFill>
                <a:latin typeface="Consolas"/>
              </a:rPr>
              <a:t>MAX(hind) AS </a:t>
            </a:r>
            <a:r>
              <a:rPr sz="1700" b="0" dirty="0" err="1">
                <a:solidFill>
                  <a:srgbClr val="E2E8F0"/>
                </a:solidFill>
                <a:latin typeface="Consolas"/>
              </a:rPr>
              <a:t>kalleim</a:t>
            </a:r>
            <a:r>
              <a:rPr lang="en-GB" sz="1700" b="0" dirty="0">
                <a:solidFill>
                  <a:srgbClr val="E2E8F0"/>
                </a:solidFill>
                <a:latin typeface="Consolas"/>
              </a:rPr>
              <a:t> ---</a:t>
            </a:r>
            <a:r>
              <a:rPr lang="en-GB" sz="1700" b="0" dirty="0" err="1">
                <a:solidFill>
                  <a:srgbClr val="E2E8F0"/>
                </a:solidFill>
                <a:latin typeface="Consolas"/>
              </a:rPr>
              <a:t>ja</a:t>
            </a:r>
            <a:r>
              <a:rPr lang="en-GB" sz="17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700" b="0" dirty="0" err="1">
                <a:solidFill>
                  <a:srgbClr val="E2E8F0"/>
                </a:solidFill>
                <a:latin typeface="Consolas"/>
              </a:rPr>
              <a:t>kõige</a:t>
            </a:r>
            <a:r>
              <a:rPr lang="en-GB" sz="17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700" b="0" dirty="0" err="1">
                <a:solidFill>
                  <a:srgbClr val="E2E8F0"/>
                </a:solidFill>
                <a:latin typeface="Consolas"/>
              </a:rPr>
              <a:t>kallim</a:t>
            </a:r>
            <a:r>
              <a:rPr lang="en-GB" sz="17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700" b="0" dirty="0" err="1">
                <a:solidFill>
                  <a:srgbClr val="E2E8F0"/>
                </a:solidFill>
                <a:latin typeface="Consolas"/>
              </a:rPr>
              <a:t>tootehind</a:t>
            </a:r>
            <a:endParaRPr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700" b="0" dirty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880360"/>
            <a:ext cx="11430000" cy="14173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30352" y="2990088"/>
            <a:ext cx="1110081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0" dirty="0">
                <a:solidFill>
                  <a:srgbClr val="E2E8F0"/>
                </a:solidFill>
                <a:latin typeface="Consolas"/>
              </a:rPr>
              <a:t>SELECT </a:t>
            </a:r>
            <a:endParaRPr lang="en-GB"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700" b="0" dirty="0">
                <a:solidFill>
                  <a:srgbClr val="E2E8F0"/>
                </a:solidFill>
                <a:latin typeface="Consolas"/>
              </a:rPr>
              <a:t>	</a:t>
            </a:r>
            <a:r>
              <a:rPr sz="1700" b="0" dirty="0">
                <a:solidFill>
                  <a:srgbClr val="E2E8F0"/>
                </a:solidFill>
                <a:latin typeface="Consolas"/>
              </a:rPr>
              <a:t>ROUND(AVG(hind), 2) AS </a:t>
            </a:r>
            <a:r>
              <a:rPr sz="1700" b="0" dirty="0" err="1">
                <a:solidFill>
                  <a:srgbClr val="E2E8F0"/>
                </a:solidFill>
                <a:latin typeface="Consolas"/>
              </a:rPr>
              <a:t>keskmine_hind</a:t>
            </a:r>
            <a:endParaRPr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700" b="0" dirty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526280"/>
            <a:ext cx="1124712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Oodatav: odavaim ~20 €, kalleim 1200 €. MIN/MAX tagastab arvu, mitte nime.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278F0D-204F-7E0D-7154-BE314659812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Harjutused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BE29B7-549D-D70B-986B-39317625D19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dirty="0" err="1"/>
              <a:t>Dbeaver</a:t>
            </a:r>
            <a:endParaRPr lang="en-GB" dirty="0"/>
          </a:p>
          <a:p>
            <a:r>
              <a:rPr lang="en-GB" dirty="0"/>
              <a:t>Samad </a:t>
            </a:r>
            <a:r>
              <a:rPr lang="en-GB" dirty="0" err="1"/>
              <a:t>tabelid</a:t>
            </a:r>
            <a:endParaRPr lang="en-GB" dirty="0"/>
          </a:p>
          <a:p>
            <a:r>
              <a:rPr lang="en-GB" dirty="0"/>
              <a:t>New SQL script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 err="1"/>
              <a:t>Salvesta</a:t>
            </a:r>
            <a:r>
              <a:rPr lang="en-GB" dirty="0"/>
              <a:t> </a:t>
            </a:r>
            <a:r>
              <a:rPr lang="en-GB" dirty="0" err="1"/>
              <a:t>iga</a:t>
            </a:r>
            <a:r>
              <a:rPr lang="en-GB" dirty="0"/>
              <a:t> </a:t>
            </a:r>
            <a:r>
              <a:rPr lang="en-GB" dirty="0" err="1"/>
              <a:t>harjutuse</a:t>
            </a:r>
            <a:r>
              <a:rPr lang="en-GB" dirty="0"/>
              <a:t> SQL </a:t>
            </a:r>
            <a:r>
              <a:rPr lang="en-GB" dirty="0" err="1"/>
              <a:t>päringud</a:t>
            </a:r>
            <a:r>
              <a:rPr lang="en-GB" dirty="0"/>
              <a:t> </a:t>
            </a:r>
            <a:r>
              <a:rPr lang="en-GB" dirty="0" err="1"/>
              <a:t>eraldi</a:t>
            </a:r>
            <a:r>
              <a:rPr lang="en-GB" dirty="0"/>
              <a:t> </a:t>
            </a:r>
            <a:r>
              <a:rPr lang="en-GB" dirty="0" err="1"/>
              <a:t>faili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8F856E-CF6E-47F9-68EE-D0C7FA6C9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0871" y="199142"/>
            <a:ext cx="7792537" cy="242921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4C0C32D-9A33-313A-BFEF-F9B1731EF8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9800" y="3060156"/>
            <a:ext cx="2764959" cy="289538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7DEFDBF-DAE7-00C3-91FC-EE59828F02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1159" y="2966256"/>
            <a:ext cx="3299386" cy="3199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91787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46525"/>
            <a:ext cx="11430000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1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200" b="1" dirty="0">
                <a:solidFill>
                  <a:srgbClr val="FF0000"/>
                </a:solidFill>
                <a:latin typeface="Calibri"/>
              </a:rPr>
              <a:t>ISE 20 min </a:t>
            </a:r>
            <a:r>
              <a:rPr lang="en-GB" sz="3200" b="1" dirty="0" err="1">
                <a:solidFill>
                  <a:srgbClr val="FF0000"/>
                </a:solidFill>
                <a:latin typeface="Calibri"/>
              </a:rPr>
              <a:t>kuni</a:t>
            </a:r>
            <a:r>
              <a:rPr lang="en-GB" sz="3200" b="1" dirty="0">
                <a:solidFill>
                  <a:srgbClr val="FF0000"/>
                </a:solidFill>
                <a:latin typeface="Calibri"/>
              </a:rPr>
              <a:t> 9:45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051561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82496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11480" y="1562202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527048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121408"/>
            <a:ext cx="530352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Mitu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toodet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kataloogis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Mis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odavaim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kalleim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hind?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Mitu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klienti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elab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Tallinnas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4.  Mis on kõigi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toodete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keskmine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hind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82496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09360" y="1572768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527048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121408"/>
            <a:ext cx="5166359" cy="170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Mitu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staatusega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Ootel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'?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Mis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kogu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kataloogi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keskmine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tootehind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kaks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komakohta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)?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Mitu toodet on kategoorias 'Lisaseadmed' ja mis on nende hindade summa?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4.  Ainult täidetud tellimused: mitu rida, kõige varasem ja kõige hilisem kuupäev?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3DFA6BA-1741-9429-6307-625BE86BC4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616" y="3754184"/>
            <a:ext cx="1971950" cy="69542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129F0E7-AF41-9867-A98A-DFAD004E18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447" y="3799804"/>
            <a:ext cx="2429214" cy="67636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2F2DA2FC-B335-E9DF-E720-C7CE859BEE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870" y="4827793"/>
            <a:ext cx="1162212" cy="695422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E036F9AB-6CDC-4DA3-AD98-8DA0BB1621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57447" y="4875424"/>
            <a:ext cx="2010056" cy="60015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ACE52E1-2E54-42FE-F69D-EB0AA83AA6AE}"/>
              </a:ext>
            </a:extLst>
          </p:cNvPr>
          <p:cNvSpPr txBox="1"/>
          <p:nvPr/>
        </p:nvSpPr>
        <p:spPr>
          <a:xfrm>
            <a:off x="3268980" y="6015094"/>
            <a:ext cx="5166359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Trepi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päring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7DC1822-4F71-0E5B-6B79-AD476E71FB1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6069" y="5785794"/>
            <a:ext cx="2924583" cy="102884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8016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Mitu toodet on kataloogis?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536192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56362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endParaRPr lang="en-GB"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0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toodete_koguarv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56032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Mis on odavaim ja kalleim hind?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834640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84378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endParaRPr lang="en-GB"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0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MIN(hind)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odavaim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</a:t>
            </a:r>
            <a:endParaRPr lang="en-GB"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0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MAX(hind)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kalleim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84048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3.  Mitu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klienti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elab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Tallinnas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114800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412394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endParaRPr lang="en-GB"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0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tallinlasi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kliendid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WHERE linn = 'Tallinn';</a:t>
            </a:r>
          </a:p>
        </p:txBody>
      </p:sp>
      <p:sp>
        <p:nvSpPr>
          <p:cNvPr id="20" name="TextBox 16 copy 20"/>
          <p:cNvSpPr txBox="1"/>
          <p:nvPr/>
        </p:nvSpPr>
        <p:spPr>
          <a:xfrm>
            <a:off x="365760" y="512064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34155"/>
                </a:solidFill>
                <a:latin typeface="Calibri"/>
              </a:rPr>
              <a:t>4.  Mis on kõigi toodete hindade summa?</a:t>
            </a:r>
          </a:p>
        </p:txBody>
      </p:sp>
      <p:sp>
        <p:nvSpPr>
          <p:cNvPr id="21" name="Rounded Rectangle 17 copy 21"/>
          <p:cNvSpPr/>
          <p:nvPr/>
        </p:nvSpPr>
        <p:spPr>
          <a:xfrm>
            <a:off x="365760" y="5385816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18 copy 22"/>
          <p:cNvSpPr txBox="1"/>
          <p:nvPr/>
        </p:nvSpPr>
        <p:spPr>
          <a:xfrm>
            <a:off x="530352" y="5404104"/>
            <a:ext cx="11100816" cy="4385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lang="en-GB" sz="1000" dirty="0">
                <a:solidFill>
                  <a:srgbClr val="E2E8F0"/>
                </a:solidFill>
                <a:latin typeface="Consolas"/>
              </a:rPr>
              <a:t>AVG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(hind)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hindade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_</a:t>
            </a:r>
            <a:r>
              <a:rPr lang="en-GB" sz="1000" dirty="0" err="1">
                <a:solidFill>
                  <a:srgbClr val="E2E8F0"/>
                </a:solidFill>
                <a:latin typeface="Consolas"/>
              </a:rPr>
              <a:t>keskmine</a:t>
            </a:r>
            <a:endParaRPr lang="en-GB" sz="1200" b="0" dirty="0">
              <a:solidFill>
                <a:srgbClr val="E2E8F0"/>
              </a:solidFill>
              <a:latin typeface="Consolas"/>
            </a:endParaRP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8016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Mitu tellimust on staatusega 'Ootel'?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563624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56362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ootel_arv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tellimused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WHERE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Ootel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56032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Mis on kogu kataloogi keskmine tootehind (kaks komakohta)?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825502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84378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ROUND(AVG(hind), 2) AS keskmine_hind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840480"/>
            <a:ext cx="1143000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3.  Mitu toodet on kategoorias 'Lisaseadmed' ja mis on nende hindade summa?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131529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4203115"/>
            <a:ext cx="11100816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COUNT(*) AS toodete_arv, SUM(hind) AS hindade_summa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WHERE kategooria = 'Lisaseadmed';</a:t>
            </a:r>
          </a:p>
        </p:txBody>
      </p:sp>
      <p:sp>
        <p:nvSpPr>
          <p:cNvPr id="20" name="TextBox 16 copy 20"/>
          <p:cNvSpPr txBox="1"/>
          <p:nvPr/>
        </p:nvSpPr>
        <p:spPr>
          <a:xfrm>
            <a:off x="365760" y="512064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34155"/>
                </a:solidFill>
                <a:latin typeface="Calibri"/>
              </a:rPr>
              <a:t>4.  Ainult täidetud tellimused: mitu rida, kõige varasem ja kõige hilisem kuupäev?</a:t>
            </a:r>
          </a:p>
        </p:txBody>
      </p:sp>
      <p:sp>
        <p:nvSpPr>
          <p:cNvPr id="21" name="Rounded Rectangle 17 copy 21"/>
          <p:cNvSpPr/>
          <p:nvPr/>
        </p:nvSpPr>
        <p:spPr>
          <a:xfrm>
            <a:off x="365760" y="5404104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18 copy 22"/>
          <p:cNvSpPr txBox="1"/>
          <p:nvPr/>
        </p:nvSpPr>
        <p:spPr>
          <a:xfrm>
            <a:off x="530352" y="540410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COUNT(*) AS täidetud_arv,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       MIN(kuupäev) AS esimene,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       MAX(kuupäev) AS viimane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WHERE staatus = 'Täidetud';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dirty="0">
                <a:solidFill>
                  <a:srgbClr val="FFFFFF"/>
                </a:solidFill>
                <a:latin typeface="Calibri"/>
              </a:rPr>
              <a:t>GROUP BY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summeerimine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tunnuste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alusel</a:t>
            </a:r>
            <a:endParaRPr sz="3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>
                <a:solidFill>
                  <a:srgbClr val="FFFFFF"/>
                </a:solidFill>
                <a:latin typeface="Calibri"/>
              </a:rPr>
              <a:t>GROUP BY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üks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rida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iga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rühma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ko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ht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a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</a:rPr>
              <a:t>NÄITAN 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19659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700" b="0" dirty="0" err="1">
                <a:solidFill>
                  <a:srgbClr val="E2E8F0"/>
                </a:solidFill>
                <a:latin typeface="Consolas"/>
              </a:rPr>
              <a:t>kategooria</a:t>
            </a:r>
            <a:r>
              <a:rPr sz="1700" b="0" dirty="0">
                <a:solidFill>
                  <a:srgbClr val="E2E8F0"/>
                </a:solidFill>
                <a:latin typeface="Consolas"/>
              </a:rPr>
              <a:t>, AVG(hind) AS </a:t>
            </a:r>
            <a:r>
              <a:rPr sz="1700" b="0" dirty="0" err="1">
                <a:solidFill>
                  <a:srgbClr val="E2E8F0"/>
                </a:solidFill>
                <a:latin typeface="Consolas"/>
              </a:rPr>
              <a:t>keskmine_hind</a:t>
            </a:r>
            <a:endParaRPr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700" b="0" dirty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700" b="0" dirty="0">
                <a:solidFill>
                  <a:schemeClr val="bg2"/>
                </a:solidFill>
                <a:latin typeface="Consolas"/>
              </a:rPr>
              <a:t>GROUP BY </a:t>
            </a:r>
            <a:r>
              <a:rPr sz="1700" b="0" dirty="0" err="1">
                <a:solidFill>
                  <a:schemeClr val="bg2"/>
                </a:solidFill>
                <a:latin typeface="Consolas"/>
              </a:rPr>
              <a:t>kategooria</a:t>
            </a:r>
            <a:r>
              <a:rPr sz="1700" b="0" dirty="0">
                <a:solidFill>
                  <a:schemeClr val="bg2"/>
                </a:solidFill>
                <a:latin typeface="Consolas"/>
              </a:rPr>
              <a:t>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3291840"/>
            <a:ext cx="1143000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3291840"/>
            <a:ext cx="91440" cy="292608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" y="3401568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Reegel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767328"/>
            <a:ext cx="11018520" cy="1887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SELECT-is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olla: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rühma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võti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kategooria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)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agregaadid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(AVG, COUNT …).</a:t>
            </a:r>
          </a:p>
          <a:p>
            <a:pPr>
              <a:spcAft>
                <a:spcPts val="4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nimetus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tohi olla SELECT-is,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seda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pole GROUP BY-s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vastupidi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muidu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viga.</a:t>
            </a: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2000" b="0" dirty="0" err="1">
                <a:solidFill>
                  <a:srgbClr val="FF0000"/>
                </a:solidFill>
                <a:latin typeface="Calibri"/>
              </a:rPr>
              <a:t>Näita</a:t>
            </a:r>
            <a:r>
              <a:rPr sz="2000" b="0" dirty="0">
                <a:solidFill>
                  <a:srgbClr val="FF0000"/>
                </a:solidFill>
                <a:latin typeface="Calibri"/>
              </a:rPr>
              <a:t> viga: </a:t>
            </a:r>
            <a:endParaRPr lang="en-GB" sz="2000" b="0" dirty="0">
              <a:solidFill>
                <a:srgbClr val="FF0000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2000" b="0" dirty="0">
                <a:solidFill>
                  <a:srgbClr val="FF0000"/>
                </a:solidFill>
                <a:latin typeface="Calibri"/>
              </a:rPr>
              <a:t>SELECT </a:t>
            </a:r>
            <a:r>
              <a:rPr sz="2000" b="0" dirty="0" err="1">
                <a:solidFill>
                  <a:srgbClr val="FF0000"/>
                </a:solidFill>
                <a:latin typeface="Calibri"/>
              </a:rPr>
              <a:t>nimetus</a:t>
            </a:r>
            <a:r>
              <a:rPr sz="2000" b="0" dirty="0">
                <a:solidFill>
                  <a:srgbClr val="FF0000"/>
                </a:solidFill>
                <a:latin typeface="Calibri"/>
              </a:rPr>
              <a:t>, AVG(hind) GROUP BY </a:t>
            </a:r>
            <a:r>
              <a:rPr sz="2000" b="0" dirty="0" err="1">
                <a:solidFill>
                  <a:srgbClr val="FF0000"/>
                </a:solidFill>
                <a:latin typeface="Calibri"/>
              </a:rPr>
              <a:t>kategooria</a:t>
            </a:r>
            <a:r>
              <a:rPr sz="2000" b="0" dirty="0">
                <a:solidFill>
                  <a:srgbClr val="FF0000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 err="1">
                <a:solidFill>
                  <a:srgbClr val="FFFFFF"/>
                </a:solidFill>
                <a:latin typeface="Calibri"/>
              </a:rPr>
              <a:t>Näide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: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kliendid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linnade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kaupa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</a:rPr>
              <a:t>NÄITAN 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22860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2084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SELECT linn, COUNT(*) AS </a:t>
            </a:r>
            <a:r>
              <a:rPr sz="1600" b="0" dirty="0" err="1">
                <a:solidFill>
                  <a:srgbClr val="E2E8F0"/>
                </a:solidFill>
                <a:latin typeface="Consolas"/>
              </a:rPr>
              <a:t>klientide_arv</a:t>
            </a:r>
            <a:endParaRPr sz="16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600" b="0" dirty="0" err="1">
                <a:solidFill>
                  <a:srgbClr val="E2E8F0"/>
                </a:solidFill>
                <a:latin typeface="Consolas"/>
              </a:rPr>
              <a:t>kliendid</a:t>
            </a:r>
            <a:endParaRPr sz="16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GROUP BY linn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600" b="0" dirty="0" err="1">
                <a:solidFill>
                  <a:srgbClr val="E2E8F0"/>
                </a:solidFill>
                <a:latin typeface="Consolas"/>
              </a:rPr>
              <a:t>klientide_arv</a:t>
            </a:r>
            <a:r>
              <a:rPr sz="1600" b="0" dirty="0">
                <a:solidFill>
                  <a:srgbClr val="E2E8F0"/>
                </a:solidFill>
                <a:latin typeface="Consolas"/>
              </a:rPr>
              <a:t> DESC;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65760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•  Iga linn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saab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ühe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rea. Tallinn on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eesotsas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Aliast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klientide_arv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võib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ORDER BY-s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kasutada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•  Sama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loogika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makseviisi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kaupa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2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86000"/>
            <a:ext cx="5303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Arvuta toodete keskmine hind tootekategooriate lõikes.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Leia toodete arv kategooriate lõikes.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Leia odavaim ja kalleim hind igas kategoorias.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4.  Kuva tellimuste arv tarneviiside lõikes.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286000"/>
            <a:ext cx="5166359" cy="170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Leia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klientide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linnade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lõikes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suuremast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väiksemani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Kuva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makseviiside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lõikes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suuremad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ees.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Kuva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staatuse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lõikes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suuremad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ees.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4.  Leia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iga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makseviis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kohta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varasem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kuupäev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suuremad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ees.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29EF109-E1C4-CBA3-5332-8D61838639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121" y="4000500"/>
            <a:ext cx="1986373" cy="132424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BD6B515-AC88-95D8-F626-70550F40EC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4094" y="3947059"/>
            <a:ext cx="1918924" cy="137768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D0F2A09-765B-0053-1D7F-EB23BFC925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808" y="5422900"/>
            <a:ext cx="2613931" cy="14351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92784E76-94B5-0B65-038F-853095981F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62862" y="5490856"/>
            <a:ext cx="2886478" cy="121937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8016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Arvuta toodete keskmine hind tootekategooriate lõikes.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0847" y="1536192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56362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kategooria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AVG(hind)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keskmine_hind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kategooria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56032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Leia toodete arv kategooriate lõikes.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798064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84378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kategooria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toodete_arv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kategooria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84048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Leia odavaim ja kalleim hind igas kategoorias.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114800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412394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kategooria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MIN(hind)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odavaim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MAX(hind)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kalleim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kategooria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;</a:t>
            </a:r>
          </a:p>
        </p:txBody>
      </p:sp>
      <p:sp>
        <p:nvSpPr>
          <p:cNvPr id="20" name="TextBox 16 copy 20"/>
          <p:cNvSpPr txBox="1"/>
          <p:nvPr/>
        </p:nvSpPr>
        <p:spPr>
          <a:xfrm>
            <a:off x="365760" y="512064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34155"/>
                </a:solidFill>
                <a:latin typeface="Calibri"/>
              </a:rPr>
              <a:t>4.  Kuva tellimuste arv tarneviiside lõikes.</a:t>
            </a:r>
          </a:p>
        </p:txBody>
      </p:sp>
      <p:sp>
        <p:nvSpPr>
          <p:cNvPr id="21" name="Rounded Rectangle 17 copy 21"/>
          <p:cNvSpPr/>
          <p:nvPr/>
        </p:nvSpPr>
        <p:spPr>
          <a:xfrm>
            <a:off x="365760" y="5394960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18 copy 22"/>
          <p:cNvSpPr txBox="1"/>
          <p:nvPr/>
        </p:nvSpPr>
        <p:spPr>
          <a:xfrm>
            <a:off x="530352" y="540410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tarneviis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tellimuste_arv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tellimused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tarneviis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;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8016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Leia klientide arv linnade lõikes, suuremast väiksemani.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481328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56362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linn, COUNT(*) AS klientide_arv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FROM kliendid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GROUP BY linn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ORDER BY klientide_arv DESC;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56032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Kuva tellimuste arv makseviiside lõikes, suuremad ees.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761488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84378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makseviis, COUNT(*) AS tellimuste_arv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GROUP BY makseviis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ORDER BY tellimuste_arv DESC;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84048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Kuva tellimuste arv staatuse lõikes, suuremad ees.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041648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412394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staatus, COUNT(*) AS tellimuste_arv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GROUP BY staatus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ORDER BY tellimuste_arv DESC;</a:t>
            </a:r>
          </a:p>
        </p:txBody>
      </p:sp>
      <p:sp>
        <p:nvSpPr>
          <p:cNvPr id="20" name="TextBox 16 copy 20"/>
          <p:cNvSpPr txBox="1"/>
          <p:nvPr/>
        </p:nvSpPr>
        <p:spPr>
          <a:xfrm>
            <a:off x="365760" y="512064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34155"/>
                </a:solidFill>
                <a:latin typeface="Calibri"/>
              </a:rPr>
              <a:t>4.  Leia iga makseviis kohta tellimuste arv ja kõige varasem kuupäev, suuremad ees.</a:t>
            </a:r>
          </a:p>
        </p:txBody>
      </p:sp>
      <p:sp>
        <p:nvSpPr>
          <p:cNvPr id="21" name="Rounded Rectangle 17 copy 21"/>
          <p:cNvSpPr/>
          <p:nvPr/>
        </p:nvSpPr>
        <p:spPr>
          <a:xfrm>
            <a:off x="365760" y="5321808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18 copy 22"/>
          <p:cNvSpPr txBox="1"/>
          <p:nvPr/>
        </p:nvSpPr>
        <p:spPr>
          <a:xfrm>
            <a:off x="530352" y="540410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makseviis,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       COUNT(*) AS tellimuste_arv,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       MIN(kuupäev) AS esimene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GROUP BY makseviis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ORDER BY tellimuste_arv DESC;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dirty="0">
                <a:solidFill>
                  <a:srgbClr val="FFFFFF"/>
                </a:solidFill>
                <a:latin typeface="Calibri"/>
              </a:rPr>
              <a:t>HAVING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–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filtreerimine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agregatsiooni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alusel</a:t>
            </a:r>
            <a:endParaRPr sz="3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>
                <a:solidFill>
                  <a:srgbClr val="FFFFFF"/>
                </a:solidFill>
                <a:latin typeface="Calibri"/>
              </a:rPr>
              <a:t>HAVING — filter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pärast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rühmitamist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</a:rPr>
              <a:t>NÄITAN 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22860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2084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600" b="0" dirty="0" err="1">
                <a:solidFill>
                  <a:srgbClr val="E2E8F0"/>
                </a:solidFill>
                <a:latin typeface="Consolas"/>
              </a:rPr>
              <a:t>tarneviis</a:t>
            </a:r>
            <a:r>
              <a:rPr sz="1600" b="0" dirty="0">
                <a:solidFill>
                  <a:srgbClr val="E2E8F0"/>
                </a:solidFill>
                <a:latin typeface="Consolas"/>
              </a:rPr>
              <a:t>, COUNT(*) AS </a:t>
            </a:r>
            <a:r>
              <a:rPr sz="1600" b="0" dirty="0" err="1">
                <a:solidFill>
                  <a:srgbClr val="E2E8F0"/>
                </a:solidFill>
                <a:latin typeface="Consolas"/>
              </a:rPr>
              <a:t>tellimuste_arv</a:t>
            </a:r>
            <a:endParaRPr sz="16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600" b="0" dirty="0" err="1">
                <a:solidFill>
                  <a:srgbClr val="E2E8F0"/>
                </a:solidFill>
                <a:latin typeface="Consolas"/>
              </a:rPr>
              <a:t>tellimused</a:t>
            </a:r>
            <a:endParaRPr sz="16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600" b="0" dirty="0" err="1">
                <a:solidFill>
                  <a:srgbClr val="E2E8F0"/>
                </a:solidFill>
                <a:latin typeface="Consolas"/>
              </a:rPr>
              <a:t>tarneviis</a:t>
            </a:r>
            <a:endParaRPr sz="16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HAVING COUNT(*) &gt; 5;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3611880"/>
            <a:ext cx="566928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3611880"/>
            <a:ext cx="91440" cy="260604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" y="3721608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WHERE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4087368"/>
            <a:ext cx="5257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Filtreerib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algread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enne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rühmitamist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4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staatus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=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'.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611880"/>
            <a:ext cx="553212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63640" y="3611880"/>
            <a:ext cx="91440" cy="260604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19672" y="3721608"/>
            <a:ext cx="516635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HAVING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9672" y="4087368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Filtreerib rühmi pärast koondamist.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Nt COUNT(*) &gt; 5.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>
                <a:solidFill>
                  <a:srgbClr val="FFFFFF"/>
                </a:solidFill>
                <a:latin typeface="Calibri"/>
              </a:rPr>
              <a:t>WHERE ja HAVING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koos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lang="en-GB" sz="2400" b="1" dirty="0">
                <a:solidFill>
                  <a:srgbClr val="92D050"/>
                </a:solidFill>
              </a:rPr>
              <a:t>NÄITAN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2139696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1669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makseviis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, COUNT(*) AS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tellimuste_arv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---3</a:t>
            </a:r>
            <a:endParaRPr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tellimused</a:t>
            </a:r>
            <a:endParaRPr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WHERE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Täidetud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’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 ----1</a:t>
            </a:r>
            <a:endParaRPr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makseviis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---2  </a:t>
            </a:r>
            <a:endParaRPr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HAVING COUNT(*) &gt;= 3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---3</a:t>
            </a:r>
            <a:endParaRPr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tellimuste_arv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 DESC;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---4</a:t>
            </a:r>
            <a:endParaRPr sz="1500" b="0" dirty="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7200" y="3977639"/>
            <a:ext cx="1124712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dirty="0" err="1">
                <a:solidFill>
                  <a:srgbClr val="334155"/>
                </a:solidFill>
                <a:latin typeface="Calibri"/>
              </a:rPr>
              <a:t>Kõigepealt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visatakse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ootel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/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tühistatud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välja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siis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rühmitatakse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siis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HAVING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jätab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alles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rühmad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
</a:t>
            </a:r>
            <a:r>
              <a:rPr b="0" dirty="0">
                <a:solidFill>
                  <a:srgbClr val="FF0000"/>
                </a:solidFill>
                <a:latin typeface="Calibri"/>
              </a:rPr>
              <a:t>Koos: </a:t>
            </a:r>
            <a:r>
              <a:rPr b="0" dirty="0" err="1">
                <a:solidFill>
                  <a:srgbClr val="FF0000"/>
                </a:solidFill>
                <a:latin typeface="Calibri"/>
              </a:rPr>
              <a:t>kategooriad</a:t>
            </a:r>
            <a:r>
              <a:rPr b="0" dirty="0">
                <a:solidFill>
                  <a:srgbClr val="FF0000"/>
                </a:solidFill>
                <a:latin typeface="Calibri"/>
              </a:rPr>
              <a:t>, </a:t>
            </a:r>
            <a:r>
              <a:rPr b="0" dirty="0" err="1">
                <a:solidFill>
                  <a:srgbClr val="FF0000"/>
                </a:solidFill>
                <a:latin typeface="Calibri"/>
              </a:rPr>
              <a:t>kus</a:t>
            </a:r>
            <a:r>
              <a:rPr b="0" dirty="0">
                <a:solidFill>
                  <a:srgbClr val="FF0000"/>
                </a:solidFill>
                <a:latin typeface="Calibri"/>
              </a:rPr>
              <a:t> on </a:t>
            </a:r>
            <a:r>
              <a:rPr b="0" dirty="0" err="1">
                <a:solidFill>
                  <a:srgbClr val="FF0000"/>
                </a:solidFill>
                <a:latin typeface="Calibri"/>
              </a:rPr>
              <a:t>rohkem</a:t>
            </a:r>
            <a:r>
              <a:rPr b="0" dirty="0">
                <a:solidFill>
                  <a:srgbClr val="FF0000"/>
                </a:solidFill>
                <a:latin typeface="Calibri"/>
              </a:rPr>
              <a:t> </a:t>
            </a:r>
            <a:r>
              <a:rPr b="0" dirty="0" err="1">
                <a:solidFill>
                  <a:srgbClr val="FF0000"/>
                </a:solidFill>
                <a:latin typeface="Calibri"/>
              </a:rPr>
              <a:t>kui</a:t>
            </a:r>
            <a:r>
              <a:rPr b="0" dirty="0">
                <a:solidFill>
                  <a:srgbClr val="FF0000"/>
                </a:solidFill>
                <a:latin typeface="Calibri"/>
              </a:rPr>
              <a:t> 3 </a:t>
            </a:r>
            <a:r>
              <a:rPr b="0" dirty="0" err="1">
                <a:solidFill>
                  <a:srgbClr val="FF0000"/>
                </a:solidFill>
                <a:latin typeface="Calibri"/>
              </a:rPr>
              <a:t>toodet</a:t>
            </a:r>
            <a:r>
              <a:rPr b="0" dirty="0">
                <a:solidFill>
                  <a:srgbClr val="FF0000"/>
                </a:solidFill>
                <a:latin typeface="Calibri"/>
              </a:rPr>
              <a:t>.</a:t>
            </a:r>
            <a:endParaRPr sz="1600" b="0" dirty="0">
              <a:solidFill>
                <a:srgbClr val="FF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77302"/>
            <a:ext cx="1143000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3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8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86000"/>
            <a:ext cx="5303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Leia tarneviisid, mida on kasutatud rohkem kui 5 korda.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Leia tootekategooriad, kus on rohkem kui 3 toodet.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Leia linnad, kus on rohkem kui 4 klienti.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4.  Leia kategooriad, kus kalleim toode on üle 800 €.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286000"/>
            <a:ext cx="5166359" cy="3939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makseviisid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millel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vähemalt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3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suuremad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ees.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Leia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kategooriad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mille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keskmine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hind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üle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200 €.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Ümarda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täisarvuks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.</a:t>
            </a:r>
            <a:endParaRPr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tarneviisid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mida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kasutatud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3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korda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4.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alates 2025-06-01: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linnad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on </a:t>
            </a:r>
            <a:br>
              <a:rPr lang="en-GB" sz="1500" b="0" dirty="0">
                <a:solidFill>
                  <a:srgbClr val="334155"/>
                </a:solidFill>
                <a:latin typeface="Calibri"/>
              </a:rPr>
            </a:br>
            <a:r>
              <a:rPr sz="1500" b="0" dirty="0" err="1">
                <a:solidFill>
                  <a:srgbClr val="334155"/>
                </a:solidFill>
                <a:latin typeface="Calibri"/>
              </a:rPr>
              <a:t>vähemalt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2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sellist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klienti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suuremad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ees.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40A2EC-FEC4-54F8-D38E-3C69BACF57FF}"/>
              </a:ext>
            </a:extLst>
          </p:cNvPr>
          <p:cNvSpPr txBox="1"/>
          <p:nvPr/>
        </p:nvSpPr>
        <p:spPr>
          <a:xfrm>
            <a:off x="4700016" y="1214366"/>
            <a:ext cx="400583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lang="en-GB" sz="2000" b="1" dirty="0" err="1">
                <a:solidFill>
                  <a:srgbClr val="FF0000"/>
                </a:solidFill>
                <a:latin typeface="Calibri"/>
              </a:rPr>
              <a:t>Trepi</a:t>
            </a:r>
            <a:r>
              <a:rPr lang="en-GB" sz="20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FF0000"/>
                </a:solidFill>
                <a:latin typeface="Calibri"/>
              </a:rPr>
              <a:t>ja</a:t>
            </a:r>
            <a:r>
              <a:rPr lang="en-GB" sz="20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FF0000"/>
                </a:solidFill>
                <a:latin typeface="Calibri"/>
              </a:rPr>
              <a:t>kommenteeri</a:t>
            </a:r>
            <a:r>
              <a:rPr lang="en-GB" sz="20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FF0000"/>
                </a:solidFill>
                <a:latin typeface="Calibri"/>
              </a:rPr>
              <a:t>kood</a:t>
            </a:r>
            <a:endParaRPr sz="2000" b="1" dirty="0">
              <a:solidFill>
                <a:srgbClr val="FF0000"/>
              </a:solidFill>
              <a:latin typeface="Calibr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13B4D4B-D643-E7EE-71E2-2EFFDF4AE3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764" y="3819834"/>
            <a:ext cx="2943636" cy="102884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2977B29-EE8E-89F1-696B-7C74AF2294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9396" y="3841912"/>
            <a:ext cx="2981741" cy="67636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8E4DCBAD-695D-F96A-157F-08AC6F4B3F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6764" y="5217655"/>
            <a:ext cx="2438740" cy="1000265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3D9C963-A352-3536-741E-89A631E4A63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75856" y="5073928"/>
            <a:ext cx="2648320" cy="1000265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58CBC7B9-B5E1-0829-5BC3-ECC2ED9CDF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15035" y="4944533"/>
            <a:ext cx="1356075" cy="728263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422BED9D-C954-46DB-64BF-EE8F438D891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19671" y="3213174"/>
            <a:ext cx="2181529" cy="1257475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8A602DF6-6ED3-FA6D-326F-BA02850C685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01200" y="1298384"/>
            <a:ext cx="1629002" cy="914528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1F377439-714F-AD01-74D7-B3B3016CED5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19671" y="-13655"/>
            <a:ext cx="2072388" cy="1277617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0CC8A086-7807-D246-D445-0A05A0FE4FA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255267" y="5015696"/>
            <a:ext cx="1286054" cy="1209844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2C72AF8E-AAA0-7DD9-1D11-8F45CB66CF6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601200" y="3461883"/>
            <a:ext cx="3042278" cy="125747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8016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Leia tarneviisid, mida on kasutatud rohkem kui 5 korda.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545336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56362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tarneviis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tellimuste_arv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tellimused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tarneviis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HAVING COUNT(*) &gt; 5;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56032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Leia tootekategooriad, kus on rohkem kui 3 toodet.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807208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84378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kategooria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toodete_arv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kategooria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HAVING COUNT(*) &gt; 3;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84048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Leia linnad, kus on rohkem kui 4 klienti.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123944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9" name="TextBox 18"/>
          <p:cNvSpPr txBox="1"/>
          <p:nvPr/>
        </p:nvSpPr>
        <p:spPr>
          <a:xfrm>
            <a:off x="530352" y="412394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linn,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klientide_arv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kliendid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GROUP BY linn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HAVING COUNT(*) &gt; 4;</a:t>
            </a:r>
          </a:p>
        </p:txBody>
      </p:sp>
      <p:sp>
        <p:nvSpPr>
          <p:cNvPr id="20" name="TextBox 16 copy 20"/>
          <p:cNvSpPr txBox="1"/>
          <p:nvPr/>
        </p:nvSpPr>
        <p:spPr>
          <a:xfrm>
            <a:off x="365760" y="512064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34155"/>
                </a:solidFill>
                <a:latin typeface="Calibri"/>
              </a:rPr>
              <a:t>4.  Leia kategooriad, kus kalleim toode on üle 800 €.</a:t>
            </a:r>
          </a:p>
        </p:txBody>
      </p:sp>
      <p:sp>
        <p:nvSpPr>
          <p:cNvPr id="21" name="Rounded Rectangle 17 copy 21"/>
          <p:cNvSpPr/>
          <p:nvPr/>
        </p:nvSpPr>
        <p:spPr>
          <a:xfrm>
            <a:off x="365760" y="5404104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18 copy 22"/>
          <p:cNvSpPr txBox="1"/>
          <p:nvPr/>
        </p:nvSpPr>
        <p:spPr>
          <a:xfrm>
            <a:off x="530352" y="540410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kategooria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MAX(hind)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kalleim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kategooria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HAVING MAX(hind) &gt; 800;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55648" y="1069848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1. 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Ainult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täidetud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tellimused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: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makseviisid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,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millel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on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vähemalt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3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täidetud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tellimust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,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suuremad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ees.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353312"/>
            <a:ext cx="11430000" cy="1252728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38074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makseviis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tellimuste_arv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tellimused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WHERE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Täidetud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makseviis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HAVING COUNT(*) &gt;= 3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tellimuste_arv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DESC;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56032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2.  Leia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kategooriad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,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mille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keskmine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hind on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üle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200 €.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871216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84378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kategooria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AVG(hind)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keskmine_hind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kategooria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HAVING AVG(hind) &gt; 200;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84048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Ainult täidetud: tarneviisid, mida on kasutatud rohkem kui 3 korda.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114800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412394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tarneviis, COUNT(*) AS tellimuste_arv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WHERE staatus = 'Täidetud'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GROUP BY tarneviis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HAVING COUNT(*) &gt; 3;</a:t>
            </a:r>
          </a:p>
        </p:txBody>
      </p:sp>
      <p:sp>
        <p:nvSpPr>
          <p:cNvPr id="20" name="TextBox 16 copy 20"/>
          <p:cNvSpPr txBox="1"/>
          <p:nvPr/>
        </p:nvSpPr>
        <p:spPr>
          <a:xfrm>
            <a:off x="365760" y="512064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34155"/>
                </a:solidFill>
                <a:latin typeface="Calibri"/>
              </a:rPr>
              <a:t>4.  Kliendid alates 2025-06-01: linnad, kus on vähemalt 2 sellist klienti, suuremad ees.</a:t>
            </a:r>
          </a:p>
        </p:txBody>
      </p:sp>
      <p:sp>
        <p:nvSpPr>
          <p:cNvPr id="21" name="Rounded Rectangle 17 copy 21"/>
          <p:cNvSpPr/>
          <p:nvPr/>
        </p:nvSpPr>
        <p:spPr>
          <a:xfrm>
            <a:off x="365760" y="5404104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18 copy 22"/>
          <p:cNvSpPr txBox="1"/>
          <p:nvPr/>
        </p:nvSpPr>
        <p:spPr>
          <a:xfrm>
            <a:off x="530352" y="540410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linn, COUNT(*) AS klientide_arv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FROM kliendid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WHERE liitumise_kuupäev &gt;= '2025-06-01'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GROUP BY linn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HAVING COUNT(*) &gt;= 2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ORDER BY klientide_arv DESC;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SQL Meme, you say? Check out the best SQL Memes ever.">
            <a:extLst>
              <a:ext uri="{FF2B5EF4-FFF2-40B4-BE49-F238E27FC236}">
                <a16:creationId xmlns:a16="http://schemas.microsoft.com/office/drawing/2014/main" id="{B8564E02-547D-AD96-FFDD-3E8CEC64A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804" y="26279"/>
            <a:ext cx="6348419" cy="6332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065771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>
                <a:solidFill>
                  <a:srgbClr val="FFFFFF"/>
                </a:solidFill>
                <a:latin typeface="Calibri"/>
              </a:rPr>
              <a:t>CASE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uus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veerg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tingimuse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järgi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</a:rPr>
              <a:t>NÄITAN 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37947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3593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600" b="0" dirty="0" err="1">
                <a:solidFill>
                  <a:srgbClr val="E2E8F0"/>
                </a:solidFill>
                <a:latin typeface="Consolas"/>
              </a:rPr>
              <a:t>nimetus</a:t>
            </a:r>
            <a:r>
              <a:rPr sz="1600" b="0" dirty="0">
                <a:solidFill>
                  <a:srgbClr val="E2E8F0"/>
                </a:solidFill>
                <a:latin typeface="Consolas"/>
              </a:rPr>
              <a:t>, hind,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       CASE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           WHEN hind &lt; 100 THEN 'Odav'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           WHEN hind BETWEEN 100 AND 500 THEN '</a:t>
            </a:r>
            <a:r>
              <a:rPr sz="1600" b="0" dirty="0" err="1">
                <a:solidFill>
                  <a:srgbClr val="E2E8F0"/>
                </a:solidFill>
                <a:latin typeface="Consolas"/>
              </a:rPr>
              <a:t>Kesklahendus</a:t>
            </a:r>
            <a:r>
              <a:rPr sz="16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           ELSE 'Premium'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       END AS </a:t>
            </a:r>
            <a:r>
              <a:rPr sz="1600" b="0" dirty="0" err="1">
                <a:solidFill>
                  <a:srgbClr val="E2E8F0"/>
                </a:solidFill>
                <a:latin typeface="Consolas"/>
              </a:rPr>
              <a:t>hinnaklass</a:t>
            </a:r>
            <a:endParaRPr sz="16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074920"/>
            <a:ext cx="1124712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dirty="0">
                <a:solidFill>
                  <a:srgbClr val="334155"/>
                </a:solidFill>
                <a:latin typeface="Calibri"/>
              </a:rPr>
              <a:t>WHEN-id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ülevalt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alla;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esimene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tõene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võidab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 MacBook → Premium, monitor →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Kesklahendus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hiir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→ Odav.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BB78191-C742-68A3-9703-A3DED8C80B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4158" y="0"/>
            <a:ext cx="430368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54620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4 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1. päev · plokk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86000"/>
            <a:ext cx="5303520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Kuva tooted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veeruga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: alla 100 = 'Odav', 100–500 =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Kesklahendus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',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muidu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'Premium'.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Lisa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tellimustele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veerg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= 'OK',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Tühistatud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=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Katkestatud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',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muidu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Töös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'.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Kuva tooted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hinnaklassiga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(alla 100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odav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, 100-500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kesklahendus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ülejäänud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Premium)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sorteerituna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hinna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kahanevalt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4.  Kuva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veeruga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: Tallinn =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Pealinn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',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muidu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Muu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linn'.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286000"/>
            <a:ext cx="5166359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Loenda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mitu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toodet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klassides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Odav,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Kesklahendus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Premium (CASE GROUP BY-s).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Loenda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Odav /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Kesklahendus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/ Premium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toodetel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mille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hind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üle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50 €.</a:t>
            </a: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endParaRPr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Rühmita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: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Pakiautomaat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' vs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Muu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tarne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'. Kuva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endParaRPr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4.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Loenda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: OK /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Katkestatud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/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Töös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(CASE GROUP BY-s),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suuremad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ees.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7C05380-9665-EC30-AB7C-737357EF7A17}"/>
              </a:ext>
            </a:extLst>
          </p:cNvPr>
          <p:cNvSpPr txBox="1"/>
          <p:nvPr/>
        </p:nvSpPr>
        <p:spPr>
          <a:xfrm>
            <a:off x="4687125" y="1011021"/>
            <a:ext cx="400583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lang="en-GB" sz="2000" b="1" dirty="0" err="1">
                <a:solidFill>
                  <a:srgbClr val="FF0000"/>
                </a:solidFill>
                <a:latin typeface="Calibri"/>
              </a:rPr>
              <a:t>Trepi</a:t>
            </a:r>
            <a:r>
              <a:rPr lang="en-GB" sz="20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FF0000"/>
                </a:solidFill>
                <a:latin typeface="Calibri"/>
              </a:rPr>
              <a:t>ja</a:t>
            </a:r>
            <a:r>
              <a:rPr lang="en-GB" sz="20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FF0000"/>
                </a:solidFill>
                <a:latin typeface="Calibri"/>
              </a:rPr>
              <a:t>kommenteeri</a:t>
            </a:r>
            <a:r>
              <a:rPr lang="en-GB" sz="20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FF0000"/>
                </a:solidFill>
                <a:latin typeface="Calibri"/>
              </a:rPr>
              <a:t>kood</a:t>
            </a:r>
            <a:endParaRPr sz="2000" b="1" dirty="0">
              <a:solidFill>
                <a:srgbClr val="FF0000"/>
              </a:solidFill>
              <a:latin typeface="Calibri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18AD7DF-95F2-B40A-15BE-473C56EF0E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0979"/>
          <a:stretch>
            <a:fillRect/>
          </a:stretch>
        </p:blipFill>
        <p:spPr>
          <a:xfrm>
            <a:off x="-571" y="4728124"/>
            <a:ext cx="1773936" cy="968322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E090DADB-7A2B-33A8-E49D-F21E0B82383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62125"/>
          <a:stretch>
            <a:fillRect/>
          </a:stretch>
        </p:blipFill>
        <p:spPr>
          <a:xfrm>
            <a:off x="1865692" y="4768291"/>
            <a:ext cx="2016364" cy="782232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362827D2-C386-743E-EC10-3DF05F1368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4937" y="4693153"/>
            <a:ext cx="2381583" cy="85737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8973662A-B4FD-9EB7-1FA0-A7BD5BB28E3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67743" y="5662887"/>
            <a:ext cx="2261150" cy="92384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A2C85A4-B5F6-DBE0-F98A-C3AA0B643CA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0" y="1284332"/>
            <a:ext cx="1905266" cy="876422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E86FBAB2-967F-0AD4-E172-8F38F5964C9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22637" y="3181236"/>
            <a:ext cx="2010056" cy="819264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FFFA7B3C-5091-9502-3DC9-9BE9557CAC5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22637" y="4155889"/>
            <a:ext cx="2457793" cy="75258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D588FA43-79B7-21A0-941D-16563FCAA6D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86684" y="5345385"/>
            <a:ext cx="1867161" cy="828791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1. päev · plokk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11096" y="1042416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Kuva tooted veeruga: alla 100 = 'Odav', 100–500 = 'Kesklahendus', muidu 'Premium'.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408176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5439" y="1453896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nimetus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hind,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CASE WHEN hind &lt; 100 THEN 'Odav'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WHEN hind BETWEEN 100 AND 500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Kesklahendus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ELSE 'Premium' END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hinnaklass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450592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2.  Lisa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tellimustele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veerg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: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Täidetud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= 'OK',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Tühistatud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= '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Katkestatud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',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muidu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'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Töös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'.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761488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84378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tellimus_id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CASE WHEN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Täidetud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THEN 'OK'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WHEN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Tühistatud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Katkestatud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ELSE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Töös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END AS seis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tellimused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84048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Kuva tooted hinnaklassiga, sorteerituna hinna järgi kahanevalt.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114800"/>
            <a:ext cx="11430000" cy="98755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4123944"/>
            <a:ext cx="1110081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nimetus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hind,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CASE WHEN hind &lt; 100 THEN 'Odav'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WHEN hind BETWEEN 100 AND 500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Kesklahendus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ELSE 'Premium' END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hinnaklass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tooted</a:t>
            </a:r>
            <a:r>
              <a:rPr lang="en-GB" sz="10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ORDER BY hind DESC;</a:t>
            </a:r>
          </a:p>
        </p:txBody>
      </p:sp>
      <p:sp>
        <p:nvSpPr>
          <p:cNvPr id="20" name="TextBox 16 copy 20"/>
          <p:cNvSpPr txBox="1"/>
          <p:nvPr/>
        </p:nvSpPr>
        <p:spPr>
          <a:xfrm>
            <a:off x="365760" y="512064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34155"/>
                </a:solidFill>
                <a:latin typeface="Calibri"/>
              </a:rPr>
              <a:t>4.  Kuva kliendid veeruga: Tallinn = 'Pealinn', muidu 'Muu linn'.</a:t>
            </a:r>
          </a:p>
        </p:txBody>
      </p:sp>
      <p:sp>
        <p:nvSpPr>
          <p:cNvPr id="21" name="Rounded Rectangle 17 copy 21"/>
          <p:cNvSpPr/>
          <p:nvPr/>
        </p:nvSpPr>
        <p:spPr>
          <a:xfrm>
            <a:off x="365760" y="5367528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18 copy 22"/>
          <p:cNvSpPr txBox="1"/>
          <p:nvPr/>
        </p:nvSpPr>
        <p:spPr>
          <a:xfrm>
            <a:off x="530352" y="540410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nimi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linn,</a:t>
            </a: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       CASE WHEN linn = 'Tallinn'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Pealinn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            ELSE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Muu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linn' END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linnatüüp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kliendid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;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1. päev · plokk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042416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1. 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Loenda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,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mitu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toodet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on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klassides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Odav,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Kesklahendus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ja Premium (CASE GROUP BY-s).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371600"/>
            <a:ext cx="11430000" cy="1115568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307592"/>
            <a:ext cx="11100816" cy="12080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CASE WHEN hind &lt; 100 THEN 'Odav'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WHEN hind BETWEEN 100 AND 500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Kesklahendus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ELSE 'Premium' END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hinnaklass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toodete_arv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tooted</a:t>
            </a:r>
            <a:r>
              <a:rPr lang="en-GB" sz="10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GROUP BY CASE WHEN hind &lt; 100 THEN 'Odav' WHEN hind BETWEEN 100 AND 500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Kesklahendus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  ELSE 'Premium' END;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487168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2.  Loenda Odav / Kesklahendus / Premium ainult toodetel, mille hind on üle 50 €.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761488"/>
            <a:ext cx="11430000" cy="107899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9496" y="2761488"/>
            <a:ext cx="11100816" cy="10541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CASE WHEN hind &lt; 100 THEN 'Odav' WHEN hind BETWEEN 100 AND 500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Kesklahendus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ELSE 'Premium' END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hinnaklass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      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toodete_arv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FROM tooted</a:t>
            </a:r>
            <a:r>
              <a:rPr lang="en-GB" sz="10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WHERE hind &gt; 50</a:t>
            </a: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GROUP BY CASE WHEN hind &lt; 100 THEN 'Odav'</a:t>
            </a: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              WHEN hind BETWEEN 100 AND 500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Kesklahendus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              ELSE 'Premium' END;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785616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3. 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Rühmita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tellimused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: '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Pakiautomaat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' vs '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Muu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tarne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'. Kuva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arv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041648"/>
            <a:ext cx="11430000" cy="12801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412394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CASE WHEN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tarneviis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Pakiautomaat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Pakiautomaat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ELSE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Muu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tarne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END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tarnegrupp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tellimuste_arv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tellimused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GROUP BY CASE WHEN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tarneviis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Pakiautomaat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Pakiautomaat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  ELSE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Muu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tarne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END;</a:t>
            </a:r>
          </a:p>
        </p:txBody>
      </p:sp>
      <p:sp>
        <p:nvSpPr>
          <p:cNvPr id="20" name="TextBox 16 copy 20"/>
          <p:cNvSpPr txBox="1"/>
          <p:nvPr/>
        </p:nvSpPr>
        <p:spPr>
          <a:xfrm>
            <a:off x="365760" y="5294376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>
                <a:solidFill>
                  <a:srgbClr val="334155"/>
                </a:solidFill>
                <a:latin typeface="Calibri"/>
              </a:rPr>
              <a:t>4.  Loenda tellimused: OK / Katkestatud / Töös (CASE GROUP BY-s), suuremad ees.</a:t>
            </a:r>
          </a:p>
        </p:txBody>
      </p:sp>
      <p:sp>
        <p:nvSpPr>
          <p:cNvPr id="21" name="Rounded Rectangle 17 copy 21"/>
          <p:cNvSpPr/>
          <p:nvPr/>
        </p:nvSpPr>
        <p:spPr>
          <a:xfrm>
            <a:off x="365760" y="5568696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18 copy 22"/>
          <p:cNvSpPr txBox="1"/>
          <p:nvPr/>
        </p:nvSpPr>
        <p:spPr>
          <a:xfrm>
            <a:off x="545439" y="5559552"/>
            <a:ext cx="11100816" cy="10541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CASE WHEN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Täidetud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THEN 'OK'</a:t>
            </a:r>
            <a:r>
              <a:rPr lang="en-GB" sz="10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WHEN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Tühistatud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Katkestatud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ELSE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Töös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END AS seis,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tellimuste_arv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tellimused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GROUP BY CASE WHEN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Täidetud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THEN 'OK'</a:t>
            </a: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              WHEN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Tühistatud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Katkestatud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              ELSE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Töös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END</a:t>
            </a: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tellimuste_arv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DESC;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1. päeva kokkuvõte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1. päev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12471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Plokk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1: COUNT, MIN, MAX, SUM, AVG —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mitu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rida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otspunktid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Plokk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2: GROUP BY —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rida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rühma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kohta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Plokk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3: HAVING — filter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pärast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rühmitamist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Plokk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4: CASE —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uus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veerg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tingimuse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4297680"/>
            <a:ext cx="114300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5760" y="4297680"/>
            <a:ext cx="91440" cy="192024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Päeva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kokkuvõttev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5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493776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49377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Kogu päeva oskused  ·  2 ülesannet taseme kohta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783080"/>
            <a:ext cx="5669280" cy="4526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78308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78308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423160"/>
            <a:ext cx="5212080" cy="18158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700" b="0" dirty="0">
                <a:solidFill>
                  <a:srgbClr val="334155"/>
                </a:solidFill>
                <a:latin typeface="Calibri"/>
              </a:rPr>
              <a:t>1. 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Kuva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iga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kategooria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kohta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toodete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arv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keskmine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hind ja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odavaim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hind</a:t>
            </a:r>
            <a:r>
              <a:rPr lang="en-GB" sz="1700" dirty="0">
                <a:solidFill>
                  <a:srgbClr val="334155"/>
                </a:solidFill>
                <a:latin typeface="Calibri"/>
              </a:rPr>
              <a:t> (</a:t>
            </a:r>
            <a:r>
              <a:rPr lang="en-GB" sz="1700" dirty="0" err="1">
                <a:solidFill>
                  <a:srgbClr val="334155"/>
                </a:solidFill>
                <a:latin typeface="Calibri"/>
              </a:rPr>
              <a:t>ü</a:t>
            </a:r>
            <a:r>
              <a:rPr lang="en-GB" sz="1700" b="0" dirty="0" err="1">
                <a:solidFill>
                  <a:srgbClr val="334155"/>
                </a:solidFill>
                <a:latin typeface="Calibri"/>
              </a:rPr>
              <a:t>marda</a:t>
            </a:r>
            <a:r>
              <a:rPr lang="en-GB"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700" b="0" dirty="0" err="1">
                <a:solidFill>
                  <a:srgbClr val="334155"/>
                </a:solidFill>
                <a:latin typeface="Calibri"/>
              </a:rPr>
              <a:t>kümnelisteni</a:t>
            </a:r>
            <a:r>
              <a:rPr lang="en-GB" sz="1700" b="0" dirty="0">
                <a:solidFill>
                  <a:srgbClr val="334155"/>
                </a:solidFill>
                <a:latin typeface="Calibri"/>
              </a:rPr>
              <a:t>). 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Sorteeri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toodete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arvu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kahanevalt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1200"/>
              </a:spcAft>
            </a:pPr>
            <a:endParaRPr lang="en-GB" sz="17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2.  Kuva iga tarneviis kohta tellimuste arv ja kõige hilisem kuupäev, suuremad ees.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532120" cy="4526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78308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423160"/>
            <a:ext cx="5074920" cy="18158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700" b="0" dirty="0">
                <a:solidFill>
                  <a:srgbClr val="334155"/>
                </a:solidFill>
                <a:latin typeface="Calibri"/>
              </a:rPr>
              <a:t>1. 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Sama mis tase 1, aga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kategooriad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kus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vähemalt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2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toodet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 Lisa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veerg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kui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keskmine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hind on alla 200,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siis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'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Soodne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',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muidu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'Kallis'.</a:t>
            </a:r>
          </a:p>
          <a:p>
            <a:pPr>
              <a:spcAft>
                <a:spcPts val="12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2.  Sama tarneviisi päring, aga ainult rühmad vähemalt 3 tellimusega. Lisa veerg: üle 8 = 'Sage',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muidu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'Harv’.</a:t>
            </a:r>
            <a:endParaRPr lang="en-GB" sz="17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lang="en-GB" sz="1700" dirty="0">
                <a:solidFill>
                  <a:srgbClr val="334155"/>
                </a:solidFill>
                <a:latin typeface="Calibri"/>
              </a:rPr>
              <a:t>LISAÜLESANNE</a:t>
            </a:r>
            <a:endParaRPr sz="17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A65BC0-18F8-CC24-12C4-31210232A3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142" y="4204042"/>
            <a:ext cx="3620623" cy="129266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D51F50A-4D59-0527-3B4C-1E7B2464EE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430" y="5590965"/>
            <a:ext cx="2194561" cy="7075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5A1B9B6-EA7B-8780-B0EE-C7D8CEA13AE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57778"/>
          <a:stretch>
            <a:fillRect/>
          </a:stretch>
        </p:blipFill>
        <p:spPr>
          <a:xfrm>
            <a:off x="4371867" y="5741158"/>
            <a:ext cx="5909447" cy="90876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AAF9577-C615-D1ED-C477-D2E6856808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6188" y="3729378"/>
            <a:ext cx="2830023" cy="2139895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Päeva lõpp · tase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78992"/>
            <a:ext cx="1965960" cy="310896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78992"/>
            <a:ext cx="1965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Harjutus · ploki lõpp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68880" y="1078992"/>
            <a:ext cx="1325880" cy="310896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1078992"/>
            <a:ext cx="13258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508760"/>
            <a:ext cx="1143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Sama mis tase 1, aga ainult kategooriad, kus on vähemalt 2 toodet. Lisa veerg: kui keskmine hind on alla 200, siis 'Soodne', muidu 'Kallis'.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198120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07073"/>
                </a:solidFill>
                <a:latin typeface="Calibri"/>
              </a:rPr>
              <a:t>Lahendus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194560"/>
            <a:ext cx="11430000" cy="18288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286000"/>
            <a:ext cx="11100816" cy="1392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kategooria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,</a:t>
            </a:r>
            <a:r>
              <a:rPr lang="en-GB" sz="1200" b="0" dirty="0">
                <a:solidFill>
                  <a:srgbClr val="E2E8F0"/>
                </a:solidFill>
                <a:latin typeface="Consolas"/>
              </a:rPr>
              <a:t>CO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UNT(*) AS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toodete_arv,AVG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(hind) AS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keskmine_hind,MIN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(hind) AS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odavaim,CASE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WHEN AVG(hind) &lt; 200 THEN '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Soodne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ELSE 'Kallis' END AS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hinnatase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kategooria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HAVING COUNT(*) &gt;= 2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toodete_arv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DESC;</a:t>
            </a:r>
          </a:p>
        </p:txBody>
      </p:sp>
      <p:sp>
        <p:nvSpPr>
          <p:cNvPr id="17" name="TextBox 12 copy 17"/>
          <p:cNvSpPr txBox="1"/>
          <p:nvPr/>
        </p:nvSpPr>
        <p:spPr>
          <a:xfrm>
            <a:off x="365760" y="4114800"/>
            <a:ext cx="11430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2.  Sama, aga ainult tarneviisid vähemalt 3 tellimusega. Lisa veerg: üle 8 = 'Sage', muidu 'Harv'.</a:t>
            </a:r>
          </a:p>
        </p:txBody>
      </p:sp>
      <p:sp>
        <p:nvSpPr>
          <p:cNvPr id="18" name="TextBox 13 copy 18"/>
          <p:cNvSpPr txBox="1"/>
          <p:nvPr/>
        </p:nvSpPr>
        <p:spPr>
          <a:xfrm>
            <a:off x="365760" y="466344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07073"/>
                </a:solidFill>
                <a:latin typeface="Calibri"/>
              </a:rPr>
              <a:t>Lahendus</a:t>
            </a:r>
          </a:p>
        </p:txBody>
      </p:sp>
      <p:sp>
        <p:nvSpPr>
          <p:cNvPr id="19" name="Rounded Rectangle 14 copy 19"/>
          <p:cNvSpPr/>
          <p:nvPr/>
        </p:nvSpPr>
        <p:spPr>
          <a:xfrm>
            <a:off x="365760" y="4876800"/>
            <a:ext cx="11430000" cy="1725168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5 copy 20"/>
          <p:cNvSpPr txBox="1"/>
          <p:nvPr/>
        </p:nvSpPr>
        <p:spPr>
          <a:xfrm>
            <a:off x="530352" y="4968240"/>
            <a:ext cx="1110081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tarneviis,</a:t>
            </a:r>
          </a:p>
          <a:p>
            <a:r>
              <a:rPr sz="1200" b="0">
                <a:solidFill>
                  <a:srgbClr val="E2E8F0"/>
                </a:solidFill>
                <a:latin typeface="Consolas"/>
              </a:rPr>
              <a:t>       COUNT(*) AS tellimuste_arv,</a:t>
            </a:r>
          </a:p>
          <a:p>
            <a:r>
              <a:rPr sz="1200" b="0">
                <a:solidFill>
                  <a:srgbClr val="E2E8F0"/>
                </a:solidFill>
                <a:latin typeface="Consolas"/>
              </a:rPr>
              <a:t>       MAX(kuupäev) AS viimane,</a:t>
            </a:r>
          </a:p>
          <a:p>
            <a:r>
              <a:rPr sz="1200" b="0">
                <a:solidFill>
                  <a:srgbClr val="E2E8F0"/>
                </a:solidFill>
                <a:latin typeface="Consolas"/>
              </a:rPr>
              <a:t>       CASE WHEN COUNT(*) &gt; 8 THEN 'Sage' ELSE 'Harv' END AS sagedus</a:t>
            </a:r>
          </a:p>
          <a:p>
            <a:r>
              <a:rPr sz="12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r>
              <a:rPr sz="1200" b="0">
                <a:solidFill>
                  <a:srgbClr val="E2E8F0"/>
                </a:solidFill>
                <a:latin typeface="Consolas"/>
              </a:rPr>
              <a:t>GROUP BY tarneviis</a:t>
            </a:r>
          </a:p>
          <a:p>
            <a:r>
              <a:rPr sz="1200" b="0">
                <a:solidFill>
                  <a:srgbClr val="E2E8F0"/>
                </a:solidFill>
                <a:latin typeface="Consolas"/>
              </a:rPr>
              <a:t>HAVING COUNT(*) &gt;= 3</a:t>
            </a:r>
          </a:p>
          <a:p>
            <a:r>
              <a:rPr sz="1200" b="0">
                <a:solidFill>
                  <a:srgbClr val="E2E8F0"/>
                </a:solidFill>
                <a:latin typeface="Consolas"/>
              </a:rPr>
              <a:t>ORDER BY tellimuste_arv DESC;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8E2CB84-5BB1-7F1B-FFAE-337E8B3571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9060" y="2976499"/>
            <a:ext cx="6239746" cy="90500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A0C15B3-E07F-394C-FB4B-76E41BCA47E9}"/>
              </a:ext>
            </a:extLst>
          </p:cNvPr>
          <p:cNvSpPr txBox="1"/>
          <p:nvPr/>
        </p:nvSpPr>
        <p:spPr>
          <a:xfrm>
            <a:off x="1363133" y="1628507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Kuva </a:t>
            </a:r>
            <a:r>
              <a:rPr lang="en-GB" dirty="0" err="1"/>
              <a:t>iga</a:t>
            </a:r>
            <a:r>
              <a:rPr lang="en-GB" dirty="0"/>
              <a:t> </a:t>
            </a:r>
            <a:r>
              <a:rPr lang="en-GB" dirty="0" err="1"/>
              <a:t>tarneviisi</a:t>
            </a:r>
            <a:r>
              <a:rPr lang="en-GB" dirty="0"/>
              <a:t> </a:t>
            </a:r>
            <a:r>
              <a:rPr lang="en-GB" dirty="0" err="1"/>
              <a:t>kohta:mitu</a:t>
            </a:r>
            <a:r>
              <a:rPr lang="en-GB" dirty="0"/>
              <a:t> </a:t>
            </a:r>
            <a:r>
              <a:rPr lang="en-GB" dirty="0" err="1"/>
              <a:t>tellimustkõige</a:t>
            </a:r>
            <a:r>
              <a:rPr lang="en-GB" dirty="0"/>
              <a:t> </a:t>
            </a:r>
            <a:r>
              <a:rPr lang="en-GB" dirty="0" err="1"/>
              <a:t>varasem</a:t>
            </a:r>
            <a:r>
              <a:rPr lang="en-GB" dirty="0"/>
              <a:t> </a:t>
            </a:r>
            <a:r>
              <a:rPr lang="en-GB" dirty="0" err="1"/>
              <a:t>kuupäevkõige</a:t>
            </a:r>
            <a:r>
              <a:rPr lang="en-GB" dirty="0"/>
              <a:t> </a:t>
            </a:r>
            <a:r>
              <a:rPr lang="en-GB" dirty="0" err="1"/>
              <a:t>hilisem</a:t>
            </a:r>
            <a:r>
              <a:rPr lang="en-GB" dirty="0"/>
              <a:t> </a:t>
            </a:r>
            <a:r>
              <a:rPr lang="en-GB" dirty="0" err="1"/>
              <a:t>kuupäevmitu</a:t>
            </a:r>
            <a:r>
              <a:rPr lang="en-GB" dirty="0"/>
              <a:t> </a:t>
            </a:r>
            <a:r>
              <a:rPr lang="en-GB" dirty="0" err="1"/>
              <a:t>päeva</a:t>
            </a:r>
            <a:r>
              <a:rPr lang="en-GB" dirty="0"/>
              <a:t> on </a:t>
            </a:r>
            <a:r>
              <a:rPr lang="en-GB" dirty="0" err="1"/>
              <a:t>esimese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viimase</a:t>
            </a:r>
            <a:r>
              <a:rPr lang="en-GB" dirty="0"/>
              <a:t> </a:t>
            </a:r>
            <a:r>
              <a:rPr lang="en-GB" dirty="0" err="1"/>
              <a:t>kuupäeva</a:t>
            </a:r>
            <a:r>
              <a:rPr lang="en-GB" dirty="0"/>
              <a:t> </a:t>
            </a:r>
            <a:r>
              <a:rPr lang="en-GB" dirty="0" err="1"/>
              <a:t>vahelmitu</a:t>
            </a:r>
            <a:r>
              <a:rPr lang="en-GB" dirty="0"/>
              <a:t> </a:t>
            </a:r>
            <a:r>
              <a:rPr lang="en-GB" dirty="0" err="1"/>
              <a:t>päeva</a:t>
            </a:r>
            <a:r>
              <a:rPr lang="en-GB" dirty="0"/>
              <a:t> </a:t>
            </a:r>
            <a:r>
              <a:rPr lang="en-GB" dirty="0" err="1"/>
              <a:t>jooksva</a:t>
            </a:r>
            <a:r>
              <a:rPr lang="en-GB" dirty="0"/>
              <a:t> </a:t>
            </a:r>
            <a:r>
              <a:rPr lang="en-GB" dirty="0" err="1"/>
              <a:t>aasta</a:t>
            </a:r>
            <a:r>
              <a:rPr lang="en-GB" dirty="0"/>
              <a:t> 1. </a:t>
            </a:r>
            <a:r>
              <a:rPr lang="en-GB" dirty="0" err="1"/>
              <a:t>jaanuarist</a:t>
            </a:r>
            <a:r>
              <a:rPr lang="en-GB" dirty="0"/>
              <a:t> </a:t>
            </a:r>
            <a:r>
              <a:rPr lang="en-GB" dirty="0" err="1"/>
              <a:t>oli</a:t>
            </a:r>
            <a:r>
              <a:rPr lang="en-GB" dirty="0"/>
              <a:t> </a:t>
            </a:r>
            <a:r>
              <a:rPr lang="en-GB" dirty="0" err="1"/>
              <a:t>esimene</a:t>
            </a:r>
            <a:r>
              <a:rPr lang="en-GB" dirty="0"/>
              <a:t> </a:t>
            </a:r>
            <a:r>
              <a:rPr lang="en-GB" dirty="0" err="1"/>
              <a:t>tellimus</a:t>
            </a:r>
            <a:r>
              <a:rPr lang="en-GB" dirty="0"/>
              <a:t> </a:t>
            </a:r>
            <a:r>
              <a:rPr lang="en-GB" dirty="0" err="1"/>
              <a:t>selles</a:t>
            </a:r>
            <a:r>
              <a:rPr lang="en-GB" dirty="0"/>
              <a:t> </a:t>
            </a:r>
            <a:r>
              <a:rPr lang="en-GB" dirty="0" err="1"/>
              <a:t>tarneviisis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9090137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Lisa · 1. päev (koondid)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COUNT + WHERE  ·  mitu ootel tellimust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353312"/>
            <a:ext cx="11430000" cy="12344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463040"/>
            <a:ext cx="11100816" cy="1033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SELECT COUNT(*) AS ootel_arv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FROM tellimused WHERE staatus = 'Ootel';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6974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GROUP BY  ·  kliendid linnade kaupa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999232"/>
            <a:ext cx="11430000" cy="15544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0352" y="3108960"/>
            <a:ext cx="11100816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SELECT linn, COUNT(*) AS klientide_arv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FROM kliendid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GROUP BY linn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ORDER BY klientide_arv DESC;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663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CASE  ·  hinnaklass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956048"/>
            <a:ext cx="11430000" cy="12801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30352" y="5065776"/>
            <a:ext cx="11100816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nimetus, hind,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CASE WHEN hind &lt; 100 THEN 'Odav' WHEN hind BETWEEN 100 AND 500 THEN 'Kesklahendus' ELSE 'Premium' END AS hinnaklass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Lisa · 1. päev jätk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HAVING  ·  kategooriad, kus on üle 3 toote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371600"/>
            <a:ext cx="11430000" cy="17373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481328"/>
            <a:ext cx="11100816" cy="1536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SELECT kategooria, COUNT(*) AS toodete_arv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GROUP BY kategooria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HAVING COUNT(*) &gt; 3;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2918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GROUP BY  ·  tellimused makseviisiti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611880"/>
            <a:ext cx="11430000" cy="19659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0352" y="3721608"/>
            <a:ext cx="11100816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SELECT makseviis, COUNT(*) AS tellimuste_arv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GROUP BY makseviis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ORDER BY tellimuste_arv DESC;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4fc69ca6-ce6b-4059-8ad9-2049c3c135b3}" enabled="0" method="" siteId="{4fc69ca6-ce6b-4059-8ad9-2049c3c135b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586</TotalTime>
  <Words>3273</Words>
  <Application>Microsoft Office PowerPoint</Application>
  <PresentationFormat>Widescreen</PresentationFormat>
  <Paragraphs>490</Paragraphs>
  <Slides>37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3" baseType="lpstr">
      <vt:lpstr>Aptos</vt:lpstr>
      <vt:lpstr>Arial</vt:lpstr>
      <vt:lpstr>Calibri</vt:lpstr>
      <vt:lpstr>Consolas</vt:lpstr>
      <vt:lpstr>Inter</vt:lpstr>
      <vt:lpstr>Office Theme</vt:lpstr>
      <vt:lpstr>Päevakava - VII päev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Harjutused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Emilie Abel</cp:lastModifiedBy>
  <cp:revision>17</cp:revision>
  <dcterms:created xsi:type="dcterms:W3CDTF">2013-01-27T09:14:16Z</dcterms:created>
  <dcterms:modified xsi:type="dcterms:W3CDTF">2026-09-08T13:43:27Z</dcterms:modified>
  <cp:category/>
</cp:coreProperties>
</file>