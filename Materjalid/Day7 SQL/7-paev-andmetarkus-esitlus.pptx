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489" r:id="rId3"/>
    <p:sldId id="258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ADD162-9A04-4A09-B1D8-E47EADD1DA9E}" v="1" dt="2026-09-07T17:01:24.8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">
      <pc:chgData name="Emilie Abel" userId="20dec598-1860-40de-ab3f-181316cc4da6" providerId="ADAL" clId="{3EAE1975-14BE-41D5-9E3B-28573F0EE5DC}" dt="2026-09-07T17:14:56.355" v="610" actId="47"/>
      <pc:docMkLst>
        <pc:docMk/>
      </pc:docMkLst>
      <pc:sldChg chg="modSp mod">
        <pc:chgData name="Emilie Abel" userId="20dec598-1860-40de-ab3f-181316cc4da6" providerId="ADAL" clId="{3EAE1975-14BE-41D5-9E3B-28573F0EE5DC}" dt="2026-09-07T17:00:49.437" v="232" actId="14100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7T17:00:49.437" v="232" actId="14100"/>
          <ac:spMkLst>
            <pc:docMk/>
            <pc:sldMk cId="0" sldId="263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0:45.008" v="231" actId="20577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0:31.861" v="203" actId="20577"/>
        <pc:sldMkLst>
          <pc:docMk/>
          <pc:sldMk cId="0" sldId="264"/>
        </pc:sldMkLst>
        <pc:spChg chg="mod">
          <ac:chgData name="Emilie Abel" userId="20dec598-1860-40de-ab3f-181316cc4da6" providerId="ADAL" clId="{3EAE1975-14BE-41D5-9E3B-28573F0EE5DC}" dt="2026-09-07T17:00:15.791" v="177" actId="20577"/>
          <ac:spMkLst>
            <pc:docMk/>
            <pc:sldMk cId="0" sldId="264"/>
            <ac:spMk id="6" creationId="{60F7C9AE-4A3A-AB53-29CD-A61845F65937}"/>
          </ac:spMkLst>
        </pc:spChg>
        <pc:spChg chg="mod">
          <ac:chgData name="Emilie Abel" userId="20dec598-1860-40de-ab3f-181316cc4da6" providerId="ADAL" clId="{3EAE1975-14BE-41D5-9E3B-28573F0EE5DC}" dt="2026-09-07T17:00:31.861" v="203" actId="20577"/>
          <ac:spMkLst>
            <pc:docMk/>
            <pc:sldMk cId="0" sldId="264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01:50.556" v="282"/>
        <pc:sldMkLst>
          <pc:docMk/>
          <pc:sldMk cId="0" sldId="266"/>
        </pc:sldMkLst>
        <pc:spChg chg="add del mod">
          <ac:chgData name="Emilie Abel" userId="20dec598-1860-40de-ab3f-181316cc4da6" providerId="ADAL" clId="{3EAE1975-14BE-41D5-9E3B-28573F0EE5DC}" dt="2026-09-07T17:01:50.556" v="282"/>
          <ac:spMkLst>
            <pc:docMk/>
            <pc:sldMk cId="0" sldId="266"/>
            <ac:spMk id="2" creationId="{F729E62B-8499-203A-E506-11317354E181}"/>
          </ac:spMkLst>
        </pc:spChg>
        <pc:spChg chg="mod">
          <ac:chgData name="Emilie Abel" userId="20dec598-1860-40de-ab3f-181316cc4da6" providerId="ADAL" clId="{3EAE1975-14BE-41D5-9E3B-28573F0EE5DC}" dt="2026-09-07T17:01:22.088" v="279" actId="20577"/>
          <ac:spMkLst>
            <pc:docMk/>
            <pc:sldMk cId="0" sldId="266"/>
            <ac:spMk id="10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14.277" v="301" actId="20577"/>
        <pc:sldMkLst>
          <pc:docMk/>
          <pc:sldMk cId="0" sldId="267"/>
        </pc:sldMkLst>
        <pc:spChg chg="mod">
          <ac:chgData name="Emilie Abel" userId="20dec598-1860-40de-ab3f-181316cc4da6" providerId="ADAL" clId="{3EAE1975-14BE-41D5-9E3B-28573F0EE5DC}" dt="2026-09-07T17:02:14.277" v="301" actId="20577"/>
          <ac:spMkLst>
            <pc:docMk/>
            <pc:sldMk cId="0" sldId="267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3:47.225" v="7" actId="20577"/>
          <ac:spMkLst>
            <pc:docMk/>
            <pc:sldMk cId="0" sldId="267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2:22.465" v="313" actId="20577"/>
        <pc:sldMkLst>
          <pc:docMk/>
          <pc:sldMk cId="0" sldId="268"/>
        </pc:sldMkLst>
        <pc:spChg chg="mod">
          <ac:chgData name="Emilie Abel" userId="20dec598-1860-40de-ab3f-181316cc4da6" providerId="ADAL" clId="{3EAE1975-14BE-41D5-9E3B-28573F0EE5DC}" dt="2026-09-07T14:14:27.162" v="28" actId="1076"/>
          <ac:spMkLst>
            <pc:docMk/>
            <pc:sldMk cId="0" sldId="268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25.173" v="27" actId="1076"/>
          <ac:spMkLst>
            <pc:docMk/>
            <pc:sldMk cId="0" sldId="26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0.401" v="29" actId="1076"/>
          <ac:spMkLst>
            <pc:docMk/>
            <pc:sldMk cId="0" sldId="268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32.681" v="30" actId="1076"/>
          <ac:spMkLst>
            <pc:docMk/>
            <pc:sldMk cId="0" sldId="268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2:22.465" v="313" actId="20577"/>
          <ac:spMkLst>
            <pc:docMk/>
            <pc:sldMk cId="0" sldId="268"/>
            <ac:spMk id="22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4:19.736" v="26" actId="1076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7T14:14:09.604" v="22" actId="1076"/>
          <ac:spMkLst>
            <pc:docMk/>
            <pc:sldMk cId="0" sldId="269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2.100" v="23" actId="1076"/>
          <ac:spMkLst>
            <pc:docMk/>
            <pc:sldMk cId="0" sldId="26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05.515" v="21" actId="20577"/>
          <ac:spMkLst>
            <pc:docMk/>
            <pc:sldMk cId="0" sldId="26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6.983" v="25" actId="1076"/>
          <ac:spMkLst>
            <pc:docMk/>
            <pc:sldMk cId="0" sldId="26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5.019" v="24" actId="1076"/>
          <ac:spMkLst>
            <pc:docMk/>
            <pc:sldMk cId="0" sldId="269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19.736" v="26" actId="1076"/>
          <ac:spMkLst>
            <pc:docMk/>
            <pc:sldMk cId="0" sldId="269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06.852" v="342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7T17:04:06.852" v="342" actId="20577"/>
          <ac:spMkLst>
            <pc:docMk/>
            <pc:sldMk cId="0" sldId="270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4:16.075" v="343" actId="20577"/>
        <pc:sldMkLst>
          <pc:docMk/>
          <pc:sldMk cId="0" sldId="271"/>
        </pc:sldMkLst>
        <pc:spChg chg="mod">
          <ac:chgData name="Emilie Abel" userId="20dec598-1860-40de-ab3f-181316cc4da6" providerId="ADAL" clId="{3EAE1975-14BE-41D5-9E3B-28573F0EE5DC}" dt="2026-09-07T17:04:16.075" v="343" actId="20577"/>
          <ac:spMkLst>
            <pc:docMk/>
            <pc:sldMk cId="0" sldId="271"/>
            <ac:spMk id="14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5:10.676" v="34" actId="1076"/>
        <pc:sldMkLst>
          <pc:docMk/>
          <pc:sldMk cId="0" sldId="274"/>
        </pc:sldMkLst>
        <pc:spChg chg="mod">
          <ac:chgData name="Emilie Abel" userId="20dec598-1860-40de-ab3f-181316cc4da6" providerId="ADAL" clId="{3EAE1975-14BE-41D5-9E3B-28573F0EE5DC}" dt="2026-09-07T14:15:06.564" v="33" actId="1076"/>
          <ac:spMkLst>
            <pc:docMk/>
            <pc:sldMk cId="0" sldId="274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04.226" v="32" actId="1076"/>
          <ac:spMkLst>
            <pc:docMk/>
            <pc:sldMk cId="0" sldId="27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4:58.677" v="31" actId="1076"/>
          <ac:spMkLst>
            <pc:docMk/>
            <pc:sldMk cId="0" sldId="27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10.676" v="34" actId="1076"/>
          <ac:spMkLst>
            <pc:docMk/>
            <pc:sldMk cId="0" sldId="274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5:30.516" v="395" actId="20577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7T17:05:30.516" v="395" actId="20577"/>
          <ac:spMkLst>
            <pc:docMk/>
            <pc:sldMk cId="0" sldId="276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06:38.904" v="426" actId="20577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7T17:05:59.326" v="396" actId="14100"/>
          <ac:spMkLst>
            <pc:docMk/>
            <pc:sldMk cId="0" sldId="278"/>
            <ac:spMk id="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06:38.904" v="426" actId="20577"/>
          <ac:spMkLst>
            <pc:docMk/>
            <pc:sldMk cId="0" sldId="278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5:32.302" v="36" actId="403"/>
          <ac:spMkLst>
            <pc:docMk/>
            <pc:sldMk cId="0" sldId="278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25.305" v="607" actId="403"/>
        <pc:sldMkLst>
          <pc:docMk/>
          <pc:sldMk cId="0" sldId="279"/>
        </pc:sldMkLst>
        <pc:spChg chg="add mod">
          <ac:chgData name="Emilie Abel" userId="20dec598-1860-40de-ab3f-181316cc4da6" providerId="ADAL" clId="{3EAE1975-14BE-41D5-9E3B-28573F0EE5DC}" dt="2026-09-07T17:13:25.305" v="607" actId="403"/>
          <ac:spMkLst>
            <pc:docMk/>
            <pc:sldMk cId="0" sldId="279"/>
            <ac:spMk id="6" creationId="{2740A2EC-FEC4-54F8-D38E-3C69BACF57FF}"/>
          </ac:spMkLst>
        </pc:spChg>
        <pc:spChg chg="del">
          <ac:chgData name="Emilie Abel" userId="20dec598-1860-40de-ab3f-181316cc4da6" providerId="ADAL" clId="{3EAE1975-14BE-41D5-9E3B-28573F0EE5DC}" dt="2026-09-07T14:15:51.577" v="37" actId="478"/>
          <ac:spMkLst>
            <pc:docMk/>
            <pc:sldMk cId="0" sldId="279"/>
            <ac:spMk id="1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6:40.984" v="41" actId="1076"/>
        <pc:sldMkLst>
          <pc:docMk/>
          <pc:sldMk cId="0" sldId="280"/>
        </pc:sldMkLst>
        <pc:spChg chg="mod">
          <ac:chgData name="Emilie Abel" userId="20dec598-1860-40de-ab3f-181316cc4da6" providerId="ADAL" clId="{3EAE1975-14BE-41D5-9E3B-28573F0EE5DC}" dt="2026-09-07T14:16:33.784" v="39" actId="1076"/>
          <ac:spMkLst>
            <pc:docMk/>
            <pc:sldMk cId="0" sldId="280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1.685" v="38" actId="1076"/>
          <ac:spMkLst>
            <pc:docMk/>
            <pc:sldMk cId="0" sldId="280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37.631" v="40" actId="1076"/>
          <ac:spMkLst>
            <pc:docMk/>
            <pc:sldMk cId="0" sldId="280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40.984" v="41" actId="1076"/>
          <ac:spMkLst>
            <pc:docMk/>
            <pc:sldMk cId="0" sldId="280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17:23.134" v="50" actId="1076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7T14:17:03.776" v="45" actId="1076"/>
          <ac:spMkLst>
            <pc:docMk/>
            <pc:sldMk cId="0" sldId="281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9.660" v="49" actId="14100"/>
          <ac:spMkLst>
            <pc:docMk/>
            <pc:sldMk cId="0" sldId="281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0.032" v="47" actId="1076"/>
          <ac:spMkLst>
            <pc:docMk/>
            <pc:sldMk cId="0" sldId="281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13.715" v="48" actId="1076"/>
          <ac:spMkLst>
            <pc:docMk/>
            <pc:sldMk cId="0" sldId="281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7:23.134" v="50" actId="1076"/>
          <ac:spMkLst>
            <pc:docMk/>
            <pc:sldMk cId="0" sldId="281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6:56.114" v="44" actId="1076"/>
          <ac:spMkLst>
            <pc:docMk/>
            <pc:sldMk cId="0" sldId="281"/>
            <ac:spMk id="2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7T14:17:31.276" v="53" actId="478"/>
        <pc:sldMkLst>
          <pc:docMk/>
          <pc:sldMk cId="0" sldId="283"/>
        </pc:sldMkLst>
        <pc:spChg chg="del">
          <ac:chgData name="Emilie Abel" userId="20dec598-1860-40de-ab3f-181316cc4da6" providerId="ADAL" clId="{3EAE1975-14BE-41D5-9E3B-28573F0EE5DC}" dt="2026-09-07T14:17:31.276" v="53" actId="478"/>
          <ac:spMkLst>
            <pc:docMk/>
            <pc:sldMk cId="0" sldId="283"/>
            <ac:spMk id="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7T14:17:30.531" v="52" actId="478"/>
          <ac:spMkLst>
            <pc:docMk/>
            <pc:sldMk cId="0" sldId="283"/>
            <ac:spMk id="7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7T17:13:53.935" v="609" actId="478"/>
        <pc:sldMkLst>
          <pc:docMk/>
          <pc:sldMk cId="0" sldId="284"/>
        </pc:sldMkLst>
        <pc:spChg chg="del">
          <ac:chgData name="Emilie Abel" userId="20dec598-1860-40de-ab3f-181316cc4da6" providerId="ADAL" clId="{3EAE1975-14BE-41D5-9E3B-28573F0EE5DC}" dt="2026-09-07T17:13:53.935" v="609" actId="478"/>
          <ac:spMkLst>
            <pc:docMk/>
            <pc:sldMk cId="0" sldId="284"/>
            <ac:spMk id="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17:35.523" v="54" actId="478"/>
          <ac:spMkLst>
            <pc:docMk/>
            <pc:sldMk cId="0" sldId="28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21.034" v="486" actId="20577"/>
          <ac:spMkLst>
            <pc:docMk/>
            <pc:sldMk cId="0" sldId="284"/>
            <ac:spMk id="15" creationId="{00000000-0000-0000-0000-000000000000}"/>
          </ac:spMkLst>
        </pc:spChg>
        <pc:spChg chg="add">
          <ac:chgData name="Emilie Abel" userId="20dec598-1860-40de-ab3f-181316cc4da6" providerId="ADAL" clId="{3EAE1975-14BE-41D5-9E3B-28573F0EE5DC}" dt="2026-09-07T17:13:51.406" v="608" actId="22"/>
          <ac:spMkLst>
            <pc:docMk/>
            <pc:sldMk cId="0" sldId="284"/>
            <ac:spMk id="20" creationId="{E7C05380-9665-EC30-AB7C-737357EF7A17}"/>
          </ac:spMkLst>
        </pc:spChg>
      </pc:sldChg>
      <pc:sldChg chg="modSp mod">
        <pc:chgData name="Emilie Abel" userId="20dec598-1860-40de-ab3f-181316cc4da6" providerId="ADAL" clId="{3EAE1975-14BE-41D5-9E3B-28573F0EE5DC}" dt="2026-09-07T17:10:47.110" v="491" actId="20577"/>
        <pc:sldMkLst>
          <pc:docMk/>
          <pc:sldMk cId="0" sldId="285"/>
        </pc:sldMkLst>
        <pc:spChg chg="mod">
          <ac:chgData name="Emilie Abel" userId="20dec598-1860-40de-ab3f-181316cc4da6" providerId="ADAL" clId="{3EAE1975-14BE-41D5-9E3B-28573F0EE5DC}" dt="2026-09-07T14:17:56.044" v="56" actId="1076"/>
          <ac:spMkLst>
            <pc:docMk/>
            <pc:sldMk cId="0" sldId="285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5.247" v="59" actId="1076"/>
          <ac:spMkLst>
            <pc:docMk/>
            <pc:sldMk cId="0" sldId="285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2.009" v="58" actId="1076"/>
          <ac:spMkLst>
            <pc:docMk/>
            <pc:sldMk cId="0" sldId="285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08.126" v="60" actId="1076"/>
          <ac:spMkLst>
            <pc:docMk/>
            <pc:sldMk cId="0" sldId="285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3.368" v="489" actId="14100"/>
          <ac:spMkLst>
            <pc:docMk/>
            <pc:sldMk cId="0" sldId="285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0:47.110" v="491" actId="20577"/>
          <ac:spMkLst>
            <pc:docMk/>
            <pc:sldMk cId="0" sldId="285"/>
            <ac:spMk id="19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18.419" v="63" actId="1076"/>
          <ac:spMkLst>
            <pc:docMk/>
            <pc:sldMk cId="0" sldId="285"/>
            <ac:spMk id="21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7:12:18.605" v="573" actId="6549"/>
        <pc:sldMkLst>
          <pc:docMk/>
          <pc:sldMk cId="0" sldId="286"/>
        </pc:sldMkLst>
        <pc:spChg chg="mod">
          <ac:chgData name="Emilie Abel" userId="20dec598-1860-40de-ab3f-181316cc4da6" providerId="ADAL" clId="{3EAE1975-14BE-41D5-9E3B-28573F0EE5DC}" dt="2026-09-07T14:19:56.983" v="83" actId="1076"/>
          <ac:spMkLst>
            <pc:docMk/>
            <pc:sldMk cId="0" sldId="286"/>
            <ac:spMk id="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4.620" v="64" actId="1076"/>
          <ac:spMkLst>
            <pc:docMk/>
            <pc:sldMk cId="0" sldId="286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27.844" v="65" actId="14100"/>
          <ac:spMkLst>
            <pc:docMk/>
            <pc:sldMk cId="0" sldId="286"/>
            <ac:spMk id="1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18.605" v="573" actId="6549"/>
          <ac:spMkLst>
            <pc:docMk/>
            <pc:sldMk cId="0" sldId="28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33.734" v="67" actId="1076"/>
          <ac:spMkLst>
            <pc:docMk/>
            <pc:sldMk cId="0" sldId="28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39.470" v="81" actId="14100"/>
          <ac:spMkLst>
            <pc:docMk/>
            <pc:sldMk cId="0" sldId="28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2:00.507" v="557" actId="6549"/>
          <ac:spMkLst>
            <pc:docMk/>
            <pc:sldMk cId="0" sldId="286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00.951" v="84" actId="1076"/>
          <ac:spMkLst>
            <pc:docMk/>
            <pc:sldMk cId="0" sldId="28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5.199" v="77" actId="14100"/>
          <ac:spMkLst>
            <pc:docMk/>
            <pc:sldMk cId="0" sldId="28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9:11.786" v="76" actId="1076"/>
          <ac:spMkLst>
            <pc:docMk/>
            <pc:sldMk cId="0" sldId="286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18:56.998" v="72" actId="1076"/>
          <ac:spMkLst>
            <pc:docMk/>
            <pc:sldMk cId="0" sldId="286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7:11:32.634" v="524" actId="6549"/>
          <ac:spMkLst>
            <pc:docMk/>
            <pc:sldMk cId="0" sldId="286"/>
            <ac:spMk id="22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7T14:20:21.402" v="86" actId="478"/>
        <pc:sldMkLst>
          <pc:docMk/>
          <pc:sldMk cId="0" sldId="287"/>
        </pc:sldMkLst>
        <pc:spChg chg="del">
          <ac:chgData name="Emilie Abel" userId="20dec598-1860-40de-ab3f-181316cc4da6" providerId="ADAL" clId="{3EAE1975-14BE-41D5-9E3B-28573F0EE5DC}" dt="2026-09-07T14:20:20.208" v="85" actId="478"/>
          <ac:spMkLst>
            <pc:docMk/>
            <pc:sldMk cId="0" sldId="287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7T14:20:21.402" v="86" actId="478"/>
          <ac:spMkLst>
            <pc:docMk/>
            <pc:sldMk cId="0" sldId="287"/>
            <ac:spMk id="13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0:47.382" v="94" actId="2057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7T14:20:38.966" v="90" actId="20577"/>
          <ac:spMkLst>
            <pc:docMk/>
            <pc:sldMk cId="0" sldId="28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0:47.382" v="94" actId="20577"/>
          <ac:spMkLst>
            <pc:docMk/>
            <pc:sldMk cId="0" sldId="288"/>
            <ac:spMk id="19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7T14:21:33.507" v="143" actId="14100"/>
        <pc:sldMkLst>
          <pc:docMk/>
          <pc:sldMk cId="0" sldId="290"/>
        </pc:sldMkLst>
        <pc:spChg chg="mod">
          <ac:chgData name="Emilie Abel" userId="20dec598-1860-40de-ab3f-181316cc4da6" providerId="ADAL" clId="{3EAE1975-14BE-41D5-9E3B-28573F0EE5DC}" dt="2026-09-07T14:21:25.962" v="142" actId="20577"/>
          <ac:spMkLst>
            <pc:docMk/>
            <pc:sldMk cId="0" sldId="290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7T14:21:33.507" v="143" actId="14100"/>
          <ac:spMkLst>
            <pc:docMk/>
            <pc:sldMk cId="0" sldId="290"/>
            <ac:spMk id="19" creationId="{00000000-0000-0000-0000-000000000000}"/>
          </ac:spMkLst>
        </pc:spChg>
      </pc:sldChg>
      <pc:sldChg chg="del">
        <pc:chgData name="Emilie Abel" userId="20dec598-1860-40de-ab3f-181316cc4da6" providerId="ADAL" clId="{3EAE1975-14BE-41D5-9E3B-28573F0EE5DC}" dt="2026-09-07T17:14:56.355" v="610" actId="47"/>
        <pc:sldMkLst>
          <pc:docMk/>
          <pc:sldMk cId="0" sldId="291"/>
        </pc:sldMkLst>
      </pc:sldChg>
      <pc:sldChg chg="new">
        <pc:chgData name="Emilie Abel" userId="20dec598-1860-40de-ab3f-181316cc4da6" providerId="ADAL" clId="{3EAE1975-14BE-41D5-9E3B-28573F0EE5DC}" dt="2026-09-07T17:07:23.532" v="427" actId="680"/>
        <pc:sldMkLst>
          <pc:docMk/>
          <pc:sldMk cId="79081028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AA0B6A-941B-4944-B140-87817CB84C4C}" type="datetimeFigureOut">
              <a:rPr lang="en-GB" smtClean="0"/>
              <a:t>07/09/2026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02A790-CAE1-4036-9760-3E4C6617608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61052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WHERE COUNT(*) &gt; 5 ei tööta. See on päeva peamine komistuskivi.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Kata kogu päeva teema.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Tase 1 kõigile. Kes valmis, võta tase 2. Kes ka selle teeb, mine esitluse lõppu lisaülesannete juurde.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62072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FFB0F8B-9E23-166D-3268-A1AE51330EF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7E45BAB-0A4D-FAE6-2637-06CE42F19CFF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C9CA05-F601-5A06-EEC2-869F5340162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48344C2-2414-764C-07DD-D8799B5FD47D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54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dirty="0">
                <a:solidFill>
                  <a:srgbClr val="C49526"/>
                </a:solidFill>
                <a:latin typeface="Calibri"/>
              </a:rPr>
              <a:t>1. PÄEV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Agregeerimine</a:t>
            </a:r>
            <a:r>
              <a:rPr lang="en-GB" sz="4000" b="1" dirty="0">
                <a:solidFill>
                  <a:srgbClr val="FFFFFF"/>
                </a:solidFill>
                <a:latin typeface="Calibri"/>
              </a:rPr>
              <a:t> e </a:t>
            </a:r>
            <a:r>
              <a:rPr lang="en-GB" sz="40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4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COUNT, MIN, MAX, SUM, AVG  ·  GROUP BY  ·  HAVING  ·  CASE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83280"/>
            <a:ext cx="246888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24688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1  ·  agregaadid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383280"/>
            <a:ext cx="228600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3383280"/>
            <a:ext cx="22860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2  ·  GROUP BY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0" y="3383280"/>
            <a:ext cx="210312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669280" y="3383280"/>
            <a:ext cx="21031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3  ·  HAVING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09560" y="3383280"/>
            <a:ext cx="1920240" cy="41148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909560" y="3383280"/>
            <a:ext cx="192024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Plokk 4  ·  CASE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94A3B8"/>
                </a:solidFill>
                <a:latin typeface="Calibri"/>
              </a:rPr>
              <a:t>kliendid  ·  tooted  ·  kategooriad  ·  tellimused  ·  tellimuse_read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87612740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andmebaasi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,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COUNT, MIN, MAX, SUM, AVG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1800" b="1" dirty="0">
                          <a:solidFill>
                            <a:srgbClr val="0F203E"/>
                          </a:solidFill>
                          <a:latin typeface="+mn-lt"/>
                        </a:rPr>
                        <a:t>GROUP BY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Koolitus – </a:t>
                      </a:r>
                      <a:r>
                        <a:rPr lang="en-GB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HAVING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– CASE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Tänane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28016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58191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COUNT, MIN, MAX, SUM, AVG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158191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42316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56032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6207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86207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703320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94360" y="384048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142231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142231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83479"/>
            <a:ext cx="11430000" cy="11704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5120640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dirty="0" err="1">
                <a:solidFill>
                  <a:srgbClr val="64748B"/>
                </a:solidFill>
                <a:latin typeface="Calibri"/>
              </a:rPr>
              <a:t>Plokk</a:t>
            </a:r>
            <a:r>
              <a:rPr sz="1300" b="0" dirty="0">
                <a:solidFill>
                  <a:srgbClr val="64748B"/>
                </a:solidFill>
                <a:latin typeface="Calibri"/>
              </a:rPr>
              <a:t>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422392"/>
            <a:ext cx="77724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CASE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5422392"/>
            <a:ext cx="30175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007073"/>
                </a:solidFill>
                <a:latin typeface="Calibri"/>
              </a:rPr>
              <a:t>Väike harjutus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Seosed ja SQL-lause järjekord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kliendid → tellimused → tellimuse_read → tooted → kategooriad
Täna töötame ühe tabeliga; homme liidame.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943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dirty="0">
                <a:solidFill>
                  <a:srgbClr val="0F203E"/>
                </a:solidFill>
                <a:latin typeface="Calibri"/>
              </a:rPr>
              <a:t>SELECT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805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FROM / JOIN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19659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366760" y="2606039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60" y="2606039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19659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5943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43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GROUP BY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19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4805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805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023360"/>
            <a:ext cx="370332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366760" y="4663440"/>
            <a:ext cx="502920" cy="457200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760" y="4663440"/>
            <a:ext cx="502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60" y="4023360"/>
            <a:ext cx="256032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ORDER BY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1. PÄEV  ·  8 AK 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Arvutused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35204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BACCE0"/>
                </a:solidFill>
                <a:latin typeface="Calibri"/>
              </a:rPr>
              <a:t>Agregaadid → GROUP BY → HAVING → 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C16F9C3-2AF9-BF2B-395D-A4F20C679D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96589" y="157472"/>
            <a:ext cx="3600907" cy="472542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92683DA-EA6F-C819-E92A-3CBA29C02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028" y="1134286"/>
            <a:ext cx="2324424" cy="202910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81862BD-C01E-F66A-1BEA-CD072A5C7B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028" y="219026"/>
            <a:ext cx="1924319" cy="6573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COUNT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mitu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?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92D050"/>
                </a:solidFill>
                <a:latin typeface="Calibri"/>
              </a:rPr>
              <a:t>NÄITAN</a:t>
            </a:r>
            <a:r>
              <a:rPr sz="2800" b="1" dirty="0">
                <a:solidFill>
                  <a:srgbClr val="92D050"/>
                </a:solidFill>
                <a:latin typeface="Calibri"/>
              </a:rPr>
              <a:t> 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783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SELECT * FROM tooted;</a:t>
            </a:r>
          </a:p>
          <a:p>
            <a:pPr>
              <a:spcAft>
                <a:spcPts val="300"/>
              </a:spcAft>
            </a:pPr>
            <a:endParaRPr lang="en-GB"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800" b="0" dirty="0">
                <a:solidFill>
                  <a:srgbClr val="E2E8F0"/>
                </a:solidFill>
                <a:latin typeface="Consolas"/>
              </a:rPr>
              <a:t>--Kui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palju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tooteid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800" b="0" dirty="0" err="1">
                <a:solidFill>
                  <a:srgbClr val="E2E8F0"/>
                </a:solidFill>
                <a:latin typeface="Consolas"/>
              </a:rPr>
              <a:t>kokku</a:t>
            </a:r>
            <a:r>
              <a:rPr lang="en-GB" sz="18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8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8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8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112471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15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→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tulemus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15.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AS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paneb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veerule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loetava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nime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COUNT(hind)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vahele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NULL-id; COUNT(*)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tühjad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COUNT + WHERE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031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854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--Mitu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tellimust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?</a:t>
            </a:r>
          </a:p>
          <a:p>
            <a:pPr>
              <a:spcAft>
                <a:spcPts val="300"/>
              </a:spcAft>
            </a:pP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29000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WHERE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read,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COUNT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loendab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allesjäänud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
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F7C9AE-4A3A-AB53-29CD-A61845F65937}"/>
              </a:ext>
            </a:extLst>
          </p:cNvPr>
          <p:cNvSpPr txBox="1"/>
          <p:nvPr/>
        </p:nvSpPr>
        <p:spPr>
          <a:xfrm>
            <a:off x="530352" y="4314403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Mitu klienti on Tallinnas? 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klientide_arv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</a:t>
            </a:r>
            <a:r>
              <a:rPr lang="en-GB" sz="1700" b="0" dirty="0" err="1">
                <a:latin typeface="Consolas"/>
              </a:rPr>
              <a:t>kliendid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linn = ‘Tallinn’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123DC3-330F-070C-16F0-00A64C63B076}"/>
              </a:ext>
            </a:extLst>
          </p:cNvPr>
          <p:cNvSpPr txBox="1"/>
          <p:nvPr/>
        </p:nvSpPr>
        <p:spPr>
          <a:xfrm>
            <a:off x="5839968" y="4318934"/>
            <a:ext cx="609447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fi-FI" sz="1700" dirty="0">
                <a:solidFill>
                  <a:srgbClr val="334155"/>
                </a:solidFill>
              </a:rPr>
              <a:t>Koos: mitu toodet kategoorias 'Lisaseadmed'?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SELECT COUNT(*) AS </a:t>
            </a:r>
            <a:r>
              <a:rPr lang="en-GB" sz="1700" b="0" dirty="0" err="1">
                <a:latin typeface="Consolas"/>
              </a:rPr>
              <a:t>lisaseadmete_arv</a:t>
            </a:r>
            <a:endParaRPr lang="en-GB" sz="1700" b="0" dirty="0"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lang="en-GB" sz="1700" b="0" dirty="0">
                <a:latin typeface="Consolas"/>
              </a:rPr>
              <a:t>WHERE </a:t>
            </a:r>
            <a:r>
              <a:rPr lang="en-GB" sz="1700" b="0" dirty="0" err="1">
                <a:latin typeface="Consolas"/>
              </a:rPr>
              <a:t>kategooria</a:t>
            </a:r>
            <a:r>
              <a:rPr lang="en-GB" sz="1700" b="0" dirty="0">
                <a:latin typeface="Consolas"/>
              </a:rPr>
              <a:t> = ‘</a:t>
            </a:r>
            <a:r>
              <a:rPr lang="fi-FI" sz="1700" dirty="0">
                <a:solidFill>
                  <a:srgbClr val="334155"/>
                </a:solidFill>
              </a:rPr>
              <a:t>Lisaseadmed</a:t>
            </a:r>
            <a:r>
              <a:rPr lang="en-GB" sz="1700" b="0" dirty="0">
                <a:latin typeface="Consolas"/>
              </a:rPr>
              <a:t>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MIN, MAX, SUM, AVG  (~15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109728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MIN(hind)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09728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väikseim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09728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Odavaim toode?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37743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237743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MAX(hind)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37743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suurim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3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Kalleim toode?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657600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" y="3657600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SUM(hind)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3657600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summa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657600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Hindade kogusumma?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4937759"/>
            <a:ext cx="1143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4937759"/>
            <a:ext cx="32004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>
                <a:solidFill>
                  <a:srgbClr val="0F203E"/>
                </a:solidFill>
                <a:latin typeface="Calibri"/>
              </a:rPr>
              <a:t>AVG(hind)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4937759"/>
            <a:ext cx="22860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7073"/>
                </a:solidFill>
                <a:latin typeface="Calibri"/>
              </a:rPr>
              <a:t>keskmine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4937759"/>
            <a:ext cx="521208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Keskmine tootehind?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MIN ja MAX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ühes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päringus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2541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odavam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kalleim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---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ja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kõige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kallim</a:t>
            </a:r>
            <a:r>
              <a:rPr lang="en-GB" sz="17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700" b="0" dirty="0" err="1">
                <a:solidFill>
                  <a:srgbClr val="E2E8F0"/>
                </a:solidFill>
                <a:latin typeface="Consolas"/>
              </a:rPr>
              <a:t>tootehind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80360"/>
            <a:ext cx="11430000" cy="14173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0352" y="2990088"/>
            <a:ext cx="1110081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7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sz="1700" b="0" dirty="0">
                <a:solidFill>
                  <a:srgbClr val="E2E8F0"/>
                </a:solidFill>
                <a:latin typeface="Consolas"/>
              </a:rPr>
              <a:t>ROUND(AVG(hind), 2) AS </a:t>
            </a:r>
            <a:r>
              <a:rPr sz="17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7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7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26280"/>
            <a:ext cx="112471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Oodatav: odavaim ~20 €, kalleim 1200 €. MIN/MAX tagastab arvu, mitte nime.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46525"/>
            <a:ext cx="11430000" cy="5847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2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051561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1480" y="2650338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2615184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9544"/>
            <a:ext cx="530352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elab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Tallinnas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Mis on kõigi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2660904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2615184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209544"/>
            <a:ext cx="5166359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Mitu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Mis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kataloogi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komakohta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Mitu toodet on kategoorias 'Lisaseadmed' ja mis on nende hindade summa?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toodet on kataloogis?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toodete_koguarv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odavaim ja kalleim hind?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3464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MIN(hind)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odavaim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MAX(hind)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kalleim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Mitu klienti elab Tallinnas?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0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tallinlasi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kliendid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linn = 'Tallinn';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Mis on kõigi toodete hindade summa?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858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4385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000" dirty="0">
                <a:solidFill>
                  <a:srgbClr val="E2E8F0"/>
                </a:solidFill>
                <a:latin typeface="Consolas"/>
              </a:rPr>
              <a:t>AVG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hindade_summa</a:t>
            </a:r>
            <a:endParaRPr lang="en-GB" sz="12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Mitu tellimust on staatusega 'Ootel'?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6362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ootel_arv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Ootel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Mis on kogu kataloogi keskmine tootehind (kaks komakohta)?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2550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ROUND(AVG(hind), 2)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Mitu toodet on kategoorias 'Lisaseadmed' ja mis on nende hindade summa?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31529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203115"/>
            <a:ext cx="1110081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toodete_arv, SUM(hind) AS hindade_summa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kategooria = 'Lisaseadmed';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Ainult täidetud tellimused: mitu rida, kõige varasem ja kõige hilisem kuupäev?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COUNT(*) AS täidetud_arv,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MAX(kuupäev) AS viimane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staatus = 'Täidetud';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GROUP BY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summeerimine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tunnuste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GROUP BY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üks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rida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iga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ko</a:t>
            </a:r>
            <a:r>
              <a:rPr lang="en-GB" sz="2400" b="1" dirty="0" err="1">
                <a:solidFill>
                  <a:srgbClr val="FFFFFF"/>
                </a:solidFill>
                <a:latin typeface="Calibri"/>
              </a:rPr>
              <a:t>ht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7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29184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291840"/>
            <a:ext cx="91440" cy="292608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401568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Reegel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67328"/>
            <a:ext cx="11018520" cy="1887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SELECT-is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tohib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olla: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võti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agregaadid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(AVG, COUNT …).</a:t>
            </a: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tohi olla SELECT-is,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seda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pole GROUP BY-s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vastupidi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viga.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5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 err="1">
                <a:solidFill>
                  <a:srgbClr val="FF0000"/>
                </a:solidFill>
                <a:latin typeface="Calibri"/>
              </a:rPr>
              <a:t>Näita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 viga: </a:t>
            </a:r>
            <a:endParaRPr lang="en-GB" sz="2000" b="0" dirty="0">
              <a:solidFill>
                <a:srgbClr val="FF0000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2000" b="0" dirty="0">
                <a:solidFill>
                  <a:srgbClr val="FF0000"/>
                </a:solidFill>
                <a:latin typeface="Calibri"/>
              </a:rPr>
              <a:t>SELECT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nimetus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, AVG(hind) GROUP BY </a:t>
            </a:r>
            <a:r>
              <a:rPr sz="2000" b="0" dirty="0" err="1">
                <a:solidFill>
                  <a:srgbClr val="FF0000"/>
                </a:solidFill>
                <a:latin typeface="Calibri"/>
              </a:rPr>
              <a:t>kategooria</a:t>
            </a:r>
            <a:r>
              <a:rPr sz="2000" b="0" dirty="0">
                <a:solidFill>
                  <a:srgbClr val="FF0000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 err="1">
                <a:solidFill>
                  <a:srgbClr val="FFFFFF"/>
                </a:solidFill>
                <a:latin typeface="Calibri"/>
              </a:rPr>
              <a:t>Näide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: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linnade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5760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Iga linn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saab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ühe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rea. Tallinn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eesotsas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Aliast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klientide_arv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võib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ORDER BY-s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kasutada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•  Sama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loogika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makseviisi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tootekategooriate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kalleim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hind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klientide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suuremast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väiksemani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varasem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Arvuta toodete keskmine hind tootekategooriate lõikes.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80847" y="1536192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AVG(hind) AS keskmine_hind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toodete arv kategooriate lõikes.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9806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odavaim ja kalleim hind igas kategoorias.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MIN(hind) AS odavaim, MAX(hind) AS kalleim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tellimuste arv tarneviiside lõikes.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9496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tarneviis;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klientide arv linnade lõikes, suuremast väiksemani.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813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Kuva tellimuste arv makseviiside lõikes, suuremad ees.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tellimuste arv staatuse lõikes, suuremad ees.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staatus, COUNT(*) AS tellimuste_arv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staatus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iga makseviis kohta tellimuste arv ja kõige varasem kuupäev,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218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makseviis,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MIN(kuupäev) AS esimene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>
                <a:solidFill>
                  <a:srgbClr val="FFFFFF"/>
                </a:solidFill>
                <a:latin typeface="Calibri"/>
              </a:rPr>
              <a:t>HAVING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–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filtreerimine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agregatsiooni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alusel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HAVING — filter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rühmitamist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28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084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611880"/>
            <a:ext cx="566928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611880"/>
            <a:ext cx="91440" cy="26060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792" y="372160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087368"/>
            <a:ext cx="5257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algread enne rühmitamist.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staatus = 'Täidetud'.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611880"/>
            <a:ext cx="55321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63640" y="3611880"/>
            <a:ext cx="91440" cy="260604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19672" y="372160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HAVING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4087368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Filtreerib rühmi pärast koondamist.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Nt COUNT(*) &gt; 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WHERE ja HAVING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koos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lang="en-GB" sz="2400" b="1" dirty="0">
                <a:solidFill>
                  <a:srgbClr val="92D050"/>
                </a:solidFill>
              </a:rPr>
              <a:t>NÄITAN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139696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1669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’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 ----1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---2  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HAVING COUNT(*) &gt;= 3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---3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DESC;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---4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3977639"/>
            <a:ext cx="1124712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Kõigepealt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visatakse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ootel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/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välja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rühmitatakse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HAVING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alles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rühmad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
</a:t>
            </a:r>
            <a:r>
              <a:rPr b="0" dirty="0">
                <a:solidFill>
                  <a:srgbClr val="FF0000"/>
                </a:solidFill>
                <a:latin typeface="Calibri"/>
              </a:rPr>
              <a:t>Koos: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kategooriad</a:t>
            </a:r>
            <a:r>
              <a:rPr b="0" dirty="0">
                <a:solidFill>
                  <a:srgbClr val="FF0000"/>
                </a:solidFill>
                <a:latin typeface="Calibri"/>
              </a:rPr>
              <a:t>,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kus</a:t>
            </a:r>
            <a:r>
              <a:rPr b="0" dirty="0">
                <a:solidFill>
                  <a:srgbClr val="FF0000"/>
                </a:solidFill>
                <a:latin typeface="Calibri"/>
              </a:rPr>
              <a:t> on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rohkem</a:t>
            </a:r>
            <a:r>
              <a:rPr b="0" dirty="0">
                <a:solidFill>
                  <a:srgbClr val="FF0000"/>
                </a:solidFill>
                <a:latin typeface="Calibri"/>
              </a:rPr>
              <a:t>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kui</a:t>
            </a:r>
            <a:r>
              <a:rPr b="0" dirty="0">
                <a:solidFill>
                  <a:srgbClr val="FF0000"/>
                </a:solidFill>
                <a:latin typeface="Calibri"/>
              </a:rPr>
              <a:t> 3 </a:t>
            </a:r>
            <a:r>
              <a:rPr b="0" dirty="0" err="1">
                <a:solidFill>
                  <a:srgbClr val="FF0000"/>
                </a:solidFill>
                <a:latin typeface="Calibri"/>
              </a:rPr>
              <a:t>toodet</a:t>
            </a:r>
            <a:r>
              <a:rPr b="0" dirty="0">
                <a:solidFill>
                  <a:srgbClr val="FF0000"/>
                </a:solidFill>
                <a:latin typeface="Calibri"/>
              </a:rPr>
              <a:t>.</a:t>
            </a:r>
            <a:endParaRPr sz="16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77302"/>
            <a:ext cx="11430000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8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Leia tarneviisid, mida on kasutatud rohkem kui 5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tootekategooriad, kus on rohkem kui 3 toodet.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Leia linnad, kus on rohkem kui 4 klienti.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Ainult täidetud tellimused: makseviisid, millel on vähemalt 3 täidetud tellimust, suuremad ees.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Leia kategooriad, mille keskmine hind on üle 200 €.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Ainult täidetud: tarneviisid, mida on kasutatud rohkem kui 3 korda.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40A2EC-FEC4-54F8-D38E-3C69BACF57FF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8016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Leia tarneviisid, mida on kasutatud rohkem kui 5 korda.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56362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 5;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2.  Leia tootekategooriad, kus on rohkem kui 3 toodet.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0720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Leia linnad, kus on rohkem kui 4 klienti.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2394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4;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Leia kategooriad, kus kalleim toode on üle 800 €.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kategooria, MAX(hind) AS kalleim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MAX(hind) &gt; 800;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06984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Ainult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makseviisid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millel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vähemalt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3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suuremad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ees.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53312"/>
            <a:ext cx="11430000" cy="125272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807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makseviis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Leia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kategooriad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mille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keskmine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hind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üle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200 €.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87121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AVG(hind)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keskmine_hind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HAVING AVG(hind) &gt; 200;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Ainult täidetud: tarneviisid, mida on kasutatud rohkem kui 3 korda.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tarneviis, COUNT(*) AS tellimuste_arv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WHERE staatus = 'Täidetud'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Kliendid alates 2025-06-01: linnad, kus on vähemalt 2 sellist klienti,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404104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WHERE liitumise_kuupäev &gt;= '2025-06-01'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CASE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CASE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uus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veerg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tingimuse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järgi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</a:rPr>
              <a:t>NÄITAN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7947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3593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CASE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&lt; 100 THEN 'Odav'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WHEN hind BETWEEN 100 AND 500 THEN 'Kesklahendus'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    ELSE 'Premium'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       END AS hinnaklass</a:t>
            </a:r>
          </a:p>
          <a:p>
            <a:pPr>
              <a:spcAft>
                <a:spcPts val="300"/>
              </a:spcAft>
            </a:pPr>
            <a:r>
              <a:rPr sz="16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WHEN-id ülevalt alla; esimene tõene võidab. MacBook → Premium, monitor → Kesklahendus, hiir → Odav.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alla 100 = 'Odav', 100–500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'Premium'.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Lisa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'OK',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Tühistatud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Katkestatud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Töös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Kuva tooted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hinnaklassiga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(alla 100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odav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100-500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kesklahendus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ülejäänud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Premium)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hinna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4. 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veeruga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Tallinn =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Pealinn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Muu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Loenda, mitu toodet on klassides Odav, Kesklahendus ja Premium (CASE GROUP BY-s).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Loenda Odav / Kesklahendus / Premium ainult toodetel, mille hind on üle 50 €.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Rühmita tellimused: 'Pakiautomaat' vs 'Muu tarne'. Kuva arv.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C05380-9665-EC30-AB7C-737357EF7A17}"/>
              </a:ext>
            </a:extLst>
          </p:cNvPr>
          <p:cNvSpPr txBox="1"/>
          <p:nvPr/>
        </p:nvSpPr>
        <p:spPr>
          <a:xfrm>
            <a:off x="4700016" y="1214366"/>
            <a:ext cx="40058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Trepi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kommenteeri</a:t>
            </a:r>
            <a:r>
              <a:rPr lang="en-GB" sz="2000" b="1" dirty="0">
                <a:solidFill>
                  <a:srgbClr val="FF0000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FF0000"/>
                </a:solidFill>
                <a:latin typeface="Calibri"/>
              </a:rPr>
              <a:t>kood</a:t>
            </a:r>
            <a:endParaRPr sz="2000" b="1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11096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1.  Kuva tooted veeruga: alla 100 = 'Odav', 100–500 = 'Kesklahendus', muidu 'Premium'.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40817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5439" y="1453896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50592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Lisa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tellimustele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veerg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Täidetud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'OK',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Tühistatud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=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Katkestatud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muidu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Töös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84378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tellimus_id, staatus,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CASE WHEN staatus = 'Täidetud' THEN 'OK'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     WHEN staatus = 'Tühistatud' THEN 'Katkestatud'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            ELSE 'Töös' END AS seis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FROM tellimused;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84048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F203E"/>
                </a:solidFill>
                <a:latin typeface="Calibri"/>
              </a:rPr>
              <a:t>3.  Kuva tooted hinnaklassiga, sorteerituna hinna järgi kahanevalt.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114800"/>
            <a:ext cx="11430000" cy="98755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nimetus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 hind,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ORDER BY hind DESC;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120640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334155"/>
                </a:solidFill>
                <a:latin typeface="Calibri"/>
              </a:rPr>
              <a:t>4.  Kuva kliendid veeruga: Tallinn = 'Pealinn', muidu 'Muu linn'.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367528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30352" y="540410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>
                <a:solidFill>
                  <a:srgbClr val="E2E8F0"/>
                </a:solidFill>
                <a:latin typeface="Consolas"/>
              </a:rPr>
              <a:t>SELECT nimi, linn,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CASE WHEN linn = 'Tallinn' THEN 'Pealinn'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            ELSE 'Muu linn' END AS linnatüüp</a:t>
            </a:r>
          </a:p>
          <a:p>
            <a:r>
              <a:rPr sz="1000" b="0">
                <a:solidFill>
                  <a:srgbClr val="E2E8F0"/>
                </a:solidFill>
                <a:latin typeface="Consolas"/>
              </a:rPr>
              <a:t>FROM kliendid;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Lahendused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 · plokk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24128"/>
            <a:ext cx="1325880" cy="292608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325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0424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1.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Loenda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mitu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toodet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on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klassides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Odav,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Kesklahendus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ja Premium (CASE GROUP BY-s).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371600"/>
            <a:ext cx="11430000" cy="11155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30352" y="1307592"/>
            <a:ext cx="11100816" cy="1208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487168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2.  Loenda Odav / Kesklahendus / Premium ainult toodetel, mille hind on üle 50 €.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761488"/>
            <a:ext cx="11430000" cy="1078992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9496" y="2761488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hind &lt; 100 THEN 'Odav'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'Premium'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hinnaklass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toodete_arv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tooted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WHERE hind &gt; 50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hind &lt; 100 THEN 'Odav'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hind BETWEEN 100 AND 500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Kesklahendus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'Premium' END;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8561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F203E"/>
                </a:solidFill>
                <a:latin typeface="Calibri"/>
              </a:rPr>
              <a:t>3. 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Rühmita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tellimused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: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Pakiautomaat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 vs '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Muu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tarne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'. Kuva </a:t>
            </a:r>
            <a:r>
              <a:rPr sz="1400" b="1" dirty="0" err="1">
                <a:solidFill>
                  <a:srgbClr val="0F203E"/>
                </a:solidFill>
                <a:latin typeface="Calibri"/>
              </a:rPr>
              <a:t>arv</a:t>
            </a:r>
            <a:r>
              <a:rPr sz="1400" b="1" dirty="0">
                <a:solidFill>
                  <a:srgbClr val="0F203E"/>
                </a:solidFill>
                <a:latin typeface="Calibri"/>
              </a:rPr>
              <a:t>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416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0352" y="4123944"/>
            <a:ext cx="1110081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tarnegrupp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tarneviis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Pakiautomaat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Muu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tarne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END;</a:t>
            </a:r>
          </a:p>
        </p:txBody>
      </p:sp>
      <p:sp>
        <p:nvSpPr>
          <p:cNvPr id="20" name="TextBox 16 copy 20"/>
          <p:cNvSpPr txBox="1"/>
          <p:nvPr/>
        </p:nvSpPr>
        <p:spPr>
          <a:xfrm>
            <a:off x="365760" y="5294376"/>
            <a:ext cx="1143000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334155"/>
                </a:solidFill>
                <a:latin typeface="Calibri"/>
              </a:rPr>
              <a:t>4.  Loenda tellimused: OK / Katkestatud / Töös (CASE GROUP BY-s), suuremad ees.</a:t>
            </a:r>
          </a:p>
        </p:txBody>
      </p:sp>
      <p:sp>
        <p:nvSpPr>
          <p:cNvPr id="21" name="Rounded Rectangle 17 copy 21"/>
          <p:cNvSpPr/>
          <p:nvPr/>
        </p:nvSpPr>
        <p:spPr>
          <a:xfrm>
            <a:off x="365760" y="5568696"/>
            <a:ext cx="11430000" cy="10058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18 copy 22"/>
          <p:cNvSpPr txBox="1"/>
          <p:nvPr/>
        </p:nvSpPr>
        <p:spPr>
          <a:xfrm>
            <a:off x="545439" y="5559552"/>
            <a:ext cx="1110081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 b="0" dirty="0">
                <a:solidFill>
                  <a:srgbClr val="E2E8F0"/>
                </a:solidFill>
                <a:latin typeface="Consolas"/>
              </a:rPr>
              <a:t>SELECT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  <a:r>
              <a:rPr lang="en-GB" sz="10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 AS seis, COUNT(*) AS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tellimused</a:t>
            </a:r>
            <a:endParaRPr sz="1000" b="0" dirty="0">
              <a:solidFill>
                <a:srgbClr val="E2E8F0"/>
              </a:solidFill>
              <a:latin typeface="Consolas"/>
            </a:endParaRP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GROUP BY CASE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'OK'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WHEN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Tühistatud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THEN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Katkestatud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              ELSE '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Töös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' END</a:t>
            </a:r>
          </a:p>
          <a:p>
            <a:r>
              <a:rPr sz="10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000" b="0" dirty="0" err="1">
                <a:solidFill>
                  <a:srgbClr val="E2E8F0"/>
                </a:solidFill>
                <a:latin typeface="Consolas"/>
              </a:rPr>
              <a:t>tellimuste_arv</a:t>
            </a:r>
            <a:r>
              <a:rPr sz="10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1. päeva kokkuvõte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6601968"/>
            <a:ext cx="822960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SQL koolitus  ·  1. päev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1: COUNT, MIN, MAX, SUM, AVG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otspunktid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2: GROUP BY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üks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rida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3: HAVING — filter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pärast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rühmitamist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Plokk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4: CASE 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uus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297680"/>
            <a:ext cx="1143000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297680"/>
            <a:ext cx="91440" cy="192024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Päeva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kokkuvõttev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5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2 ülesannet taseme kohta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783080"/>
            <a:ext cx="566928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78308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423160"/>
            <a:ext cx="5212080" cy="129266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Kuva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kohta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ja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odavaim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hind.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Sorteeri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arvu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kahanevalt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783080"/>
            <a:ext cx="553212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78308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23160"/>
            <a:ext cx="5074920" cy="20774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700" b="0" dirty="0">
                <a:solidFill>
                  <a:srgbClr val="334155"/>
                </a:solidFill>
                <a:latin typeface="Calibri"/>
              </a:rPr>
              <a:t>1. 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Sama mis tase 1, aga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vähemalt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2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. Lisa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veerg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kui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hind on alla 200,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siis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Soodne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', </a:t>
            </a:r>
            <a:r>
              <a:rPr sz="1700" b="0" dirty="0" err="1">
                <a:solidFill>
                  <a:srgbClr val="334155"/>
                </a:solidFill>
                <a:latin typeface="Calibri"/>
              </a:rPr>
              <a:t>muidu</a:t>
            </a:r>
            <a:r>
              <a:rPr sz="1700" b="0" dirty="0">
                <a:solidFill>
                  <a:srgbClr val="334155"/>
                </a:solidFill>
                <a:latin typeface="Calibri"/>
              </a:rPr>
              <a:t> 'Kallis'.</a:t>
            </a:r>
          </a:p>
          <a:p>
            <a:pPr>
              <a:spcAft>
                <a:spcPts val="1200"/>
              </a:spcAft>
            </a:pPr>
            <a:endParaRPr lang="en-GB" sz="17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700" b="0" dirty="0">
                <a:solidFill>
                  <a:srgbClr val="334155"/>
                </a:solidFill>
                <a:latin typeface="Calibri"/>
              </a:rPr>
              <a:t>2.  Sama tarneviisi päring, aga ainult rühmad vähemalt 3 tellimusega. Lisa veerg: üle 8 = 'Sage', muidu 'Harv'.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Kuva iga kategooria kohta toodete arv, keskmine hind ja odavaim hind. Sorteeri toodete arvu järgi kahanevalt.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kategooria,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COUNT(*) AS toodete_arv,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AVG(hind) AS keskmine_hind,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MIN(hind) AS odavaim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ORDER BY toodete_arv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Kuva iga tarneviis kohta tellimuste arv ja kõige hilisem kuupäev, suuremad ees.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MAX(kuupäev) AS viimane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Päeva lõpp · tase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1965960" cy="310896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7899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Harjutus · ploki lõpp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078992"/>
            <a:ext cx="1325880" cy="310896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1078992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1508760"/>
            <a:ext cx="1143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4155"/>
                </a:solidFill>
                <a:latin typeface="Calibri"/>
              </a:rPr>
              <a:t>Sama mis tase 1, aga ainult kategooriad, kus on vähemalt 2 toodet. Lisa veerg: kui keskmine hind on alla 200, siis 'Soodne', muidu 'Kallis'.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8120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94560"/>
            <a:ext cx="11430000" cy="18288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30352" y="2286000"/>
            <a:ext cx="11100816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  <a:r>
              <a:rPr lang="en-GB" sz="1200" b="0" dirty="0">
                <a:solidFill>
                  <a:srgbClr val="E2E8F0"/>
                </a:solidFill>
                <a:latin typeface="Consolas"/>
              </a:rPr>
              <a:t>CO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UNT(*)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toodete_arv,AVG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keskmine_hind,MIN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(hind)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odavaim,CASE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WHEN AVG(hind) &lt; 200 THEN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Soodne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ELSE 'Kallis' END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hinnatase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kategooria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HAVING COUNT(*) &gt;= 2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toodete_arv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7" name="TextBox 12 copy 17"/>
          <p:cNvSpPr txBox="1"/>
          <p:nvPr/>
        </p:nvSpPr>
        <p:spPr>
          <a:xfrm>
            <a:off x="365760" y="4114800"/>
            <a:ext cx="114300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2.  Sama, aga ainult tarneviisid vähemalt 3 tellimusega. Lisa veerg: üle 8 = 'Sage', muidu 'Harv'.</a:t>
            </a:r>
          </a:p>
        </p:txBody>
      </p:sp>
      <p:sp>
        <p:nvSpPr>
          <p:cNvPr id="18" name="TextBox 13 copy 18"/>
          <p:cNvSpPr txBox="1"/>
          <p:nvPr/>
        </p:nvSpPr>
        <p:spPr>
          <a:xfrm>
            <a:off x="365760" y="4663440"/>
            <a:ext cx="11430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07073"/>
                </a:solidFill>
                <a:latin typeface="Calibri"/>
              </a:rPr>
              <a:t>Lahendus</a:t>
            </a:r>
          </a:p>
        </p:txBody>
      </p:sp>
      <p:sp>
        <p:nvSpPr>
          <p:cNvPr id="19" name="Rounded Rectangle 14 copy 19"/>
          <p:cNvSpPr/>
          <p:nvPr/>
        </p:nvSpPr>
        <p:spPr>
          <a:xfrm>
            <a:off x="365760" y="4876800"/>
            <a:ext cx="11430000" cy="1725168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5 copy 20"/>
          <p:cNvSpPr txBox="1"/>
          <p:nvPr/>
        </p:nvSpPr>
        <p:spPr>
          <a:xfrm>
            <a:off x="530352" y="4968240"/>
            <a:ext cx="11100816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tarneviis,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COUNT(*) AS tellimuste_arv,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MAX(kuupäev) AS viimane,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       CASE WHEN COUNT(*) &gt; 8 THEN 'Sage' ELSE 'Harv' END AS sagedus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GROUP BY tarneviis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HAVING COUNT(*) &gt;= 3</a:t>
            </a:r>
          </a:p>
          <a:p>
            <a:r>
              <a:rPr sz="12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(koondid)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COUNT + WHERE  ·  mitu ootel tellimust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53312"/>
            <a:ext cx="11430000" cy="123444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63040"/>
            <a:ext cx="11100816" cy="1033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COUNT(*) AS ootel_arv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tellimused WHERE staatus = 'Ootel';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974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kliendid linnade kaupa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999232"/>
            <a:ext cx="11430000" cy="1554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108960"/>
            <a:ext cx="11100816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SELECT linn, COUNT(*) AS klientide_arv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FROM kliendid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GROUP BY linn</a:t>
            </a:r>
          </a:p>
          <a:p>
            <a:pPr>
              <a:spcAft>
                <a:spcPts val="300"/>
              </a:spcAft>
            </a:pPr>
            <a:r>
              <a:rPr sz="1400" b="0">
                <a:solidFill>
                  <a:srgbClr val="E2E8F0"/>
                </a:solidFill>
                <a:latin typeface="Consolas"/>
              </a:rPr>
              <a:t>ORDER BY klientide_arv DESC;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663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CASE  ·  hinnaklass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56048"/>
            <a:ext cx="11430000" cy="12801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0352" y="5065776"/>
            <a:ext cx="11100816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 nimetus, hind,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CASE WHEN hind &lt; 100 THEN 'Odav' WHEN hind BETWEEN 100 AND 500 THEN 'Kesklahendus' ELSE 'Premium' END AS hinnaklass</a:t>
            </a:r>
          </a:p>
          <a:p>
            <a:pPr>
              <a:spcAft>
                <a:spcPts val="3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tooted;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Lisa · 1. päev jätk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HAVING  ·  kategooriad, kus on üle 3 toote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37160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481328"/>
            <a:ext cx="11100816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kategooria, COUNT(*) AS toodete_arv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tooted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kategooria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HAVING COUNT(*) &gt; 3;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2918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07073"/>
                </a:solidFill>
                <a:latin typeface="Calibri"/>
              </a:rPr>
              <a:t>GROUP BY  ·  tellimused makseviisiti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11880"/>
            <a:ext cx="11430000" cy="19659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30352" y="3721608"/>
            <a:ext cx="11100816" cy="1764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SELECT makseviis, COUNT(*) AS tellimuste_arv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FROM tellimused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GROUP BY makseviis</a:t>
            </a:r>
          </a:p>
          <a:p>
            <a:pPr>
              <a:spcAft>
                <a:spcPts val="300"/>
              </a:spcAft>
            </a:pPr>
            <a:r>
              <a:rPr sz="1500" b="0">
                <a:solidFill>
                  <a:srgbClr val="E2E8F0"/>
                </a:solidFill>
                <a:latin typeface="Consolas"/>
              </a:rPr>
              <a:t>ORDER BY tellimuste_arv DESC;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3393</Words>
  <Application>Microsoft Office PowerPoint</Application>
  <PresentationFormat>Widescreen</PresentationFormat>
  <Paragraphs>505</Paragraphs>
  <Slides>35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Aptos</vt:lpstr>
      <vt:lpstr>Arial</vt:lpstr>
      <vt:lpstr>Calibri</vt:lpstr>
      <vt:lpstr>Consolas</vt:lpstr>
      <vt:lpstr>Inter</vt:lpstr>
      <vt:lpstr>Office Theme</vt:lpstr>
      <vt:lpstr>PowerPoint Presentation</vt:lpstr>
      <vt:lpstr>Päevakava - VII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9</cp:revision>
  <dcterms:created xsi:type="dcterms:W3CDTF">2013-01-27T09:14:16Z</dcterms:created>
  <dcterms:modified xsi:type="dcterms:W3CDTF">2026-09-07T17:30:05Z</dcterms:modified>
  <cp:category/>
</cp:coreProperties>
</file>