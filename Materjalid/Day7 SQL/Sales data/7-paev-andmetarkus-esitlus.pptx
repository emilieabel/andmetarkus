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17" r:id="rId5"/>
    <p:sldId id="489" r:id="rId6"/>
    <p:sldId id="643" r:id="rId7"/>
    <p:sldId id="473" r:id="rId8"/>
    <p:sldId id="554" r:id="rId9"/>
    <p:sldId id="641" r:id="rId10"/>
    <p:sldId id="644" r:id="rId11"/>
    <p:sldId id="555" r:id="rId12"/>
    <p:sldId id="645" r:id="rId13"/>
    <p:sldId id="492" r:id="rId14"/>
    <p:sldId id="558" r:id="rId15"/>
    <p:sldId id="472" r:id="rId16"/>
    <p:sldId id="557" r:id="rId17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Bold" panose="020B0604020202020204" charset="0"/>
      <p:bold r:id="rId24"/>
    </p:embeddedFont>
    <p:embeddedFont>
      <p:font typeface="Poppins SemiBold" panose="00000700000000000000" pitchFamily="2" charset="0"/>
      <p:bold r:id="rId25"/>
      <p:boldItalic r:id="rId26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8-18T11:48:31.084" v="28" actId="20577"/>
      <pc:docMkLst>
        <pc:docMk/>
      </pc:docMkLst>
      <pc:sldChg chg="delSp modSp mod">
        <pc:chgData name="Emilie Abel" userId="20dec598-1860-40de-ab3f-181316cc4da6" providerId="ADAL" clId="{3EAE1975-14BE-41D5-9E3B-28573F0EE5DC}" dt="2026-08-18T11:48:31.084" v="28" actId="20577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11:48:31.084" v="28" actId="20577"/>
          <ac:spMkLst>
            <pc:docMk/>
            <pc:sldMk cId="4169291970" sldId="417"/>
            <ac:spMk id="5" creationId="{3496B8E7-2B01-285F-88ED-B3ADE66A3D31}"/>
          </ac:spMkLst>
        </pc:spChg>
        <pc:picChg chg="del">
          <ac:chgData name="Emilie Abel" userId="20dec598-1860-40de-ab3f-181316cc4da6" providerId="ADAL" clId="{3EAE1975-14BE-41D5-9E3B-28573F0EE5DC}" dt="2026-08-18T11:48:19.862" v="0" actId="478"/>
          <ac:picMkLst>
            <pc:docMk/>
            <pc:sldMk cId="4169291970" sldId="417"/>
            <ac:picMk id="3" creationId="{59426EB3-96A0-6F7B-BD8A-B89C052D49B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06.09.2026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datatype.html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33303310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kontroll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loomine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uuendamine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SQL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abil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CDB2-9145-1517-74B9-1D85A1A09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PostgreSQL </a:t>
            </a:r>
            <a:r>
              <a:rPr lang="en-US" dirty="0" err="1"/>
              <a:t>baasi</a:t>
            </a:r>
            <a:r>
              <a:rPr lang="en-US" dirty="0"/>
              <a:t> </a:t>
            </a:r>
            <a:r>
              <a:rPr lang="en-US" dirty="0" err="1"/>
              <a:t>nimetamispraktikad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FFA0-927B-E444-49B4-38B1CC7C83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Tabelite</a:t>
            </a:r>
            <a:r>
              <a:rPr lang="en-US" sz="2400" dirty="0"/>
              <a:t> ja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Parim </a:t>
            </a:r>
            <a:r>
              <a:rPr lang="en-US" sz="2400" dirty="0" err="1"/>
              <a:t>praktika</a:t>
            </a:r>
            <a:r>
              <a:rPr lang="en-US" sz="2400" dirty="0"/>
              <a:t>: </a:t>
            </a:r>
            <a:r>
              <a:rPr lang="et-EE" sz="2400" b="1" dirty="0" err="1"/>
              <a:t>lowercase_with_underscores</a:t>
            </a:r>
            <a:r>
              <a:rPr lang="et-EE" sz="2400" dirty="0"/>
              <a:t>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tabeli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sales_table</a:t>
            </a:r>
            <a:r>
              <a:rPr lang="en-US" sz="2400" dirty="0"/>
              <a:t>, </a:t>
            </a:r>
            <a:r>
              <a:rPr lang="en-US" sz="2400" dirty="0" err="1"/>
              <a:t>customer_table</a:t>
            </a:r>
            <a:r>
              <a:rPr lang="en-US" sz="2400" dirty="0"/>
              <a:t>, </a:t>
            </a:r>
            <a:r>
              <a:rPr lang="en-US" sz="2400" dirty="0" err="1"/>
              <a:t>date_table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unit_price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Võtmete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sale_id</a:t>
            </a:r>
            <a:r>
              <a:rPr lang="en-US" sz="2400" dirty="0"/>
              <a:t>, </a:t>
            </a:r>
            <a:r>
              <a:rPr lang="en-US" sz="2400" dirty="0" err="1"/>
              <a:t>customer_id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Kui on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või</a:t>
            </a:r>
            <a:r>
              <a:rPr lang="en-US" sz="2400" dirty="0"/>
              <a:t> </a:t>
            </a:r>
            <a:r>
              <a:rPr lang="en-US" sz="2400" dirty="0" err="1"/>
              <a:t>väike</a:t>
            </a:r>
            <a:r>
              <a:rPr lang="en-US" sz="2400" dirty="0"/>
              <a:t>-ja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segamini</a:t>
            </a:r>
            <a:r>
              <a:rPr lang="en-US" sz="2400" dirty="0"/>
              <a:t>, </a:t>
            </a:r>
            <a:r>
              <a:rPr lang="en-US" sz="2400" dirty="0" err="1"/>
              <a:t>siis</a:t>
            </a:r>
            <a:r>
              <a:rPr lang="en-US" sz="2400" dirty="0"/>
              <a:t> </a:t>
            </a:r>
            <a:r>
              <a:rPr lang="en-US" sz="2400" dirty="0" err="1"/>
              <a:t>tulevad</a:t>
            </a:r>
            <a:r>
              <a:rPr lang="en-US" sz="2400" dirty="0"/>
              <a:t> </a:t>
            </a:r>
            <a:r>
              <a:rPr lang="en-US" sz="2400" dirty="0" err="1"/>
              <a:t>ümber</a:t>
            </a:r>
            <a:r>
              <a:rPr lang="en-US" sz="2400" dirty="0"/>
              <a:t> </a:t>
            </a:r>
            <a:r>
              <a:rPr lang="en-US" sz="2400" dirty="0" err="1"/>
              <a:t>jutumärgid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30843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2FD-643F-6AFD-B782-B19E179EA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Põhilised</a:t>
            </a:r>
            <a:r>
              <a:rPr lang="en-US" dirty="0"/>
              <a:t> </a:t>
            </a:r>
            <a:r>
              <a:rPr lang="en-US" dirty="0" err="1"/>
              <a:t>andmetüübid</a:t>
            </a:r>
            <a:r>
              <a:rPr lang="en-US" dirty="0"/>
              <a:t>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113B-F938-FA92-45B7-A088D0CA45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INT - </a:t>
            </a:r>
            <a:r>
              <a:rPr lang="en-US" sz="2400" dirty="0" err="1">
                <a:ea typeface="Inter"/>
              </a:rPr>
              <a:t>täisnumber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>
                <a:ea typeface="Inter"/>
              </a:rPr>
              <a:t>NUMERIC (x, y) - </a:t>
            </a:r>
            <a:r>
              <a:rPr lang="en-US" sz="2400" dirty="0" err="1">
                <a:ea typeface="Inter"/>
              </a:rPr>
              <a:t>komakohtadega</a:t>
            </a:r>
            <a:r>
              <a:rPr lang="en-US" sz="2400" dirty="0">
                <a:ea typeface="Inter"/>
              </a:rPr>
              <a:t> number,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x </a:t>
            </a:r>
            <a:r>
              <a:rPr lang="en-US" sz="2400" dirty="0" err="1">
                <a:ea typeface="Inter"/>
              </a:rPr>
              <a:t>täpsustab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tulba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ja y </a:t>
            </a:r>
            <a:r>
              <a:rPr lang="en-US" sz="2400" dirty="0" err="1">
                <a:ea typeface="Inter"/>
              </a:rPr>
              <a:t>komakohtade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arvu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nt</a:t>
            </a:r>
            <a:r>
              <a:rPr lang="en-US" sz="2400" dirty="0">
                <a:ea typeface="Inter"/>
              </a:rPr>
              <a:t> 100,55 </a:t>
            </a:r>
            <a:r>
              <a:rPr lang="en-US" sz="2400" dirty="0" err="1">
                <a:ea typeface="Inter"/>
              </a:rPr>
              <a:t>oleks</a:t>
            </a:r>
            <a:r>
              <a:rPr lang="en-US" sz="2400" dirty="0">
                <a:ea typeface="Inter"/>
              </a:rPr>
              <a:t> NUMERIC(5,2)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TEXT –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piiranguteta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VARCHAR (n) -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n </a:t>
            </a:r>
            <a:r>
              <a:rPr lang="en-US" sz="2400" dirty="0" err="1">
                <a:ea typeface="Inter"/>
              </a:rPr>
              <a:t>tähistab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pikkust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BOOLEAN – </a:t>
            </a:r>
            <a:r>
              <a:rPr lang="en-US" sz="2400" dirty="0" err="1">
                <a:ea typeface="Inter"/>
              </a:rPr>
              <a:t>kahe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väli</a:t>
            </a:r>
            <a:r>
              <a:rPr lang="en-US" sz="2400" dirty="0">
                <a:ea typeface="Inter"/>
              </a:rPr>
              <a:t>, TRUE, FALSE ja </a:t>
            </a:r>
            <a:r>
              <a:rPr lang="en-US" sz="2400" dirty="0" err="1">
                <a:ea typeface="Inter"/>
              </a:rPr>
              <a:t>tühiväärtus</a:t>
            </a:r>
            <a:r>
              <a:rPr lang="en-US" sz="2400" dirty="0">
                <a:ea typeface="Inter"/>
              </a:rPr>
              <a:t> (NULL)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DATE - </a:t>
            </a:r>
            <a:r>
              <a:rPr lang="en-US" sz="2400" dirty="0" err="1">
                <a:ea typeface="Inter"/>
              </a:rPr>
              <a:t>kuupäev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TIMESTAMP - </a:t>
            </a:r>
            <a:r>
              <a:rPr lang="en-US" sz="2400" dirty="0" err="1">
                <a:ea typeface="Inter"/>
              </a:rPr>
              <a:t>kuupäev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kellaajaga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Dokumentatsioon</a:t>
            </a:r>
            <a:r>
              <a:rPr lang="en-US" sz="24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Inter"/>
                <a:hlinkClick r:id="rId2"/>
              </a:rPr>
              <a:t>https://www.postgresql.org/docs/current/datatype.html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380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E57D-0698-A888-A781-B5BA4506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8A2B-41F3-0AD3-D3F7-DF4AC897F5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4C1C95-F9A5-B2F3-AAC1-345A2C396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215648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8293-66B4-9531-CEB8-1310D457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379B-8B4D-351D-FB50-463F72441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CD786AF0-AFD6-3E5D-F34D-476B12CA5EE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05773" y="978462"/>
            <a:ext cx="3946694" cy="5129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C3A1CD-3F5D-D5BD-4A3E-F94218F8E9CB}"/>
              </a:ext>
            </a:extLst>
          </p:cNvPr>
          <p:cNvSpPr txBox="1"/>
          <p:nvPr/>
        </p:nvSpPr>
        <p:spPr>
          <a:xfrm>
            <a:off x="6007608" y="1444752"/>
            <a:ext cx="5742432" cy="874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Vaatame</a:t>
            </a:r>
            <a:r>
              <a:rPr lang="en-US" dirty="0"/>
              <a:t> </a:t>
            </a:r>
            <a:r>
              <a:rPr lang="en-US" dirty="0" err="1"/>
              <a:t>loogikat</a:t>
            </a:r>
            <a:r>
              <a:rPr lang="en-US" dirty="0"/>
              <a:t> </a:t>
            </a:r>
            <a:r>
              <a:rPr lang="en-US" dirty="0" err="1"/>
              <a:t>näite</a:t>
            </a:r>
            <a:r>
              <a:rPr lang="en-US" dirty="0"/>
              <a:t> </a:t>
            </a:r>
            <a:r>
              <a:rPr lang="en-US" dirty="0" err="1"/>
              <a:t>põhjal</a:t>
            </a:r>
            <a:r>
              <a:rPr lang="en-US" dirty="0"/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Day6: JOINS_loogika.XLSX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37972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2F7D-0F32-EA88-B041-16143FEB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BAC-BC5C-05AA-FECD-7B6769209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– </a:t>
            </a:r>
            <a:r>
              <a:rPr lang="en-US" dirty="0" err="1"/>
              <a:t>tabelite</a:t>
            </a:r>
            <a:r>
              <a:rPr lang="en-US" dirty="0"/>
              <a:t> </a:t>
            </a:r>
            <a:r>
              <a:rPr lang="en-US" dirty="0" err="1"/>
              <a:t>ühendamine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9C816-F533-C6F6-6632-43FAF5E255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 dirty="0" err="1">
                <a:ea typeface="Inter"/>
                <a:cs typeface="+mn-lt"/>
              </a:rPr>
              <a:t>Lahendame</a:t>
            </a:r>
            <a:r>
              <a:rPr lang="en-US" sz="2400" dirty="0">
                <a:ea typeface="Inter"/>
                <a:cs typeface="+mn-lt"/>
              </a:rPr>
              <a:t>: Day6 </a:t>
            </a:r>
            <a:r>
              <a:rPr lang="en-US" sz="2400" dirty="0">
                <a:ea typeface="Inter"/>
                <a:cs typeface="+mn-lt"/>
                <a:sym typeface="Wingdings" panose="05000000000000000000" pitchFamily="2" charset="2"/>
              </a:rPr>
              <a:t> </a:t>
            </a:r>
            <a:r>
              <a:rPr lang="en-US" sz="2400" dirty="0">
                <a:ea typeface="Inter"/>
                <a:cs typeface="+mn-lt"/>
              </a:rPr>
              <a:t>sql_ulesanded_5.txt</a:t>
            </a: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860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CCB3-B259-3DCD-0027-75199097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BBB6-15C6-757A-20FC-DF1337597F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E3282D-2EB8-4929-1315-48292A4A9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225024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93C7-7A5B-3160-EC42-93B70B0DA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 err="1"/>
              <a:t>Dbeaver</a:t>
            </a:r>
            <a:r>
              <a:rPr lang="en-US" sz="2400" dirty="0"/>
              <a:t> – </a:t>
            </a:r>
            <a:r>
              <a:rPr lang="en-US" sz="2400" dirty="0" err="1"/>
              <a:t>andmete</a:t>
            </a:r>
            <a:r>
              <a:rPr lang="en-US" sz="2400" dirty="0"/>
              <a:t> </a:t>
            </a:r>
            <a:r>
              <a:rPr lang="en-US" sz="2400" dirty="0" err="1"/>
              <a:t>ühendamine</a:t>
            </a:r>
            <a:r>
              <a:rPr lang="en-US" sz="2400" dirty="0"/>
              <a:t> – </a:t>
            </a:r>
            <a:r>
              <a:rPr lang="en-US" sz="2400" dirty="0" err="1"/>
              <a:t>vaatame</a:t>
            </a:r>
            <a:r>
              <a:rPr lang="en-US" sz="2400" dirty="0"/>
              <a:t> </a:t>
            </a:r>
            <a:r>
              <a:rPr lang="en-US" sz="2400" dirty="0" err="1"/>
              <a:t>lahendused</a:t>
            </a:r>
            <a:r>
              <a:rPr lang="en-US" sz="2400" dirty="0"/>
              <a:t> </a:t>
            </a:r>
            <a:r>
              <a:rPr lang="en-US" sz="2400" dirty="0" err="1"/>
              <a:t>üle</a:t>
            </a:r>
            <a:endParaRPr lang="et-E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417E-5909-8D66-EE8F-A63F18106F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3931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0294-3B0C-1FA8-EA29-F48F16C2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87FE-C19E-B5D7-602C-B58CD8DC8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päring</a:t>
            </a:r>
            <a:r>
              <a:rPr lang="en-US"/>
              <a:t> </a:t>
            </a:r>
            <a:r>
              <a:rPr lang="en-US" err="1"/>
              <a:t>müügiandmete</a:t>
            </a:r>
            <a:r>
              <a:rPr lang="en-US"/>
              <a:t> </a:t>
            </a:r>
            <a:r>
              <a:rPr lang="en-US" err="1"/>
              <a:t>analüüsiks</a:t>
            </a:r>
            <a:r>
              <a:rPr lang="en-US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CF221A-8E5D-03C4-56B6-F5CA02C825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toodete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toote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klientide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kliendi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müügiesindajate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kliendiesindaja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aastate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aasta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Lisa </a:t>
            </a:r>
            <a:r>
              <a:rPr lang="en-US" sz="2000" dirty="0" err="1">
                <a:ea typeface="Inter"/>
                <a:cs typeface="+mn-lt"/>
              </a:rPr>
              <a:t>müükidele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kategooriad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Large Sale &gt; 500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Medium Sale &lt;= 500 and &gt;= 250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Small Sale &lt; 250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müükide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arv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endParaRPr lang="en-US" sz="2000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müükide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arv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Mida </a:t>
            </a:r>
            <a:r>
              <a:rPr lang="en-US" sz="2000" dirty="0" err="1">
                <a:ea typeface="Inter"/>
                <a:cs typeface="+mn-lt"/>
              </a:rPr>
              <a:t>veel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võiks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leida</a:t>
            </a:r>
            <a:r>
              <a:rPr lang="en-US" sz="2000" dirty="0">
                <a:ea typeface="Inter"/>
                <a:cs typeface="+mn-lt"/>
              </a:rPr>
              <a:t>?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12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BF13-0577-C954-E859-4485C0A7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9D38-56B4-329D-1362-22E4CB980D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4B9BA-4701-AF0C-7FCF-4AAD3F3B4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412037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AB85-ABDF-A4AE-95F6-18C60EA2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64C5-FDD9-B59E-7AE1-995A6BC4E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lisamine</a:t>
            </a:r>
            <a:r>
              <a:rPr lang="en-US"/>
              <a:t> </a:t>
            </a:r>
            <a:r>
              <a:rPr lang="en-US" err="1"/>
              <a:t>andmebaasi</a:t>
            </a:r>
            <a:r>
              <a:rPr lang="en-US"/>
              <a:t> SQL </a:t>
            </a:r>
            <a:r>
              <a:rPr lang="en-US" err="1"/>
              <a:t>abil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3AFA46-4814-2DAA-F416-09B3419368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+mn-lt"/>
                <a:cs typeface="+mn-lt"/>
              </a:rPr>
              <a:t>CREATE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INSERT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ALTER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UPDATE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DROP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NB! Kui </a:t>
            </a:r>
            <a:r>
              <a:rPr lang="en-US" sz="2000" dirty="0" err="1">
                <a:ea typeface="Inter"/>
                <a:cs typeface="+mn-lt"/>
              </a:rPr>
              <a:t>päring</a:t>
            </a:r>
            <a:r>
              <a:rPr lang="en-US" sz="2000" dirty="0">
                <a:ea typeface="Inter"/>
                <a:cs typeface="+mn-lt"/>
              </a:rPr>
              <a:t> on </a:t>
            </a:r>
            <a:r>
              <a:rPr lang="en-US" sz="2000" dirty="0" err="1">
                <a:ea typeface="Inter"/>
                <a:cs typeface="+mn-lt"/>
              </a:rPr>
              <a:t>jooksutatud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siis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ei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saa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muudatusi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lihtsalt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tagasi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võtta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seega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tuleb</a:t>
            </a:r>
            <a:r>
              <a:rPr lang="en-US" sz="2000" dirty="0">
                <a:ea typeface="Inter"/>
                <a:cs typeface="+mn-lt"/>
              </a:rPr>
              <a:t> olla </a:t>
            </a:r>
            <a:r>
              <a:rPr lang="en-US" sz="2000" dirty="0" err="1">
                <a:ea typeface="Inter"/>
                <a:cs typeface="+mn-lt"/>
              </a:rPr>
              <a:t>kindel</a:t>
            </a:r>
            <a:r>
              <a:rPr lang="en-US" sz="2000" dirty="0">
                <a:ea typeface="Inter"/>
                <a:cs typeface="+mn-lt"/>
              </a:rPr>
              <a:t>, et </a:t>
            </a:r>
            <a:r>
              <a:rPr lang="en-US" sz="2000" dirty="0" err="1">
                <a:ea typeface="Inter"/>
                <a:cs typeface="+mn-lt"/>
              </a:rPr>
              <a:t>muudatuse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päring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teeb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õiget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asja</a:t>
            </a:r>
            <a:r>
              <a:rPr lang="en-US" sz="2000" dirty="0">
                <a:ea typeface="Inter"/>
                <a:cs typeface="+mn-lt"/>
              </a:rPr>
              <a:t>.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544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6ECC-EA01-FFED-B7EB-B180AFB5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AA5C-5C05-F132-EB20-4628BD955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andmetabelite</a:t>
            </a:r>
            <a:r>
              <a:rPr lang="en-US"/>
              <a:t> </a:t>
            </a:r>
            <a:r>
              <a:rPr lang="en-US" err="1"/>
              <a:t>loomine</a:t>
            </a:r>
            <a:r>
              <a:rPr lang="en-US"/>
              <a:t> ja </a:t>
            </a:r>
            <a:r>
              <a:rPr lang="en-US" err="1"/>
              <a:t>muutmine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E0336-9570-F87B-8FD7-66C1B29715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>
                <a:ea typeface="Inter"/>
                <a:cs typeface="+mn-lt"/>
              </a:rPr>
              <a:t>Loome </a:t>
            </a:r>
            <a:r>
              <a:rPr lang="en-US" sz="2400" err="1">
                <a:ea typeface="Inter"/>
                <a:cs typeface="+mn-lt"/>
              </a:rPr>
              <a:t>koos</a:t>
            </a:r>
            <a:r>
              <a:rPr lang="en-US" sz="2400">
                <a:ea typeface="Inter"/>
                <a:cs typeface="+mn-lt"/>
              </a:rPr>
              <a:t>: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SQL_tabeli_muutmine.sql</a:t>
            </a:r>
            <a:endParaRPr lang="en-US" sz="2400" err="1">
              <a:solidFill>
                <a:srgbClr val="121212"/>
              </a:solidFill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0790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397</Words>
  <Application>Microsoft Office PowerPoint</Application>
  <PresentationFormat>Widescreen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Inter Bold</vt:lpstr>
      <vt:lpstr>Calibri</vt:lpstr>
      <vt:lpstr>Inter</vt:lpstr>
      <vt:lpstr>Poppins SemiBold</vt:lpstr>
      <vt:lpstr>Arial</vt:lpstr>
      <vt:lpstr>Wingdings</vt:lpstr>
      <vt:lpstr>BCS</vt:lpstr>
      <vt:lpstr>Vali Andmetarkus!</vt:lpstr>
      <vt:lpstr>Päevakava - VI päev</vt:lpstr>
      <vt:lpstr>PostgreSQL baasi nimetamispraktikad</vt:lpstr>
      <vt:lpstr>Põhilised andmetüübid PostgreSQL</vt:lpstr>
      <vt:lpstr>Paus 10:30-10:45</vt:lpstr>
      <vt:lpstr>SQL – tabelite ühendamine</vt:lpstr>
      <vt:lpstr>DBeaver – tabelite ühendamine</vt:lpstr>
      <vt:lpstr>Lõunapaus 12:15-13:15</vt:lpstr>
      <vt:lpstr>Dbeaver – andmete ühendamine – vaatame lahendused üle</vt:lpstr>
      <vt:lpstr>SQL päring müügiandmete analüüsiks </vt:lpstr>
      <vt:lpstr>Paus 14:45-15:00</vt:lpstr>
      <vt:lpstr>DBeaver – andmete lisamine andmebaasi SQL abil</vt:lpstr>
      <vt:lpstr>DBeaver – andmetabelite loomine ja muutmine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37</cp:revision>
  <dcterms:created xsi:type="dcterms:W3CDTF">2021-08-27T11:35:28Z</dcterms:created>
  <dcterms:modified xsi:type="dcterms:W3CDTF">2026-09-06T14:46:23Z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