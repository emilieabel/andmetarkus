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29"/>
  </p:notesMasterIdLst>
  <p:handoutMasterIdLst>
    <p:handoutMasterId r:id="rId30"/>
  </p:handoutMasterIdLst>
  <p:sldIdLst>
    <p:sldId id="417" r:id="rId5"/>
    <p:sldId id="462" r:id="rId6"/>
    <p:sldId id="653" r:id="rId7"/>
    <p:sldId id="654" r:id="rId8"/>
    <p:sldId id="642" r:id="rId9"/>
    <p:sldId id="643" r:id="rId10"/>
    <p:sldId id="646" r:id="rId11"/>
    <p:sldId id="635" r:id="rId12"/>
    <p:sldId id="634" r:id="rId13"/>
    <p:sldId id="636" r:id="rId14"/>
    <p:sldId id="640" r:id="rId15"/>
    <p:sldId id="542" r:id="rId16"/>
    <p:sldId id="644" r:id="rId17"/>
    <p:sldId id="641" r:id="rId18"/>
    <p:sldId id="633" r:id="rId19"/>
    <p:sldId id="639" r:id="rId20"/>
    <p:sldId id="605" r:id="rId21"/>
    <p:sldId id="637" r:id="rId22"/>
    <p:sldId id="612" r:id="rId23"/>
    <p:sldId id="645" r:id="rId24"/>
    <p:sldId id="650" r:id="rId25"/>
    <p:sldId id="649" r:id="rId26"/>
    <p:sldId id="651" r:id="rId27"/>
    <p:sldId id="652" r:id="rId28"/>
  </p:sldIdLst>
  <p:sldSz cx="12192000" cy="6858000"/>
  <p:notesSz cx="6858000" cy="9144000"/>
  <p:embeddedFontLst>
    <p:embeddedFont>
      <p:font typeface="Inter" panose="020B0604020202020204" charset="0"/>
      <p:regular r:id="rId31"/>
      <p:bold r:id="rId32"/>
      <p:italic r:id="rId33"/>
      <p:boldItalic r:id="rId34"/>
    </p:embeddedFont>
    <p:embeddedFont>
      <p:font typeface="Inter Bold" panose="020B0604020202020204" charset="0"/>
      <p:bold r:id="rId35"/>
    </p:embeddedFont>
    <p:embeddedFont>
      <p:font typeface="Poppins SemiBold" panose="00000700000000000000" pitchFamily="2" charset="0"/>
      <p:bold r:id="rId36"/>
      <p:boldItalic r:id="rId37"/>
    </p:embeddedFont>
  </p:embeddedFontLst>
  <p:defaultText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42B2D"/>
    <a:srgbClr val="B78885"/>
    <a:srgbClr val="178687"/>
    <a:srgbClr val="278484"/>
    <a:srgbClr val="FEF5F0"/>
    <a:srgbClr val="FEFAEE"/>
    <a:srgbClr val="113F73"/>
    <a:srgbClr val="007ECA"/>
    <a:srgbClr val="95B1D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C0C204-18C6-46D6-9F3E-C84CD21EA791}" v="41" dt="2026-08-26T06:59:27.0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79" autoAdjust="0"/>
    <p:restoredTop sz="94660"/>
  </p:normalViewPr>
  <p:slideViewPr>
    <p:cSldViewPr snapToGrid="0">
      <p:cViewPr>
        <p:scale>
          <a:sx n="75" d="100"/>
          <a:sy n="75" d="100"/>
        </p:scale>
        <p:origin x="500" y="36"/>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font" Target="fonts/font4.fntdata"/><Relationship Id="rId42"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openxmlformats.org/officeDocument/2006/relationships/font" Target="fonts/font5.fntdata"/><Relationship Id="rId43" Type="http://schemas.microsoft.com/office/2015/10/relationships/revisionInfo" Target="revisionInfo.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ie Abel" userId="20dec598-1860-40de-ab3f-181316cc4da6" providerId="ADAL" clId="{3EAE1975-14BE-41D5-9E3B-28573F0EE5DC}"/>
    <pc:docChg chg="undo custSel addSld delSld modSld sldOrd">
      <pc:chgData name="Emilie Abel" userId="20dec598-1860-40de-ab3f-181316cc4da6" providerId="ADAL" clId="{3EAE1975-14BE-41D5-9E3B-28573F0EE5DC}" dt="2026-08-26T06:59:27.005" v="1164" actId="113"/>
      <pc:docMkLst>
        <pc:docMk/>
      </pc:docMkLst>
      <pc:sldChg chg="delSp modSp mod">
        <pc:chgData name="Emilie Abel" userId="20dec598-1860-40de-ab3f-181316cc4da6" providerId="ADAL" clId="{3EAE1975-14BE-41D5-9E3B-28573F0EE5DC}" dt="2026-08-18T11:50:45.017" v="30" actId="20577"/>
        <pc:sldMkLst>
          <pc:docMk/>
          <pc:sldMk cId="4169291970" sldId="417"/>
        </pc:sldMkLst>
        <pc:spChg chg="mod">
          <ac:chgData name="Emilie Abel" userId="20dec598-1860-40de-ab3f-181316cc4da6" providerId="ADAL" clId="{3EAE1975-14BE-41D5-9E3B-28573F0EE5DC}" dt="2026-08-18T11:50:45.017" v="30" actId="20577"/>
          <ac:spMkLst>
            <pc:docMk/>
            <pc:sldMk cId="4169291970" sldId="417"/>
            <ac:spMk id="5" creationId="{3496B8E7-2B01-285F-88ED-B3ADE66A3D31}"/>
          </ac:spMkLst>
        </pc:spChg>
      </pc:sldChg>
      <pc:sldChg chg="modSp mod">
        <pc:chgData name="Emilie Abel" userId="20dec598-1860-40de-ab3f-181316cc4da6" providerId="ADAL" clId="{3EAE1975-14BE-41D5-9E3B-28573F0EE5DC}" dt="2026-08-18T11:51:06.824" v="47" actId="6549"/>
        <pc:sldMkLst>
          <pc:docMk/>
          <pc:sldMk cId="2440097380" sldId="462"/>
        </pc:sldMkLst>
        <pc:graphicFrameChg chg="modGraphic">
          <ac:chgData name="Emilie Abel" userId="20dec598-1860-40de-ab3f-181316cc4da6" providerId="ADAL" clId="{3EAE1975-14BE-41D5-9E3B-28573F0EE5DC}" dt="2026-08-18T11:51:06.824" v="47" actId="6549"/>
          <ac:graphicFrameMkLst>
            <pc:docMk/>
            <pc:sldMk cId="2440097380" sldId="462"/>
            <ac:graphicFrameMk id="5" creationId="{55940A91-7988-118D-B25F-D4B87AC08E94}"/>
          </ac:graphicFrameMkLst>
        </pc:graphicFrameChg>
      </pc:sldChg>
      <pc:sldChg chg="addSp delSp modSp new mod">
        <pc:chgData name="Emilie Abel" userId="20dec598-1860-40de-ab3f-181316cc4da6" providerId="ADAL" clId="{3EAE1975-14BE-41D5-9E3B-28573F0EE5DC}" dt="2026-08-26T06:58:33.843" v="1162" actId="20577"/>
        <pc:sldMkLst>
          <pc:docMk/>
          <pc:sldMk cId="3762560751" sldId="633"/>
        </pc:sldMkLst>
        <pc:spChg chg="mod">
          <ac:chgData name="Emilie Abel" userId="20dec598-1860-40de-ab3f-181316cc4da6" providerId="ADAL" clId="{3EAE1975-14BE-41D5-9E3B-28573F0EE5DC}" dt="2026-08-26T06:58:33.843" v="1162" actId="20577"/>
          <ac:spMkLst>
            <pc:docMk/>
            <pc:sldMk cId="3762560751" sldId="633"/>
            <ac:spMk id="2" creationId="{F7AE0936-4559-8807-4C60-0BB238A8E247}"/>
          </ac:spMkLst>
        </pc:spChg>
        <pc:spChg chg="add mod">
          <ac:chgData name="Emilie Abel" userId="20dec598-1860-40de-ab3f-181316cc4da6" providerId="ADAL" clId="{3EAE1975-14BE-41D5-9E3B-28573F0EE5DC}" dt="2026-08-24T11:56:40.687" v="393" actId="14100"/>
          <ac:spMkLst>
            <pc:docMk/>
            <pc:sldMk cId="3762560751" sldId="633"/>
            <ac:spMk id="8" creationId="{A4CF03D2-55A4-A41F-F105-D4B26FBEBECA}"/>
          </ac:spMkLst>
        </pc:spChg>
        <pc:spChg chg="add del mod">
          <ac:chgData name="Emilie Abel" userId="20dec598-1860-40de-ab3f-181316cc4da6" providerId="ADAL" clId="{3EAE1975-14BE-41D5-9E3B-28573F0EE5DC}" dt="2026-08-26T06:52:45.121" v="1131" actId="478"/>
          <ac:spMkLst>
            <pc:docMk/>
            <pc:sldMk cId="3762560751" sldId="633"/>
            <ac:spMk id="16" creationId="{E04522C2-6AE3-5564-A131-A44A4892FB58}"/>
          </ac:spMkLst>
        </pc:spChg>
        <pc:graphicFrameChg chg="add mod modGraphic">
          <ac:chgData name="Emilie Abel" userId="20dec598-1860-40de-ab3f-181316cc4da6" providerId="ADAL" clId="{3EAE1975-14BE-41D5-9E3B-28573F0EE5DC}" dt="2026-08-24T12:48:55.200" v="880" actId="20577"/>
          <ac:graphicFrameMkLst>
            <pc:docMk/>
            <pc:sldMk cId="3762560751" sldId="633"/>
            <ac:graphicFrameMk id="12" creationId="{56C5FDC6-2A1A-5308-3602-7C9CD508B914}"/>
          </ac:graphicFrameMkLst>
        </pc:graphicFrameChg>
      </pc:sldChg>
      <pc:sldChg chg="addSp delSp modSp mod modClrScheme chgLayout">
        <pc:chgData name="Emilie Abel" userId="20dec598-1860-40de-ab3f-181316cc4da6" providerId="ADAL" clId="{3EAE1975-14BE-41D5-9E3B-28573F0EE5DC}" dt="2026-08-24T11:56:01.130" v="386" actId="20577"/>
        <pc:sldMkLst>
          <pc:docMk/>
          <pc:sldMk cId="3601672131" sldId="634"/>
        </pc:sldMkLst>
        <pc:spChg chg="mod">
          <ac:chgData name="Emilie Abel" userId="20dec598-1860-40de-ab3f-181316cc4da6" providerId="ADAL" clId="{3EAE1975-14BE-41D5-9E3B-28573F0EE5DC}" dt="2026-08-24T11:34:03.266" v="73" actId="26606"/>
          <ac:spMkLst>
            <pc:docMk/>
            <pc:sldMk cId="3601672131" sldId="634"/>
            <ac:spMk id="2" creationId="{90238844-2B4F-2B5F-830B-7D1533DA9FF0}"/>
          </ac:spMkLst>
        </pc:spChg>
        <pc:spChg chg="add mod">
          <ac:chgData name="Emilie Abel" userId="20dec598-1860-40de-ab3f-181316cc4da6" providerId="ADAL" clId="{3EAE1975-14BE-41D5-9E3B-28573F0EE5DC}" dt="2026-08-24T11:56:01.130" v="386" actId="20577"/>
          <ac:spMkLst>
            <pc:docMk/>
            <pc:sldMk cId="3601672131" sldId="634"/>
            <ac:spMk id="9" creationId="{0F9702C4-911A-81AB-55B4-32551C81C617}"/>
          </ac:spMkLst>
        </pc:spChg>
        <pc:graphicFrameChg chg="add mod modGraphic">
          <ac:chgData name="Emilie Abel" userId="20dec598-1860-40de-ab3f-181316cc4da6" providerId="ADAL" clId="{3EAE1975-14BE-41D5-9E3B-28573F0EE5DC}" dt="2026-08-24T11:51:34.908" v="246" actId="207"/>
          <ac:graphicFrameMkLst>
            <pc:docMk/>
            <pc:sldMk cId="3601672131" sldId="634"/>
            <ac:graphicFrameMk id="5" creationId="{C6404B0F-6378-AF34-CA7D-13BF3D87CE60}"/>
          </ac:graphicFrameMkLst>
        </pc:graphicFrameChg>
      </pc:sldChg>
      <pc:sldChg chg="addSp delSp modSp mod ord modClrScheme chgLayout">
        <pc:chgData name="Emilie Abel" userId="20dec598-1860-40de-ab3f-181316cc4da6" providerId="ADAL" clId="{3EAE1975-14BE-41D5-9E3B-28573F0EE5DC}" dt="2026-08-26T06:59:27.005" v="1164" actId="113"/>
        <pc:sldMkLst>
          <pc:docMk/>
          <pc:sldMk cId="1980093044" sldId="635"/>
        </pc:sldMkLst>
        <pc:spChg chg="add mod">
          <ac:chgData name="Emilie Abel" userId="20dec598-1860-40de-ab3f-181316cc4da6" providerId="ADAL" clId="{3EAE1975-14BE-41D5-9E3B-28573F0EE5DC}" dt="2026-08-24T11:50:55.915" v="237"/>
          <ac:spMkLst>
            <pc:docMk/>
            <pc:sldMk cId="1980093044" sldId="635"/>
            <ac:spMk id="9" creationId="{68A6476D-19E7-4ECC-EDE0-F1B5605EC95E}"/>
          </ac:spMkLst>
        </pc:spChg>
        <pc:graphicFrameChg chg="add mod modGraphic">
          <ac:chgData name="Emilie Abel" userId="20dec598-1860-40de-ab3f-181316cc4da6" providerId="ADAL" clId="{3EAE1975-14BE-41D5-9E3B-28573F0EE5DC}" dt="2026-08-26T06:59:27.005" v="1164" actId="113"/>
          <ac:graphicFrameMkLst>
            <pc:docMk/>
            <pc:sldMk cId="1980093044" sldId="635"/>
            <ac:graphicFrameMk id="5" creationId="{8A4387B5-3561-117A-6C69-77EED2A14894}"/>
          </ac:graphicFrameMkLst>
        </pc:graphicFrameChg>
      </pc:sldChg>
      <pc:sldChg chg="addSp delSp modSp mod">
        <pc:chgData name="Emilie Abel" userId="20dec598-1860-40de-ab3f-181316cc4da6" providerId="ADAL" clId="{3EAE1975-14BE-41D5-9E3B-28573F0EE5DC}" dt="2026-08-24T12:14:54.605" v="549" actId="20577"/>
        <pc:sldMkLst>
          <pc:docMk/>
          <pc:sldMk cId="2755135320" sldId="636"/>
        </pc:sldMkLst>
        <pc:spChg chg="mod">
          <ac:chgData name="Emilie Abel" userId="20dec598-1860-40de-ab3f-181316cc4da6" providerId="ADAL" clId="{3EAE1975-14BE-41D5-9E3B-28573F0EE5DC}" dt="2026-08-24T12:14:54.605" v="549" actId="20577"/>
          <ac:spMkLst>
            <pc:docMk/>
            <pc:sldMk cId="2755135320" sldId="636"/>
            <ac:spMk id="2" creationId="{7B824016-CD08-EBD5-F71C-F56C095C9926}"/>
          </ac:spMkLst>
        </pc:spChg>
        <pc:graphicFrameChg chg="add mod modGraphic">
          <ac:chgData name="Emilie Abel" userId="20dec598-1860-40de-ab3f-181316cc4da6" providerId="ADAL" clId="{3EAE1975-14BE-41D5-9E3B-28573F0EE5DC}" dt="2026-08-24T11:47:04.165" v="227" actId="404"/>
          <ac:graphicFrameMkLst>
            <pc:docMk/>
            <pc:sldMk cId="2755135320" sldId="636"/>
            <ac:graphicFrameMk id="6" creationId="{07C3309A-7C0F-EFAF-57FF-0A92BE14E1B5}"/>
          </ac:graphicFrameMkLst>
        </pc:graphicFrameChg>
      </pc:sldChg>
      <pc:sldChg chg="modSp new mod ord">
        <pc:chgData name="Emilie Abel" userId="20dec598-1860-40de-ab3f-181316cc4da6" providerId="ADAL" clId="{3EAE1975-14BE-41D5-9E3B-28573F0EE5DC}" dt="2026-08-24T13:01:58.233" v="1047" actId="20577"/>
        <pc:sldMkLst>
          <pc:docMk/>
          <pc:sldMk cId="1076317573" sldId="639"/>
        </pc:sldMkLst>
        <pc:spChg chg="mod">
          <ac:chgData name="Emilie Abel" userId="20dec598-1860-40de-ab3f-181316cc4da6" providerId="ADAL" clId="{3EAE1975-14BE-41D5-9E3B-28573F0EE5DC}" dt="2026-08-24T11:52:48.574" v="248"/>
          <ac:spMkLst>
            <pc:docMk/>
            <pc:sldMk cId="1076317573" sldId="639"/>
            <ac:spMk id="2" creationId="{FE582392-54B3-98FA-3B24-8681B4F4ABB5}"/>
          </ac:spMkLst>
        </pc:spChg>
        <pc:spChg chg="mod">
          <ac:chgData name="Emilie Abel" userId="20dec598-1860-40de-ab3f-181316cc4da6" providerId="ADAL" clId="{3EAE1975-14BE-41D5-9E3B-28573F0EE5DC}" dt="2026-08-24T13:01:58.233" v="1047" actId="20577"/>
          <ac:spMkLst>
            <pc:docMk/>
            <pc:sldMk cId="1076317573" sldId="639"/>
            <ac:spMk id="3" creationId="{5D466F4A-8CA4-5C39-863A-195F085F7416}"/>
          </ac:spMkLst>
        </pc:spChg>
      </pc:sldChg>
      <pc:sldChg chg="addSp delSp modSp new mod">
        <pc:chgData name="Emilie Abel" userId="20dec598-1860-40de-ab3f-181316cc4da6" providerId="ADAL" clId="{3EAE1975-14BE-41D5-9E3B-28573F0EE5DC}" dt="2026-08-24T12:15:08.492" v="590" actId="20577"/>
        <pc:sldMkLst>
          <pc:docMk/>
          <pc:sldMk cId="913532751" sldId="640"/>
        </pc:sldMkLst>
        <pc:spChg chg="mod">
          <ac:chgData name="Emilie Abel" userId="20dec598-1860-40de-ab3f-181316cc4da6" providerId="ADAL" clId="{3EAE1975-14BE-41D5-9E3B-28573F0EE5DC}" dt="2026-08-24T12:15:08.492" v="590" actId="20577"/>
          <ac:spMkLst>
            <pc:docMk/>
            <pc:sldMk cId="913532751" sldId="640"/>
            <ac:spMk id="2" creationId="{BF303C85-32DC-A518-74B8-5EC211C6A592}"/>
          </ac:spMkLst>
        </pc:spChg>
        <pc:graphicFrameChg chg="add mod modGraphic">
          <ac:chgData name="Emilie Abel" userId="20dec598-1860-40de-ab3f-181316cc4da6" providerId="ADAL" clId="{3EAE1975-14BE-41D5-9E3B-28573F0EE5DC}" dt="2026-08-24T11:46:52.797" v="220" actId="113"/>
          <ac:graphicFrameMkLst>
            <pc:docMk/>
            <pc:sldMk cId="913532751" sldId="640"/>
            <ac:graphicFrameMk id="5" creationId="{A87B89DE-EAF1-0C27-8051-D8FB5C513E5A}"/>
          </ac:graphicFrameMkLst>
        </pc:graphicFrameChg>
      </pc:sldChg>
      <pc:sldChg chg="addSp modSp new mod">
        <pc:chgData name="Emilie Abel" userId="20dec598-1860-40de-ab3f-181316cc4da6" providerId="ADAL" clId="{3EAE1975-14BE-41D5-9E3B-28573F0EE5DC}" dt="2026-08-24T12:47:32.877" v="784" actId="20577"/>
        <pc:sldMkLst>
          <pc:docMk/>
          <pc:sldMk cId="1554462178" sldId="641"/>
        </pc:sldMkLst>
        <pc:spChg chg="mod">
          <ac:chgData name="Emilie Abel" userId="20dec598-1860-40de-ab3f-181316cc4da6" providerId="ADAL" clId="{3EAE1975-14BE-41D5-9E3B-28573F0EE5DC}" dt="2026-08-24T12:47:32.877" v="784" actId="20577"/>
          <ac:spMkLst>
            <pc:docMk/>
            <pc:sldMk cId="1554462178" sldId="641"/>
            <ac:spMk id="2" creationId="{42186FFC-EFCA-60BB-C261-E6A49DF9AF77}"/>
          </ac:spMkLst>
        </pc:spChg>
        <pc:graphicFrameChg chg="add mod">
          <ac:chgData name="Emilie Abel" userId="20dec598-1860-40de-ab3f-181316cc4da6" providerId="ADAL" clId="{3EAE1975-14BE-41D5-9E3B-28573F0EE5DC}" dt="2026-08-24T11:58:06.512" v="424" actId="1076"/>
          <ac:graphicFrameMkLst>
            <pc:docMk/>
            <pc:sldMk cId="1554462178" sldId="641"/>
            <ac:graphicFrameMk id="11" creationId="{67FC2E7C-6666-C249-C786-119D30F84DCA}"/>
          </ac:graphicFrameMkLst>
        </pc:graphicFrameChg>
      </pc:sldChg>
      <pc:sldChg chg="addSp delSp modSp new mod">
        <pc:chgData name="Emilie Abel" userId="20dec598-1860-40de-ab3f-181316cc4da6" providerId="ADAL" clId="{3EAE1975-14BE-41D5-9E3B-28573F0EE5DC}" dt="2026-08-24T12:11:35.457" v="508" actId="1076"/>
        <pc:sldMkLst>
          <pc:docMk/>
          <pc:sldMk cId="2484373498" sldId="642"/>
        </pc:sldMkLst>
        <pc:spChg chg="mod">
          <ac:chgData name="Emilie Abel" userId="20dec598-1860-40de-ab3f-181316cc4da6" providerId="ADAL" clId="{3EAE1975-14BE-41D5-9E3B-28573F0EE5DC}" dt="2026-08-24T12:04:39.512" v="473" actId="20577"/>
          <ac:spMkLst>
            <pc:docMk/>
            <pc:sldMk cId="2484373498" sldId="642"/>
            <ac:spMk id="2" creationId="{429C4DE1-A6F9-CBD0-A821-AEF276D6F270}"/>
          </ac:spMkLst>
        </pc:spChg>
        <pc:spChg chg="mod">
          <ac:chgData name="Emilie Abel" userId="20dec598-1860-40de-ab3f-181316cc4da6" providerId="ADAL" clId="{3EAE1975-14BE-41D5-9E3B-28573F0EE5DC}" dt="2026-08-24T12:10:49.420" v="505" actId="20577"/>
          <ac:spMkLst>
            <pc:docMk/>
            <pc:sldMk cId="2484373498" sldId="642"/>
            <ac:spMk id="3" creationId="{DD8B7FC9-3E2B-102B-6B3B-920AA4E1DFD1}"/>
          </ac:spMkLst>
        </pc:spChg>
        <pc:graphicFrameChg chg="add mod modGraphic">
          <ac:chgData name="Emilie Abel" userId="20dec598-1860-40de-ab3f-181316cc4da6" providerId="ADAL" clId="{3EAE1975-14BE-41D5-9E3B-28573F0EE5DC}" dt="2026-08-24T12:11:35.457" v="508" actId="1076"/>
          <ac:graphicFrameMkLst>
            <pc:docMk/>
            <pc:sldMk cId="2484373498" sldId="642"/>
            <ac:graphicFrameMk id="4" creationId="{834F2294-69E6-D60A-FAA7-09A90263FB98}"/>
          </ac:graphicFrameMkLst>
        </pc:graphicFrameChg>
      </pc:sldChg>
      <pc:sldChg chg="modSp new mod">
        <pc:chgData name="Emilie Abel" userId="20dec598-1860-40de-ab3f-181316cc4da6" providerId="ADAL" clId="{3EAE1975-14BE-41D5-9E3B-28573F0EE5DC}" dt="2026-08-24T12:59:06.365" v="985"/>
        <pc:sldMkLst>
          <pc:docMk/>
          <pc:sldMk cId="3778716161" sldId="643"/>
        </pc:sldMkLst>
        <pc:spChg chg="mod">
          <ac:chgData name="Emilie Abel" userId="20dec598-1860-40de-ab3f-181316cc4da6" providerId="ADAL" clId="{3EAE1975-14BE-41D5-9E3B-28573F0EE5DC}" dt="2026-08-24T12:45:51.541" v="668" actId="20577"/>
          <ac:spMkLst>
            <pc:docMk/>
            <pc:sldMk cId="3778716161" sldId="643"/>
            <ac:spMk id="2" creationId="{EFBEDF5A-81C0-DB03-48A0-C23356CE608A}"/>
          </ac:spMkLst>
        </pc:spChg>
        <pc:spChg chg="mod">
          <ac:chgData name="Emilie Abel" userId="20dec598-1860-40de-ab3f-181316cc4da6" providerId="ADAL" clId="{3EAE1975-14BE-41D5-9E3B-28573F0EE5DC}" dt="2026-08-24T12:59:06.365" v="985"/>
          <ac:spMkLst>
            <pc:docMk/>
            <pc:sldMk cId="3778716161" sldId="643"/>
            <ac:spMk id="3" creationId="{421A0062-1EEE-2018-EEB0-6EFB99CCFFF1}"/>
          </ac:spMkLst>
        </pc:spChg>
      </pc:sldChg>
      <pc:sldChg chg="addSp delSp modSp new mod">
        <pc:chgData name="Emilie Abel" userId="20dec598-1860-40de-ab3f-181316cc4da6" providerId="ADAL" clId="{3EAE1975-14BE-41D5-9E3B-28573F0EE5DC}" dt="2026-08-24T12:47:24.335" v="765" actId="1076"/>
        <pc:sldMkLst>
          <pc:docMk/>
          <pc:sldMk cId="1883636827" sldId="644"/>
        </pc:sldMkLst>
        <pc:spChg chg="mod">
          <ac:chgData name="Emilie Abel" userId="20dec598-1860-40de-ab3f-181316cc4da6" providerId="ADAL" clId="{3EAE1975-14BE-41D5-9E3B-28573F0EE5DC}" dt="2026-08-24T12:45:18.115" v="621" actId="20577"/>
          <ac:spMkLst>
            <pc:docMk/>
            <pc:sldMk cId="1883636827" sldId="644"/>
            <ac:spMk id="2" creationId="{D57ACA9A-1F17-CA5D-795C-56786D1B9173}"/>
          </ac:spMkLst>
        </pc:spChg>
        <pc:graphicFrameChg chg="add mod modGraphic">
          <ac:chgData name="Emilie Abel" userId="20dec598-1860-40de-ab3f-181316cc4da6" providerId="ADAL" clId="{3EAE1975-14BE-41D5-9E3B-28573F0EE5DC}" dt="2026-08-24T12:47:24.335" v="765" actId="1076"/>
          <ac:graphicFrameMkLst>
            <pc:docMk/>
            <pc:sldMk cId="1883636827" sldId="644"/>
            <ac:graphicFrameMk id="4" creationId="{0E8B6179-D2E1-138C-F494-78462F20D92D}"/>
          </ac:graphicFrameMkLst>
        </pc:graphicFrameChg>
      </pc:sldChg>
      <pc:sldChg chg="modSp new mod">
        <pc:chgData name="Emilie Abel" userId="20dec598-1860-40de-ab3f-181316cc4da6" providerId="ADAL" clId="{3EAE1975-14BE-41D5-9E3B-28573F0EE5DC}" dt="2026-08-25T07:54:21.450" v="1129" actId="20577"/>
        <pc:sldMkLst>
          <pc:docMk/>
          <pc:sldMk cId="98912136" sldId="645"/>
        </pc:sldMkLst>
        <pc:spChg chg="mod">
          <ac:chgData name="Emilie Abel" userId="20dec598-1860-40de-ab3f-181316cc4da6" providerId="ADAL" clId="{3EAE1975-14BE-41D5-9E3B-28573F0EE5DC}" dt="2026-08-24T12:49:32.726" v="889" actId="20577"/>
          <ac:spMkLst>
            <pc:docMk/>
            <pc:sldMk cId="98912136" sldId="645"/>
            <ac:spMk id="2" creationId="{0B63C1F7-CD92-D403-1E94-6A303DDD1D89}"/>
          </ac:spMkLst>
        </pc:spChg>
        <pc:spChg chg="mod">
          <ac:chgData name="Emilie Abel" userId="20dec598-1860-40de-ab3f-181316cc4da6" providerId="ADAL" clId="{3EAE1975-14BE-41D5-9E3B-28573F0EE5DC}" dt="2026-08-25T07:54:21.450" v="1129" actId="20577"/>
          <ac:spMkLst>
            <pc:docMk/>
            <pc:sldMk cId="98912136" sldId="645"/>
            <ac:spMk id="3" creationId="{B58A7050-7C98-021C-C525-2E0D92E64E6A}"/>
          </ac:spMkLst>
        </pc:spChg>
      </pc:sldChg>
      <pc:sldChg chg="addSp modSp new mod">
        <pc:chgData name="Emilie Abel" userId="20dec598-1860-40de-ab3f-181316cc4da6" providerId="ADAL" clId="{3EAE1975-14BE-41D5-9E3B-28573F0EE5DC}" dt="2026-08-24T13:01:19.083" v="1041" actId="14100"/>
        <pc:sldMkLst>
          <pc:docMk/>
          <pc:sldMk cId="272416301" sldId="646"/>
        </pc:sldMkLst>
        <pc:spChg chg="mod">
          <ac:chgData name="Emilie Abel" userId="20dec598-1860-40de-ab3f-181316cc4da6" providerId="ADAL" clId="{3EAE1975-14BE-41D5-9E3B-28573F0EE5DC}" dt="2026-08-24T12:55:55.208" v="961"/>
          <ac:spMkLst>
            <pc:docMk/>
            <pc:sldMk cId="272416301" sldId="646"/>
            <ac:spMk id="3" creationId="{7FF2CB11-705C-E026-7E88-AA024C992639}"/>
          </ac:spMkLst>
        </pc:spChg>
        <pc:picChg chg="add mod">
          <ac:chgData name="Emilie Abel" userId="20dec598-1860-40de-ab3f-181316cc4da6" providerId="ADAL" clId="{3EAE1975-14BE-41D5-9E3B-28573F0EE5DC}" dt="2026-08-24T13:01:19.083" v="1041" actId="14100"/>
          <ac:picMkLst>
            <pc:docMk/>
            <pc:sldMk cId="272416301" sldId="646"/>
            <ac:picMk id="4" creationId="{23E0298F-E9E6-5451-D77C-050B9068A74E}"/>
          </ac:picMkLst>
        </pc:picChg>
      </pc:sldChg>
      <pc:sldChg chg="modSp new mod">
        <pc:chgData name="Emilie Abel" userId="20dec598-1860-40de-ab3f-181316cc4da6" providerId="ADAL" clId="{3EAE1975-14BE-41D5-9E3B-28573F0EE5DC}" dt="2026-08-24T13:04:06.009" v="1054"/>
        <pc:sldMkLst>
          <pc:docMk/>
          <pc:sldMk cId="2858064144" sldId="647"/>
        </pc:sldMkLst>
        <pc:spChg chg="mod">
          <ac:chgData name="Emilie Abel" userId="20dec598-1860-40de-ab3f-181316cc4da6" providerId="ADAL" clId="{3EAE1975-14BE-41D5-9E3B-28573F0EE5DC}" dt="2026-08-24T13:04:06.009" v="1054"/>
          <ac:spMkLst>
            <pc:docMk/>
            <pc:sldMk cId="2858064144" sldId="647"/>
            <ac:spMk id="3" creationId="{E815C1A2-A490-F11A-C6E2-CD10CB06E9BD}"/>
          </ac:spMkLst>
        </pc:spChg>
      </pc:sldChg>
      <pc:sldChg chg="modSp new mod">
        <pc:chgData name="Emilie Abel" userId="20dec598-1860-40de-ab3f-181316cc4da6" providerId="ADAL" clId="{3EAE1975-14BE-41D5-9E3B-28573F0EE5DC}" dt="2026-08-24T13:05:11.432" v="1124" actId="20577"/>
        <pc:sldMkLst>
          <pc:docMk/>
          <pc:sldMk cId="1705661082" sldId="648"/>
        </pc:sldMkLst>
        <pc:spChg chg="mod">
          <ac:chgData name="Emilie Abel" userId="20dec598-1860-40de-ab3f-181316cc4da6" providerId="ADAL" clId="{3EAE1975-14BE-41D5-9E3B-28573F0EE5DC}" dt="2026-08-24T13:05:11.432" v="1124" actId="20577"/>
          <ac:spMkLst>
            <pc:docMk/>
            <pc:sldMk cId="1705661082" sldId="648"/>
            <ac:spMk id="2" creationId="{EEDC0BD3-39DC-C207-029E-5C697048F58B}"/>
          </ac:spMkLst>
        </pc:spChg>
        <pc:spChg chg="mod">
          <ac:chgData name="Emilie Abel" userId="20dec598-1860-40de-ab3f-181316cc4da6" providerId="ADAL" clId="{3EAE1975-14BE-41D5-9E3B-28573F0EE5DC}" dt="2026-08-24T13:05:06.069" v="1113" actId="20577"/>
          <ac:spMkLst>
            <pc:docMk/>
            <pc:sldMk cId="1705661082" sldId="648"/>
            <ac:spMk id="3" creationId="{C5976922-11F4-E6F0-3E21-F1E3B4D295B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3">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CA450BC-4740-4F1F-AF9F-A3C18381D233}" type="doc">
      <dgm:prSet loTypeId="urn:microsoft.com/office/officeart/2008/layout/LinedList" loCatId="list" qsTypeId="urn:microsoft.com/office/officeart/2005/8/quickstyle/simple1#1" qsCatId="simple" csTypeId="urn:microsoft.com/office/officeart/2005/8/colors/accent2_2#3" csCatId="accent2" phldr="1"/>
      <dgm:spPr/>
      <dgm:t>
        <a:bodyPr/>
        <a:lstStyle/>
        <a:p>
          <a:endParaRPr lang="en-US"/>
        </a:p>
      </dgm:t>
    </dgm:pt>
    <dgm:pt modelId="{60044157-27E2-4BCF-8FC1-E3251FC86653}">
      <dgm:prSet/>
      <dgm:spPr/>
      <dgm:t>
        <a:bodyPr/>
        <a:lstStyle/>
        <a:p>
          <a:r>
            <a:rPr lang="et-EE" dirty="0"/>
            <a:t>Professionaalselt ehitatud andmeplatvorm koosneb </a:t>
          </a:r>
          <a:r>
            <a:rPr lang="et-EE" b="1" dirty="0"/>
            <a:t>mitmest kihist</a:t>
          </a:r>
          <a:r>
            <a:rPr lang="et-EE" dirty="0"/>
            <a:t>, mis tagavad andmete liikumise ja kvaliteedi</a:t>
          </a:r>
          <a:endParaRPr lang="en-US" dirty="0"/>
        </a:p>
      </dgm:t>
    </dgm:pt>
    <dgm:pt modelId="{8AEEDE37-FA3D-49E2-8ABD-A0A0B3F80E1F}" type="parTrans" cxnId="{6B6759D4-A98D-4D26-8EBE-EF6AAE1CE7A0}">
      <dgm:prSet/>
      <dgm:spPr/>
      <dgm:t>
        <a:bodyPr/>
        <a:lstStyle/>
        <a:p>
          <a:endParaRPr lang="en-US"/>
        </a:p>
      </dgm:t>
    </dgm:pt>
    <dgm:pt modelId="{8DE62552-2578-4C74-A028-E55574D8A2AB}" type="sibTrans" cxnId="{6B6759D4-A98D-4D26-8EBE-EF6AAE1CE7A0}">
      <dgm:prSet/>
      <dgm:spPr/>
      <dgm:t>
        <a:bodyPr/>
        <a:lstStyle/>
        <a:p>
          <a:endParaRPr lang="en-US"/>
        </a:p>
      </dgm:t>
    </dgm:pt>
    <dgm:pt modelId="{14018872-F547-4336-AAC2-4C78AB5DE1BA}">
      <dgm:prSet/>
      <dgm:spPr/>
      <dgm:t>
        <a:bodyPr/>
        <a:lstStyle/>
        <a:p>
          <a:r>
            <a:rPr lang="et-EE" b="1" dirty="0"/>
            <a:t>Andmete integreerimine (Ingestion)</a:t>
          </a:r>
          <a:r>
            <a:rPr lang="et-EE" dirty="0"/>
            <a:t>: Andmete toomine erinevatest algallikatest (nt CRM, ERP, veebilehed, IoT seadmed) platvormile.</a:t>
          </a:r>
          <a:endParaRPr lang="en-US" dirty="0"/>
        </a:p>
      </dgm:t>
    </dgm:pt>
    <dgm:pt modelId="{1D443973-CF09-496F-AB3A-341E91B22E92}" type="parTrans" cxnId="{04B80C7D-E9F5-4C87-BED1-48DD3BCB59E3}">
      <dgm:prSet/>
      <dgm:spPr/>
      <dgm:t>
        <a:bodyPr/>
        <a:lstStyle/>
        <a:p>
          <a:endParaRPr lang="en-US"/>
        </a:p>
      </dgm:t>
    </dgm:pt>
    <dgm:pt modelId="{4DAC20A2-8566-42AA-BAB0-936FE510F721}" type="sibTrans" cxnId="{04B80C7D-E9F5-4C87-BED1-48DD3BCB59E3}">
      <dgm:prSet/>
      <dgm:spPr/>
      <dgm:t>
        <a:bodyPr/>
        <a:lstStyle/>
        <a:p>
          <a:endParaRPr lang="en-US"/>
        </a:p>
      </dgm:t>
    </dgm:pt>
    <dgm:pt modelId="{3F736EAA-8B06-44BA-AD2B-F7A1888FACF4}">
      <dgm:prSet/>
      <dgm:spPr/>
      <dgm:t>
        <a:bodyPr/>
        <a:lstStyle/>
        <a:p>
          <a:r>
            <a:rPr lang="et-EE" b="1" dirty="0"/>
            <a:t>Hoiustamine (Storage)</a:t>
          </a:r>
          <a:r>
            <a:rPr lang="et-EE" dirty="0"/>
            <a:t>: Andmete turvaline ja optimeeritud talletamine pilvepõhistes andmejärvedes (</a:t>
          </a:r>
          <a:r>
            <a:rPr lang="et-EE" i="1" dirty="0"/>
            <a:t>Data Lake</a:t>
          </a:r>
          <a:r>
            <a:rPr lang="et-EE" dirty="0"/>
            <a:t>) või andmeladudes (</a:t>
          </a:r>
          <a:r>
            <a:rPr lang="et-EE" i="1" dirty="0"/>
            <a:t>Data Warehouse</a:t>
          </a:r>
          <a:r>
            <a:rPr lang="et-EE" dirty="0"/>
            <a:t>). </a:t>
          </a:r>
          <a:endParaRPr lang="en-US" dirty="0"/>
        </a:p>
      </dgm:t>
    </dgm:pt>
    <dgm:pt modelId="{43457F88-2968-4BFB-96CF-8EA46AE59C9D}" type="parTrans" cxnId="{E836F0FF-A8AA-4B0C-91BB-E917FC75DE68}">
      <dgm:prSet/>
      <dgm:spPr/>
      <dgm:t>
        <a:bodyPr/>
        <a:lstStyle/>
        <a:p>
          <a:endParaRPr lang="en-US"/>
        </a:p>
      </dgm:t>
    </dgm:pt>
    <dgm:pt modelId="{B09B3963-18A5-4385-8F9F-26F03D3808A0}" type="sibTrans" cxnId="{E836F0FF-A8AA-4B0C-91BB-E917FC75DE68}">
      <dgm:prSet/>
      <dgm:spPr/>
      <dgm:t>
        <a:bodyPr/>
        <a:lstStyle/>
        <a:p>
          <a:endParaRPr lang="en-US"/>
        </a:p>
      </dgm:t>
    </dgm:pt>
    <dgm:pt modelId="{EC4079CD-CC15-49B9-9BB0-245A19958278}">
      <dgm:prSet/>
      <dgm:spPr/>
      <dgm:t>
        <a:bodyPr/>
        <a:lstStyle/>
        <a:p>
          <a:r>
            <a:rPr lang="et-EE" b="1" dirty="0"/>
            <a:t>Töötlemine ja teisendamine (Transformation)</a:t>
          </a:r>
          <a:r>
            <a:rPr lang="et-EE" dirty="0"/>
            <a:t>: Toorandmete puhastamine ja viimine ühtsesse, kontrollitud andmemudelisse (kasutades tööriistu nagu dbt). </a:t>
          </a:r>
          <a:endParaRPr lang="en-US" dirty="0"/>
        </a:p>
      </dgm:t>
    </dgm:pt>
    <dgm:pt modelId="{77897821-D6CC-4192-9BEE-6567EDFAE89D}" type="parTrans" cxnId="{D68C84B6-945F-4F6C-BBE6-E9A0FC43103B}">
      <dgm:prSet/>
      <dgm:spPr/>
      <dgm:t>
        <a:bodyPr/>
        <a:lstStyle/>
        <a:p>
          <a:endParaRPr lang="en-US"/>
        </a:p>
      </dgm:t>
    </dgm:pt>
    <dgm:pt modelId="{29628668-B823-47E6-BA36-A0593E01E8A5}" type="sibTrans" cxnId="{D68C84B6-945F-4F6C-BBE6-E9A0FC43103B}">
      <dgm:prSet/>
      <dgm:spPr/>
      <dgm:t>
        <a:bodyPr/>
        <a:lstStyle/>
        <a:p>
          <a:endParaRPr lang="en-US"/>
        </a:p>
      </dgm:t>
    </dgm:pt>
    <dgm:pt modelId="{993850CF-9C1A-4056-8F37-C94099E509CE}">
      <dgm:prSet/>
      <dgm:spPr/>
      <dgm:t>
        <a:bodyPr/>
        <a:lstStyle/>
        <a:p>
          <a:r>
            <a:rPr lang="et-EE" b="1" dirty="0"/>
            <a:t>Analüütika ja aruandlus (BI &amp; AI)</a:t>
          </a:r>
          <a:r>
            <a:rPr lang="et-EE" dirty="0"/>
            <a:t>: Andmete esitamine lõppkasutajale läbi visuaalsete töölaudade (nt Power BI, Tableau) või sisendina masinõppemudelitele. </a:t>
          </a:r>
          <a:endParaRPr lang="en-US" dirty="0"/>
        </a:p>
      </dgm:t>
    </dgm:pt>
    <dgm:pt modelId="{FD5613D1-8B7B-4585-9D62-A591188C9774}" type="parTrans" cxnId="{8D7A9AB1-3840-484F-973F-3B2D1A86CAC1}">
      <dgm:prSet/>
      <dgm:spPr/>
      <dgm:t>
        <a:bodyPr/>
        <a:lstStyle/>
        <a:p>
          <a:endParaRPr lang="en-US"/>
        </a:p>
      </dgm:t>
    </dgm:pt>
    <dgm:pt modelId="{EAE4F61E-C72D-4EA8-AB74-E17288A079DA}" type="sibTrans" cxnId="{8D7A9AB1-3840-484F-973F-3B2D1A86CAC1}">
      <dgm:prSet/>
      <dgm:spPr/>
      <dgm:t>
        <a:bodyPr/>
        <a:lstStyle/>
        <a:p>
          <a:endParaRPr lang="en-US"/>
        </a:p>
      </dgm:t>
    </dgm:pt>
    <dgm:pt modelId="{36A73E18-6CB9-437A-89F1-DCC70EA68C36}">
      <dgm:prSet phldrT="[Text]" phldr="0"/>
      <dgm:spPr/>
      <dgm:t>
        <a:bodyPr/>
        <a:lstStyle/>
        <a:p>
          <a:r>
            <a:rPr lang="en-GB" dirty="0"/>
            <a:t>NB! </a:t>
          </a:r>
          <a:r>
            <a:rPr lang="en-GB" dirty="0" err="1"/>
            <a:t>Andmekorraldus</a:t>
          </a:r>
          <a:r>
            <a:rPr lang="en-GB" dirty="0"/>
            <a:t> </a:t>
          </a:r>
          <a:r>
            <a:rPr lang="en-GB" dirty="0" err="1"/>
            <a:t>ehk</a:t>
          </a:r>
          <a:r>
            <a:rPr lang="en-GB" dirty="0"/>
            <a:t> Data Governance</a:t>
          </a:r>
        </a:p>
      </dgm:t>
    </dgm:pt>
    <dgm:pt modelId="{45F495A0-D8BF-4AD2-B3FF-F855D23E7A9E}" type="parTrans" cxnId="{0C162291-B8CB-40B0-88AE-47CA8AC06DA6}">
      <dgm:prSet/>
      <dgm:spPr/>
      <dgm:t>
        <a:bodyPr/>
        <a:lstStyle/>
        <a:p>
          <a:endParaRPr lang="en-GB"/>
        </a:p>
      </dgm:t>
    </dgm:pt>
    <dgm:pt modelId="{46272BA8-E7FE-4A09-A72C-E55AB3BB8075}" type="sibTrans" cxnId="{0C162291-B8CB-40B0-88AE-47CA8AC06DA6}">
      <dgm:prSet/>
      <dgm:spPr/>
      <dgm:t>
        <a:bodyPr/>
        <a:lstStyle/>
        <a:p>
          <a:endParaRPr lang="en-GB"/>
        </a:p>
      </dgm:t>
    </dgm:pt>
    <dgm:pt modelId="{5C863154-140E-4DDA-A4C0-378F16181561}" type="pres">
      <dgm:prSet presAssocID="{9CA450BC-4740-4F1F-AF9F-A3C18381D233}" presName="vert0" presStyleCnt="0">
        <dgm:presLayoutVars>
          <dgm:dir/>
          <dgm:animOne val="branch"/>
          <dgm:animLvl val="lvl"/>
        </dgm:presLayoutVars>
      </dgm:prSet>
      <dgm:spPr/>
    </dgm:pt>
    <dgm:pt modelId="{2D4F566C-E5AA-4D71-A128-30C2DFE899C7}" type="pres">
      <dgm:prSet presAssocID="{60044157-27E2-4BCF-8FC1-E3251FC86653}" presName="thickLine" presStyleLbl="alignNode1" presStyleIdx="0" presStyleCnt="6"/>
      <dgm:spPr/>
    </dgm:pt>
    <dgm:pt modelId="{931979CC-0A42-4C24-953D-27225C2F303D}" type="pres">
      <dgm:prSet presAssocID="{60044157-27E2-4BCF-8FC1-E3251FC86653}" presName="horz1" presStyleCnt="0"/>
      <dgm:spPr/>
    </dgm:pt>
    <dgm:pt modelId="{DF574444-27BD-4A10-8189-F93339864F91}" type="pres">
      <dgm:prSet presAssocID="{60044157-27E2-4BCF-8FC1-E3251FC86653}" presName="tx1" presStyleLbl="revTx" presStyleIdx="0" presStyleCnt="6"/>
      <dgm:spPr/>
    </dgm:pt>
    <dgm:pt modelId="{93B5B9A6-85C2-4E2E-8169-45A3646D19B2}" type="pres">
      <dgm:prSet presAssocID="{60044157-27E2-4BCF-8FC1-E3251FC86653}" presName="vert1" presStyleCnt="0"/>
      <dgm:spPr/>
    </dgm:pt>
    <dgm:pt modelId="{37E8098A-A89F-4A5E-A42C-5DF5FD523CE9}" type="pres">
      <dgm:prSet presAssocID="{14018872-F547-4336-AAC2-4C78AB5DE1BA}" presName="thickLine" presStyleLbl="alignNode1" presStyleIdx="1" presStyleCnt="6"/>
      <dgm:spPr/>
    </dgm:pt>
    <dgm:pt modelId="{80A0CB53-A449-4B45-BD63-3A2B22FD461D}" type="pres">
      <dgm:prSet presAssocID="{14018872-F547-4336-AAC2-4C78AB5DE1BA}" presName="horz1" presStyleCnt="0"/>
      <dgm:spPr/>
    </dgm:pt>
    <dgm:pt modelId="{D431ACE6-4C6E-46BC-B520-16FD340E5841}" type="pres">
      <dgm:prSet presAssocID="{14018872-F547-4336-AAC2-4C78AB5DE1BA}" presName="tx1" presStyleLbl="revTx" presStyleIdx="1" presStyleCnt="6"/>
      <dgm:spPr/>
    </dgm:pt>
    <dgm:pt modelId="{7A68BEA6-646A-471F-A74F-8455F972642D}" type="pres">
      <dgm:prSet presAssocID="{14018872-F547-4336-AAC2-4C78AB5DE1BA}" presName="vert1" presStyleCnt="0"/>
      <dgm:spPr/>
    </dgm:pt>
    <dgm:pt modelId="{47680892-2A7A-46F5-80EA-2A7BCF62F087}" type="pres">
      <dgm:prSet presAssocID="{3F736EAA-8B06-44BA-AD2B-F7A1888FACF4}" presName="thickLine" presStyleLbl="alignNode1" presStyleIdx="2" presStyleCnt="6"/>
      <dgm:spPr/>
    </dgm:pt>
    <dgm:pt modelId="{3B9E3F74-EA81-4F5D-A06B-BFD3C932D262}" type="pres">
      <dgm:prSet presAssocID="{3F736EAA-8B06-44BA-AD2B-F7A1888FACF4}" presName="horz1" presStyleCnt="0"/>
      <dgm:spPr/>
    </dgm:pt>
    <dgm:pt modelId="{140D787E-DAAB-456B-ADDB-FFAD3EBBD075}" type="pres">
      <dgm:prSet presAssocID="{3F736EAA-8B06-44BA-AD2B-F7A1888FACF4}" presName="tx1" presStyleLbl="revTx" presStyleIdx="2" presStyleCnt="6"/>
      <dgm:spPr/>
    </dgm:pt>
    <dgm:pt modelId="{80B02786-60E5-4E3B-9E03-68575958068C}" type="pres">
      <dgm:prSet presAssocID="{3F736EAA-8B06-44BA-AD2B-F7A1888FACF4}" presName="vert1" presStyleCnt="0"/>
      <dgm:spPr/>
    </dgm:pt>
    <dgm:pt modelId="{BBD0207B-E26C-4FF6-9B9C-154DF991B147}" type="pres">
      <dgm:prSet presAssocID="{EC4079CD-CC15-49B9-9BB0-245A19958278}" presName="thickLine" presStyleLbl="alignNode1" presStyleIdx="3" presStyleCnt="6"/>
      <dgm:spPr/>
    </dgm:pt>
    <dgm:pt modelId="{CE8AFE31-F951-4BC4-8589-8B99E8EBE709}" type="pres">
      <dgm:prSet presAssocID="{EC4079CD-CC15-49B9-9BB0-245A19958278}" presName="horz1" presStyleCnt="0"/>
      <dgm:spPr/>
    </dgm:pt>
    <dgm:pt modelId="{19493701-9221-40E9-8F94-687D85926640}" type="pres">
      <dgm:prSet presAssocID="{EC4079CD-CC15-49B9-9BB0-245A19958278}" presName="tx1" presStyleLbl="revTx" presStyleIdx="3" presStyleCnt="6"/>
      <dgm:spPr/>
    </dgm:pt>
    <dgm:pt modelId="{C2B55E77-433F-4CC0-A7E1-7776CE9CFF39}" type="pres">
      <dgm:prSet presAssocID="{EC4079CD-CC15-49B9-9BB0-245A19958278}" presName="vert1" presStyleCnt="0"/>
      <dgm:spPr/>
    </dgm:pt>
    <dgm:pt modelId="{24E24731-894E-4CE5-B751-2A86E959562F}" type="pres">
      <dgm:prSet presAssocID="{993850CF-9C1A-4056-8F37-C94099E509CE}" presName="thickLine" presStyleLbl="alignNode1" presStyleIdx="4" presStyleCnt="6"/>
      <dgm:spPr/>
    </dgm:pt>
    <dgm:pt modelId="{DE1E22BA-9283-4788-B790-1CA374C5D6DA}" type="pres">
      <dgm:prSet presAssocID="{993850CF-9C1A-4056-8F37-C94099E509CE}" presName="horz1" presStyleCnt="0"/>
      <dgm:spPr/>
    </dgm:pt>
    <dgm:pt modelId="{F64447E1-F52B-4935-8EE0-995AB99C9D2F}" type="pres">
      <dgm:prSet presAssocID="{993850CF-9C1A-4056-8F37-C94099E509CE}" presName="tx1" presStyleLbl="revTx" presStyleIdx="4" presStyleCnt="6"/>
      <dgm:spPr/>
    </dgm:pt>
    <dgm:pt modelId="{90CBFFB2-2A97-46CD-AF79-69109BA593DA}" type="pres">
      <dgm:prSet presAssocID="{993850CF-9C1A-4056-8F37-C94099E509CE}" presName="vert1" presStyleCnt="0"/>
      <dgm:spPr/>
    </dgm:pt>
    <dgm:pt modelId="{1D4FAE55-76E0-4E17-B63E-BB62B6DEF79A}" type="pres">
      <dgm:prSet presAssocID="{36A73E18-6CB9-437A-89F1-DCC70EA68C36}" presName="thickLine" presStyleLbl="alignNode1" presStyleIdx="5" presStyleCnt="6"/>
      <dgm:spPr/>
    </dgm:pt>
    <dgm:pt modelId="{04CC0A98-1E6B-499B-9125-24B375ECD9D3}" type="pres">
      <dgm:prSet presAssocID="{36A73E18-6CB9-437A-89F1-DCC70EA68C36}" presName="horz1" presStyleCnt="0"/>
      <dgm:spPr/>
    </dgm:pt>
    <dgm:pt modelId="{A68C9F2E-E1FB-4592-A7B6-2BEBFD6425F6}" type="pres">
      <dgm:prSet presAssocID="{36A73E18-6CB9-437A-89F1-DCC70EA68C36}" presName="tx1" presStyleLbl="revTx" presStyleIdx="5" presStyleCnt="6"/>
      <dgm:spPr/>
    </dgm:pt>
    <dgm:pt modelId="{26B0AA68-80C0-4BDD-B246-8DE121A73EAE}" type="pres">
      <dgm:prSet presAssocID="{36A73E18-6CB9-437A-89F1-DCC70EA68C36}" presName="vert1" presStyleCnt="0"/>
      <dgm:spPr/>
    </dgm:pt>
  </dgm:ptLst>
  <dgm:cxnLst>
    <dgm:cxn modelId="{09006C02-7852-4AAB-875A-8A4B6CC7D374}" type="presOf" srcId="{3F736EAA-8B06-44BA-AD2B-F7A1888FACF4}" destId="{140D787E-DAAB-456B-ADDB-FFAD3EBBD075}" srcOrd="0" destOrd="0" presId="urn:microsoft.com/office/officeart/2008/layout/LinedList"/>
    <dgm:cxn modelId="{497D654A-841B-42D7-AF14-6B686FE2C533}" type="presOf" srcId="{14018872-F547-4336-AAC2-4C78AB5DE1BA}" destId="{D431ACE6-4C6E-46BC-B520-16FD340E5841}" srcOrd="0" destOrd="0" presId="urn:microsoft.com/office/officeart/2008/layout/LinedList"/>
    <dgm:cxn modelId="{D98F636D-95F0-4A99-9A4A-6C1DFB5D9490}" type="presOf" srcId="{993850CF-9C1A-4056-8F37-C94099E509CE}" destId="{F64447E1-F52B-4935-8EE0-995AB99C9D2F}" srcOrd="0" destOrd="0" presId="urn:microsoft.com/office/officeart/2008/layout/LinedList"/>
    <dgm:cxn modelId="{2B11F270-4182-4867-883F-2ECA5E73F445}" type="presOf" srcId="{36A73E18-6CB9-437A-89F1-DCC70EA68C36}" destId="{A68C9F2E-E1FB-4592-A7B6-2BEBFD6425F6}" srcOrd="0" destOrd="0" presId="urn:microsoft.com/office/officeart/2008/layout/LinedList"/>
    <dgm:cxn modelId="{04B80C7D-E9F5-4C87-BED1-48DD3BCB59E3}" srcId="{9CA450BC-4740-4F1F-AF9F-A3C18381D233}" destId="{14018872-F547-4336-AAC2-4C78AB5DE1BA}" srcOrd="1" destOrd="0" parTransId="{1D443973-CF09-496F-AB3A-341E91B22E92}" sibTransId="{4DAC20A2-8566-42AA-BAB0-936FE510F721}"/>
    <dgm:cxn modelId="{70EE517D-83B9-417C-9ED5-72BD3E8C5BC8}" type="presOf" srcId="{9CA450BC-4740-4F1F-AF9F-A3C18381D233}" destId="{5C863154-140E-4DDA-A4C0-378F16181561}" srcOrd="0" destOrd="0" presId="urn:microsoft.com/office/officeart/2008/layout/LinedList"/>
    <dgm:cxn modelId="{0C162291-B8CB-40B0-88AE-47CA8AC06DA6}" srcId="{9CA450BC-4740-4F1F-AF9F-A3C18381D233}" destId="{36A73E18-6CB9-437A-89F1-DCC70EA68C36}" srcOrd="5" destOrd="0" parTransId="{45F495A0-D8BF-4AD2-B3FF-F855D23E7A9E}" sibTransId="{46272BA8-E7FE-4A09-A72C-E55AB3BB8075}"/>
    <dgm:cxn modelId="{8D7A9AB1-3840-484F-973F-3B2D1A86CAC1}" srcId="{9CA450BC-4740-4F1F-AF9F-A3C18381D233}" destId="{993850CF-9C1A-4056-8F37-C94099E509CE}" srcOrd="4" destOrd="0" parTransId="{FD5613D1-8B7B-4585-9D62-A591188C9774}" sibTransId="{EAE4F61E-C72D-4EA8-AB74-E17288A079DA}"/>
    <dgm:cxn modelId="{D68C84B6-945F-4F6C-BBE6-E9A0FC43103B}" srcId="{9CA450BC-4740-4F1F-AF9F-A3C18381D233}" destId="{EC4079CD-CC15-49B9-9BB0-245A19958278}" srcOrd="3" destOrd="0" parTransId="{77897821-D6CC-4192-9BEE-6567EDFAE89D}" sibTransId="{29628668-B823-47E6-BA36-A0593E01E8A5}"/>
    <dgm:cxn modelId="{7D51F6B6-AA09-4022-B043-DDF9BADF69B2}" type="presOf" srcId="{60044157-27E2-4BCF-8FC1-E3251FC86653}" destId="{DF574444-27BD-4A10-8189-F93339864F91}" srcOrd="0" destOrd="0" presId="urn:microsoft.com/office/officeart/2008/layout/LinedList"/>
    <dgm:cxn modelId="{56A675C1-B7B6-4542-9580-00301E4860AC}" type="presOf" srcId="{EC4079CD-CC15-49B9-9BB0-245A19958278}" destId="{19493701-9221-40E9-8F94-687D85926640}" srcOrd="0" destOrd="0" presId="urn:microsoft.com/office/officeart/2008/layout/LinedList"/>
    <dgm:cxn modelId="{6B6759D4-A98D-4D26-8EBE-EF6AAE1CE7A0}" srcId="{9CA450BC-4740-4F1F-AF9F-A3C18381D233}" destId="{60044157-27E2-4BCF-8FC1-E3251FC86653}" srcOrd="0" destOrd="0" parTransId="{8AEEDE37-FA3D-49E2-8ABD-A0A0B3F80E1F}" sibTransId="{8DE62552-2578-4C74-A028-E55574D8A2AB}"/>
    <dgm:cxn modelId="{E836F0FF-A8AA-4B0C-91BB-E917FC75DE68}" srcId="{9CA450BC-4740-4F1F-AF9F-A3C18381D233}" destId="{3F736EAA-8B06-44BA-AD2B-F7A1888FACF4}" srcOrd="2" destOrd="0" parTransId="{43457F88-2968-4BFB-96CF-8EA46AE59C9D}" sibTransId="{B09B3963-18A5-4385-8F9F-26F03D3808A0}"/>
    <dgm:cxn modelId="{034D5FE7-4655-4694-ADFD-0C8D35929871}" type="presParOf" srcId="{5C863154-140E-4DDA-A4C0-378F16181561}" destId="{2D4F566C-E5AA-4D71-A128-30C2DFE899C7}" srcOrd="0" destOrd="0" presId="urn:microsoft.com/office/officeart/2008/layout/LinedList"/>
    <dgm:cxn modelId="{09A5D8BD-3319-47A2-B733-1A00CB8C5120}" type="presParOf" srcId="{5C863154-140E-4DDA-A4C0-378F16181561}" destId="{931979CC-0A42-4C24-953D-27225C2F303D}" srcOrd="1" destOrd="0" presId="urn:microsoft.com/office/officeart/2008/layout/LinedList"/>
    <dgm:cxn modelId="{EA348649-2280-4A0E-BEA2-33068519F45C}" type="presParOf" srcId="{931979CC-0A42-4C24-953D-27225C2F303D}" destId="{DF574444-27BD-4A10-8189-F93339864F91}" srcOrd="0" destOrd="0" presId="urn:microsoft.com/office/officeart/2008/layout/LinedList"/>
    <dgm:cxn modelId="{2554870D-1CAB-4ADD-BE1E-7F105C70BC57}" type="presParOf" srcId="{931979CC-0A42-4C24-953D-27225C2F303D}" destId="{93B5B9A6-85C2-4E2E-8169-45A3646D19B2}" srcOrd="1" destOrd="0" presId="urn:microsoft.com/office/officeart/2008/layout/LinedList"/>
    <dgm:cxn modelId="{4076DD27-345E-4CF8-8835-52032C51C483}" type="presParOf" srcId="{5C863154-140E-4DDA-A4C0-378F16181561}" destId="{37E8098A-A89F-4A5E-A42C-5DF5FD523CE9}" srcOrd="2" destOrd="0" presId="urn:microsoft.com/office/officeart/2008/layout/LinedList"/>
    <dgm:cxn modelId="{C6095E64-0B37-400A-B333-953C28DA5159}" type="presParOf" srcId="{5C863154-140E-4DDA-A4C0-378F16181561}" destId="{80A0CB53-A449-4B45-BD63-3A2B22FD461D}" srcOrd="3" destOrd="0" presId="urn:microsoft.com/office/officeart/2008/layout/LinedList"/>
    <dgm:cxn modelId="{C258CD16-F579-4006-95E6-DA02CCBBBAAB}" type="presParOf" srcId="{80A0CB53-A449-4B45-BD63-3A2B22FD461D}" destId="{D431ACE6-4C6E-46BC-B520-16FD340E5841}" srcOrd="0" destOrd="0" presId="urn:microsoft.com/office/officeart/2008/layout/LinedList"/>
    <dgm:cxn modelId="{3E5F93E6-A510-4A5A-9857-74EE6DC23B94}" type="presParOf" srcId="{80A0CB53-A449-4B45-BD63-3A2B22FD461D}" destId="{7A68BEA6-646A-471F-A74F-8455F972642D}" srcOrd="1" destOrd="0" presId="urn:microsoft.com/office/officeart/2008/layout/LinedList"/>
    <dgm:cxn modelId="{D3F673EF-951A-41D2-84CD-3AF9AB838666}" type="presParOf" srcId="{5C863154-140E-4DDA-A4C0-378F16181561}" destId="{47680892-2A7A-46F5-80EA-2A7BCF62F087}" srcOrd="4" destOrd="0" presId="urn:microsoft.com/office/officeart/2008/layout/LinedList"/>
    <dgm:cxn modelId="{C999F4B5-7467-40BE-BBCE-00E2F585A833}" type="presParOf" srcId="{5C863154-140E-4DDA-A4C0-378F16181561}" destId="{3B9E3F74-EA81-4F5D-A06B-BFD3C932D262}" srcOrd="5" destOrd="0" presId="urn:microsoft.com/office/officeart/2008/layout/LinedList"/>
    <dgm:cxn modelId="{F0B7E2E6-64DF-4AFA-924E-70544C73DBFC}" type="presParOf" srcId="{3B9E3F74-EA81-4F5D-A06B-BFD3C932D262}" destId="{140D787E-DAAB-456B-ADDB-FFAD3EBBD075}" srcOrd="0" destOrd="0" presId="urn:microsoft.com/office/officeart/2008/layout/LinedList"/>
    <dgm:cxn modelId="{2FACB697-3CE6-4A51-94AE-2AB51BCC5FE0}" type="presParOf" srcId="{3B9E3F74-EA81-4F5D-A06B-BFD3C932D262}" destId="{80B02786-60E5-4E3B-9E03-68575958068C}" srcOrd="1" destOrd="0" presId="urn:microsoft.com/office/officeart/2008/layout/LinedList"/>
    <dgm:cxn modelId="{841D4509-A871-4396-A36C-9F1530E68AC8}" type="presParOf" srcId="{5C863154-140E-4DDA-A4C0-378F16181561}" destId="{BBD0207B-E26C-4FF6-9B9C-154DF991B147}" srcOrd="6" destOrd="0" presId="urn:microsoft.com/office/officeart/2008/layout/LinedList"/>
    <dgm:cxn modelId="{E067526C-B444-442A-B80E-1E33620348A9}" type="presParOf" srcId="{5C863154-140E-4DDA-A4C0-378F16181561}" destId="{CE8AFE31-F951-4BC4-8589-8B99E8EBE709}" srcOrd="7" destOrd="0" presId="urn:microsoft.com/office/officeart/2008/layout/LinedList"/>
    <dgm:cxn modelId="{6DC3C6E0-BD17-4AAC-94E3-EB48A7FD6716}" type="presParOf" srcId="{CE8AFE31-F951-4BC4-8589-8B99E8EBE709}" destId="{19493701-9221-40E9-8F94-687D85926640}" srcOrd="0" destOrd="0" presId="urn:microsoft.com/office/officeart/2008/layout/LinedList"/>
    <dgm:cxn modelId="{E201AF31-C819-477E-9B00-3F5ABFE1C2C2}" type="presParOf" srcId="{CE8AFE31-F951-4BC4-8589-8B99E8EBE709}" destId="{C2B55E77-433F-4CC0-A7E1-7776CE9CFF39}" srcOrd="1" destOrd="0" presId="urn:microsoft.com/office/officeart/2008/layout/LinedList"/>
    <dgm:cxn modelId="{52A505F9-6353-4B1A-B718-426C4574504D}" type="presParOf" srcId="{5C863154-140E-4DDA-A4C0-378F16181561}" destId="{24E24731-894E-4CE5-B751-2A86E959562F}" srcOrd="8" destOrd="0" presId="urn:microsoft.com/office/officeart/2008/layout/LinedList"/>
    <dgm:cxn modelId="{93638095-DFF0-4B93-872A-A5A43D8A5DD0}" type="presParOf" srcId="{5C863154-140E-4DDA-A4C0-378F16181561}" destId="{DE1E22BA-9283-4788-B790-1CA374C5D6DA}" srcOrd="9" destOrd="0" presId="urn:microsoft.com/office/officeart/2008/layout/LinedList"/>
    <dgm:cxn modelId="{1FD88953-E3B9-420C-8406-324D90F2D475}" type="presParOf" srcId="{DE1E22BA-9283-4788-B790-1CA374C5D6DA}" destId="{F64447E1-F52B-4935-8EE0-995AB99C9D2F}" srcOrd="0" destOrd="0" presId="urn:microsoft.com/office/officeart/2008/layout/LinedList"/>
    <dgm:cxn modelId="{96340667-4F4F-4367-8C82-7394B960DD4F}" type="presParOf" srcId="{DE1E22BA-9283-4788-B790-1CA374C5D6DA}" destId="{90CBFFB2-2A97-46CD-AF79-69109BA593DA}" srcOrd="1" destOrd="0" presId="urn:microsoft.com/office/officeart/2008/layout/LinedList"/>
    <dgm:cxn modelId="{87A4F661-800B-4AE3-B499-516587C8FD8E}" type="presParOf" srcId="{5C863154-140E-4DDA-A4C0-378F16181561}" destId="{1D4FAE55-76E0-4E17-B63E-BB62B6DEF79A}" srcOrd="10" destOrd="0" presId="urn:microsoft.com/office/officeart/2008/layout/LinedList"/>
    <dgm:cxn modelId="{2B5FBC6B-0F4E-4C98-831E-C2DE98D280C8}" type="presParOf" srcId="{5C863154-140E-4DDA-A4C0-378F16181561}" destId="{04CC0A98-1E6B-499B-9125-24B375ECD9D3}" srcOrd="11" destOrd="0" presId="urn:microsoft.com/office/officeart/2008/layout/LinedList"/>
    <dgm:cxn modelId="{B829C90C-7C14-47DE-A9DA-47AAF25E76CF}" type="presParOf" srcId="{04CC0A98-1E6B-499B-9125-24B375ECD9D3}" destId="{A68C9F2E-E1FB-4592-A7B6-2BEBFD6425F6}" srcOrd="0" destOrd="0" presId="urn:microsoft.com/office/officeart/2008/layout/LinedList"/>
    <dgm:cxn modelId="{29A8326A-97A6-4D63-89EF-9D7F16F42091}" type="presParOf" srcId="{04CC0A98-1E6B-499B-9125-24B375ECD9D3}" destId="{26B0AA68-80C0-4BDD-B246-8DE121A73EAE}"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BDC3D2C-BE88-4EC1-B34A-8B6F3171F6AF}" type="doc">
      <dgm:prSet loTypeId="urn:microsoft.com/office/officeart/2005/8/layout/vList2" loCatId="list" qsTypeId="urn:microsoft.com/office/officeart/2005/8/quickstyle/simple2#2" qsCatId="simple" csTypeId="urn:microsoft.com/office/officeart/2005/8/colors/accent1_2#1" csCatId="accent1" phldr="1"/>
      <dgm:spPr/>
      <dgm:t>
        <a:bodyPr/>
        <a:lstStyle/>
        <a:p>
          <a:endParaRPr lang="en-US"/>
        </a:p>
      </dgm:t>
    </dgm:pt>
    <dgm:pt modelId="{F77EC196-A75D-4085-8153-50697B943BCB}">
      <dgm:prSet custT="1"/>
      <dgm:spPr/>
      <dgm:t>
        <a:bodyPr/>
        <a:lstStyle/>
        <a:p>
          <a:r>
            <a:rPr lang="et-EE" sz="1400" b="0" i="0" dirty="0">
              <a:solidFill>
                <a:srgbClr val="FFFF00"/>
              </a:solidFill>
            </a:rPr>
            <a:t>Microsoft Fabric: </a:t>
          </a:r>
          <a:endParaRPr lang="en-GB" sz="1400" b="0" i="0" dirty="0">
            <a:solidFill>
              <a:srgbClr val="FFFF00"/>
            </a:solidFill>
          </a:endParaRPr>
        </a:p>
        <a:p>
          <a:r>
            <a:rPr lang="et-EE" sz="1400" b="0" i="0" dirty="0"/>
            <a:t>Terviklik SaaS-andmeplatvorm, mis ühendab endas andmetehnoloogia, andmelaod, reaalaja analüütika ja Power BI tööriistad ühtsesse keskkonda (OneLake).</a:t>
          </a:r>
          <a:endParaRPr lang="en-US" sz="1400" dirty="0"/>
        </a:p>
      </dgm:t>
    </dgm:pt>
    <dgm:pt modelId="{4C70F52C-EF88-4884-9793-6414F22D468A}" type="parTrans" cxnId="{31E92CF3-6901-48A6-A9E2-3D07879839D6}">
      <dgm:prSet/>
      <dgm:spPr/>
      <dgm:t>
        <a:bodyPr/>
        <a:lstStyle/>
        <a:p>
          <a:endParaRPr lang="en-US"/>
        </a:p>
      </dgm:t>
    </dgm:pt>
    <dgm:pt modelId="{83B74C5C-ED6F-4881-9068-E2BF430BD2D9}" type="sibTrans" cxnId="{31E92CF3-6901-48A6-A9E2-3D07879839D6}">
      <dgm:prSet/>
      <dgm:spPr/>
      <dgm:t>
        <a:bodyPr/>
        <a:lstStyle/>
        <a:p>
          <a:endParaRPr lang="en-US"/>
        </a:p>
      </dgm:t>
    </dgm:pt>
    <dgm:pt modelId="{856B7186-C1BC-47AC-8C3F-F96CF7F5CF65}">
      <dgm:prSet custT="1"/>
      <dgm:spPr/>
      <dgm:t>
        <a:bodyPr/>
        <a:lstStyle/>
        <a:p>
          <a:r>
            <a:rPr lang="et-EE" sz="1100" b="0" i="0" dirty="0">
              <a:solidFill>
                <a:srgbClr val="FFFF00"/>
              </a:solidFill>
            </a:rPr>
            <a:t>Databricks: </a:t>
          </a:r>
          <a:endParaRPr lang="en-GB" sz="1100" b="0" i="0" dirty="0">
            <a:solidFill>
              <a:srgbClr val="FFFF00"/>
            </a:solidFill>
          </a:endParaRPr>
        </a:p>
        <a:p>
          <a:r>
            <a:rPr lang="et-EE" sz="1100" b="0" i="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sz="1100" dirty="0"/>
        </a:p>
      </dgm:t>
    </dgm:pt>
    <dgm:pt modelId="{0BF70F8C-3696-42FE-9D3C-594681996382}" type="parTrans" cxnId="{8E26B039-0007-4E32-9CAF-34776FC7D4A6}">
      <dgm:prSet/>
      <dgm:spPr/>
      <dgm:t>
        <a:bodyPr/>
        <a:lstStyle/>
        <a:p>
          <a:endParaRPr lang="en-US"/>
        </a:p>
      </dgm:t>
    </dgm:pt>
    <dgm:pt modelId="{1429B9AB-083A-4373-A5A0-19A29B73F413}" type="sibTrans" cxnId="{8E26B039-0007-4E32-9CAF-34776FC7D4A6}">
      <dgm:prSet/>
      <dgm:spPr/>
      <dgm:t>
        <a:bodyPr/>
        <a:lstStyle/>
        <a:p>
          <a:endParaRPr lang="en-US"/>
        </a:p>
      </dgm:t>
    </dgm:pt>
    <dgm:pt modelId="{6CF00FB6-1E80-4559-A1AD-F2A2041B89C7}">
      <dgm:prSet custT="1"/>
      <dgm:spPr/>
      <dgm:t>
        <a:bodyPr/>
        <a:lstStyle/>
        <a:p>
          <a:r>
            <a:rPr lang="et-EE" sz="1400" dirty="0">
              <a:solidFill>
                <a:srgbClr val="FFFF00"/>
              </a:solidFill>
            </a:rPr>
            <a:t>Snowflake</a:t>
          </a:r>
          <a:r>
            <a:rPr lang="en-GB" sz="1400" dirty="0">
              <a:solidFill>
                <a:srgbClr val="FFFF00"/>
              </a:solidFill>
            </a:rPr>
            <a:t> + DBT</a:t>
          </a:r>
          <a:r>
            <a:rPr lang="et-EE" sz="1400" dirty="0">
              <a:solidFill>
                <a:srgbClr val="FFFF00"/>
              </a:solidFill>
            </a:rPr>
            <a:t>: </a:t>
          </a:r>
          <a:endParaRPr lang="en-GB" sz="1400" dirty="0">
            <a:solidFill>
              <a:srgbClr val="FFFF00"/>
            </a:solidFill>
          </a:endParaRPr>
        </a:p>
        <a:p>
          <a:r>
            <a:rPr lang="et-EE" sz="1400" dirty="0"/>
            <a:t>Väga populaarne ja kõrgelt hinnatud pilvepõhine andmeladu. Seda eelistatakse selle lihtsuse, automaatse skaleeruvuse ning andmete jagamise mugavuse tõttu.</a:t>
          </a:r>
          <a:endParaRPr lang="en-GB" sz="1400" dirty="0"/>
        </a:p>
      </dgm:t>
    </dgm:pt>
    <dgm:pt modelId="{88295AB1-AC5C-40D4-94AC-7F8655648B96}" type="parTrans" cxnId="{00D59163-8D73-4CE9-A7C3-29A5805A3480}">
      <dgm:prSet/>
      <dgm:spPr/>
      <dgm:t>
        <a:bodyPr/>
        <a:lstStyle/>
        <a:p>
          <a:endParaRPr lang="en-GB"/>
        </a:p>
      </dgm:t>
    </dgm:pt>
    <dgm:pt modelId="{06B512D3-A046-41AC-8E1A-FA88FDFE4312}" type="sibTrans" cxnId="{00D59163-8D73-4CE9-A7C3-29A5805A3480}">
      <dgm:prSet/>
      <dgm:spPr/>
      <dgm:t>
        <a:bodyPr/>
        <a:lstStyle/>
        <a:p>
          <a:endParaRPr lang="en-GB"/>
        </a:p>
      </dgm:t>
    </dgm:pt>
    <dgm:pt modelId="{63F33581-8DAE-4205-B1F5-01C246A63D9A}">
      <dgm:prSet phldrT="[Text]" phldr="0" custT="1"/>
      <dgm:spPr/>
      <dgm:t>
        <a:bodyPr/>
        <a:lstStyle/>
        <a:p>
          <a:r>
            <a:rPr lang="en-GB" sz="1800" dirty="0">
              <a:solidFill>
                <a:srgbClr val="FFFF00"/>
              </a:solidFill>
            </a:rPr>
            <a:t>SAP Business Data cloud: </a:t>
          </a:r>
        </a:p>
        <a:p>
          <a:r>
            <a:rPr lang="en-GB" sz="1800" dirty="0"/>
            <a:t>SAP Analytics Cloud</a:t>
          </a:r>
        </a:p>
      </dgm:t>
    </dgm:pt>
    <dgm:pt modelId="{3BD7613B-E9C9-4BB9-BA36-3E6F4373FA50}" type="parTrans" cxnId="{111519F6-6D44-43DA-A1AF-C7EEF82539CE}">
      <dgm:prSet/>
      <dgm:spPr/>
      <dgm:t>
        <a:bodyPr/>
        <a:lstStyle/>
        <a:p>
          <a:endParaRPr lang="en-GB"/>
        </a:p>
      </dgm:t>
    </dgm:pt>
    <dgm:pt modelId="{6996D63D-3C8A-43EE-B31E-FF91FE68BEDA}" type="sibTrans" cxnId="{111519F6-6D44-43DA-A1AF-C7EEF82539CE}">
      <dgm:prSet/>
      <dgm:spPr/>
      <dgm:t>
        <a:bodyPr/>
        <a:lstStyle/>
        <a:p>
          <a:endParaRPr lang="en-GB"/>
        </a:p>
      </dgm:t>
    </dgm:pt>
    <dgm:pt modelId="{0033594A-0573-4C81-921E-738D3F81A9F4}">
      <dgm:prSet custT="1"/>
      <dgm:spPr/>
      <dgm:t>
        <a:bodyPr/>
        <a:lstStyle/>
        <a:p>
          <a:pPr>
            <a:buNone/>
          </a:pPr>
          <a:r>
            <a:rPr lang="en-GB" sz="1800" b="0" i="0" u="none" dirty="0">
              <a:solidFill>
                <a:srgbClr val="FFFF00"/>
              </a:solidFill>
            </a:rPr>
            <a:t>Google </a:t>
          </a:r>
          <a:r>
            <a:rPr lang="en-GB" sz="1800" b="0" i="0" u="none" dirty="0" err="1">
              <a:solidFill>
                <a:srgbClr val="FFFF00"/>
              </a:solidFill>
            </a:rPr>
            <a:t>BigQuery</a:t>
          </a:r>
          <a:r>
            <a:rPr lang="en-GB" sz="1800" i="0" dirty="0">
              <a:solidFill>
                <a:srgbClr val="FFFF00"/>
              </a:solidFill>
            </a:rPr>
            <a:t> </a:t>
          </a:r>
          <a:r>
            <a:rPr lang="en-GB" sz="1800" dirty="0"/>
            <a:t>– </a:t>
          </a:r>
          <a:r>
            <a:rPr lang="en-GB" sz="1800" dirty="0" err="1"/>
            <a:t>serverivaba</a:t>
          </a:r>
          <a:r>
            <a:rPr lang="en-GB" sz="1800" dirty="0"/>
            <a:t> </a:t>
          </a:r>
          <a:r>
            <a:rPr lang="en-GB" sz="1800" dirty="0" err="1"/>
            <a:t>ja</a:t>
          </a:r>
          <a:r>
            <a:rPr lang="en-GB" sz="1800" dirty="0"/>
            <a:t> </a:t>
          </a:r>
          <a:r>
            <a:rPr lang="en-GB" sz="1800" dirty="0" err="1"/>
            <a:t>kiire</a:t>
          </a:r>
          <a:r>
            <a:rPr lang="en-GB" sz="1800" dirty="0"/>
            <a:t> </a:t>
          </a:r>
          <a:r>
            <a:rPr lang="en-GB" sz="1800" dirty="0" err="1"/>
            <a:t>suurandmete</a:t>
          </a:r>
          <a:r>
            <a:rPr lang="en-GB" sz="1800" dirty="0"/>
            <a:t> </a:t>
          </a:r>
          <a:r>
            <a:rPr lang="en-GB" sz="1800" dirty="0" err="1"/>
            <a:t>analüüsiplatvorm</a:t>
          </a:r>
          <a:r>
            <a:rPr lang="en-GB" sz="1800" dirty="0"/>
            <a:t> Google </a:t>
          </a:r>
          <a:r>
            <a:rPr lang="en-GB" sz="1800" dirty="0" err="1"/>
            <a:t>Cloudi</a:t>
          </a:r>
          <a:r>
            <a:rPr lang="en-GB" sz="1800" dirty="0"/>
            <a:t> </a:t>
          </a:r>
          <a:r>
            <a:rPr lang="en-GB" sz="1800" dirty="0" err="1"/>
            <a:t>ökosüsteemis</a:t>
          </a:r>
          <a:r>
            <a:rPr lang="en-GB" sz="1800" dirty="0"/>
            <a:t>.</a:t>
          </a:r>
        </a:p>
      </dgm:t>
    </dgm:pt>
    <dgm:pt modelId="{384B07CC-5AEF-4DD5-99BE-A55E3228370E}" type="parTrans" cxnId="{618A9400-ACDE-4F36-ADD0-52ADBE629AD7}">
      <dgm:prSet/>
      <dgm:spPr/>
      <dgm:t>
        <a:bodyPr/>
        <a:lstStyle/>
        <a:p>
          <a:endParaRPr lang="en-GB"/>
        </a:p>
      </dgm:t>
    </dgm:pt>
    <dgm:pt modelId="{CAA0CAC9-FCB5-4222-BFC5-6E269387441D}" type="sibTrans" cxnId="{618A9400-ACDE-4F36-ADD0-52ADBE629AD7}">
      <dgm:prSet/>
      <dgm:spPr/>
      <dgm:t>
        <a:bodyPr/>
        <a:lstStyle/>
        <a:p>
          <a:endParaRPr lang="en-GB"/>
        </a:p>
      </dgm:t>
    </dgm:pt>
    <dgm:pt modelId="{30182B6C-9299-4F92-BF1A-D379BEE7B15A}" type="pres">
      <dgm:prSet presAssocID="{7BDC3D2C-BE88-4EC1-B34A-8B6F3171F6AF}" presName="linear" presStyleCnt="0">
        <dgm:presLayoutVars>
          <dgm:animLvl val="lvl"/>
          <dgm:resizeHandles val="exact"/>
        </dgm:presLayoutVars>
      </dgm:prSet>
      <dgm:spPr/>
    </dgm:pt>
    <dgm:pt modelId="{D3688D00-8BB7-46B1-9EFA-4690E11E772A}" type="pres">
      <dgm:prSet presAssocID="{F77EC196-A75D-4085-8153-50697B943BCB}" presName="parentText" presStyleLbl="node1" presStyleIdx="0" presStyleCnt="5">
        <dgm:presLayoutVars>
          <dgm:chMax val="0"/>
          <dgm:bulletEnabled val="1"/>
        </dgm:presLayoutVars>
      </dgm:prSet>
      <dgm:spPr/>
    </dgm:pt>
    <dgm:pt modelId="{FC95C117-A134-49BD-B031-C284596AFC86}" type="pres">
      <dgm:prSet presAssocID="{83B74C5C-ED6F-4881-9068-E2BF430BD2D9}" presName="spacer" presStyleCnt="0"/>
      <dgm:spPr/>
    </dgm:pt>
    <dgm:pt modelId="{DDC4E711-C8B1-4CE5-8269-9136DA72EF36}" type="pres">
      <dgm:prSet presAssocID="{6CF00FB6-1E80-4559-A1AD-F2A2041B89C7}" presName="parentText" presStyleLbl="node1" presStyleIdx="1" presStyleCnt="5">
        <dgm:presLayoutVars>
          <dgm:chMax val="0"/>
          <dgm:bulletEnabled val="1"/>
        </dgm:presLayoutVars>
      </dgm:prSet>
      <dgm:spPr/>
    </dgm:pt>
    <dgm:pt modelId="{F83B0A12-D5F8-4478-B6F3-F26AFE2DF171}" type="pres">
      <dgm:prSet presAssocID="{06B512D3-A046-41AC-8E1A-FA88FDFE4312}" presName="spacer" presStyleCnt="0"/>
      <dgm:spPr/>
    </dgm:pt>
    <dgm:pt modelId="{F7520012-4BB3-4D79-8E8B-396397C8F411}" type="pres">
      <dgm:prSet presAssocID="{856B7186-C1BC-47AC-8C3F-F96CF7F5CF65}" presName="parentText" presStyleLbl="node1" presStyleIdx="2" presStyleCnt="5">
        <dgm:presLayoutVars>
          <dgm:chMax val="0"/>
          <dgm:bulletEnabled val="1"/>
        </dgm:presLayoutVars>
      </dgm:prSet>
      <dgm:spPr/>
    </dgm:pt>
    <dgm:pt modelId="{A2FF102B-847B-4CC7-90C2-D6578C9FC01C}" type="pres">
      <dgm:prSet presAssocID="{1429B9AB-083A-4373-A5A0-19A29B73F413}" presName="spacer" presStyleCnt="0"/>
      <dgm:spPr/>
    </dgm:pt>
    <dgm:pt modelId="{851A2185-27DF-4E8D-B871-FF3FC77B2112}" type="pres">
      <dgm:prSet presAssocID="{0033594A-0573-4C81-921E-738D3F81A9F4}" presName="parentText" presStyleLbl="node1" presStyleIdx="3" presStyleCnt="5">
        <dgm:presLayoutVars>
          <dgm:chMax val="0"/>
          <dgm:bulletEnabled val="1"/>
        </dgm:presLayoutVars>
      </dgm:prSet>
      <dgm:spPr/>
    </dgm:pt>
    <dgm:pt modelId="{4892BC1A-ECA6-49F5-BA99-AC0FF4B5A743}" type="pres">
      <dgm:prSet presAssocID="{CAA0CAC9-FCB5-4222-BFC5-6E269387441D}" presName="spacer" presStyleCnt="0"/>
      <dgm:spPr/>
    </dgm:pt>
    <dgm:pt modelId="{074BE64C-3721-4B80-82D3-947C676955C5}" type="pres">
      <dgm:prSet presAssocID="{63F33581-8DAE-4205-B1F5-01C246A63D9A}" presName="parentText" presStyleLbl="node1" presStyleIdx="4" presStyleCnt="5">
        <dgm:presLayoutVars>
          <dgm:chMax val="0"/>
          <dgm:bulletEnabled val="1"/>
        </dgm:presLayoutVars>
      </dgm:prSet>
      <dgm:spPr/>
    </dgm:pt>
  </dgm:ptLst>
  <dgm:cxnLst>
    <dgm:cxn modelId="{618A9400-ACDE-4F36-ADD0-52ADBE629AD7}" srcId="{7BDC3D2C-BE88-4EC1-B34A-8B6F3171F6AF}" destId="{0033594A-0573-4C81-921E-738D3F81A9F4}" srcOrd="3" destOrd="0" parTransId="{384B07CC-5AEF-4DD5-99BE-A55E3228370E}" sibTransId="{CAA0CAC9-FCB5-4222-BFC5-6E269387441D}"/>
    <dgm:cxn modelId="{8E26B039-0007-4E32-9CAF-34776FC7D4A6}" srcId="{7BDC3D2C-BE88-4EC1-B34A-8B6F3171F6AF}" destId="{856B7186-C1BC-47AC-8C3F-F96CF7F5CF65}" srcOrd="2" destOrd="0" parTransId="{0BF70F8C-3696-42FE-9D3C-594681996382}" sibTransId="{1429B9AB-083A-4373-A5A0-19A29B73F413}"/>
    <dgm:cxn modelId="{C826295F-C3AB-4D42-9C27-27EDE69CF7B9}" type="presOf" srcId="{6CF00FB6-1E80-4559-A1AD-F2A2041B89C7}" destId="{DDC4E711-C8B1-4CE5-8269-9136DA72EF36}" srcOrd="0" destOrd="0" presId="urn:microsoft.com/office/officeart/2005/8/layout/vList2"/>
    <dgm:cxn modelId="{1BADCD5F-7794-4F87-8DE4-76F10565C222}" type="presOf" srcId="{F77EC196-A75D-4085-8153-50697B943BCB}" destId="{D3688D00-8BB7-46B1-9EFA-4690E11E772A}" srcOrd="0" destOrd="0" presId="urn:microsoft.com/office/officeart/2005/8/layout/vList2"/>
    <dgm:cxn modelId="{00D59163-8D73-4CE9-A7C3-29A5805A3480}" srcId="{7BDC3D2C-BE88-4EC1-B34A-8B6F3171F6AF}" destId="{6CF00FB6-1E80-4559-A1AD-F2A2041B89C7}" srcOrd="1" destOrd="0" parTransId="{88295AB1-AC5C-40D4-94AC-7F8655648B96}" sibTransId="{06B512D3-A046-41AC-8E1A-FA88FDFE4312}"/>
    <dgm:cxn modelId="{0E05FA73-155A-483A-99ED-60676B7EEB9D}" type="presOf" srcId="{0033594A-0573-4C81-921E-738D3F81A9F4}" destId="{851A2185-27DF-4E8D-B871-FF3FC77B2112}" srcOrd="0" destOrd="0" presId="urn:microsoft.com/office/officeart/2005/8/layout/vList2"/>
    <dgm:cxn modelId="{C4C6D3E4-3BF7-46BF-BF20-A2207559DB45}" type="presOf" srcId="{856B7186-C1BC-47AC-8C3F-F96CF7F5CF65}" destId="{F7520012-4BB3-4D79-8E8B-396397C8F411}" srcOrd="0" destOrd="0" presId="urn:microsoft.com/office/officeart/2005/8/layout/vList2"/>
    <dgm:cxn modelId="{305280E7-AA96-49F0-892A-3B5AA47EDF42}" type="presOf" srcId="{7BDC3D2C-BE88-4EC1-B34A-8B6F3171F6AF}" destId="{30182B6C-9299-4F92-BF1A-D379BEE7B15A}" srcOrd="0" destOrd="0" presId="urn:microsoft.com/office/officeart/2005/8/layout/vList2"/>
    <dgm:cxn modelId="{718BECEE-4170-4AD9-BAF6-ADDD0B8B2FFA}" type="presOf" srcId="{63F33581-8DAE-4205-B1F5-01C246A63D9A}" destId="{074BE64C-3721-4B80-82D3-947C676955C5}" srcOrd="0" destOrd="0" presId="urn:microsoft.com/office/officeart/2005/8/layout/vList2"/>
    <dgm:cxn modelId="{31E92CF3-6901-48A6-A9E2-3D07879839D6}" srcId="{7BDC3D2C-BE88-4EC1-B34A-8B6F3171F6AF}" destId="{F77EC196-A75D-4085-8153-50697B943BCB}" srcOrd="0" destOrd="0" parTransId="{4C70F52C-EF88-4884-9793-6414F22D468A}" sibTransId="{83B74C5C-ED6F-4881-9068-E2BF430BD2D9}"/>
    <dgm:cxn modelId="{111519F6-6D44-43DA-A1AF-C7EEF82539CE}" srcId="{7BDC3D2C-BE88-4EC1-B34A-8B6F3171F6AF}" destId="{63F33581-8DAE-4205-B1F5-01C246A63D9A}" srcOrd="4" destOrd="0" parTransId="{3BD7613B-E9C9-4BB9-BA36-3E6F4373FA50}" sibTransId="{6996D63D-3C8A-43EE-B31E-FF91FE68BEDA}"/>
    <dgm:cxn modelId="{ACCFB85D-32B0-4F6C-B565-3680EB561726}" type="presParOf" srcId="{30182B6C-9299-4F92-BF1A-D379BEE7B15A}" destId="{D3688D00-8BB7-46B1-9EFA-4690E11E772A}" srcOrd="0" destOrd="0" presId="urn:microsoft.com/office/officeart/2005/8/layout/vList2"/>
    <dgm:cxn modelId="{43F85B17-0DD0-4C4B-84AC-BA968EA073E3}" type="presParOf" srcId="{30182B6C-9299-4F92-BF1A-D379BEE7B15A}" destId="{FC95C117-A134-49BD-B031-C284596AFC86}" srcOrd="1" destOrd="0" presId="urn:microsoft.com/office/officeart/2005/8/layout/vList2"/>
    <dgm:cxn modelId="{7F7724E1-D87A-41F7-8D47-D4927BBF6F44}" type="presParOf" srcId="{30182B6C-9299-4F92-BF1A-D379BEE7B15A}" destId="{DDC4E711-C8B1-4CE5-8269-9136DA72EF36}" srcOrd="2" destOrd="0" presId="urn:microsoft.com/office/officeart/2005/8/layout/vList2"/>
    <dgm:cxn modelId="{DEC0153A-9FE2-478C-84DB-7D83160FEF10}" type="presParOf" srcId="{30182B6C-9299-4F92-BF1A-D379BEE7B15A}" destId="{F83B0A12-D5F8-4478-B6F3-F26AFE2DF171}" srcOrd="3" destOrd="0" presId="urn:microsoft.com/office/officeart/2005/8/layout/vList2"/>
    <dgm:cxn modelId="{C5B2744B-76C3-440A-BBD5-B91A98177FFA}" type="presParOf" srcId="{30182B6C-9299-4F92-BF1A-D379BEE7B15A}" destId="{F7520012-4BB3-4D79-8E8B-396397C8F411}" srcOrd="4" destOrd="0" presId="urn:microsoft.com/office/officeart/2005/8/layout/vList2"/>
    <dgm:cxn modelId="{7C86AA01-664C-44A0-B9A5-849295D4A83B}" type="presParOf" srcId="{30182B6C-9299-4F92-BF1A-D379BEE7B15A}" destId="{A2FF102B-847B-4CC7-90C2-D6578C9FC01C}" srcOrd="5" destOrd="0" presId="urn:microsoft.com/office/officeart/2005/8/layout/vList2"/>
    <dgm:cxn modelId="{C274BCD4-3118-4066-A84B-2B970277A76F}" type="presParOf" srcId="{30182B6C-9299-4F92-BF1A-D379BEE7B15A}" destId="{851A2185-27DF-4E8D-B871-FF3FC77B2112}" srcOrd="6" destOrd="0" presId="urn:microsoft.com/office/officeart/2005/8/layout/vList2"/>
    <dgm:cxn modelId="{C9C14F51-36FA-4E2C-A717-507F1ED18A2D}" type="presParOf" srcId="{30182B6C-9299-4F92-BF1A-D379BEE7B15A}" destId="{4892BC1A-ECA6-49F5-BA99-AC0FF4B5A743}" srcOrd="7" destOrd="0" presId="urn:microsoft.com/office/officeart/2005/8/layout/vList2"/>
    <dgm:cxn modelId="{D97F0252-061A-4A4F-A032-600DC77998DA}" type="presParOf" srcId="{30182B6C-9299-4F92-BF1A-D379BEE7B15A}" destId="{074BE64C-3721-4B80-82D3-947C676955C5}"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4F566C-E5AA-4D71-A128-30C2DFE899C7}">
      <dsp:nvSpPr>
        <dsp:cNvPr id="0" name=""/>
        <dsp:cNvSpPr/>
      </dsp:nvSpPr>
      <dsp:spPr>
        <a:xfrm>
          <a:off x="0" y="2437"/>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574444-27BD-4A10-8189-F93339864F91}">
      <dsp:nvSpPr>
        <dsp:cNvPr id="0" name=""/>
        <dsp:cNvSpPr/>
      </dsp:nvSpPr>
      <dsp:spPr>
        <a:xfrm>
          <a:off x="0" y="2437"/>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kern="1200" dirty="0"/>
            <a:t>Professionaalselt ehitatud andmeplatvorm koosneb </a:t>
          </a:r>
          <a:r>
            <a:rPr lang="et-EE" sz="1900" b="1" kern="1200" dirty="0"/>
            <a:t>mitmest kihist</a:t>
          </a:r>
          <a:r>
            <a:rPr lang="et-EE" sz="1900" kern="1200" dirty="0"/>
            <a:t>, mis tagavad andmete liikumise ja kvaliteedi</a:t>
          </a:r>
          <a:endParaRPr lang="en-US" sz="1900" kern="1200" dirty="0"/>
        </a:p>
      </dsp:txBody>
      <dsp:txXfrm>
        <a:off x="0" y="2437"/>
        <a:ext cx="9513534" cy="831121"/>
      </dsp:txXfrm>
    </dsp:sp>
    <dsp:sp modelId="{37E8098A-A89F-4A5E-A42C-5DF5FD523CE9}">
      <dsp:nvSpPr>
        <dsp:cNvPr id="0" name=""/>
        <dsp:cNvSpPr/>
      </dsp:nvSpPr>
      <dsp:spPr>
        <a:xfrm>
          <a:off x="0" y="833558"/>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31ACE6-4C6E-46BC-B520-16FD340E5841}">
      <dsp:nvSpPr>
        <dsp:cNvPr id="0" name=""/>
        <dsp:cNvSpPr/>
      </dsp:nvSpPr>
      <dsp:spPr>
        <a:xfrm>
          <a:off x="0" y="833558"/>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Andmete integreerimine (Ingestion)</a:t>
          </a:r>
          <a:r>
            <a:rPr lang="et-EE" sz="1900" kern="1200" dirty="0"/>
            <a:t>: Andmete toomine erinevatest algallikatest (nt CRM, ERP, veebilehed, IoT seadmed) platvormile.</a:t>
          </a:r>
          <a:endParaRPr lang="en-US" sz="1900" kern="1200" dirty="0"/>
        </a:p>
      </dsp:txBody>
      <dsp:txXfrm>
        <a:off x="0" y="833558"/>
        <a:ext cx="9513534" cy="831121"/>
      </dsp:txXfrm>
    </dsp:sp>
    <dsp:sp modelId="{47680892-2A7A-46F5-80EA-2A7BCF62F087}">
      <dsp:nvSpPr>
        <dsp:cNvPr id="0" name=""/>
        <dsp:cNvSpPr/>
      </dsp:nvSpPr>
      <dsp:spPr>
        <a:xfrm>
          <a:off x="0" y="1664680"/>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0D787E-DAAB-456B-ADDB-FFAD3EBBD075}">
      <dsp:nvSpPr>
        <dsp:cNvPr id="0" name=""/>
        <dsp:cNvSpPr/>
      </dsp:nvSpPr>
      <dsp:spPr>
        <a:xfrm>
          <a:off x="0" y="1664680"/>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Hoiustamine (Storage)</a:t>
          </a:r>
          <a:r>
            <a:rPr lang="et-EE" sz="1900" kern="1200" dirty="0"/>
            <a:t>: Andmete turvaline ja optimeeritud talletamine pilvepõhistes andmejärvedes (</a:t>
          </a:r>
          <a:r>
            <a:rPr lang="et-EE" sz="1900" i="1" kern="1200" dirty="0"/>
            <a:t>Data Lake</a:t>
          </a:r>
          <a:r>
            <a:rPr lang="et-EE" sz="1900" kern="1200" dirty="0"/>
            <a:t>) või andmeladudes (</a:t>
          </a:r>
          <a:r>
            <a:rPr lang="et-EE" sz="1900" i="1" kern="1200" dirty="0"/>
            <a:t>Data Warehouse</a:t>
          </a:r>
          <a:r>
            <a:rPr lang="et-EE" sz="1900" kern="1200" dirty="0"/>
            <a:t>). </a:t>
          </a:r>
          <a:endParaRPr lang="en-US" sz="1900" kern="1200" dirty="0"/>
        </a:p>
      </dsp:txBody>
      <dsp:txXfrm>
        <a:off x="0" y="1664680"/>
        <a:ext cx="9513534" cy="831121"/>
      </dsp:txXfrm>
    </dsp:sp>
    <dsp:sp modelId="{BBD0207B-E26C-4FF6-9B9C-154DF991B147}">
      <dsp:nvSpPr>
        <dsp:cNvPr id="0" name=""/>
        <dsp:cNvSpPr/>
      </dsp:nvSpPr>
      <dsp:spPr>
        <a:xfrm>
          <a:off x="0" y="2495801"/>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9493701-9221-40E9-8F94-687D85926640}">
      <dsp:nvSpPr>
        <dsp:cNvPr id="0" name=""/>
        <dsp:cNvSpPr/>
      </dsp:nvSpPr>
      <dsp:spPr>
        <a:xfrm>
          <a:off x="0" y="2495802"/>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Töötlemine ja teisendamine (Transformation)</a:t>
          </a:r>
          <a:r>
            <a:rPr lang="et-EE" sz="1900" kern="1200" dirty="0"/>
            <a:t>: Toorandmete puhastamine ja viimine ühtsesse, kontrollitud andmemudelisse (kasutades tööriistu nagu dbt). </a:t>
          </a:r>
          <a:endParaRPr lang="en-US" sz="1900" kern="1200" dirty="0"/>
        </a:p>
      </dsp:txBody>
      <dsp:txXfrm>
        <a:off x="0" y="2495802"/>
        <a:ext cx="9513534" cy="831121"/>
      </dsp:txXfrm>
    </dsp:sp>
    <dsp:sp modelId="{24E24731-894E-4CE5-B751-2A86E959562F}">
      <dsp:nvSpPr>
        <dsp:cNvPr id="0" name=""/>
        <dsp:cNvSpPr/>
      </dsp:nvSpPr>
      <dsp:spPr>
        <a:xfrm>
          <a:off x="0" y="3326923"/>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4447E1-F52B-4935-8EE0-995AB99C9D2F}">
      <dsp:nvSpPr>
        <dsp:cNvPr id="0" name=""/>
        <dsp:cNvSpPr/>
      </dsp:nvSpPr>
      <dsp:spPr>
        <a:xfrm>
          <a:off x="0" y="3326923"/>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Analüütika ja aruandlus (BI &amp; AI)</a:t>
          </a:r>
          <a:r>
            <a:rPr lang="et-EE" sz="1900" kern="1200" dirty="0"/>
            <a:t>: Andmete esitamine lõppkasutajale läbi visuaalsete töölaudade (nt Power BI, Tableau) või sisendina masinõppemudelitele. </a:t>
          </a:r>
          <a:endParaRPr lang="en-US" sz="1900" kern="1200" dirty="0"/>
        </a:p>
      </dsp:txBody>
      <dsp:txXfrm>
        <a:off x="0" y="3326923"/>
        <a:ext cx="9513534" cy="831121"/>
      </dsp:txXfrm>
    </dsp:sp>
    <dsp:sp modelId="{1D4FAE55-76E0-4E17-B63E-BB62B6DEF79A}">
      <dsp:nvSpPr>
        <dsp:cNvPr id="0" name=""/>
        <dsp:cNvSpPr/>
      </dsp:nvSpPr>
      <dsp:spPr>
        <a:xfrm>
          <a:off x="0" y="4158045"/>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8C9F2E-E1FB-4592-A7B6-2BEBFD6425F6}">
      <dsp:nvSpPr>
        <dsp:cNvPr id="0" name=""/>
        <dsp:cNvSpPr/>
      </dsp:nvSpPr>
      <dsp:spPr>
        <a:xfrm>
          <a:off x="0" y="4158045"/>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GB" sz="1900" kern="1200" dirty="0"/>
            <a:t>NB! </a:t>
          </a:r>
          <a:r>
            <a:rPr lang="en-GB" sz="1900" kern="1200" dirty="0" err="1"/>
            <a:t>Andmekorraldus</a:t>
          </a:r>
          <a:r>
            <a:rPr lang="en-GB" sz="1900" kern="1200" dirty="0"/>
            <a:t> </a:t>
          </a:r>
          <a:r>
            <a:rPr lang="en-GB" sz="1900" kern="1200" dirty="0" err="1"/>
            <a:t>ehk</a:t>
          </a:r>
          <a:r>
            <a:rPr lang="en-GB" sz="1900" kern="1200" dirty="0"/>
            <a:t> Data Governance</a:t>
          </a:r>
        </a:p>
      </dsp:txBody>
      <dsp:txXfrm>
        <a:off x="0" y="4158045"/>
        <a:ext cx="9513534" cy="83112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688D00-8BB7-46B1-9EFA-4690E11E772A}">
      <dsp:nvSpPr>
        <dsp:cNvPr id="0" name=""/>
        <dsp:cNvSpPr/>
      </dsp:nvSpPr>
      <dsp:spPr>
        <a:xfrm>
          <a:off x="0" y="29191"/>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t-EE" sz="1400" b="0" i="0" kern="1200" dirty="0">
              <a:solidFill>
                <a:srgbClr val="FFFF00"/>
              </a:solidFill>
            </a:rPr>
            <a:t>Microsoft Fabric: </a:t>
          </a:r>
          <a:endParaRPr lang="en-GB" sz="1400" b="0" i="0" kern="1200" dirty="0">
            <a:solidFill>
              <a:srgbClr val="FFFF00"/>
            </a:solidFill>
          </a:endParaRPr>
        </a:p>
        <a:p>
          <a:pPr marL="0" lvl="0" indent="0" algn="l" defTabSz="622300">
            <a:lnSpc>
              <a:spcPct val="90000"/>
            </a:lnSpc>
            <a:spcBef>
              <a:spcPct val="0"/>
            </a:spcBef>
            <a:spcAft>
              <a:spcPct val="35000"/>
            </a:spcAft>
            <a:buNone/>
          </a:pPr>
          <a:r>
            <a:rPr lang="et-EE" sz="1400" b="0" i="0" kern="1200" dirty="0"/>
            <a:t>Terviklik SaaS-andmeplatvorm, mis ühendab endas andmetehnoloogia, andmelaod, reaalaja analüütika ja Power BI tööriistad ühtsesse keskkonda (OneLake).</a:t>
          </a:r>
          <a:endParaRPr lang="en-US" sz="1400" kern="1200" dirty="0"/>
        </a:p>
      </dsp:txBody>
      <dsp:txXfrm>
        <a:off x="49376" y="78567"/>
        <a:ext cx="7983210" cy="912713"/>
      </dsp:txXfrm>
    </dsp:sp>
    <dsp:sp modelId="{DDC4E711-C8B1-4CE5-8269-9136DA72EF36}">
      <dsp:nvSpPr>
        <dsp:cNvPr id="0" name=""/>
        <dsp:cNvSpPr/>
      </dsp:nvSpPr>
      <dsp:spPr>
        <a:xfrm>
          <a:off x="0" y="1080976"/>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t-EE" sz="1400" kern="1200" dirty="0">
              <a:solidFill>
                <a:srgbClr val="FFFF00"/>
              </a:solidFill>
            </a:rPr>
            <a:t>Snowflake</a:t>
          </a:r>
          <a:r>
            <a:rPr lang="en-GB" sz="1400" kern="1200" dirty="0">
              <a:solidFill>
                <a:srgbClr val="FFFF00"/>
              </a:solidFill>
            </a:rPr>
            <a:t> + DBT</a:t>
          </a:r>
          <a:r>
            <a:rPr lang="et-EE" sz="1400" kern="1200" dirty="0">
              <a:solidFill>
                <a:srgbClr val="FFFF00"/>
              </a:solidFill>
            </a:rPr>
            <a:t>: </a:t>
          </a:r>
          <a:endParaRPr lang="en-GB" sz="1400" kern="1200" dirty="0">
            <a:solidFill>
              <a:srgbClr val="FFFF00"/>
            </a:solidFill>
          </a:endParaRPr>
        </a:p>
        <a:p>
          <a:pPr marL="0" lvl="0" indent="0" algn="l" defTabSz="622300">
            <a:lnSpc>
              <a:spcPct val="90000"/>
            </a:lnSpc>
            <a:spcBef>
              <a:spcPct val="0"/>
            </a:spcBef>
            <a:spcAft>
              <a:spcPct val="35000"/>
            </a:spcAft>
            <a:buNone/>
          </a:pPr>
          <a:r>
            <a:rPr lang="et-EE" sz="1400" kern="1200" dirty="0"/>
            <a:t>Väga populaarne ja kõrgelt hinnatud pilvepõhine andmeladu. Seda eelistatakse selle lihtsuse, automaatse skaleeruvuse ning andmete jagamise mugavuse tõttu.</a:t>
          </a:r>
          <a:endParaRPr lang="en-GB" sz="1400" kern="1200" dirty="0"/>
        </a:p>
      </dsp:txBody>
      <dsp:txXfrm>
        <a:off x="49376" y="1130352"/>
        <a:ext cx="7983210" cy="912713"/>
      </dsp:txXfrm>
    </dsp:sp>
    <dsp:sp modelId="{F7520012-4BB3-4D79-8E8B-396397C8F411}">
      <dsp:nvSpPr>
        <dsp:cNvPr id="0" name=""/>
        <dsp:cNvSpPr/>
      </dsp:nvSpPr>
      <dsp:spPr>
        <a:xfrm>
          <a:off x="0" y="2132761"/>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b="0" i="0" kern="1200" dirty="0">
              <a:solidFill>
                <a:srgbClr val="FFFF00"/>
              </a:solidFill>
            </a:rPr>
            <a:t>Databricks: </a:t>
          </a:r>
          <a:endParaRPr lang="en-GB" sz="1100" b="0" i="0" kern="1200" dirty="0">
            <a:solidFill>
              <a:srgbClr val="FFFF00"/>
            </a:solidFill>
          </a:endParaRPr>
        </a:p>
        <a:p>
          <a:pPr marL="0" lvl="0" indent="0" algn="l" defTabSz="488950">
            <a:lnSpc>
              <a:spcPct val="90000"/>
            </a:lnSpc>
            <a:spcBef>
              <a:spcPct val="0"/>
            </a:spcBef>
            <a:spcAft>
              <a:spcPct val="35000"/>
            </a:spcAft>
            <a:buNone/>
          </a:pPr>
          <a:r>
            <a:rPr lang="et-EE" sz="1100" b="0" i="0" kern="120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sz="1100" kern="1200" dirty="0"/>
        </a:p>
      </dsp:txBody>
      <dsp:txXfrm>
        <a:off x="49376" y="2182137"/>
        <a:ext cx="7983210" cy="912713"/>
      </dsp:txXfrm>
    </dsp:sp>
    <dsp:sp modelId="{851A2185-27DF-4E8D-B871-FF3FC77B2112}">
      <dsp:nvSpPr>
        <dsp:cNvPr id="0" name=""/>
        <dsp:cNvSpPr/>
      </dsp:nvSpPr>
      <dsp:spPr>
        <a:xfrm>
          <a:off x="0" y="3184547"/>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GB" sz="1800" b="0" i="0" u="none" kern="1200" dirty="0">
              <a:solidFill>
                <a:srgbClr val="FFFF00"/>
              </a:solidFill>
            </a:rPr>
            <a:t>Google </a:t>
          </a:r>
          <a:r>
            <a:rPr lang="en-GB" sz="1800" b="0" i="0" u="none" kern="1200" dirty="0" err="1">
              <a:solidFill>
                <a:srgbClr val="FFFF00"/>
              </a:solidFill>
            </a:rPr>
            <a:t>BigQuery</a:t>
          </a:r>
          <a:r>
            <a:rPr lang="en-GB" sz="1800" i="0" kern="1200" dirty="0">
              <a:solidFill>
                <a:srgbClr val="FFFF00"/>
              </a:solidFill>
            </a:rPr>
            <a:t> </a:t>
          </a:r>
          <a:r>
            <a:rPr lang="en-GB" sz="1800" kern="1200" dirty="0"/>
            <a:t>– </a:t>
          </a:r>
          <a:r>
            <a:rPr lang="en-GB" sz="1800" kern="1200" dirty="0" err="1"/>
            <a:t>serverivaba</a:t>
          </a:r>
          <a:r>
            <a:rPr lang="en-GB" sz="1800" kern="1200" dirty="0"/>
            <a:t> </a:t>
          </a:r>
          <a:r>
            <a:rPr lang="en-GB" sz="1800" kern="1200" dirty="0" err="1"/>
            <a:t>ja</a:t>
          </a:r>
          <a:r>
            <a:rPr lang="en-GB" sz="1800" kern="1200" dirty="0"/>
            <a:t> </a:t>
          </a:r>
          <a:r>
            <a:rPr lang="en-GB" sz="1800" kern="1200" dirty="0" err="1"/>
            <a:t>kiire</a:t>
          </a:r>
          <a:r>
            <a:rPr lang="en-GB" sz="1800" kern="1200" dirty="0"/>
            <a:t> </a:t>
          </a:r>
          <a:r>
            <a:rPr lang="en-GB" sz="1800" kern="1200" dirty="0" err="1"/>
            <a:t>suurandmete</a:t>
          </a:r>
          <a:r>
            <a:rPr lang="en-GB" sz="1800" kern="1200" dirty="0"/>
            <a:t> </a:t>
          </a:r>
          <a:r>
            <a:rPr lang="en-GB" sz="1800" kern="1200" dirty="0" err="1"/>
            <a:t>analüüsiplatvorm</a:t>
          </a:r>
          <a:r>
            <a:rPr lang="en-GB" sz="1800" kern="1200" dirty="0"/>
            <a:t> Google </a:t>
          </a:r>
          <a:r>
            <a:rPr lang="en-GB" sz="1800" kern="1200" dirty="0" err="1"/>
            <a:t>Cloudi</a:t>
          </a:r>
          <a:r>
            <a:rPr lang="en-GB" sz="1800" kern="1200" dirty="0"/>
            <a:t> </a:t>
          </a:r>
          <a:r>
            <a:rPr lang="en-GB" sz="1800" kern="1200" dirty="0" err="1"/>
            <a:t>ökosüsteemis</a:t>
          </a:r>
          <a:r>
            <a:rPr lang="en-GB" sz="1800" kern="1200" dirty="0"/>
            <a:t>.</a:t>
          </a:r>
        </a:p>
      </dsp:txBody>
      <dsp:txXfrm>
        <a:off x="49376" y="3233923"/>
        <a:ext cx="7983210" cy="912713"/>
      </dsp:txXfrm>
    </dsp:sp>
    <dsp:sp modelId="{074BE64C-3721-4B80-82D3-947C676955C5}">
      <dsp:nvSpPr>
        <dsp:cNvPr id="0" name=""/>
        <dsp:cNvSpPr/>
      </dsp:nvSpPr>
      <dsp:spPr>
        <a:xfrm>
          <a:off x="0" y="4236332"/>
          <a:ext cx="8081962" cy="1011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GB" sz="1800" kern="1200" dirty="0">
              <a:solidFill>
                <a:srgbClr val="FFFF00"/>
              </a:solidFill>
            </a:rPr>
            <a:t>SAP Business Data cloud: </a:t>
          </a:r>
        </a:p>
        <a:p>
          <a:pPr marL="0" lvl="0" indent="0" algn="l" defTabSz="800100">
            <a:lnSpc>
              <a:spcPct val="90000"/>
            </a:lnSpc>
            <a:spcBef>
              <a:spcPct val="0"/>
            </a:spcBef>
            <a:spcAft>
              <a:spcPct val="35000"/>
            </a:spcAft>
            <a:buNone/>
          </a:pPr>
          <a:r>
            <a:rPr lang="en-GB" sz="1800" kern="1200" dirty="0"/>
            <a:t>SAP Analytics Cloud</a:t>
          </a:r>
        </a:p>
      </dsp:txBody>
      <dsp:txXfrm>
        <a:off x="49376" y="4285708"/>
        <a:ext cx="7983210" cy="912713"/>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8B2033-DCEB-4EE5-8D74-06B1A107DB0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9505E87-9E14-405A-8EC3-7560300E98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9D2AD6E-DEDD-49A0-A4BE-7A081A9112DA}" type="datetimeFigureOut">
              <a:rPr lang="en-US" smtClean="0"/>
              <a:t>9/3/2026</a:t>
            </a:fld>
            <a:endParaRPr lang="en-US"/>
          </a:p>
        </p:txBody>
      </p:sp>
      <p:sp>
        <p:nvSpPr>
          <p:cNvPr id="4" name="Footer Placeholder 3">
            <a:extLst>
              <a:ext uri="{FF2B5EF4-FFF2-40B4-BE49-F238E27FC236}">
                <a16:creationId xmlns:a16="http://schemas.microsoft.com/office/drawing/2014/main" id="{AB8941CC-E8C9-4FDE-B9E2-B4C258E0C7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4C0A66F-906D-4597-B704-A85E8A2989E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320B76-795F-4136-B2E6-506229A97711}" type="slidenum">
              <a:rPr lang="en-US" smtClean="0"/>
              <a:t>‹#›</a:t>
            </a:fld>
            <a:endParaRPr lang="en-US"/>
          </a:p>
        </p:txBody>
      </p:sp>
    </p:spTree>
    <p:extLst>
      <p:ext uri="{BB962C8B-B14F-4D97-AF65-F5344CB8AC3E}">
        <p14:creationId xmlns:p14="http://schemas.microsoft.com/office/powerpoint/2010/main" val="35214107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F9C1A6-4321-41FA-B001-4140F0E2457F}" type="datetimeFigureOut">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699514-027B-49BD-8B49-5054CA40ECF4}" type="slidenum">
              <a:t>‹#›</a:t>
            </a:fld>
            <a:endParaRPr lang="en-US"/>
          </a:p>
        </p:txBody>
      </p:sp>
    </p:spTree>
    <p:extLst>
      <p:ext uri="{BB962C8B-B14F-4D97-AF65-F5344CB8AC3E}">
        <p14:creationId xmlns:p14="http://schemas.microsoft.com/office/powerpoint/2010/main" val="3016157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medium.com/@kanerika/databricks-vs-snowflake-vs-fabric-which-platform-to-choose-781d4ac5f25b" TargetMode="External"/><Relationship Id="rId13" Type="http://schemas.openxmlformats.org/officeDocument/2006/relationships/hyperlink" Target="https://msfabric.io/en/the-complete-guide-to-microsoft-fabric-licensing-why-is-microsoft-fabric-in-2026-the-foundation-of-your-roi/" TargetMode="External"/><Relationship Id="rId3" Type="http://schemas.openxmlformats.org/officeDocument/2006/relationships/hyperlink" Target="https://www.youtube.com/watch?v=YNh-fCtherQ&amp;t=217" TargetMode="External"/><Relationship Id="rId7" Type="http://schemas.openxmlformats.org/officeDocument/2006/relationships/hyperlink" Target="https://www.intellifabric.ai/blog/cloud-data-analytics-platform-comparison" TargetMode="External"/><Relationship Id="rId12" Type="http://schemas.openxmlformats.org/officeDocument/2006/relationships/hyperlink" Target="https://community.fabric.microsoft.com/t5/Fabric-platform-Community-Blog/Microsoft-Fabric-vs-Databricks-vs-Snowflake-A-Deep-Comparison-of/ba-p/5125800" TargetMode="External"/><Relationship Id="rId17" Type="http://schemas.openxmlformats.org/officeDocument/2006/relationships/hyperlink" Target="https://www.linkedin.com/pulse/sap-business-data-cloud-vs-snowflake-databricks-mohit-malhotra-au7lc" TargetMode="External"/><Relationship Id="rId2" Type="http://schemas.openxmlformats.org/officeDocument/2006/relationships/slide" Target="../slides/slide10.xml"/><Relationship Id="rId16" Type="http://schemas.openxmlformats.org/officeDocument/2006/relationships/hyperlink" Target="https://community.sap.com/t5/technology-blog-posts-by-sap/the-added-value-of-sap-business-data-cloud-with-databricks-snowflake-and-ms/ba-p/14273953" TargetMode="External"/><Relationship Id="rId1" Type="http://schemas.openxmlformats.org/officeDocument/2006/relationships/notesMaster" Target="../notesMasters/notesMaster1.xml"/><Relationship Id="rId6" Type="http://schemas.openxmlformats.org/officeDocument/2006/relationships/hyperlink" Target="https://daily.dev/posts/snowflake-cortex-pricing-in-2026-how-much-does-it-actually-cost-with-real-examples--7dfdju8bg" TargetMode="External"/><Relationship Id="rId11" Type="http://schemas.openxmlformats.org/officeDocument/2006/relationships/hyperlink" Target="https://alphavima.com/blog/microsoft-fabric-pricing/" TargetMode="External"/><Relationship Id="rId5" Type="http://schemas.openxmlformats.org/officeDocument/2006/relationships/hyperlink" Target="https://www.youtube.com/watch?v=s7132Q7qb0o&amp;t=132" TargetMode="External"/><Relationship Id="rId15" Type="http://schemas.openxmlformats.org/officeDocument/2006/relationships/hyperlink" Target="https://lets-viz.com/blogs/microsoft-fabric-pricing-f-sku-vs-p-sku-capacity-cost-guide" TargetMode="External"/><Relationship Id="rId10" Type="http://schemas.openxmlformats.org/officeDocument/2006/relationships/hyperlink" Target="https://www.synapx.com/blogs/microsoft-fabric-pricing-guide-2026/" TargetMode="External"/><Relationship Id="rId4" Type="http://schemas.openxmlformats.org/officeDocument/2006/relationships/hyperlink" Target="https://www.snowflake.com/en/pricing-options/" TargetMode="External"/><Relationship Id="rId9" Type="http://schemas.openxmlformats.org/officeDocument/2006/relationships/hyperlink" Target="https://www.youtube.com/watch?v=yPGEQ8vtuOw" TargetMode="External"/><Relationship Id="rId14" Type="http://schemas.openxmlformats.org/officeDocument/2006/relationships/hyperlink" Target="https://www.alphabold.com/microsoft-fabric-pricing-and-licensi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06E3FB46-E75F-42CA-84D1-20ABA0EA91A6}" type="slidenum">
              <a:t>1</a:t>
            </a:fld>
            <a:endParaRPr lang="en-US"/>
          </a:p>
        </p:txBody>
      </p:sp>
    </p:spTree>
    <p:extLst>
      <p:ext uri="{BB962C8B-B14F-4D97-AF65-F5344CB8AC3E}">
        <p14:creationId xmlns:p14="http://schemas.microsoft.com/office/powerpoint/2010/main" val="1832417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u="none" strike="noStrike" kern="1200" dirty="0">
                <a:solidFill>
                  <a:schemeClr val="tx1"/>
                </a:solidFill>
                <a:effectLst/>
                <a:latin typeface="+mn-lt"/>
                <a:ea typeface="+mn-ea"/>
                <a:cs typeface="+mn-cs"/>
              </a:rPr>
              <a:t>1. Snowflake + </a:t>
            </a:r>
            <a:r>
              <a:rPr lang="en-GB" sz="1200" b="1" u="none" strike="noStrike" kern="1200" dirty="0" err="1">
                <a:solidFill>
                  <a:schemeClr val="tx1"/>
                </a:solidFill>
                <a:effectLst/>
                <a:latin typeface="+mn-lt"/>
                <a:ea typeface="+mn-ea"/>
                <a:cs typeface="+mn-cs"/>
              </a:rPr>
              <a:t>dbt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kombinatsioon</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andmeladu</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Modern Data Stack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puhta</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tarkvaraarenduse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parimate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praktikate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fännidele</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standardne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a:t>
            </a:r>
            <a:r>
              <a:rPr lang="en-GB" sz="1200" b="0" u="none" strike="noStrike" kern="1200" dirty="0" err="1">
                <a:solidFill>
                  <a:schemeClr val="tx1"/>
                </a:solidFill>
                <a:effectLst/>
                <a:latin typeface="+mn-lt"/>
                <a:ea typeface="+mn-ea"/>
                <a:cs typeface="+mn-cs"/>
              </a:rPr>
              <a:t>loodi</a:t>
            </a:r>
            <a:r>
              <a:rPr lang="en-GB" sz="1200" b="0" u="none" strike="noStrike" kern="1200" dirty="0">
                <a:solidFill>
                  <a:schemeClr val="tx1"/>
                </a:solidFill>
                <a:effectLst/>
                <a:latin typeface="+mn-lt"/>
                <a:ea typeface="+mn-ea"/>
                <a:cs typeface="+mn-cs"/>
              </a:rPr>
              <a:t> 2012. </a:t>
            </a:r>
            <a:r>
              <a:rPr lang="en-GB" sz="1200" b="0" u="none" strike="noStrike" kern="1200" dirty="0" err="1">
                <a:solidFill>
                  <a:schemeClr val="tx1"/>
                </a:solidFill>
                <a:effectLst/>
                <a:latin typeface="+mn-lt"/>
                <a:ea typeface="+mn-ea"/>
                <a:cs typeface="+mn-cs"/>
              </a:rPr>
              <a:t>aastal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(Data Build Tool) </a:t>
            </a:r>
            <a:r>
              <a:rPr lang="en-GB" sz="1200" b="0" u="none" strike="noStrike" kern="1200" dirty="0" err="1">
                <a:solidFill>
                  <a:schemeClr val="tx1"/>
                </a:solidFill>
                <a:effectLst/>
                <a:latin typeface="+mn-lt"/>
                <a:ea typeface="+mn-ea"/>
                <a:cs typeface="+mn-cs"/>
              </a:rPr>
              <a:t>sai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populaarseks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kümnendi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lõpus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viimase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kõige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stabiilsema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levinuma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kombinatsiooniga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andmelao</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raames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on </a:t>
            </a:r>
            <a:r>
              <a:rPr lang="en-GB" sz="1200" b="0" u="none" strike="noStrike" kern="1200" dirty="0" err="1">
                <a:solidFill>
                  <a:schemeClr val="tx1"/>
                </a:solidFill>
                <a:effectLst/>
                <a:latin typeface="+mn-lt"/>
                <a:ea typeface="+mn-ea"/>
                <a:cs typeface="+mn-cs"/>
              </a:rPr>
              <a:t>ülivõimas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hoiustaja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mootor</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ainult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puhastamise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teisendamisega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T-</a:t>
            </a:r>
            <a:r>
              <a:rPr lang="en-GB" sz="1200" b="0" i="1" u="none" strike="noStrike" kern="1200" dirty="0" err="1">
                <a:solidFill>
                  <a:schemeClr val="tx1"/>
                </a:solidFill>
                <a:effectLst/>
                <a:latin typeface="+mn-lt"/>
                <a:ea typeface="+mn-ea"/>
                <a:cs typeface="+mn-cs"/>
              </a:rPr>
              <a:t>kiht</a:t>
            </a:r>
            <a:r>
              <a:rPr lang="en-GB" sz="1200" b="0" i="1" u="none" strike="noStrike" kern="1200" dirty="0">
                <a:solidFill>
                  <a:schemeClr val="tx1"/>
                </a:solidFill>
                <a:effectLst/>
                <a:latin typeface="+mn-lt"/>
                <a:ea typeface="+mn-ea"/>
                <a:cs typeface="+mn-cs"/>
              </a:rPr>
              <a:t> </a:t>
            </a:r>
            <a:r>
              <a:rPr lang="en-GB" sz="1200" b="0" i="1" u="none" strike="noStrike" kern="1200" dirty="0" err="1">
                <a:solidFill>
                  <a:schemeClr val="tx1"/>
                </a:solidFill>
                <a:effectLst/>
                <a:latin typeface="+mn-lt"/>
                <a:ea typeface="+mn-ea"/>
                <a:cs typeface="+mn-cs"/>
              </a:rPr>
              <a:t>ehk</a:t>
            </a:r>
            <a:r>
              <a:rPr lang="en-GB" sz="1200" b="0" i="1" u="none" strike="noStrike" kern="1200" dirty="0">
                <a:solidFill>
                  <a:schemeClr val="tx1"/>
                </a:solidFill>
                <a:effectLst/>
                <a:latin typeface="+mn-lt"/>
                <a:ea typeface="+mn-ea"/>
                <a:cs typeface="+mn-cs"/>
              </a:rPr>
              <a:t> Transformation</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võimaldavad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detailseid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auditeeritavaid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mudeleid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Masinõppeks</a:t>
            </a:r>
            <a:r>
              <a:rPr lang="en-GB" sz="1200" b="0" u="none" strike="noStrike" kern="1200" dirty="0">
                <a:solidFill>
                  <a:schemeClr val="tx1"/>
                </a:solidFill>
                <a:effectLst/>
                <a:latin typeface="+mn-lt"/>
                <a:ea typeface="+mn-ea"/>
                <a:cs typeface="+mn-cs"/>
              </a:rPr>
              <a:t> (AI/ML) </a:t>
            </a:r>
            <a:r>
              <a:rPr lang="en-GB" sz="1200" b="0" u="none" strike="noStrike" kern="1200" dirty="0" err="1">
                <a:solidFill>
                  <a:schemeClr val="tx1"/>
                </a:solidFill>
                <a:effectLst/>
                <a:latin typeface="+mn-lt"/>
                <a:ea typeface="+mn-ea"/>
                <a:cs typeface="+mn-cs"/>
              </a:rPr>
              <a:t>vajab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juurde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lisatööriistu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uusi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laiendusi</a:t>
            </a:r>
            <a:r>
              <a:rPr lang="en-GB" sz="1200" b="0" u="none" strike="noStrike" kern="1200" dirty="0">
                <a:solidFill>
                  <a:schemeClr val="tx1"/>
                </a:solidFill>
                <a:effectLst/>
                <a:latin typeface="+mn-lt"/>
                <a:ea typeface="+mn-ea"/>
                <a:cs typeface="+mn-cs"/>
              </a:rPr>
              <a:t> (Snowpark, Cortex AI).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4</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Täielikult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kasutuspõhine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elastne</a:t>
            </a:r>
            <a:r>
              <a:rPr lang="en-GB" sz="1200" b="1" u="none" strike="noStrike" kern="1200" dirty="0">
                <a:solidFill>
                  <a:schemeClr val="tx1"/>
                </a:solidFill>
                <a:effectLst/>
                <a:latin typeface="+mn-lt"/>
                <a:ea typeface="+mn-ea"/>
                <a:cs typeface="+mn-cs"/>
              </a:rPr>
              <a:t>.</a:t>
            </a:r>
            <a:endParaRPr lang="en-GB" sz="1200" b="0" u="none" strike="noStrike" kern="1200" dirty="0">
              <a:solidFill>
                <a:schemeClr val="tx1"/>
              </a:solidFill>
              <a:effectLst/>
              <a:latin typeface="+mn-lt"/>
              <a:ea typeface="+mn-ea"/>
              <a:cs typeface="+mn-cs"/>
            </a:endParaRPr>
          </a:p>
          <a:p>
            <a:pPr lvl="1"/>
            <a:r>
              <a:rPr lang="en-GB" sz="1200" b="0" u="none" strike="noStrike" kern="1200" dirty="0">
                <a:solidFill>
                  <a:schemeClr val="tx1"/>
                </a:solidFill>
                <a:effectLst/>
                <a:latin typeface="+mn-lt"/>
                <a:ea typeface="+mn-ea"/>
                <a:cs typeface="+mn-cs"/>
              </a:rPr>
              <a:t>Snowflake </a:t>
            </a:r>
            <a:r>
              <a:rPr lang="en-GB" sz="1200" b="0" u="none" strike="noStrike" kern="1200" dirty="0" err="1">
                <a:solidFill>
                  <a:schemeClr val="tx1"/>
                </a:solidFill>
                <a:effectLst/>
                <a:latin typeface="+mn-lt"/>
                <a:ea typeface="+mn-ea"/>
                <a:cs typeface="+mn-cs"/>
              </a:rPr>
              <a:t>maksustab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eraldi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a:t>
            </a:r>
            <a:r>
              <a:rPr lang="en-GB" sz="1200" b="0" u="none" strike="noStrike" kern="1200" dirty="0">
                <a:solidFill>
                  <a:schemeClr val="tx1"/>
                </a:solidFill>
                <a:effectLst/>
                <a:latin typeface="+mn-lt"/>
                <a:ea typeface="+mn-ea"/>
                <a:cs typeface="+mn-cs"/>
              </a:rPr>
              <a:t> (~23 $/TB </a:t>
            </a:r>
            <a:r>
              <a:rPr lang="en-GB" sz="1200" b="0" u="none" strike="noStrike" kern="1200" dirty="0" err="1">
                <a:solidFill>
                  <a:schemeClr val="tx1"/>
                </a:solidFill>
                <a:effectLst/>
                <a:latin typeface="+mn-lt"/>
                <a:ea typeface="+mn-ea"/>
                <a:cs typeface="+mn-cs"/>
              </a:rPr>
              <a:t>kuus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arvutusvõimsust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krediidid</a:t>
            </a:r>
            <a:r>
              <a:rPr lang="en-GB" sz="1200" b="0" u="none" strike="noStrike" kern="1200" dirty="0">
                <a:solidFill>
                  <a:schemeClr val="tx1"/>
                </a:solidFill>
                <a:effectLst/>
                <a:latin typeface="+mn-lt"/>
                <a:ea typeface="+mn-ea"/>
                <a:cs typeface="+mn-cs"/>
              </a:rPr>
              <a:t>, alates ~2,00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4,00 </a:t>
            </a:r>
            <a:r>
              <a:rPr lang="en-GB" sz="1200" b="0" u="none" strike="noStrike" kern="1200" dirty="0" err="1">
                <a:solidFill>
                  <a:schemeClr val="tx1"/>
                </a:solidFill>
                <a:effectLst/>
                <a:latin typeface="+mn-lt"/>
                <a:ea typeface="+mn-ea"/>
                <a:cs typeface="+mn-cs"/>
              </a:rPr>
              <a:t>krediit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sõltuvalt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litsentsist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Serverid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käivituvad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sekundiga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lülituvad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päringuid</a:t>
            </a:r>
            <a:r>
              <a:rPr lang="en-GB" sz="1200" b="0" u="none" strike="noStrike" kern="1200" dirty="0">
                <a:solidFill>
                  <a:schemeClr val="tx1"/>
                </a:solidFill>
                <a:effectLst/>
                <a:latin typeface="+mn-lt"/>
                <a:ea typeface="+mn-ea"/>
                <a:cs typeface="+mn-cs"/>
              </a:rPr>
              <a:t> pole.</a:t>
            </a:r>
          </a:p>
          <a:p>
            <a:pPr lvl="1"/>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arendajale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kättesaadav</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Core on </a:t>
            </a:r>
            <a:r>
              <a:rPr lang="en-GB" sz="1200" b="0" u="none" strike="noStrike" kern="1200" dirty="0" err="1">
                <a:solidFill>
                  <a:schemeClr val="tx1"/>
                </a:solidFill>
                <a:effectLst/>
                <a:latin typeface="+mn-lt"/>
                <a:ea typeface="+mn-ea"/>
                <a:cs typeface="+mn-cs"/>
              </a:rPr>
              <a:t>avatud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lähtekoodiga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pilveversioon</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Cloud) </a:t>
            </a:r>
            <a:r>
              <a:rPr lang="en-GB" sz="1200" b="0" u="none" strike="noStrike" kern="1200" dirty="0" err="1">
                <a:solidFill>
                  <a:schemeClr val="tx1"/>
                </a:solidFill>
                <a:effectLst/>
                <a:latin typeface="+mn-lt"/>
                <a:ea typeface="+mn-ea"/>
                <a:cs typeface="+mn-cs"/>
              </a:rPr>
              <a:t>maksab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kasutajapõhiselt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kuutasu</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andmeallikad</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peamiselt</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põhised</a:t>
            </a:r>
            <a:r>
              <a:rPr lang="en-GB" sz="1200" b="0" u="none" strike="noStrike" kern="1200" dirty="0">
                <a:solidFill>
                  <a:schemeClr val="tx1"/>
                </a:solidFill>
                <a:effectLst/>
                <a:latin typeface="+mn-lt"/>
                <a:ea typeface="+mn-ea"/>
                <a:cs typeface="+mn-cs"/>
              </a:rPr>
              <a:t> (CRM, </a:t>
            </a:r>
            <a:r>
              <a:rPr lang="en-GB" sz="1200" b="0" u="none" strike="noStrike" kern="1200" dirty="0" err="1">
                <a:solidFill>
                  <a:schemeClr val="tx1"/>
                </a:solidFill>
                <a:effectLst/>
                <a:latin typeface="+mn-lt"/>
                <a:ea typeface="+mn-ea"/>
                <a:cs typeface="+mn-cs"/>
              </a:rPr>
              <a:t>veeb</a:t>
            </a:r>
            <a:r>
              <a:rPr lang="en-GB" sz="1200" b="0" u="none" strike="noStrike" kern="1200" dirty="0">
                <a:solidFill>
                  <a:schemeClr val="tx1"/>
                </a:solidFill>
                <a:effectLst/>
                <a:latin typeface="+mn-lt"/>
                <a:ea typeface="+mn-ea"/>
                <a:cs typeface="+mn-cs"/>
              </a:rPr>
              <a:t>, API-d)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oskavad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hästi</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Ideaalne</a:t>
            </a:r>
            <a:r>
              <a:rPr lang="en-GB" sz="1200" b="0" u="none" strike="noStrike" kern="1200" dirty="0">
                <a:solidFill>
                  <a:schemeClr val="tx1"/>
                </a:solidFill>
                <a:effectLst/>
                <a:latin typeface="+mn-lt"/>
                <a:ea typeface="+mn-ea"/>
                <a:cs typeface="+mn-cs"/>
              </a:rPr>
              <a:t> variant,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soovitakse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vältida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luku</a:t>
            </a:r>
            <a:r>
              <a:rPr lang="en-GB" sz="1200" b="0" u="none" strike="noStrike" kern="1200" dirty="0">
                <a:solidFill>
                  <a:schemeClr val="tx1"/>
                </a:solidFill>
                <a:effectLst/>
                <a:latin typeface="+mn-lt"/>
                <a:ea typeface="+mn-ea"/>
                <a:cs typeface="+mn-cs"/>
              </a:rPr>
              <a:t> taha) </a:t>
            </a:r>
            <a:r>
              <a:rPr lang="en-GB" sz="1200" b="0" u="none" strike="noStrike" kern="1200" dirty="0" err="1">
                <a:solidFill>
                  <a:schemeClr val="tx1"/>
                </a:solidFill>
                <a:effectLst/>
                <a:latin typeface="+mn-lt"/>
                <a:ea typeface="+mn-ea"/>
                <a:cs typeface="+mn-cs"/>
              </a:rPr>
              <a:t>jäämist</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2. Databricks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järvemaja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Lakehouse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suurtööstustele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massiivsete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töötlemiseks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kuid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pidevas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kiires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innovatsioonis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Apache </a:t>
            </a:r>
            <a:r>
              <a:rPr lang="en-GB" sz="1200" b="0" u="none" strike="noStrike" kern="1200" dirty="0" err="1">
                <a:solidFill>
                  <a:schemeClr val="tx1"/>
                </a:solidFill>
                <a:effectLst/>
                <a:latin typeface="+mn-lt"/>
                <a:ea typeface="+mn-ea"/>
                <a:cs typeface="+mn-cs"/>
              </a:rPr>
              <a:t>Sparki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loojate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Viimastel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aastatel</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kihi</a:t>
            </a:r>
            <a:r>
              <a:rPr lang="en-GB" sz="1200" b="0" u="none" strike="noStrike" kern="1200" dirty="0">
                <a:solidFill>
                  <a:schemeClr val="tx1"/>
                </a:solidFill>
                <a:effectLst/>
                <a:latin typeface="+mn-lt"/>
                <a:ea typeface="+mn-ea"/>
                <a:cs typeface="+mn-cs"/>
              </a:rPr>
              <a:t> (SQL Warehouse), mis </a:t>
            </a:r>
            <a:r>
              <a:rPr lang="en-GB" sz="1200" b="0" u="none" strike="noStrike" kern="1200" dirty="0" err="1">
                <a:solidFill>
                  <a:schemeClr val="tx1"/>
                </a:solidFill>
                <a:effectLst/>
                <a:latin typeface="+mn-lt"/>
                <a:ea typeface="+mn-ea"/>
                <a:cs typeface="+mn-cs"/>
              </a:rPr>
              <a:t>võistleb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Snowflake'iga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tehniliselt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kõige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võimekam</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Databricks </a:t>
            </a:r>
            <a:r>
              <a:rPr lang="en-GB" sz="1200" b="0" u="none" strike="noStrike" kern="1200" dirty="0" err="1">
                <a:solidFill>
                  <a:schemeClr val="tx1"/>
                </a:solidFill>
                <a:effectLst/>
                <a:latin typeface="+mn-lt"/>
                <a:ea typeface="+mn-ea"/>
                <a:cs typeface="+mn-cs"/>
              </a:rPr>
              <a:t>suudab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hallata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voogedastus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süvamasinõpe</a:t>
            </a:r>
            <a:r>
              <a:rPr lang="en-GB" sz="1200" b="0" u="none" strike="noStrike" kern="1200" dirty="0">
                <a:solidFill>
                  <a:schemeClr val="tx1"/>
                </a:solidFill>
                <a:effectLst/>
                <a:latin typeface="+mn-lt"/>
                <a:ea typeface="+mn-ea"/>
                <a:cs typeface="+mn-cs"/>
              </a:rPr>
              <a:t> (LLM-id, AI </a:t>
            </a:r>
            <a:r>
              <a:rPr lang="en-GB" sz="1200" b="0" u="none" strike="noStrike" kern="1200" dirty="0" err="1">
                <a:solidFill>
                  <a:schemeClr val="tx1"/>
                </a:solidFill>
                <a:effectLst/>
                <a:latin typeface="+mn-lt"/>
                <a:ea typeface="+mn-ea"/>
                <a:cs typeface="+mn-cs"/>
              </a:rPr>
              <a:t>mudelite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treenimine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R-</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tavaline</a:t>
            </a:r>
            <a:r>
              <a:rPr lang="en-GB" sz="1200" b="0" u="none" strike="noStrike" kern="1200" dirty="0">
                <a:solidFill>
                  <a:schemeClr val="tx1"/>
                </a:solidFill>
                <a:effectLst/>
                <a:latin typeface="+mn-lt"/>
                <a:ea typeface="+mn-ea"/>
                <a:cs typeface="+mn-cs"/>
              </a:rPr>
              <a:t> BI-</a:t>
            </a:r>
            <a:r>
              <a:rPr lang="en-GB" sz="1200" b="0" u="none" strike="noStrike" kern="1200" dirty="0" err="1">
                <a:solidFill>
                  <a:schemeClr val="tx1"/>
                </a:solidFill>
                <a:effectLst/>
                <a:latin typeface="+mn-lt"/>
                <a:ea typeface="+mn-ea"/>
                <a:cs typeface="+mn-cs"/>
              </a:rPr>
              <a:t>raporteerimine</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platvorm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ehitada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otseses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mõttes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iganes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Keeruline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potentsiaalselt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kallis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Hinnastamine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käib</a:t>
            </a:r>
            <a:r>
              <a:rPr lang="en-GB" sz="1200" b="0" u="none" strike="noStrike" kern="1200" dirty="0">
                <a:solidFill>
                  <a:schemeClr val="tx1"/>
                </a:solidFill>
                <a:effectLst/>
                <a:latin typeface="+mn-lt"/>
                <a:ea typeface="+mn-ea"/>
                <a:cs typeface="+mn-cs"/>
              </a:rPr>
              <a:t> DBU (Databricks Unit) </a:t>
            </a:r>
            <a:r>
              <a:rPr lang="en-GB" sz="1200" b="0" u="none" strike="noStrike" kern="1200" dirty="0" err="1">
                <a:solidFill>
                  <a:schemeClr val="tx1"/>
                </a:solidFill>
                <a:effectLst/>
                <a:latin typeface="+mn-lt"/>
                <a:ea typeface="+mn-ea"/>
                <a:cs typeface="+mn-cs"/>
              </a:rPr>
              <a:t>ühikute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pluss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(AWS/Azure/GCP) </a:t>
            </a:r>
            <a:r>
              <a:rPr lang="en-GB" sz="1200" b="0" u="none" strike="noStrike" kern="1200" dirty="0" err="1">
                <a:solidFill>
                  <a:schemeClr val="tx1"/>
                </a:solidFill>
                <a:effectLst/>
                <a:latin typeface="+mn-lt"/>
                <a:ea typeface="+mn-ea"/>
                <a:cs typeface="+mn-cs"/>
              </a:rPr>
              <a:t>virtuaalmasinate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võimsate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masinatega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kontrollimine</a:t>
            </a:r>
            <a:r>
              <a:rPr lang="en-GB" sz="1200" b="0" u="none" strike="noStrike" kern="1200" dirty="0">
                <a:solidFill>
                  <a:schemeClr val="tx1"/>
                </a:solidFill>
                <a:effectLst/>
                <a:latin typeface="+mn-lt"/>
                <a:ea typeface="+mn-ea"/>
                <a:cs typeface="+mn-cs"/>
              </a:rPr>
              <a:t> head </a:t>
            </a:r>
            <a:r>
              <a:rPr lang="en-GB" sz="1200" b="0" u="none" strike="noStrike" kern="1200" dirty="0" err="1">
                <a:solidFill>
                  <a:schemeClr val="tx1"/>
                </a:solidFill>
                <a:effectLst/>
                <a:latin typeface="+mn-lt"/>
                <a:ea typeface="+mn-ea"/>
                <a:cs typeface="+mn-cs"/>
              </a:rPr>
              <a:t>optimeerimist</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FinOps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9"/>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organisatsioonidele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tööl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andmeteadlased</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Data Scientists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andmeinsenerid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eelistavad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kirjutada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Pythonis</a:t>
            </a:r>
            <a:r>
              <a:rPr lang="en-GB" sz="1200" b="0" u="none" strike="noStrike" kern="1200" dirty="0">
                <a:solidFill>
                  <a:schemeClr val="tx1"/>
                </a:solidFill>
                <a:effectLst/>
                <a:latin typeface="+mn-lt"/>
                <a:ea typeface="+mn-ea"/>
                <a:cs typeface="+mn-cs"/>
              </a:rPr>
              <a:t>. Kui </a:t>
            </a:r>
            <a:r>
              <a:rPr lang="en-GB" sz="1200" b="0" u="none" strike="noStrike" kern="1200" dirty="0" err="1">
                <a:solidFill>
                  <a:schemeClr val="tx1"/>
                </a:solidFill>
                <a:effectLst/>
                <a:latin typeface="+mn-lt"/>
                <a:ea typeface="+mn-ea"/>
                <a:cs typeface="+mn-cs"/>
              </a:rPr>
              <a:t>eesmärk</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lisaks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raportitele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ennustavat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AI-</a:t>
            </a:r>
            <a:r>
              <a:rPr lang="en-GB" sz="1200" b="0" u="none" strike="noStrike" kern="1200" dirty="0" err="1">
                <a:solidFill>
                  <a:schemeClr val="tx1"/>
                </a:solidFill>
                <a:effectLst/>
                <a:latin typeface="+mn-lt"/>
                <a:ea typeface="+mn-ea"/>
                <a:cs typeface="+mn-cs"/>
              </a:rPr>
              <a:t>rakendusi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3. Microsoft Fabric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Kõik-ühes</a:t>
            </a:r>
            <a:r>
              <a:rPr lang="en-GB" sz="1200" b="0" u="none" strike="noStrike" kern="1200" dirty="0">
                <a:solidFill>
                  <a:schemeClr val="tx1"/>
                </a:solidFill>
                <a:effectLst/>
                <a:latin typeface="+mn-lt"/>
                <a:ea typeface="+mn-ea"/>
                <a:cs typeface="+mn-cs"/>
              </a:rPr>
              <a:t>" SaaS-</a:t>
            </a:r>
            <a:r>
              <a:rPr lang="en-GB" sz="1200" b="0" u="none" strike="noStrike" kern="1200" dirty="0" err="1">
                <a:solidFill>
                  <a:schemeClr val="tx1"/>
                </a:solidFill>
                <a:effectLst/>
                <a:latin typeface="+mn-lt"/>
                <a:ea typeface="+mn-ea"/>
                <a:cs typeface="+mn-cs"/>
              </a:rPr>
              <a:t>andmeplatvorm</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toob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andmetöötluse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ärikasutajale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lähedale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tihedalt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seotud</a:t>
            </a:r>
            <a:r>
              <a:rPr lang="en-GB" sz="1200" b="0" u="none" strike="noStrike" kern="1200" dirty="0">
                <a:solidFill>
                  <a:schemeClr val="tx1"/>
                </a:solidFill>
                <a:effectLst/>
                <a:latin typeface="+mn-lt"/>
                <a:ea typeface="+mn-ea"/>
                <a:cs typeface="+mn-cs"/>
              </a:rPr>
              <a:t> Power BI-ga. [</a:t>
            </a:r>
            <a:r>
              <a:rPr lang="en-GB" sz="1200" b="0" u="none" strike="noStrike" kern="1200" dirty="0">
                <a:solidFill>
                  <a:schemeClr val="tx1"/>
                </a:solidFill>
                <a:effectLst/>
                <a:latin typeface="+mn-lt"/>
                <a:ea typeface="+mn-ea"/>
                <a:cs typeface="+mn-cs"/>
                <a:hlinkClick r:id="rId10"/>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Võrdlemisi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modernne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Microsoft </a:t>
            </a:r>
            <a:r>
              <a:rPr lang="en-GB" sz="1200" b="0" u="none" strike="noStrike" kern="1200" dirty="0" err="1">
                <a:solidFill>
                  <a:schemeClr val="tx1"/>
                </a:solidFill>
                <a:effectLst/>
                <a:latin typeface="+mn-lt"/>
                <a:ea typeface="+mn-ea"/>
                <a:cs typeface="+mn-cs"/>
              </a:rPr>
              <a:t>tõi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terviklahendusena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hiljuti</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aknaasutusse</a:t>
            </a:r>
            <a:r>
              <a:rPr lang="en-GB" sz="1200" b="0" u="none" strike="noStrike" kern="1200" dirty="0">
                <a:solidFill>
                  <a:schemeClr val="tx1"/>
                </a:solidFill>
                <a:effectLst/>
                <a:latin typeface="+mn-lt"/>
                <a:ea typeface="+mn-ea"/>
                <a:cs typeface="+mn-cs"/>
              </a:rPr>
              <a:t> Azure Synapse, Data Factory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Power BI.</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terve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andmeahela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ulatuses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Fabric </a:t>
            </a:r>
            <a:r>
              <a:rPr lang="en-GB" sz="1200" b="0" u="none" strike="noStrike" kern="1200" dirty="0" err="1">
                <a:solidFill>
                  <a:schemeClr val="tx1"/>
                </a:solidFill>
                <a:effectLst/>
                <a:latin typeface="+mn-lt"/>
                <a:ea typeface="+mn-ea"/>
                <a:cs typeface="+mn-cs"/>
              </a:rPr>
              <a:t>katab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sissetoomise</a:t>
            </a:r>
            <a:r>
              <a:rPr lang="en-GB" sz="1200" b="0" u="none" strike="noStrike" kern="1200" dirty="0">
                <a:solidFill>
                  <a:schemeClr val="tx1"/>
                </a:solidFill>
                <a:effectLst/>
                <a:latin typeface="+mn-lt"/>
                <a:ea typeface="+mn-ea"/>
                <a:cs typeface="+mn-cs"/>
              </a:rPr>
              <a:t> ( pipelines), </a:t>
            </a:r>
            <a:r>
              <a:rPr lang="en-GB" sz="1200" b="0" u="none" strike="noStrike" kern="1200" dirty="0" err="1">
                <a:solidFill>
                  <a:schemeClr val="tx1"/>
                </a:solidFill>
                <a:effectLst/>
                <a:latin typeface="+mn-lt"/>
                <a:ea typeface="+mn-ea"/>
                <a:cs typeface="+mn-cs"/>
              </a:rPr>
              <a:t>andmejärve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SQL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põhjaks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andmefaili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kopeerimata</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Ennustatav</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mahtudel</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põhinev</a:t>
            </a:r>
            <a:r>
              <a:rPr lang="en-GB" sz="1200" b="1" u="none" strike="noStrike" kern="1200" dirty="0">
                <a:solidFill>
                  <a:schemeClr val="tx1"/>
                </a:solidFill>
                <a:effectLst/>
                <a:latin typeface="+mn-lt"/>
                <a:ea typeface="+mn-ea"/>
                <a:cs typeface="+mn-cs"/>
              </a:rPr>
              <a:t> (F-SKU).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Erinevalt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ostetakse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kindel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võimsuspakett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näiteks</a:t>
            </a:r>
            <a:r>
              <a:rPr lang="en-GB" sz="1200" b="0" u="none" strike="noStrike" kern="1200" dirty="0">
                <a:solidFill>
                  <a:schemeClr val="tx1"/>
                </a:solidFill>
                <a:effectLst/>
                <a:latin typeface="+mn-lt"/>
                <a:ea typeface="+mn-ea"/>
                <a:cs typeface="+mn-cs"/>
              </a:rPr>
              <a:t> F2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F64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suurem</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lihtsalt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prognoositavat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kuukulu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finantsjuhtidele</a:t>
            </a:r>
            <a:r>
              <a:rPr lang="en-GB" sz="1200" b="0" u="none" strike="noStrike" kern="1200" dirty="0">
                <a:solidFill>
                  <a:schemeClr val="tx1"/>
                </a:solidFill>
                <a:effectLst/>
                <a:latin typeface="+mn-lt"/>
                <a:ea typeface="+mn-ea"/>
                <a:cs typeface="+mn-cs"/>
              </a:rPr>
              <a:t> (CFO). Alates F64 </a:t>
            </a:r>
            <a:r>
              <a:rPr lang="en-GB" sz="1200" b="0" u="none" strike="noStrike" kern="1200" dirty="0" err="1">
                <a:solidFill>
                  <a:schemeClr val="tx1"/>
                </a:solidFill>
                <a:effectLst/>
                <a:latin typeface="+mn-lt"/>
                <a:ea typeface="+mn-ea"/>
                <a:cs typeface="+mn-cs"/>
              </a:rPr>
              <a:t>paketist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raportite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vaatamine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kogu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tavalist</a:t>
            </a:r>
            <a:r>
              <a:rPr lang="en-GB" sz="1200" b="0" u="none" strike="noStrike" kern="1200" dirty="0">
                <a:solidFill>
                  <a:schemeClr val="tx1"/>
                </a:solidFill>
                <a:effectLst/>
                <a:latin typeface="+mn-lt"/>
                <a:ea typeface="+mn-ea"/>
                <a:cs typeface="+mn-cs"/>
              </a:rPr>
              <a:t> Power BI </a:t>
            </a:r>
            <a:r>
              <a:rPr lang="en-GB" sz="1200" b="0" u="none" strike="noStrike" kern="1200" dirty="0" err="1">
                <a:solidFill>
                  <a:schemeClr val="tx1"/>
                </a:solidFill>
                <a:effectLst/>
                <a:latin typeface="+mn-lt"/>
                <a:ea typeface="+mn-ea"/>
                <a:cs typeface="+mn-cs"/>
              </a:rPr>
              <a:t>litsentsi</a:t>
            </a:r>
            <a:r>
              <a:rPr lang="en-GB" sz="1200" b="0" u="none" strike="noStrike" kern="1200" dirty="0">
                <a:solidFill>
                  <a:schemeClr val="tx1"/>
                </a:solidFill>
                <a:effectLst/>
                <a:latin typeface="+mn-lt"/>
                <a:ea typeface="+mn-ea"/>
                <a:cs typeface="+mn-cs"/>
              </a:rPr>
              <a:t> pole </a:t>
            </a:r>
            <a:r>
              <a:rPr lang="en-GB" sz="1200" b="0" u="none" strike="noStrike" kern="1200" dirty="0" err="1">
                <a:solidFill>
                  <a:schemeClr val="tx1"/>
                </a:solidFill>
                <a:effectLst/>
                <a:latin typeface="+mn-lt"/>
                <a:ea typeface="+mn-ea"/>
                <a:cs typeface="+mn-cs"/>
              </a:rPr>
              <a:t>vaatajatel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on juba </a:t>
            </a:r>
            <a:r>
              <a:rPr lang="en-GB" sz="1200" b="0" u="none" strike="noStrike" kern="1200" dirty="0" err="1">
                <a:solidFill>
                  <a:schemeClr val="tx1"/>
                </a:solidFill>
                <a:effectLst/>
                <a:latin typeface="+mn-lt"/>
                <a:ea typeface="+mn-ea"/>
                <a:cs typeface="+mn-cs"/>
              </a:rPr>
              <a:t>investeerinud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Microsofti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ökosüsteemi</a:t>
            </a:r>
            <a:r>
              <a:rPr lang="en-GB" sz="1200" b="0" u="none" strike="noStrike" kern="1200" dirty="0">
                <a:solidFill>
                  <a:schemeClr val="tx1"/>
                </a:solidFill>
                <a:effectLst/>
                <a:latin typeface="+mn-lt"/>
                <a:ea typeface="+mn-ea"/>
                <a:cs typeface="+mn-cs"/>
              </a:rPr>
              <a:t> (Azure, Office 365)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peamine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raporteerimisvahend</a:t>
            </a:r>
            <a:r>
              <a:rPr lang="en-GB" sz="1200" b="0" u="none" strike="noStrike" kern="1200" dirty="0">
                <a:solidFill>
                  <a:schemeClr val="tx1"/>
                </a:solidFill>
                <a:effectLst/>
                <a:latin typeface="+mn-lt"/>
                <a:ea typeface="+mn-ea"/>
                <a:cs typeface="+mn-cs"/>
              </a:rPr>
              <a:t> on Power BI. See </a:t>
            </a:r>
            <a:r>
              <a:rPr lang="en-GB" sz="1200" b="0" u="none" strike="noStrike" kern="1200" dirty="0" err="1">
                <a:solidFill>
                  <a:schemeClr val="tx1"/>
                </a:solidFill>
                <a:effectLst/>
                <a:latin typeface="+mn-lt"/>
                <a:ea typeface="+mn-ea"/>
                <a:cs typeface="+mn-cs"/>
              </a:rPr>
              <a:t>vähendab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vajadust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integreerida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1"/>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2"/>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3"/>
              </a:rPr>
              <a:t>4</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4"/>
              </a:rPr>
              <a:t>5</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5"/>
              </a:rPr>
              <a:t>6</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7</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4. SAP Analytics Cloud (SAC) / SAP Business Data Cloud</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Ärianalüütika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hoiab</a:t>
            </a:r>
            <a:r>
              <a:rPr lang="en-GB" sz="1200" b="0" u="none" strike="noStrike" kern="1200" dirty="0">
                <a:solidFill>
                  <a:schemeClr val="tx1"/>
                </a:solidFill>
                <a:effectLst/>
                <a:latin typeface="+mn-lt"/>
                <a:ea typeface="+mn-ea"/>
                <a:cs typeface="+mn-cs"/>
              </a:rPr>
              <a:t> SAP ERP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püha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konteksti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väga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spetsiifiline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SAP Analytics Cloud on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olnud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pikalt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võimas</a:t>
            </a:r>
            <a:r>
              <a:rPr lang="en-GB" sz="1200" b="0" u="none" strike="noStrike" kern="1200" dirty="0">
                <a:solidFill>
                  <a:schemeClr val="tx1"/>
                </a:solidFill>
                <a:effectLst/>
                <a:latin typeface="+mn-lt"/>
                <a:ea typeface="+mn-ea"/>
                <a:cs typeface="+mn-cs"/>
              </a:rPr>
              <a:t> BI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uue</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Business Data Cloud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sisaldab</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Datasphere'i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paketiga</a:t>
            </a:r>
            <a:r>
              <a:rPr lang="en-GB" sz="1200" b="0" u="none" strike="noStrike" kern="1200" dirty="0">
                <a:solidFill>
                  <a:schemeClr val="tx1"/>
                </a:solidFill>
                <a:effectLst/>
                <a:latin typeface="+mn-lt"/>
                <a:ea typeface="+mn-ea"/>
                <a:cs typeface="+mn-cs"/>
              </a:rPr>
              <a:t> on tegu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vastusega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pilveajastule</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Ei, see on </a:t>
            </a:r>
            <a:r>
              <a:rPr lang="en-GB" sz="1200" b="1" u="none" strike="noStrike" kern="1200" dirty="0" err="1">
                <a:solidFill>
                  <a:schemeClr val="tx1"/>
                </a:solidFill>
                <a:effectLst/>
                <a:latin typeface="+mn-lt"/>
                <a:ea typeface="+mn-ea"/>
                <a:cs typeface="+mn-cs"/>
              </a:rPr>
              <a:t>fokuseeritud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ärikontekstile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SAC </a:t>
            </a:r>
            <a:r>
              <a:rPr lang="en-GB" sz="1200" b="0" u="none" strike="noStrike" kern="1200" dirty="0" err="1">
                <a:solidFill>
                  <a:schemeClr val="tx1"/>
                </a:solidFill>
                <a:effectLst/>
                <a:latin typeface="+mn-lt"/>
                <a:ea typeface="+mn-ea"/>
                <a:cs typeface="+mn-cs"/>
              </a:rPr>
              <a:t>ei</a:t>
            </a:r>
            <a:r>
              <a:rPr lang="en-GB" sz="1200" b="0" u="none" strike="noStrike" kern="1200" dirty="0">
                <a:solidFill>
                  <a:schemeClr val="tx1"/>
                </a:solidFill>
                <a:effectLst/>
                <a:latin typeface="+mn-lt"/>
                <a:ea typeface="+mn-ea"/>
                <a:cs typeface="+mn-cs"/>
              </a:rPr>
              <a:t> ole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selleks</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sinna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kokku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terabaitide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struktureerimata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pildifaile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IoT </a:t>
            </a:r>
            <a:r>
              <a:rPr lang="en-GB" sz="1200" b="0" u="none" strike="noStrike" kern="1200" dirty="0" err="1">
                <a:solidFill>
                  <a:schemeClr val="tx1"/>
                </a:solidFill>
                <a:effectLst/>
                <a:latin typeface="+mn-lt"/>
                <a:ea typeface="+mn-ea"/>
                <a:cs typeface="+mn-cs"/>
              </a:rPr>
              <a:t>seadmete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Küll</a:t>
            </a:r>
            <a:r>
              <a:rPr lang="en-GB" sz="1200" b="0" u="none" strike="noStrike" kern="1200" dirty="0">
                <a:solidFill>
                  <a:schemeClr val="tx1"/>
                </a:solidFill>
                <a:effectLst/>
                <a:latin typeface="+mn-lt"/>
                <a:ea typeface="+mn-ea"/>
                <a:cs typeface="+mn-cs"/>
              </a:rPr>
              <a:t> aga </a:t>
            </a:r>
            <a:r>
              <a:rPr lang="en-GB" sz="1200" b="0" u="none" strike="noStrike" kern="1200" dirty="0" err="1">
                <a:solidFill>
                  <a:schemeClr val="tx1"/>
                </a:solidFill>
                <a:effectLst/>
                <a:latin typeface="+mn-lt"/>
                <a:ea typeface="+mn-ea"/>
                <a:cs typeface="+mn-cs"/>
              </a:rPr>
              <a:t>võimaldab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teha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puudutab</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äriplaneerimist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eelarvestamist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konsolideerimist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tarneahela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Ettevõtte-taseme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lepingupõhine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mahtude</a:t>
            </a:r>
            <a:r>
              <a:rPr lang="en-GB" sz="1200" b="0" u="none" strike="noStrike" kern="1200" dirty="0">
                <a:solidFill>
                  <a:schemeClr val="tx1"/>
                </a:solidFill>
                <a:effectLst/>
                <a:latin typeface="+mn-lt"/>
                <a:ea typeface="+mn-ea"/>
                <a:cs typeface="+mn-cs"/>
              </a:rPr>
              <a:t> (Capacity Units) </a:t>
            </a:r>
            <a:r>
              <a:rPr lang="en-GB" sz="1200" b="0" u="none" strike="noStrike" kern="1200" dirty="0" err="1">
                <a:solidFill>
                  <a:schemeClr val="tx1"/>
                </a:solidFill>
                <a:effectLst/>
                <a:latin typeface="+mn-lt"/>
                <a:ea typeface="+mn-ea"/>
                <a:cs typeface="+mn-cs"/>
              </a:rPr>
              <a:t>litsentsimudelit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investeeringut</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reeglina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siinsetest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valikutest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kalleim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sisenemislävi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säästab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miljoneid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eurosid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muidu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kuluks</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käsitsi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ümbertegemisele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süsteemides</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keskmistele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tuumikärid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tootmine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laoseis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jooksevad</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SAP S/4HANA </a:t>
            </a:r>
            <a:r>
              <a:rPr lang="en-GB" sz="1200" b="1" u="none" strike="noStrike" kern="1200" dirty="0" err="1">
                <a:solidFill>
                  <a:schemeClr val="tx1"/>
                </a:solidFill>
                <a:effectLst/>
                <a:latin typeface="+mn-lt"/>
                <a:ea typeface="+mn-ea"/>
                <a:cs typeface="+mn-cs"/>
              </a:rPr>
              <a:t>või</a:t>
            </a:r>
            <a:r>
              <a:rPr lang="en-GB" sz="1200" b="1" u="none" strike="noStrike" kern="1200" dirty="0">
                <a:solidFill>
                  <a:schemeClr val="tx1"/>
                </a:solidFill>
                <a:effectLst/>
                <a:latin typeface="+mn-lt"/>
                <a:ea typeface="+mn-ea"/>
                <a:cs typeface="+mn-cs"/>
              </a:rPr>
              <a:t> SAP ECC</a:t>
            </a:r>
            <a:r>
              <a:rPr lang="en-GB" sz="1200" b="0" u="none" strike="noStrike" kern="1200" dirty="0">
                <a:solidFill>
                  <a:schemeClr val="tx1"/>
                </a:solidFill>
                <a:effectLst/>
                <a:latin typeface="+mn-lt"/>
                <a:ea typeface="+mn-ea"/>
                <a:cs typeface="+mn-cs"/>
              </a:rPr>
              <a:t> peal. See on </a:t>
            </a:r>
            <a:r>
              <a:rPr lang="en-GB" sz="1200" b="0" u="none" strike="noStrike" kern="1200" dirty="0" err="1">
                <a:solidFill>
                  <a:schemeClr val="tx1"/>
                </a:solidFill>
                <a:effectLst/>
                <a:latin typeface="+mn-lt"/>
                <a:ea typeface="+mn-ea"/>
                <a:cs typeface="+mn-cs"/>
              </a:rPr>
              <a:t>asendamatu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usaldusväärset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juhtimislauale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kuvatavat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infot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algallikast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dubleerimata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endParaRPr lang="en-GB" dirty="0"/>
          </a:p>
        </p:txBody>
      </p:sp>
      <p:sp>
        <p:nvSpPr>
          <p:cNvPr id="4" name="Slide Number Placeholder 3"/>
          <p:cNvSpPr>
            <a:spLocks noGrp="1"/>
          </p:cNvSpPr>
          <p:nvPr>
            <p:ph type="sldNum" sz="quarter" idx="5"/>
          </p:nvPr>
        </p:nvSpPr>
        <p:spPr/>
        <p:txBody>
          <a:bodyPr/>
          <a:lstStyle/>
          <a:p>
            <a:fld id="{46699514-027B-49BD-8B49-5054CA40ECF4}" type="slidenum">
              <a:rPr lang="en-GB" smtClean="0"/>
              <a:t>10</a:t>
            </a:fld>
            <a:endParaRPr lang="en-GB"/>
          </a:p>
        </p:txBody>
      </p:sp>
    </p:spTree>
    <p:extLst>
      <p:ext uri="{BB962C8B-B14F-4D97-AF65-F5344CB8AC3E}">
        <p14:creationId xmlns:p14="http://schemas.microsoft.com/office/powerpoint/2010/main" val="8518263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_Large_Light">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E130EE5B-F23B-E4DB-13FE-697ED7C6C0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41994"/>
            <a:ext cx="6462712" cy="2694956"/>
          </a:xfrm>
        </p:spPr>
        <p:txBody>
          <a:bodyPr anchor="t" anchorCtr="0">
            <a:noAutofit/>
          </a:bodyPr>
          <a:lstStyle>
            <a:lvl1pPr algn="l">
              <a:lnSpc>
                <a:spcPct val="95000"/>
              </a:lnSpc>
              <a:defRPr sz="6200" b="0">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C2B97D0E-73EB-BAD4-3CFB-2138F7744F0C}"/>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FAE936BE-AA0B-4172-C4F1-90132CA6197C}"/>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bg1"/>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8EEF418A-33E3-0868-30D5-750D58C8D19F}"/>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2" name="Straight Connector 11">
            <a:extLst>
              <a:ext uri="{FF2B5EF4-FFF2-40B4-BE49-F238E27FC236}">
                <a16:creationId xmlns:a16="http://schemas.microsoft.com/office/drawing/2014/main" id="{A7027C4A-BCFD-A430-6EC6-BF9B9906B3A2}"/>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97754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_Large_Dark">
    <p:bg>
      <p:bgPr>
        <a:solidFill>
          <a:schemeClr val="tx2"/>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783386E9-4AC9-AC05-D73C-5748D8B66D1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bg1"/>
                </a:solidFill>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B6226222-9CC4-151E-1D0E-E7E11278D1CA}"/>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467AEF9D-2EDF-226F-7EF8-9900253B468B}"/>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tx2"/>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2E8340A1-A4C3-B4A8-903B-E6AD1C96E552}"/>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6174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_Large_Image">
    <p:bg>
      <p:bgPr>
        <a:solidFill>
          <a:schemeClr val="bg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251259C3-5465-7C2C-BA4A-EF08245C1BE9}"/>
              </a:ext>
            </a:extLst>
          </p:cNvPr>
          <p:cNvSpPr>
            <a:spLocks noGrp="1"/>
          </p:cNvSpPr>
          <p:nvPr>
            <p:ph type="pic" sz="quarter" idx="10" hasCustomPrompt="1"/>
          </p:nvPr>
        </p:nvSpPr>
        <p:spPr>
          <a:xfrm>
            <a:off x="7594600" y="0"/>
            <a:ext cx="4597400" cy="6858000"/>
          </a:xfrm>
          <a:custGeom>
            <a:avLst/>
            <a:gdLst>
              <a:gd name="connsiteX0" fmla="*/ 1535049 w 4597400"/>
              <a:gd name="connsiteY0" fmla="*/ 0 h 6858000"/>
              <a:gd name="connsiteX1" fmla="*/ 4597400 w 4597400"/>
              <a:gd name="connsiteY1" fmla="*/ 0 h 6858000"/>
              <a:gd name="connsiteX2" fmla="*/ 4597400 w 4597400"/>
              <a:gd name="connsiteY2" fmla="*/ 6858000 h 6858000"/>
              <a:gd name="connsiteX3" fmla="*/ 1535049 w 4597400"/>
              <a:gd name="connsiteY3" fmla="*/ 6858000 h 6858000"/>
              <a:gd name="connsiteX4" fmla="*/ 0 w 4597400"/>
              <a:gd name="connsiteY4" fmla="*/ 3429000 h 6858000"/>
              <a:gd name="connsiteX5" fmla="*/ 1535049 w 45974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7400" h="6858000">
                <a:moveTo>
                  <a:pt x="1535049" y="0"/>
                </a:moveTo>
                <a:lnTo>
                  <a:pt x="4597400" y="0"/>
                </a:lnTo>
                <a:lnTo>
                  <a:pt x="4597400" y="6858000"/>
                </a:lnTo>
                <a:lnTo>
                  <a:pt x="1535049" y="6858000"/>
                </a:lnTo>
                <a:cubicBezTo>
                  <a:pt x="593027" y="6016117"/>
                  <a:pt x="0" y="4791837"/>
                  <a:pt x="0" y="3429000"/>
                </a:cubicBezTo>
                <a:cubicBezTo>
                  <a:pt x="0" y="2066163"/>
                  <a:pt x="593027" y="841883"/>
                  <a:pt x="1535049" y="0"/>
                </a:cubicBezTo>
                <a:close/>
              </a:path>
            </a:pathLst>
          </a:custGeom>
          <a:solidFill>
            <a:schemeClr val="accent2"/>
          </a:solidFill>
        </p:spPr>
        <p:txBody>
          <a:bodyPr wrap="square" anchor="ctr" anchorCtr="0">
            <a:noAutofit/>
          </a:bodyPr>
          <a:lstStyle>
            <a:lvl1pPr marL="0" indent="0" algn="ctr">
              <a:buNone/>
              <a:defRPr/>
            </a:lvl1pPr>
          </a:lstStyle>
          <a:p>
            <a:r>
              <a:rPr lang="en-US"/>
              <a:t>Click to add image</a:t>
            </a:r>
          </a:p>
        </p:txBody>
      </p:sp>
      <p:sp>
        <p:nvSpPr>
          <p:cNvPr id="16" name="Text Placeholder 11">
            <a:extLst>
              <a:ext uri="{FF2B5EF4-FFF2-40B4-BE49-F238E27FC236}">
                <a16:creationId xmlns:a16="http://schemas.microsoft.com/office/drawing/2014/main" id="{D6616AE3-7059-CA28-4049-1FD2D926CC2A}"/>
              </a:ext>
            </a:extLst>
          </p:cNvPr>
          <p:cNvSpPr>
            <a:spLocks noGrp="1"/>
          </p:cNvSpPr>
          <p:nvPr>
            <p:ph type="body" sz="quarter" idx="12" hasCustomPrompt="1"/>
          </p:nvPr>
        </p:nvSpPr>
        <p:spPr>
          <a:xfrm>
            <a:off x="9266048" y="841994"/>
            <a:ext cx="2302064" cy="927536"/>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tx1"/>
                </a:solidFill>
                <a:latin typeface="+mj-lt"/>
              </a:defRPr>
            </a:lvl1pPr>
          </a:lstStyle>
          <a:p>
            <a:r>
              <a:rPr lang="en-US"/>
              <a:t>Click to edit </a:t>
            </a:r>
            <a:br>
              <a:rPr lang="en-US"/>
            </a:br>
            <a:r>
              <a:rPr lang="en-US"/>
              <a:t>Master title</a:t>
            </a:r>
            <a:br>
              <a:rPr lang="en-US"/>
            </a:br>
            <a:r>
              <a:rPr lang="en-US"/>
              <a:t>style</a:t>
            </a:r>
          </a:p>
        </p:txBody>
      </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70406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btitle_Light">
    <p:bg>
      <p:bgPr>
        <a:solidFill>
          <a:schemeClr val="bg1"/>
        </a:solidFill>
        <a:effectLst/>
      </p:bgPr>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593005B9-0C6A-A613-72D7-DAD05049A6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4"/>
            <a:ext cx="8208962" cy="2484436"/>
          </a:xfrm>
        </p:spPr>
        <p:txBody>
          <a:bodyPr anchor="t" anchorCtr="0">
            <a:noAutofit/>
          </a:bodyPr>
          <a:lstStyle>
            <a:lvl1pPr algn="l">
              <a:defRPr sz="5400" b="0">
                <a:latin typeface="+mj-lt"/>
              </a:defRPr>
            </a:lvl1pPr>
          </a:lstStyle>
          <a:p>
            <a:r>
              <a:rPr lang="en-US"/>
              <a:t>Click to edit Master title style</a:t>
            </a:r>
          </a:p>
        </p:txBody>
      </p:sp>
      <p:cxnSp>
        <p:nvCxnSpPr>
          <p:cNvPr id="8" name="Straight Connector 7">
            <a:extLst>
              <a:ext uri="{FF2B5EF4-FFF2-40B4-BE49-F238E27FC236}">
                <a16:creationId xmlns:a16="http://schemas.microsoft.com/office/drawing/2014/main" id="{FD94E7AC-F3D3-4E49-AF79-E2577E5DB17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7" y="3536951"/>
            <a:ext cx="8208961" cy="2197099"/>
          </a:xfrm>
        </p:spPr>
        <p:txBody>
          <a:bodyPr anchor="t" anchorCtr="0">
            <a:noAutofit/>
          </a:bodyPr>
          <a:lstStyle>
            <a:lvl1pPr marL="0" indent="0">
              <a:spcBef>
                <a:spcPts val="0"/>
              </a:spcBef>
              <a:buNone/>
              <a:defRPr sz="2200" spc="-20" baseline="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grpSp>
        <p:nvGrpSpPr>
          <p:cNvPr id="7" name="Group 6">
            <a:extLst>
              <a:ext uri="{FF2B5EF4-FFF2-40B4-BE49-F238E27FC236}">
                <a16:creationId xmlns:a16="http://schemas.microsoft.com/office/drawing/2014/main" id="{764FF64E-8497-A211-A371-1EB95CEA8720}"/>
              </a:ext>
            </a:extLst>
          </p:cNvPr>
          <p:cNvGrpSpPr/>
          <p:nvPr userDrawn="1"/>
        </p:nvGrpSpPr>
        <p:grpSpPr>
          <a:xfrm>
            <a:off x="10757948" y="6254276"/>
            <a:ext cx="809030" cy="319556"/>
            <a:chOff x="10757948" y="6254276"/>
            <a:chExt cx="809030" cy="319556"/>
          </a:xfrm>
        </p:grpSpPr>
        <p:sp>
          <p:nvSpPr>
            <p:cNvPr id="5" name="Freeform: Shape 4">
              <a:extLst>
                <a:ext uri="{FF2B5EF4-FFF2-40B4-BE49-F238E27FC236}">
                  <a16:creationId xmlns:a16="http://schemas.microsoft.com/office/drawing/2014/main" id="{08E36BEB-E564-BDC5-2D0E-683B7463D71B}"/>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6" name="Freeform: Shape 5">
              <a:extLst>
                <a:ext uri="{FF2B5EF4-FFF2-40B4-BE49-F238E27FC236}">
                  <a16:creationId xmlns:a16="http://schemas.microsoft.com/office/drawing/2014/main" id="{7A31E304-8E0C-1BA3-DA8A-B2FA8A2B3396}"/>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3757955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btitle_Dark">
    <p:bg>
      <p:bgPr>
        <a:solidFill>
          <a:schemeClr val="tx2"/>
        </a:solidFill>
        <a:effectLst/>
      </p:bgPr>
    </p:bg>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50B63FBE-00C9-95E0-891B-2B4DF7E644F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8" y="3536950"/>
            <a:ext cx="8208962" cy="2197100"/>
          </a:xfrm>
        </p:spPr>
        <p:txBody>
          <a:bodyPr anchor="t" anchorCtr="0">
            <a:noAutofit/>
          </a:bodyPr>
          <a:lstStyle>
            <a:lvl1pPr marL="0" indent="0">
              <a:spcBef>
                <a:spcPts val="0"/>
              </a:spcBef>
              <a:buNone/>
              <a:defRPr sz="22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cxnSp>
        <p:nvCxnSpPr>
          <p:cNvPr id="25" name="Straight Connector 24">
            <a:extLst>
              <a:ext uri="{FF2B5EF4-FFF2-40B4-BE49-F238E27FC236}">
                <a16:creationId xmlns:a16="http://schemas.microsoft.com/office/drawing/2014/main" id="{951A6316-FA00-F7B0-625F-5C5C70FE690C}"/>
              </a:ext>
            </a:extLst>
          </p:cNvPr>
          <p:cNvCxnSpPr>
            <a:cxnSpLocks/>
          </p:cNvCxnSpPr>
          <p:nvPr userDrawn="1"/>
        </p:nvCxnSpPr>
        <p:spPr>
          <a:xfrm>
            <a:off x="623888" y="6414621"/>
            <a:ext cx="9529762"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A294281D-AB6E-C8DE-96BB-CD897F804E48}"/>
              </a:ext>
            </a:extLst>
          </p:cNvPr>
          <p:cNvGrpSpPr/>
          <p:nvPr userDrawn="1"/>
        </p:nvGrpSpPr>
        <p:grpSpPr>
          <a:xfrm>
            <a:off x="10757948" y="6254276"/>
            <a:ext cx="809030" cy="319556"/>
            <a:chOff x="10757948" y="6254276"/>
            <a:chExt cx="809030" cy="319556"/>
          </a:xfrm>
        </p:grpSpPr>
        <p:sp>
          <p:nvSpPr>
            <p:cNvPr id="14" name="Freeform: Shape 13">
              <a:extLst>
                <a:ext uri="{FF2B5EF4-FFF2-40B4-BE49-F238E27FC236}">
                  <a16:creationId xmlns:a16="http://schemas.microsoft.com/office/drawing/2014/main" id="{F1B54EF8-DDA0-DB1B-14AF-6A9C645C1C71}"/>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bg1"/>
            </a:solidFill>
            <a:ln w="241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02959C4-500F-ED38-1509-871D5B4B659B}"/>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574521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_Title">
    <p:bg>
      <p:bgPr>
        <a:solidFill>
          <a:schemeClr val="accent3"/>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19A7D0D-AD55-4BB5-927F-67EB9F19F8BD}"/>
              </a:ext>
            </a:extLst>
          </p:cNvPr>
          <p:cNvSpPr>
            <a:spLocks noGrp="1"/>
          </p:cNvSpPr>
          <p:nvPr>
            <p:ph type="pic" sz="quarter" idx="11" hasCustomPrompt="1"/>
          </p:nvPr>
        </p:nvSpPr>
        <p:spPr>
          <a:xfrm>
            <a:off x="0" y="0"/>
            <a:ext cx="12192000" cy="6858000"/>
          </a:xfrm>
          <a:solidFill>
            <a:schemeClr val="accent2"/>
          </a:solidFill>
        </p:spPr>
        <p:txBody>
          <a:bodyPr anchor="ctr" anchorCtr="0"/>
          <a:lstStyle>
            <a:lvl1pPr marL="0" indent="0" algn="ctr">
              <a:buNone/>
              <a:defRPr/>
            </a:lvl1pPr>
          </a:lstStyle>
          <a:p>
            <a:r>
              <a:rPr lang="en-US"/>
              <a:t>Click to add image</a:t>
            </a:r>
          </a:p>
        </p:txBody>
      </p:sp>
      <p:sp>
        <p:nvSpPr>
          <p:cNvPr id="12" name="Text Placeholder 11">
            <a:extLst>
              <a:ext uri="{FF2B5EF4-FFF2-40B4-BE49-F238E27FC236}">
                <a16:creationId xmlns:a16="http://schemas.microsoft.com/office/drawing/2014/main" id="{7351A01D-54B1-4CD7-8EA9-62E0D922EA0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165258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16" name="Text Placeholder 15">
            <a:extLst>
              <a:ext uri="{FF2B5EF4-FFF2-40B4-BE49-F238E27FC236}">
                <a16:creationId xmlns:a16="http://schemas.microsoft.com/office/drawing/2014/main" id="{C1CAD510-2AAC-48E8-A46D-A29F5F9F0FB6}"/>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720879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_Image_Tigh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479570"/>
            <a:ext cx="5364163" cy="5541818"/>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3"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3"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15" name="Straight Connector 14">
            <a:extLst>
              <a:ext uri="{FF2B5EF4-FFF2-40B4-BE49-F238E27FC236}">
                <a16:creationId xmlns:a16="http://schemas.microsoft.com/office/drawing/2014/main" id="{C3D1EF65-6FC4-E89A-FE48-A37D18ADC94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04C974D7-D7DF-712E-FC1A-80D95C808796}"/>
              </a:ext>
            </a:extLst>
          </p:cNvPr>
          <p:cNvGrpSpPr/>
          <p:nvPr userDrawn="1"/>
        </p:nvGrpSpPr>
        <p:grpSpPr>
          <a:xfrm>
            <a:off x="10757948" y="6254276"/>
            <a:ext cx="809030" cy="319556"/>
            <a:chOff x="10757948" y="6254276"/>
            <a:chExt cx="809030" cy="319556"/>
          </a:xfrm>
        </p:grpSpPr>
        <p:sp>
          <p:nvSpPr>
            <p:cNvPr id="18" name="Freeform: Shape 17">
              <a:extLst>
                <a:ext uri="{FF2B5EF4-FFF2-40B4-BE49-F238E27FC236}">
                  <a16:creationId xmlns:a16="http://schemas.microsoft.com/office/drawing/2014/main" id="{47590D4B-E844-7F04-93D3-6756624DE990}"/>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0A05141D-209F-2213-31A6-104F82A16275}"/>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90418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10941050"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96217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deo">
    <p:bg>
      <p:bgPr>
        <a:solidFill>
          <a:schemeClr val="bg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4" name="Media Placeholder 3">
            <a:extLst>
              <a:ext uri="{FF2B5EF4-FFF2-40B4-BE49-F238E27FC236}">
                <a16:creationId xmlns:a16="http://schemas.microsoft.com/office/drawing/2014/main" id="{526824FB-7844-CE00-34E8-4D129A5A0399}"/>
              </a:ext>
            </a:extLst>
          </p:cNvPr>
          <p:cNvSpPr>
            <a:spLocks noGrp="1" noChangeAspect="1"/>
          </p:cNvSpPr>
          <p:nvPr>
            <p:ph type="media" sz="quarter" idx="10" hasCustomPrompt="1"/>
          </p:nvPr>
        </p:nvSpPr>
        <p:spPr>
          <a:xfrm>
            <a:off x="623888" y="1273729"/>
            <a:ext cx="8440283" cy="4747659"/>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
        <p:nvSpPr>
          <p:cNvPr id="10" name="Title 1">
            <a:extLst>
              <a:ext uri="{FF2B5EF4-FFF2-40B4-BE49-F238E27FC236}">
                <a16:creationId xmlns:a16="http://schemas.microsoft.com/office/drawing/2014/main" id="{0768D58F-8AA8-FB7F-EF48-F29430C08AA2}"/>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11" name="Content Placeholder 3">
            <a:extLst>
              <a:ext uri="{FF2B5EF4-FFF2-40B4-BE49-F238E27FC236}">
                <a16:creationId xmlns:a16="http://schemas.microsoft.com/office/drawing/2014/main" id="{4EC4F1CB-CF46-70C8-F053-0FA68D458420}"/>
              </a:ext>
            </a:extLst>
          </p:cNvPr>
          <p:cNvSpPr>
            <a:spLocks noGrp="1"/>
          </p:cNvSpPr>
          <p:nvPr>
            <p:ph sz="quarter" idx="11" hasCustomPrompt="1"/>
          </p:nvPr>
        </p:nvSpPr>
        <p:spPr>
          <a:xfrm>
            <a:off x="9289144" y="1268413"/>
            <a:ext cx="2275794" cy="4747659"/>
          </a:xfrm>
        </p:spPr>
        <p:txBody>
          <a:bodyPr>
            <a:noAutofit/>
          </a:bodyPr>
          <a:lstStyle>
            <a:lvl1pPr marL="0" indent="0">
              <a:lnSpc>
                <a:spcPct val="110000"/>
              </a:lnSpc>
              <a:buNone/>
              <a:defRPr sz="1600"/>
            </a:lvl1pPr>
            <a:lvl2pPr marL="457200" indent="0">
              <a:lnSpc>
                <a:spcPct val="110000"/>
              </a:lnSpc>
              <a:buNone/>
              <a:defRPr sz="1600"/>
            </a:lvl2pPr>
            <a:lvl3pPr marL="914400" indent="0">
              <a:lnSpc>
                <a:spcPct val="110000"/>
              </a:lnSpc>
              <a:buNone/>
              <a:defRPr sz="1600"/>
            </a:lvl3pPr>
            <a:lvl4pPr marL="1371600" indent="0">
              <a:lnSpc>
                <a:spcPct val="110000"/>
              </a:lnSpc>
              <a:buNone/>
              <a:defRPr sz="1600"/>
            </a:lvl4pPr>
            <a:lvl5pPr marL="1828800" indent="0">
              <a:lnSpc>
                <a:spcPct val="110000"/>
              </a:lnSpc>
              <a:buNone/>
              <a:defRPr sz="1600"/>
            </a:lvl5pPr>
          </a:lstStyle>
          <a:p>
            <a:pPr lvl="0"/>
            <a:r>
              <a:rPr lang="en-US"/>
              <a:t>Click to edit </a:t>
            </a:r>
            <a:r>
              <a:rPr lang="en-US" err="1"/>
              <a:t>contet</a:t>
            </a:r>
            <a:endParaRPr lang="en-US"/>
          </a:p>
        </p:txBody>
      </p:sp>
    </p:spTree>
    <p:extLst>
      <p:ext uri="{BB962C8B-B14F-4D97-AF65-F5344CB8AC3E}">
        <p14:creationId xmlns:p14="http://schemas.microsoft.com/office/powerpoint/2010/main" val="675816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deo_FullScreen">
    <p:bg>
      <p:bgPr>
        <a:solidFill>
          <a:schemeClr val="bg1"/>
        </a:solidFill>
        <a:effectLst/>
      </p:bgPr>
    </p:bg>
    <p:spTree>
      <p:nvGrpSpPr>
        <p:cNvPr id="1" name=""/>
        <p:cNvGrpSpPr/>
        <p:nvPr/>
      </p:nvGrpSpPr>
      <p:grpSpPr>
        <a:xfrm>
          <a:off x="0" y="0"/>
          <a:ext cx="0" cy="0"/>
          <a:chOff x="0" y="0"/>
          <a:chExt cx="0" cy="0"/>
        </a:xfrm>
      </p:grpSpPr>
      <p:sp>
        <p:nvSpPr>
          <p:cNvPr id="4" name="Media Placeholder 3">
            <a:extLst>
              <a:ext uri="{FF2B5EF4-FFF2-40B4-BE49-F238E27FC236}">
                <a16:creationId xmlns:a16="http://schemas.microsoft.com/office/drawing/2014/main" id="{526824FB-7844-CE00-34E8-4D129A5A0399}"/>
              </a:ext>
            </a:extLst>
          </p:cNvPr>
          <p:cNvSpPr>
            <a:spLocks noGrp="1"/>
          </p:cNvSpPr>
          <p:nvPr>
            <p:ph type="media" sz="quarter" idx="10" hasCustomPrompt="1"/>
          </p:nvPr>
        </p:nvSpPr>
        <p:spPr>
          <a:xfrm>
            <a:off x="0" y="0"/>
            <a:ext cx="12191999" cy="6858000"/>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Tree>
    <p:extLst>
      <p:ext uri="{BB962C8B-B14F-4D97-AF65-F5344CB8AC3E}">
        <p14:creationId xmlns:p14="http://schemas.microsoft.com/office/powerpoint/2010/main" val="1519201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2colums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3">
            <a:extLst>
              <a:ext uri="{FF2B5EF4-FFF2-40B4-BE49-F238E27FC236}">
                <a16:creationId xmlns:a16="http://schemas.microsoft.com/office/drawing/2014/main" id="{C970B30A-1A11-111C-7375-C4E28C8B787B}"/>
              </a:ext>
            </a:extLst>
          </p:cNvPr>
          <p:cNvSpPr>
            <a:spLocks noGrp="1"/>
          </p:cNvSpPr>
          <p:nvPr>
            <p:ph sz="quarter" idx="11"/>
          </p:nvPr>
        </p:nvSpPr>
        <p:spPr>
          <a:xfrm>
            <a:off x="6203950" y="1268412"/>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16249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_High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3949" y="1268413"/>
            <a:ext cx="5364163" cy="2052637"/>
          </a:xfrm>
        </p:spPr>
        <p:txBody>
          <a:bodyPr anchor="b" anchorCtr="0">
            <a:noAutofit/>
          </a:bodyPr>
          <a:lstStyle>
            <a:lvl1pPr algn="l">
              <a:defRPr sz="3200" spc="0"/>
            </a:lvl1pPr>
          </a:lstStyle>
          <a:p>
            <a:r>
              <a:rPr lang="en-GB"/>
              <a:t>Click to edit title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03950" y="3536951"/>
            <a:ext cx="5364162" cy="2276020"/>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3" name="Oval 2">
            <a:extLst>
              <a:ext uri="{FF2B5EF4-FFF2-40B4-BE49-F238E27FC236}">
                <a16:creationId xmlns:a16="http://schemas.microsoft.com/office/drawing/2014/main" id="{1C530DF0-5615-D097-6790-1E5B0817F179}"/>
              </a:ext>
            </a:extLst>
          </p:cNvPr>
          <p:cNvSpPr/>
          <p:nvPr userDrawn="1"/>
        </p:nvSpPr>
        <p:spPr>
          <a:xfrm>
            <a:off x="610509" y="832419"/>
            <a:ext cx="5202462" cy="520246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89182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_Conten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0" y="0"/>
            <a:ext cx="5988050" cy="6858000"/>
          </a:xfrm>
          <a:solidFill>
            <a:schemeClr val="accent2"/>
          </a:solidFill>
        </p:spPr>
        <p:txBody>
          <a:bodyPr anchor="ctr" anchorCtr="0"/>
          <a:lstStyle>
            <a:lvl1pPr marL="0" indent="0" algn="ctr">
              <a:buNone/>
              <a:defRPr lang="en-US" dirty="0"/>
            </a:lvl1pPr>
          </a:lstStyle>
          <a:p>
            <a:r>
              <a:rPr lang="en-US"/>
              <a:t>Click to add image</a:t>
            </a:r>
          </a:p>
        </p:txBody>
      </p:sp>
      <p:sp>
        <p:nvSpPr>
          <p:cNvPr id="27" name="Text Placeholder 15">
            <a:extLst>
              <a:ext uri="{FF2B5EF4-FFF2-40B4-BE49-F238E27FC236}">
                <a16:creationId xmlns:a16="http://schemas.microsoft.com/office/drawing/2014/main" id="{5F55AF90-CA6C-9E9E-5C3A-73085481075D}"/>
              </a:ext>
            </a:extLst>
          </p:cNvPr>
          <p:cNvSpPr>
            <a:spLocks noGrp="1"/>
          </p:cNvSpPr>
          <p:nvPr>
            <p:ph type="body" sz="quarter" idx="13" hasCustomPrompt="1"/>
          </p:nvPr>
        </p:nvSpPr>
        <p:spPr>
          <a:xfrm>
            <a:off x="623888" y="6397218"/>
            <a:ext cx="5364162" cy="36000"/>
          </a:xfrm>
          <a:solidFill>
            <a:schemeClr val="bg1"/>
          </a:solidFill>
        </p:spPr>
        <p:txBody>
          <a:bodyPr/>
          <a:lstStyle>
            <a:lvl1pPr marL="0" indent="0">
              <a:buNone/>
              <a:defRPr/>
            </a:lvl1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0644"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00644"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25559187-4E33-B7B4-8D15-856E22A8AD26}"/>
              </a:ext>
            </a:extLst>
          </p:cNvPr>
          <p:cNvCxnSpPr>
            <a:cxnSpLocks/>
          </p:cNvCxnSpPr>
          <p:nvPr userDrawn="1"/>
        </p:nvCxnSpPr>
        <p:spPr>
          <a:xfrm>
            <a:off x="5988050" y="6414621"/>
            <a:ext cx="4165600"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E2C47E56-EDA9-6104-5D9F-C924F8780C79}"/>
              </a:ext>
            </a:extLst>
          </p:cNvPr>
          <p:cNvGrpSpPr/>
          <p:nvPr userDrawn="1"/>
        </p:nvGrpSpPr>
        <p:grpSpPr>
          <a:xfrm>
            <a:off x="10757948" y="6254276"/>
            <a:ext cx="809030" cy="319556"/>
            <a:chOff x="10757948" y="6254276"/>
            <a:chExt cx="809030" cy="319556"/>
          </a:xfrm>
        </p:grpSpPr>
        <p:sp>
          <p:nvSpPr>
            <p:cNvPr id="10" name="Freeform: Shape 9">
              <a:extLst>
                <a:ext uri="{FF2B5EF4-FFF2-40B4-BE49-F238E27FC236}">
                  <a16:creationId xmlns:a16="http://schemas.microsoft.com/office/drawing/2014/main" id="{4DC9CA37-0D36-8191-BBE8-0EBA7F837CA9}"/>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99BCB4D6-D14A-E657-80A8-ADEE68384148}"/>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2932275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_Image">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0"/>
            <a:ext cx="5988050" cy="6858000"/>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4196033E-16B2-F7F6-089E-CB47C4A72E46}"/>
              </a:ext>
            </a:extLst>
          </p:cNvPr>
          <p:cNvCxnSpPr>
            <a:cxnSpLocks/>
          </p:cNvCxnSpPr>
          <p:nvPr userDrawn="1"/>
        </p:nvCxnSpPr>
        <p:spPr>
          <a:xfrm>
            <a:off x="623888" y="6414621"/>
            <a:ext cx="5580062" cy="2054"/>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Text Placeholder 11">
            <a:extLst>
              <a:ext uri="{FF2B5EF4-FFF2-40B4-BE49-F238E27FC236}">
                <a16:creationId xmlns:a16="http://schemas.microsoft.com/office/drawing/2014/main" id="{9C816E65-AE13-D020-EC0E-E5FCD3F98B8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11" name="Text Placeholder 15">
            <a:extLst>
              <a:ext uri="{FF2B5EF4-FFF2-40B4-BE49-F238E27FC236}">
                <a16:creationId xmlns:a16="http://schemas.microsoft.com/office/drawing/2014/main" id="{42FFEC68-013B-C052-8EF2-43EC0E75A696}"/>
              </a:ext>
            </a:extLst>
          </p:cNvPr>
          <p:cNvSpPr>
            <a:spLocks noGrp="1"/>
          </p:cNvSpPr>
          <p:nvPr>
            <p:ph type="body" sz="quarter" idx="13" hasCustomPrompt="1"/>
          </p:nvPr>
        </p:nvSpPr>
        <p:spPr>
          <a:xfrm>
            <a:off x="6203950" y="6396621"/>
            <a:ext cx="3949138"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2406486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_Author">
    <p:bg>
      <p:bgPr>
        <a:solidFill>
          <a:schemeClr val="accent3"/>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2995386" y="4643022"/>
            <a:ext cx="6547755" cy="1236142"/>
          </a:xfrm>
        </p:spPr>
        <p:txBody>
          <a:bodyPr anchor="ctr" anchorCtr="0">
            <a:noAutofit/>
          </a:bodyPr>
          <a:lstStyle>
            <a:lvl1pPr marL="0" indent="0">
              <a:spcBef>
                <a:spcPts val="0"/>
              </a:spcBef>
              <a:buNone/>
              <a:defRPr sz="1800" spc="-20" baseline="0">
                <a:solidFill>
                  <a:schemeClr val="tx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Author</a:t>
            </a:r>
          </a:p>
        </p:txBody>
      </p:sp>
      <p:sp>
        <p:nvSpPr>
          <p:cNvPr id="8" name="Shape">
            <a:extLst>
              <a:ext uri="{FF2B5EF4-FFF2-40B4-BE49-F238E27FC236}">
                <a16:creationId xmlns:a16="http://schemas.microsoft.com/office/drawing/2014/main" id="{3FFCB1E3-6430-7B36-3E4A-D0BCB7E229BA}"/>
              </a:ext>
            </a:extLst>
          </p:cNvPr>
          <p:cNvSpPr/>
          <p:nvPr userDrawn="1"/>
        </p:nvSpPr>
        <p:spPr>
          <a:xfrm rot="10800000">
            <a:off x="623888" y="836612"/>
            <a:ext cx="1723308" cy="1378359"/>
          </a:xfrm>
          <a:custGeom>
            <a:avLst/>
            <a:gdLst/>
            <a:ahLst/>
            <a:cxnLst>
              <a:cxn ang="0">
                <a:pos x="wd2" y="hd2"/>
              </a:cxn>
              <a:cxn ang="5400000">
                <a:pos x="wd2" y="hd2"/>
              </a:cxn>
              <a:cxn ang="10800000">
                <a:pos x="wd2" y="hd2"/>
              </a:cxn>
              <a:cxn ang="16200000">
                <a:pos x="wd2" y="hd2"/>
              </a:cxn>
            </a:cxnLst>
            <a:rect l="0" t="0" r="r" b="b"/>
            <a:pathLst>
              <a:path w="21600" h="21600" extrusionOk="0">
                <a:moveTo>
                  <a:pt x="0" y="10801"/>
                </a:moveTo>
                <a:lnTo>
                  <a:pt x="0" y="21600"/>
                </a:lnTo>
                <a:lnTo>
                  <a:pt x="8640" y="21600"/>
                </a:lnTo>
                <a:lnTo>
                  <a:pt x="8640" y="10801"/>
                </a:lnTo>
                <a:lnTo>
                  <a:pt x="4320" y="10801"/>
                </a:lnTo>
                <a:cubicBezTo>
                  <a:pt x="4320" y="10801"/>
                  <a:pt x="4320" y="5401"/>
                  <a:pt x="8640" y="5401"/>
                </a:cubicBezTo>
                <a:lnTo>
                  <a:pt x="8640" y="0"/>
                </a:lnTo>
                <a:cubicBezTo>
                  <a:pt x="8640" y="0"/>
                  <a:pt x="0" y="0"/>
                  <a:pt x="0" y="10801"/>
                </a:cubicBezTo>
                <a:close/>
                <a:moveTo>
                  <a:pt x="21600" y="5401"/>
                </a:moveTo>
                <a:lnTo>
                  <a:pt x="21600" y="0"/>
                </a:lnTo>
                <a:cubicBezTo>
                  <a:pt x="21600" y="0"/>
                  <a:pt x="12960" y="0"/>
                  <a:pt x="12960" y="10801"/>
                </a:cubicBezTo>
                <a:lnTo>
                  <a:pt x="12960" y="21600"/>
                </a:lnTo>
                <a:lnTo>
                  <a:pt x="21600" y="21600"/>
                </a:lnTo>
                <a:lnTo>
                  <a:pt x="21600" y="10801"/>
                </a:lnTo>
                <a:lnTo>
                  <a:pt x="17280" y="10801"/>
                </a:lnTo>
                <a:cubicBezTo>
                  <a:pt x="17280" y="10801"/>
                  <a:pt x="17280" y="5401"/>
                  <a:pt x="21600" y="5401"/>
                </a:cubicBezTo>
                <a:close/>
              </a:path>
            </a:pathLst>
          </a:custGeom>
          <a:solidFill>
            <a:srgbClr val="FFFFFF"/>
          </a:solidFill>
          <a:ln w="12700">
            <a:miter lim="400000"/>
          </a:ln>
        </p:spPr>
        <p:txBody>
          <a:bodyPr lIns="45719" rIns="45719" anchor="ctr"/>
          <a:lstStyle/>
          <a:p>
            <a:pPr defTabSz="457200">
              <a:lnSpc>
                <a:spcPct val="93000"/>
              </a:lnSpc>
              <a:defRPr sz="1800" cap="none" spc="0">
                <a:solidFill>
                  <a:srgbClr val="000000"/>
                </a:solidFill>
              </a:defRPr>
            </a:pPr>
            <a:endParaRP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1465829" y="1268413"/>
            <a:ext cx="9630569" cy="3114900"/>
          </a:xfrm>
        </p:spPr>
        <p:txBody>
          <a:bodyPr anchor="t" anchorCtr="0">
            <a:noAutofit/>
          </a:bodyPr>
          <a:lstStyle>
            <a:lvl1pPr algn="l">
              <a:lnSpc>
                <a:spcPct val="110000"/>
              </a:lnSpc>
              <a:defRPr sz="2800" b="0" spc="0">
                <a:solidFill>
                  <a:schemeClr val="tx2"/>
                </a:solidFill>
                <a:latin typeface="+mn-lt"/>
              </a:defRPr>
            </a:lvl1pPr>
          </a:lstStyle>
          <a:p>
            <a:r>
              <a:rPr lang="en-US"/>
              <a:t>“Quote”</a:t>
            </a:r>
          </a:p>
        </p:txBody>
      </p:sp>
      <p:cxnSp>
        <p:nvCxnSpPr>
          <p:cNvPr id="9" name="Straight Connector 8">
            <a:extLst>
              <a:ext uri="{FF2B5EF4-FFF2-40B4-BE49-F238E27FC236}">
                <a16:creationId xmlns:a16="http://schemas.microsoft.com/office/drawing/2014/main" id="{71397722-9BD2-656F-AB8C-84A3608F65D9}"/>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AB8C9B42-2591-A853-1CFF-B2BEEAA36BA1}"/>
              </a:ext>
            </a:extLst>
          </p:cNvPr>
          <p:cNvGrpSpPr/>
          <p:nvPr userDrawn="1"/>
        </p:nvGrpSpPr>
        <p:grpSpPr>
          <a:xfrm>
            <a:off x="10757948" y="6254276"/>
            <a:ext cx="809030" cy="319556"/>
            <a:chOff x="10757948" y="6254276"/>
            <a:chExt cx="809030" cy="319556"/>
          </a:xfrm>
        </p:grpSpPr>
        <p:sp>
          <p:nvSpPr>
            <p:cNvPr id="11" name="Freeform: Shape 10">
              <a:extLst>
                <a:ext uri="{FF2B5EF4-FFF2-40B4-BE49-F238E27FC236}">
                  <a16:creationId xmlns:a16="http://schemas.microsoft.com/office/drawing/2014/main" id="{61175848-9909-5007-545C-1F2ADABDCADF}"/>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638E77D-FF10-DFD7-06B6-D5E95101DE44}"/>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13" name="Picture Placeholder 40">
            <a:extLst>
              <a:ext uri="{FF2B5EF4-FFF2-40B4-BE49-F238E27FC236}">
                <a16:creationId xmlns:a16="http://schemas.microsoft.com/office/drawing/2014/main" id="{8E73DA40-056E-A0CA-9CF7-3C985146816E}"/>
              </a:ext>
            </a:extLst>
          </p:cNvPr>
          <p:cNvSpPr>
            <a:spLocks noGrp="1"/>
          </p:cNvSpPr>
          <p:nvPr>
            <p:ph type="pic" sz="quarter" idx="11"/>
          </p:nvPr>
        </p:nvSpPr>
        <p:spPr>
          <a:xfrm>
            <a:off x="1465829"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Tree>
    <p:extLst>
      <p:ext uri="{BB962C8B-B14F-4D97-AF65-F5344CB8AC3E}">
        <p14:creationId xmlns:p14="http://schemas.microsoft.com/office/powerpoint/2010/main" val="4295929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inal_Slide_Imag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Thank you slide</a:t>
            </a:r>
          </a:p>
        </p:txBody>
      </p:sp>
      <p:sp>
        <p:nvSpPr>
          <p:cNvPr id="14" name="Picture Placeholder 40">
            <a:extLst>
              <a:ext uri="{FF2B5EF4-FFF2-40B4-BE49-F238E27FC236}">
                <a16:creationId xmlns:a16="http://schemas.microsoft.com/office/drawing/2014/main" id="{B822B543-F1AB-CFE7-EFFD-248F58696864}"/>
              </a:ext>
            </a:extLst>
          </p:cNvPr>
          <p:cNvSpPr>
            <a:spLocks noGrp="1"/>
          </p:cNvSpPr>
          <p:nvPr>
            <p:ph type="pic" sz="quarter" idx="11"/>
          </p:nvPr>
        </p:nvSpPr>
        <p:spPr>
          <a:xfrm>
            <a:off x="623887"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
        <p:nvSpPr>
          <p:cNvPr id="15" name="Text Placeholder 3">
            <a:extLst>
              <a:ext uri="{FF2B5EF4-FFF2-40B4-BE49-F238E27FC236}">
                <a16:creationId xmlns:a16="http://schemas.microsoft.com/office/drawing/2014/main" id="{E42BC2FA-0D30-5C2F-5931-62B0B5A62B72}"/>
              </a:ext>
            </a:extLst>
          </p:cNvPr>
          <p:cNvSpPr>
            <a:spLocks noGrp="1"/>
          </p:cNvSpPr>
          <p:nvPr>
            <p:ph type="body" sz="quarter" idx="10" hasCustomPrompt="1"/>
          </p:nvPr>
        </p:nvSpPr>
        <p:spPr>
          <a:xfrm>
            <a:off x="2043037" y="4800606"/>
            <a:ext cx="6789813" cy="933444"/>
          </a:xfrm>
        </p:spPr>
        <p:txBody>
          <a:bodyPr anchor="ctr" anchorCtr="0">
            <a:noAutofit/>
          </a:bodyPr>
          <a:lstStyle>
            <a:lvl1pPr marL="0" indent="0">
              <a:spcBef>
                <a:spcPts val="0"/>
              </a:spcBef>
              <a:buNone/>
              <a:defRPr sz="18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name</a:t>
            </a:r>
          </a:p>
        </p:txBody>
      </p:sp>
      <p:sp>
        <p:nvSpPr>
          <p:cNvPr id="7" name="Text Placeholder 11">
            <a:extLst>
              <a:ext uri="{FF2B5EF4-FFF2-40B4-BE49-F238E27FC236}">
                <a16:creationId xmlns:a16="http://schemas.microsoft.com/office/drawing/2014/main" id="{8E6EF1FF-751D-4E83-81CA-AC460BA1FF3C}"/>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9" name="Text Placeholder 15">
            <a:extLst>
              <a:ext uri="{FF2B5EF4-FFF2-40B4-BE49-F238E27FC236}">
                <a16:creationId xmlns:a16="http://schemas.microsoft.com/office/drawing/2014/main" id="{3E7884FD-17EE-C642-8912-0A2B6DE88BD7}"/>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844802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450722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174EC-2D5E-C21A-9C6E-B40D3F70281B}"/>
              </a:ext>
            </a:extLst>
          </p:cNvPr>
          <p:cNvSpPr>
            <a:spLocks noGrp="1"/>
          </p:cNvSpPr>
          <p:nvPr>
            <p:ph type="title"/>
          </p:nvPr>
        </p:nvSpPr>
        <p:spPr/>
        <p:txBody>
          <a:bodyPr/>
          <a:lstStyle/>
          <a:p>
            <a:r>
              <a:rPr lang="en-US"/>
              <a:t>Click to edit Master title style</a:t>
            </a:r>
            <a:endParaRPr lang="et-EE"/>
          </a:p>
        </p:txBody>
      </p:sp>
      <p:sp>
        <p:nvSpPr>
          <p:cNvPr id="3" name="Content Placeholder 2">
            <a:extLst>
              <a:ext uri="{FF2B5EF4-FFF2-40B4-BE49-F238E27FC236}">
                <a16:creationId xmlns:a16="http://schemas.microsoft.com/office/drawing/2014/main" id="{9077E198-26FE-CDB4-0E6E-95B8B27290B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4" name="Date Placeholder 3">
            <a:extLst>
              <a:ext uri="{FF2B5EF4-FFF2-40B4-BE49-F238E27FC236}">
                <a16:creationId xmlns:a16="http://schemas.microsoft.com/office/drawing/2014/main" id="{886F5057-B3F3-2A40-9B41-F7887DE383B9}"/>
              </a:ext>
            </a:extLst>
          </p:cNvPr>
          <p:cNvSpPr>
            <a:spLocks noGrp="1"/>
          </p:cNvSpPr>
          <p:nvPr>
            <p:ph type="dt" sz="half" idx="10"/>
          </p:nvPr>
        </p:nvSpPr>
        <p:spPr/>
        <p:txBody>
          <a:bodyPr/>
          <a:lstStyle/>
          <a:p>
            <a:fld id="{DE840A40-73C8-4048-8140-49F5D65BB431}" type="datetimeFigureOut">
              <a:rPr lang="et-EE" smtClean="0"/>
              <a:t>03.09.2026</a:t>
            </a:fld>
            <a:endParaRPr lang="et-EE"/>
          </a:p>
        </p:txBody>
      </p:sp>
      <p:sp>
        <p:nvSpPr>
          <p:cNvPr id="5" name="Footer Placeholder 4">
            <a:extLst>
              <a:ext uri="{FF2B5EF4-FFF2-40B4-BE49-F238E27FC236}">
                <a16:creationId xmlns:a16="http://schemas.microsoft.com/office/drawing/2014/main" id="{4AF8DFE4-4A97-5B73-A1FA-A4E96048ECC5}"/>
              </a:ext>
            </a:extLst>
          </p:cNvPr>
          <p:cNvSpPr>
            <a:spLocks noGrp="1"/>
          </p:cNvSpPr>
          <p:nvPr>
            <p:ph type="ftr" sz="quarter" idx="11"/>
          </p:nvPr>
        </p:nvSpPr>
        <p:spPr/>
        <p:txBody>
          <a:bodyPr/>
          <a:lstStyle/>
          <a:p>
            <a:endParaRPr lang="et-EE"/>
          </a:p>
        </p:txBody>
      </p:sp>
      <p:sp>
        <p:nvSpPr>
          <p:cNvPr id="6" name="Slide Number Placeholder 5">
            <a:extLst>
              <a:ext uri="{FF2B5EF4-FFF2-40B4-BE49-F238E27FC236}">
                <a16:creationId xmlns:a16="http://schemas.microsoft.com/office/drawing/2014/main" id="{748F87FC-FCC5-92FF-B08A-8FAE7F809946}"/>
              </a:ext>
            </a:extLst>
          </p:cNvPr>
          <p:cNvSpPr>
            <a:spLocks noGrp="1"/>
          </p:cNvSpPr>
          <p:nvPr>
            <p:ph type="sldNum" sz="quarter" idx="12"/>
          </p:nvPr>
        </p:nvSpPr>
        <p:spPr/>
        <p:txBody>
          <a:bodyPr/>
          <a:lstStyle/>
          <a:p>
            <a:fld id="{4760E80D-6AD2-4F09-8BE9-BBDC507698A9}" type="slidenum">
              <a:rPr lang="et-EE" smtClean="0"/>
              <a:t>‹#›</a:t>
            </a:fld>
            <a:endParaRPr lang="et-EE"/>
          </a:p>
        </p:txBody>
      </p:sp>
    </p:spTree>
    <p:extLst>
      <p:ext uri="{BB962C8B-B14F-4D97-AF65-F5344CB8AC3E}">
        <p14:creationId xmlns:p14="http://schemas.microsoft.com/office/powerpoint/2010/main" val="1380957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9A3B80-CD6D-DB45-84E3-24CAFB7A2CFC}"/>
              </a:ext>
            </a:extLst>
          </p:cNvPr>
          <p:cNvSpPr>
            <a:spLocks noGrp="1"/>
          </p:cNvSpPr>
          <p:nvPr>
            <p:ph type="title"/>
          </p:nvPr>
        </p:nvSpPr>
        <p:spPr>
          <a:xfrm>
            <a:off x="623887" y="836613"/>
            <a:ext cx="10944225" cy="1178798"/>
          </a:xfrm>
          <a:prstGeom prst="rect">
            <a:avLst/>
          </a:prstGeom>
        </p:spPr>
        <p:txBody>
          <a:bodyPr vert="horz" lIns="0" tIns="0" rIns="0" bIns="0" rtlCol="0" anchor="t" anchorCtr="0">
            <a:noAutofit/>
          </a:bodyPr>
          <a:lstStyle/>
          <a:p>
            <a:r>
              <a:rPr lang="en-GB"/>
              <a:t>Click to edit Master title style</a:t>
            </a:r>
            <a:endParaRPr lang="en-EE"/>
          </a:p>
        </p:txBody>
      </p:sp>
      <p:sp>
        <p:nvSpPr>
          <p:cNvPr id="3" name="Text Placeholder 2">
            <a:extLst>
              <a:ext uri="{FF2B5EF4-FFF2-40B4-BE49-F238E27FC236}">
                <a16:creationId xmlns:a16="http://schemas.microsoft.com/office/drawing/2014/main" id="{75C2DABE-FC7B-C144-96F1-E13398B7ABAA}"/>
              </a:ext>
            </a:extLst>
          </p:cNvPr>
          <p:cNvSpPr>
            <a:spLocks noGrp="1"/>
          </p:cNvSpPr>
          <p:nvPr>
            <p:ph type="body" idx="1"/>
          </p:nvPr>
        </p:nvSpPr>
        <p:spPr>
          <a:xfrm>
            <a:off x="623887" y="2015411"/>
            <a:ext cx="10944225" cy="4005977"/>
          </a:xfrm>
          <a:prstGeom prst="rect">
            <a:avLst/>
          </a:prstGeom>
        </p:spPr>
        <p:txBody>
          <a:bodyPr vert="horz" lIns="0" tIns="0" rIns="0" bIns="0" rtlCol="0" anchor="t" anchorCtr="0">
            <a:noAutofit/>
          </a:bodyPr>
          <a:lstStyle/>
          <a:p>
            <a:pPr lvl="0"/>
            <a:r>
              <a:rPr lang="en-GB"/>
              <a:t>Click to edit Master text styles</a:t>
            </a:r>
          </a:p>
          <a:p>
            <a:pPr lvl="1"/>
            <a:r>
              <a:rPr lang="en-GB"/>
              <a:t>Second level</a:t>
            </a:r>
          </a:p>
          <a:p>
            <a:pPr lvl="2"/>
            <a:r>
              <a:rPr lang="en-GB"/>
              <a:t>Third level</a:t>
            </a:r>
          </a:p>
          <a:p>
            <a:pPr lvl="3"/>
            <a:r>
              <a:rPr lang="en-GB"/>
              <a:t>Fourth level</a:t>
            </a:r>
            <a:endParaRPr lang="en-EE"/>
          </a:p>
        </p:txBody>
      </p:sp>
    </p:spTree>
    <p:extLst>
      <p:ext uri="{BB962C8B-B14F-4D97-AF65-F5344CB8AC3E}">
        <p14:creationId xmlns:p14="http://schemas.microsoft.com/office/powerpoint/2010/main" val="2764921"/>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72" r:id="rId3"/>
    <p:sldLayoutId id="2147483662" r:id="rId4"/>
    <p:sldLayoutId id="2147483661" r:id="rId5"/>
    <p:sldLayoutId id="2147483664" r:id="rId6"/>
    <p:sldLayoutId id="2147483673" r:id="rId7"/>
    <p:sldLayoutId id="2147483658" r:id="rId8"/>
    <p:sldLayoutId id="2147483674" r:id="rId9"/>
    <p:sldLayoutId id="2147483675" r:id="rId10"/>
    <p:sldLayoutId id="2147483670" r:id="rId11"/>
    <p:sldLayoutId id="2147483676" r:id="rId12"/>
    <p:sldLayoutId id="2147483666" r:id="rId13"/>
    <p:sldLayoutId id="2147483665" r:id="rId14"/>
    <p:sldLayoutId id="2147483669" r:id="rId15"/>
    <p:sldLayoutId id="2147483668" r:id="rId16"/>
    <p:sldLayoutId id="2147483655" r:id="rId17"/>
    <p:sldLayoutId id="2147483677" r:id="rId18"/>
  </p:sldLayoutIdLst>
  <p:txStyles>
    <p:titleStyle>
      <a:lvl1pPr algn="l" defTabSz="914400" rtl="0" eaLnBrk="1" latinLnBrk="0" hangingPunct="1">
        <a:lnSpc>
          <a:spcPct val="90000"/>
        </a:lnSpc>
        <a:spcBef>
          <a:spcPct val="0"/>
        </a:spcBef>
        <a:buNone/>
        <a:defRPr sz="4400" b="0" i="0" kern="1200" spc="-150">
          <a:solidFill>
            <a:schemeClr val="tx1"/>
          </a:solidFill>
          <a:latin typeface="+mj-lt"/>
          <a:ea typeface="Inter Semi Bold" panose="02000503000000020004" pitchFamily="2" charset="0"/>
          <a:cs typeface="Inter Semi Bold" panose="02000503000000020004" pitchFamily="2" charset="0"/>
        </a:defRPr>
      </a:lvl1pPr>
    </p:titleStyle>
    <p:body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2092" userDrawn="1">
          <p15:clr>
            <a:srgbClr val="F26B43"/>
          </p15:clr>
        </p15:guide>
        <p15:guide id="4" orient="horz" pos="2228" userDrawn="1">
          <p15:clr>
            <a:srgbClr val="F26B43"/>
          </p15:clr>
        </p15:guide>
        <p15:guide id="5" orient="horz" pos="3793" userDrawn="1">
          <p15:clr>
            <a:srgbClr val="F26B43"/>
          </p15:clr>
        </p15:guide>
        <p15:guide id="6" orient="horz" pos="799" userDrawn="1">
          <p15:clr>
            <a:srgbClr val="F26B43"/>
          </p15:clr>
        </p15:guide>
        <p15:guide id="7" orient="horz" pos="527" userDrawn="1">
          <p15:clr>
            <a:srgbClr val="F26B43"/>
          </p15:clr>
        </p15:guide>
        <p15:guide id="8" pos="393" userDrawn="1">
          <p15:clr>
            <a:srgbClr val="F26B43"/>
          </p15:clr>
        </p15:guide>
        <p15:guide id="9" pos="2048" userDrawn="1">
          <p15:clr>
            <a:srgbClr val="F26B43"/>
          </p15:clr>
        </p15:guide>
        <p15:guide id="10" pos="2116" userDrawn="1">
          <p15:clr>
            <a:srgbClr val="F26B43"/>
          </p15:clr>
        </p15:guide>
        <p15:guide id="11" pos="2184" userDrawn="1">
          <p15:clr>
            <a:srgbClr val="F26B43"/>
          </p15:clr>
        </p15:guide>
        <p15:guide id="12" pos="3772" userDrawn="1">
          <p15:clr>
            <a:srgbClr val="F26B43"/>
          </p15:clr>
        </p15:guide>
        <p15:guide id="13" pos="3908" userDrawn="1">
          <p15:clr>
            <a:srgbClr val="F26B43"/>
          </p15:clr>
        </p15:guide>
        <p15:guide id="14" pos="5496" userDrawn="1">
          <p15:clr>
            <a:srgbClr val="F26B43"/>
          </p15:clr>
        </p15:guide>
        <p15:guide id="15" pos="5564" userDrawn="1">
          <p15:clr>
            <a:srgbClr val="F26B43"/>
          </p15:clr>
        </p15:guide>
        <p15:guide id="16" pos="5632" userDrawn="1">
          <p15:clr>
            <a:srgbClr val="F26B43"/>
          </p15:clr>
        </p15:guide>
        <p15:guide id="17" pos="7287" userDrawn="1">
          <p15:clr>
            <a:srgbClr val="F26B43"/>
          </p15:clr>
        </p15:guide>
        <p15:guide id="18" orient="horz" pos="3612" userDrawn="1">
          <p15:clr>
            <a:srgbClr val="F26B43"/>
          </p15:clr>
        </p15:guide>
        <p15:guide id="19" orient="horz" pos="404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hyperlink" Target="https://www.gartner.com/en/documents/8062933" TargetMode="External"/><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hyperlink" Target="https://global.fujitsu/et-ee/capabilities/data-driven" TargetMode="External"/><Relationship Id="rId2" Type="http://schemas.openxmlformats.org/officeDocument/2006/relationships/hyperlink" Target="https://netserv.ee/andmeplatvormid/" TargetMode="External"/><Relationship Id="rId1" Type="http://schemas.openxmlformats.org/officeDocument/2006/relationships/slideLayout" Target="../slideLayouts/slideLayout8.xml"/><Relationship Id="rId5" Type="http://schemas.openxmlformats.org/officeDocument/2006/relationships/hyperlink" Target="https://sanobaltic.ee/automatiseeritud-hoonehaldus/" TargetMode="External"/><Relationship Id="rId4" Type="http://schemas.openxmlformats.org/officeDocument/2006/relationships/hyperlink" Target="https://sparklesolutions.ee/andmeplatvorm/"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google.com/goto?url=CAESfgHrOzAVPkwOe8ip7oSIvY6eqi8m830OD9ov5CE5--33dGv4RZY4E8A5s3vIGDYEPJQafju6f6-SBFd8J0H506G68iEPlomis75HtZfsMZEHz7tcYrQUTF3ED-Wb-OXvAQM7doGTeeI0DF72vTeTCjzbZ6wu1eEX83B5CCUDfw"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hyperlink" Target="https://www.sap.com/products/data-cloud/what-is-sap-business-data-cloud.html" TargetMode="External"/><Relationship Id="rId2" Type="http://schemas.openxmlformats.org/officeDocument/2006/relationships/hyperlink" Target="https://www.sap.com/products/data-cloud.html" TargetMode="Externa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hyperlink" Target="https://app.liigume.ee/api/activities" TargetMode="Externa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1.xml"/><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382D4282-6F49-4A70-83AA-7E8F5DD56DC2}"/>
              </a:ext>
            </a:extLst>
          </p:cNvPr>
          <p:cNvSpPr>
            <a:spLocks noGrp="1"/>
          </p:cNvSpPr>
          <p:nvPr>
            <p:ph type="ctrTitle"/>
          </p:nvPr>
        </p:nvSpPr>
        <p:spPr>
          <a:xfrm>
            <a:off x="623888" y="836613"/>
            <a:ext cx="6255884" cy="4897438"/>
          </a:xfrm>
        </p:spPr>
        <p:txBody>
          <a:bodyPr/>
          <a:lstStyle/>
          <a:p>
            <a:pPr>
              <a:lnSpc>
                <a:spcPct val="90000"/>
              </a:lnSpc>
            </a:pPr>
            <a:r>
              <a:rPr lang="en-US">
                <a:cs typeface="Poppins SemiBold"/>
              </a:rPr>
              <a:t>Vali </a:t>
            </a:r>
            <a:r>
              <a:rPr lang="en-US" err="1">
                <a:cs typeface="Poppins SemiBold"/>
              </a:rPr>
              <a:t>Andmetarkus</a:t>
            </a:r>
            <a:r>
              <a:rPr lang="en-US">
                <a:cs typeface="Poppins SemiBold"/>
              </a:rPr>
              <a:t>!</a:t>
            </a:r>
            <a:endParaRPr lang="en-US"/>
          </a:p>
        </p:txBody>
      </p:sp>
      <p:sp>
        <p:nvSpPr>
          <p:cNvPr id="5" name="Text Placeholder 7">
            <a:extLst>
              <a:ext uri="{FF2B5EF4-FFF2-40B4-BE49-F238E27FC236}">
                <a16:creationId xmlns:a16="http://schemas.microsoft.com/office/drawing/2014/main" id="{3496B8E7-2B01-285F-88ED-B3ADE66A3D31}"/>
              </a:ext>
            </a:extLst>
          </p:cNvPr>
          <p:cNvSpPr txBox="1">
            <a:spLocks/>
          </p:cNvSpPr>
          <p:nvPr/>
        </p:nvSpPr>
        <p:spPr>
          <a:xfrm>
            <a:off x="2645677" y="3645338"/>
            <a:ext cx="6897763" cy="933444"/>
          </a:xfrm>
          <a:prstGeom prst="rect">
            <a:avLst/>
          </a:prstGeom>
        </p:spPr>
        <p:txBody>
          <a:bodyPr lIns="91440" tIns="45720" rIns="91440" bIns="45720" anchor="t"/>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ea typeface="Inter"/>
              </a:rPr>
              <a:t>Emilie Abel</a:t>
            </a:r>
            <a:endParaRPr lang="en-US" dirty="0"/>
          </a:p>
          <a:p>
            <a:r>
              <a:rPr lang="en-US" dirty="0">
                <a:ea typeface="Inter"/>
              </a:rPr>
              <a:t>eilime@live.com</a:t>
            </a:r>
          </a:p>
          <a:p>
            <a:endParaRPr lang="en-US" dirty="0"/>
          </a:p>
        </p:txBody>
      </p:sp>
    </p:spTree>
    <p:extLst>
      <p:ext uri="{BB962C8B-B14F-4D97-AF65-F5344CB8AC3E}">
        <p14:creationId xmlns:p14="http://schemas.microsoft.com/office/powerpoint/2010/main" val="41692919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102E-2C7C-3DA0-3040-25DF46FB2E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604C40-604F-EE8D-CE1F-13061981E5FD}"/>
              </a:ext>
            </a:extLst>
          </p:cNvPr>
          <p:cNvSpPr>
            <a:spLocks noGrp="1"/>
          </p:cNvSpPr>
          <p:nvPr>
            <p:ph type="ctrTitle"/>
          </p:nvPr>
        </p:nvSpPr>
        <p:spPr/>
        <p:txBody>
          <a:bodyPr/>
          <a:lstStyle/>
          <a:p>
            <a:r>
              <a:rPr lang="en-US" sz="3600" b="1" dirty="0" err="1">
                <a:ea typeface="+mj-lt"/>
                <a:cs typeface="+mj-lt"/>
              </a:rPr>
              <a:t>Päevakava</a:t>
            </a:r>
            <a:r>
              <a:rPr lang="en-US" sz="3600" b="1" dirty="0">
                <a:ea typeface="+mj-lt"/>
                <a:cs typeface="+mj-lt"/>
              </a:rPr>
              <a:t> - XIII </a:t>
            </a:r>
            <a:r>
              <a:rPr lang="en-US" sz="3600" b="1" dirty="0" err="1">
                <a:ea typeface="+mj-lt"/>
                <a:cs typeface="+mj-lt"/>
              </a:rPr>
              <a:t>päev</a:t>
            </a:r>
            <a:endParaRPr lang="en-US" dirty="0"/>
          </a:p>
        </p:txBody>
      </p:sp>
      <p:graphicFrame>
        <p:nvGraphicFramePr>
          <p:cNvPr id="5" name="Content Placeholder 4">
            <a:extLst>
              <a:ext uri="{FF2B5EF4-FFF2-40B4-BE49-F238E27FC236}">
                <a16:creationId xmlns:a16="http://schemas.microsoft.com/office/drawing/2014/main" id="{55940A91-7988-118D-B25F-D4B87AC08E94}"/>
              </a:ext>
            </a:extLst>
          </p:cNvPr>
          <p:cNvGraphicFramePr>
            <a:graphicFrameLocks noGrp="1"/>
          </p:cNvGraphicFramePr>
          <p:nvPr>
            <p:ph sz="quarter" idx="10"/>
            <p:extLst>
              <p:ext uri="{D42A27DB-BD31-4B8C-83A1-F6EECF244321}">
                <p14:modId xmlns:p14="http://schemas.microsoft.com/office/powerpoint/2010/main" val="3463504013"/>
              </p:ext>
            </p:extLst>
          </p:nvPr>
        </p:nvGraphicFramePr>
        <p:xfrm>
          <a:off x="623888" y="1268413"/>
          <a:ext cx="10941050" cy="4130739"/>
        </p:xfrm>
        <a:graphic>
          <a:graphicData uri="http://schemas.openxmlformats.org/drawingml/2006/table">
            <a:tbl>
              <a:tblPr bandRow="1">
                <a:tableStyleId>{5C22544A-7EE6-4342-B048-85BDC9FD1C3A}</a:tableStyleId>
              </a:tblPr>
              <a:tblGrid>
                <a:gridCol w="10941050">
                  <a:extLst>
                    <a:ext uri="{9D8B030D-6E8A-4147-A177-3AD203B41FA5}">
                      <a16:colId xmlns:a16="http://schemas.microsoft.com/office/drawing/2014/main" val="2658458823"/>
                    </a:ext>
                  </a:extLst>
                </a:gridCol>
              </a:tblGrid>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09:00 – 10:30 – </a:t>
                      </a:r>
                      <a:r>
                        <a:rPr lang="en-US" sz="2400" b="0" i="0" dirty="0" err="1">
                          <a:solidFill>
                            <a:srgbClr val="121212"/>
                          </a:solidFill>
                          <a:effectLst/>
                          <a:latin typeface="Inter"/>
                        </a:rPr>
                        <a:t>Koolitus</a:t>
                      </a:r>
                      <a:r>
                        <a:rPr lang="en-US" sz="2400" b="0" i="0" dirty="0">
                          <a:solidFill>
                            <a:srgbClr val="121212"/>
                          </a:solidFill>
                          <a:effectLst/>
                          <a:latin typeface="Inter"/>
                        </a:rPr>
                        <a:t> </a:t>
                      </a:r>
                      <a:r>
                        <a:rPr lang="en-US" sz="2400" b="0" i="0" dirty="0" err="1">
                          <a:solidFill>
                            <a:srgbClr val="121212"/>
                          </a:solidFill>
                          <a:effectLst/>
                          <a:latin typeface="Inter"/>
                        </a:rPr>
                        <a:t>Harjutuse</a:t>
                      </a:r>
                      <a:r>
                        <a:rPr lang="en-US" sz="2400" b="0" i="0" dirty="0">
                          <a:solidFill>
                            <a:srgbClr val="121212"/>
                          </a:solidFill>
                          <a:effectLst/>
                          <a:latin typeface="Inter"/>
                        </a:rPr>
                        <a:t> </a:t>
                      </a:r>
                      <a:r>
                        <a:rPr lang="en-US" sz="2400" b="0" i="0" dirty="0" err="1">
                          <a:solidFill>
                            <a:srgbClr val="121212"/>
                          </a:solidFill>
                          <a:effectLst/>
                          <a:latin typeface="Inter"/>
                        </a:rPr>
                        <a:t>jätk</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770797639"/>
                  </a:ext>
                </a:extLst>
              </a:tr>
              <a:tr h="578675">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10:30 – 10:45 –  Paus</a:t>
                      </a: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834182460"/>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10:45 – 12:15 – </a:t>
                      </a:r>
                      <a:r>
                        <a:rPr lang="en-US" sz="2400" b="0" i="0" dirty="0" err="1">
                          <a:solidFill>
                            <a:srgbClr val="121212"/>
                          </a:solidFill>
                          <a:effectLst/>
                          <a:latin typeface="Inter"/>
                        </a:rPr>
                        <a:t>Koolitus</a:t>
                      </a:r>
                      <a:r>
                        <a:rPr lang="en-US" sz="2400" b="0" i="0" dirty="0">
                          <a:solidFill>
                            <a:srgbClr val="121212"/>
                          </a:solidFill>
                          <a:effectLst/>
                          <a:latin typeface="Inter"/>
                        </a:rPr>
                        <a:t> – </a:t>
                      </a:r>
                      <a:r>
                        <a:rPr lang="en-US" sz="1800" b="0" i="0" dirty="0" err="1">
                          <a:solidFill>
                            <a:srgbClr val="121212"/>
                          </a:solidFill>
                          <a:effectLst/>
                          <a:latin typeface="+mn-lt"/>
                        </a:rPr>
                        <a:t>Harjutuse</a:t>
                      </a:r>
                      <a:r>
                        <a:rPr lang="en-US" sz="1800" b="0" i="0" dirty="0">
                          <a:solidFill>
                            <a:srgbClr val="121212"/>
                          </a:solidFill>
                          <a:effectLst/>
                          <a:latin typeface="+mn-lt"/>
                        </a:rPr>
                        <a:t> </a:t>
                      </a:r>
                      <a:r>
                        <a:rPr lang="en-US" sz="1800" b="0" i="0" dirty="0" err="1">
                          <a:solidFill>
                            <a:srgbClr val="121212"/>
                          </a:solidFill>
                          <a:effectLst/>
                          <a:latin typeface="+mn-lt"/>
                        </a:rPr>
                        <a:t>jätk</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59305373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12:15 – 13:15 – </a:t>
                      </a:r>
                      <a:r>
                        <a:rPr lang="en-US" sz="2400" b="0" i="0" u="none" strike="noStrike" noProof="0" err="1">
                          <a:solidFill>
                            <a:srgbClr val="121212"/>
                          </a:solidFill>
                          <a:effectLst/>
                          <a:latin typeface="Inter"/>
                        </a:rPr>
                        <a:t>Lõunapaus</a:t>
                      </a:r>
                      <a:r>
                        <a:rPr lang="en-US" sz="2400" b="0" i="0" u="none" strike="noStrike" noProof="0">
                          <a:solidFill>
                            <a:srgbClr val="121212"/>
                          </a:solidFill>
                          <a:effectLst/>
                          <a:latin typeface="Inter"/>
                        </a:rPr>
                        <a:t> </a:t>
                      </a:r>
                      <a:endParaRPr lang="en-US" b="0" i="0" u="none" strike="noStrike" noProof="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228820743"/>
                  </a:ext>
                </a:extLst>
              </a:tr>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13:15 – 14:45 – </a:t>
                      </a:r>
                      <a:r>
                        <a:rPr lang="en-US" sz="2400" b="0" i="0" dirty="0" err="1">
                          <a:solidFill>
                            <a:srgbClr val="121212"/>
                          </a:solidFill>
                          <a:effectLst/>
                          <a:latin typeface="Inter"/>
                        </a:rPr>
                        <a:t>Koolitus</a:t>
                      </a:r>
                      <a:r>
                        <a:rPr lang="en-US" sz="2400" b="0" i="0" dirty="0">
                          <a:solidFill>
                            <a:srgbClr val="121212"/>
                          </a:solidFill>
                          <a:effectLst/>
                          <a:latin typeface="Inter"/>
                        </a:rPr>
                        <a:t> </a:t>
                      </a:r>
                      <a:r>
                        <a:rPr lang="en-US" sz="2400" b="0" i="0" dirty="0">
                          <a:solidFill>
                            <a:srgbClr val="121212"/>
                          </a:solidFill>
                          <a:effectLst/>
                          <a:latin typeface="+mn-lt"/>
                        </a:rPr>
                        <a:t>- </a:t>
                      </a:r>
                      <a:r>
                        <a:rPr lang="en-US" sz="2400" b="0" i="0" dirty="0" err="1">
                          <a:solidFill>
                            <a:srgbClr val="121212"/>
                          </a:solidFill>
                          <a:effectLst/>
                          <a:latin typeface="+mn-lt"/>
                        </a:rPr>
                        <a:t>Andmeplatvormid</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19624087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14:45 – 15:00 – Paus </a:t>
                      </a:r>
                      <a:endParaRPr lang="en-US" b="0" i="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1284357369"/>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15:00 – 16:30 – </a:t>
                      </a:r>
                      <a:r>
                        <a:rPr lang="en-US" sz="2400" b="0" i="0" dirty="0" err="1">
                          <a:solidFill>
                            <a:srgbClr val="121212"/>
                          </a:solidFill>
                          <a:effectLst/>
                          <a:latin typeface="Inter"/>
                        </a:rPr>
                        <a:t>Koolitus</a:t>
                      </a:r>
                      <a:r>
                        <a:rPr lang="en-US" sz="2400" b="0" i="0" dirty="0">
                          <a:solidFill>
                            <a:srgbClr val="121212"/>
                          </a:solidFill>
                          <a:effectLst/>
                          <a:latin typeface="Inter"/>
                        </a:rPr>
                        <a:t> -</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5178246"/>
                  </a:ext>
                </a:extLst>
              </a:tr>
            </a:tbl>
          </a:graphicData>
        </a:graphic>
      </p:graphicFrame>
    </p:spTree>
    <p:extLst>
      <p:ext uri="{BB962C8B-B14F-4D97-AF65-F5344CB8AC3E}">
        <p14:creationId xmlns:p14="http://schemas.microsoft.com/office/powerpoint/2010/main" val="2440097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FC5CE-A86E-2C25-A523-60886BCF90C2}"/>
              </a:ext>
            </a:extLst>
          </p:cNvPr>
          <p:cNvSpPr>
            <a:spLocks noGrp="1"/>
          </p:cNvSpPr>
          <p:nvPr>
            <p:ph type="ctrTitle"/>
          </p:nvPr>
        </p:nvSpPr>
        <p:spPr/>
        <p:txBody>
          <a:bodyPr/>
          <a:lstStyle/>
          <a:p>
            <a:r>
              <a:rPr lang="et-EE" dirty="0"/>
              <a:t>Analüütika tööriistad</a:t>
            </a:r>
          </a:p>
        </p:txBody>
      </p:sp>
      <p:pic>
        <p:nvPicPr>
          <p:cNvPr id="5" name="Content Placeholder 4">
            <a:extLst>
              <a:ext uri="{FF2B5EF4-FFF2-40B4-BE49-F238E27FC236}">
                <a16:creationId xmlns:a16="http://schemas.microsoft.com/office/drawing/2014/main" id="{35847BED-B49D-0578-55ED-2D0E5185BA33}"/>
              </a:ext>
            </a:extLst>
          </p:cNvPr>
          <p:cNvPicPr>
            <a:picLocks noGrp="1" noChangeAspect="1"/>
          </p:cNvPicPr>
          <p:nvPr>
            <p:ph sz="quarter" idx="10"/>
          </p:nvPr>
        </p:nvPicPr>
        <p:blipFill>
          <a:blip r:embed="rId2"/>
          <a:stretch>
            <a:fillRect/>
          </a:stretch>
        </p:blipFill>
        <p:spPr>
          <a:xfrm>
            <a:off x="6939035" y="1428895"/>
            <a:ext cx="4807671" cy="2154236"/>
          </a:xfrm>
          <a:prstGeom prst="rect">
            <a:avLst/>
          </a:prstGeom>
        </p:spPr>
      </p:pic>
      <p:sp>
        <p:nvSpPr>
          <p:cNvPr id="10" name="TextBox 9">
            <a:extLst>
              <a:ext uri="{FF2B5EF4-FFF2-40B4-BE49-F238E27FC236}">
                <a16:creationId xmlns:a16="http://schemas.microsoft.com/office/drawing/2014/main" id="{5C512E55-6C78-7865-4698-186463745653}"/>
              </a:ext>
            </a:extLst>
          </p:cNvPr>
          <p:cNvSpPr txBox="1"/>
          <p:nvPr/>
        </p:nvSpPr>
        <p:spPr>
          <a:xfrm>
            <a:off x="445294" y="1101077"/>
            <a:ext cx="6097190" cy="4708981"/>
          </a:xfrm>
          <a:prstGeom prst="rect">
            <a:avLst/>
          </a:prstGeom>
          <a:noFill/>
        </p:spPr>
        <p:txBody>
          <a:bodyPr wrap="square">
            <a:spAutoFit/>
          </a:bodyPr>
          <a:lstStyle/>
          <a:p>
            <a:pPr>
              <a:buNone/>
            </a:pPr>
            <a:r>
              <a:rPr lang="et-EE" sz="1400" b="1" dirty="0">
                <a:effectLst/>
              </a:rPr>
              <a:t>📈 Peamised turuliidrid ja positsioonid</a:t>
            </a:r>
          </a:p>
          <a:p>
            <a:pPr marL="0" marR="0">
              <a:spcBef>
                <a:spcPts val="1200"/>
              </a:spcBef>
              <a:spcAft>
                <a:spcPts val="1200"/>
              </a:spcAft>
              <a:buNone/>
            </a:pPr>
            <a:r>
              <a:rPr lang="et-EE" sz="1400" b="0" dirty="0">
                <a:effectLst/>
              </a:rPr>
              <a:t>Vastavalt värskeimatele </a:t>
            </a:r>
            <a:r>
              <a:rPr lang="et-EE" sz="1400" b="0" dirty="0">
                <a:effectLst/>
                <a:hlinkClick r:id="rId3"/>
              </a:rPr>
              <a:t>Gartner Magic Quadrant (2026) </a:t>
            </a:r>
            <a:r>
              <a:rPr lang="et-EE" sz="1400" b="0" dirty="0">
                <a:effectLst/>
              </a:rPr>
              <a:t>ülevaadetele ja turu-uuringutele jagunevad platvormid selgelt järgmiselt: </a:t>
            </a:r>
          </a:p>
          <a:p>
            <a:pPr marL="342900" lvl="0" indent="-342900">
              <a:buFont typeface="Arial" panose="020B0604020202020204" pitchFamily="34" charset="0"/>
              <a:buChar char="•"/>
            </a:pPr>
            <a:r>
              <a:rPr lang="et-EE" sz="1400" b="1" dirty="0">
                <a:effectLst/>
              </a:rPr>
              <a:t>Microsoft (Power BI):</a:t>
            </a:r>
            <a:r>
              <a:rPr lang="et-EE" sz="1400" dirty="0"/>
              <a:t> Turu kindel valitseja (omab umbes </a:t>
            </a:r>
            <a:r>
              <a:rPr lang="et-EE" sz="1400" b="1" dirty="0">
                <a:effectLst/>
              </a:rPr>
              <a:t>23% kogu maailma BI turuosast</a:t>
            </a:r>
            <a:r>
              <a:rPr lang="et-EE" sz="1400" dirty="0"/>
              <a:t>). Tänu sujuvale integratsioonile Microsoft 365, Azure'i ja pilveplatvormiga Fabric on see saanud ettevõtete jaoks standardlahenduseks. </a:t>
            </a:r>
          </a:p>
          <a:p>
            <a:pPr marL="342900" lvl="0" indent="-342900">
              <a:buFont typeface="Arial" panose="020B0604020202020204" pitchFamily="34" charset="0"/>
              <a:buChar char="•"/>
            </a:pPr>
            <a:r>
              <a:rPr lang="et-EE" sz="1400" b="1" dirty="0">
                <a:effectLst/>
              </a:rPr>
              <a:t>Salesforce (Tableau):</a:t>
            </a:r>
            <a:r>
              <a:rPr lang="et-EE" sz="1400" dirty="0"/>
              <a:t> Püsib tugevalt teisel kohal. Kuigi Tableau pakub endiselt turu parimat visuaalset paindlikkust, on paljud ettevõtted hakanud sellest eemale liikuma Power BI poole, kuna Tableau litsentsid on oluliselt kallimad ja keerulisemalt hallatavad.</a:t>
            </a:r>
          </a:p>
          <a:p>
            <a:pPr marL="342900" lvl="0" indent="-342900">
              <a:buFont typeface="Arial" panose="020B0604020202020204" pitchFamily="34" charset="0"/>
              <a:buChar char="•"/>
            </a:pPr>
            <a:r>
              <a:rPr lang="et-EE" sz="1400" b="1" dirty="0">
                <a:effectLst/>
              </a:rPr>
              <a:t>Google (Looker / Looker Studio):</a:t>
            </a:r>
            <a:r>
              <a:rPr lang="et-EE" sz="1400" dirty="0"/>
              <a:t> Kindlustanud koha esikolmikus, olles eriti populaarne digiturundajate, veebianalüütikute ja idufirmade seas tänu oma tasuta Looker Studio versioonile ning heale integratsioonile Google Cloudiga.</a:t>
            </a:r>
          </a:p>
          <a:p>
            <a:pPr marL="342900" lvl="0" indent="-342900">
              <a:buFont typeface="Arial" panose="020B0604020202020204" pitchFamily="34" charset="0"/>
              <a:buChar char="•"/>
            </a:pPr>
            <a:r>
              <a:rPr lang="et-EE" sz="1400" b="1" dirty="0">
                <a:effectLst/>
              </a:rPr>
              <a:t>Tõusvad tähed (Visionäärid):</a:t>
            </a:r>
            <a:r>
              <a:rPr lang="et-EE" sz="1400" dirty="0"/>
              <a:t> Suurt kasvu ja tähelepanu näitavad pilvepõhised uue põlvkonna tööriistad nagu </a:t>
            </a:r>
            <a:r>
              <a:rPr lang="et-EE" sz="1400" b="1" dirty="0">
                <a:effectLst/>
              </a:rPr>
              <a:t>ThoughtSpot</a:t>
            </a:r>
            <a:r>
              <a:rPr lang="et-EE" sz="1400" dirty="0"/>
              <a:t> (otsingupõhine analüütika), </a:t>
            </a:r>
            <a:r>
              <a:rPr lang="et-EE" sz="1400" b="1" dirty="0">
                <a:effectLst/>
              </a:rPr>
              <a:t>Sigma Computing</a:t>
            </a:r>
            <a:r>
              <a:rPr lang="et-EE" sz="1400" dirty="0"/>
              <a:t> (Exceli-laadne pilveanalüütika) ja andmelao hiiglane </a:t>
            </a:r>
            <a:r>
              <a:rPr lang="et-EE" sz="1400" b="1" dirty="0">
                <a:effectLst/>
              </a:rPr>
              <a:t>Databricks</a:t>
            </a:r>
            <a:r>
              <a:rPr lang="et-EE" sz="1400" dirty="0"/>
              <a:t>, mis tegi hiljuti eduka debüüdi otse Gartneri visonääride sektsioonis.</a:t>
            </a:r>
          </a:p>
        </p:txBody>
      </p:sp>
      <p:sp>
        <p:nvSpPr>
          <p:cNvPr id="12" name="TextBox 11">
            <a:extLst>
              <a:ext uri="{FF2B5EF4-FFF2-40B4-BE49-F238E27FC236}">
                <a16:creationId xmlns:a16="http://schemas.microsoft.com/office/drawing/2014/main" id="{DF23DA5E-F67C-0188-A6D1-59ABD20C2413}"/>
              </a:ext>
            </a:extLst>
          </p:cNvPr>
          <p:cNvSpPr txBox="1"/>
          <p:nvPr/>
        </p:nvSpPr>
        <p:spPr>
          <a:xfrm>
            <a:off x="6939035" y="4025939"/>
            <a:ext cx="3409355" cy="646331"/>
          </a:xfrm>
          <a:prstGeom prst="rect">
            <a:avLst/>
          </a:prstGeom>
          <a:noFill/>
        </p:spPr>
        <p:txBody>
          <a:bodyPr wrap="square">
            <a:spAutoFit/>
          </a:bodyPr>
          <a:lstStyle/>
          <a:p>
            <a:pPr marL="0" lvl="0" indent="0" algn="l" rtl="0" fontAlgn="base">
              <a:buFont typeface="Arial" panose="020B0604020202020204" pitchFamily="34" charset="0"/>
              <a:buNone/>
            </a:pPr>
            <a:r>
              <a:rPr lang="et-EE" sz="1200" b="0" i="0" dirty="0">
                <a:solidFill>
                  <a:srgbClr val="121212"/>
                </a:solidFill>
                <a:effectLst/>
                <a:latin typeface="Inter"/>
              </a:rPr>
              <a:t>Veel</a:t>
            </a:r>
          </a:p>
          <a:p>
            <a:pPr marL="457200" lvl="1" indent="0" algn="l" rtl="0" fontAlgn="base">
              <a:buFont typeface="Arial" panose="020B0604020202020204" pitchFamily="34" charset="0"/>
              <a:buNone/>
            </a:pPr>
            <a:r>
              <a:rPr lang="et-EE" sz="1200" b="0" i="0" dirty="0">
                <a:solidFill>
                  <a:srgbClr val="121212"/>
                </a:solidFill>
                <a:effectLst/>
                <a:latin typeface="Inter"/>
              </a:rPr>
              <a:t>QlickSense</a:t>
            </a:r>
          </a:p>
          <a:p>
            <a:pPr marL="457200" lvl="1" indent="0" algn="l" rtl="0" fontAlgn="base">
              <a:buFont typeface="Arial" panose="020B0604020202020204" pitchFamily="34" charset="0"/>
              <a:buNone/>
            </a:pPr>
            <a:r>
              <a:rPr lang="et-EE" sz="1200" b="0" i="0" dirty="0">
                <a:solidFill>
                  <a:srgbClr val="121212"/>
                </a:solidFill>
                <a:effectLst/>
                <a:latin typeface="Inter"/>
              </a:rPr>
              <a:t>SAP Analytics CLoud</a:t>
            </a:r>
          </a:p>
        </p:txBody>
      </p:sp>
    </p:spTree>
    <p:extLst>
      <p:ext uri="{BB962C8B-B14F-4D97-AF65-F5344CB8AC3E}">
        <p14:creationId xmlns:p14="http://schemas.microsoft.com/office/powerpoint/2010/main" val="1136034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D77C63-45B8-623F-4ED4-6CF348E6C941}"/>
              </a:ext>
            </a:extLst>
          </p:cNvPr>
          <p:cNvSpPr>
            <a:spLocks noGrp="1"/>
          </p:cNvSpPr>
          <p:nvPr>
            <p:ph type="ctrTitle"/>
          </p:nvPr>
        </p:nvSpPr>
        <p:spPr/>
        <p:txBody>
          <a:bodyPr/>
          <a:lstStyle/>
          <a:p>
            <a:r>
              <a:rPr lang="et-EE" dirty="0"/>
              <a:t>Analüütika tööriistade hinnad</a:t>
            </a:r>
          </a:p>
        </p:txBody>
      </p:sp>
      <p:sp>
        <p:nvSpPr>
          <p:cNvPr id="3" name="Content Placeholder 2">
            <a:extLst>
              <a:ext uri="{FF2B5EF4-FFF2-40B4-BE49-F238E27FC236}">
                <a16:creationId xmlns:a16="http://schemas.microsoft.com/office/drawing/2014/main" id="{EAF93876-F3D4-CFF6-60B7-18BFBE276462}"/>
              </a:ext>
            </a:extLst>
          </p:cNvPr>
          <p:cNvSpPr>
            <a:spLocks noGrp="1"/>
          </p:cNvSpPr>
          <p:nvPr>
            <p:ph sz="quarter" idx="10"/>
          </p:nvPr>
        </p:nvSpPr>
        <p:spPr/>
        <p:txBody>
          <a:bodyPr/>
          <a:lstStyle/>
          <a:p>
            <a:endParaRPr lang="et-EE"/>
          </a:p>
        </p:txBody>
      </p:sp>
      <p:pic>
        <p:nvPicPr>
          <p:cNvPr id="5" name="Picture 4">
            <a:extLst>
              <a:ext uri="{FF2B5EF4-FFF2-40B4-BE49-F238E27FC236}">
                <a16:creationId xmlns:a16="http://schemas.microsoft.com/office/drawing/2014/main" id="{0A690823-B0C9-6F0E-A856-4C8DA395EAD7}"/>
              </a:ext>
            </a:extLst>
          </p:cNvPr>
          <p:cNvPicPr>
            <a:picLocks noChangeAspect="1"/>
          </p:cNvPicPr>
          <p:nvPr/>
        </p:nvPicPr>
        <p:blipFill>
          <a:blip r:embed="rId2"/>
          <a:stretch>
            <a:fillRect/>
          </a:stretch>
        </p:blipFill>
        <p:spPr>
          <a:xfrm>
            <a:off x="462984" y="1268413"/>
            <a:ext cx="5488883" cy="4650581"/>
          </a:xfrm>
          <a:prstGeom prst="rect">
            <a:avLst/>
          </a:prstGeom>
        </p:spPr>
      </p:pic>
    </p:spTree>
    <p:extLst>
      <p:ext uri="{BB962C8B-B14F-4D97-AF65-F5344CB8AC3E}">
        <p14:creationId xmlns:p14="http://schemas.microsoft.com/office/powerpoint/2010/main" val="243261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C4DE1-A6F9-CBD0-A821-AEF276D6F270}"/>
              </a:ext>
            </a:extLst>
          </p:cNvPr>
          <p:cNvSpPr>
            <a:spLocks noGrp="1"/>
          </p:cNvSpPr>
          <p:nvPr>
            <p:ph type="ctrTitle"/>
          </p:nvPr>
        </p:nvSpPr>
        <p:spPr/>
        <p:txBody>
          <a:bodyPr/>
          <a:lstStyle/>
          <a:p>
            <a:r>
              <a:rPr lang="en-GB" dirty="0"/>
              <a:t>Kas Power BI </a:t>
            </a:r>
            <a:r>
              <a:rPr lang="en-GB" dirty="0" err="1"/>
              <a:t>või</a:t>
            </a:r>
            <a:r>
              <a:rPr lang="en-GB" dirty="0"/>
              <a:t> on </a:t>
            </a:r>
            <a:r>
              <a:rPr lang="en-GB" dirty="0" err="1"/>
              <a:t>midagi</a:t>
            </a:r>
            <a:r>
              <a:rPr lang="en-GB" dirty="0"/>
              <a:t> </a:t>
            </a:r>
            <a:r>
              <a:rPr lang="en-GB" dirty="0" err="1"/>
              <a:t>veel</a:t>
            </a:r>
            <a:r>
              <a:rPr lang="en-GB" dirty="0"/>
              <a:t> </a:t>
            </a:r>
            <a:r>
              <a:rPr lang="en-GB" dirty="0" err="1"/>
              <a:t>vaja</a:t>
            </a:r>
            <a:r>
              <a:rPr lang="en-GB" dirty="0"/>
              <a:t>?</a:t>
            </a:r>
          </a:p>
        </p:txBody>
      </p:sp>
      <p:sp>
        <p:nvSpPr>
          <p:cNvPr id="3" name="Content Placeholder 2">
            <a:extLst>
              <a:ext uri="{FF2B5EF4-FFF2-40B4-BE49-F238E27FC236}">
                <a16:creationId xmlns:a16="http://schemas.microsoft.com/office/drawing/2014/main" id="{DD8B7FC9-3E2B-102B-6B3B-920AA4E1DFD1}"/>
              </a:ext>
            </a:extLst>
          </p:cNvPr>
          <p:cNvSpPr>
            <a:spLocks noGrp="1"/>
          </p:cNvSpPr>
          <p:nvPr>
            <p:ph sz="quarter" idx="10"/>
          </p:nvPr>
        </p:nvSpPr>
        <p:spPr>
          <a:xfrm>
            <a:off x="623888" y="1268413"/>
            <a:ext cx="5472112" cy="4465637"/>
          </a:xfrm>
        </p:spPr>
        <p:txBody>
          <a:bodyPr/>
          <a:lstStyle/>
          <a:p>
            <a:pPr>
              <a:lnSpc>
                <a:spcPct val="100000"/>
              </a:lnSpc>
            </a:pPr>
            <a:r>
              <a:rPr lang="en-GB" sz="1400" dirty="0"/>
              <a:t>Valik </a:t>
            </a:r>
            <a:r>
              <a:rPr lang="en-GB" sz="1400" dirty="0" err="1"/>
              <a:t>puhta</a:t>
            </a:r>
            <a:r>
              <a:rPr lang="en-GB" sz="1400" dirty="0"/>
              <a:t> Power BI </a:t>
            </a:r>
            <a:r>
              <a:rPr lang="en-GB" sz="1400" dirty="0" err="1"/>
              <a:t>ja</a:t>
            </a:r>
            <a:r>
              <a:rPr lang="en-GB" sz="1400" dirty="0"/>
              <a:t> Microsoft </a:t>
            </a:r>
            <a:r>
              <a:rPr lang="en-GB" sz="1400" dirty="0" err="1"/>
              <a:t>Fabricu</a:t>
            </a:r>
            <a:r>
              <a:rPr lang="en-GB" sz="1400" dirty="0"/>
              <a:t> </a:t>
            </a:r>
            <a:r>
              <a:rPr lang="en-GB" sz="1400" dirty="0" err="1"/>
              <a:t>vahel</a:t>
            </a:r>
            <a:r>
              <a:rPr lang="en-GB" sz="1400" dirty="0"/>
              <a:t> </a:t>
            </a:r>
            <a:r>
              <a:rPr lang="en-GB" sz="1400" dirty="0" err="1"/>
              <a:t>taandub</a:t>
            </a:r>
            <a:r>
              <a:rPr lang="en-GB" sz="1400" dirty="0"/>
              <a:t> </a:t>
            </a:r>
            <a:r>
              <a:rPr lang="en-GB" sz="1400" dirty="0" err="1"/>
              <a:t>sellele</a:t>
            </a:r>
            <a:r>
              <a:rPr lang="en-GB" sz="1400" dirty="0"/>
              <a:t>, </a:t>
            </a:r>
            <a:r>
              <a:rPr lang="en-GB" sz="1400" b="1" dirty="0" err="1"/>
              <a:t>kus</a:t>
            </a:r>
            <a:r>
              <a:rPr lang="en-GB" sz="1400" b="1" dirty="0"/>
              <a:t> </a:t>
            </a:r>
            <a:r>
              <a:rPr lang="en-GB" sz="1400" b="1" dirty="0" err="1"/>
              <a:t>te</a:t>
            </a:r>
            <a:r>
              <a:rPr lang="en-GB" sz="1400" b="1" dirty="0"/>
              <a:t> </a:t>
            </a:r>
            <a:r>
              <a:rPr lang="en-GB" sz="1400" b="1" dirty="0" err="1"/>
              <a:t>andmeid</a:t>
            </a:r>
            <a:r>
              <a:rPr lang="en-GB" sz="1400" b="1" dirty="0"/>
              <a:t> </a:t>
            </a:r>
            <a:r>
              <a:rPr lang="en-GB" sz="1400" b="1" dirty="0" err="1"/>
              <a:t>töötlete</a:t>
            </a:r>
            <a:r>
              <a:rPr lang="en-GB" sz="1400" b="1" dirty="0"/>
              <a:t> </a:t>
            </a:r>
            <a:r>
              <a:rPr lang="en-GB" sz="1400" b="1" dirty="0" err="1"/>
              <a:t>ja</a:t>
            </a:r>
            <a:r>
              <a:rPr lang="en-GB" sz="1400" b="1" dirty="0"/>
              <a:t> </a:t>
            </a:r>
            <a:r>
              <a:rPr lang="en-GB" sz="1400" b="1" dirty="0" err="1"/>
              <a:t>kui</a:t>
            </a:r>
            <a:r>
              <a:rPr lang="en-GB" sz="1400" b="1" dirty="0"/>
              <a:t> </a:t>
            </a:r>
            <a:r>
              <a:rPr lang="en-GB" sz="1400" b="1" dirty="0" err="1"/>
              <a:t>keerulised</a:t>
            </a:r>
            <a:r>
              <a:rPr lang="en-GB" sz="1400" b="1" dirty="0"/>
              <a:t> on </a:t>
            </a:r>
            <a:r>
              <a:rPr lang="en-GB" sz="1400" b="1" dirty="0" err="1"/>
              <a:t>teie</a:t>
            </a:r>
            <a:r>
              <a:rPr lang="en-GB" sz="1400" b="1" dirty="0"/>
              <a:t> </a:t>
            </a:r>
            <a:r>
              <a:rPr lang="en-GB" sz="1400" b="1" dirty="0" err="1"/>
              <a:t>andmeallikad</a:t>
            </a:r>
            <a:r>
              <a:rPr lang="en-GB" sz="1400" dirty="0"/>
              <a:t>.</a:t>
            </a:r>
          </a:p>
          <a:p>
            <a:pPr>
              <a:lnSpc>
                <a:spcPct val="100000"/>
              </a:lnSpc>
            </a:pPr>
            <a:r>
              <a:rPr lang="en-GB" sz="1400" dirty="0" err="1"/>
              <a:t>Valige</a:t>
            </a:r>
            <a:r>
              <a:rPr lang="en-GB" sz="1400" dirty="0"/>
              <a:t> </a:t>
            </a:r>
            <a:r>
              <a:rPr lang="en-GB" sz="1400" dirty="0" err="1"/>
              <a:t>puhas</a:t>
            </a:r>
            <a:r>
              <a:rPr lang="en-GB" sz="1400" dirty="0"/>
              <a:t> Power BI </a:t>
            </a:r>
            <a:r>
              <a:rPr lang="en-GB" sz="1400" dirty="0" err="1"/>
              <a:t>siis</a:t>
            </a:r>
            <a:r>
              <a:rPr lang="en-GB" sz="1400" dirty="0"/>
              <a:t>, </a:t>
            </a:r>
            <a:r>
              <a:rPr lang="en-GB" sz="1400" dirty="0" err="1"/>
              <a:t>kui</a:t>
            </a:r>
            <a:r>
              <a:rPr lang="en-GB" sz="1400" dirty="0"/>
              <a:t> </a:t>
            </a:r>
            <a:r>
              <a:rPr lang="en-GB" sz="1400" dirty="0" err="1"/>
              <a:t>teie</a:t>
            </a:r>
            <a:r>
              <a:rPr lang="en-GB" sz="1400" dirty="0"/>
              <a:t> </a:t>
            </a:r>
            <a:r>
              <a:rPr lang="en-GB" sz="1400" dirty="0" err="1"/>
              <a:t>andmetöötluse</a:t>
            </a:r>
            <a:r>
              <a:rPr lang="en-GB" sz="1400" dirty="0"/>
              <a:t> </a:t>
            </a:r>
            <a:r>
              <a:rPr lang="en-GB" sz="1400" dirty="0" err="1"/>
              <a:t>ahel</a:t>
            </a:r>
            <a:r>
              <a:rPr lang="en-GB" sz="1400" dirty="0"/>
              <a:t> on </a:t>
            </a:r>
            <a:r>
              <a:rPr lang="en-GB" sz="1400" dirty="0" err="1"/>
              <a:t>lühike</a:t>
            </a:r>
            <a:r>
              <a:rPr lang="en-GB" sz="1400" dirty="0"/>
              <a:t> </a:t>
            </a:r>
            <a:r>
              <a:rPr lang="en-GB" sz="1400" dirty="0" err="1"/>
              <a:t>ja</a:t>
            </a:r>
            <a:r>
              <a:rPr lang="en-GB" sz="1400" dirty="0"/>
              <a:t> </a:t>
            </a:r>
            <a:r>
              <a:rPr lang="en-GB" sz="1400" dirty="0" err="1"/>
              <a:t>lihtne</a:t>
            </a:r>
            <a:r>
              <a:rPr lang="en-GB" sz="1400" dirty="0"/>
              <a:t>.</a:t>
            </a:r>
          </a:p>
          <a:p>
            <a:pPr lvl="0">
              <a:lnSpc>
                <a:spcPct val="100000"/>
              </a:lnSpc>
            </a:pPr>
            <a:r>
              <a:rPr lang="en-GB" sz="1400" b="1" dirty="0" err="1"/>
              <a:t>Otseühendus</a:t>
            </a:r>
            <a:r>
              <a:rPr lang="en-GB" sz="1400" b="1" dirty="0"/>
              <a:t> </a:t>
            </a:r>
            <a:r>
              <a:rPr lang="en-GB" sz="1400" b="1" dirty="0" err="1"/>
              <a:t>ühte</a:t>
            </a:r>
            <a:r>
              <a:rPr lang="en-GB" sz="1400" b="1" dirty="0"/>
              <a:t> </a:t>
            </a:r>
            <a:r>
              <a:rPr lang="en-GB" sz="1400" b="1" dirty="0" err="1"/>
              <a:t>süsteemi</a:t>
            </a:r>
            <a:r>
              <a:rPr lang="en-GB" sz="1400" b="1" dirty="0"/>
              <a:t>:</a:t>
            </a:r>
            <a:r>
              <a:rPr lang="en-GB" sz="1400" dirty="0"/>
              <a:t> </a:t>
            </a:r>
            <a:r>
              <a:rPr lang="en-GB" sz="1400" dirty="0" err="1"/>
              <a:t>Te</a:t>
            </a:r>
            <a:r>
              <a:rPr lang="en-GB" sz="1400" dirty="0"/>
              <a:t> </a:t>
            </a:r>
            <a:r>
              <a:rPr lang="en-GB" sz="1400" dirty="0" err="1"/>
              <a:t>ühendate</a:t>
            </a:r>
            <a:r>
              <a:rPr lang="en-GB" sz="1400" dirty="0"/>
              <a:t> Power BI </a:t>
            </a:r>
            <a:r>
              <a:rPr lang="en-GB" sz="1400" dirty="0" err="1"/>
              <a:t>otse</a:t>
            </a:r>
            <a:r>
              <a:rPr lang="en-GB" sz="1400" dirty="0"/>
              <a:t> </a:t>
            </a:r>
            <a:r>
              <a:rPr lang="en-GB" sz="1400" dirty="0" err="1"/>
              <a:t>oma</a:t>
            </a:r>
            <a:r>
              <a:rPr lang="en-GB" sz="1400" dirty="0"/>
              <a:t> </a:t>
            </a:r>
            <a:r>
              <a:rPr lang="en-GB" sz="1400" dirty="0" err="1"/>
              <a:t>raamatupidamistarkvaraga</a:t>
            </a:r>
            <a:r>
              <a:rPr lang="en-GB" sz="1400" dirty="0"/>
              <a:t> (</a:t>
            </a:r>
            <a:r>
              <a:rPr lang="en-GB" sz="1400" dirty="0" err="1"/>
              <a:t>nt</a:t>
            </a:r>
            <a:r>
              <a:rPr lang="en-GB" sz="1400" dirty="0"/>
              <a:t> Merit </a:t>
            </a:r>
            <a:r>
              <a:rPr lang="en-GB" sz="1400" dirty="0" err="1"/>
              <a:t>Aktiva</a:t>
            </a:r>
            <a:r>
              <a:rPr lang="en-GB" sz="1400" dirty="0"/>
              <a:t>, Directo </a:t>
            </a:r>
            <a:r>
              <a:rPr lang="en-GB" sz="1400" dirty="0" err="1"/>
              <a:t>või</a:t>
            </a:r>
            <a:r>
              <a:rPr lang="en-GB" sz="1400" dirty="0"/>
              <a:t> Microsoft Business Central) </a:t>
            </a:r>
            <a:r>
              <a:rPr lang="en-GB" sz="1400" dirty="0" err="1"/>
              <a:t>ning</a:t>
            </a:r>
            <a:r>
              <a:rPr lang="en-GB" sz="1400" dirty="0"/>
              <a:t> </a:t>
            </a:r>
            <a:r>
              <a:rPr lang="en-GB" sz="1400" dirty="0" err="1"/>
              <a:t>selle</a:t>
            </a:r>
            <a:r>
              <a:rPr lang="en-GB" sz="1400" dirty="0"/>
              <a:t> </a:t>
            </a:r>
            <a:r>
              <a:rPr lang="en-GB" sz="1400" dirty="0" err="1"/>
              <a:t>süsteemi</a:t>
            </a:r>
            <a:r>
              <a:rPr lang="en-GB" sz="1400" dirty="0"/>
              <a:t> </a:t>
            </a:r>
            <a:r>
              <a:rPr lang="en-GB" sz="1400" dirty="0" err="1"/>
              <a:t>andmemudel</a:t>
            </a:r>
            <a:r>
              <a:rPr lang="en-GB" sz="1400" dirty="0"/>
              <a:t> on </a:t>
            </a:r>
            <a:r>
              <a:rPr lang="en-GB" sz="1400" dirty="0" err="1"/>
              <a:t>raporti</a:t>
            </a:r>
            <a:r>
              <a:rPr lang="en-GB" sz="1400" dirty="0"/>
              <a:t> </a:t>
            </a:r>
            <a:r>
              <a:rPr lang="en-GB" sz="1400" dirty="0" err="1"/>
              <a:t>jaoks</a:t>
            </a:r>
            <a:r>
              <a:rPr lang="en-GB" sz="1400" dirty="0"/>
              <a:t> juba </a:t>
            </a:r>
            <a:r>
              <a:rPr lang="en-GB" sz="1400" dirty="0" err="1"/>
              <a:t>piisavalt</a:t>
            </a:r>
            <a:r>
              <a:rPr lang="en-GB" sz="1400" dirty="0"/>
              <a:t> </a:t>
            </a:r>
            <a:r>
              <a:rPr lang="en-GB" sz="1400" dirty="0" err="1"/>
              <a:t>hea</a:t>
            </a:r>
            <a:r>
              <a:rPr lang="en-GB" sz="1400" dirty="0"/>
              <a:t>.</a:t>
            </a:r>
          </a:p>
          <a:p>
            <a:pPr lvl="0">
              <a:lnSpc>
                <a:spcPct val="100000"/>
              </a:lnSpc>
            </a:pPr>
            <a:r>
              <a:rPr lang="en-GB" sz="1400" b="1" dirty="0" err="1"/>
              <a:t>Exceli</a:t>
            </a:r>
            <a:r>
              <a:rPr lang="en-GB" sz="1400" b="1" dirty="0"/>
              <a:t> </a:t>
            </a:r>
            <a:r>
              <a:rPr lang="en-GB" sz="1400" b="1" dirty="0" err="1"/>
              <a:t>ja</a:t>
            </a:r>
            <a:r>
              <a:rPr lang="en-GB" sz="1400" b="1" dirty="0"/>
              <a:t> </a:t>
            </a:r>
            <a:r>
              <a:rPr lang="en-GB" sz="1400" b="1" dirty="0" err="1"/>
              <a:t>failide</a:t>
            </a:r>
            <a:r>
              <a:rPr lang="en-GB" sz="1400" b="1" dirty="0"/>
              <a:t> </a:t>
            </a:r>
            <a:r>
              <a:rPr lang="en-GB" sz="1400" b="1" dirty="0" err="1"/>
              <a:t>analüüs</a:t>
            </a:r>
            <a:r>
              <a:rPr lang="en-GB" sz="1400" b="1" dirty="0"/>
              <a:t>:</a:t>
            </a:r>
            <a:r>
              <a:rPr lang="en-GB" sz="1400" dirty="0"/>
              <a:t> </a:t>
            </a:r>
            <a:r>
              <a:rPr lang="en-GB" sz="1400" dirty="0" err="1"/>
              <a:t>Teie</a:t>
            </a:r>
            <a:r>
              <a:rPr lang="en-GB" sz="1400" dirty="0"/>
              <a:t> </a:t>
            </a:r>
            <a:r>
              <a:rPr lang="en-GB" sz="1400" dirty="0" err="1"/>
              <a:t>põhilised</a:t>
            </a:r>
            <a:r>
              <a:rPr lang="en-GB" sz="1400" dirty="0"/>
              <a:t> </a:t>
            </a:r>
            <a:r>
              <a:rPr lang="en-GB" sz="1400" dirty="0" err="1"/>
              <a:t>andmed</a:t>
            </a:r>
            <a:r>
              <a:rPr lang="en-GB" sz="1400" dirty="0"/>
              <a:t> on </a:t>
            </a:r>
            <a:r>
              <a:rPr lang="en-GB" sz="1400" dirty="0" err="1"/>
              <a:t>mõned</a:t>
            </a:r>
            <a:r>
              <a:rPr lang="en-GB" sz="1400" dirty="0"/>
              <a:t> </a:t>
            </a:r>
            <a:r>
              <a:rPr lang="en-GB" sz="1400" dirty="0" err="1"/>
              <a:t>suured</a:t>
            </a:r>
            <a:r>
              <a:rPr lang="en-GB" sz="1400" dirty="0"/>
              <a:t> </a:t>
            </a:r>
            <a:r>
              <a:rPr lang="en-GB" sz="1400" dirty="0" err="1"/>
              <a:t>Exceli</a:t>
            </a:r>
            <a:r>
              <a:rPr lang="en-GB" sz="1400" dirty="0"/>
              <a:t> </a:t>
            </a:r>
            <a:r>
              <a:rPr lang="en-GB" sz="1400" dirty="0" err="1"/>
              <a:t>tabelid</a:t>
            </a:r>
            <a:r>
              <a:rPr lang="en-GB" sz="1400" dirty="0"/>
              <a:t> </a:t>
            </a:r>
            <a:r>
              <a:rPr lang="en-GB" sz="1400" dirty="0" err="1"/>
              <a:t>või</a:t>
            </a:r>
            <a:r>
              <a:rPr lang="en-GB" sz="1400" dirty="0"/>
              <a:t> </a:t>
            </a:r>
            <a:r>
              <a:rPr lang="en-GB" sz="1400" dirty="0" err="1"/>
              <a:t>kohalikud</a:t>
            </a:r>
            <a:r>
              <a:rPr lang="en-GB" sz="1400" dirty="0"/>
              <a:t> SQL-</a:t>
            </a:r>
            <a:r>
              <a:rPr lang="en-GB" sz="1400" dirty="0" err="1"/>
              <a:t>andmebaasid</a:t>
            </a:r>
            <a:r>
              <a:rPr lang="en-GB" sz="1400" dirty="0"/>
              <a:t>, </a:t>
            </a:r>
            <a:r>
              <a:rPr lang="en-GB" sz="1400" dirty="0" err="1"/>
              <a:t>mida</a:t>
            </a:r>
            <a:r>
              <a:rPr lang="en-GB" sz="1400" dirty="0"/>
              <a:t> </a:t>
            </a:r>
            <a:r>
              <a:rPr lang="en-GB" sz="1400" dirty="0" err="1"/>
              <a:t>analüütik</a:t>
            </a:r>
            <a:r>
              <a:rPr lang="en-GB" sz="1400" dirty="0"/>
              <a:t> </a:t>
            </a:r>
            <a:r>
              <a:rPr lang="en-GB" sz="1400" dirty="0" err="1"/>
              <a:t>saab</a:t>
            </a:r>
            <a:r>
              <a:rPr lang="en-GB" sz="1400" dirty="0"/>
              <a:t> </a:t>
            </a:r>
            <a:r>
              <a:rPr lang="en-GB" sz="1400" dirty="0" err="1"/>
              <a:t>ise</a:t>
            </a:r>
            <a:r>
              <a:rPr lang="en-GB" sz="1400" dirty="0"/>
              <a:t> Power Query </a:t>
            </a:r>
            <a:r>
              <a:rPr lang="en-GB" sz="1400" dirty="0" err="1"/>
              <a:t>abil</a:t>
            </a:r>
            <a:r>
              <a:rPr lang="en-GB" sz="1400" dirty="0"/>
              <a:t> </a:t>
            </a:r>
            <a:r>
              <a:rPr lang="en-GB" sz="1400" dirty="0" err="1"/>
              <a:t>puhastada</a:t>
            </a:r>
            <a:r>
              <a:rPr lang="en-GB" sz="1400" dirty="0"/>
              <a:t>.</a:t>
            </a:r>
          </a:p>
          <a:p>
            <a:pPr lvl="0">
              <a:lnSpc>
                <a:spcPct val="100000"/>
              </a:lnSpc>
            </a:pPr>
            <a:r>
              <a:rPr lang="en-GB" sz="1400" b="1" dirty="0" err="1"/>
              <a:t>Kiire</a:t>
            </a:r>
            <a:r>
              <a:rPr lang="en-GB" sz="1400" b="1" dirty="0"/>
              <a:t> </a:t>
            </a:r>
            <a:r>
              <a:rPr lang="en-GB" sz="1400" b="1" dirty="0" err="1"/>
              <a:t>ja</a:t>
            </a:r>
            <a:r>
              <a:rPr lang="en-GB" sz="1400" b="1" dirty="0"/>
              <a:t> </a:t>
            </a:r>
            <a:r>
              <a:rPr lang="en-GB" sz="1400" b="1" dirty="0" err="1"/>
              <a:t>odav</a:t>
            </a:r>
            <a:r>
              <a:rPr lang="en-GB" sz="1400" b="1" dirty="0"/>
              <a:t> </a:t>
            </a:r>
            <a:r>
              <a:rPr lang="en-GB" sz="1400" b="1" dirty="0" err="1"/>
              <a:t>käivitus</a:t>
            </a:r>
            <a:r>
              <a:rPr lang="en-GB" sz="1400" b="1" dirty="0"/>
              <a:t>:</a:t>
            </a:r>
            <a:r>
              <a:rPr lang="en-GB" sz="1400" dirty="0"/>
              <a:t> Teil on </a:t>
            </a:r>
            <a:r>
              <a:rPr lang="en-GB" sz="1400" dirty="0" err="1"/>
              <a:t>vaja</a:t>
            </a:r>
            <a:r>
              <a:rPr lang="en-GB" sz="1400" dirty="0"/>
              <a:t> </a:t>
            </a:r>
            <a:r>
              <a:rPr lang="en-GB" sz="1400" dirty="0" err="1"/>
              <a:t>paari</a:t>
            </a:r>
            <a:r>
              <a:rPr lang="en-GB" sz="1400" dirty="0"/>
              <a:t> </a:t>
            </a:r>
            <a:r>
              <a:rPr lang="en-GB" sz="1400" dirty="0" err="1"/>
              <a:t>raportit</a:t>
            </a:r>
            <a:r>
              <a:rPr lang="en-GB" sz="1400" dirty="0"/>
              <a:t> </a:t>
            </a:r>
            <a:r>
              <a:rPr lang="en-GB" sz="1400" dirty="0" err="1"/>
              <a:t>juhtkonnale</a:t>
            </a:r>
            <a:r>
              <a:rPr lang="en-GB" sz="1400" dirty="0"/>
              <a:t> </a:t>
            </a:r>
            <a:r>
              <a:rPr lang="en-GB" sz="1400" dirty="0" err="1"/>
              <a:t>ja</a:t>
            </a:r>
            <a:r>
              <a:rPr lang="en-GB" sz="1400" dirty="0"/>
              <a:t> </a:t>
            </a:r>
            <a:r>
              <a:rPr lang="en-GB" sz="1400" dirty="0" err="1"/>
              <a:t>eelarve</a:t>
            </a:r>
            <a:r>
              <a:rPr lang="en-GB" sz="1400" dirty="0"/>
              <a:t> on </a:t>
            </a:r>
            <a:r>
              <a:rPr lang="en-GB" sz="1400" dirty="0" err="1"/>
              <a:t>piiratud</a:t>
            </a:r>
            <a:r>
              <a:rPr lang="en-GB" sz="1400" dirty="0"/>
              <a:t>. </a:t>
            </a:r>
            <a:r>
              <a:rPr lang="en-GB" sz="1400" dirty="0" err="1"/>
              <a:t>Maksate</a:t>
            </a:r>
            <a:r>
              <a:rPr lang="en-GB" sz="1400" dirty="0"/>
              <a:t> </a:t>
            </a:r>
            <a:r>
              <a:rPr lang="en-GB" sz="1400" dirty="0" err="1"/>
              <a:t>ainult</a:t>
            </a:r>
            <a:r>
              <a:rPr lang="en-GB" sz="1400" dirty="0"/>
              <a:t> </a:t>
            </a:r>
            <a:r>
              <a:rPr lang="en-GB" sz="1400" b="1" dirty="0"/>
              <a:t>~13 € </a:t>
            </a:r>
            <a:r>
              <a:rPr lang="en-GB" sz="1400" b="1" dirty="0" err="1"/>
              <a:t>kuus</a:t>
            </a:r>
            <a:r>
              <a:rPr lang="en-GB" sz="1400" dirty="0"/>
              <a:t> </a:t>
            </a:r>
            <a:r>
              <a:rPr lang="en-GB" sz="1400" dirty="0" err="1"/>
              <a:t>iga</a:t>
            </a:r>
            <a:r>
              <a:rPr lang="en-GB" sz="1400" dirty="0"/>
              <a:t> </a:t>
            </a:r>
            <a:r>
              <a:rPr lang="en-GB" sz="1400" dirty="0" err="1"/>
              <a:t>kasutaja</a:t>
            </a:r>
            <a:r>
              <a:rPr lang="en-GB" sz="1400" dirty="0"/>
              <a:t> </a:t>
            </a:r>
            <a:r>
              <a:rPr lang="en-GB" sz="1400" dirty="0" err="1"/>
              <a:t>eest</a:t>
            </a:r>
            <a:r>
              <a:rPr lang="en-GB" sz="1400" dirty="0"/>
              <a:t> (Power BI Pro) </a:t>
            </a:r>
            <a:r>
              <a:rPr lang="en-GB" sz="1400" dirty="0" err="1"/>
              <a:t>ja</a:t>
            </a:r>
            <a:r>
              <a:rPr lang="en-GB" sz="1400" dirty="0"/>
              <a:t> </a:t>
            </a:r>
            <a:r>
              <a:rPr lang="en-GB" sz="1400" dirty="0" err="1"/>
              <a:t>te</a:t>
            </a:r>
            <a:r>
              <a:rPr lang="en-GB" sz="1400" dirty="0"/>
              <a:t> </a:t>
            </a:r>
            <a:r>
              <a:rPr lang="en-GB" sz="1400" dirty="0" err="1"/>
              <a:t>ei</a:t>
            </a:r>
            <a:r>
              <a:rPr lang="en-GB" sz="1400" dirty="0"/>
              <a:t> </a:t>
            </a:r>
            <a:r>
              <a:rPr lang="en-GB" sz="1400" dirty="0" err="1"/>
              <a:t>vaja</a:t>
            </a:r>
            <a:r>
              <a:rPr lang="en-GB" sz="1400" dirty="0"/>
              <a:t> </a:t>
            </a:r>
            <a:r>
              <a:rPr lang="en-GB" sz="1400" dirty="0" err="1"/>
              <a:t>eraldi</a:t>
            </a:r>
            <a:r>
              <a:rPr lang="en-GB" sz="1400" dirty="0"/>
              <a:t> </a:t>
            </a:r>
            <a:r>
              <a:rPr lang="en-GB" sz="1400" dirty="0" err="1"/>
              <a:t>andmeinseneri</a:t>
            </a:r>
            <a:r>
              <a:rPr lang="en-GB" sz="1400" dirty="0"/>
              <a:t>, </a:t>
            </a:r>
            <a:r>
              <a:rPr lang="en-GB" sz="1400" dirty="0" err="1"/>
              <a:t>kes</a:t>
            </a:r>
            <a:r>
              <a:rPr lang="en-GB" sz="1400" dirty="0"/>
              <a:t> </a:t>
            </a:r>
            <a:r>
              <a:rPr lang="en-GB" sz="1400" dirty="0" err="1"/>
              <a:t>platvormi</a:t>
            </a:r>
            <a:r>
              <a:rPr lang="en-GB" sz="1400" dirty="0"/>
              <a:t> </a:t>
            </a:r>
            <a:r>
              <a:rPr lang="en-GB" sz="1400" dirty="0" err="1"/>
              <a:t>haldaks</a:t>
            </a:r>
            <a:r>
              <a:rPr lang="en-GB" sz="1400" dirty="0"/>
              <a:t>.</a:t>
            </a:r>
          </a:p>
          <a:p>
            <a:pPr>
              <a:lnSpc>
                <a:spcPct val="100000"/>
              </a:lnSpc>
            </a:pPr>
            <a:endParaRPr lang="en-GB" sz="1400" dirty="0"/>
          </a:p>
        </p:txBody>
      </p:sp>
      <p:graphicFrame>
        <p:nvGraphicFramePr>
          <p:cNvPr id="4" name="Table 3">
            <a:extLst>
              <a:ext uri="{FF2B5EF4-FFF2-40B4-BE49-F238E27FC236}">
                <a16:creationId xmlns:a16="http://schemas.microsoft.com/office/drawing/2014/main" id="{834F2294-69E6-D60A-FAA7-09A90263FB98}"/>
              </a:ext>
            </a:extLst>
          </p:cNvPr>
          <p:cNvGraphicFramePr>
            <a:graphicFrameLocks noGrp="1"/>
          </p:cNvGraphicFramePr>
          <p:nvPr>
            <p:extLst>
              <p:ext uri="{D42A27DB-BD31-4B8C-83A1-F6EECF244321}">
                <p14:modId xmlns:p14="http://schemas.microsoft.com/office/powerpoint/2010/main" val="3260066872"/>
              </p:ext>
            </p:extLst>
          </p:nvPr>
        </p:nvGraphicFramePr>
        <p:xfrm>
          <a:off x="6597650" y="1222374"/>
          <a:ext cx="4698489" cy="3768680"/>
        </p:xfrm>
        <a:graphic>
          <a:graphicData uri="http://schemas.openxmlformats.org/drawingml/2006/table">
            <a:tbl>
              <a:tblPr>
                <a:tableStyleId>{5C22544A-7EE6-4342-B048-85BDC9FD1C3A}</a:tableStyleId>
              </a:tblPr>
              <a:tblGrid>
                <a:gridCol w="1566163">
                  <a:extLst>
                    <a:ext uri="{9D8B030D-6E8A-4147-A177-3AD203B41FA5}">
                      <a16:colId xmlns:a16="http://schemas.microsoft.com/office/drawing/2014/main" val="3118172375"/>
                    </a:ext>
                  </a:extLst>
                </a:gridCol>
                <a:gridCol w="1566163">
                  <a:extLst>
                    <a:ext uri="{9D8B030D-6E8A-4147-A177-3AD203B41FA5}">
                      <a16:colId xmlns:a16="http://schemas.microsoft.com/office/drawing/2014/main" val="4004443977"/>
                    </a:ext>
                  </a:extLst>
                </a:gridCol>
                <a:gridCol w="1566163">
                  <a:extLst>
                    <a:ext uri="{9D8B030D-6E8A-4147-A177-3AD203B41FA5}">
                      <a16:colId xmlns:a16="http://schemas.microsoft.com/office/drawing/2014/main" val="1789231966"/>
                    </a:ext>
                  </a:extLst>
                </a:gridCol>
              </a:tblGrid>
              <a:tr h="561813">
                <a:tc>
                  <a:txBody>
                    <a:bodyPr/>
                    <a:lstStyle/>
                    <a:p>
                      <a:pPr algn="l" fontAlgn="t">
                        <a:buNone/>
                      </a:pPr>
                      <a:r>
                        <a:rPr lang="en-GB" sz="1000">
                          <a:effectLst/>
                        </a:rPr>
                        <a:t>Kriteerium</a:t>
                      </a:r>
                    </a:p>
                  </a:txBody>
                  <a:tcPr marL="56828" marR="56828" marT="56828" marB="56828"/>
                </a:tc>
                <a:tc>
                  <a:txBody>
                    <a:bodyPr/>
                    <a:lstStyle/>
                    <a:p>
                      <a:pPr algn="l" fontAlgn="t">
                        <a:buNone/>
                      </a:pPr>
                      <a:r>
                        <a:rPr lang="en-GB" sz="1000">
                          <a:effectLst/>
                        </a:rPr>
                        <a:t>📊 Ainult Power BI (Standardne lähenemine)</a:t>
                      </a:r>
                    </a:p>
                  </a:txBody>
                  <a:tcPr marL="56828" marR="56828" marT="56828" marB="56828"/>
                </a:tc>
                <a:tc>
                  <a:txBody>
                    <a:bodyPr/>
                    <a:lstStyle/>
                    <a:p>
                      <a:pPr algn="l" fontAlgn="t">
                        <a:buNone/>
                      </a:pPr>
                      <a:r>
                        <a:rPr lang="en-GB" sz="1000">
                          <a:effectLst/>
                        </a:rPr>
                        <a:t>☁️ Microsoft Fabric (Andmeplatvormi lähenemine)</a:t>
                      </a:r>
                    </a:p>
                  </a:txBody>
                  <a:tcPr marL="56828" marR="56828" marT="56828" marB="56828"/>
                </a:tc>
                <a:extLst>
                  <a:ext uri="{0D108BD9-81ED-4DB2-BD59-A6C34878D82A}">
                    <a16:rowId xmlns:a16="http://schemas.microsoft.com/office/drawing/2014/main" val="2695255635"/>
                  </a:ext>
                </a:extLst>
              </a:tr>
              <a:tr h="714563">
                <a:tc>
                  <a:txBody>
                    <a:bodyPr/>
                    <a:lstStyle/>
                    <a:p>
                      <a:pPr algn="l" fontAlgn="t">
                        <a:buNone/>
                      </a:pPr>
                      <a:r>
                        <a:rPr lang="en-GB" sz="1000">
                          <a:effectLst/>
                        </a:rPr>
                        <a:t>Andmete asukoht</a:t>
                      </a:r>
                    </a:p>
                  </a:txBody>
                  <a:tcPr marL="56828" marR="56828" marT="56828" marB="56828"/>
                </a:tc>
                <a:tc>
                  <a:txBody>
                    <a:bodyPr/>
                    <a:lstStyle/>
                    <a:p>
                      <a:pPr algn="l" fontAlgn="t">
                        <a:buNone/>
                      </a:pPr>
                      <a:r>
                        <a:rPr lang="en-GB" sz="1000">
                          <a:effectLst/>
                        </a:rPr>
                        <a:t>Andmed on valmis kujul ühes või kahes kindlas failis või baasis (nt Excel, otse üks SQL baas).</a:t>
                      </a:r>
                    </a:p>
                  </a:txBody>
                  <a:tcPr marL="56828" marR="56828" marT="56828" marB="56828"/>
                </a:tc>
                <a:tc>
                  <a:txBody>
                    <a:bodyPr/>
                    <a:lstStyle/>
                    <a:p>
                      <a:pPr algn="l" fontAlgn="t">
                        <a:buNone/>
                      </a:pPr>
                      <a:r>
                        <a:rPr lang="en-GB" sz="1000">
                          <a:effectLst/>
                        </a:rPr>
                        <a:t>Andmed on laiali paljudes süsteemides (ERP, CRM, veeb, failid) ja vajavad koondamist.</a:t>
                      </a:r>
                    </a:p>
                  </a:txBody>
                  <a:tcPr marL="56828" marR="56828" marT="56828" marB="56828"/>
                </a:tc>
                <a:extLst>
                  <a:ext uri="{0D108BD9-81ED-4DB2-BD59-A6C34878D82A}">
                    <a16:rowId xmlns:a16="http://schemas.microsoft.com/office/drawing/2014/main" val="4097300172"/>
                  </a:ext>
                </a:extLst>
              </a:tr>
              <a:tr h="714563">
                <a:tc>
                  <a:txBody>
                    <a:bodyPr/>
                    <a:lstStyle/>
                    <a:p>
                      <a:pPr algn="l" fontAlgn="t">
                        <a:buNone/>
                      </a:pPr>
                      <a:r>
                        <a:rPr lang="en-GB" sz="1000" dirty="0" err="1">
                          <a:effectLst/>
                        </a:rPr>
                        <a:t>Töötluse</a:t>
                      </a:r>
                      <a:r>
                        <a:rPr lang="en-GB" sz="1000" dirty="0">
                          <a:effectLst/>
                        </a:rPr>
                        <a:t> </a:t>
                      </a:r>
                      <a:r>
                        <a:rPr lang="en-GB" sz="1000" dirty="0" err="1">
                          <a:effectLst/>
                        </a:rPr>
                        <a:t>keerukus</a:t>
                      </a:r>
                      <a:endParaRPr lang="en-GB" sz="1000" dirty="0">
                        <a:effectLst/>
                      </a:endParaRPr>
                    </a:p>
                  </a:txBody>
                  <a:tcPr marL="56828" marR="56828" marT="56828" marB="56828"/>
                </a:tc>
                <a:tc>
                  <a:txBody>
                    <a:bodyPr/>
                    <a:lstStyle/>
                    <a:p>
                      <a:pPr algn="l" fontAlgn="t">
                        <a:buNone/>
                      </a:pPr>
                      <a:r>
                        <a:rPr lang="en-GB" sz="1000">
                          <a:effectLst/>
                        </a:rPr>
                        <a:t>Lihtne puhastamine (Power Query) ja valemite loomine (DAX) on piisav.</a:t>
                      </a:r>
                    </a:p>
                  </a:txBody>
                  <a:tcPr marL="56828" marR="56828" marT="56828" marB="56828"/>
                </a:tc>
                <a:tc>
                  <a:txBody>
                    <a:bodyPr/>
                    <a:lstStyle/>
                    <a:p>
                      <a:pPr algn="l" fontAlgn="t">
                        <a:buNone/>
                      </a:pPr>
                      <a:r>
                        <a:rPr lang="en-GB" sz="1000">
                          <a:effectLst/>
                        </a:rPr>
                        <a:t>Andmeid on vaja tõsiselt ümber ehitada, ajalugu salvestada ja luua keerulisi andmepipelaine.</a:t>
                      </a:r>
                    </a:p>
                  </a:txBody>
                  <a:tcPr marL="56828" marR="56828" marT="56828" marB="56828"/>
                </a:tc>
                <a:extLst>
                  <a:ext uri="{0D108BD9-81ED-4DB2-BD59-A6C34878D82A}">
                    <a16:rowId xmlns:a16="http://schemas.microsoft.com/office/drawing/2014/main" val="1568052449"/>
                  </a:ext>
                </a:extLst>
              </a:tr>
              <a:tr h="561813">
                <a:tc>
                  <a:txBody>
                    <a:bodyPr/>
                    <a:lstStyle/>
                    <a:p>
                      <a:pPr algn="l" fontAlgn="t">
                        <a:buNone/>
                      </a:pPr>
                      <a:r>
                        <a:rPr lang="en-GB" sz="1000" dirty="0" err="1">
                          <a:effectLst/>
                        </a:rPr>
                        <a:t>Andmemaht</a:t>
                      </a:r>
                      <a:endParaRPr lang="en-GB" sz="1000" dirty="0">
                        <a:effectLst/>
                      </a:endParaRPr>
                    </a:p>
                  </a:txBody>
                  <a:tcPr marL="56828" marR="56828" marT="56828" marB="56828"/>
                </a:tc>
                <a:tc>
                  <a:txBody>
                    <a:bodyPr/>
                    <a:lstStyle/>
                    <a:p>
                      <a:pPr algn="l" fontAlgn="t">
                        <a:buNone/>
                      </a:pPr>
                      <a:r>
                        <a:rPr lang="en-GB" sz="1000">
                          <a:effectLst/>
                        </a:rPr>
                        <a:t>Andmemaht jääb mugavalt alla 1 GB ühe andmemudeli kohta.</a:t>
                      </a:r>
                    </a:p>
                  </a:txBody>
                  <a:tcPr marL="56828" marR="56828" marT="56828" marB="56828"/>
                </a:tc>
                <a:tc>
                  <a:txBody>
                    <a:bodyPr/>
                    <a:lstStyle/>
                    <a:p>
                      <a:pPr algn="l" fontAlgn="t">
                        <a:buNone/>
                      </a:pPr>
                      <a:r>
                        <a:rPr lang="en-GB" sz="1000">
                          <a:effectLst/>
                        </a:rPr>
                        <a:t>Andmed ulatuvad sadade gigabaitideni või terabaitideni.</a:t>
                      </a:r>
                    </a:p>
                  </a:txBody>
                  <a:tcPr marL="56828" marR="56828" marT="56828" marB="56828"/>
                </a:tc>
                <a:extLst>
                  <a:ext uri="{0D108BD9-81ED-4DB2-BD59-A6C34878D82A}">
                    <a16:rowId xmlns:a16="http://schemas.microsoft.com/office/drawing/2014/main" val="993314323"/>
                  </a:ext>
                </a:extLst>
              </a:tr>
              <a:tr h="867314">
                <a:tc>
                  <a:txBody>
                    <a:bodyPr/>
                    <a:lstStyle/>
                    <a:p>
                      <a:pPr algn="l" fontAlgn="t">
                        <a:buNone/>
                      </a:pPr>
                      <a:r>
                        <a:rPr lang="en-GB" sz="1000" dirty="0" err="1">
                          <a:effectLst/>
                        </a:rPr>
                        <a:t>Tiimi</a:t>
                      </a:r>
                      <a:r>
                        <a:rPr lang="en-GB" sz="1000" dirty="0">
                          <a:effectLst/>
                        </a:rPr>
                        <a:t> </a:t>
                      </a:r>
                      <a:r>
                        <a:rPr lang="en-GB" sz="1000" dirty="0" err="1">
                          <a:effectLst/>
                        </a:rPr>
                        <a:t>kompetents</a:t>
                      </a:r>
                      <a:endParaRPr lang="en-GB" sz="1000" dirty="0">
                        <a:effectLst/>
                      </a:endParaRPr>
                    </a:p>
                  </a:txBody>
                  <a:tcPr marL="56828" marR="56828" marT="56828" marB="56828"/>
                </a:tc>
                <a:tc>
                  <a:txBody>
                    <a:bodyPr/>
                    <a:lstStyle/>
                    <a:p>
                      <a:pPr algn="l" fontAlgn="t">
                        <a:buNone/>
                      </a:pPr>
                      <a:r>
                        <a:rPr lang="en-GB" sz="1000">
                          <a:effectLst/>
                        </a:rPr>
                        <a:t>Meeskonnas on ärianalüütikud või raamatupidajad, kes tunnevad Excelit ja DAX-i.</a:t>
                      </a:r>
                    </a:p>
                  </a:txBody>
                  <a:tcPr marL="56828" marR="56828" marT="56828" marB="56828"/>
                </a:tc>
                <a:tc>
                  <a:txBody>
                    <a:bodyPr/>
                    <a:lstStyle/>
                    <a:p>
                      <a:pPr algn="l" fontAlgn="t">
                        <a:buNone/>
                      </a:pPr>
                      <a:r>
                        <a:rPr lang="en-GB" sz="1000" dirty="0" err="1">
                          <a:effectLst/>
                        </a:rPr>
                        <a:t>Meeskonnas</a:t>
                      </a:r>
                      <a:r>
                        <a:rPr lang="en-GB" sz="1000" dirty="0">
                          <a:effectLst/>
                        </a:rPr>
                        <a:t> on </a:t>
                      </a:r>
                      <a:r>
                        <a:rPr lang="en-GB" sz="1000" dirty="0" err="1">
                          <a:effectLst/>
                        </a:rPr>
                        <a:t>andmeinsenerid</a:t>
                      </a:r>
                      <a:r>
                        <a:rPr lang="en-GB" sz="1000" dirty="0">
                          <a:effectLst/>
                        </a:rPr>
                        <a:t>, </a:t>
                      </a:r>
                      <a:r>
                        <a:rPr lang="en-GB" sz="1000" dirty="0" err="1">
                          <a:effectLst/>
                        </a:rPr>
                        <a:t>kes</a:t>
                      </a:r>
                      <a:r>
                        <a:rPr lang="en-GB" sz="1000" dirty="0">
                          <a:effectLst/>
                        </a:rPr>
                        <a:t> </a:t>
                      </a:r>
                      <a:r>
                        <a:rPr lang="en-GB" sz="1000" dirty="0" err="1">
                          <a:effectLst/>
                        </a:rPr>
                        <a:t>tahavad</a:t>
                      </a:r>
                      <a:r>
                        <a:rPr lang="en-GB" sz="1000" dirty="0">
                          <a:effectLst/>
                        </a:rPr>
                        <a:t> </a:t>
                      </a:r>
                      <a:r>
                        <a:rPr lang="en-GB" sz="1000" dirty="0" err="1">
                          <a:effectLst/>
                        </a:rPr>
                        <a:t>kasutada</a:t>
                      </a:r>
                      <a:r>
                        <a:rPr lang="en-GB" sz="1000" dirty="0">
                          <a:effectLst/>
                        </a:rPr>
                        <a:t> SQL-</a:t>
                      </a:r>
                      <a:r>
                        <a:rPr lang="en-GB" sz="1000" dirty="0" err="1">
                          <a:effectLst/>
                        </a:rPr>
                        <a:t>i</a:t>
                      </a:r>
                      <a:r>
                        <a:rPr lang="en-GB" sz="1000" dirty="0">
                          <a:effectLst/>
                        </a:rPr>
                        <a:t>, </a:t>
                      </a:r>
                      <a:r>
                        <a:rPr lang="en-GB" sz="1000" dirty="0" err="1">
                          <a:effectLst/>
                        </a:rPr>
                        <a:t>Pythonit</a:t>
                      </a:r>
                      <a:r>
                        <a:rPr lang="en-GB" sz="1000" dirty="0">
                          <a:effectLst/>
                        </a:rPr>
                        <a:t> </a:t>
                      </a:r>
                      <a:r>
                        <a:rPr lang="en-GB" sz="1000" dirty="0" err="1">
                          <a:effectLst/>
                        </a:rPr>
                        <a:t>ja</a:t>
                      </a:r>
                      <a:r>
                        <a:rPr lang="en-GB" sz="1000" dirty="0">
                          <a:effectLst/>
                        </a:rPr>
                        <a:t> </a:t>
                      </a:r>
                      <a:r>
                        <a:rPr lang="en-GB" sz="1000" dirty="0" err="1">
                          <a:effectLst/>
                        </a:rPr>
                        <a:t>tarkvaralisi</a:t>
                      </a:r>
                      <a:r>
                        <a:rPr lang="en-GB" sz="1000" dirty="0">
                          <a:effectLst/>
                        </a:rPr>
                        <a:t> </a:t>
                      </a:r>
                      <a:r>
                        <a:rPr lang="en-GB" sz="1000" dirty="0" err="1">
                          <a:effectLst/>
                        </a:rPr>
                        <a:t>tööriistu</a:t>
                      </a:r>
                      <a:r>
                        <a:rPr lang="en-GB" sz="1000" dirty="0">
                          <a:effectLst/>
                        </a:rPr>
                        <a:t>.</a:t>
                      </a:r>
                    </a:p>
                  </a:txBody>
                  <a:tcPr marL="56828" marR="56828" marT="56828" marB="56828"/>
                </a:tc>
                <a:extLst>
                  <a:ext uri="{0D108BD9-81ED-4DB2-BD59-A6C34878D82A}">
                    <a16:rowId xmlns:a16="http://schemas.microsoft.com/office/drawing/2014/main" val="3263937414"/>
                  </a:ext>
                </a:extLst>
              </a:tr>
            </a:tbl>
          </a:graphicData>
        </a:graphic>
      </p:graphicFrame>
    </p:spTree>
    <p:extLst>
      <p:ext uri="{BB962C8B-B14F-4D97-AF65-F5344CB8AC3E}">
        <p14:creationId xmlns:p14="http://schemas.microsoft.com/office/powerpoint/2010/main" val="24843734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EDF5A-81C0-DB03-48A0-C23356CE608A}"/>
              </a:ext>
            </a:extLst>
          </p:cNvPr>
          <p:cNvSpPr>
            <a:spLocks noGrp="1"/>
          </p:cNvSpPr>
          <p:nvPr>
            <p:ph type="ctrTitle"/>
          </p:nvPr>
        </p:nvSpPr>
        <p:spPr/>
        <p:txBody>
          <a:bodyPr/>
          <a:lstStyle/>
          <a:p>
            <a:r>
              <a:rPr lang="en-GB" dirty="0" err="1"/>
              <a:t>Millal</a:t>
            </a:r>
            <a:r>
              <a:rPr lang="en-GB" dirty="0"/>
              <a:t> </a:t>
            </a:r>
            <a:r>
              <a:rPr lang="en-GB" dirty="0" err="1"/>
              <a:t>vaja</a:t>
            </a:r>
            <a:r>
              <a:rPr lang="en-GB" dirty="0"/>
              <a:t> </a:t>
            </a:r>
            <a:r>
              <a:rPr lang="en-GB" dirty="0" err="1"/>
              <a:t>midagi</a:t>
            </a:r>
            <a:r>
              <a:rPr lang="en-GB" dirty="0"/>
              <a:t> </a:t>
            </a:r>
            <a:r>
              <a:rPr lang="en-GB" dirty="0" err="1"/>
              <a:t>sinna</a:t>
            </a:r>
            <a:r>
              <a:rPr lang="en-GB" dirty="0"/>
              <a:t> </a:t>
            </a:r>
            <a:r>
              <a:rPr lang="en-GB" dirty="0" err="1"/>
              <a:t>juurde</a:t>
            </a:r>
            <a:r>
              <a:rPr lang="en-GB" dirty="0"/>
              <a:t>?</a:t>
            </a:r>
          </a:p>
        </p:txBody>
      </p:sp>
      <p:sp>
        <p:nvSpPr>
          <p:cNvPr id="3" name="Content Placeholder 2">
            <a:extLst>
              <a:ext uri="{FF2B5EF4-FFF2-40B4-BE49-F238E27FC236}">
                <a16:creationId xmlns:a16="http://schemas.microsoft.com/office/drawing/2014/main" id="{421A0062-1EEE-2018-EEB0-6EFB99CCFFF1}"/>
              </a:ext>
            </a:extLst>
          </p:cNvPr>
          <p:cNvSpPr>
            <a:spLocks noGrp="1"/>
          </p:cNvSpPr>
          <p:nvPr>
            <p:ph sz="quarter" idx="10"/>
          </p:nvPr>
        </p:nvSpPr>
        <p:spPr/>
        <p:txBody>
          <a:bodyPr/>
          <a:lstStyle/>
          <a:p>
            <a:r>
              <a:rPr lang="en-GB" dirty="0" err="1"/>
              <a:t>Midagi</a:t>
            </a:r>
            <a:r>
              <a:rPr lang="en-GB" dirty="0"/>
              <a:t> </a:t>
            </a:r>
            <a:r>
              <a:rPr lang="en-GB" dirty="0" err="1"/>
              <a:t>juurde</a:t>
            </a:r>
            <a:r>
              <a:rPr lang="en-GB" dirty="0"/>
              <a:t> on </a:t>
            </a:r>
            <a:r>
              <a:rPr lang="en-GB" dirty="0" err="1"/>
              <a:t>vajalik</a:t>
            </a:r>
            <a:r>
              <a:rPr lang="en-GB" dirty="0"/>
              <a:t> </a:t>
            </a:r>
            <a:r>
              <a:rPr lang="en-GB" dirty="0" err="1"/>
              <a:t>siis</a:t>
            </a:r>
            <a:r>
              <a:rPr lang="en-GB" dirty="0"/>
              <a:t>, </a:t>
            </a:r>
            <a:r>
              <a:rPr lang="en-GB" dirty="0" err="1"/>
              <a:t>kui</a:t>
            </a:r>
            <a:r>
              <a:rPr lang="en-GB" dirty="0"/>
              <a:t> Power BI </a:t>
            </a:r>
            <a:r>
              <a:rPr lang="en-GB" dirty="0" err="1"/>
              <a:t>hakkab</a:t>
            </a:r>
            <a:r>
              <a:rPr lang="en-GB" dirty="0"/>
              <a:t> “</a:t>
            </a:r>
            <a:r>
              <a:rPr lang="en-GB" dirty="0" err="1"/>
              <a:t>aegalseks</a:t>
            </a:r>
            <a:r>
              <a:rPr lang="en-GB" dirty="0"/>
              <a:t> </a:t>
            </a:r>
            <a:r>
              <a:rPr lang="en-GB" dirty="0" err="1"/>
              <a:t>jääma</a:t>
            </a:r>
            <a:r>
              <a:rPr lang="en-GB" dirty="0"/>
              <a:t>" – </a:t>
            </a:r>
            <a:r>
              <a:rPr lang="en-GB" dirty="0" err="1"/>
              <a:t>päringud</a:t>
            </a:r>
            <a:r>
              <a:rPr lang="en-GB" dirty="0"/>
              <a:t> </a:t>
            </a:r>
            <a:r>
              <a:rPr lang="en-GB" dirty="0" err="1"/>
              <a:t>muutuvad</a:t>
            </a:r>
            <a:r>
              <a:rPr lang="en-GB" dirty="0"/>
              <a:t> </a:t>
            </a:r>
            <a:r>
              <a:rPr lang="en-GB" dirty="0" err="1"/>
              <a:t>aeglaseks</a:t>
            </a:r>
            <a:r>
              <a:rPr lang="en-GB" dirty="0"/>
              <a:t>, </a:t>
            </a:r>
            <a:r>
              <a:rPr lang="en-GB" dirty="0" err="1"/>
              <a:t>andmeid</a:t>
            </a:r>
            <a:r>
              <a:rPr lang="en-GB" dirty="0"/>
              <a:t> on </a:t>
            </a:r>
            <a:r>
              <a:rPr lang="en-GB" dirty="0" err="1"/>
              <a:t>liiga</a:t>
            </a:r>
            <a:r>
              <a:rPr lang="en-GB" dirty="0"/>
              <a:t> </a:t>
            </a:r>
            <a:r>
              <a:rPr lang="en-GB" dirty="0" err="1"/>
              <a:t>palju</a:t>
            </a:r>
            <a:r>
              <a:rPr lang="en-GB" dirty="0"/>
              <a:t> </a:t>
            </a:r>
            <a:r>
              <a:rPr lang="en-GB" dirty="0" err="1"/>
              <a:t>või</a:t>
            </a:r>
            <a:r>
              <a:rPr lang="en-GB" dirty="0"/>
              <a:t> need on </a:t>
            </a:r>
            <a:r>
              <a:rPr lang="en-GB" dirty="0" err="1"/>
              <a:t>liiga</a:t>
            </a:r>
            <a:r>
              <a:rPr lang="en-GB" dirty="0"/>
              <a:t> </a:t>
            </a:r>
            <a:r>
              <a:rPr lang="en-GB" dirty="0" err="1"/>
              <a:t>killustatud</a:t>
            </a:r>
            <a:r>
              <a:rPr lang="en-GB" dirty="0"/>
              <a:t>.</a:t>
            </a:r>
          </a:p>
          <a:p>
            <a:pPr lvl="0"/>
            <a:r>
              <a:rPr lang="en-GB" dirty="0" err="1"/>
              <a:t>Tahate</a:t>
            </a:r>
            <a:r>
              <a:rPr lang="en-GB" dirty="0"/>
              <a:t> </a:t>
            </a:r>
            <a:r>
              <a:rPr lang="en-GB" dirty="0" err="1"/>
              <a:t>raporteid</a:t>
            </a:r>
            <a:r>
              <a:rPr lang="en-GB" dirty="0"/>
              <a:t> </a:t>
            </a:r>
            <a:r>
              <a:rPr lang="en-GB" b="1" dirty="0" err="1"/>
              <a:t>jagada</a:t>
            </a:r>
            <a:r>
              <a:rPr lang="en-GB" dirty="0"/>
              <a:t> </a:t>
            </a:r>
            <a:r>
              <a:rPr lang="en-GB" dirty="0" err="1"/>
              <a:t>teiste</a:t>
            </a:r>
            <a:r>
              <a:rPr lang="en-GB" dirty="0"/>
              <a:t> </a:t>
            </a:r>
            <a:r>
              <a:rPr lang="en-GB" dirty="0" err="1"/>
              <a:t>kasutajatega</a:t>
            </a:r>
            <a:r>
              <a:rPr lang="en-GB" dirty="0"/>
              <a:t>.</a:t>
            </a:r>
          </a:p>
          <a:p>
            <a:pPr lvl="0"/>
            <a:r>
              <a:rPr lang="en-GB" b="1" dirty="0" err="1"/>
              <a:t>Ajalooliste</a:t>
            </a:r>
            <a:r>
              <a:rPr lang="en-GB" b="1" dirty="0"/>
              <a:t> </a:t>
            </a:r>
            <a:r>
              <a:rPr lang="en-GB" b="1" dirty="0" err="1"/>
              <a:t>andmete</a:t>
            </a:r>
            <a:r>
              <a:rPr lang="en-GB" b="1" dirty="0"/>
              <a:t> </a:t>
            </a:r>
            <a:r>
              <a:rPr lang="en-GB" b="1" dirty="0" err="1"/>
              <a:t>salvestamine</a:t>
            </a:r>
            <a:r>
              <a:rPr lang="en-GB" b="1" dirty="0"/>
              <a:t> (Snapshots):</a:t>
            </a:r>
            <a:r>
              <a:rPr lang="en-GB" dirty="0"/>
              <a:t> Kui </a:t>
            </a:r>
            <a:r>
              <a:rPr lang="en-GB" dirty="0" err="1"/>
              <a:t>teie</a:t>
            </a:r>
            <a:r>
              <a:rPr lang="en-GB" dirty="0"/>
              <a:t> </a:t>
            </a:r>
            <a:r>
              <a:rPr lang="en-GB" dirty="0" err="1"/>
              <a:t>majandustarkvara</a:t>
            </a:r>
            <a:r>
              <a:rPr lang="en-GB" dirty="0"/>
              <a:t> </a:t>
            </a:r>
            <a:r>
              <a:rPr lang="en-GB" dirty="0" err="1"/>
              <a:t>näitab</a:t>
            </a:r>
            <a:r>
              <a:rPr lang="en-GB" dirty="0"/>
              <a:t> </a:t>
            </a:r>
            <a:r>
              <a:rPr lang="en-GB" dirty="0" err="1"/>
              <a:t>ainult</a:t>
            </a:r>
            <a:r>
              <a:rPr lang="en-GB" dirty="0"/>
              <a:t> </a:t>
            </a:r>
            <a:r>
              <a:rPr lang="en-GB" dirty="0" err="1"/>
              <a:t>praegust</a:t>
            </a:r>
            <a:r>
              <a:rPr lang="en-GB" dirty="0"/>
              <a:t> </a:t>
            </a:r>
            <a:r>
              <a:rPr lang="en-GB" dirty="0" err="1"/>
              <a:t>seisu</a:t>
            </a:r>
            <a:r>
              <a:rPr lang="en-GB" dirty="0"/>
              <a:t>, aga </a:t>
            </a:r>
            <a:r>
              <a:rPr lang="en-GB" dirty="0" err="1"/>
              <a:t>te</a:t>
            </a:r>
            <a:r>
              <a:rPr lang="en-GB" dirty="0"/>
              <a:t> </a:t>
            </a:r>
            <a:r>
              <a:rPr lang="en-GB" dirty="0" err="1"/>
              <a:t>tahate</a:t>
            </a:r>
            <a:r>
              <a:rPr lang="en-GB" dirty="0"/>
              <a:t> </a:t>
            </a:r>
            <a:r>
              <a:rPr lang="en-GB" dirty="0" err="1"/>
              <a:t>näha</a:t>
            </a:r>
            <a:r>
              <a:rPr lang="en-GB" dirty="0"/>
              <a:t>, milline </a:t>
            </a:r>
            <a:r>
              <a:rPr lang="en-GB" dirty="0" err="1"/>
              <a:t>oli</a:t>
            </a:r>
            <a:r>
              <a:rPr lang="en-GB" dirty="0"/>
              <a:t> </a:t>
            </a:r>
            <a:r>
              <a:rPr lang="en-GB" dirty="0" err="1"/>
              <a:t>laoseis</a:t>
            </a:r>
            <a:r>
              <a:rPr lang="en-GB" dirty="0"/>
              <a:t> </a:t>
            </a:r>
            <a:r>
              <a:rPr lang="en-GB" dirty="0" err="1"/>
              <a:t>või</a:t>
            </a:r>
            <a:r>
              <a:rPr lang="en-GB" dirty="0"/>
              <a:t> </a:t>
            </a:r>
            <a:r>
              <a:rPr lang="en-GB" dirty="0" err="1"/>
              <a:t>võlgnevus</a:t>
            </a:r>
            <a:r>
              <a:rPr lang="en-GB" dirty="0"/>
              <a:t> </a:t>
            </a:r>
            <a:r>
              <a:rPr lang="en-GB" dirty="0" err="1"/>
              <a:t>täpselt</a:t>
            </a:r>
            <a:r>
              <a:rPr lang="en-GB" dirty="0"/>
              <a:t> </a:t>
            </a:r>
            <a:r>
              <a:rPr lang="en-GB" dirty="0" err="1"/>
              <a:t>iga</a:t>
            </a:r>
            <a:r>
              <a:rPr lang="en-GB" dirty="0"/>
              <a:t> </a:t>
            </a:r>
            <a:r>
              <a:rPr lang="en-GB" dirty="0" err="1"/>
              <a:t>kuu</a:t>
            </a:r>
            <a:r>
              <a:rPr lang="en-GB" dirty="0"/>
              <a:t> </a:t>
            </a:r>
            <a:r>
              <a:rPr lang="en-GB" dirty="0" err="1"/>
              <a:t>viimasel</a:t>
            </a:r>
            <a:r>
              <a:rPr lang="en-GB" dirty="0"/>
              <a:t> </a:t>
            </a:r>
            <a:r>
              <a:rPr lang="en-GB" dirty="0" err="1"/>
              <a:t>päeval</a:t>
            </a:r>
            <a:r>
              <a:rPr lang="en-GB" dirty="0"/>
              <a:t> </a:t>
            </a:r>
            <a:r>
              <a:rPr lang="en-GB" dirty="0" err="1"/>
              <a:t>viimase</a:t>
            </a:r>
            <a:r>
              <a:rPr lang="en-GB" dirty="0"/>
              <a:t> 5 </a:t>
            </a:r>
            <a:r>
              <a:rPr lang="en-GB" dirty="0" err="1"/>
              <a:t>aasta</a:t>
            </a:r>
            <a:r>
              <a:rPr lang="en-GB" dirty="0"/>
              <a:t> </a:t>
            </a:r>
            <a:r>
              <a:rPr lang="en-GB" dirty="0" err="1"/>
              <a:t>jooksul</a:t>
            </a:r>
            <a:r>
              <a:rPr lang="en-GB" dirty="0"/>
              <a:t>. Power BI </a:t>
            </a:r>
            <a:r>
              <a:rPr lang="en-GB" dirty="0" err="1"/>
              <a:t>ise</a:t>
            </a:r>
            <a:r>
              <a:rPr lang="en-GB" dirty="0"/>
              <a:t> </a:t>
            </a:r>
            <a:r>
              <a:rPr lang="en-GB" dirty="0" err="1"/>
              <a:t>ajalugu</a:t>
            </a:r>
            <a:r>
              <a:rPr lang="en-GB" dirty="0"/>
              <a:t> </a:t>
            </a:r>
            <a:r>
              <a:rPr lang="en-GB" dirty="0" err="1"/>
              <a:t>ei</a:t>
            </a:r>
            <a:r>
              <a:rPr lang="en-GB" dirty="0"/>
              <a:t> </a:t>
            </a:r>
            <a:r>
              <a:rPr lang="en-GB" dirty="0" err="1"/>
              <a:t>salvesta</a:t>
            </a:r>
            <a:r>
              <a:rPr lang="en-GB" dirty="0"/>
              <a:t>.</a:t>
            </a:r>
          </a:p>
          <a:p>
            <a:pPr lvl="0"/>
            <a:r>
              <a:rPr lang="en-GB" b="1" dirty="0"/>
              <a:t>Mitu </a:t>
            </a:r>
            <a:r>
              <a:rPr lang="en-GB" b="1" dirty="0" err="1"/>
              <a:t>erinevat</a:t>
            </a:r>
            <a:r>
              <a:rPr lang="en-GB" b="1" dirty="0"/>
              <a:t> </a:t>
            </a:r>
            <a:r>
              <a:rPr lang="en-GB" b="1" dirty="0" err="1"/>
              <a:t>andmeallikat</a:t>
            </a:r>
            <a:r>
              <a:rPr lang="en-GB" b="1" dirty="0"/>
              <a:t>:</a:t>
            </a:r>
            <a:r>
              <a:rPr lang="en-GB" dirty="0"/>
              <a:t> Teil on </a:t>
            </a:r>
            <a:r>
              <a:rPr lang="en-GB" dirty="0" err="1"/>
              <a:t>vaja</a:t>
            </a:r>
            <a:r>
              <a:rPr lang="en-GB" dirty="0"/>
              <a:t> panna </a:t>
            </a:r>
            <a:r>
              <a:rPr lang="en-GB" dirty="0" err="1"/>
              <a:t>kokku</a:t>
            </a:r>
            <a:r>
              <a:rPr lang="en-GB" dirty="0"/>
              <a:t> </a:t>
            </a:r>
            <a:r>
              <a:rPr lang="en-GB" dirty="0" err="1"/>
              <a:t>raamatupidamise</a:t>
            </a:r>
            <a:r>
              <a:rPr lang="en-GB" dirty="0"/>
              <a:t> </a:t>
            </a:r>
            <a:r>
              <a:rPr lang="en-GB" dirty="0" err="1"/>
              <a:t>andmed</a:t>
            </a:r>
            <a:r>
              <a:rPr lang="en-GB" dirty="0"/>
              <a:t> (ERP), </a:t>
            </a:r>
            <a:r>
              <a:rPr lang="en-GB" dirty="0" err="1"/>
              <a:t>kliendihaldus</a:t>
            </a:r>
            <a:r>
              <a:rPr lang="en-GB" dirty="0"/>
              <a:t> (CRM), </a:t>
            </a:r>
            <a:r>
              <a:rPr lang="en-GB" dirty="0" err="1"/>
              <a:t>tootmisseadmete</a:t>
            </a:r>
            <a:r>
              <a:rPr lang="en-GB" dirty="0"/>
              <a:t> info (IoT) </a:t>
            </a:r>
            <a:r>
              <a:rPr lang="en-GB" dirty="0" err="1"/>
              <a:t>ja</a:t>
            </a:r>
            <a:r>
              <a:rPr lang="en-GB" dirty="0"/>
              <a:t> </a:t>
            </a:r>
            <a:r>
              <a:rPr lang="en-GB" dirty="0" err="1"/>
              <a:t>turundusandmed</a:t>
            </a:r>
            <a:r>
              <a:rPr lang="en-GB" dirty="0"/>
              <a:t> Google </a:t>
            </a:r>
            <a:r>
              <a:rPr lang="en-GB" dirty="0" err="1"/>
              <a:t>Analyticsist</a:t>
            </a:r>
            <a:r>
              <a:rPr lang="en-GB" dirty="0"/>
              <a:t>. Fabric </a:t>
            </a:r>
            <a:r>
              <a:rPr lang="en-GB" dirty="0" err="1"/>
              <a:t>koondab</a:t>
            </a:r>
            <a:r>
              <a:rPr lang="en-GB" dirty="0"/>
              <a:t> need </a:t>
            </a:r>
            <a:r>
              <a:rPr lang="en-GB" dirty="0" err="1"/>
              <a:t>kõik</a:t>
            </a:r>
            <a:r>
              <a:rPr lang="en-GB" dirty="0"/>
              <a:t> </a:t>
            </a:r>
            <a:r>
              <a:rPr lang="en-GB" dirty="0" err="1"/>
              <a:t>ühte</a:t>
            </a:r>
            <a:r>
              <a:rPr lang="en-GB" dirty="0"/>
              <a:t> "</a:t>
            </a:r>
            <a:r>
              <a:rPr lang="en-GB" dirty="0" err="1"/>
              <a:t>tõeallikasse</a:t>
            </a:r>
            <a:r>
              <a:rPr lang="en-GB" dirty="0"/>
              <a:t>" </a:t>
            </a:r>
            <a:r>
              <a:rPr lang="en-GB" dirty="0" err="1"/>
              <a:t>enne</a:t>
            </a:r>
            <a:r>
              <a:rPr lang="en-GB" dirty="0"/>
              <a:t>, </a:t>
            </a:r>
            <a:r>
              <a:rPr lang="en-GB" dirty="0" err="1"/>
              <a:t>kui</a:t>
            </a:r>
            <a:r>
              <a:rPr lang="en-GB" dirty="0"/>
              <a:t> Power BI </a:t>
            </a:r>
            <a:r>
              <a:rPr lang="en-GB" dirty="0" err="1"/>
              <a:t>neid</a:t>
            </a:r>
            <a:r>
              <a:rPr lang="en-GB" dirty="0"/>
              <a:t> </a:t>
            </a:r>
            <a:r>
              <a:rPr lang="en-GB" dirty="0" err="1"/>
              <a:t>kuvama</a:t>
            </a:r>
            <a:r>
              <a:rPr lang="en-GB" dirty="0"/>
              <a:t> </a:t>
            </a:r>
            <a:r>
              <a:rPr lang="en-GB" dirty="0" err="1"/>
              <a:t>hakkab</a:t>
            </a:r>
            <a:r>
              <a:rPr lang="en-GB" dirty="0"/>
              <a:t>.</a:t>
            </a:r>
          </a:p>
          <a:p>
            <a:pPr lvl="0"/>
            <a:r>
              <a:rPr lang="en-GB" b="1" dirty="0" err="1"/>
              <a:t>Raportite</a:t>
            </a:r>
            <a:r>
              <a:rPr lang="en-GB" b="1" dirty="0"/>
              <a:t> </a:t>
            </a:r>
            <a:r>
              <a:rPr lang="en-GB" b="1" dirty="0" err="1"/>
              <a:t>kiirus</a:t>
            </a:r>
            <a:r>
              <a:rPr lang="en-GB" b="1" dirty="0"/>
              <a:t> (Direct Lake):</a:t>
            </a:r>
            <a:r>
              <a:rPr lang="en-GB" dirty="0"/>
              <a:t> Kui </a:t>
            </a:r>
            <a:r>
              <a:rPr lang="en-GB" dirty="0" err="1"/>
              <a:t>teie</a:t>
            </a:r>
            <a:r>
              <a:rPr lang="en-GB" dirty="0"/>
              <a:t> </a:t>
            </a:r>
            <a:r>
              <a:rPr lang="en-GB" dirty="0" err="1"/>
              <a:t>andmemaht</a:t>
            </a:r>
            <a:r>
              <a:rPr lang="en-GB" dirty="0"/>
              <a:t> on </a:t>
            </a:r>
            <a:r>
              <a:rPr lang="en-GB" dirty="0" err="1"/>
              <a:t>suur</a:t>
            </a:r>
            <a:r>
              <a:rPr lang="en-GB" dirty="0"/>
              <a:t> </a:t>
            </a:r>
            <a:r>
              <a:rPr lang="en-GB" dirty="0" err="1"/>
              <a:t>ja</a:t>
            </a:r>
            <a:r>
              <a:rPr lang="en-GB" dirty="0"/>
              <a:t> </a:t>
            </a:r>
            <a:r>
              <a:rPr lang="en-GB" dirty="0" err="1"/>
              <a:t>tavaline</a:t>
            </a:r>
            <a:r>
              <a:rPr lang="en-GB" dirty="0"/>
              <a:t> Power BI </a:t>
            </a:r>
            <a:r>
              <a:rPr lang="en-GB" dirty="0" err="1"/>
              <a:t>raport</a:t>
            </a:r>
            <a:r>
              <a:rPr lang="en-GB" dirty="0"/>
              <a:t> </a:t>
            </a:r>
            <a:r>
              <a:rPr lang="en-GB" dirty="0" err="1"/>
              <a:t>laeb</a:t>
            </a:r>
            <a:r>
              <a:rPr lang="en-GB" dirty="0"/>
              <a:t> </a:t>
            </a:r>
            <a:r>
              <a:rPr lang="en-GB" dirty="0" err="1"/>
              <a:t>minuteid</a:t>
            </a:r>
            <a:r>
              <a:rPr lang="en-GB" dirty="0"/>
              <a:t>. Fabric </a:t>
            </a:r>
            <a:r>
              <a:rPr lang="en-GB" dirty="0" err="1"/>
              <a:t>võimaldab</a:t>
            </a:r>
            <a:r>
              <a:rPr lang="en-GB" dirty="0"/>
              <a:t> </a:t>
            </a:r>
            <a:r>
              <a:rPr lang="en-GB" dirty="0" err="1"/>
              <a:t>kasutada</a:t>
            </a:r>
            <a:r>
              <a:rPr lang="en-GB" dirty="0"/>
              <a:t> </a:t>
            </a:r>
            <a:r>
              <a:rPr lang="en-GB" dirty="0" err="1"/>
              <a:t>tehnoloogiat</a:t>
            </a:r>
            <a:r>
              <a:rPr lang="en-GB" dirty="0"/>
              <a:t>, </a:t>
            </a:r>
            <a:r>
              <a:rPr lang="en-GB" dirty="0" err="1"/>
              <a:t>kus</a:t>
            </a:r>
            <a:r>
              <a:rPr lang="en-GB" dirty="0"/>
              <a:t> Power BI </a:t>
            </a:r>
            <a:r>
              <a:rPr lang="en-GB" dirty="0" err="1"/>
              <a:t>loeb</a:t>
            </a:r>
            <a:r>
              <a:rPr lang="en-GB" dirty="0"/>
              <a:t> </a:t>
            </a:r>
            <a:r>
              <a:rPr lang="en-GB" dirty="0" err="1"/>
              <a:t>hiiglaslikke</a:t>
            </a:r>
            <a:r>
              <a:rPr lang="en-GB" dirty="0"/>
              <a:t> </a:t>
            </a:r>
            <a:r>
              <a:rPr lang="en-GB" dirty="0" err="1"/>
              <a:t>andmemahte</a:t>
            </a:r>
            <a:r>
              <a:rPr lang="en-GB" dirty="0"/>
              <a:t> </a:t>
            </a:r>
            <a:r>
              <a:rPr lang="en-GB" dirty="0" err="1"/>
              <a:t>otse</a:t>
            </a:r>
            <a:r>
              <a:rPr lang="en-GB" dirty="0"/>
              <a:t> </a:t>
            </a:r>
            <a:r>
              <a:rPr lang="en-GB" dirty="0" err="1"/>
              <a:t>pilveandmejärvest</a:t>
            </a:r>
            <a:r>
              <a:rPr lang="en-GB" dirty="0"/>
              <a:t> </a:t>
            </a:r>
            <a:r>
              <a:rPr lang="en-GB" dirty="0" err="1"/>
              <a:t>sekunditega</a:t>
            </a:r>
            <a:r>
              <a:rPr lang="en-GB" dirty="0"/>
              <a:t>, </a:t>
            </a:r>
            <a:r>
              <a:rPr lang="en-GB" dirty="0" err="1"/>
              <a:t>ilma</a:t>
            </a:r>
            <a:r>
              <a:rPr lang="en-GB" dirty="0"/>
              <a:t> </a:t>
            </a:r>
            <a:r>
              <a:rPr lang="en-GB" dirty="0" err="1"/>
              <a:t>andmeid</a:t>
            </a:r>
            <a:r>
              <a:rPr lang="en-GB" dirty="0"/>
              <a:t> Power BI-</a:t>
            </a:r>
            <a:r>
              <a:rPr lang="en-GB" dirty="0" err="1"/>
              <a:t>sse</a:t>
            </a:r>
            <a:r>
              <a:rPr lang="en-GB" dirty="0"/>
              <a:t> </a:t>
            </a:r>
            <a:r>
              <a:rPr lang="en-GB" dirty="0" err="1"/>
              <a:t>sisse</a:t>
            </a:r>
            <a:r>
              <a:rPr lang="en-GB" dirty="0"/>
              <a:t> </a:t>
            </a:r>
            <a:r>
              <a:rPr lang="en-GB" dirty="0" err="1"/>
              <a:t>laadimata</a:t>
            </a:r>
            <a:r>
              <a:rPr lang="en-GB" dirty="0"/>
              <a:t>.</a:t>
            </a:r>
          </a:p>
          <a:p>
            <a:pPr lvl="0"/>
            <a:r>
              <a:rPr lang="en-GB" b="1" dirty="0" err="1"/>
              <a:t>Ühine</a:t>
            </a:r>
            <a:r>
              <a:rPr lang="en-GB" b="1" dirty="0"/>
              <a:t> </a:t>
            </a:r>
            <a:r>
              <a:rPr lang="en-GB" b="1" dirty="0" err="1"/>
              <a:t>andmebaas</a:t>
            </a:r>
            <a:r>
              <a:rPr lang="en-GB" b="1" dirty="0"/>
              <a:t> </a:t>
            </a:r>
            <a:r>
              <a:rPr lang="en-GB" b="1" dirty="0" err="1"/>
              <a:t>teiste</a:t>
            </a:r>
            <a:r>
              <a:rPr lang="en-GB" b="1" dirty="0"/>
              <a:t> </a:t>
            </a:r>
            <a:r>
              <a:rPr lang="en-GB" b="1" dirty="0" err="1"/>
              <a:t>süsteemide</a:t>
            </a:r>
            <a:r>
              <a:rPr lang="en-GB" b="1" dirty="0"/>
              <a:t> </a:t>
            </a:r>
            <a:r>
              <a:rPr lang="en-GB" b="1" dirty="0" err="1"/>
              <a:t>jaoks</a:t>
            </a:r>
            <a:r>
              <a:rPr lang="en-GB" b="1" dirty="0"/>
              <a:t>:</a:t>
            </a:r>
            <a:r>
              <a:rPr lang="en-GB" dirty="0"/>
              <a:t> Kui </a:t>
            </a:r>
            <a:r>
              <a:rPr lang="en-GB" dirty="0" err="1"/>
              <a:t>soovite</a:t>
            </a:r>
            <a:r>
              <a:rPr lang="en-GB" dirty="0"/>
              <a:t>, et </a:t>
            </a:r>
            <a:r>
              <a:rPr lang="en-GB" dirty="0" err="1"/>
              <a:t>puhastatud</a:t>
            </a:r>
            <a:r>
              <a:rPr lang="en-GB" dirty="0"/>
              <a:t> </a:t>
            </a:r>
            <a:r>
              <a:rPr lang="en-GB" dirty="0" err="1"/>
              <a:t>andmetele</a:t>
            </a:r>
            <a:r>
              <a:rPr lang="en-GB" dirty="0"/>
              <a:t> </a:t>
            </a:r>
            <a:r>
              <a:rPr lang="en-GB" dirty="0" err="1"/>
              <a:t>pääseks</a:t>
            </a:r>
            <a:r>
              <a:rPr lang="en-GB" dirty="0"/>
              <a:t> </a:t>
            </a:r>
            <a:r>
              <a:rPr lang="en-GB" dirty="0" err="1"/>
              <a:t>ligi</a:t>
            </a:r>
            <a:r>
              <a:rPr lang="en-GB" dirty="0"/>
              <a:t> </a:t>
            </a:r>
            <a:r>
              <a:rPr lang="en-GB" dirty="0" err="1"/>
              <a:t>lisaks</a:t>
            </a:r>
            <a:r>
              <a:rPr lang="en-GB" dirty="0"/>
              <a:t> Power BI-le ka </a:t>
            </a:r>
            <a:r>
              <a:rPr lang="en-GB" dirty="0" err="1"/>
              <a:t>teised</a:t>
            </a:r>
            <a:r>
              <a:rPr lang="en-GB" dirty="0"/>
              <a:t> </a:t>
            </a:r>
            <a:r>
              <a:rPr lang="en-GB" dirty="0" err="1"/>
              <a:t>programmid</a:t>
            </a:r>
            <a:r>
              <a:rPr lang="en-GB" dirty="0"/>
              <a:t>, </a:t>
            </a:r>
            <a:r>
              <a:rPr lang="en-GB" dirty="0" err="1"/>
              <a:t>tehisintellekti</a:t>
            </a:r>
            <a:r>
              <a:rPr lang="en-GB" dirty="0"/>
              <a:t> (AI) </a:t>
            </a:r>
            <a:r>
              <a:rPr lang="en-GB" dirty="0" err="1"/>
              <a:t>mudelid</a:t>
            </a:r>
            <a:r>
              <a:rPr lang="en-GB" dirty="0"/>
              <a:t> </a:t>
            </a:r>
            <a:r>
              <a:rPr lang="en-GB" dirty="0" err="1"/>
              <a:t>või</a:t>
            </a:r>
            <a:r>
              <a:rPr lang="en-GB" dirty="0"/>
              <a:t> </a:t>
            </a:r>
            <a:r>
              <a:rPr lang="en-GB" dirty="0" err="1"/>
              <a:t>välised</a:t>
            </a:r>
            <a:r>
              <a:rPr lang="en-GB" dirty="0"/>
              <a:t> </a:t>
            </a:r>
            <a:r>
              <a:rPr lang="en-GB" dirty="0" err="1"/>
              <a:t>partnerid</a:t>
            </a:r>
            <a:r>
              <a:rPr lang="en-GB" dirty="0"/>
              <a:t>.</a:t>
            </a:r>
          </a:p>
          <a:p>
            <a:pPr lvl="0"/>
            <a:r>
              <a:rPr lang="en-GB" b="1" dirty="0" err="1"/>
              <a:t>Üks</a:t>
            </a:r>
            <a:r>
              <a:rPr lang="en-GB" b="1" dirty="0"/>
              <a:t> </a:t>
            </a:r>
            <a:r>
              <a:rPr lang="en-GB" b="1" dirty="0" err="1"/>
              <a:t>tõeallikas</a:t>
            </a:r>
            <a:r>
              <a:rPr lang="en-GB" b="1" dirty="0"/>
              <a:t> (Single Source of Truth)</a:t>
            </a:r>
            <a:r>
              <a:rPr lang="en-GB" dirty="0"/>
              <a:t>: </a:t>
            </a:r>
            <a:r>
              <a:rPr lang="en-GB" dirty="0" err="1"/>
              <a:t>Kaob</a:t>
            </a:r>
            <a:r>
              <a:rPr lang="en-GB" dirty="0"/>
              <a:t> </a:t>
            </a:r>
            <a:r>
              <a:rPr lang="en-GB" dirty="0" err="1"/>
              <a:t>olukord</a:t>
            </a:r>
            <a:r>
              <a:rPr lang="en-GB" dirty="0"/>
              <a:t>, </a:t>
            </a:r>
            <a:r>
              <a:rPr lang="en-GB" dirty="0" err="1"/>
              <a:t>kus</a:t>
            </a:r>
            <a:r>
              <a:rPr lang="en-GB" dirty="0"/>
              <a:t> </a:t>
            </a:r>
            <a:r>
              <a:rPr lang="en-GB" dirty="0" err="1"/>
              <a:t>turundusel</a:t>
            </a:r>
            <a:r>
              <a:rPr lang="en-GB" dirty="0"/>
              <a:t> </a:t>
            </a:r>
            <a:r>
              <a:rPr lang="en-GB" dirty="0" err="1"/>
              <a:t>ja</a:t>
            </a:r>
            <a:r>
              <a:rPr lang="en-GB" dirty="0"/>
              <a:t> </a:t>
            </a:r>
            <a:r>
              <a:rPr lang="en-GB" dirty="0" err="1"/>
              <a:t>finantsil</a:t>
            </a:r>
            <a:r>
              <a:rPr lang="en-GB" dirty="0"/>
              <a:t> on </a:t>
            </a:r>
            <a:r>
              <a:rPr lang="en-GB" dirty="0" err="1"/>
              <a:t>erinevad</a:t>
            </a:r>
            <a:r>
              <a:rPr lang="en-GB" dirty="0"/>
              <a:t> </a:t>
            </a:r>
            <a:r>
              <a:rPr lang="en-GB" dirty="0" err="1"/>
              <a:t>müüginumbrid</a:t>
            </a:r>
            <a:r>
              <a:rPr lang="en-GB" dirty="0"/>
              <a:t>.</a:t>
            </a:r>
          </a:p>
          <a:p>
            <a:pPr lvl="0"/>
            <a:r>
              <a:rPr lang="en-GB" b="1" dirty="0" err="1"/>
              <a:t>Andmepõhine</a:t>
            </a:r>
            <a:r>
              <a:rPr lang="en-GB" b="1" dirty="0"/>
              <a:t> </a:t>
            </a:r>
            <a:r>
              <a:rPr lang="en-GB" b="1" dirty="0" err="1"/>
              <a:t>juhtimine</a:t>
            </a:r>
            <a:r>
              <a:rPr lang="en-GB" dirty="0"/>
              <a:t>: </a:t>
            </a:r>
            <a:r>
              <a:rPr lang="en-GB" dirty="0" err="1"/>
              <a:t>Otsused</a:t>
            </a:r>
            <a:r>
              <a:rPr lang="en-GB" dirty="0"/>
              <a:t> </a:t>
            </a:r>
            <a:r>
              <a:rPr lang="en-GB" dirty="0" err="1"/>
              <a:t>tehakse</a:t>
            </a:r>
            <a:r>
              <a:rPr lang="en-GB" dirty="0"/>
              <a:t> </a:t>
            </a:r>
            <a:r>
              <a:rPr lang="en-GB" dirty="0" err="1"/>
              <a:t>reaalsete</a:t>
            </a:r>
            <a:r>
              <a:rPr lang="en-GB" dirty="0"/>
              <a:t> </a:t>
            </a:r>
            <a:r>
              <a:rPr lang="en-GB" dirty="0" err="1"/>
              <a:t>andmete</a:t>
            </a:r>
            <a:r>
              <a:rPr lang="en-GB" dirty="0"/>
              <a:t>, </a:t>
            </a:r>
            <a:r>
              <a:rPr lang="en-GB" dirty="0" err="1"/>
              <a:t>mitte</a:t>
            </a:r>
            <a:r>
              <a:rPr lang="en-GB" dirty="0"/>
              <a:t> </a:t>
            </a:r>
            <a:r>
              <a:rPr lang="en-GB" dirty="0" err="1"/>
              <a:t>kõhutunde</a:t>
            </a:r>
            <a:r>
              <a:rPr lang="en-GB" dirty="0"/>
              <a:t> </a:t>
            </a:r>
            <a:r>
              <a:rPr lang="en-GB" dirty="0" err="1"/>
              <a:t>põhjal</a:t>
            </a:r>
            <a:r>
              <a:rPr lang="en-GB" dirty="0"/>
              <a:t>.</a:t>
            </a:r>
          </a:p>
          <a:p>
            <a:pPr lvl="0"/>
            <a:r>
              <a:rPr lang="en-GB" b="1" dirty="0"/>
              <a:t>AI </a:t>
            </a:r>
            <a:r>
              <a:rPr lang="en-GB" b="1" dirty="0" err="1"/>
              <a:t>ja</a:t>
            </a:r>
            <a:r>
              <a:rPr lang="en-GB" b="1" dirty="0"/>
              <a:t> </a:t>
            </a:r>
            <a:r>
              <a:rPr lang="en-GB" b="1" dirty="0" err="1"/>
              <a:t>masinõppe</a:t>
            </a:r>
            <a:r>
              <a:rPr lang="en-GB" b="1" dirty="0"/>
              <a:t> </a:t>
            </a:r>
            <a:r>
              <a:rPr lang="en-GB" b="1" dirty="0" err="1"/>
              <a:t>valmidus</a:t>
            </a:r>
            <a:r>
              <a:rPr lang="en-GB" dirty="0"/>
              <a:t>: </a:t>
            </a:r>
            <a:r>
              <a:rPr lang="en-GB" dirty="0" err="1"/>
              <a:t>Tehisintellekti</a:t>
            </a:r>
            <a:r>
              <a:rPr lang="en-GB" dirty="0"/>
              <a:t> </a:t>
            </a:r>
            <a:r>
              <a:rPr lang="en-GB" dirty="0" err="1"/>
              <a:t>mudelid</a:t>
            </a:r>
            <a:r>
              <a:rPr lang="en-GB" dirty="0"/>
              <a:t> </a:t>
            </a:r>
            <a:r>
              <a:rPr lang="en-GB" dirty="0" err="1"/>
              <a:t>vajavad</a:t>
            </a:r>
            <a:r>
              <a:rPr lang="en-GB" dirty="0"/>
              <a:t> </a:t>
            </a:r>
            <a:r>
              <a:rPr lang="en-GB" dirty="0" err="1"/>
              <a:t>õppimiseks</a:t>
            </a:r>
            <a:r>
              <a:rPr lang="en-GB" dirty="0"/>
              <a:t> </a:t>
            </a:r>
            <a:r>
              <a:rPr lang="en-GB" dirty="0" err="1"/>
              <a:t>ja</a:t>
            </a:r>
            <a:r>
              <a:rPr lang="en-GB" dirty="0"/>
              <a:t> </a:t>
            </a:r>
            <a:r>
              <a:rPr lang="en-GB" dirty="0" err="1"/>
              <a:t>toimimiseks</a:t>
            </a:r>
            <a:r>
              <a:rPr lang="en-GB" dirty="0"/>
              <a:t> </a:t>
            </a:r>
            <a:r>
              <a:rPr lang="en-GB" dirty="0" err="1"/>
              <a:t>kvaliteetseid</a:t>
            </a:r>
            <a:r>
              <a:rPr lang="en-GB" dirty="0"/>
              <a:t> </a:t>
            </a:r>
            <a:r>
              <a:rPr lang="en-GB" dirty="0" err="1"/>
              <a:t>ning</a:t>
            </a:r>
            <a:r>
              <a:rPr lang="en-GB" dirty="0"/>
              <a:t> </a:t>
            </a:r>
            <a:r>
              <a:rPr lang="en-GB" dirty="0" err="1"/>
              <a:t>struktureeritud</a:t>
            </a:r>
            <a:r>
              <a:rPr lang="en-GB" dirty="0"/>
              <a:t> </a:t>
            </a:r>
            <a:r>
              <a:rPr lang="en-GB" dirty="0" err="1"/>
              <a:t>andmeid</a:t>
            </a:r>
            <a:r>
              <a:rPr lang="en-GB" dirty="0"/>
              <a:t>.</a:t>
            </a:r>
          </a:p>
          <a:p>
            <a:pPr lvl="0"/>
            <a:r>
              <a:rPr lang="en-GB" b="1" dirty="0" err="1"/>
              <a:t>Protsesside</a:t>
            </a:r>
            <a:r>
              <a:rPr lang="en-GB" b="1" dirty="0"/>
              <a:t> </a:t>
            </a:r>
            <a:r>
              <a:rPr lang="en-GB" b="1" dirty="0" err="1"/>
              <a:t>automatiseerimine</a:t>
            </a:r>
            <a:r>
              <a:rPr lang="en-GB" dirty="0"/>
              <a:t>: </a:t>
            </a:r>
            <a:r>
              <a:rPr lang="en-GB" dirty="0" err="1"/>
              <a:t>Vähendab</a:t>
            </a:r>
            <a:r>
              <a:rPr lang="en-GB" dirty="0"/>
              <a:t> </a:t>
            </a:r>
            <a:r>
              <a:rPr lang="en-GB" dirty="0" err="1"/>
              <a:t>käsitööd</a:t>
            </a:r>
            <a:r>
              <a:rPr lang="en-GB" dirty="0"/>
              <a:t> </a:t>
            </a:r>
            <a:r>
              <a:rPr lang="en-GB" dirty="0" err="1"/>
              <a:t>raportite</a:t>
            </a:r>
            <a:r>
              <a:rPr lang="en-GB" dirty="0"/>
              <a:t> </a:t>
            </a:r>
            <a:r>
              <a:rPr lang="en-GB" dirty="0" err="1"/>
              <a:t>koostamisel</a:t>
            </a:r>
            <a:r>
              <a:rPr lang="en-GB" dirty="0"/>
              <a:t> </a:t>
            </a:r>
            <a:r>
              <a:rPr lang="en-GB" dirty="0" err="1"/>
              <a:t>ja</a:t>
            </a:r>
            <a:r>
              <a:rPr lang="en-GB" dirty="0"/>
              <a:t> </a:t>
            </a:r>
            <a:r>
              <a:rPr lang="en-GB" dirty="0" err="1"/>
              <a:t>andmete</a:t>
            </a:r>
            <a:r>
              <a:rPr lang="en-GB" dirty="0"/>
              <a:t> </a:t>
            </a:r>
            <a:r>
              <a:rPr lang="en-GB" dirty="0" err="1"/>
              <a:t>liigutamisel</a:t>
            </a:r>
            <a:r>
              <a:rPr lang="en-GB" dirty="0"/>
              <a:t>. [</a:t>
            </a:r>
            <a:r>
              <a:rPr lang="en-GB" dirty="0">
                <a:hlinkClick r:id="rId2"/>
              </a:rPr>
              <a:t>1</a:t>
            </a:r>
            <a:r>
              <a:rPr lang="en-GB" dirty="0"/>
              <a:t>, </a:t>
            </a:r>
            <a:r>
              <a:rPr lang="en-GB" dirty="0">
                <a:hlinkClick r:id="rId3"/>
              </a:rPr>
              <a:t>2</a:t>
            </a:r>
            <a:r>
              <a:rPr lang="en-GB" dirty="0"/>
              <a:t>, </a:t>
            </a:r>
            <a:r>
              <a:rPr lang="en-GB" dirty="0">
                <a:hlinkClick r:id="rId4"/>
              </a:rPr>
              <a:t>3</a:t>
            </a:r>
            <a:r>
              <a:rPr lang="en-GB" dirty="0"/>
              <a:t>, </a:t>
            </a:r>
            <a:r>
              <a:rPr lang="en-GB" dirty="0">
                <a:hlinkClick r:id="rId5"/>
              </a:rPr>
              <a:t>4</a:t>
            </a:r>
            <a:r>
              <a:rPr lang="en-GB" dirty="0"/>
              <a:t>]</a:t>
            </a:r>
          </a:p>
          <a:p>
            <a:br>
              <a:rPr lang="en-GB" dirty="0"/>
            </a:br>
            <a:endParaRPr lang="en-GB" dirty="0"/>
          </a:p>
          <a:p>
            <a:pPr lvl="0"/>
            <a:endParaRPr lang="en-GB" dirty="0"/>
          </a:p>
          <a:p>
            <a:endParaRPr lang="en-GB" dirty="0"/>
          </a:p>
        </p:txBody>
      </p:sp>
    </p:spTree>
    <p:extLst>
      <p:ext uri="{BB962C8B-B14F-4D97-AF65-F5344CB8AC3E}">
        <p14:creationId xmlns:p14="http://schemas.microsoft.com/office/powerpoint/2010/main" val="3778716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A1293-1ECA-81B6-C996-119C4D3457A3}"/>
              </a:ext>
            </a:extLst>
          </p:cNvPr>
          <p:cNvSpPr>
            <a:spLocks noGrp="1"/>
          </p:cNvSpPr>
          <p:nvPr>
            <p:ph type="ctrTitle"/>
          </p:nvPr>
        </p:nvSpPr>
        <p:spPr/>
        <p:txBody>
          <a:bodyPr/>
          <a:lstStyle/>
          <a:p>
            <a:endParaRPr lang="en-GB"/>
          </a:p>
        </p:txBody>
      </p:sp>
      <p:sp>
        <p:nvSpPr>
          <p:cNvPr id="3" name="Content Placeholder 2">
            <a:extLst>
              <a:ext uri="{FF2B5EF4-FFF2-40B4-BE49-F238E27FC236}">
                <a16:creationId xmlns:a16="http://schemas.microsoft.com/office/drawing/2014/main" id="{7FF2CB11-705C-E026-7E88-AA024C992639}"/>
              </a:ext>
            </a:extLst>
          </p:cNvPr>
          <p:cNvSpPr>
            <a:spLocks noGrp="1"/>
          </p:cNvSpPr>
          <p:nvPr>
            <p:ph sz="quarter" idx="10"/>
          </p:nvPr>
        </p:nvSpPr>
        <p:spPr/>
        <p:txBody>
          <a:bodyPr/>
          <a:lstStyle/>
          <a:p>
            <a:r>
              <a:rPr lang="et-EE" b="1" dirty="0"/>
              <a:t>Andmeplatvormid</a:t>
            </a:r>
            <a:r>
              <a:rPr lang="et-EE" dirty="0"/>
              <a:t> on terviklikud tehnoloogilised lahendused, mis võimaldavad ettevõtetel ja organisatsioonidel andmeid </a:t>
            </a:r>
            <a:r>
              <a:rPr lang="et-EE" dirty="0">
                <a:hlinkClick r:id="rId2"/>
              </a:rPr>
              <a:t>koguda, salvestada, töödelda, analüüsida ja visualiseerida</a:t>
            </a:r>
            <a:r>
              <a:rPr lang="et-EE" dirty="0"/>
              <a:t>. Kaasaegne andmeplatvorm toimib ärianalüütika (BI) ja tehisintellekti (AI) vundamendina, koondades eri süsteemide andmed ühte turvalisse keskkonda</a:t>
            </a:r>
            <a:endParaRPr lang="en-GB" dirty="0"/>
          </a:p>
          <a:p>
            <a:endParaRPr lang="en-GB" dirty="0"/>
          </a:p>
          <a:p>
            <a:r>
              <a:rPr lang="en-GB" dirty="0"/>
              <a:t>https://elvenite.se/en/articles/what-are-the-best-modern-data-platforms-in-2026/</a:t>
            </a:r>
          </a:p>
        </p:txBody>
      </p:sp>
      <p:pic>
        <p:nvPicPr>
          <p:cNvPr id="4" name="Picture 3" descr="A simple diagram of a data platform that includes how it ingests, stores and catalogues data from the sources to turn into analytics and visualisations">
            <a:extLst>
              <a:ext uri="{FF2B5EF4-FFF2-40B4-BE49-F238E27FC236}">
                <a16:creationId xmlns:a16="http://schemas.microsoft.com/office/drawing/2014/main" id="{23E0298F-E9E6-5451-D77C-050B9068A74E}"/>
              </a:ext>
            </a:extLst>
          </p:cNvPr>
          <p:cNvPicPr>
            <a:picLocks noChangeAspect="1"/>
          </p:cNvPicPr>
          <p:nvPr/>
        </p:nvPicPr>
        <p:blipFill>
          <a:blip r:embed="rId3"/>
          <a:stretch>
            <a:fillRect/>
          </a:stretch>
        </p:blipFill>
        <p:spPr>
          <a:xfrm>
            <a:off x="835378" y="2937242"/>
            <a:ext cx="5757333" cy="3240821"/>
          </a:xfrm>
          <a:prstGeom prst="rect">
            <a:avLst/>
          </a:prstGeom>
        </p:spPr>
      </p:pic>
    </p:spTree>
    <p:extLst>
      <p:ext uri="{BB962C8B-B14F-4D97-AF65-F5344CB8AC3E}">
        <p14:creationId xmlns:p14="http://schemas.microsoft.com/office/powerpoint/2010/main" val="272416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2">
            <a:extLst>
              <a:ext uri="{FF2B5EF4-FFF2-40B4-BE49-F238E27FC236}">
                <a16:creationId xmlns:a16="http://schemas.microsoft.com/office/drawing/2014/main" id="{68A6476D-19E7-4ECC-EDE0-F1B5605EC95E}"/>
              </a:ext>
            </a:extLst>
          </p:cNvPr>
          <p:cNvSpPr>
            <a:spLocks noGrp="1"/>
          </p:cNvSpPr>
          <p:nvPr>
            <p:ph type="ctrTitle"/>
          </p:nvPr>
        </p:nvSpPr>
        <p:spPr>
          <a:xfrm>
            <a:off x="623888" y="479570"/>
            <a:ext cx="10044112" cy="357043"/>
          </a:xfrm>
        </p:spPr>
        <p:txBody>
          <a:bodyPr/>
          <a:lstStyle/>
          <a:p>
            <a:pPr lvl="0"/>
            <a:r>
              <a:rPr lang="et-EE" b="1" dirty="0"/>
              <a:t>Kaasaegse andmeplatvormi põhikomponendid</a:t>
            </a:r>
            <a:endParaRPr lang="en-US" dirty="0"/>
          </a:p>
        </p:txBody>
      </p:sp>
      <p:graphicFrame>
        <p:nvGraphicFramePr>
          <p:cNvPr id="5" name="Content Placeholder 2">
            <a:extLst>
              <a:ext uri="{FF2B5EF4-FFF2-40B4-BE49-F238E27FC236}">
                <a16:creationId xmlns:a16="http://schemas.microsoft.com/office/drawing/2014/main" id="{8A4387B5-3561-117A-6C69-77EED2A14894}"/>
              </a:ext>
            </a:extLst>
          </p:cNvPr>
          <p:cNvGraphicFramePr>
            <a:graphicFrameLocks noGrp="1"/>
          </p:cNvGraphicFramePr>
          <p:nvPr>
            <p:ph type="media" sz="quarter" idx="10"/>
            <p:extLst>
              <p:ext uri="{D42A27DB-BD31-4B8C-83A1-F6EECF244321}">
                <p14:modId xmlns:p14="http://schemas.microsoft.com/office/powerpoint/2010/main" val="448477652"/>
              </p:ext>
            </p:extLst>
          </p:nvPr>
        </p:nvGraphicFramePr>
        <p:xfrm>
          <a:off x="623888" y="1273729"/>
          <a:ext cx="9513534" cy="49916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80093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38844-2B4F-2B5F-830B-7D1533DA9FF0}"/>
              </a:ext>
            </a:extLst>
          </p:cNvPr>
          <p:cNvSpPr>
            <a:spLocks noGrp="1"/>
          </p:cNvSpPr>
          <p:nvPr>
            <p:ph type="ctrTitle"/>
          </p:nvPr>
        </p:nvSpPr>
        <p:spPr>
          <a:xfrm>
            <a:off x="623888" y="479570"/>
            <a:ext cx="10044112" cy="357043"/>
          </a:xfrm>
        </p:spPr>
        <p:txBody>
          <a:bodyPr anchor="t">
            <a:normAutofit/>
          </a:bodyPr>
          <a:lstStyle/>
          <a:p>
            <a:r>
              <a:rPr lang="et-EE" sz="1300" dirty="0"/>
              <a:t>Populaarsed andmeplatvormide tehnoloogiad</a:t>
            </a:r>
            <a:br>
              <a:rPr lang="et-EE" sz="1300" dirty="0"/>
            </a:br>
            <a:endParaRPr lang="et-EE" sz="1300" dirty="0"/>
          </a:p>
        </p:txBody>
      </p:sp>
      <p:sp>
        <p:nvSpPr>
          <p:cNvPr id="9" name="Content Placeholder 2">
            <a:extLst>
              <a:ext uri="{FF2B5EF4-FFF2-40B4-BE49-F238E27FC236}">
                <a16:creationId xmlns:a16="http://schemas.microsoft.com/office/drawing/2014/main" id="{0F9702C4-911A-81AB-55B4-32551C81C617}"/>
              </a:ext>
            </a:extLst>
          </p:cNvPr>
          <p:cNvSpPr>
            <a:spLocks noGrp="1"/>
          </p:cNvSpPr>
          <p:nvPr>
            <p:ph sz="quarter" idx="10"/>
          </p:nvPr>
        </p:nvSpPr>
        <p:spPr>
          <a:xfrm>
            <a:off x="623888" y="1268413"/>
            <a:ext cx="2709862" cy="4465637"/>
          </a:xfrm>
        </p:spPr>
        <p:txBody>
          <a:bodyPr/>
          <a:lstStyle/>
          <a:p>
            <a:r>
              <a:rPr lang="et-EE" dirty="0"/>
              <a:t>Tänapäeva turul on juhtivad platvormid suunatud pilvepõhisusele, suurele skaleeritavusele ja reaalajas analüütikale</a:t>
            </a:r>
            <a:endParaRPr lang="en-GB" dirty="0"/>
          </a:p>
          <a:p>
            <a:r>
              <a:rPr lang="en-GB" dirty="0"/>
              <a:t>Kui </a:t>
            </a:r>
            <a:r>
              <a:rPr lang="en-GB" dirty="0" err="1"/>
              <a:t>tegemist</a:t>
            </a:r>
            <a:r>
              <a:rPr lang="en-GB" dirty="0"/>
              <a:t> on </a:t>
            </a:r>
            <a:r>
              <a:rPr lang="en-GB" dirty="0" err="1"/>
              <a:t>üksikasutajaga</a:t>
            </a:r>
            <a:r>
              <a:rPr lang="en-GB" dirty="0"/>
              <a:t> </a:t>
            </a:r>
            <a:r>
              <a:rPr lang="en-GB" dirty="0" err="1"/>
              <a:t>ja</a:t>
            </a:r>
            <a:r>
              <a:rPr lang="en-GB" dirty="0"/>
              <a:t> pole </a:t>
            </a:r>
            <a:r>
              <a:rPr lang="en-GB" dirty="0" err="1"/>
              <a:t>vaja</a:t>
            </a:r>
            <a:r>
              <a:rPr lang="en-GB" dirty="0"/>
              <a:t> </a:t>
            </a:r>
            <a:r>
              <a:rPr lang="en-GB" dirty="0" err="1"/>
              <a:t>keerukaid</a:t>
            </a:r>
            <a:r>
              <a:rPr lang="en-GB" dirty="0"/>
              <a:t> </a:t>
            </a:r>
            <a:r>
              <a:rPr lang="en-GB" dirty="0" err="1"/>
              <a:t>ajastamist</a:t>
            </a:r>
            <a:r>
              <a:rPr lang="en-GB" dirty="0"/>
              <a:t> </a:t>
            </a:r>
            <a:r>
              <a:rPr lang="en-GB" dirty="0" err="1"/>
              <a:t>vajavaid</a:t>
            </a:r>
            <a:r>
              <a:rPr lang="en-GB" dirty="0"/>
              <a:t> </a:t>
            </a:r>
            <a:r>
              <a:rPr lang="en-GB" dirty="0" err="1"/>
              <a:t>laadimisi</a:t>
            </a:r>
            <a:r>
              <a:rPr lang="en-GB" dirty="0"/>
              <a:t>, </a:t>
            </a:r>
            <a:r>
              <a:rPr lang="en-GB" dirty="0" err="1"/>
              <a:t>siis</a:t>
            </a:r>
            <a:r>
              <a:rPr lang="en-GB" dirty="0"/>
              <a:t> Power BI</a:t>
            </a:r>
          </a:p>
          <a:p>
            <a:endParaRPr lang="en-US" dirty="0"/>
          </a:p>
        </p:txBody>
      </p:sp>
      <p:graphicFrame>
        <p:nvGraphicFramePr>
          <p:cNvPr id="5" name="Content Placeholder 2">
            <a:extLst>
              <a:ext uri="{FF2B5EF4-FFF2-40B4-BE49-F238E27FC236}">
                <a16:creationId xmlns:a16="http://schemas.microsoft.com/office/drawing/2014/main" id="{C6404B0F-6378-AF34-CA7D-13BF3D87CE60}"/>
              </a:ext>
            </a:extLst>
          </p:cNvPr>
          <p:cNvGraphicFramePr>
            <a:graphicFrameLocks noGrp="1"/>
          </p:cNvGraphicFramePr>
          <p:nvPr>
            <p:ph sz="quarter" idx="11"/>
            <p:extLst>
              <p:ext uri="{D42A27DB-BD31-4B8C-83A1-F6EECF244321}">
                <p14:modId xmlns:p14="http://schemas.microsoft.com/office/powerpoint/2010/main" val="4192316492"/>
              </p:ext>
            </p:extLst>
          </p:nvPr>
        </p:nvGraphicFramePr>
        <p:xfrm>
          <a:off x="3486150" y="780911"/>
          <a:ext cx="8081962" cy="52769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01672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24016-CD08-EBD5-F71C-F56C095C9926}"/>
              </a:ext>
            </a:extLst>
          </p:cNvPr>
          <p:cNvSpPr>
            <a:spLocks noGrp="1"/>
          </p:cNvSpPr>
          <p:nvPr>
            <p:ph type="ctrTitle"/>
          </p:nvPr>
        </p:nvSpPr>
        <p:spPr/>
        <p:txBody>
          <a:bodyPr/>
          <a:lstStyle/>
          <a:p>
            <a:r>
              <a:rPr lang="et-EE" dirty="0"/>
              <a:t>Võrdlus</a:t>
            </a:r>
            <a:r>
              <a:rPr lang="en-GB" dirty="0"/>
              <a:t>: </a:t>
            </a:r>
            <a:r>
              <a:rPr lang="en-GB" dirty="0" err="1"/>
              <a:t>põhimõtted</a:t>
            </a:r>
            <a:endParaRPr lang="et-EE" dirty="0"/>
          </a:p>
        </p:txBody>
      </p:sp>
      <p:graphicFrame>
        <p:nvGraphicFramePr>
          <p:cNvPr id="6" name="Table 5">
            <a:extLst>
              <a:ext uri="{FF2B5EF4-FFF2-40B4-BE49-F238E27FC236}">
                <a16:creationId xmlns:a16="http://schemas.microsoft.com/office/drawing/2014/main" id="{07C3309A-7C0F-EFAF-57FF-0A92BE14E1B5}"/>
              </a:ext>
            </a:extLst>
          </p:cNvPr>
          <p:cNvGraphicFramePr>
            <a:graphicFrameLocks noGrp="1"/>
          </p:cNvGraphicFramePr>
          <p:nvPr>
            <p:extLst>
              <p:ext uri="{D42A27DB-BD31-4B8C-83A1-F6EECF244321}">
                <p14:modId xmlns:p14="http://schemas.microsoft.com/office/powerpoint/2010/main" val="2101389687"/>
              </p:ext>
            </p:extLst>
          </p:nvPr>
        </p:nvGraphicFramePr>
        <p:xfrm>
          <a:off x="623888" y="1017430"/>
          <a:ext cx="10979975" cy="5203066"/>
        </p:xfrm>
        <a:graphic>
          <a:graphicData uri="http://schemas.openxmlformats.org/drawingml/2006/table">
            <a:tbl>
              <a:tblPr>
                <a:tableStyleId>{5C22544A-7EE6-4342-B048-85BDC9FD1C3A}</a:tableStyleId>
              </a:tblPr>
              <a:tblGrid>
                <a:gridCol w="2195995">
                  <a:extLst>
                    <a:ext uri="{9D8B030D-6E8A-4147-A177-3AD203B41FA5}">
                      <a16:colId xmlns:a16="http://schemas.microsoft.com/office/drawing/2014/main" val="3278165020"/>
                    </a:ext>
                  </a:extLst>
                </a:gridCol>
                <a:gridCol w="2195995">
                  <a:extLst>
                    <a:ext uri="{9D8B030D-6E8A-4147-A177-3AD203B41FA5}">
                      <a16:colId xmlns:a16="http://schemas.microsoft.com/office/drawing/2014/main" val="1774956376"/>
                    </a:ext>
                  </a:extLst>
                </a:gridCol>
                <a:gridCol w="2195995">
                  <a:extLst>
                    <a:ext uri="{9D8B030D-6E8A-4147-A177-3AD203B41FA5}">
                      <a16:colId xmlns:a16="http://schemas.microsoft.com/office/drawing/2014/main" val="2962006782"/>
                    </a:ext>
                  </a:extLst>
                </a:gridCol>
                <a:gridCol w="2195995">
                  <a:extLst>
                    <a:ext uri="{9D8B030D-6E8A-4147-A177-3AD203B41FA5}">
                      <a16:colId xmlns:a16="http://schemas.microsoft.com/office/drawing/2014/main" val="2164409313"/>
                    </a:ext>
                  </a:extLst>
                </a:gridCol>
                <a:gridCol w="2195995">
                  <a:extLst>
                    <a:ext uri="{9D8B030D-6E8A-4147-A177-3AD203B41FA5}">
                      <a16:colId xmlns:a16="http://schemas.microsoft.com/office/drawing/2014/main" val="295314203"/>
                    </a:ext>
                  </a:extLst>
                </a:gridCol>
              </a:tblGrid>
              <a:tr h="422728">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Põhifilosoofia</a:t>
                      </a:r>
                    </a:p>
                  </a:txBody>
                  <a:tcPr marL="30584" marR="30584" marT="30584" marB="30584"/>
                </a:tc>
                <a:tc>
                  <a:txBody>
                    <a:bodyPr/>
                    <a:lstStyle/>
                    <a:p>
                      <a:pPr algn="l" fontAlgn="t">
                        <a:buNone/>
                      </a:pPr>
                      <a:r>
                        <a:rPr lang="en-GB" sz="900">
                          <a:effectLst/>
                        </a:rPr>
                        <a:t>🚀 Kui uus tehnoloogia?</a:t>
                      </a:r>
                    </a:p>
                  </a:txBody>
                  <a:tcPr marL="30584" marR="30584" marT="30584" marB="30584"/>
                </a:tc>
                <a:tc>
                  <a:txBody>
                    <a:bodyPr/>
                    <a:lstStyle/>
                    <a:p>
                      <a:pPr algn="l" fontAlgn="t">
                        <a:buNone/>
                      </a:pPr>
                      <a:r>
                        <a:rPr lang="en-GB" sz="900">
                          <a:effectLst/>
                        </a:rPr>
                        <a:t>🔄 Kas võimaldab kõike?</a:t>
                      </a:r>
                    </a:p>
                  </a:txBody>
                  <a:tcPr marL="30584" marR="30584" marT="30584" marB="30584"/>
                </a:tc>
                <a:tc>
                  <a:txBody>
                    <a:bodyPr/>
                    <a:lstStyle/>
                    <a:p>
                      <a:pPr algn="l" fontAlgn="t">
                        <a:buNone/>
                      </a:pPr>
                      <a:r>
                        <a:rPr lang="en-GB" sz="900">
                          <a:effectLst/>
                        </a:rPr>
                        <a:t>👥 Peamine kasutajaprofiil</a:t>
                      </a:r>
                    </a:p>
                  </a:txBody>
                  <a:tcPr marL="30584" marR="30584" marT="30584" marB="30584"/>
                </a:tc>
                <a:extLst>
                  <a:ext uri="{0D108BD9-81ED-4DB2-BD59-A6C34878D82A}">
                    <a16:rowId xmlns:a16="http://schemas.microsoft.com/office/drawing/2014/main" val="3470162157"/>
                  </a:ext>
                </a:extLst>
              </a:tr>
              <a:tr h="1109268">
                <a:tc>
                  <a:txBody>
                    <a:bodyPr/>
                    <a:lstStyle/>
                    <a:p>
                      <a:pPr algn="l" fontAlgn="t">
                        <a:buNone/>
                      </a:pPr>
                      <a:r>
                        <a:rPr lang="en-GB" sz="1200" b="1">
                          <a:effectLst/>
                        </a:rPr>
                        <a:t>Snowflake + dbt </a:t>
                      </a:r>
                      <a:br>
                        <a:rPr lang="en-GB" sz="1200" b="1">
                          <a:effectLst/>
                        </a:rPr>
                      </a:br>
                      <a:r>
                        <a:rPr lang="en-GB" sz="1200" b="1">
                          <a:effectLst/>
                        </a:rPr>
                        <a:t>(Modern Data Stack)</a:t>
                      </a:r>
                    </a:p>
                  </a:txBody>
                  <a:tcPr marL="30584" marR="30584" marT="30584" marB="30584"/>
                </a:tc>
                <a:tc>
                  <a:txBody>
                    <a:bodyPr/>
                    <a:lstStyle/>
                    <a:p>
                      <a:pPr algn="l" fontAlgn="t">
                        <a:buNone/>
                      </a:pPr>
                      <a:r>
                        <a:rPr lang="en-GB" sz="900" dirty="0">
                          <a:effectLst/>
                        </a:rPr>
                        <a:t>Puhas, </a:t>
                      </a:r>
                      <a:r>
                        <a:rPr lang="en-GB" sz="900" dirty="0" err="1">
                          <a:effectLst/>
                        </a:rPr>
                        <a:t>kiire</a:t>
                      </a:r>
                      <a:r>
                        <a:rPr lang="en-GB" sz="900" dirty="0">
                          <a:effectLst/>
                        </a:rPr>
                        <a:t> </a:t>
                      </a:r>
                      <a:r>
                        <a:rPr lang="en-GB" sz="900" dirty="0" err="1">
                          <a:effectLst/>
                        </a:rPr>
                        <a:t>ja</a:t>
                      </a:r>
                      <a:r>
                        <a:rPr lang="en-GB" sz="900" dirty="0">
                          <a:effectLst/>
                        </a:rPr>
                        <a:t> </a:t>
                      </a:r>
                      <a:r>
                        <a:rPr lang="en-GB" sz="900" dirty="0" err="1">
                          <a:effectLst/>
                        </a:rPr>
                        <a:t>hallatud</a:t>
                      </a:r>
                      <a:r>
                        <a:rPr lang="en-GB" sz="900" dirty="0">
                          <a:effectLst/>
                        </a:rPr>
                        <a:t> SQL-</a:t>
                      </a:r>
                      <a:r>
                        <a:rPr lang="en-GB" sz="900" dirty="0" err="1">
                          <a:effectLst/>
                        </a:rPr>
                        <a:t>andmeladu</a:t>
                      </a:r>
                      <a:r>
                        <a:rPr lang="en-GB" sz="900" dirty="0">
                          <a:effectLst/>
                        </a:rPr>
                        <a:t> </a:t>
                      </a:r>
                      <a:r>
                        <a:rPr lang="en-GB" sz="900" dirty="0" err="1">
                          <a:effectLst/>
                        </a:rPr>
                        <a:t>koos</a:t>
                      </a:r>
                      <a:r>
                        <a:rPr lang="en-GB" sz="900" dirty="0">
                          <a:effectLst/>
                        </a:rPr>
                        <a:t> </a:t>
                      </a:r>
                      <a:r>
                        <a:rPr lang="en-GB" sz="900" dirty="0" err="1">
                          <a:effectLst/>
                        </a:rPr>
                        <a:t>koodipõhise</a:t>
                      </a:r>
                      <a:r>
                        <a:rPr lang="en-GB" sz="900" dirty="0">
                          <a:effectLst/>
                        </a:rPr>
                        <a:t> </a:t>
                      </a:r>
                      <a:r>
                        <a:rPr lang="en-GB" sz="900" dirty="0" err="1">
                          <a:effectLst/>
                        </a:rPr>
                        <a:t>andmetöötlusega</a:t>
                      </a:r>
                      <a:r>
                        <a:rPr lang="en-GB" sz="900" dirty="0">
                          <a:effectLst/>
                        </a:rPr>
                        <a:t>.</a:t>
                      </a:r>
                    </a:p>
                  </a:txBody>
                  <a:tcPr marL="30584" marR="30584" marT="30584" marB="30584"/>
                </a:tc>
                <a:tc>
                  <a:txBody>
                    <a:bodyPr/>
                    <a:lstStyle/>
                    <a:p>
                      <a:pPr algn="l" fontAlgn="t">
                        <a:buNone/>
                      </a:pPr>
                      <a:r>
                        <a:rPr lang="en-GB" sz="900">
                          <a:effectLst/>
                        </a:rPr>
                        <a:t>Küps ja standardne. Turul pikaajaliselt testitud ja väga laialdaselt levinud kombinatsioon.</a:t>
                      </a:r>
                    </a:p>
                  </a:txBody>
                  <a:tcPr marL="30584" marR="30584" marT="30584" marB="30584"/>
                </a:tc>
                <a:tc>
                  <a:txBody>
                    <a:bodyPr/>
                    <a:lstStyle/>
                    <a:p>
                      <a:pPr algn="l" fontAlgn="t">
                        <a:buNone/>
                      </a:pPr>
                      <a:r>
                        <a:rPr lang="en-GB" sz="900">
                          <a:effectLst/>
                        </a:rPr>
                        <a:t>Andmelao raames jah. Suurepärane analüütika jaoks. AI ja reaalaja jaoks vajab sageli lisatööriistu.</a:t>
                      </a:r>
                    </a:p>
                  </a:txBody>
                  <a:tcPr marL="30584" marR="30584" marT="30584" marB="30584"/>
                </a:tc>
                <a:tc>
                  <a:txBody>
                    <a:bodyPr/>
                    <a:lstStyle/>
                    <a:p>
                      <a:pPr algn="l" fontAlgn="t">
                        <a:buNone/>
                      </a:pPr>
                      <a:r>
                        <a:rPr lang="en-GB" sz="900">
                          <a:effectLst/>
                        </a:rPr>
                        <a:t>Andmeanalüütikud ja andmeinsenerid, kelle põhitööriistaks on SQL.</a:t>
                      </a:r>
                    </a:p>
                  </a:txBody>
                  <a:tcPr marL="30584" marR="30584" marT="30584" marB="30584"/>
                </a:tc>
                <a:extLst>
                  <a:ext uri="{0D108BD9-81ED-4DB2-BD59-A6C34878D82A}">
                    <a16:rowId xmlns:a16="http://schemas.microsoft.com/office/drawing/2014/main" val="3732116190"/>
                  </a:ext>
                </a:extLst>
              </a:tr>
              <a:tr h="1109268">
                <a:tc>
                  <a:txBody>
                    <a:bodyPr/>
                    <a:lstStyle/>
                    <a:p>
                      <a:pPr algn="l" fontAlgn="t">
                        <a:buNone/>
                      </a:pPr>
                      <a:r>
                        <a:rPr lang="en-GB" sz="1200" b="1">
                          <a:effectLst/>
                        </a:rPr>
                        <a:t>Databricks </a:t>
                      </a:r>
                      <a:br>
                        <a:rPr lang="en-GB" sz="1200" b="1">
                          <a:effectLst/>
                        </a:rPr>
                      </a:br>
                      <a:r>
                        <a:rPr lang="en-GB" sz="1200" b="1">
                          <a:effectLst/>
                        </a:rPr>
                        <a:t>(Lakehouse platvorm)</a:t>
                      </a:r>
                    </a:p>
                  </a:txBody>
                  <a:tcPr marL="30584" marR="30584" marT="30584" marB="30584"/>
                </a:tc>
                <a:tc>
                  <a:txBody>
                    <a:bodyPr/>
                    <a:lstStyle/>
                    <a:p>
                      <a:pPr algn="l" fontAlgn="t">
                        <a:buNone/>
                      </a:pPr>
                      <a:r>
                        <a:rPr lang="en-GB" sz="900">
                          <a:effectLst/>
                        </a:rPr>
                        <a:t>Ühtne keskkond suurandmete töötlemiseks, andmeteaduseks ja AI/ML-iks.</a:t>
                      </a:r>
                    </a:p>
                  </a:txBody>
                  <a:tcPr marL="30584" marR="30584" marT="30584" marB="30584"/>
                </a:tc>
                <a:tc>
                  <a:txBody>
                    <a:bodyPr/>
                    <a:lstStyle/>
                    <a:p>
                      <a:pPr algn="l" fontAlgn="t">
                        <a:buNone/>
                      </a:pPr>
                      <a:r>
                        <a:rPr lang="en-GB" sz="900">
                          <a:effectLst/>
                        </a:rPr>
                        <a:t>Küps, kuid kiiresti uuenev. Algselt suurandmete koodikeskkond, nüüd ka tugev SQL-tugi.</a:t>
                      </a:r>
                    </a:p>
                  </a:txBody>
                  <a:tcPr marL="30584" marR="30584" marT="30584" marB="30584"/>
                </a:tc>
                <a:tc>
                  <a:txBody>
                    <a:bodyPr/>
                    <a:lstStyle/>
                    <a:p>
                      <a:pPr algn="l" fontAlgn="t">
                        <a:buNone/>
                      </a:pPr>
                      <a:r>
                        <a:rPr lang="en-GB" sz="900">
                          <a:effectLst/>
                        </a:rPr>
                        <a:t>Tehniliselt jah. Kõige võimekam platvorm piltide, IoT, masinõppe ja reaalaja andmete jaoks.</a:t>
                      </a:r>
                    </a:p>
                  </a:txBody>
                  <a:tcPr marL="30584" marR="30584" marT="30584" marB="30584"/>
                </a:tc>
                <a:tc>
                  <a:txBody>
                    <a:bodyPr/>
                    <a:lstStyle/>
                    <a:p>
                      <a:pPr algn="l" fontAlgn="t">
                        <a:buNone/>
                      </a:pPr>
                      <a:r>
                        <a:rPr lang="en-GB" sz="900">
                          <a:effectLst/>
                        </a:rPr>
                        <a:t>Andmeteadlased ja arendajad, kai eelistavad Pythonit, R-i või Sparki.</a:t>
                      </a:r>
                    </a:p>
                  </a:txBody>
                  <a:tcPr marL="30584" marR="30584" marT="30584" marB="30584"/>
                </a:tc>
                <a:extLst>
                  <a:ext uri="{0D108BD9-81ED-4DB2-BD59-A6C34878D82A}">
                    <a16:rowId xmlns:a16="http://schemas.microsoft.com/office/drawing/2014/main" val="38387941"/>
                  </a:ext>
                </a:extLst>
              </a:tr>
              <a:tr h="1280901">
                <a:tc>
                  <a:txBody>
                    <a:bodyPr/>
                    <a:lstStyle/>
                    <a:p>
                      <a:pPr algn="l" fontAlgn="t">
                        <a:buNone/>
                      </a:pPr>
                      <a:r>
                        <a:rPr lang="en-GB" sz="1200" b="1">
                          <a:effectLst/>
                        </a:rPr>
                        <a:t>Microsoft Fabric </a:t>
                      </a:r>
                      <a:br>
                        <a:rPr lang="en-GB" sz="1200" b="1">
                          <a:effectLst/>
                        </a:rPr>
                      </a:br>
                      <a:r>
                        <a:rPr lang="en-GB" sz="1200" b="1">
                          <a:effectLst/>
                        </a:rPr>
                        <a:t>(Kõik-ühes SaaS)</a:t>
                      </a:r>
                    </a:p>
                  </a:txBody>
                  <a:tcPr marL="30584" marR="30584" marT="30584" marB="30584"/>
                </a:tc>
                <a:tc>
                  <a:txBody>
                    <a:bodyPr/>
                    <a:lstStyle/>
                    <a:p>
                      <a:pPr algn="l" fontAlgn="t">
                        <a:buNone/>
                      </a:pPr>
                      <a:r>
                        <a:rPr lang="en-GB" sz="900">
                          <a:effectLst/>
                        </a:rPr>
                        <a:t>Keskne ja mugav pilveplatvorm kogu andmeahelale, tihedalt seotud Power BI-ga.</a:t>
                      </a:r>
                    </a:p>
                  </a:txBody>
                  <a:tcPr marL="30584" marR="30584" marT="30584" marB="30584"/>
                </a:tc>
                <a:tc>
                  <a:txBody>
                    <a:bodyPr/>
                    <a:lstStyle/>
                    <a:p>
                      <a:pPr algn="l" fontAlgn="t">
                        <a:buNone/>
                      </a:pPr>
                      <a:r>
                        <a:rPr lang="en-GB" sz="900">
                          <a:effectLst/>
                        </a:rPr>
                        <a:t>Võrdlemisi uus. Microsofti kaasaegne visioon, mis koondab varasemad Azure tööriistad ühte.</a:t>
                      </a:r>
                    </a:p>
                  </a:txBody>
                  <a:tcPr marL="30584" marR="30584" marT="30584" marB="30584"/>
                </a:tc>
                <a:tc>
                  <a:txBody>
                    <a:bodyPr/>
                    <a:lstStyle/>
                    <a:p>
                      <a:pPr algn="l" fontAlgn="t">
                        <a:buNone/>
                      </a:pPr>
                      <a:r>
                        <a:rPr lang="en-GB" sz="900">
                          <a:effectLst/>
                        </a:rPr>
                        <a:t>Jah, terve andmeahela ulatuses. Katab sissetoomise, andmejärve, analüüsi ja Power BI raporteerimise.</a:t>
                      </a:r>
                    </a:p>
                  </a:txBody>
                  <a:tcPr marL="30584" marR="30584" marT="30584" marB="30584"/>
                </a:tc>
                <a:tc>
                  <a:txBody>
                    <a:bodyPr/>
                    <a:lstStyle/>
                    <a:p>
                      <a:pPr algn="l" fontAlgn="t">
                        <a:buNone/>
                      </a:pPr>
                      <a:r>
                        <a:rPr lang="en-GB" sz="900">
                          <a:effectLst/>
                        </a:rPr>
                        <a:t>Ärianalüütikud ja IT-spetsialistid, kes töötavad Power BI ja Azure peal.</a:t>
                      </a:r>
                    </a:p>
                  </a:txBody>
                  <a:tcPr marL="30584" marR="30584" marT="30584" marB="30584"/>
                </a:tc>
                <a:extLst>
                  <a:ext uri="{0D108BD9-81ED-4DB2-BD59-A6C34878D82A}">
                    <a16:rowId xmlns:a16="http://schemas.microsoft.com/office/drawing/2014/main" val="3180681211"/>
                  </a:ext>
                </a:extLst>
              </a:tr>
              <a:tr h="1280901">
                <a:tc>
                  <a:txBody>
                    <a:bodyPr/>
                    <a:lstStyle/>
                    <a:p>
                      <a:pPr algn="l" fontAlgn="t">
                        <a:buNone/>
                      </a:pPr>
                      <a:r>
                        <a:rPr lang="en-GB" sz="1200" b="1" dirty="0">
                          <a:effectLst/>
                        </a:rPr>
                        <a:t>SAP Analytics Cloud / BDC </a:t>
                      </a:r>
                      <a:br>
                        <a:rPr lang="en-GB" sz="1200" b="1" dirty="0">
                          <a:effectLst/>
                        </a:rPr>
                      </a:br>
                      <a:r>
                        <a:rPr lang="en-GB" sz="1200" b="1" dirty="0">
                          <a:effectLst/>
                        </a:rPr>
                        <a:t>(</a:t>
                      </a:r>
                      <a:r>
                        <a:rPr lang="en-GB" sz="1200" b="1" dirty="0" err="1">
                          <a:effectLst/>
                        </a:rPr>
                        <a:t>Äri</a:t>
                      </a:r>
                      <a:r>
                        <a:rPr lang="en-GB" sz="1200" b="1" dirty="0">
                          <a:effectLst/>
                        </a:rPr>
                        <a:t>- </a:t>
                      </a:r>
                      <a:r>
                        <a:rPr lang="en-GB" sz="1200" b="1" dirty="0" err="1">
                          <a:effectLst/>
                        </a:rPr>
                        <a:t>ja</a:t>
                      </a:r>
                      <a:r>
                        <a:rPr lang="en-GB" sz="1200" b="1" dirty="0">
                          <a:effectLst/>
                        </a:rPr>
                        <a:t> </a:t>
                      </a:r>
                      <a:r>
                        <a:rPr lang="en-GB" sz="1200" b="1" dirty="0" err="1">
                          <a:effectLst/>
                        </a:rPr>
                        <a:t>finantsplatvorm</a:t>
                      </a:r>
                      <a:r>
                        <a:rPr lang="en-GB" sz="1200" b="1" dirty="0">
                          <a:effectLst/>
                        </a:rPr>
                        <a:t>)</a:t>
                      </a:r>
                    </a:p>
                  </a:txBody>
                  <a:tcPr marL="30584" marR="30584" marT="30584" marB="30584"/>
                </a:tc>
                <a:tc>
                  <a:txBody>
                    <a:bodyPr/>
                    <a:lstStyle/>
                    <a:p>
                      <a:pPr algn="l" fontAlgn="t">
                        <a:buNone/>
                      </a:pPr>
                      <a:r>
                        <a:rPr lang="en-GB" sz="900">
                          <a:effectLst/>
                        </a:rPr>
                        <a:t>Ärianalüütika ja finantsplaneerimine, mis säilitab SAP ERP andmete konteksti.</a:t>
                      </a:r>
                    </a:p>
                  </a:txBody>
                  <a:tcPr marL="30584" marR="30584" marT="30584" marB="30584"/>
                </a:tc>
                <a:tc>
                  <a:txBody>
                    <a:bodyPr/>
                    <a:lstStyle/>
                    <a:p>
                      <a:pPr algn="l" fontAlgn="t">
                        <a:buNone/>
                      </a:pPr>
                      <a:r>
                        <a:rPr lang="en-GB" sz="900">
                          <a:effectLst/>
                        </a:rPr>
                        <a:t>Äriliselt väga küps. SAP-i kaasaegne ja terviklik pilvevastus ettevõtte juhtimiseks.</a:t>
                      </a:r>
                    </a:p>
                  </a:txBody>
                  <a:tcPr marL="30584" marR="30584" marT="30584" marB="30584"/>
                </a:tc>
                <a:tc>
                  <a:txBody>
                    <a:bodyPr/>
                    <a:lstStyle/>
                    <a:p>
                      <a:pPr algn="l" fontAlgn="t">
                        <a:buNone/>
                      </a:pPr>
                      <a:r>
                        <a:rPr lang="en-GB" sz="900">
                          <a:effectLst/>
                        </a:rPr>
                        <a:t>Ei, fookus on äriandmetel. Parim finantsplaneerimiseks, konsolideerimiseks ja ERP analüüsiks.</a:t>
                      </a:r>
                    </a:p>
                  </a:txBody>
                  <a:tcPr marL="30584" marR="30584" marT="30584" marB="30584"/>
                </a:tc>
                <a:tc>
                  <a:txBody>
                    <a:bodyPr/>
                    <a:lstStyle/>
                    <a:p>
                      <a:pPr algn="l" fontAlgn="t">
                        <a:buNone/>
                      </a:pPr>
                      <a:r>
                        <a:rPr lang="en-GB" sz="900" dirty="0" err="1">
                          <a:effectLst/>
                        </a:rPr>
                        <a:t>Ettevõtte</a:t>
                      </a:r>
                      <a:r>
                        <a:rPr lang="en-GB" sz="900" dirty="0">
                          <a:effectLst/>
                        </a:rPr>
                        <a:t> </a:t>
                      </a:r>
                      <a:r>
                        <a:rPr lang="en-GB" sz="900" dirty="0" err="1">
                          <a:effectLst/>
                        </a:rPr>
                        <a:t>juhid</a:t>
                      </a:r>
                      <a:r>
                        <a:rPr lang="en-GB" sz="900" dirty="0">
                          <a:effectLst/>
                        </a:rPr>
                        <a:t>, </a:t>
                      </a:r>
                      <a:r>
                        <a:rPr lang="en-GB" sz="900" dirty="0" err="1">
                          <a:effectLst/>
                        </a:rPr>
                        <a:t>finantsanalüütikud</a:t>
                      </a:r>
                      <a:r>
                        <a:rPr lang="en-GB" sz="900" dirty="0">
                          <a:effectLst/>
                        </a:rPr>
                        <a:t> </a:t>
                      </a:r>
                      <a:r>
                        <a:rPr lang="en-GB" sz="900" dirty="0" err="1">
                          <a:effectLst/>
                        </a:rPr>
                        <a:t>ja</a:t>
                      </a:r>
                      <a:r>
                        <a:rPr lang="en-GB" sz="900" dirty="0">
                          <a:effectLst/>
                        </a:rPr>
                        <a:t> SAP-</a:t>
                      </a:r>
                      <a:r>
                        <a:rPr lang="en-GB" sz="900" dirty="0" err="1">
                          <a:effectLst/>
                        </a:rPr>
                        <a:t>i</a:t>
                      </a:r>
                      <a:r>
                        <a:rPr lang="en-GB" sz="900" dirty="0">
                          <a:effectLst/>
                        </a:rPr>
                        <a:t> </a:t>
                      </a:r>
                      <a:r>
                        <a:rPr lang="en-GB" sz="900" dirty="0" err="1">
                          <a:effectLst/>
                        </a:rPr>
                        <a:t>peakasutajad</a:t>
                      </a:r>
                      <a:r>
                        <a:rPr lang="en-GB" sz="900" dirty="0">
                          <a:effectLst/>
                        </a:rPr>
                        <a:t>.</a:t>
                      </a:r>
                    </a:p>
                  </a:txBody>
                  <a:tcPr marL="30584" marR="30584" marT="30584" marB="30584"/>
                </a:tc>
                <a:extLst>
                  <a:ext uri="{0D108BD9-81ED-4DB2-BD59-A6C34878D82A}">
                    <a16:rowId xmlns:a16="http://schemas.microsoft.com/office/drawing/2014/main" val="3934386354"/>
                  </a:ext>
                </a:extLst>
              </a:tr>
            </a:tbl>
          </a:graphicData>
        </a:graphic>
      </p:graphicFrame>
    </p:spTree>
    <p:extLst>
      <p:ext uri="{BB962C8B-B14F-4D97-AF65-F5344CB8AC3E}">
        <p14:creationId xmlns:p14="http://schemas.microsoft.com/office/powerpoint/2010/main" val="27551353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03C85-32DC-A518-74B8-5EC211C6A592}"/>
              </a:ext>
            </a:extLst>
          </p:cNvPr>
          <p:cNvSpPr>
            <a:spLocks noGrp="1"/>
          </p:cNvSpPr>
          <p:nvPr>
            <p:ph type="ctrTitle"/>
          </p:nvPr>
        </p:nvSpPr>
        <p:spPr/>
        <p:txBody>
          <a:bodyPr/>
          <a:lstStyle/>
          <a:p>
            <a:r>
              <a:rPr lang="en-GB" dirty="0" err="1"/>
              <a:t>Võrdlus</a:t>
            </a:r>
            <a:r>
              <a:rPr lang="en-GB" dirty="0"/>
              <a:t>: hind, </a:t>
            </a:r>
            <a:r>
              <a:rPr lang="en-GB" dirty="0" err="1"/>
              <a:t>tugevused</a:t>
            </a:r>
            <a:r>
              <a:rPr lang="en-GB" dirty="0"/>
              <a:t>, </a:t>
            </a:r>
            <a:r>
              <a:rPr lang="en-GB" dirty="0" err="1"/>
              <a:t>nõrkused</a:t>
            </a:r>
            <a:endParaRPr lang="en-GB" dirty="0"/>
          </a:p>
        </p:txBody>
      </p:sp>
      <p:graphicFrame>
        <p:nvGraphicFramePr>
          <p:cNvPr id="5" name="Table 4">
            <a:extLst>
              <a:ext uri="{FF2B5EF4-FFF2-40B4-BE49-F238E27FC236}">
                <a16:creationId xmlns:a16="http://schemas.microsoft.com/office/drawing/2014/main" id="{A87B89DE-EAF1-0C27-8051-D8FB5C513E5A}"/>
              </a:ext>
            </a:extLst>
          </p:cNvPr>
          <p:cNvGraphicFramePr>
            <a:graphicFrameLocks noGrp="1"/>
          </p:cNvGraphicFramePr>
          <p:nvPr>
            <p:extLst>
              <p:ext uri="{D42A27DB-BD31-4B8C-83A1-F6EECF244321}">
                <p14:modId xmlns:p14="http://schemas.microsoft.com/office/powerpoint/2010/main" val="744122654"/>
              </p:ext>
            </p:extLst>
          </p:nvPr>
        </p:nvGraphicFramePr>
        <p:xfrm>
          <a:off x="623887" y="1357676"/>
          <a:ext cx="11160284" cy="4811304"/>
        </p:xfrm>
        <a:graphic>
          <a:graphicData uri="http://schemas.openxmlformats.org/drawingml/2006/table">
            <a:tbl>
              <a:tblPr>
                <a:tableStyleId>{5C22544A-7EE6-4342-B048-85BDC9FD1C3A}</a:tableStyleId>
              </a:tblPr>
              <a:tblGrid>
                <a:gridCol w="2790071">
                  <a:extLst>
                    <a:ext uri="{9D8B030D-6E8A-4147-A177-3AD203B41FA5}">
                      <a16:colId xmlns:a16="http://schemas.microsoft.com/office/drawing/2014/main" val="893247569"/>
                    </a:ext>
                  </a:extLst>
                </a:gridCol>
                <a:gridCol w="2790071">
                  <a:extLst>
                    <a:ext uri="{9D8B030D-6E8A-4147-A177-3AD203B41FA5}">
                      <a16:colId xmlns:a16="http://schemas.microsoft.com/office/drawing/2014/main" val="4259764958"/>
                    </a:ext>
                  </a:extLst>
                </a:gridCol>
                <a:gridCol w="2790071">
                  <a:extLst>
                    <a:ext uri="{9D8B030D-6E8A-4147-A177-3AD203B41FA5}">
                      <a16:colId xmlns:a16="http://schemas.microsoft.com/office/drawing/2014/main" val="2615280097"/>
                    </a:ext>
                  </a:extLst>
                </a:gridCol>
                <a:gridCol w="2790071">
                  <a:extLst>
                    <a:ext uri="{9D8B030D-6E8A-4147-A177-3AD203B41FA5}">
                      <a16:colId xmlns:a16="http://schemas.microsoft.com/office/drawing/2014/main" val="2236674318"/>
                    </a:ext>
                  </a:extLst>
                </a:gridCol>
              </a:tblGrid>
              <a:tr h="390900">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Hinnastamise mudel</a:t>
                      </a:r>
                    </a:p>
                  </a:txBody>
                  <a:tcPr marL="30584" marR="30584" marT="30584" marB="30584"/>
                </a:tc>
                <a:tc>
                  <a:txBody>
                    <a:bodyPr/>
                    <a:lstStyle/>
                    <a:p>
                      <a:pPr algn="l" fontAlgn="t">
                        <a:buNone/>
                      </a:pPr>
                      <a:r>
                        <a:rPr lang="en-GB" sz="900">
                          <a:effectLst/>
                        </a:rPr>
                        <a:t>💪 Tugevused</a:t>
                      </a:r>
                    </a:p>
                  </a:txBody>
                  <a:tcPr marL="30584" marR="30584" marT="30584" marB="30584"/>
                </a:tc>
                <a:tc>
                  <a:txBody>
                    <a:bodyPr/>
                    <a:lstStyle/>
                    <a:p>
                      <a:pPr algn="l" fontAlgn="t">
                        <a:buNone/>
                      </a:pPr>
                      <a:r>
                        <a:rPr lang="en-GB" sz="900">
                          <a:effectLst/>
                        </a:rPr>
                        <a:t>⚠️ Nõrkused</a:t>
                      </a:r>
                    </a:p>
                  </a:txBody>
                  <a:tcPr marL="30584" marR="30584" marT="30584" marB="30584"/>
                </a:tc>
                <a:extLst>
                  <a:ext uri="{0D108BD9-81ED-4DB2-BD59-A6C34878D82A}">
                    <a16:rowId xmlns:a16="http://schemas.microsoft.com/office/drawing/2014/main" val="3176583516"/>
                  </a:ext>
                </a:extLst>
              </a:tr>
              <a:tr h="1184457">
                <a:tc>
                  <a:txBody>
                    <a:bodyPr/>
                    <a:lstStyle/>
                    <a:p>
                      <a:pPr algn="l" fontAlgn="t">
                        <a:buNone/>
                      </a:pPr>
                      <a:r>
                        <a:rPr lang="en-GB" sz="900" b="1" dirty="0">
                          <a:effectLst/>
                        </a:rPr>
                        <a:t>Snowflake + </a:t>
                      </a:r>
                      <a:r>
                        <a:rPr lang="en-GB" sz="900" b="1" dirty="0" err="1">
                          <a:effectLst/>
                        </a:rPr>
                        <a:t>dbt</a:t>
                      </a:r>
                      <a:r>
                        <a:rPr lang="en-GB" sz="900" b="1" dirty="0">
                          <a:effectLst/>
                        </a:rPr>
                        <a:t> </a:t>
                      </a:r>
                      <a:br>
                        <a:rPr lang="en-GB" sz="900" b="1" dirty="0">
                          <a:effectLst/>
                        </a:rPr>
                      </a:br>
                      <a:r>
                        <a:rPr lang="en-GB" sz="900" b="1" dirty="0">
                          <a:effectLst/>
                        </a:rPr>
                        <a:t>(Modern Data Stack)</a:t>
                      </a:r>
                    </a:p>
                  </a:txBody>
                  <a:tcPr marL="30584" marR="30584" marT="30584" marB="30584"/>
                </a:tc>
                <a:tc>
                  <a:txBody>
                    <a:bodyPr/>
                    <a:lstStyle/>
                    <a:p>
                      <a:pPr algn="l" fontAlgn="t">
                        <a:buNone/>
                      </a:pPr>
                      <a:r>
                        <a:rPr lang="en-GB" sz="900" dirty="0" err="1">
                          <a:effectLst/>
                        </a:rPr>
                        <a:t>Täielikult</a:t>
                      </a:r>
                      <a:r>
                        <a:rPr lang="en-GB" sz="900" dirty="0">
                          <a:effectLst/>
                        </a:rPr>
                        <a:t> </a:t>
                      </a:r>
                      <a:r>
                        <a:rPr lang="en-GB" sz="900" dirty="0" err="1">
                          <a:effectLst/>
                        </a:rPr>
                        <a:t>kasutuspõhine</a:t>
                      </a:r>
                      <a:r>
                        <a:rPr lang="en-GB" sz="900" dirty="0">
                          <a:effectLst/>
                        </a:rPr>
                        <a:t>. </a:t>
                      </a:r>
                      <a:r>
                        <a:rPr lang="en-GB" sz="900" dirty="0" err="1">
                          <a:effectLst/>
                        </a:rPr>
                        <a:t>Eraldi</a:t>
                      </a:r>
                      <a:r>
                        <a:rPr lang="en-GB" sz="900" dirty="0">
                          <a:effectLst/>
                        </a:rPr>
                        <a:t> </a:t>
                      </a:r>
                      <a:r>
                        <a:rPr lang="en-GB" sz="900" dirty="0" err="1">
                          <a:effectLst/>
                        </a:rPr>
                        <a:t>tasu</a:t>
                      </a:r>
                      <a:r>
                        <a:rPr lang="en-GB" sz="900" dirty="0">
                          <a:effectLst/>
                        </a:rPr>
                        <a:t> </a:t>
                      </a:r>
                      <a:r>
                        <a:rPr lang="en-GB" sz="900" dirty="0" err="1">
                          <a:effectLst/>
                        </a:rPr>
                        <a:t>andmemahu</a:t>
                      </a:r>
                      <a:r>
                        <a:rPr lang="en-GB" sz="900" dirty="0">
                          <a:effectLst/>
                        </a:rPr>
                        <a:t> (TB) </a:t>
                      </a:r>
                      <a:r>
                        <a:rPr lang="en-GB" sz="900" dirty="0" err="1">
                          <a:effectLst/>
                        </a:rPr>
                        <a:t>ja</a:t>
                      </a:r>
                      <a:r>
                        <a:rPr lang="en-GB" sz="900" dirty="0">
                          <a:effectLst/>
                        </a:rPr>
                        <a:t> </a:t>
                      </a:r>
                      <a:r>
                        <a:rPr lang="en-GB" sz="900" dirty="0" err="1">
                          <a:effectLst/>
                        </a:rPr>
                        <a:t>sekundipõhise</a:t>
                      </a:r>
                      <a:r>
                        <a:rPr lang="en-GB" sz="900" dirty="0">
                          <a:effectLst/>
                        </a:rPr>
                        <a:t> </a:t>
                      </a:r>
                      <a:r>
                        <a:rPr lang="en-GB" sz="900" dirty="0" err="1">
                          <a:effectLst/>
                        </a:rPr>
                        <a:t>serverivõimsuse</a:t>
                      </a:r>
                      <a:r>
                        <a:rPr lang="en-GB" sz="900" dirty="0">
                          <a:effectLst/>
                        </a:rPr>
                        <a:t> </a:t>
                      </a:r>
                      <a:r>
                        <a:rPr lang="en-GB" sz="900" dirty="0" err="1">
                          <a:effectLst/>
                        </a:rPr>
                        <a:t>eest</a:t>
                      </a:r>
                      <a:r>
                        <a:rPr lang="en-GB" sz="900" dirty="0">
                          <a:effectLst/>
                        </a:rPr>
                        <a:t>.</a:t>
                      </a:r>
                    </a:p>
                  </a:txBody>
                  <a:tcPr marL="30584" marR="30584" marT="30584" marB="30584"/>
                </a:tc>
                <a:tc>
                  <a:txBody>
                    <a:bodyPr/>
                    <a:lstStyle/>
                    <a:p>
                      <a:pPr algn="l" fontAlgn="t">
                        <a:buNone/>
                      </a:pPr>
                      <a:r>
                        <a:rPr lang="en-GB" sz="900">
                          <a:effectLst/>
                        </a:rPr>
                        <a:t>* Ülikiired SQL-päringud</a:t>
                      </a:r>
                      <a:br>
                        <a:rPr lang="en-GB" sz="900">
                          <a:effectLst/>
                        </a:rPr>
                      </a:br>
                      <a:r>
                        <a:rPr lang="en-GB" sz="900">
                          <a:effectLst/>
                        </a:rPr>
                        <a:t>* dbt tagab andmete puhtuse ja versioonihalduse</a:t>
                      </a:r>
                      <a:br>
                        <a:rPr lang="en-GB" sz="900">
                          <a:effectLst/>
                        </a:rPr>
                      </a:br>
                      <a:r>
                        <a:rPr lang="en-GB" sz="900">
                          <a:effectLst/>
                        </a:rPr>
                        <a:t>* Puudub lukustus ühe pilve külge</a:t>
                      </a:r>
                    </a:p>
                  </a:txBody>
                  <a:tcPr marL="30584" marR="30584" marT="30584" marB="30584"/>
                </a:tc>
                <a:tc>
                  <a:txBody>
                    <a:bodyPr/>
                    <a:lstStyle/>
                    <a:p>
                      <a:pPr algn="l" fontAlgn="t">
                        <a:buNone/>
                      </a:pPr>
                      <a:r>
                        <a:rPr lang="en-GB" sz="900">
                          <a:effectLst/>
                        </a:rPr>
                        <a:t>* dbt nõuab koodi kirjutamist</a:t>
                      </a:r>
                      <a:br>
                        <a:rPr lang="en-GB" sz="900">
                          <a:effectLst/>
                        </a:rPr>
                      </a:br>
                      <a:r>
                        <a:rPr lang="en-GB" sz="900">
                          <a:effectLst/>
                        </a:rPr>
                        <a:t>* Raporteerimiseks (BI) tuleb osta eraldi tööriist</a:t>
                      </a:r>
                    </a:p>
                  </a:txBody>
                  <a:tcPr marL="30584" marR="30584" marT="30584" marB="30584"/>
                </a:tc>
                <a:extLst>
                  <a:ext uri="{0D108BD9-81ED-4DB2-BD59-A6C34878D82A}">
                    <a16:rowId xmlns:a16="http://schemas.microsoft.com/office/drawing/2014/main" val="1740507542"/>
                  </a:ext>
                </a:extLst>
              </a:tr>
              <a:tr h="1025745">
                <a:tc>
                  <a:txBody>
                    <a:bodyPr/>
                    <a:lstStyle/>
                    <a:p>
                      <a:pPr algn="l" fontAlgn="t">
                        <a:buNone/>
                      </a:pPr>
                      <a:r>
                        <a:rPr lang="en-GB" sz="900" b="1" dirty="0">
                          <a:effectLst/>
                        </a:rPr>
                        <a:t>Databricks </a:t>
                      </a:r>
                      <a:br>
                        <a:rPr lang="en-GB" sz="900" b="1" dirty="0">
                          <a:effectLst/>
                        </a:rPr>
                      </a:br>
                      <a:r>
                        <a:rPr lang="en-GB" sz="900" b="1" dirty="0">
                          <a:effectLst/>
                        </a:rPr>
                        <a:t>(Lakehouse </a:t>
                      </a:r>
                      <a:r>
                        <a:rPr lang="en-GB" sz="900" b="1" dirty="0" err="1">
                          <a:effectLst/>
                        </a:rPr>
                        <a:t>platvorm</a:t>
                      </a:r>
                      <a:r>
                        <a:rPr lang="en-GB" sz="900" b="1" dirty="0">
                          <a:effectLst/>
                        </a:rPr>
                        <a:t>)</a:t>
                      </a:r>
                    </a:p>
                  </a:txBody>
                  <a:tcPr marL="30584" marR="30584" marT="30584" marB="30584"/>
                </a:tc>
                <a:tc>
                  <a:txBody>
                    <a:bodyPr/>
                    <a:lstStyle/>
                    <a:p>
                      <a:pPr algn="l" fontAlgn="t">
                        <a:buNone/>
                      </a:pPr>
                      <a:r>
                        <a:rPr lang="en-GB" sz="900">
                          <a:effectLst/>
                        </a:rPr>
                        <a:t>Keeruline kasutuspõhine. Tasu DBU ühikute ja teie enda pilvepakkuja virtuaalmasinate eest.</a:t>
                      </a:r>
                    </a:p>
                  </a:txBody>
                  <a:tcPr marL="30584" marR="30584" marT="30584" marB="30584"/>
                </a:tc>
                <a:tc>
                  <a:txBody>
                    <a:bodyPr/>
                    <a:lstStyle/>
                    <a:p>
                      <a:pPr algn="l" fontAlgn="t">
                        <a:buNone/>
                      </a:pPr>
                      <a:r>
                        <a:rPr lang="en-GB" sz="900">
                          <a:effectLst/>
                        </a:rPr>
                        <a:t>* Parim jõudlus massiivsete mahtudega</a:t>
                      </a:r>
                      <a:br>
                        <a:rPr lang="en-GB" sz="900">
                          <a:effectLst/>
                        </a:rPr>
                      </a:br>
                      <a:r>
                        <a:rPr lang="en-GB" sz="900">
                          <a:effectLst/>
                        </a:rPr>
                        <a:t>* Täielik AI/ML mudelite tugi</a:t>
                      </a:r>
                      <a:br>
                        <a:rPr lang="en-GB" sz="900">
                          <a:effectLst/>
                        </a:rPr>
                      </a:br>
                      <a:r>
                        <a:rPr lang="en-GB" sz="900">
                          <a:effectLst/>
                        </a:rPr>
                        <a:t>* Paindlik reaalaja andmetöötlus</a:t>
                      </a:r>
                    </a:p>
                  </a:txBody>
                  <a:tcPr marL="30584" marR="30584" marT="30584" marB="30584"/>
                </a:tc>
                <a:tc>
                  <a:txBody>
                    <a:bodyPr/>
                    <a:lstStyle/>
                    <a:p>
                      <a:pPr algn="l" fontAlgn="t">
                        <a:buNone/>
                      </a:pPr>
                      <a:r>
                        <a:rPr lang="en-GB" sz="900" dirty="0">
                          <a:effectLst/>
                        </a:rPr>
                        <a:t>* Kõrge </a:t>
                      </a:r>
                      <a:r>
                        <a:rPr lang="en-GB" sz="900" dirty="0" err="1">
                          <a:effectLst/>
                        </a:rPr>
                        <a:t>sisenemisbarjäär</a:t>
                      </a:r>
                      <a:br>
                        <a:rPr lang="en-GB" sz="900" dirty="0">
                          <a:effectLst/>
                        </a:rPr>
                      </a:br>
                      <a:r>
                        <a:rPr lang="en-GB" sz="900" dirty="0">
                          <a:effectLst/>
                        </a:rPr>
                        <a:t>* </a:t>
                      </a:r>
                      <a:r>
                        <a:rPr lang="en-GB" sz="900" dirty="0" err="1">
                          <a:effectLst/>
                        </a:rPr>
                        <a:t>Nõuab</a:t>
                      </a:r>
                      <a:r>
                        <a:rPr lang="en-GB" sz="900" dirty="0">
                          <a:effectLst/>
                        </a:rPr>
                        <a:t> </a:t>
                      </a:r>
                      <a:r>
                        <a:rPr lang="en-GB" sz="900" dirty="0" err="1">
                          <a:effectLst/>
                        </a:rPr>
                        <a:t>tugevaid</a:t>
                      </a:r>
                      <a:r>
                        <a:rPr lang="en-GB" sz="900" dirty="0">
                          <a:effectLst/>
                        </a:rPr>
                        <a:t> </a:t>
                      </a:r>
                      <a:r>
                        <a:rPr lang="en-GB" sz="900" dirty="0" err="1">
                          <a:effectLst/>
                        </a:rPr>
                        <a:t>programmeerimisoskusi</a:t>
                      </a:r>
                      <a:br>
                        <a:rPr lang="en-GB" sz="900" dirty="0">
                          <a:effectLst/>
                        </a:rPr>
                      </a:br>
                      <a:r>
                        <a:rPr lang="en-GB" sz="900" dirty="0">
                          <a:effectLst/>
                        </a:rPr>
                        <a:t>* Oht </a:t>
                      </a:r>
                      <a:r>
                        <a:rPr lang="en-GB" sz="900" dirty="0" err="1">
                          <a:effectLst/>
                        </a:rPr>
                        <a:t>suurtele</a:t>
                      </a:r>
                      <a:r>
                        <a:rPr lang="en-GB" sz="900" dirty="0">
                          <a:effectLst/>
                        </a:rPr>
                        <a:t> </a:t>
                      </a:r>
                      <a:r>
                        <a:rPr lang="en-GB" sz="900" dirty="0" err="1">
                          <a:effectLst/>
                        </a:rPr>
                        <a:t>kuludele</a:t>
                      </a:r>
                      <a:r>
                        <a:rPr lang="en-GB" sz="900" dirty="0">
                          <a:effectLst/>
                        </a:rPr>
                        <a:t> </a:t>
                      </a:r>
                      <a:r>
                        <a:rPr lang="en-GB" sz="900" dirty="0" err="1">
                          <a:effectLst/>
                        </a:rPr>
                        <a:t>ilma</a:t>
                      </a:r>
                      <a:r>
                        <a:rPr lang="en-GB" sz="900" dirty="0">
                          <a:effectLst/>
                        </a:rPr>
                        <a:t> </a:t>
                      </a:r>
                      <a:r>
                        <a:rPr lang="en-GB" sz="900" dirty="0" err="1">
                          <a:effectLst/>
                        </a:rPr>
                        <a:t>kontrollita</a:t>
                      </a:r>
                      <a:endParaRPr lang="en-GB" sz="900" dirty="0">
                        <a:effectLst/>
                      </a:endParaRPr>
                    </a:p>
                  </a:txBody>
                  <a:tcPr marL="30584" marR="30584" marT="30584" marB="30584"/>
                </a:tc>
                <a:extLst>
                  <a:ext uri="{0D108BD9-81ED-4DB2-BD59-A6C34878D82A}">
                    <a16:rowId xmlns:a16="http://schemas.microsoft.com/office/drawing/2014/main" val="148797677"/>
                  </a:ext>
                </a:extLst>
              </a:tr>
              <a:tr h="1025745">
                <a:tc>
                  <a:txBody>
                    <a:bodyPr/>
                    <a:lstStyle/>
                    <a:p>
                      <a:pPr algn="l" fontAlgn="t">
                        <a:buNone/>
                      </a:pPr>
                      <a:r>
                        <a:rPr lang="en-GB" sz="900" b="1" dirty="0">
                          <a:effectLst/>
                        </a:rPr>
                        <a:t>Microsoft Fabric </a:t>
                      </a:r>
                      <a:br>
                        <a:rPr lang="en-GB" sz="900" b="1" dirty="0">
                          <a:effectLst/>
                        </a:rPr>
                      </a:br>
                      <a:r>
                        <a:rPr lang="en-GB" sz="900" b="1" dirty="0">
                          <a:effectLst/>
                        </a:rPr>
                        <a:t>(</a:t>
                      </a:r>
                      <a:r>
                        <a:rPr lang="en-GB" sz="900" b="1" dirty="0" err="1">
                          <a:effectLst/>
                        </a:rPr>
                        <a:t>Kõik-ühes</a:t>
                      </a:r>
                      <a:r>
                        <a:rPr lang="en-GB" sz="900" b="1" dirty="0">
                          <a:effectLst/>
                        </a:rPr>
                        <a:t> SaaS)</a:t>
                      </a:r>
                    </a:p>
                  </a:txBody>
                  <a:tcPr marL="30584" marR="30584" marT="30584" marB="30584"/>
                </a:tc>
                <a:tc>
                  <a:txBody>
                    <a:bodyPr/>
                    <a:lstStyle/>
                    <a:p>
                      <a:pPr algn="l" fontAlgn="t">
                        <a:buNone/>
                      </a:pPr>
                      <a:r>
                        <a:rPr lang="en-GB" sz="900">
                          <a:effectLst/>
                        </a:rPr>
                        <a:t>Ennustatav mahupõhine. Ostetakse kindla võimsusega pakett (F-SKU). Lihtne igakuiselt prognoosida.</a:t>
                      </a:r>
                    </a:p>
                  </a:txBody>
                  <a:tcPr marL="30584" marR="30584" marT="30584" marB="30584"/>
                </a:tc>
                <a:tc>
                  <a:txBody>
                    <a:bodyPr/>
                    <a:lstStyle/>
                    <a:p>
                      <a:pPr algn="l" fontAlgn="t">
                        <a:buNone/>
                      </a:pPr>
                      <a:r>
                        <a:rPr lang="en-GB" sz="900">
                          <a:effectLst/>
                        </a:rPr>
                        <a:t>* Kõik tööriistad ühes aknas</a:t>
                      </a:r>
                      <a:br>
                        <a:rPr lang="en-GB" sz="900">
                          <a:effectLst/>
                        </a:rPr>
                      </a:br>
                      <a:r>
                        <a:rPr lang="en-GB" sz="900">
                          <a:effectLst/>
                        </a:rPr>
                        <a:t>* "Tasuta" Power BI vaatajad (alates F64)</a:t>
                      </a:r>
                      <a:br>
                        <a:rPr lang="en-GB" sz="900">
                          <a:effectLst/>
                        </a:rPr>
                      </a:br>
                      <a:r>
                        <a:rPr lang="en-GB" sz="900">
                          <a:effectLst/>
                        </a:rPr>
                        <a:t>* OneLake hoiab andmed ühes kohas</a:t>
                      </a:r>
                    </a:p>
                  </a:txBody>
                  <a:tcPr marL="30584" marR="30584" marT="30584" marB="30584"/>
                </a:tc>
                <a:tc>
                  <a:txBody>
                    <a:bodyPr/>
                    <a:lstStyle/>
                    <a:p>
                      <a:pPr algn="l" fontAlgn="t">
                        <a:buNone/>
                      </a:pPr>
                      <a:r>
                        <a:rPr lang="en-GB" sz="900">
                          <a:effectLst/>
                        </a:rPr>
                        <a:t>* Tugev sõltuvus Microsofti ökosüsteemist</a:t>
                      </a:r>
                      <a:br>
                        <a:rPr lang="en-GB" sz="900">
                          <a:effectLst/>
                        </a:rPr>
                      </a:br>
                      <a:r>
                        <a:rPr lang="en-GB" sz="900">
                          <a:effectLst/>
                        </a:rPr>
                        <a:t>* Platvorm on veel mõnes osas arendusjärgus</a:t>
                      </a:r>
                    </a:p>
                  </a:txBody>
                  <a:tcPr marL="30584" marR="30584" marT="30584" marB="30584"/>
                </a:tc>
                <a:extLst>
                  <a:ext uri="{0D108BD9-81ED-4DB2-BD59-A6C34878D82A}">
                    <a16:rowId xmlns:a16="http://schemas.microsoft.com/office/drawing/2014/main" val="230754940"/>
                  </a:ext>
                </a:extLst>
              </a:tr>
              <a:tr h="1184457">
                <a:tc>
                  <a:txBody>
                    <a:bodyPr/>
                    <a:lstStyle/>
                    <a:p>
                      <a:pPr algn="l" fontAlgn="t">
                        <a:buNone/>
                      </a:pPr>
                      <a:r>
                        <a:rPr lang="en-GB" sz="900" b="1" dirty="0">
                          <a:effectLst/>
                        </a:rPr>
                        <a:t>SAP Analytics Cloud / BDC </a:t>
                      </a:r>
                      <a:br>
                        <a:rPr lang="en-GB" sz="900" b="1" dirty="0">
                          <a:effectLst/>
                        </a:rPr>
                      </a:br>
                      <a:r>
                        <a:rPr lang="en-GB" sz="900" b="1" dirty="0">
                          <a:effectLst/>
                        </a:rPr>
                        <a:t>(</a:t>
                      </a:r>
                      <a:r>
                        <a:rPr lang="en-GB" sz="900" b="1" dirty="0" err="1">
                          <a:effectLst/>
                        </a:rPr>
                        <a:t>Äri</a:t>
                      </a:r>
                      <a:r>
                        <a:rPr lang="en-GB" sz="900" b="1" dirty="0">
                          <a:effectLst/>
                        </a:rPr>
                        <a:t>- </a:t>
                      </a:r>
                      <a:r>
                        <a:rPr lang="en-GB" sz="900" b="1" dirty="0" err="1">
                          <a:effectLst/>
                        </a:rPr>
                        <a:t>ja</a:t>
                      </a:r>
                      <a:r>
                        <a:rPr lang="en-GB" sz="900" b="1" dirty="0">
                          <a:effectLst/>
                        </a:rPr>
                        <a:t> </a:t>
                      </a:r>
                      <a:r>
                        <a:rPr lang="en-GB" sz="900" b="1" dirty="0" err="1">
                          <a:effectLst/>
                        </a:rPr>
                        <a:t>finantsplatvorm</a:t>
                      </a:r>
                      <a:r>
                        <a:rPr lang="en-GB" sz="900" b="1" dirty="0">
                          <a:effectLst/>
                        </a:rPr>
                        <a:t>)</a:t>
                      </a:r>
                    </a:p>
                  </a:txBody>
                  <a:tcPr marL="30584" marR="30584" marT="30584" marB="30584"/>
                </a:tc>
                <a:tc>
                  <a:txBody>
                    <a:bodyPr/>
                    <a:lstStyle/>
                    <a:p>
                      <a:pPr algn="l" fontAlgn="t">
                        <a:buNone/>
                      </a:pPr>
                      <a:r>
                        <a:rPr lang="en-GB" sz="900">
                          <a:effectLst/>
                        </a:rPr>
                        <a:t>Lepingupõhine (Capacity Units). Ressursside plokk, mis nõuab tavaliselt aastast minimaalset eelarvet.</a:t>
                      </a:r>
                    </a:p>
                  </a:txBody>
                  <a:tcPr marL="30584" marR="30584" marT="30584" marB="30584"/>
                </a:tc>
                <a:tc>
                  <a:txBody>
                    <a:bodyPr/>
                    <a:lstStyle/>
                    <a:p>
                      <a:pPr algn="l" fontAlgn="t">
                        <a:buNone/>
                      </a:pPr>
                      <a:r>
                        <a:rPr lang="en-GB" sz="900">
                          <a:effectLst/>
                        </a:rPr>
                        <a:t>* Säilitab SAP ERP loogika ja valuutad</a:t>
                      </a:r>
                      <a:br>
                        <a:rPr lang="en-GB" sz="900">
                          <a:effectLst/>
                        </a:rPr>
                      </a:br>
                      <a:r>
                        <a:rPr lang="en-GB" sz="900">
                          <a:effectLst/>
                        </a:rPr>
                        <a:t>* Sisseehitatud eelarvestamise tööriistad</a:t>
                      </a:r>
                      <a:br>
                        <a:rPr lang="en-GB" sz="900">
                          <a:effectLst/>
                        </a:rPr>
                      </a:br>
                      <a:r>
                        <a:rPr lang="en-GB" sz="900">
                          <a:effectLst/>
                        </a:rPr>
                        <a:t>* Andmeid saab analüüsida kopeerimata</a:t>
                      </a:r>
                    </a:p>
                  </a:txBody>
                  <a:tcPr marL="30584" marR="30584" marT="30584" marB="30584"/>
                </a:tc>
                <a:tc>
                  <a:txBody>
                    <a:bodyPr/>
                    <a:lstStyle/>
                    <a:p>
                      <a:pPr algn="l" fontAlgn="t">
                        <a:buNone/>
                      </a:pPr>
                      <a:r>
                        <a:rPr lang="en-GB" sz="900" dirty="0">
                          <a:effectLst/>
                        </a:rPr>
                        <a:t>* Kõrge </a:t>
                      </a:r>
                      <a:r>
                        <a:rPr lang="en-GB" sz="900" dirty="0" err="1">
                          <a:effectLst/>
                        </a:rPr>
                        <a:t>sisenemishind</a:t>
                      </a:r>
                      <a:br>
                        <a:rPr lang="en-GB" sz="900" dirty="0">
                          <a:effectLst/>
                        </a:rPr>
                      </a:br>
                      <a:r>
                        <a:rPr lang="en-GB" sz="900" dirty="0">
                          <a:effectLst/>
                        </a:rPr>
                        <a:t>* Ei </a:t>
                      </a:r>
                      <a:r>
                        <a:rPr lang="en-GB" sz="900" dirty="0" err="1">
                          <a:effectLst/>
                        </a:rPr>
                        <a:t>sobi</a:t>
                      </a:r>
                      <a:r>
                        <a:rPr lang="en-GB" sz="900" dirty="0">
                          <a:effectLst/>
                        </a:rPr>
                        <a:t> </a:t>
                      </a:r>
                      <a:r>
                        <a:rPr lang="en-GB" sz="900" dirty="0" err="1">
                          <a:effectLst/>
                        </a:rPr>
                        <a:t>universaalseks</a:t>
                      </a:r>
                      <a:r>
                        <a:rPr lang="en-GB" sz="900" dirty="0">
                          <a:effectLst/>
                        </a:rPr>
                        <a:t> "</a:t>
                      </a:r>
                      <a:r>
                        <a:rPr lang="en-GB" sz="900" dirty="0" err="1">
                          <a:effectLst/>
                        </a:rPr>
                        <a:t>tühjaks</a:t>
                      </a:r>
                      <a:r>
                        <a:rPr lang="en-GB" sz="900" dirty="0">
                          <a:effectLst/>
                        </a:rPr>
                        <a:t>" </a:t>
                      </a:r>
                      <a:r>
                        <a:rPr lang="en-GB" sz="900" dirty="0" err="1">
                          <a:effectLst/>
                        </a:rPr>
                        <a:t>andmejärveks</a:t>
                      </a:r>
                      <a:endParaRPr lang="en-GB" sz="900" dirty="0">
                        <a:effectLst/>
                      </a:endParaRPr>
                    </a:p>
                  </a:txBody>
                  <a:tcPr marL="30584" marR="30584" marT="30584" marB="30584"/>
                </a:tc>
                <a:extLst>
                  <a:ext uri="{0D108BD9-81ED-4DB2-BD59-A6C34878D82A}">
                    <a16:rowId xmlns:a16="http://schemas.microsoft.com/office/drawing/2014/main" val="713830966"/>
                  </a:ext>
                </a:extLst>
              </a:tr>
            </a:tbl>
          </a:graphicData>
        </a:graphic>
      </p:graphicFrame>
    </p:spTree>
    <p:extLst>
      <p:ext uri="{BB962C8B-B14F-4D97-AF65-F5344CB8AC3E}">
        <p14:creationId xmlns:p14="http://schemas.microsoft.com/office/powerpoint/2010/main" val="9135327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7CDBC-3B62-6DCF-8FDA-8CCEBD1BED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5D73BF-3521-7DD5-6ED7-661584C557E9}"/>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EF2749D2-78E6-7AA0-4D72-C47FF8A24AC5}"/>
              </a:ext>
            </a:extLst>
          </p:cNvPr>
          <p:cNvSpPr>
            <a:spLocks noGrp="1"/>
          </p:cNvSpPr>
          <p:nvPr>
            <p:ph type="ctrTitle"/>
          </p:nvPr>
        </p:nvSpPr>
        <p:spPr>
          <a:xfrm>
            <a:off x="4283493" y="2675333"/>
            <a:ext cx="3777666" cy="357043"/>
          </a:xfrm>
        </p:spPr>
        <p:txBody>
          <a:bodyPr/>
          <a:lstStyle/>
          <a:p>
            <a:r>
              <a:rPr lang="en-US"/>
              <a:t>Paus 10:30-10:45</a:t>
            </a:r>
          </a:p>
        </p:txBody>
      </p:sp>
    </p:spTree>
    <p:extLst>
      <p:ext uri="{BB962C8B-B14F-4D97-AF65-F5344CB8AC3E}">
        <p14:creationId xmlns:p14="http://schemas.microsoft.com/office/powerpoint/2010/main" val="350649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ACA9A-1F17-CA5D-795C-56786D1B9173}"/>
              </a:ext>
            </a:extLst>
          </p:cNvPr>
          <p:cNvSpPr>
            <a:spLocks noGrp="1"/>
          </p:cNvSpPr>
          <p:nvPr>
            <p:ph type="ctrTitle"/>
          </p:nvPr>
        </p:nvSpPr>
        <p:spPr/>
        <p:txBody>
          <a:bodyPr/>
          <a:lstStyle/>
          <a:p>
            <a:r>
              <a:rPr lang="en-GB" dirty="0"/>
              <a:t>Power BI </a:t>
            </a:r>
            <a:r>
              <a:rPr lang="en-GB" dirty="0" err="1"/>
              <a:t>hinnastamine</a:t>
            </a:r>
            <a:endParaRPr lang="en-GB" dirty="0"/>
          </a:p>
        </p:txBody>
      </p:sp>
      <p:graphicFrame>
        <p:nvGraphicFramePr>
          <p:cNvPr id="4" name="Content Placeholder 3">
            <a:extLst>
              <a:ext uri="{FF2B5EF4-FFF2-40B4-BE49-F238E27FC236}">
                <a16:creationId xmlns:a16="http://schemas.microsoft.com/office/drawing/2014/main" id="{0E8B6179-D2E1-138C-F494-78462F20D92D}"/>
              </a:ext>
            </a:extLst>
          </p:cNvPr>
          <p:cNvGraphicFramePr>
            <a:graphicFrameLocks noGrp="1"/>
          </p:cNvGraphicFramePr>
          <p:nvPr>
            <p:ph sz="quarter" idx="10"/>
            <p:extLst>
              <p:ext uri="{D42A27DB-BD31-4B8C-83A1-F6EECF244321}">
                <p14:modId xmlns:p14="http://schemas.microsoft.com/office/powerpoint/2010/main" val="95676717"/>
              </p:ext>
            </p:extLst>
          </p:nvPr>
        </p:nvGraphicFramePr>
        <p:xfrm>
          <a:off x="623888" y="1574796"/>
          <a:ext cx="8080731" cy="3708408"/>
        </p:xfrm>
        <a:graphic>
          <a:graphicData uri="http://schemas.openxmlformats.org/drawingml/2006/table">
            <a:tbl>
              <a:tblPr>
                <a:tableStyleId>{5C22544A-7EE6-4342-B048-85BDC9FD1C3A}</a:tableStyleId>
              </a:tblPr>
              <a:tblGrid>
                <a:gridCol w="2020183">
                  <a:extLst>
                    <a:ext uri="{9D8B030D-6E8A-4147-A177-3AD203B41FA5}">
                      <a16:colId xmlns:a16="http://schemas.microsoft.com/office/drawing/2014/main" val="1926838597"/>
                    </a:ext>
                  </a:extLst>
                </a:gridCol>
                <a:gridCol w="2015020">
                  <a:extLst>
                    <a:ext uri="{9D8B030D-6E8A-4147-A177-3AD203B41FA5}">
                      <a16:colId xmlns:a16="http://schemas.microsoft.com/office/drawing/2014/main" val="3089054389"/>
                    </a:ext>
                  </a:extLst>
                </a:gridCol>
                <a:gridCol w="2025345">
                  <a:extLst>
                    <a:ext uri="{9D8B030D-6E8A-4147-A177-3AD203B41FA5}">
                      <a16:colId xmlns:a16="http://schemas.microsoft.com/office/drawing/2014/main" val="486016935"/>
                    </a:ext>
                  </a:extLst>
                </a:gridCol>
                <a:gridCol w="2020183">
                  <a:extLst>
                    <a:ext uri="{9D8B030D-6E8A-4147-A177-3AD203B41FA5}">
                      <a16:colId xmlns:a16="http://schemas.microsoft.com/office/drawing/2014/main" val="2584174836"/>
                    </a:ext>
                  </a:extLst>
                </a:gridCol>
              </a:tblGrid>
              <a:tr h="441931">
                <a:tc>
                  <a:txBody>
                    <a:bodyPr/>
                    <a:lstStyle/>
                    <a:p>
                      <a:pPr algn="l" fontAlgn="t">
                        <a:buNone/>
                      </a:pPr>
                      <a:r>
                        <a:rPr lang="en-GB" sz="1200" dirty="0" err="1">
                          <a:effectLst/>
                        </a:rPr>
                        <a:t>Litsentsi</a:t>
                      </a:r>
                      <a:r>
                        <a:rPr lang="en-GB" sz="1200" dirty="0">
                          <a:effectLst/>
                        </a:rPr>
                        <a:t> </a:t>
                      </a:r>
                      <a:r>
                        <a:rPr lang="en-GB" sz="1200" dirty="0" err="1">
                          <a:effectLst/>
                        </a:rPr>
                        <a:t>tüüp</a:t>
                      </a:r>
                      <a:endParaRPr lang="en-GB" sz="1200" dirty="0">
                        <a:effectLst/>
                      </a:endParaRPr>
                    </a:p>
                  </a:txBody>
                  <a:tcPr marL="52071" marR="52071" marT="52071" marB="52071"/>
                </a:tc>
                <a:tc>
                  <a:txBody>
                    <a:bodyPr/>
                    <a:lstStyle/>
                    <a:p>
                      <a:pPr algn="l" fontAlgn="t">
                        <a:buNone/>
                      </a:pPr>
                      <a:r>
                        <a:rPr lang="en-GB" sz="1200">
                          <a:effectLst/>
                        </a:rPr>
                        <a:t>💰 Hind (EUR / kuu)*</a:t>
                      </a:r>
                    </a:p>
                  </a:txBody>
                  <a:tcPr marL="52071" marR="52071" marT="52071" marB="52071"/>
                </a:tc>
                <a:tc>
                  <a:txBody>
                    <a:bodyPr/>
                    <a:lstStyle/>
                    <a:p>
                      <a:pPr algn="l" fontAlgn="t">
                        <a:buNone/>
                      </a:pPr>
                      <a:r>
                        <a:rPr lang="en-GB" sz="1200">
                          <a:effectLst/>
                        </a:rPr>
                        <a:t>📊 Tehnilised piirangud ja võimalused</a:t>
                      </a:r>
                    </a:p>
                  </a:txBody>
                  <a:tcPr marL="52071" marR="52071" marT="52071" marB="52071"/>
                </a:tc>
                <a:tc>
                  <a:txBody>
                    <a:bodyPr/>
                    <a:lstStyle/>
                    <a:p>
                      <a:pPr algn="l" fontAlgn="t">
                        <a:buNone/>
                      </a:pPr>
                      <a:r>
                        <a:rPr lang="en-GB" sz="1200">
                          <a:effectLst/>
                        </a:rPr>
                        <a:t>🎯 Kellele mõeldud?</a:t>
                      </a:r>
                    </a:p>
                  </a:txBody>
                  <a:tcPr marL="52071" marR="52071" marT="52071" marB="52071"/>
                </a:tc>
                <a:extLst>
                  <a:ext uri="{0D108BD9-81ED-4DB2-BD59-A6C34878D82A}">
                    <a16:rowId xmlns:a16="http://schemas.microsoft.com/office/drawing/2014/main" val="453407556"/>
                  </a:ext>
                </a:extLst>
              </a:tr>
              <a:tr h="621902">
                <a:tc>
                  <a:txBody>
                    <a:bodyPr/>
                    <a:lstStyle/>
                    <a:p>
                      <a:pPr algn="l" fontAlgn="t">
                        <a:buNone/>
                      </a:pPr>
                      <a:r>
                        <a:rPr lang="en-GB" sz="1200" b="1" dirty="0">
                          <a:effectLst/>
                        </a:rPr>
                        <a:t>Power BI Desktop (</a:t>
                      </a:r>
                      <a:r>
                        <a:rPr lang="en-GB" sz="1200" b="1" dirty="0" err="1">
                          <a:effectLst/>
                        </a:rPr>
                        <a:t>Tasuta</a:t>
                      </a:r>
                      <a:r>
                        <a:rPr lang="en-GB" sz="1200" b="1" dirty="0">
                          <a:effectLst/>
                        </a:rPr>
                        <a:t>)</a:t>
                      </a:r>
                    </a:p>
                  </a:txBody>
                  <a:tcPr marL="52071" marR="52071" marT="52071" marB="52071"/>
                </a:tc>
                <a:tc>
                  <a:txBody>
                    <a:bodyPr/>
                    <a:lstStyle/>
                    <a:p>
                      <a:pPr algn="l" fontAlgn="t">
                        <a:buNone/>
                      </a:pPr>
                      <a:r>
                        <a:rPr lang="en-GB" sz="1200">
                          <a:effectLst/>
                        </a:rPr>
                        <a:t>0 €</a:t>
                      </a:r>
                    </a:p>
                  </a:txBody>
                  <a:tcPr marL="52071" marR="52071" marT="52071" marB="52071"/>
                </a:tc>
                <a:tc>
                  <a:txBody>
                    <a:bodyPr/>
                    <a:lstStyle/>
                    <a:p>
                      <a:pPr algn="l" fontAlgn="t">
                        <a:buNone/>
                      </a:pPr>
                      <a:r>
                        <a:rPr lang="en-GB" sz="1200" dirty="0" err="1">
                          <a:effectLst/>
                        </a:rPr>
                        <a:t>Raportite</a:t>
                      </a:r>
                      <a:r>
                        <a:rPr lang="en-GB" sz="1200" dirty="0">
                          <a:effectLst/>
                        </a:rPr>
                        <a:t> </a:t>
                      </a:r>
                      <a:r>
                        <a:rPr lang="en-GB" sz="1200" b="1" dirty="0" err="1">
                          <a:effectLst/>
                        </a:rPr>
                        <a:t>kohalik</a:t>
                      </a:r>
                      <a:r>
                        <a:rPr lang="en-GB" sz="1200" b="1" dirty="0">
                          <a:effectLst/>
                        </a:rPr>
                        <a:t> </a:t>
                      </a:r>
                      <a:r>
                        <a:rPr lang="en-GB" sz="1200" b="1" dirty="0" err="1">
                          <a:effectLst/>
                        </a:rPr>
                        <a:t>loomine</a:t>
                      </a:r>
                      <a:r>
                        <a:rPr lang="en-GB" sz="1200" b="1" dirty="0">
                          <a:effectLst/>
                        </a:rPr>
                        <a:t> </a:t>
                      </a:r>
                      <a:r>
                        <a:rPr lang="en-GB" sz="1200" b="1" dirty="0" err="1">
                          <a:effectLst/>
                        </a:rPr>
                        <a:t>oma</a:t>
                      </a:r>
                      <a:r>
                        <a:rPr lang="en-GB" sz="1200" b="1" dirty="0">
                          <a:effectLst/>
                        </a:rPr>
                        <a:t> </a:t>
                      </a:r>
                      <a:r>
                        <a:rPr lang="en-GB" sz="1200" b="1" dirty="0" err="1">
                          <a:effectLst/>
                        </a:rPr>
                        <a:t>arvutis</a:t>
                      </a:r>
                      <a:r>
                        <a:rPr lang="en-GB" sz="1200" b="1" dirty="0">
                          <a:effectLst/>
                        </a:rPr>
                        <a:t>. </a:t>
                      </a:r>
                      <a:r>
                        <a:rPr lang="en-GB" sz="1200" b="1" dirty="0" err="1">
                          <a:effectLst/>
                        </a:rPr>
                        <a:t>Jagada</a:t>
                      </a:r>
                      <a:r>
                        <a:rPr lang="en-GB" sz="1200" b="1" dirty="0">
                          <a:effectLst/>
                        </a:rPr>
                        <a:t> </a:t>
                      </a:r>
                      <a:r>
                        <a:rPr lang="en-GB" sz="1200" b="1" dirty="0" err="1">
                          <a:effectLst/>
                        </a:rPr>
                        <a:t>ei</a:t>
                      </a:r>
                      <a:r>
                        <a:rPr lang="en-GB" sz="1200" b="1" dirty="0">
                          <a:effectLst/>
                        </a:rPr>
                        <a:t> </a:t>
                      </a:r>
                      <a:r>
                        <a:rPr lang="en-GB" sz="1200" b="1" dirty="0" err="1">
                          <a:effectLst/>
                        </a:rPr>
                        <a:t>saa</a:t>
                      </a:r>
                      <a:r>
                        <a:rPr lang="en-GB" sz="1200" b="1" dirty="0">
                          <a:effectLst/>
                        </a:rPr>
                        <a:t>.</a:t>
                      </a:r>
                    </a:p>
                  </a:txBody>
                  <a:tcPr marL="52071" marR="52071" marT="52071" marB="52071"/>
                </a:tc>
                <a:tc>
                  <a:txBody>
                    <a:bodyPr/>
                    <a:lstStyle/>
                    <a:p>
                      <a:pPr algn="l" fontAlgn="t">
                        <a:buNone/>
                      </a:pPr>
                      <a:r>
                        <a:rPr lang="en-GB" sz="1200">
                          <a:effectLst/>
                        </a:rPr>
                        <a:t>Andmete uurimiseks omaette.</a:t>
                      </a:r>
                    </a:p>
                  </a:txBody>
                  <a:tcPr marL="52071" marR="52071" marT="52071" marB="52071"/>
                </a:tc>
                <a:extLst>
                  <a:ext uri="{0D108BD9-81ED-4DB2-BD59-A6C34878D82A}">
                    <a16:rowId xmlns:a16="http://schemas.microsoft.com/office/drawing/2014/main" val="2322903822"/>
                  </a:ext>
                </a:extLst>
              </a:tr>
              <a:tr h="1161815">
                <a:tc>
                  <a:txBody>
                    <a:bodyPr/>
                    <a:lstStyle/>
                    <a:p>
                      <a:pPr algn="l" fontAlgn="t">
                        <a:buNone/>
                      </a:pPr>
                      <a:r>
                        <a:rPr lang="en-GB" sz="1200" dirty="0">
                          <a:effectLst/>
                        </a:rPr>
                        <a:t>Power BI Pro</a:t>
                      </a:r>
                    </a:p>
                  </a:txBody>
                  <a:tcPr marL="52071" marR="52071" marT="52071" marB="52071"/>
                </a:tc>
                <a:tc>
                  <a:txBody>
                    <a:bodyPr/>
                    <a:lstStyle/>
                    <a:p>
                      <a:pPr algn="l" fontAlgn="t">
                        <a:buNone/>
                      </a:pPr>
                      <a:r>
                        <a:rPr lang="en-GB" sz="1200">
                          <a:effectLst/>
                        </a:rPr>
                        <a:t>~13 € / kasutaja</a:t>
                      </a:r>
                    </a:p>
                  </a:txBody>
                  <a:tcPr marL="52071" marR="52071" marT="52071" marB="52071"/>
                </a:tc>
                <a:tc>
                  <a:txBody>
                    <a:bodyPr/>
                    <a:lstStyle/>
                    <a:p>
                      <a:pPr algn="l" fontAlgn="t">
                        <a:buNone/>
                      </a:pPr>
                      <a:r>
                        <a:rPr lang="en-GB" sz="1200" dirty="0">
                          <a:effectLst/>
                        </a:rPr>
                        <a:t>* </a:t>
                      </a:r>
                      <a:r>
                        <a:rPr lang="en-GB" sz="1200" dirty="0" err="1">
                          <a:effectLst/>
                        </a:rPr>
                        <a:t>Ühe</a:t>
                      </a:r>
                      <a:r>
                        <a:rPr lang="en-GB" sz="1200" dirty="0">
                          <a:effectLst/>
                        </a:rPr>
                        <a:t> </a:t>
                      </a:r>
                      <a:r>
                        <a:rPr lang="en-GB" sz="1200" dirty="0" err="1">
                          <a:effectLst/>
                        </a:rPr>
                        <a:t>andmemudeli</a:t>
                      </a:r>
                      <a:r>
                        <a:rPr lang="en-GB" sz="1200" dirty="0">
                          <a:effectLst/>
                        </a:rPr>
                        <a:t> </a:t>
                      </a:r>
                      <a:r>
                        <a:rPr lang="en-GB" sz="1200" dirty="0" err="1">
                          <a:effectLst/>
                        </a:rPr>
                        <a:t>maht</a:t>
                      </a:r>
                      <a:r>
                        <a:rPr lang="en-GB" sz="1200" dirty="0">
                          <a:effectLst/>
                        </a:rPr>
                        <a:t> max 1 GB</a:t>
                      </a:r>
                      <a:br>
                        <a:rPr lang="en-GB" sz="1200" dirty="0">
                          <a:effectLst/>
                        </a:rPr>
                      </a:br>
                      <a:r>
                        <a:rPr lang="en-GB" sz="1200" dirty="0">
                          <a:effectLst/>
                        </a:rPr>
                        <a:t>* </a:t>
                      </a:r>
                      <a:r>
                        <a:rPr lang="en-GB" sz="1200" dirty="0" err="1">
                          <a:effectLst/>
                        </a:rPr>
                        <a:t>Andmete</a:t>
                      </a:r>
                      <a:r>
                        <a:rPr lang="en-GB" sz="1200" dirty="0">
                          <a:effectLst/>
                        </a:rPr>
                        <a:t> </a:t>
                      </a:r>
                      <a:r>
                        <a:rPr lang="en-GB" sz="1200" dirty="0" err="1">
                          <a:effectLst/>
                        </a:rPr>
                        <a:t>uuendamine</a:t>
                      </a:r>
                      <a:r>
                        <a:rPr lang="en-GB" sz="1200" dirty="0">
                          <a:effectLst/>
                        </a:rPr>
                        <a:t> max 8 </a:t>
                      </a:r>
                      <a:r>
                        <a:rPr lang="en-GB" sz="1200" dirty="0" err="1">
                          <a:effectLst/>
                        </a:rPr>
                        <a:t>korda</a:t>
                      </a:r>
                      <a:r>
                        <a:rPr lang="en-GB" sz="1200" dirty="0">
                          <a:effectLst/>
                        </a:rPr>
                        <a:t> </a:t>
                      </a:r>
                      <a:r>
                        <a:rPr lang="en-GB" sz="1200" dirty="0" err="1">
                          <a:effectLst/>
                        </a:rPr>
                        <a:t>päevas</a:t>
                      </a:r>
                      <a:br>
                        <a:rPr lang="en-GB" sz="1200" dirty="0">
                          <a:effectLst/>
                        </a:rPr>
                      </a:br>
                      <a:r>
                        <a:rPr lang="en-GB" sz="1200" dirty="0">
                          <a:effectLst/>
                        </a:rPr>
                        <a:t>* </a:t>
                      </a:r>
                      <a:r>
                        <a:rPr lang="en-GB" sz="1200" b="1" dirty="0" err="1">
                          <a:effectLst/>
                        </a:rPr>
                        <a:t>Jagamine</a:t>
                      </a:r>
                      <a:r>
                        <a:rPr lang="en-GB" sz="1200" b="1" dirty="0">
                          <a:effectLst/>
                        </a:rPr>
                        <a:t> </a:t>
                      </a:r>
                      <a:r>
                        <a:rPr lang="en-GB" sz="1200" b="1" dirty="0" err="1">
                          <a:effectLst/>
                        </a:rPr>
                        <a:t>ja</a:t>
                      </a:r>
                      <a:r>
                        <a:rPr lang="en-GB" sz="1200" b="1" dirty="0">
                          <a:effectLst/>
                        </a:rPr>
                        <a:t> </a:t>
                      </a:r>
                      <a:r>
                        <a:rPr lang="en-GB" sz="1200" b="1" dirty="0" err="1">
                          <a:effectLst/>
                        </a:rPr>
                        <a:t>vaatamine</a:t>
                      </a:r>
                      <a:r>
                        <a:rPr lang="en-GB" sz="1200" b="1" dirty="0">
                          <a:effectLst/>
                        </a:rPr>
                        <a:t> </a:t>
                      </a:r>
                      <a:r>
                        <a:rPr lang="en-GB" sz="1200" b="1" dirty="0" err="1">
                          <a:effectLst/>
                        </a:rPr>
                        <a:t>pilves</a:t>
                      </a:r>
                      <a:r>
                        <a:rPr lang="en-GB" sz="1200" b="1" dirty="0">
                          <a:effectLst/>
                        </a:rPr>
                        <a:t>.</a:t>
                      </a:r>
                    </a:p>
                  </a:txBody>
                  <a:tcPr marL="52071" marR="52071" marT="52071" marB="52071"/>
                </a:tc>
                <a:tc>
                  <a:txBody>
                    <a:bodyPr/>
                    <a:lstStyle/>
                    <a:p>
                      <a:pPr algn="l" fontAlgn="t">
                        <a:buNone/>
                      </a:pPr>
                      <a:r>
                        <a:rPr lang="en-GB" sz="1200">
                          <a:effectLst/>
                        </a:rPr>
                        <a:t>Tavaline standard. Vajalik igale raamatupidajale ja juhile raportite vaatamiseks.</a:t>
                      </a:r>
                    </a:p>
                  </a:txBody>
                  <a:tcPr marL="52071" marR="52071" marT="52071" marB="52071"/>
                </a:tc>
                <a:extLst>
                  <a:ext uri="{0D108BD9-81ED-4DB2-BD59-A6C34878D82A}">
                    <a16:rowId xmlns:a16="http://schemas.microsoft.com/office/drawing/2014/main" val="2958464117"/>
                  </a:ext>
                </a:extLst>
              </a:tr>
              <a:tr h="1341786">
                <a:tc>
                  <a:txBody>
                    <a:bodyPr/>
                    <a:lstStyle/>
                    <a:p>
                      <a:pPr algn="l" fontAlgn="t">
                        <a:buNone/>
                      </a:pPr>
                      <a:r>
                        <a:rPr lang="en-GB" sz="1200" dirty="0">
                          <a:effectLst/>
                        </a:rPr>
                        <a:t>Premium Per User (PPU)</a:t>
                      </a:r>
                    </a:p>
                  </a:txBody>
                  <a:tcPr marL="52071" marR="52071" marT="52071" marB="52071"/>
                </a:tc>
                <a:tc>
                  <a:txBody>
                    <a:bodyPr/>
                    <a:lstStyle/>
                    <a:p>
                      <a:pPr algn="l" fontAlgn="t">
                        <a:buNone/>
                      </a:pPr>
                      <a:r>
                        <a:rPr lang="en-GB" sz="1200">
                          <a:effectLst/>
                        </a:rPr>
                        <a:t>~22 € / kasutaja</a:t>
                      </a:r>
                    </a:p>
                  </a:txBody>
                  <a:tcPr marL="52071" marR="52071" marT="52071" marB="52071"/>
                </a:tc>
                <a:tc>
                  <a:txBody>
                    <a:bodyPr/>
                    <a:lstStyle/>
                    <a:p>
                      <a:pPr algn="l" fontAlgn="t">
                        <a:buNone/>
                      </a:pPr>
                      <a:r>
                        <a:rPr lang="en-GB" sz="1200">
                          <a:effectLst/>
                        </a:rPr>
                        <a:t>* Ühe andmemudeli maht max 100 GB</a:t>
                      </a:r>
                      <a:br>
                        <a:rPr lang="en-GB" sz="1200">
                          <a:effectLst/>
                        </a:rPr>
                      </a:br>
                      <a:r>
                        <a:rPr lang="en-GB" sz="1200">
                          <a:effectLst/>
                        </a:rPr>
                        <a:t>* Andmete uuendamine 48 korda päevas</a:t>
                      </a:r>
                      <a:br>
                        <a:rPr lang="en-GB" sz="1200">
                          <a:effectLst/>
                        </a:rPr>
                      </a:br>
                      <a:r>
                        <a:rPr lang="en-GB" sz="1200">
                          <a:effectLst/>
                        </a:rPr>
                        <a:t>* Edasijõudnud tehisintellekt (AI) ja arendustööriistad.</a:t>
                      </a:r>
                    </a:p>
                  </a:txBody>
                  <a:tcPr marL="52071" marR="52071" marT="52071" marB="52071"/>
                </a:tc>
                <a:tc>
                  <a:txBody>
                    <a:bodyPr/>
                    <a:lstStyle/>
                    <a:p>
                      <a:pPr algn="l" fontAlgn="t">
                        <a:buNone/>
                      </a:pPr>
                      <a:r>
                        <a:rPr lang="en-GB" sz="1200" dirty="0">
                          <a:effectLst/>
                        </a:rPr>
                        <a:t>Power-</a:t>
                      </a:r>
                      <a:r>
                        <a:rPr lang="en-GB" sz="1200" dirty="0" err="1">
                          <a:effectLst/>
                        </a:rPr>
                        <a:t>useritele</a:t>
                      </a:r>
                      <a:r>
                        <a:rPr lang="en-GB" sz="1200" dirty="0">
                          <a:effectLst/>
                        </a:rPr>
                        <a:t> </a:t>
                      </a:r>
                      <a:r>
                        <a:rPr lang="en-GB" sz="1200" dirty="0" err="1">
                          <a:effectLst/>
                        </a:rPr>
                        <a:t>ja</a:t>
                      </a:r>
                      <a:r>
                        <a:rPr lang="en-GB" sz="1200" dirty="0">
                          <a:effectLst/>
                        </a:rPr>
                        <a:t> </a:t>
                      </a:r>
                      <a:r>
                        <a:rPr lang="en-GB" sz="1200" dirty="0" err="1">
                          <a:effectLst/>
                        </a:rPr>
                        <a:t>analüütikutele</a:t>
                      </a:r>
                      <a:r>
                        <a:rPr lang="en-GB" sz="1200" dirty="0">
                          <a:effectLst/>
                        </a:rPr>
                        <a:t>, </a:t>
                      </a:r>
                      <a:r>
                        <a:rPr lang="en-GB" sz="1200" dirty="0" err="1">
                          <a:effectLst/>
                        </a:rPr>
                        <a:t>kelle</a:t>
                      </a:r>
                      <a:r>
                        <a:rPr lang="en-GB" sz="1200" dirty="0">
                          <a:effectLst/>
                        </a:rPr>
                        <a:t> </a:t>
                      </a:r>
                      <a:r>
                        <a:rPr lang="en-GB" sz="1200" dirty="0" err="1">
                          <a:effectLst/>
                        </a:rPr>
                        <a:t>andmemahud</a:t>
                      </a:r>
                      <a:r>
                        <a:rPr lang="en-GB" sz="1200" dirty="0">
                          <a:effectLst/>
                        </a:rPr>
                        <a:t> on </a:t>
                      </a:r>
                      <a:r>
                        <a:rPr lang="en-GB" sz="1200" dirty="0" err="1">
                          <a:effectLst/>
                        </a:rPr>
                        <a:t>hiiglaslikud</a:t>
                      </a:r>
                      <a:r>
                        <a:rPr lang="en-GB" sz="1200" dirty="0">
                          <a:effectLst/>
                        </a:rPr>
                        <a:t>.</a:t>
                      </a:r>
                    </a:p>
                  </a:txBody>
                  <a:tcPr marL="52071" marR="52071" marT="52071" marB="52071"/>
                </a:tc>
                <a:extLst>
                  <a:ext uri="{0D108BD9-81ED-4DB2-BD59-A6C34878D82A}">
                    <a16:rowId xmlns:a16="http://schemas.microsoft.com/office/drawing/2014/main" val="731754174"/>
                  </a:ext>
                </a:extLst>
              </a:tr>
            </a:tbl>
          </a:graphicData>
        </a:graphic>
      </p:graphicFrame>
    </p:spTree>
    <p:extLst>
      <p:ext uri="{BB962C8B-B14F-4D97-AF65-F5344CB8AC3E}">
        <p14:creationId xmlns:p14="http://schemas.microsoft.com/office/powerpoint/2010/main" val="18836368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86FFC-EFCA-60BB-C261-E6A49DF9AF77}"/>
              </a:ext>
            </a:extLst>
          </p:cNvPr>
          <p:cNvSpPr>
            <a:spLocks noGrp="1"/>
          </p:cNvSpPr>
          <p:nvPr>
            <p:ph type="ctrTitle"/>
          </p:nvPr>
        </p:nvSpPr>
        <p:spPr/>
        <p:txBody>
          <a:bodyPr/>
          <a:lstStyle/>
          <a:p>
            <a:r>
              <a:rPr lang="en-GB" dirty="0" err="1"/>
              <a:t>Andmeplatvormide</a:t>
            </a:r>
            <a:r>
              <a:rPr lang="en-GB" dirty="0"/>
              <a:t> </a:t>
            </a:r>
            <a:r>
              <a:rPr lang="en-GB" dirty="0" err="1"/>
              <a:t>hinnastamine</a:t>
            </a:r>
            <a:endParaRPr lang="en-GB" dirty="0"/>
          </a:p>
        </p:txBody>
      </p:sp>
      <p:sp>
        <p:nvSpPr>
          <p:cNvPr id="3" name="Content Placeholder 2">
            <a:extLst>
              <a:ext uri="{FF2B5EF4-FFF2-40B4-BE49-F238E27FC236}">
                <a16:creationId xmlns:a16="http://schemas.microsoft.com/office/drawing/2014/main" id="{2A4B9C43-0937-F7D6-4913-428AD4F3B208}"/>
              </a:ext>
            </a:extLst>
          </p:cNvPr>
          <p:cNvSpPr>
            <a:spLocks noGrp="1"/>
          </p:cNvSpPr>
          <p:nvPr>
            <p:ph sz="quarter" idx="10"/>
          </p:nvPr>
        </p:nvSpPr>
        <p:spPr/>
        <p:txBody>
          <a:bodyPr/>
          <a:lstStyle/>
          <a:p>
            <a:endParaRPr lang="en-GB" dirty="0"/>
          </a:p>
        </p:txBody>
      </p:sp>
      <p:graphicFrame>
        <p:nvGraphicFramePr>
          <p:cNvPr id="11" name="Content Placeholder 10">
            <a:extLst>
              <a:ext uri="{FF2B5EF4-FFF2-40B4-BE49-F238E27FC236}">
                <a16:creationId xmlns:a16="http://schemas.microsoft.com/office/drawing/2014/main" id="{67FC2E7C-6666-C249-C786-119D30F84DCA}"/>
              </a:ext>
            </a:extLst>
          </p:cNvPr>
          <p:cNvGraphicFramePr>
            <a:graphicFrameLocks/>
          </p:cNvGraphicFramePr>
          <p:nvPr>
            <p:extLst>
              <p:ext uri="{D42A27DB-BD31-4B8C-83A1-F6EECF244321}">
                <p14:modId xmlns:p14="http://schemas.microsoft.com/office/powerpoint/2010/main" val="1931174967"/>
              </p:ext>
            </p:extLst>
          </p:nvPr>
        </p:nvGraphicFramePr>
        <p:xfrm>
          <a:off x="623888" y="1268413"/>
          <a:ext cx="9450545" cy="4583944"/>
        </p:xfrm>
        <a:graphic>
          <a:graphicData uri="http://schemas.openxmlformats.org/drawingml/2006/table">
            <a:tbl>
              <a:tblPr>
                <a:tableStyleId>{5C22544A-7EE6-4342-B048-85BDC9FD1C3A}</a:tableStyleId>
              </a:tblPr>
              <a:tblGrid>
                <a:gridCol w="1890109">
                  <a:extLst>
                    <a:ext uri="{9D8B030D-6E8A-4147-A177-3AD203B41FA5}">
                      <a16:colId xmlns:a16="http://schemas.microsoft.com/office/drawing/2014/main" val="2274602038"/>
                    </a:ext>
                  </a:extLst>
                </a:gridCol>
                <a:gridCol w="1890109">
                  <a:extLst>
                    <a:ext uri="{9D8B030D-6E8A-4147-A177-3AD203B41FA5}">
                      <a16:colId xmlns:a16="http://schemas.microsoft.com/office/drawing/2014/main" val="283506930"/>
                    </a:ext>
                  </a:extLst>
                </a:gridCol>
                <a:gridCol w="1890109">
                  <a:extLst>
                    <a:ext uri="{9D8B030D-6E8A-4147-A177-3AD203B41FA5}">
                      <a16:colId xmlns:a16="http://schemas.microsoft.com/office/drawing/2014/main" val="217041677"/>
                    </a:ext>
                  </a:extLst>
                </a:gridCol>
                <a:gridCol w="1890109">
                  <a:extLst>
                    <a:ext uri="{9D8B030D-6E8A-4147-A177-3AD203B41FA5}">
                      <a16:colId xmlns:a16="http://schemas.microsoft.com/office/drawing/2014/main" val="3815143916"/>
                    </a:ext>
                  </a:extLst>
                </a:gridCol>
                <a:gridCol w="1890109">
                  <a:extLst>
                    <a:ext uri="{9D8B030D-6E8A-4147-A177-3AD203B41FA5}">
                      <a16:colId xmlns:a16="http://schemas.microsoft.com/office/drawing/2014/main" val="1172754042"/>
                    </a:ext>
                  </a:extLst>
                </a:gridCol>
              </a:tblGrid>
              <a:tr h="583428">
                <a:tc>
                  <a:txBody>
                    <a:bodyPr/>
                    <a:lstStyle/>
                    <a:p>
                      <a:pPr algn="l" fontAlgn="t">
                        <a:buNone/>
                      </a:pPr>
                      <a:r>
                        <a:rPr lang="en-GB" sz="1600" dirty="0" err="1">
                          <a:effectLst/>
                        </a:rPr>
                        <a:t>Kriteerium</a:t>
                      </a:r>
                      <a:endParaRPr lang="en-GB" sz="1600" dirty="0">
                        <a:effectLst/>
                      </a:endParaRPr>
                    </a:p>
                  </a:txBody>
                  <a:tcPr marL="54833" marR="54833" marT="54833" marB="54833"/>
                </a:tc>
                <a:tc>
                  <a:txBody>
                    <a:bodyPr/>
                    <a:lstStyle/>
                    <a:p>
                      <a:pPr algn="l" fontAlgn="t">
                        <a:buNone/>
                      </a:pPr>
                      <a:r>
                        <a:rPr lang="en-GB" sz="1600">
                          <a:effectLst/>
                        </a:rPr>
                        <a:t>❄️ Snowflake + dbt</a:t>
                      </a:r>
                    </a:p>
                  </a:txBody>
                  <a:tcPr marL="54833" marR="54833" marT="54833" marB="54833"/>
                </a:tc>
                <a:tc>
                  <a:txBody>
                    <a:bodyPr/>
                    <a:lstStyle/>
                    <a:p>
                      <a:pPr algn="l" fontAlgn="t">
                        <a:buNone/>
                      </a:pPr>
                      <a:r>
                        <a:rPr lang="en-GB" sz="1600">
                          <a:effectLst/>
                        </a:rPr>
                        <a:t>🧱 Databricks</a:t>
                      </a:r>
                    </a:p>
                  </a:txBody>
                  <a:tcPr marL="54833" marR="54833" marT="54833" marB="54833"/>
                </a:tc>
                <a:tc>
                  <a:txBody>
                    <a:bodyPr/>
                    <a:lstStyle/>
                    <a:p>
                      <a:pPr algn="l" fontAlgn="t">
                        <a:buNone/>
                      </a:pPr>
                      <a:r>
                        <a:rPr lang="en-GB" sz="1600">
                          <a:effectLst/>
                        </a:rPr>
                        <a:t>☁️ Microsoft Fabric</a:t>
                      </a:r>
                    </a:p>
                  </a:txBody>
                  <a:tcPr marL="54833" marR="54833" marT="54833" marB="54833"/>
                </a:tc>
                <a:tc>
                  <a:txBody>
                    <a:bodyPr/>
                    <a:lstStyle/>
                    <a:p>
                      <a:pPr algn="l" fontAlgn="t">
                        <a:buNone/>
                      </a:pPr>
                      <a:r>
                        <a:rPr lang="en-GB" sz="1600">
                          <a:effectLst/>
                        </a:rPr>
                        <a:t>📈 SAP Analytics Cloud / BDC</a:t>
                      </a:r>
                    </a:p>
                  </a:txBody>
                  <a:tcPr marL="54833" marR="54833" marT="54833" marB="54833"/>
                </a:tc>
                <a:extLst>
                  <a:ext uri="{0D108BD9-81ED-4DB2-BD59-A6C34878D82A}">
                    <a16:rowId xmlns:a16="http://schemas.microsoft.com/office/drawing/2014/main" val="911304992"/>
                  </a:ext>
                </a:extLst>
              </a:tr>
              <a:tr h="1294070">
                <a:tc>
                  <a:txBody>
                    <a:bodyPr/>
                    <a:lstStyle/>
                    <a:p>
                      <a:pPr algn="l" fontAlgn="t">
                        <a:buNone/>
                      </a:pPr>
                      <a:r>
                        <a:rPr lang="en-GB" sz="1600" dirty="0" err="1">
                          <a:effectLst/>
                        </a:rPr>
                        <a:t>Arvutusvõimsuse</a:t>
                      </a:r>
                      <a:r>
                        <a:rPr lang="en-GB" sz="1600" dirty="0">
                          <a:effectLst/>
                        </a:rPr>
                        <a:t> </a:t>
                      </a:r>
                      <a:r>
                        <a:rPr lang="en-GB" sz="1600" dirty="0" err="1">
                          <a:effectLst/>
                        </a:rPr>
                        <a:t>baashind</a:t>
                      </a:r>
                      <a:endParaRPr lang="en-GB" sz="1600" dirty="0">
                        <a:effectLst/>
                      </a:endParaRPr>
                    </a:p>
                  </a:txBody>
                  <a:tcPr marL="54833" marR="54833" marT="54833" marB="54833"/>
                </a:tc>
                <a:tc>
                  <a:txBody>
                    <a:bodyPr/>
                    <a:lstStyle/>
                    <a:p>
                      <a:pPr algn="l" fontAlgn="t">
                        <a:buNone/>
                      </a:pPr>
                      <a:r>
                        <a:rPr lang="en-GB" sz="1600">
                          <a:effectLst/>
                        </a:rPr>
                        <a:t>Alates ~1,85 € kuni 3,70 € krediidi kohta (XS server tarbib 1 krediidi tunnis).</a:t>
                      </a:r>
                    </a:p>
                  </a:txBody>
                  <a:tcPr marL="54833" marR="54833" marT="54833" marB="54833"/>
                </a:tc>
                <a:tc>
                  <a:txBody>
                    <a:bodyPr/>
                    <a:lstStyle/>
                    <a:p>
                      <a:pPr algn="l" fontAlgn="t">
                        <a:buNone/>
                      </a:pPr>
                      <a:r>
                        <a:rPr lang="en-GB" sz="1600">
                          <a:effectLst/>
                        </a:rPr>
                        <a:t>~0,14 € kuni 0,37 € ühe DBU kohta + virtuaalmasina rent pilves.</a:t>
                      </a:r>
                    </a:p>
                  </a:txBody>
                  <a:tcPr marL="54833" marR="54833" marT="54833" marB="54833"/>
                </a:tc>
                <a:tc>
                  <a:txBody>
                    <a:bodyPr/>
                    <a:lstStyle/>
                    <a:p>
                      <a:pPr algn="l" fontAlgn="t">
                        <a:buNone/>
                      </a:pPr>
                      <a:r>
                        <a:rPr lang="en-GB" sz="1600">
                          <a:effectLst/>
                        </a:rPr>
                        <a:t>Madalaim tase (F2 pakett) maksab püsivalt sees olles ~240 € kuus.</a:t>
                      </a:r>
                    </a:p>
                  </a:txBody>
                  <a:tcPr marL="54833" marR="54833" marT="54833" marB="54833"/>
                </a:tc>
                <a:tc>
                  <a:txBody>
                    <a:bodyPr/>
                    <a:lstStyle/>
                    <a:p>
                      <a:pPr algn="l" fontAlgn="t">
                        <a:buNone/>
                      </a:pPr>
                      <a:r>
                        <a:rPr lang="en-GB" sz="1600">
                          <a:effectLst/>
                        </a:rPr>
                        <a:t>Mahtude ühikud (Capacity Units) lepingu alusel, minimaalne püsikohustus.</a:t>
                      </a:r>
                    </a:p>
                  </a:txBody>
                  <a:tcPr marL="54833" marR="54833" marT="54833" marB="54833"/>
                </a:tc>
                <a:extLst>
                  <a:ext uri="{0D108BD9-81ED-4DB2-BD59-A6C34878D82A}">
                    <a16:rowId xmlns:a16="http://schemas.microsoft.com/office/drawing/2014/main" val="3587618207"/>
                  </a:ext>
                </a:extLst>
              </a:tr>
              <a:tr h="1294070">
                <a:tc>
                  <a:txBody>
                    <a:bodyPr/>
                    <a:lstStyle/>
                    <a:p>
                      <a:pPr algn="l" fontAlgn="t">
                        <a:buNone/>
                      </a:pPr>
                      <a:r>
                        <a:rPr lang="en-GB" sz="1600">
                          <a:effectLst/>
                        </a:rPr>
                        <a:t>Andmete hoiustamine</a:t>
                      </a:r>
                    </a:p>
                  </a:txBody>
                  <a:tcPr marL="54833" marR="54833" marT="54833" marB="54833"/>
                </a:tc>
                <a:tc>
                  <a:txBody>
                    <a:bodyPr/>
                    <a:lstStyle/>
                    <a:p>
                      <a:pPr algn="l" fontAlgn="t">
                        <a:buNone/>
                      </a:pPr>
                      <a:r>
                        <a:rPr lang="en-GB" sz="1600">
                          <a:effectLst/>
                        </a:rPr>
                        <a:t>Fikseeritud hind, ligikaudu ~21 € / TB kuus.</a:t>
                      </a:r>
                    </a:p>
                  </a:txBody>
                  <a:tcPr marL="54833" marR="54833" marT="54833" marB="54833"/>
                </a:tc>
                <a:tc>
                  <a:txBody>
                    <a:bodyPr/>
                    <a:lstStyle/>
                    <a:p>
                      <a:pPr algn="l" fontAlgn="t">
                        <a:buNone/>
                      </a:pPr>
                      <a:r>
                        <a:rPr lang="en-GB" sz="1600">
                          <a:effectLst/>
                        </a:rPr>
                        <a:t>Pilvepakkuja (Azure/AWS/GCP) standardne andmejärve tariif.</a:t>
                      </a:r>
                    </a:p>
                  </a:txBody>
                  <a:tcPr marL="54833" marR="54833" marT="54833" marB="54833"/>
                </a:tc>
                <a:tc>
                  <a:txBody>
                    <a:bodyPr/>
                    <a:lstStyle/>
                    <a:p>
                      <a:pPr algn="l" fontAlgn="t">
                        <a:buNone/>
                      </a:pPr>
                      <a:r>
                        <a:rPr lang="en-GB" sz="1600">
                          <a:effectLst/>
                        </a:rPr>
                        <a:t>OneLake hoiustamise kulu, sarnane standardsete pilvehindadega.</a:t>
                      </a:r>
                    </a:p>
                  </a:txBody>
                  <a:tcPr marL="54833" marR="54833" marT="54833" marB="54833"/>
                </a:tc>
                <a:tc>
                  <a:txBody>
                    <a:bodyPr/>
                    <a:lstStyle/>
                    <a:p>
                      <a:pPr algn="l" fontAlgn="t">
                        <a:buNone/>
                      </a:pPr>
                      <a:r>
                        <a:rPr lang="en-GB" sz="1600" dirty="0" err="1">
                          <a:effectLst/>
                        </a:rPr>
                        <a:t>Sisaldub</a:t>
                      </a:r>
                      <a:r>
                        <a:rPr lang="en-GB" sz="1600" dirty="0">
                          <a:effectLst/>
                        </a:rPr>
                        <a:t> Business Data </a:t>
                      </a:r>
                      <a:r>
                        <a:rPr lang="en-GB" sz="1600" dirty="0" err="1">
                          <a:effectLst/>
                        </a:rPr>
                        <a:t>Cloudi</a:t>
                      </a:r>
                      <a:r>
                        <a:rPr lang="en-GB" sz="1600" dirty="0">
                          <a:effectLst/>
                        </a:rPr>
                        <a:t> </a:t>
                      </a:r>
                      <a:r>
                        <a:rPr lang="en-GB" sz="1600" dirty="0" err="1">
                          <a:effectLst/>
                        </a:rPr>
                        <a:t>baaslepingu</a:t>
                      </a:r>
                      <a:r>
                        <a:rPr lang="en-GB" sz="1600" dirty="0">
                          <a:effectLst/>
                        </a:rPr>
                        <a:t> </a:t>
                      </a:r>
                      <a:r>
                        <a:rPr lang="en-GB" sz="1600" dirty="0" err="1">
                          <a:effectLst/>
                        </a:rPr>
                        <a:t>mahus</a:t>
                      </a:r>
                      <a:r>
                        <a:rPr lang="en-GB" sz="1600" dirty="0">
                          <a:effectLst/>
                        </a:rPr>
                        <a:t>.</a:t>
                      </a:r>
                    </a:p>
                  </a:txBody>
                  <a:tcPr marL="54833" marR="54833" marT="54833" marB="54833"/>
                </a:tc>
                <a:extLst>
                  <a:ext uri="{0D108BD9-81ED-4DB2-BD59-A6C34878D82A}">
                    <a16:rowId xmlns:a16="http://schemas.microsoft.com/office/drawing/2014/main" val="2441634457"/>
                  </a:ext>
                </a:extLst>
              </a:tr>
              <a:tr h="1294070">
                <a:tc>
                  <a:txBody>
                    <a:bodyPr/>
                    <a:lstStyle/>
                    <a:p>
                      <a:pPr algn="l" fontAlgn="t">
                        <a:buNone/>
                      </a:pPr>
                      <a:r>
                        <a:rPr lang="en-GB" sz="1600" dirty="0" err="1">
                          <a:effectLst/>
                        </a:rPr>
                        <a:t>Kasutajalitsentsid</a:t>
                      </a:r>
                      <a:endParaRPr lang="en-GB" sz="1600" dirty="0">
                        <a:effectLst/>
                      </a:endParaRP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Arendajad hinna sees. Vaatajad vajavad Power BI Pro litsentsi.</a:t>
                      </a:r>
                    </a:p>
                  </a:txBody>
                  <a:tcPr marL="54833" marR="54833" marT="54833" marB="54833"/>
                </a:tc>
                <a:tc>
                  <a:txBody>
                    <a:bodyPr/>
                    <a:lstStyle/>
                    <a:p>
                      <a:pPr algn="l" fontAlgn="t">
                        <a:buNone/>
                      </a:pPr>
                      <a:r>
                        <a:rPr lang="en-GB" sz="1600" dirty="0" err="1">
                          <a:effectLst/>
                        </a:rPr>
                        <a:t>Rangelt</a:t>
                      </a:r>
                      <a:r>
                        <a:rPr lang="en-GB" sz="1600" dirty="0">
                          <a:effectLst/>
                        </a:rPr>
                        <a:t> </a:t>
                      </a:r>
                      <a:r>
                        <a:rPr lang="en-GB" sz="1600" dirty="0" err="1">
                          <a:effectLst/>
                        </a:rPr>
                        <a:t>kasutajapõhine</a:t>
                      </a:r>
                      <a:r>
                        <a:rPr lang="en-GB" sz="1600" dirty="0">
                          <a:effectLst/>
                        </a:rPr>
                        <a:t>. Iga </a:t>
                      </a:r>
                      <a:r>
                        <a:rPr lang="en-GB" sz="1600" dirty="0" err="1">
                          <a:effectLst/>
                        </a:rPr>
                        <a:t>vaataja</a:t>
                      </a:r>
                      <a:r>
                        <a:rPr lang="en-GB" sz="1600" dirty="0">
                          <a:effectLst/>
                        </a:rPr>
                        <a:t> </a:t>
                      </a:r>
                      <a:r>
                        <a:rPr lang="en-GB" sz="1600" dirty="0" err="1">
                          <a:effectLst/>
                        </a:rPr>
                        <a:t>vajab</a:t>
                      </a:r>
                      <a:r>
                        <a:rPr lang="en-GB" sz="1600" dirty="0">
                          <a:effectLst/>
                        </a:rPr>
                        <a:t> </a:t>
                      </a:r>
                      <a:r>
                        <a:rPr lang="en-GB" sz="1600" dirty="0" err="1">
                          <a:effectLst/>
                        </a:rPr>
                        <a:t>eraldi</a:t>
                      </a:r>
                      <a:r>
                        <a:rPr lang="en-GB" sz="1600" dirty="0">
                          <a:effectLst/>
                        </a:rPr>
                        <a:t> </a:t>
                      </a:r>
                      <a:r>
                        <a:rPr lang="en-GB" sz="1600" dirty="0" err="1">
                          <a:effectLst/>
                        </a:rPr>
                        <a:t>kuist</a:t>
                      </a:r>
                      <a:r>
                        <a:rPr lang="en-GB" sz="1600" dirty="0">
                          <a:effectLst/>
                        </a:rPr>
                        <a:t> </a:t>
                      </a:r>
                      <a:r>
                        <a:rPr lang="en-GB" sz="1600" dirty="0" err="1">
                          <a:effectLst/>
                        </a:rPr>
                        <a:t>litsentsi</a:t>
                      </a:r>
                      <a:r>
                        <a:rPr lang="en-GB" sz="1600" dirty="0">
                          <a:effectLst/>
                        </a:rPr>
                        <a:t>.</a:t>
                      </a:r>
                    </a:p>
                  </a:txBody>
                  <a:tcPr marL="54833" marR="54833" marT="54833" marB="54833"/>
                </a:tc>
                <a:extLst>
                  <a:ext uri="{0D108BD9-81ED-4DB2-BD59-A6C34878D82A}">
                    <a16:rowId xmlns:a16="http://schemas.microsoft.com/office/drawing/2014/main" val="2940273481"/>
                  </a:ext>
                </a:extLst>
              </a:tr>
            </a:tbl>
          </a:graphicData>
        </a:graphic>
      </p:graphicFrame>
    </p:spTree>
    <p:extLst>
      <p:ext uri="{BB962C8B-B14F-4D97-AF65-F5344CB8AC3E}">
        <p14:creationId xmlns:p14="http://schemas.microsoft.com/office/powerpoint/2010/main" val="15544621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E0936-4559-8807-4C60-0BB238A8E247}"/>
              </a:ext>
            </a:extLst>
          </p:cNvPr>
          <p:cNvSpPr>
            <a:spLocks noGrp="1"/>
          </p:cNvSpPr>
          <p:nvPr>
            <p:ph type="ctrTitle"/>
          </p:nvPr>
        </p:nvSpPr>
        <p:spPr/>
        <p:txBody>
          <a:bodyPr/>
          <a:lstStyle/>
          <a:p>
            <a:r>
              <a:rPr lang="et-EE" dirty="0"/>
              <a:t>Hinnastamine</a:t>
            </a:r>
            <a:r>
              <a:rPr lang="en-GB" dirty="0"/>
              <a:t>: </a:t>
            </a:r>
            <a:r>
              <a:rPr lang="en-GB" dirty="0" err="1"/>
              <a:t>näide</a:t>
            </a:r>
            <a:r>
              <a:rPr lang="en-GB" dirty="0"/>
              <a:t> </a:t>
            </a:r>
            <a:r>
              <a:rPr lang="en-GB" dirty="0" err="1"/>
              <a:t>erinevate</a:t>
            </a:r>
            <a:r>
              <a:rPr lang="en-GB" dirty="0"/>
              <a:t> </a:t>
            </a:r>
            <a:r>
              <a:rPr lang="en-GB" dirty="0" err="1"/>
              <a:t>lahenduste</a:t>
            </a:r>
            <a:r>
              <a:rPr lang="en-GB" dirty="0"/>
              <a:t> </a:t>
            </a:r>
            <a:r>
              <a:rPr lang="en-GB" dirty="0" err="1"/>
              <a:t>puhul</a:t>
            </a:r>
            <a:endParaRPr lang="en-GB" dirty="0"/>
          </a:p>
        </p:txBody>
      </p:sp>
      <p:sp>
        <p:nvSpPr>
          <p:cNvPr id="8" name="TextBox 7">
            <a:extLst>
              <a:ext uri="{FF2B5EF4-FFF2-40B4-BE49-F238E27FC236}">
                <a16:creationId xmlns:a16="http://schemas.microsoft.com/office/drawing/2014/main" id="{A4CF03D2-55A4-A41F-F105-D4B26FBEBECA}"/>
              </a:ext>
            </a:extLst>
          </p:cNvPr>
          <p:cNvSpPr txBox="1"/>
          <p:nvPr/>
        </p:nvSpPr>
        <p:spPr>
          <a:xfrm>
            <a:off x="524395" y="1287824"/>
            <a:ext cx="2559202" cy="3877985"/>
          </a:xfrm>
          <a:prstGeom prst="rect">
            <a:avLst/>
          </a:prstGeom>
          <a:noFill/>
        </p:spPr>
        <p:txBody>
          <a:bodyPr wrap="square">
            <a:spAutoFit/>
          </a:bodyPr>
          <a:lstStyle/>
          <a:p>
            <a:pPr marL="342900" marR="0" lvl="0" indent="-342900">
              <a:spcBef>
                <a:spcPts val="900"/>
              </a:spcBef>
              <a:spcAft>
                <a:spcPts val="900"/>
              </a:spcAft>
              <a:buFont typeface="Arial" panose="020B0604020202020204" pitchFamily="34" charset="0"/>
              <a:buChar char="•"/>
            </a:pPr>
            <a:r>
              <a:rPr lang="en-GB" sz="1200" b="1" u="none" strike="noStrike" dirty="0">
                <a:effectLst/>
                <a:latin typeface="+mn-lt"/>
              </a:rPr>
              <a:t>5 </a:t>
            </a:r>
            <a:r>
              <a:rPr lang="en-GB" sz="1200" b="1" u="none" strike="noStrike" dirty="0" err="1">
                <a:effectLst/>
                <a:latin typeface="+mn-lt"/>
              </a:rPr>
              <a:t>kasutajat</a:t>
            </a:r>
            <a:r>
              <a:rPr lang="en-GB" sz="1200" b="0" u="none" strike="noStrike" dirty="0">
                <a:effectLst/>
                <a:latin typeface="+mn-lt"/>
              </a:rPr>
              <a:t> (1 </a:t>
            </a:r>
            <a:r>
              <a:rPr lang="en-GB" sz="1200" b="0" u="none" strike="noStrike" dirty="0" err="1">
                <a:effectLst/>
                <a:latin typeface="+mn-lt"/>
              </a:rPr>
              <a:t>andmeinsener</a:t>
            </a:r>
            <a:r>
              <a:rPr lang="en-GB" sz="1200" b="0" u="none" strike="noStrike" dirty="0">
                <a:effectLst/>
                <a:latin typeface="+mn-lt"/>
              </a:rPr>
              <a:t>/</a:t>
            </a:r>
            <a:r>
              <a:rPr lang="en-GB" sz="1200" b="0" u="none" strike="noStrike" dirty="0" err="1">
                <a:effectLst/>
                <a:latin typeface="+mn-lt"/>
              </a:rPr>
              <a:t>analüütik</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loob</a:t>
            </a:r>
            <a:r>
              <a:rPr lang="en-GB" sz="1200" b="0" u="none" strike="noStrike" dirty="0">
                <a:effectLst/>
                <a:latin typeface="+mn-lt"/>
              </a:rPr>
              <a:t> </a:t>
            </a:r>
            <a:r>
              <a:rPr lang="en-GB" sz="1200" b="0" u="none" strike="noStrike" dirty="0" err="1">
                <a:effectLst/>
                <a:latin typeface="+mn-lt"/>
              </a:rPr>
              <a:t>mudeleid</a:t>
            </a:r>
            <a:r>
              <a:rPr lang="en-GB" sz="1200" b="0" u="none" strike="noStrike" dirty="0">
                <a:effectLst/>
                <a:latin typeface="+mn-lt"/>
              </a:rPr>
              <a:t>; 4 </a:t>
            </a:r>
            <a:r>
              <a:rPr lang="en-GB" sz="1200" b="0" u="none" strike="noStrike" dirty="0" err="1">
                <a:effectLst/>
                <a:latin typeface="+mn-lt"/>
              </a:rPr>
              <a:t>ärikasutajat</a:t>
            </a:r>
            <a:r>
              <a:rPr lang="en-GB" sz="1200" b="0" u="none" strike="noStrike" dirty="0">
                <a:effectLst/>
                <a:latin typeface="+mn-lt"/>
              </a:rPr>
              <a:t>/</a:t>
            </a:r>
            <a:r>
              <a:rPr lang="en-GB" sz="1200" b="0" u="none" strike="noStrike" dirty="0" err="1">
                <a:effectLst/>
                <a:latin typeface="+mn-lt"/>
              </a:rPr>
              <a:t>raamatupidajat</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vaatavad</a:t>
            </a:r>
            <a:r>
              <a:rPr lang="en-GB" sz="1200" b="0" u="none" strike="noStrike" dirty="0">
                <a:effectLst/>
                <a:latin typeface="+mn-lt"/>
              </a:rPr>
              <a:t> </a:t>
            </a:r>
            <a:r>
              <a:rPr lang="en-GB" sz="1200" b="0" u="none" strike="noStrike" dirty="0" err="1">
                <a:effectLst/>
                <a:latin typeface="+mn-lt"/>
              </a:rPr>
              <a:t>raporteid</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Andmemaht</a:t>
            </a:r>
            <a:r>
              <a:rPr lang="en-GB" sz="1200" b="0" u="none" strike="noStrike" dirty="0">
                <a:effectLst/>
                <a:latin typeface="+mn-lt"/>
              </a:rPr>
              <a:t>: </a:t>
            </a:r>
            <a:r>
              <a:rPr lang="en-GB" sz="1200" b="0" u="none" strike="noStrike" dirty="0" err="1">
                <a:effectLst/>
                <a:latin typeface="+mn-lt"/>
              </a:rPr>
              <a:t>Raamatupidamisinfo</a:t>
            </a:r>
            <a:r>
              <a:rPr lang="en-GB" sz="1200" b="0" u="none" strike="noStrike" dirty="0">
                <a:effectLst/>
                <a:latin typeface="+mn-lt"/>
              </a:rPr>
              <a:t> (ERP/</a:t>
            </a:r>
            <a:r>
              <a:rPr lang="en-GB" sz="1200" b="0" u="none" strike="noStrike" dirty="0" err="1">
                <a:effectLst/>
                <a:latin typeface="+mn-lt"/>
              </a:rPr>
              <a:t>majandustarkvara</a:t>
            </a:r>
            <a:r>
              <a:rPr lang="en-GB" sz="1200" b="0" u="none" strike="noStrike" dirty="0">
                <a:effectLst/>
                <a:latin typeface="+mn-lt"/>
              </a:rPr>
              <a:t> </a:t>
            </a:r>
            <a:r>
              <a:rPr lang="en-GB" sz="1200" b="0" u="none" strike="noStrike" dirty="0" err="1">
                <a:effectLst/>
                <a:latin typeface="+mn-lt"/>
              </a:rPr>
              <a:t>andmed</a:t>
            </a:r>
            <a:r>
              <a:rPr lang="en-GB" sz="1200" b="0" u="none" strike="noStrike" dirty="0">
                <a:effectLst/>
                <a:latin typeface="+mn-lt"/>
              </a:rPr>
              <a:t>, </a:t>
            </a:r>
            <a:r>
              <a:rPr lang="en-GB" sz="1200" b="0" u="none" strike="noStrike" dirty="0" err="1">
                <a:effectLst/>
                <a:latin typeface="+mn-lt"/>
              </a:rPr>
              <a:t>mahuga</a:t>
            </a:r>
            <a:r>
              <a:rPr lang="en-GB" sz="1200" b="0" u="none" strike="noStrike" dirty="0">
                <a:effectLst/>
                <a:latin typeface="+mn-lt"/>
              </a:rPr>
              <a:t> </a:t>
            </a:r>
            <a:r>
              <a:rPr lang="en-GB" sz="1200" b="0" u="none" strike="noStrike" dirty="0" err="1">
                <a:effectLst/>
                <a:latin typeface="+mn-lt"/>
              </a:rPr>
              <a:t>kuni</a:t>
            </a:r>
            <a:r>
              <a:rPr lang="en-GB" sz="1200" b="0" u="none" strike="noStrike" dirty="0">
                <a:effectLst/>
                <a:latin typeface="+mn-lt"/>
              </a:rPr>
              <a:t> </a:t>
            </a:r>
            <a:r>
              <a:rPr lang="en-GB" sz="1200" b="1" u="none" strike="noStrike" dirty="0">
                <a:effectLst/>
                <a:latin typeface="+mn-lt"/>
              </a:rPr>
              <a:t>100 GB</a:t>
            </a:r>
            <a:r>
              <a:rPr lang="en-GB" sz="1200" b="0" u="none" strike="noStrike" dirty="0">
                <a:effectLst/>
                <a:latin typeface="+mn-lt"/>
              </a:rPr>
              <a:t>, mis on </a:t>
            </a:r>
            <a:r>
              <a:rPr lang="en-GB" sz="1200" b="0" u="none" strike="noStrike" dirty="0" err="1">
                <a:effectLst/>
                <a:latin typeface="+mn-lt"/>
              </a:rPr>
              <a:t>finantsandmete</a:t>
            </a:r>
            <a:r>
              <a:rPr lang="en-GB" sz="1200" b="0" u="none" strike="noStrike" dirty="0">
                <a:effectLst/>
                <a:latin typeface="+mn-lt"/>
              </a:rPr>
              <a:t> </a:t>
            </a:r>
            <a:r>
              <a:rPr lang="en-GB" sz="1200" b="0" u="none" strike="noStrike" dirty="0" err="1">
                <a:effectLst/>
                <a:latin typeface="+mn-lt"/>
              </a:rPr>
              <a:t>puhul</a:t>
            </a:r>
            <a:r>
              <a:rPr lang="en-GB" sz="1200" b="0" u="none" strike="noStrike" dirty="0">
                <a:effectLst/>
                <a:latin typeface="+mn-lt"/>
              </a:rPr>
              <a:t> </a:t>
            </a:r>
            <a:r>
              <a:rPr lang="en-GB" sz="1200" b="0" u="none" strike="noStrike" dirty="0" err="1">
                <a:effectLst/>
                <a:latin typeface="+mn-lt"/>
              </a:rPr>
              <a:t>täiesti</a:t>
            </a:r>
            <a:r>
              <a:rPr lang="en-GB" sz="1200" b="0" u="none" strike="noStrike" dirty="0">
                <a:effectLst/>
                <a:latin typeface="+mn-lt"/>
              </a:rPr>
              <a:t> </a:t>
            </a:r>
            <a:r>
              <a:rPr lang="en-GB" sz="1200" b="0" u="none" strike="noStrike" dirty="0" err="1">
                <a:effectLst/>
                <a:latin typeface="+mn-lt"/>
              </a:rPr>
              <a:t>tavaline</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Töötluskoormus</a:t>
            </a:r>
            <a:r>
              <a:rPr lang="en-GB" sz="1200" b="0" u="none" strike="noStrike" dirty="0">
                <a:effectLst/>
                <a:latin typeface="+mn-lt"/>
              </a:rPr>
              <a:t>: </a:t>
            </a:r>
            <a:r>
              <a:rPr lang="en-GB" sz="1200" b="0" u="none" strike="noStrike" dirty="0" err="1">
                <a:effectLst/>
                <a:latin typeface="+mn-lt"/>
              </a:rPr>
              <a:t>Andmeid</a:t>
            </a:r>
            <a:r>
              <a:rPr lang="en-GB" sz="1200" b="0" u="none" strike="noStrike" dirty="0">
                <a:effectLst/>
                <a:latin typeface="+mn-lt"/>
              </a:rPr>
              <a:t> </a:t>
            </a:r>
            <a:r>
              <a:rPr lang="en-GB" sz="1200" b="0" u="none" strike="noStrike" dirty="0" err="1">
                <a:effectLst/>
                <a:latin typeface="+mn-lt"/>
              </a:rPr>
              <a:t>uuendatakse</a:t>
            </a:r>
            <a:r>
              <a:rPr lang="en-GB" sz="1200" b="0" u="none" strike="noStrike" dirty="0">
                <a:effectLst/>
                <a:latin typeface="+mn-lt"/>
              </a:rPr>
              <a:t> </a:t>
            </a:r>
            <a:r>
              <a:rPr lang="en-GB" sz="1200" b="0" u="none" strike="noStrike" dirty="0" err="1">
                <a:effectLst/>
                <a:latin typeface="+mn-lt"/>
              </a:rPr>
              <a:t>ja</a:t>
            </a:r>
            <a:r>
              <a:rPr lang="en-GB" sz="1200" b="0" u="none" strike="noStrike" dirty="0">
                <a:effectLst/>
                <a:latin typeface="+mn-lt"/>
              </a:rPr>
              <a:t> </a:t>
            </a:r>
            <a:r>
              <a:rPr lang="en-GB" sz="1200" b="0" u="none" strike="noStrike" dirty="0" err="1">
                <a:effectLst/>
                <a:latin typeface="+mn-lt"/>
              </a:rPr>
              <a:t>arvutusi</a:t>
            </a:r>
            <a:r>
              <a:rPr lang="en-GB" sz="1200" b="0" u="none" strike="noStrike" dirty="0">
                <a:effectLst/>
                <a:latin typeface="+mn-lt"/>
              </a:rPr>
              <a:t> </a:t>
            </a:r>
            <a:r>
              <a:rPr lang="en-GB" sz="1200" b="0" u="none" strike="noStrike" dirty="0" err="1">
                <a:effectLst/>
                <a:latin typeface="+mn-lt"/>
              </a:rPr>
              <a:t>tehakse</a:t>
            </a:r>
            <a:r>
              <a:rPr lang="en-GB" sz="1200" b="0" u="none" strike="noStrike" dirty="0">
                <a:effectLst/>
                <a:latin typeface="+mn-lt"/>
              </a:rPr>
              <a:t> </a:t>
            </a:r>
            <a:r>
              <a:rPr lang="en-GB" sz="1200" b="1" u="none" strike="noStrike" dirty="0">
                <a:effectLst/>
                <a:latin typeface="+mn-lt"/>
              </a:rPr>
              <a:t>1 </a:t>
            </a:r>
            <a:r>
              <a:rPr lang="en-GB" sz="1200" b="1" u="none" strike="noStrike" dirty="0" err="1">
                <a:effectLst/>
                <a:latin typeface="+mn-lt"/>
              </a:rPr>
              <a:t>kord</a:t>
            </a:r>
            <a:r>
              <a:rPr lang="en-GB" sz="1200" b="1" u="none" strike="noStrike" dirty="0">
                <a:effectLst/>
                <a:latin typeface="+mn-lt"/>
              </a:rPr>
              <a:t> </a:t>
            </a:r>
            <a:r>
              <a:rPr lang="en-GB" sz="1200" b="1" u="none" strike="noStrike" dirty="0" err="1">
                <a:effectLst/>
                <a:latin typeface="+mn-lt"/>
              </a:rPr>
              <a:t>päevas</a:t>
            </a:r>
            <a:r>
              <a:rPr lang="en-GB" sz="1200" b="0" u="none" strike="noStrike" dirty="0">
                <a:effectLst/>
                <a:latin typeface="+mn-lt"/>
              </a:rPr>
              <a:t>. </a:t>
            </a:r>
            <a:r>
              <a:rPr lang="en-GB" sz="1200" b="0" u="none" strike="noStrike" dirty="0" err="1">
                <a:effectLst/>
                <a:latin typeface="+mn-lt"/>
              </a:rPr>
              <a:t>Arvutusprotsess</a:t>
            </a:r>
            <a:r>
              <a:rPr lang="en-GB" sz="1200" b="0" u="none" strike="noStrike" dirty="0">
                <a:effectLst/>
                <a:latin typeface="+mn-lt"/>
              </a:rPr>
              <a:t> (ETL/</a:t>
            </a:r>
            <a:r>
              <a:rPr lang="en-GB" sz="1200" b="0" u="none" strike="noStrike" dirty="0" err="1">
                <a:effectLst/>
                <a:latin typeface="+mn-lt"/>
              </a:rPr>
              <a:t>laadimine</a:t>
            </a:r>
            <a:r>
              <a:rPr lang="en-GB" sz="1200" b="0" u="none" strike="noStrike" dirty="0">
                <a:effectLst/>
                <a:latin typeface="+mn-lt"/>
              </a:rPr>
              <a:t>) </a:t>
            </a:r>
            <a:r>
              <a:rPr lang="en-GB" sz="1200" b="0" u="none" strike="noStrike" dirty="0" err="1">
                <a:effectLst/>
                <a:latin typeface="+mn-lt"/>
              </a:rPr>
              <a:t>kestab</a:t>
            </a:r>
            <a:r>
              <a:rPr lang="en-GB" sz="1200" b="0" u="none" strike="noStrike" dirty="0">
                <a:effectLst/>
                <a:latin typeface="+mn-lt"/>
              </a:rPr>
              <a:t> </a:t>
            </a:r>
            <a:r>
              <a:rPr lang="en-GB" sz="1200" b="0" u="none" strike="noStrike" dirty="0" err="1">
                <a:effectLst/>
                <a:latin typeface="+mn-lt"/>
              </a:rPr>
              <a:t>keskmiselt</a:t>
            </a:r>
            <a:r>
              <a:rPr lang="en-GB" sz="1200" b="0" u="none" strike="noStrike" dirty="0">
                <a:effectLst/>
                <a:latin typeface="+mn-lt"/>
              </a:rPr>
              <a:t> </a:t>
            </a:r>
            <a:r>
              <a:rPr lang="en-GB" sz="1200" b="1" u="none" strike="noStrike" dirty="0">
                <a:effectLst/>
                <a:latin typeface="+mn-lt"/>
              </a:rPr>
              <a:t>15 </a:t>
            </a:r>
            <a:r>
              <a:rPr lang="en-GB" sz="1200" b="1" u="none" strike="noStrike" dirty="0" err="1">
                <a:effectLst/>
                <a:latin typeface="+mn-lt"/>
              </a:rPr>
              <a:t>minutit</a:t>
            </a:r>
            <a:r>
              <a:rPr lang="en-GB" sz="1200" b="0" u="none" strike="noStrike" dirty="0">
                <a:effectLst/>
                <a:latin typeface="+mn-lt"/>
              </a:rPr>
              <a:t> </a:t>
            </a:r>
            <a:r>
              <a:rPr lang="en-GB" sz="1200" b="0" u="none" strike="noStrike" dirty="0" err="1">
                <a:effectLst/>
                <a:latin typeface="+mn-lt"/>
              </a:rPr>
              <a:t>päevas</a:t>
            </a:r>
            <a:r>
              <a:rPr lang="en-GB" sz="1200" b="0" u="none" strike="noStrike" dirty="0">
                <a:effectLst/>
                <a:latin typeface="+mn-lt"/>
              </a:rPr>
              <a:t>.</a:t>
            </a:r>
            <a:endParaRPr lang="en-GB" sz="1000" b="0" u="none" strike="noStrike" dirty="0">
              <a:effectLst/>
              <a:latin typeface="Google Sans"/>
            </a:endParaRPr>
          </a:p>
        </p:txBody>
      </p:sp>
      <p:graphicFrame>
        <p:nvGraphicFramePr>
          <p:cNvPr id="12" name="Table 11">
            <a:extLst>
              <a:ext uri="{FF2B5EF4-FFF2-40B4-BE49-F238E27FC236}">
                <a16:creationId xmlns:a16="http://schemas.microsoft.com/office/drawing/2014/main" id="{56C5FDC6-2A1A-5308-3602-7C9CD508B914}"/>
              </a:ext>
            </a:extLst>
          </p:cNvPr>
          <p:cNvGraphicFramePr>
            <a:graphicFrameLocks noGrp="1"/>
          </p:cNvGraphicFramePr>
          <p:nvPr>
            <p:extLst>
              <p:ext uri="{D42A27DB-BD31-4B8C-83A1-F6EECF244321}">
                <p14:modId xmlns:p14="http://schemas.microsoft.com/office/powerpoint/2010/main" val="3018485967"/>
              </p:ext>
            </p:extLst>
          </p:nvPr>
        </p:nvGraphicFramePr>
        <p:xfrm>
          <a:off x="3459622" y="1268413"/>
          <a:ext cx="8108490" cy="4162248"/>
        </p:xfrm>
        <a:graphic>
          <a:graphicData uri="http://schemas.openxmlformats.org/drawingml/2006/table">
            <a:tbl>
              <a:tblPr>
                <a:tableStyleId>{5C22544A-7EE6-4342-B048-85BDC9FD1C3A}</a:tableStyleId>
              </a:tblPr>
              <a:tblGrid>
                <a:gridCol w="1621698">
                  <a:extLst>
                    <a:ext uri="{9D8B030D-6E8A-4147-A177-3AD203B41FA5}">
                      <a16:colId xmlns:a16="http://schemas.microsoft.com/office/drawing/2014/main" val="1172684431"/>
                    </a:ext>
                  </a:extLst>
                </a:gridCol>
                <a:gridCol w="1621698">
                  <a:extLst>
                    <a:ext uri="{9D8B030D-6E8A-4147-A177-3AD203B41FA5}">
                      <a16:colId xmlns:a16="http://schemas.microsoft.com/office/drawing/2014/main" val="4064899242"/>
                    </a:ext>
                  </a:extLst>
                </a:gridCol>
                <a:gridCol w="1621698">
                  <a:extLst>
                    <a:ext uri="{9D8B030D-6E8A-4147-A177-3AD203B41FA5}">
                      <a16:colId xmlns:a16="http://schemas.microsoft.com/office/drawing/2014/main" val="956424530"/>
                    </a:ext>
                  </a:extLst>
                </a:gridCol>
                <a:gridCol w="1621698">
                  <a:extLst>
                    <a:ext uri="{9D8B030D-6E8A-4147-A177-3AD203B41FA5}">
                      <a16:colId xmlns:a16="http://schemas.microsoft.com/office/drawing/2014/main" val="153623762"/>
                    </a:ext>
                  </a:extLst>
                </a:gridCol>
                <a:gridCol w="1621698">
                  <a:extLst>
                    <a:ext uri="{9D8B030D-6E8A-4147-A177-3AD203B41FA5}">
                      <a16:colId xmlns:a16="http://schemas.microsoft.com/office/drawing/2014/main" val="1579765896"/>
                    </a:ext>
                  </a:extLst>
                </a:gridCol>
              </a:tblGrid>
              <a:tr h="623693">
                <a:tc>
                  <a:txBody>
                    <a:bodyPr/>
                    <a:lstStyle/>
                    <a:p>
                      <a:pPr algn="l" fontAlgn="t">
                        <a:buNone/>
                      </a:pPr>
                      <a:r>
                        <a:rPr lang="en-GB" sz="900" dirty="0" err="1">
                          <a:effectLst/>
                        </a:rPr>
                        <a:t>Kuluartikkel</a:t>
                      </a:r>
                      <a:r>
                        <a:rPr lang="en-GB" sz="900" dirty="0">
                          <a:effectLst/>
                        </a:rPr>
                        <a:t> </a:t>
                      </a:r>
                      <a:r>
                        <a:rPr lang="en-GB" sz="900" dirty="0" err="1">
                          <a:effectLst/>
                        </a:rPr>
                        <a:t>kuus</a:t>
                      </a:r>
                      <a:endParaRPr lang="en-GB" sz="900" dirty="0">
                        <a:effectLst/>
                      </a:endParaRPr>
                    </a:p>
                  </a:txBody>
                  <a:tcPr marL="31135" marR="31135" marT="31135" marB="31135"/>
                </a:tc>
                <a:tc>
                  <a:txBody>
                    <a:bodyPr/>
                    <a:lstStyle/>
                    <a:p>
                      <a:pPr algn="l" fontAlgn="t">
                        <a:buNone/>
                      </a:pPr>
                      <a:r>
                        <a:rPr lang="en-GB" sz="900">
                          <a:effectLst/>
                        </a:rPr>
                        <a:t>❄️ Snowflake + dbt </a:t>
                      </a:r>
                      <a:br>
                        <a:rPr lang="en-GB" sz="900">
                          <a:effectLst/>
                        </a:rPr>
                      </a:br>
                      <a:r>
                        <a:rPr lang="en-GB" sz="900">
                          <a:effectLst/>
                        </a:rPr>
                        <a:t>(Modern Data Stack)</a:t>
                      </a:r>
                    </a:p>
                  </a:txBody>
                  <a:tcPr marL="31135" marR="31135" marT="31135" marB="31135"/>
                </a:tc>
                <a:tc>
                  <a:txBody>
                    <a:bodyPr/>
                    <a:lstStyle/>
                    <a:p>
                      <a:pPr algn="l" fontAlgn="t">
                        <a:buNone/>
                      </a:pPr>
                      <a:r>
                        <a:rPr lang="en-GB" sz="900">
                          <a:effectLst/>
                        </a:rPr>
                        <a:t>🧱 Databricks </a:t>
                      </a:r>
                      <a:br>
                        <a:rPr lang="en-GB" sz="900">
                          <a:effectLst/>
                        </a:rPr>
                      </a:br>
                      <a:r>
                        <a:rPr lang="en-GB" sz="900">
                          <a:effectLst/>
                        </a:rPr>
                        <a:t>(Lakehouse platvorm)</a:t>
                      </a:r>
                    </a:p>
                  </a:txBody>
                  <a:tcPr marL="31135" marR="31135" marT="31135" marB="31135"/>
                </a:tc>
                <a:tc>
                  <a:txBody>
                    <a:bodyPr/>
                    <a:lstStyle/>
                    <a:p>
                      <a:pPr algn="l" fontAlgn="t">
                        <a:buNone/>
                      </a:pPr>
                      <a:r>
                        <a:rPr lang="en-GB" sz="900">
                          <a:effectLst/>
                        </a:rPr>
                        <a:t>☁️ Microsoft Fabric </a:t>
                      </a:r>
                      <a:br>
                        <a:rPr lang="en-GB" sz="900">
                          <a:effectLst/>
                        </a:rPr>
                      </a:br>
                      <a:r>
                        <a:rPr lang="en-GB" sz="900">
                          <a:effectLst/>
                        </a:rPr>
                        <a:t>(Kõik-ühes SaaS)</a:t>
                      </a:r>
                    </a:p>
                  </a:txBody>
                  <a:tcPr marL="31135" marR="31135" marT="31135" marB="31135"/>
                </a:tc>
                <a:tc>
                  <a:txBody>
                    <a:bodyPr/>
                    <a:lstStyle/>
                    <a:p>
                      <a:pPr algn="l" fontAlgn="t">
                        <a:buNone/>
                      </a:pPr>
                      <a:r>
                        <a:rPr lang="en-GB" sz="900">
                          <a:effectLst/>
                        </a:rPr>
                        <a:t>📈 SAP Analytics Cloud </a:t>
                      </a:r>
                      <a:br>
                        <a:rPr lang="en-GB" sz="900">
                          <a:effectLst/>
                        </a:rPr>
                      </a:br>
                      <a:r>
                        <a:rPr lang="en-GB" sz="900">
                          <a:effectLst/>
                        </a:rPr>
                        <a:t>(Äri- ja finantsplatvorm)</a:t>
                      </a:r>
                    </a:p>
                  </a:txBody>
                  <a:tcPr marL="31135" marR="31135" marT="31135" marB="31135"/>
                </a:tc>
                <a:extLst>
                  <a:ext uri="{0D108BD9-81ED-4DB2-BD59-A6C34878D82A}">
                    <a16:rowId xmlns:a16="http://schemas.microsoft.com/office/drawing/2014/main" val="471473533"/>
                  </a:ext>
                </a:extLst>
              </a:tr>
              <a:tr h="483663">
                <a:tc>
                  <a:txBody>
                    <a:bodyPr/>
                    <a:lstStyle/>
                    <a:p>
                      <a:pPr algn="l" fontAlgn="t">
                        <a:buNone/>
                      </a:pPr>
                      <a:r>
                        <a:rPr lang="en-GB" sz="900" dirty="0" err="1">
                          <a:effectLst/>
                        </a:rPr>
                        <a:t>Andmete</a:t>
                      </a:r>
                      <a:r>
                        <a:rPr lang="en-GB" sz="900" dirty="0">
                          <a:effectLst/>
                        </a:rPr>
                        <a:t> </a:t>
                      </a:r>
                      <a:r>
                        <a:rPr lang="en-GB" sz="900" dirty="0" err="1">
                          <a:effectLst/>
                        </a:rPr>
                        <a:t>hoiustamine</a:t>
                      </a:r>
                      <a:r>
                        <a:rPr lang="en-GB" sz="900" dirty="0">
                          <a:effectLst/>
                        </a:rPr>
                        <a:t> (100 GB)</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Sisaldub lepingus</a:t>
                      </a:r>
                    </a:p>
                  </a:txBody>
                  <a:tcPr marL="31135" marR="31135" marT="31135" marB="31135"/>
                </a:tc>
                <a:extLst>
                  <a:ext uri="{0D108BD9-81ED-4DB2-BD59-A6C34878D82A}">
                    <a16:rowId xmlns:a16="http://schemas.microsoft.com/office/drawing/2014/main" val="2154141184"/>
                  </a:ext>
                </a:extLst>
              </a:tr>
              <a:tr h="763723">
                <a:tc>
                  <a:txBody>
                    <a:bodyPr/>
                    <a:lstStyle/>
                    <a:p>
                      <a:pPr algn="l" fontAlgn="t">
                        <a:buNone/>
                      </a:pPr>
                      <a:r>
                        <a:rPr lang="en-GB" sz="900" dirty="0" err="1">
                          <a:effectLst/>
                        </a:rPr>
                        <a:t>Arvutusvõimsus</a:t>
                      </a:r>
                      <a:r>
                        <a:rPr lang="en-GB" sz="900" dirty="0">
                          <a:effectLst/>
                        </a:rPr>
                        <a:t> (ETL) </a:t>
                      </a:r>
                      <a:br>
                        <a:rPr lang="en-GB" sz="900" dirty="0">
                          <a:effectLst/>
                        </a:rPr>
                      </a:br>
                      <a:r>
                        <a:rPr lang="en-GB" sz="900" dirty="0">
                          <a:effectLst/>
                        </a:rPr>
                        <a:t>(7,5 </a:t>
                      </a:r>
                      <a:r>
                        <a:rPr lang="en-GB" sz="900" dirty="0" err="1">
                          <a:effectLst/>
                        </a:rPr>
                        <a:t>tundi</a:t>
                      </a:r>
                      <a:r>
                        <a:rPr lang="en-GB" sz="900" dirty="0">
                          <a:effectLst/>
                        </a:rPr>
                        <a:t> </a:t>
                      </a:r>
                      <a:r>
                        <a:rPr lang="en-GB" sz="900" dirty="0" err="1">
                          <a:effectLst/>
                        </a:rPr>
                        <a:t>kuus</a:t>
                      </a:r>
                      <a:r>
                        <a:rPr lang="en-GB" sz="900" dirty="0">
                          <a:effectLst/>
                        </a:rPr>
                        <a:t>)</a:t>
                      </a:r>
                    </a:p>
                  </a:txBody>
                  <a:tcPr marL="31135" marR="31135" marT="31135" marB="31135"/>
                </a:tc>
                <a:tc>
                  <a:txBody>
                    <a:bodyPr/>
                    <a:lstStyle/>
                    <a:p>
                      <a:pPr algn="l" fontAlgn="t">
                        <a:buNone/>
                      </a:pPr>
                      <a:r>
                        <a:rPr lang="en-GB" sz="900">
                          <a:effectLst/>
                        </a:rPr>
                        <a:t>~14 € – 21 € </a:t>
                      </a:r>
                      <a:br>
                        <a:rPr lang="en-GB" sz="900">
                          <a:effectLst/>
                        </a:rPr>
                      </a:br>
                      <a:r>
                        <a:rPr lang="en-GB" sz="900">
                          <a:effectLst/>
                        </a:rPr>
                        <a:t>(XS server tarbib u 7,5 krediiti)</a:t>
                      </a:r>
                    </a:p>
                  </a:txBody>
                  <a:tcPr marL="31135" marR="31135" marT="31135" marB="31135"/>
                </a:tc>
                <a:tc>
                  <a:txBody>
                    <a:bodyPr/>
                    <a:lstStyle/>
                    <a:p>
                      <a:pPr algn="l" fontAlgn="t">
                        <a:buNone/>
                      </a:pPr>
                      <a:r>
                        <a:rPr lang="en-GB" sz="900" dirty="0">
                          <a:effectLst/>
                        </a:rPr>
                        <a:t>~14 € – 28 € </a:t>
                      </a:r>
                      <a:br>
                        <a:rPr lang="en-GB" sz="900" dirty="0">
                          <a:effectLst/>
                        </a:rPr>
                      </a:br>
                      <a:r>
                        <a:rPr lang="en-GB" sz="900" dirty="0">
                          <a:effectLst/>
                        </a:rPr>
                        <a:t>(DBU-d </a:t>
                      </a:r>
                      <a:r>
                        <a:rPr lang="en-GB" sz="900" dirty="0" err="1">
                          <a:effectLst/>
                        </a:rPr>
                        <a:t>ja</a:t>
                      </a:r>
                      <a:r>
                        <a:rPr lang="en-GB" sz="900" dirty="0">
                          <a:effectLst/>
                        </a:rPr>
                        <a:t> </a:t>
                      </a:r>
                      <a:r>
                        <a:rPr lang="en-GB" sz="900" dirty="0" err="1">
                          <a:effectLst/>
                        </a:rPr>
                        <a:t>pilvemasina</a:t>
                      </a:r>
                      <a:r>
                        <a:rPr lang="en-GB" sz="900" dirty="0">
                          <a:effectLst/>
                        </a:rPr>
                        <a:t> </a:t>
                      </a:r>
                      <a:r>
                        <a:rPr lang="en-GB" sz="900" dirty="0" err="1">
                          <a:effectLst/>
                        </a:rPr>
                        <a:t>käitus</a:t>
                      </a:r>
                      <a:r>
                        <a:rPr lang="en-GB" sz="900" dirty="0">
                          <a:effectLst/>
                        </a:rPr>
                        <a:t> </a:t>
                      </a:r>
                      <a:r>
                        <a:rPr lang="en-GB" sz="900" dirty="0" err="1">
                          <a:effectLst/>
                        </a:rPr>
                        <a:t>kord</a:t>
                      </a:r>
                      <a:r>
                        <a:rPr lang="en-GB" sz="900" dirty="0">
                          <a:effectLst/>
                        </a:rPr>
                        <a:t> </a:t>
                      </a:r>
                      <a:r>
                        <a:rPr lang="en-GB" sz="900" dirty="0" err="1">
                          <a:effectLst/>
                        </a:rPr>
                        <a:t>päevas</a:t>
                      </a:r>
                      <a:r>
                        <a:rPr lang="en-GB" sz="900" dirty="0">
                          <a:effectLst/>
                        </a:rPr>
                        <a:t>)</a:t>
                      </a:r>
                    </a:p>
                  </a:txBody>
                  <a:tcPr marL="31135" marR="31135" marT="31135" marB="31135"/>
                </a:tc>
                <a:tc>
                  <a:txBody>
                    <a:bodyPr/>
                    <a:lstStyle/>
                    <a:p>
                      <a:pPr algn="l" fontAlgn="t">
                        <a:buNone/>
                      </a:pPr>
                      <a:r>
                        <a:rPr lang="en-GB" sz="900">
                          <a:effectLst/>
                        </a:rPr>
                        <a:t>~78 € </a:t>
                      </a:r>
                      <a:br>
                        <a:rPr lang="en-GB" sz="900">
                          <a:effectLst/>
                        </a:rPr>
                      </a:br>
                      <a:r>
                        <a:rPr lang="en-GB" sz="900">
                          <a:effectLst/>
                        </a:rPr>
                        <a:t>(F2 pakett, optimeeritud töötama u 8h tööpäevadel)</a:t>
                      </a:r>
                    </a:p>
                  </a:txBody>
                  <a:tcPr marL="31135" marR="31135" marT="31135" marB="31135"/>
                </a:tc>
                <a:tc>
                  <a:txBody>
                    <a:bodyPr/>
                    <a:lstStyle/>
                    <a:p>
                      <a:pPr algn="l" fontAlgn="t">
                        <a:buNone/>
                      </a:pPr>
                      <a:r>
                        <a:rPr lang="en-GB" sz="900">
                          <a:effectLst/>
                        </a:rPr>
                        <a:t>Sisaldub baasmahus</a:t>
                      </a:r>
                    </a:p>
                  </a:txBody>
                  <a:tcPr marL="31135" marR="31135" marT="31135" marB="31135"/>
                </a:tc>
                <a:extLst>
                  <a:ext uri="{0D108BD9-81ED-4DB2-BD59-A6C34878D82A}">
                    <a16:rowId xmlns:a16="http://schemas.microsoft.com/office/drawing/2014/main" val="1403074884"/>
                  </a:ext>
                </a:extLst>
              </a:tr>
              <a:tr h="763723">
                <a:tc>
                  <a:txBody>
                    <a:bodyPr/>
                    <a:lstStyle/>
                    <a:p>
                      <a:pPr algn="l" fontAlgn="t">
                        <a:buNone/>
                      </a:pPr>
                      <a:r>
                        <a:rPr lang="en-GB" sz="900" dirty="0" err="1">
                          <a:effectLst/>
                        </a:rPr>
                        <a:t>Kasutajalitsentsid</a:t>
                      </a:r>
                      <a:r>
                        <a:rPr lang="en-GB" sz="900" dirty="0">
                          <a:effectLst/>
                        </a:rPr>
                        <a:t> </a:t>
                      </a:r>
                      <a:br>
                        <a:rPr lang="en-GB" sz="900" dirty="0">
                          <a:effectLst/>
                        </a:rPr>
                      </a:br>
                      <a:r>
                        <a:rPr lang="en-GB" sz="900" dirty="0">
                          <a:effectLst/>
                        </a:rPr>
                        <a:t>(1 </a:t>
                      </a:r>
                      <a:r>
                        <a:rPr lang="en-GB" sz="900" dirty="0" err="1">
                          <a:effectLst/>
                        </a:rPr>
                        <a:t>arendaja</a:t>
                      </a:r>
                      <a:r>
                        <a:rPr lang="en-GB" sz="900" dirty="0">
                          <a:effectLst/>
                        </a:rPr>
                        <a:t> + 4 </a:t>
                      </a:r>
                      <a:r>
                        <a:rPr lang="en-GB" sz="900" dirty="0" err="1">
                          <a:effectLst/>
                        </a:rPr>
                        <a:t>vaatajat</a:t>
                      </a:r>
                      <a:r>
                        <a:rPr lang="en-GB" sz="900" dirty="0">
                          <a:effectLst/>
                        </a:rPr>
                        <a:t>)</a:t>
                      </a:r>
                    </a:p>
                  </a:txBody>
                  <a:tcPr marL="31135" marR="31135" marT="31135" marB="31135"/>
                </a:tc>
                <a:tc>
                  <a:txBody>
                    <a:bodyPr/>
                    <a:lstStyle/>
                    <a:p>
                      <a:pPr algn="l" fontAlgn="t">
                        <a:buNone/>
                      </a:pPr>
                      <a:r>
                        <a:rPr lang="en-GB" sz="900" dirty="0">
                          <a:effectLst/>
                        </a:rPr>
                        <a:t>0 € </a:t>
                      </a:r>
                      <a:br>
                        <a:rPr lang="en-GB" sz="900" dirty="0">
                          <a:effectLst/>
                        </a:rPr>
                      </a:br>
                      <a:r>
                        <a:rPr lang="en-GB" sz="900" dirty="0">
                          <a:effectLst/>
                        </a:rPr>
                        <a:t>(</a:t>
                      </a:r>
                      <a:r>
                        <a:rPr lang="en-GB" sz="900" dirty="0" err="1">
                          <a:effectLst/>
                        </a:rPr>
                        <a:t>Kasutusel</a:t>
                      </a:r>
                      <a:r>
                        <a:rPr lang="en-GB" sz="900" dirty="0">
                          <a:effectLst/>
                        </a:rPr>
                        <a:t> </a:t>
                      </a:r>
                      <a:r>
                        <a:rPr lang="en-GB" sz="900" dirty="0" err="1">
                          <a:effectLst/>
                        </a:rPr>
                        <a:t>tasuta</a:t>
                      </a:r>
                      <a:r>
                        <a:rPr lang="en-GB" sz="900" dirty="0">
                          <a:effectLst/>
                        </a:rPr>
                        <a:t> </a:t>
                      </a:r>
                      <a:r>
                        <a:rPr lang="en-GB" sz="900" dirty="0" err="1">
                          <a:effectLst/>
                        </a:rPr>
                        <a:t>dbt</a:t>
                      </a:r>
                      <a:r>
                        <a:rPr lang="en-GB" sz="900" dirty="0">
                          <a:effectLst/>
                        </a:rPr>
                        <a:t> Core; Snowflake </a:t>
                      </a:r>
                      <a:r>
                        <a:rPr lang="en-GB" sz="900" dirty="0" err="1">
                          <a:effectLst/>
                        </a:rPr>
                        <a:t>kasutajad</a:t>
                      </a:r>
                      <a:r>
                        <a:rPr lang="en-GB" sz="900" dirty="0">
                          <a:effectLst/>
                        </a:rPr>
                        <a:t> </a:t>
                      </a:r>
                      <a:r>
                        <a:rPr lang="en-GB" sz="900" dirty="0" err="1">
                          <a:effectLst/>
                        </a:rPr>
                        <a:t>tasuta</a:t>
                      </a:r>
                      <a:r>
                        <a:rPr lang="en-GB" sz="900" dirty="0">
                          <a:effectLst/>
                        </a:rPr>
                        <a:t>)</a:t>
                      </a:r>
                    </a:p>
                  </a:txBody>
                  <a:tcPr marL="31135" marR="31135" marT="31135" marB="31135"/>
                </a:tc>
                <a:tc>
                  <a:txBody>
                    <a:bodyPr/>
                    <a:lstStyle/>
                    <a:p>
                      <a:pPr algn="l" fontAlgn="t">
                        <a:buNone/>
                      </a:pPr>
                      <a:r>
                        <a:rPr lang="en-GB" sz="900">
                          <a:effectLst/>
                        </a:rPr>
                        <a:t>0 € </a:t>
                      </a:r>
                      <a:br>
                        <a:rPr lang="en-GB" sz="900">
                          <a:effectLst/>
                        </a:rPr>
                      </a:br>
                      <a:r>
                        <a:rPr lang="en-GB" sz="900">
                          <a:effectLst/>
                        </a:rPr>
                        <a:t>(Databricks platvormi kasutajakonto on tasuta)</a:t>
                      </a:r>
                    </a:p>
                  </a:txBody>
                  <a:tcPr marL="31135" marR="31135" marT="31135" marB="31135"/>
                </a:tc>
                <a:tc>
                  <a:txBody>
                    <a:bodyPr/>
                    <a:lstStyle/>
                    <a:p>
                      <a:pPr algn="l" fontAlgn="t">
                        <a:buNone/>
                      </a:pPr>
                      <a:r>
                        <a:rPr lang="en-GB" sz="900">
                          <a:effectLst/>
                        </a:rPr>
                        <a:t>~46 € – 65 € </a:t>
                      </a:r>
                      <a:br>
                        <a:rPr lang="en-GB" sz="900">
                          <a:effectLst/>
                        </a:rPr>
                      </a:br>
                      <a:r>
                        <a:rPr lang="en-GB" sz="900">
                          <a:effectLst/>
                        </a:rPr>
                        <a:t>(5x Power BI Pro litsentsi à 9,30-13 €)</a:t>
                      </a:r>
                    </a:p>
                  </a:txBody>
                  <a:tcPr marL="31135" marR="31135" marT="31135" marB="31135"/>
                </a:tc>
                <a:tc>
                  <a:txBody>
                    <a:bodyPr/>
                    <a:lstStyle/>
                    <a:p>
                      <a:pPr algn="l" fontAlgn="t">
                        <a:buNone/>
                      </a:pPr>
                      <a:r>
                        <a:rPr lang="en-GB" sz="900">
                          <a:effectLst/>
                        </a:rPr>
                        <a:t>~165 € </a:t>
                      </a:r>
                      <a:br>
                        <a:rPr lang="en-GB" sz="900">
                          <a:effectLst/>
                        </a:rPr>
                      </a:br>
                      <a:r>
                        <a:rPr lang="en-GB" sz="900">
                          <a:effectLst/>
                        </a:rPr>
                        <a:t>(5x SAC BI põhilitsentsi à 33 €)</a:t>
                      </a:r>
                    </a:p>
                  </a:txBody>
                  <a:tcPr marL="31135" marR="31135" marT="31135" marB="31135"/>
                </a:tc>
                <a:extLst>
                  <a:ext uri="{0D108BD9-81ED-4DB2-BD59-A6C34878D82A}">
                    <a16:rowId xmlns:a16="http://schemas.microsoft.com/office/drawing/2014/main" val="1146855220"/>
                  </a:ext>
                </a:extLst>
              </a:tr>
              <a:tr h="623693">
                <a:tc>
                  <a:txBody>
                    <a:bodyPr/>
                    <a:lstStyle/>
                    <a:p>
                      <a:pPr algn="l" fontAlgn="t">
                        <a:buNone/>
                      </a:pPr>
                      <a:r>
                        <a:rPr lang="en-GB" sz="900" dirty="0">
                          <a:effectLst/>
                        </a:rPr>
                        <a:t>BI / </a:t>
                      </a:r>
                      <a:r>
                        <a:rPr lang="en-GB" sz="900" dirty="0" err="1">
                          <a:effectLst/>
                        </a:rPr>
                        <a:t>Raporteerimise</a:t>
                      </a:r>
                      <a:r>
                        <a:rPr lang="en-GB" sz="900" dirty="0">
                          <a:effectLst/>
                        </a:rPr>
                        <a:t> </a:t>
                      </a:r>
                      <a:r>
                        <a:rPr lang="en-GB" sz="900" dirty="0" err="1">
                          <a:effectLst/>
                        </a:rPr>
                        <a:t>lisakulu</a:t>
                      </a:r>
                      <a:endParaRPr lang="en-GB" sz="900" dirty="0">
                        <a:effectLst/>
                      </a:endParaRP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Hinna sees </a:t>
                      </a:r>
                      <a:br>
                        <a:rPr lang="en-GB" sz="900">
                          <a:effectLst/>
                        </a:rPr>
                      </a:br>
                      <a:r>
                        <a:rPr lang="en-GB" sz="900">
                          <a:effectLst/>
                        </a:rPr>
                        <a:t>(Power BI on Fabricu lahutamatu osa)</a:t>
                      </a:r>
                    </a:p>
                  </a:txBody>
                  <a:tcPr marL="31135" marR="31135" marT="31135" marB="31135"/>
                </a:tc>
                <a:tc>
                  <a:txBody>
                    <a:bodyPr/>
                    <a:lstStyle/>
                    <a:p>
                      <a:pPr algn="l" fontAlgn="t">
                        <a:buNone/>
                      </a:pPr>
                      <a:r>
                        <a:rPr lang="en-GB" sz="900">
                          <a:effectLst/>
                        </a:rPr>
                        <a:t>Hinna sees </a:t>
                      </a:r>
                      <a:br>
                        <a:rPr lang="en-GB" sz="900">
                          <a:effectLst/>
                        </a:rPr>
                      </a:br>
                      <a:r>
                        <a:rPr lang="en-GB" sz="900">
                          <a:effectLst/>
                        </a:rPr>
                        <a:t>(SAC on ise visuaalne raportikeskkond)</a:t>
                      </a:r>
                    </a:p>
                  </a:txBody>
                  <a:tcPr marL="31135" marR="31135" marT="31135" marB="31135"/>
                </a:tc>
                <a:extLst>
                  <a:ext uri="{0D108BD9-81ED-4DB2-BD59-A6C34878D82A}">
                    <a16:rowId xmlns:a16="http://schemas.microsoft.com/office/drawing/2014/main" val="1741502538"/>
                  </a:ext>
                </a:extLst>
              </a:tr>
              <a:tr h="903753">
                <a:tc>
                  <a:txBody>
                    <a:bodyPr/>
                    <a:lstStyle/>
                    <a:p>
                      <a:pPr algn="l" fontAlgn="t">
                        <a:buNone/>
                      </a:pPr>
                      <a:r>
                        <a:rPr lang="en-GB" sz="900">
                          <a:effectLst/>
                        </a:rPr>
                        <a:t>Prognoositav KOKKUVÕTLIK kuukulu</a:t>
                      </a:r>
                    </a:p>
                  </a:txBody>
                  <a:tcPr marL="31135" marR="31135" marT="31135" marB="31135"/>
                </a:tc>
                <a:tc>
                  <a:txBody>
                    <a:bodyPr/>
                    <a:lstStyle/>
                    <a:p>
                      <a:pPr algn="l" fontAlgn="t">
                        <a:buNone/>
                      </a:pPr>
                      <a:r>
                        <a:rPr lang="en-GB" sz="900" dirty="0">
                          <a:effectLst/>
                        </a:rPr>
                        <a:t>💰 ~80 € – 92 €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~80 € – 101 €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~130 € – 152 € </a:t>
                      </a:r>
                      <a:br>
                        <a:rPr lang="en-GB" sz="900" dirty="0">
                          <a:effectLst/>
                        </a:rPr>
                      </a:br>
                      <a:r>
                        <a:rPr lang="en-GB" sz="900" dirty="0">
                          <a:effectLst/>
                        </a:rPr>
                        <a:t>(</a:t>
                      </a:r>
                      <a:r>
                        <a:rPr lang="en-GB" sz="900" dirty="0" err="1">
                          <a:effectLst/>
                        </a:rPr>
                        <a:t>kogu</a:t>
                      </a:r>
                      <a:r>
                        <a:rPr lang="en-GB" sz="900" dirty="0">
                          <a:effectLst/>
                        </a:rPr>
                        <a:t> </a:t>
                      </a:r>
                      <a:r>
                        <a:rPr lang="en-GB" sz="900" dirty="0" err="1">
                          <a:effectLst/>
                        </a:rPr>
                        <a:t>ahel</a:t>
                      </a:r>
                      <a:r>
                        <a:rPr lang="en-GB" sz="900" dirty="0">
                          <a:effectLst/>
                        </a:rPr>
                        <a:t> </a:t>
                      </a:r>
                      <a:r>
                        <a:rPr lang="en-GB" sz="900" dirty="0" err="1">
                          <a:effectLst/>
                        </a:rPr>
                        <a:t>ühes</a:t>
                      </a:r>
                      <a:r>
                        <a:rPr lang="en-GB" sz="900" dirty="0">
                          <a:effectLst/>
                        </a:rPr>
                        <a:t> </a:t>
                      </a:r>
                      <a:r>
                        <a:rPr lang="en-GB" sz="900" dirty="0" err="1">
                          <a:effectLst/>
                        </a:rPr>
                        <a:t>kohas</a:t>
                      </a:r>
                      <a:r>
                        <a:rPr lang="en-GB" sz="900" dirty="0">
                          <a:effectLst/>
                        </a:rPr>
                        <a:t> </a:t>
                      </a:r>
                      <a:r>
                        <a:rPr lang="en-GB" sz="900" dirty="0" err="1">
                          <a:effectLst/>
                        </a:rPr>
                        <a:t>koos</a:t>
                      </a:r>
                      <a:r>
                        <a:rPr lang="en-GB" sz="900" dirty="0">
                          <a:effectLst/>
                        </a:rPr>
                        <a:t>)</a:t>
                      </a:r>
                    </a:p>
                    <a:p>
                      <a:pPr algn="l" fontAlgn="t">
                        <a:buNone/>
                      </a:pPr>
                      <a:r>
                        <a:rPr lang="en-GB" sz="900" dirty="0">
                          <a:effectLst/>
                        </a:rPr>
                        <a:t>+ </a:t>
                      </a:r>
                      <a:r>
                        <a:rPr lang="en-GB" sz="900" dirty="0" err="1">
                          <a:effectLst/>
                        </a:rPr>
                        <a:t>lisandub</a:t>
                      </a:r>
                      <a:r>
                        <a:rPr lang="en-GB" sz="900" dirty="0">
                          <a:effectLst/>
                        </a:rPr>
                        <a:t> Power BI </a:t>
                      </a:r>
                      <a:r>
                        <a:rPr lang="en-GB" sz="900" dirty="0" err="1">
                          <a:effectLst/>
                        </a:rPr>
                        <a:t>litsentisde</a:t>
                      </a:r>
                      <a:r>
                        <a:rPr lang="en-GB" sz="900" dirty="0">
                          <a:effectLst/>
                        </a:rPr>
                        <a:t> hind </a:t>
                      </a:r>
                      <a:r>
                        <a:rPr lang="en-GB" sz="900" dirty="0" err="1">
                          <a:effectLst/>
                        </a:rPr>
                        <a:t>olenevalt</a:t>
                      </a:r>
                      <a:r>
                        <a:rPr lang="en-GB" sz="900" dirty="0">
                          <a:effectLst/>
                        </a:rPr>
                        <a:t> </a:t>
                      </a:r>
                      <a:r>
                        <a:rPr lang="en-GB" sz="900" dirty="0" err="1">
                          <a:effectLst/>
                        </a:rPr>
                        <a:t>paketist</a:t>
                      </a:r>
                      <a:endParaRPr lang="en-GB" sz="900" dirty="0">
                        <a:effectLst/>
                      </a:endParaRPr>
                    </a:p>
                  </a:txBody>
                  <a:tcPr marL="31135" marR="31135" marT="31135" marB="31135"/>
                </a:tc>
                <a:tc>
                  <a:txBody>
                    <a:bodyPr/>
                    <a:lstStyle/>
                    <a:p>
                      <a:pPr algn="l" fontAlgn="t">
                        <a:buNone/>
                      </a:pPr>
                      <a:r>
                        <a:rPr lang="en-GB" sz="900" dirty="0">
                          <a:effectLst/>
                        </a:rPr>
                        <a:t>💰 ~165 € – 275 € + </a:t>
                      </a:r>
                      <a:br>
                        <a:rPr lang="en-GB" sz="900" dirty="0">
                          <a:effectLst/>
                        </a:rPr>
                      </a:br>
                      <a:r>
                        <a:rPr lang="en-GB" sz="900" dirty="0">
                          <a:effectLst/>
                        </a:rPr>
                        <a:t>(</a:t>
                      </a:r>
                      <a:r>
                        <a:rPr lang="en-GB" sz="900" dirty="0" err="1">
                          <a:effectLst/>
                        </a:rPr>
                        <a:t>lisandub</a:t>
                      </a:r>
                      <a:r>
                        <a:rPr lang="en-GB" sz="900" dirty="0">
                          <a:effectLst/>
                        </a:rPr>
                        <a:t> SAP </a:t>
                      </a:r>
                      <a:r>
                        <a:rPr lang="en-GB" sz="900" dirty="0" err="1">
                          <a:effectLst/>
                        </a:rPr>
                        <a:t>pilve</a:t>
                      </a:r>
                      <a:r>
                        <a:rPr lang="en-GB" sz="900" dirty="0">
                          <a:effectLst/>
                        </a:rPr>
                        <a:t> </a:t>
                      </a:r>
                      <a:r>
                        <a:rPr lang="en-GB" sz="900" dirty="0" err="1">
                          <a:effectLst/>
                        </a:rPr>
                        <a:t>baasinfrastruktuur</a:t>
                      </a:r>
                      <a:r>
                        <a:rPr lang="en-GB" sz="900" dirty="0">
                          <a:effectLst/>
                        </a:rPr>
                        <a:t>)+</a:t>
                      </a:r>
                      <a:r>
                        <a:rPr lang="en-GB" sz="900" dirty="0" err="1">
                          <a:effectLst/>
                        </a:rPr>
                        <a:t>arendaja</a:t>
                      </a:r>
                      <a:r>
                        <a:rPr lang="en-GB" sz="900" dirty="0">
                          <a:effectLst/>
                        </a:rPr>
                        <a:t> </a:t>
                      </a:r>
                      <a:r>
                        <a:rPr lang="en-GB" sz="900" dirty="0" err="1">
                          <a:effectLst/>
                        </a:rPr>
                        <a:t>ja</a:t>
                      </a:r>
                      <a:r>
                        <a:rPr lang="en-GB" sz="900" dirty="0">
                          <a:effectLst/>
                        </a:rPr>
                        <a:t> </a:t>
                      </a:r>
                      <a:r>
                        <a:rPr lang="en-GB" sz="900" dirty="0" err="1">
                          <a:effectLst/>
                        </a:rPr>
                        <a:t>vaataja</a:t>
                      </a:r>
                      <a:r>
                        <a:rPr lang="en-GB" sz="900" dirty="0">
                          <a:effectLst/>
                        </a:rPr>
                        <a:t> </a:t>
                      </a:r>
                      <a:r>
                        <a:rPr lang="en-GB" sz="900" dirty="0" err="1">
                          <a:effectLst/>
                        </a:rPr>
                        <a:t>litsents</a:t>
                      </a:r>
                      <a:endParaRPr lang="en-GB" sz="900" dirty="0">
                        <a:effectLst/>
                      </a:endParaRPr>
                    </a:p>
                  </a:txBody>
                  <a:tcPr marL="31135" marR="31135" marT="31135" marB="31135"/>
                </a:tc>
                <a:extLst>
                  <a:ext uri="{0D108BD9-81ED-4DB2-BD59-A6C34878D82A}">
                    <a16:rowId xmlns:a16="http://schemas.microsoft.com/office/drawing/2014/main" val="4145843655"/>
                  </a:ext>
                </a:extLst>
              </a:tr>
            </a:tbl>
          </a:graphicData>
        </a:graphic>
      </p:graphicFrame>
    </p:spTree>
    <p:extLst>
      <p:ext uri="{BB962C8B-B14F-4D97-AF65-F5344CB8AC3E}">
        <p14:creationId xmlns:p14="http://schemas.microsoft.com/office/powerpoint/2010/main" val="37625607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82392-54B3-98FA-3B24-8681B4F4ABB5}"/>
              </a:ext>
            </a:extLst>
          </p:cNvPr>
          <p:cNvSpPr>
            <a:spLocks noGrp="1"/>
          </p:cNvSpPr>
          <p:nvPr>
            <p:ph type="ctrTitle"/>
          </p:nvPr>
        </p:nvSpPr>
        <p:spPr/>
        <p:txBody>
          <a:bodyPr/>
          <a:lstStyle/>
          <a:p>
            <a:r>
              <a:rPr lang="en-GB" b="1" dirty="0" err="1"/>
              <a:t>Kuidas</a:t>
            </a:r>
            <a:r>
              <a:rPr lang="en-GB" b="1" dirty="0"/>
              <a:t> </a:t>
            </a:r>
            <a:r>
              <a:rPr lang="en-GB" b="1" dirty="0" err="1"/>
              <a:t>valida</a:t>
            </a:r>
            <a:r>
              <a:rPr lang="en-GB" b="1" dirty="0"/>
              <a:t>?</a:t>
            </a:r>
            <a:endParaRPr lang="en-GB" dirty="0"/>
          </a:p>
        </p:txBody>
      </p:sp>
      <p:sp>
        <p:nvSpPr>
          <p:cNvPr id="3" name="Content Placeholder 2">
            <a:extLst>
              <a:ext uri="{FF2B5EF4-FFF2-40B4-BE49-F238E27FC236}">
                <a16:creationId xmlns:a16="http://schemas.microsoft.com/office/drawing/2014/main" id="{5D466F4A-8CA4-5C39-863A-195F085F7416}"/>
              </a:ext>
            </a:extLst>
          </p:cNvPr>
          <p:cNvSpPr>
            <a:spLocks noGrp="1"/>
          </p:cNvSpPr>
          <p:nvPr>
            <p:ph sz="quarter" idx="10"/>
          </p:nvPr>
        </p:nvSpPr>
        <p:spPr/>
        <p:txBody>
          <a:bodyPr/>
          <a:lstStyle/>
          <a:p>
            <a:r>
              <a:rPr lang="en-GB" b="1" dirty="0"/>
              <a:t>See </a:t>
            </a:r>
            <a:r>
              <a:rPr lang="en-GB" b="1" dirty="0" err="1"/>
              <a:t>taandub</a:t>
            </a:r>
            <a:r>
              <a:rPr lang="en-GB" b="1" dirty="0"/>
              <a:t> </a:t>
            </a:r>
            <a:r>
              <a:rPr lang="en-GB" b="1" dirty="0" err="1"/>
              <a:t>teie</a:t>
            </a:r>
            <a:r>
              <a:rPr lang="en-GB" b="1" dirty="0"/>
              <a:t> </a:t>
            </a:r>
            <a:r>
              <a:rPr lang="en-GB" b="1" dirty="0" err="1"/>
              <a:t>algallikatele</a:t>
            </a:r>
            <a:r>
              <a:rPr lang="en-GB" b="1" dirty="0"/>
              <a:t>:</a:t>
            </a:r>
          </a:p>
          <a:p>
            <a:pPr lvl="1"/>
            <a:r>
              <a:rPr lang="en-GB" b="1" dirty="0" err="1"/>
              <a:t>Valige</a:t>
            </a:r>
            <a:r>
              <a:rPr lang="en-GB" b="1" dirty="0"/>
              <a:t> SAP Business Data Cloud</a:t>
            </a:r>
            <a:r>
              <a:rPr lang="en-GB" dirty="0"/>
              <a:t>, </a:t>
            </a:r>
            <a:r>
              <a:rPr lang="en-GB" dirty="0" err="1"/>
              <a:t>kui</a:t>
            </a:r>
            <a:r>
              <a:rPr lang="en-GB" dirty="0"/>
              <a:t> </a:t>
            </a:r>
            <a:r>
              <a:rPr lang="en-GB" dirty="0" err="1"/>
              <a:t>teie</a:t>
            </a:r>
            <a:r>
              <a:rPr lang="en-GB" dirty="0"/>
              <a:t> </a:t>
            </a:r>
            <a:r>
              <a:rPr lang="en-GB" dirty="0" err="1"/>
              <a:t>põhilised</a:t>
            </a:r>
            <a:r>
              <a:rPr lang="en-GB" dirty="0"/>
              <a:t> </a:t>
            </a:r>
            <a:r>
              <a:rPr lang="en-GB" dirty="0" err="1"/>
              <a:t>kriitilised</a:t>
            </a:r>
            <a:r>
              <a:rPr lang="en-GB" dirty="0"/>
              <a:t> </a:t>
            </a:r>
            <a:r>
              <a:rPr lang="en-GB" dirty="0" err="1"/>
              <a:t>äriandmed</a:t>
            </a:r>
            <a:r>
              <a:rPr lang="en-GB" dirty="0"/>
              <a:t> </a:t>
            </a:r>
            <a:r>
              <a:rPr lang="en-GB" dirty="0" err="1"/>
              <a:t>asuvad</a:t>
            </a:r>
            <a:r>
              <a:rPr lang="en-GB" dirty="0"/>
              <a:t> SAP ERP </a:t>
            </a:r>
            <a:r>
              <a:rPr lang="en-GB" dirty="0" err="1"/>
              <a:t>süsteemides</a:t>
            </a:r>
            <a:r>
              <a:rPr lang="en-GB" dirty="0"/>
              <a:t> </a:t>
            </a:r>
            <a:r>
              <a:rPr lang="en-GB" dirty="0" err="1"/>
              <a:t>ja</a:t>
            </a:r>
            <a:r>
              <a:rPr lang="en-GB" dirty="0"/>
              <a:t> </a:t>
            </a:r>
            <a:r>
              <a:rPr lang="en-GB" dirty="0" err="1"/>
              <a:t>te</a:t>
            </a:r>
            <a:r>
              <a:rPr lang="en-GB" dirty="0"/>
              <a:t> </a:t>
            </a:r>
            <a:r>
              <a:rPr lang="en-GB" dirty="0" err="1"/>
              <a:t>ei</a:t>
            </a:r>
            <a:r>
              <a:rPr lang="en-GB" dirty="0"/>
              <a:t> </a:t>
            </a:r>
            <a:r>
              <a:rPr lang="en-GB" dirty="0" err="1"/>
              <a:t>soovi</a:t>
            </a:r>
            <a:r>
              <a:rPr lang="en-GB" dirty="0"/>
              <a:t> </a:t>
            </a:r>
            <a:r>
              <a:rPr lang="en-GB" dirty="0" err="1"/>
              <a:t>kulutada</a:t>
            </a:r>
            <a:r>
              <a:rPr lang="en-GB" dirty="0"/>
              <a:t> </a:t>
            </a:r>
            <a:r>
              <a:rPr lang="en-GB" dirty="0" err="1"/>
              <a:t>tuhandeid</a:t>
            </a:r>
            <a:r>
              <a:rPr lang="en-GB" dirty="0"/>
              <a:t> </a:t>
            </a:r>
            <a:r>
              <a:rPr lang="en-GB" dirty="0" err="1"/>
              <a:t>tunde</a:t>
            </a:r>
            <a:r>
              <a:rPr lang="en-GB" dirty="0"/>
              <a:t> </a:t>
            </a:r>
            <a:r>
              <a:rPr lang="en-GB" dirty="0" err="1"/>
              <a:t>andmete</a:t>
            </a:r>
            <a:r>
              <a:rPr lang="en-GB" dirty="0"/>
              <a:t> </a:t>
            </a:r>
            <a:r>
              <a:rPr lang="en-GB" dirty="0" err="1"/>
              <a:t>lahtipakkimisele</a:t>
            </a:r>
            <a:r>
              <a:rPr lang="en-GB" dirty="0"/>
              <a:t> </a:t>
            </a:r>
            <a:r>
              <a:rPr lang="en-GB" dirty="0" err="1"/>
              <a:t>ja</a:t>
            </a:r>
            <a:r>
              <a:rPr lang="en-GB" dirty="0"/>
              <a:t> </a:t>
            </a:r>
            <a:r>
              <a:rPr lang="en-GB" dirty="0" err="1"/>
              <a:t>uuesti</a:t>
            </a:r>
            <a:r>
              <a:rPr lang="en-GB" dirty="0"/>
              <a:t> </a:t>
            </a:r>
            <a:r>
              <a:rPr lang="en-GB" dirty="0" err="1"/>
              <a:t>modelleerimisele</a:t>
            </a:r>
            <a:r>
              <a:rPr lang="en-GB" dirty="0"/>
              <a:t> </a:t>
            </a:r>
            <a:r>
              <a:rPr lang="en-GB" dirty="0" err="1"/>
              <a:t>tavalises</a:t>
            </a:r>
            <a:r>
              <a:rPr lang="en-GB" dirty="0"/>
              <a:t> </a:t>
            </a:r>
            <a:r>
              <a:rPr lang="en-GB" dirty="0" err="1"/>
              <a:t>andmelaos</a:t>
            </a:r>
            <a:r>
              <a:rPr lang="en-GB" dirty="0"/>
              <a:t>. [</a:t>
            </a:r>
            <a:r>
              <a:rPr lang="en-GB" dirty="0">
                <a:hlinkClick r:id="rId2"/>
              </a:rPr>
              <a:t>1</a:t>
            </a:r>
            <a:r>
              <a:rPr lang="en-GB" dirty="0"/>
              <a:t>, </a:t>
            </a:r>
            <a:r>
              <a:rPr lang="en-GB" dirty="0">
                <a:hlinkClick r:id="rId3"/>
              </a:rPr>
              <a:t>2</a:t>
            </a:r>
            <a:r>
              <a:rPr lang="en-GB" dirty="0"/>
              <a:t>]</a:t>
            </a:r>
          </a:p>
          <a:p>
            <a:pPr lvl="1"/>
            <a:r>
              <a:rPr lang="en-GB" b="1" dirty="0" err="1"/>
              <a:t>Valige</a:t>
            </a:r>
            <a:r>
              <a:rPr lang="en-GB" b="1" dirty="0"/>
              <a:t> Microsoft Fabric </a:t>
            </a:r>
            <a:r>
              <a:rPr lang="en-GB" b="1" dirty="0" err="1"/>
              <a:t>või</a:t>
            </a:r>
            <a:r>
              <a:rPr lang="en-GB" b="1" dirty="0"/>
              <a:t> Google </a:t>
            </a:r>
            <a:r>
              <a:rPr lang="en-GB" b="1" dirty="0" err="1"/>
              <a:t>BigQuery</a:t>
            </a:r>
            <a:r>
              <a:rPr lang="en-GB" dirty="0"/>
              <a:t>, </a:t>
            </a:r>
            <a:r>
              <a:rPr lang="en-GB" dirty="0" err="1"/>
              <a:t>kui</a:t>
            </a:r>
            <a:r>
              <a:rPr lang="en-GB" dirty="0"/>
              <a:t> </a:t>
            </a:r>
            <a:r>
              <a:rPr lang="en-GB" dirty="0" err="1"/>
              <a:t>olete</a:t>
            </a:r>
            <a:r>
              <a:rPr lang="en-GB" dirty="0"/>
              <a:t> </a:t>
            </a:r>
            <a:r>
              <a:rPr lang="en-GB" dirty="0" err="1"/>
              <a:t>täielikult</a:t>
            </a:r>
            <a:r>
              <a:rPr lang="en-GB" dirty="0"/>
              <a:t> </a:t>
            </a:r>
            <a:r>
              <a:rPr lang="en-GB" dirty="0" err="1"/>
              <a:t>Microsofti</a:t>
            </a:r>
            <a:r>
              <a:rPr lang="en-GB" dirty="0"/>
              <a:t> </a:t>
            </a:r>
            <a:r>
              <a:rPr lang="en-GB" dirty="0" err="1"/>
              <a:t>või</a:t>
            </a:r>
            <a:r>
              <a:rPr lang="en-GB" dirty="0"/>
              <a:t> </a:t>
            </a:r>
            <a:r>
              <a:rPr lang="en-GB" dirty="0" err="1"/>
              <a:t>Google'i</a:t>
            </a:r>
            <a:r>
              <a:rPr lang="en-GB" dirty="0"/>
              <a:t> </a:t>
            </a:r>
            <a:r>
              <a:rPr lang="en-GB" dirty="0" err="1"/>
              <a:t>ökosüsteemis</a:t>
            </a:r>
            <a:r>
              <a:rPr lang="en-GB" dirty="0"/>
              <a:t> </a:t>
            </a:r>
            <a:r>
              <a:rPr lang="en-GB" dirty="0" err="1"/>
              <a:t>ning</a:t>
            </a:r>
            <a:r>
              <a:rPr lang="en-GB" dirty="0"/>
              <a:t> </a:t>
            </a:r>
            <a:r>
              <a:rPr lang="en-GB" dirty="0" err="1"/>
              <a:t>otsite</a:t>
            </a:r>
            <a:r>
              <a:rPr lang="en-GB" dirty="0"/>
              <a:t> </a:t>
            </a:r>
            <a:r>
              <a:rPr lang="en-GB" dirty="0" err="1"/>
              <a:t>võimalikult</a:t>
            </a:r>
            <a:r>
              <a:rPr lang="en-GB" dirty="0"/>
              <a:t> </a:t>
            </a:r>
            <a:r>
              <a:rPr lang="en-GB" dirty="0" err="1"/>
              <a:t>madala</a:t>
            </a:r>
            <a:r>
              <a:rPr lang="en-GB" dirty="0"/>
              <a:t> </a:t>
            </a:r>
            <a:r>
              <a:rPr lang="en-GB" dirty="0" err="1"/>
              <a:t>sisenemisbarjääriga</a:t>
            </a:r>
            <a:r>
              <a:rPr lang="en-GB" dirty="0"/>
              <a:t> </a:t>
            </a:r>
            <a:r>
              <a:rPr lang="en-GB" dirty="0" err="1"/>
              <a:t>integreeritud</a:t>
            </a:r>
            <a:r>
              <a:rPr lang="en-GB" dirty="0"/>
              <a:t> </a:t>
            </a:r>
            <a:r>
              <a:rPr lang="en-GB" dirty="0" err="1"/>
              <a:t>analüütikakeskkonda</a:t>
            </a:r>
            <a:r>
              <a:rPr lang="en-GB" dirty="0"/>
              <a:t>.</a:t>
            </a:r>
          </a:p>
          <a:p>
            <a:pPr lvl="1"/>
            <a:r>
              <a:rPr lang="en-GB" b="1" dirty="0" err="1"/>
              <a:t>Valige</a:t>
            </a:r>
            <a:r>
              <a:rPr lang="en-GB" b="1" dirty="0"/>
              <a:t> Snowflake </a:t>
            </a:r>
            <a:r>
              <a:rPr lang="en-GB" b="1" dirty="0" err="1"/>
              <a:t>või</a:t>
            </a:r>
            <a:r>
              <a:rPr lang="en-GB" b="1" dirty="0"/>
              <a:t> Databricks</a:t>
            </a:r>
            <a:r>
              <a:rPr lang="en-GB" dirty="0"/>
              <a:t>, </a:t>
            </a:r>
            <a:r>
              <a:rPr lang="en-GB" dirty="0" err="1"/>
              <a:t>kui</a:t>
            </a:r>
            <a:r>
              <a:rPr lang="en-GB" dirty="0"/>
              <a:t> </a:t>
            </a:r>
            <a:r>
              <a:rPr lang="en-GB" dirty="0" err="1"/>
              <a:t>vajate</a:t>
            </a:r>
            <a:r>
              <a:rPr lang="en-GB" dirty="0"/>
              <a:t> </a:t>
            </a:r>
            <a:r>
              <a:rPr lang="en-GB" dirty="0" err="1"/>
              <a:t>platvormiülest</a:t>
            </a:r>
            <a:r>
              <a:rPr lang="en-GB" dirty="0"/>
              <a:t>, </a:t>
            </a:r>
            <a:r>
              <a:rPr lang="en-GB" dirty="0" err="1"/>
              <a:t>ülivõimsat</a:t>
            </a:r>
            <a:r>
              <a:rPr lang="en-GB" dirty="0"/>
              <a:t> </a:t>
            </a:r>
            <a:r>
              <a:rPr lang="en-GB" dirty="0" err="1"/>
              <a:t>ja</a:t>
            </a:r>
            <a:r>
              <a:rPr lang="en-GB" dirty="0"/>
              <a:t> </a:t>
            </a:r>
            <a:r>
              <a:rPr lang="en-GB" dirty="0" err="1"/>
              <a:t>täiesti</a:t>
            </a:r>
            <a:r>
              <a:rPr lang="en-GB" dirty="0"/>
              <a:t> </a:t>
            </a:r>
            <a:r>
              <a:rPr lang="en-GB" dirty="0" err="1"/>
              <a:t>kohandatavat</a:t>
            </a:r>
            <a:r>
              <a:rPr lang="en-GB" dirty="0"/>
              <a:t> </a:t>
            </a:r>
            <a:r>
              <a:rPr lang="en-GB" dirty="0" err="1"/>
              <a:t>andmebaasi</a:t>
            </a:r>
            <a:r>
              <a:rPr lang="en-GB" dirty="0"/>
              <a:t>, mis </a:t>
            </a:r>
            <a:r>
              <a:rPr lang="en-GB" dirty="0" err="1"/>
              <a:t>ei</a:t>
            </a:r>
            <a:r>
              <a:rPr lang="en-GB" dirty="0"/>
              <a:t> </a:t>
            </a:r>
            <a:r>
              <a:rPr lang="en-GB" dirty="0" err="1"/>
              <a:t>sõltu</a:t>
            </a:r>
            <a:r>
              <a:rPr lang="en-GB" dirty="0"/>
              <a:t> </a:t>
            </a:r>
            <a:r>
              <a:rPr lang="en-GB" dirty="0" err="1"/>
              <a:t>ühestki</a:t>
            </a:r>
            <a:r>
              <a:rPr lang="en-GB" dirty="0"/>
              <a:t> </a:t>
            </a:r>
            <a:r>
              <a:rPr lang="en-GB" dirty="0" err="1"/>
              <a:t>konkreetsest</a:t>
            </a:r>
            <a:r>
              <a:rPr lang="en-GB" dirty="0"/>
              <a:t> </a:t>
            </a:r>
            <a:r>
              <a:rPr lang="en-GB" dirty="0" err="1"/>
              <a:t>tarkvaratootjast</a:t>
            </a:r>
            <a:r>
              <a:rPr lang="en-GB" dirty="0"/>
              <a:t> </a:t>
            </a:r>
            <a:r>
              <a:rPr lang="en-GB" dirty="0" err="1"/>
              <a:t>ega</a:t>
            </a:r>
            <a:r>
              <a:rPr lang="en-GB" dirty="0"/>
              <a:t> </a:t>
            </a:r>
            <a:r>
              <a:rPr lang="en-GB" dirty="0" err="1"/>
              <a:t>ärirakendusest</a:t>
            </a:r>
            <a:r>
              <a:rPr lang="en-GB" dirty="0"/>
              <a:t>.</a:t>
            </a:r>
          </a:p>
          <a:p>
            <a:pPr lvl="1"/>
            <a:endParaRPr lang="en-GB" dirty="0"/>
          </a:p>
          <a:p>
            <a:pPr lvl="1"/>
            <a:r>
              <a:rPr lang="en-GB" dirty="0"/>
              <a:t>DEMO</a:t>
            </a:r>
          </a:p>
          <a:p>
            <a:endParaRPr lang="en-GB" dirty="0"/>
          </a:p>
        </p:txBody>
      </p:sp>
    </p:spTree>
    <p:extLst>
      <p:ext uri="{BB962C8B-B14F-4D97-AF65-F5344CB8AC3E}">
        <p14:creationId xmlns:p14="http://schemas.microsoft.com/office/powerpoint/2010/main" val="10763175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99FCD-1FAC-9C66-3245-6CC75BBF06D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63D522-8B6B-AC13-AE89-589D6137986B}"/>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48003D5-4AA3-8A46-050E-409C5B8B105B}"/>
              </a:ext>
            </a:extLst>
          </p:cNvPr>
          <p:cNvSpPr>
            <a:spLocks noGrp="1"/>
          </p:cNvSpPr>
          <p:nvPr>
            <p:ph type="ctrTitle"/>
          </p:nvPr>
        </p:nvSpPr>
        <p:spPr>
          <a:xfrm>
            <a:off x="3461336" y="2675333"/>
            <a:ext cx="6575007" cy="357043"/>
          </a:xfrm>
        </p:spPr>
        <p:txBody>
          <a:bodyPr/>
          <a:lstStyle/>
          <a:p>
            <a:r>
              <a:rPr lang="en-US" err="1"/>
              <a:t>Lõunapaus</a:t>
            </a:r>
            <a:r>
              <a:rPr lang="en-US"/>
              <a:t> 12:15-13:15</a:t>
            </a:r>
          </a:p>
        </p:txBody>
      </p:sp>
    </p:spTree>
    <p:extLst>
      <p:ext uri="{BB962C8B-B14F-4D97-AF65-F5344CB8AC3E}">
        <p14:creationId xmlns:p14="http://schemas.microsoft.com/office/powerpoint/2010/main" val="6683817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9688F-3521-979A-C066-0B9C9024068C}"/>
              </a:ext>
            </a:extLst>
          </p:cNvPr>
          <p:cNvSpPr>
            <a:spLocks noGrp="1"/>
          </p:cNvSpPr>
          <p:nvPr>
            <p:ph type="ctrTitle"/>
          </p:nvPr>
        </p:nvSpPr>
        <p:spPr/>
        <p:txBody>
          <a:bodyPr/>
          <a:lstStyle/>
          <a:p>
            <a:r>
              <a:rPr lang="et-EE" dirty="0"/>
              <a:t>Harjutus</a:t>
            </a:r>
          </a:p>
        </p:txBody>
      </p:sp>
      <p:sp>
        <p:nvSpPr>
          <p:cNvPr id="3" name="Content Placeholder 2">
            <a:extLst>
              <a:ext uri="{FF2B5EF4-FFF2-40B4-BE49-F238E27FC236}">
                <a16:creationId xmlns:a16="http://schemas.microsoft.com/office/drawing/2014/main" id="{BCBC55D0-0EEB-CDA7-B5B0-C5E8F0DF423E}"/>
              </a:ext>
            </a:extLst>
          </p:cNvPr>
          <p:cNvSpPr>
            <a:spLocks noGrp="1"/>
          </p:cNvSpPr>
          <p:nvPr>
            <p:ph sz="quarter" idx="10"/>
          </p:nvPr>
        </p:nvSpPr>
        <p:spPr/>
        <p:txBody>
          <a:bodyPr/>
          <a:lstStyle/>
          <a:p>
            <a:endParaRPr lang="et-EE"/>
          </a:p>
        </p:txBody>
      </p:sp>
    </p:spTree>
    <p:extLst>
      <p:ext uri="{BB962C8B-B14F-4D97-AF65-F5344CB8AC3E}">
        <p14:creationId xmlns:p14="http://schemas.microsoft.com/office/powerpoint/2010/main" val="962014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FE8E8-2C53-7FDC-CEB6-EBE536FEED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1AF269-15FF-C3E0-1481-FB0F5729B7D7}"/>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85D5AC7-09A2-F513-5A98-E20E11B45B4C}"/>
              </a:ext>
            </a:extLst>
          </p:cNvPr>
          <p:cNvSpPr>
            <a:spLocks noGrp="1"/>
          </p:cNvSpPr>
          <p:nvPr>
            <p:ph type="ctrTitle"/>
          </p:nvPr>
        </p:nvSpPr>
        <p:spPr>
          <a:xfrm>
            <a:off x="4283493" y="2675333"/>
            <a:ext cx="3777666" cy="357043"/>
          </a:xfrm>
        </p:spPr>
        <p:txBody>
          <a:bodyPr/>
          <a:lstStyle/>
          <a:p>
            <a:r>
              <a:rPr lang="en-US"/>
              <a:t>Paus 14:45-15:00</a:t>
            </a:r>
          </a:p>
        </p:txBody>
      </p:sp>
    </p:spTree>
    <p:extLst>
      <p:ext uri="{BB962C8B-B14F-4D97-AF65-F5344CB8AC3E}">
        <p14:creationId xmlns:p14="http://schemas.microsoft.com/office/powerpoint/2010/main" val="27583486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3C1F7-CD92-D403-1E94-6A303DDD1D89}"/>
              </a:ext>
            </a:extLst>
          </p:cNvPr>
          <p:cNvSpPr>
            <a:spLocks noGrp="1"/>
          </p:cNvSpPr>
          <p:nvPr>
            <p:ph type="ctrTitle"/>
          </p:nvPr>
        </p:nvSpPr>
        <p:spPr/>
        <p:txBody>
          <a:bodyPr/>
          <a:lstStyle/>
          <a:p>
            <a:r>
              <a:rPr lang="en-GB" dirty="0" err="1"/>
              <a:t>Harjutus</a:t>
            </a:r>
            <a:r>
              <a:rPr lang="et-EE" dirty="0"/>
              <a:t> 2 </a:t>
            </a:r>
            <a:r>
              <a:rPr lang="en-GB" dirty="0" err="1"/>
              <a:t>Avaandmete</a:t>
            </a:r>
            <a:r>
              <a:rPr lang="en-GB" dirty="0"/>
              <a:t> </a:t>
            </a:r>
            <a:r>
              <a:rPr lang="en-GB" dirty="0" err="1"/>
              <a:t>kasutamine</a:t>
            </a:r>
            <a:r>
              <a:rPr lang="en-GB" dirty="0"/>
              <a:t> </a:t>
            </a:r>
            <a:r>
              <a:rPr lang="en-GB" dirty="0" err="1"/>
              <a:t>raportis</a:t>
            </a:r>
            <a:r>
              <a:rPr lang="en-GB" dirty="0"/>
              <a:t>: </a:t>
            </a:r>
            <a:r>
              <a:rPr lang="en-GB" dirty="0" err="1"/>
              <a:t>json</a:t>
            </a:r>
            <a:r>
              <a:rPr lang="en-GB" dirty="0"/>
              <a:t> </a:t>
            </a:r>
            <a:r>
              <a:rPr lang="en-GB" dirty="0" err="1"/>
              <a:t>formaadis</a:t>
            </a:r>
            <a:r>
              <a:rPr lang="en-GB" dirty="0"/>
              <a:t> </a:t>
            </a:r>
            <a:r>
              <a:rPr lang="en-GB" dirty="0" err="1"/>
              <a:t>töötlemine</a:t>
            </a:r>
            <a:br>
              <a:rPr lang="et-EE" dirty="0"/>
            </a:br>
            <a:endParaRPr lang="en-GB" dirty="0"/>
          </a:p>
        </p:txBody>
      </p:sp>
      <p:sp>
        <p:nvSpPr>
          <p:cNvPr id="3" name="Content Placeholder 2">
            <a:extLst>
              <a:ext uri="{FF2B5EF4-FFF2-40B4-BE49-F238E27FC236}">
                <a16:creationId xmlns:a16="http://schemas.microsoft.com/office/drawing/2014/main" id="{B58A7050-7C98-021C-C525-2E0D92E64E6A}"/>
              </a:ext>
            </a:extLst>
          </p:cNvPr>
          <p:cNvSpPr>
            <a:spLocks noGrp="1"/>
          </p:cNvSpPr>
          <p:nvPr>
            <p:ph sz="quarter" idx="10"/>
          </p:nvPr>
        </p:nvSpPr>
        <p:spPr>
          <a:xfrm>
            <a:off x="409575" y="1645047"/>
            <a:ext cx="5364162" cy="1710531"/>
          </a:xfrm>
        </p:spPr>
        <p:txBody>
          <a:bodyPr/>
          <a:lstStyle/>
          <a:p>
            <a:r>
              <a:rPr lang="et-EE" dirty="0"/>
              <a:t>Avalik REST API liikumisaktiivsuse tegevuskava elluviimise andmestiku masinloetavaks kasutamiseks. API kaudu on JSON-vormingus kättesaadavad tegevused, partnerorganisatsioonid,...</a:t>
            </a:r>
            <a:endParaRPr lang="en-GB" dirty="0"/>
          </a:p>
          <a:p>
            <a:r>
              <a:rPr lang="en-GB" dirty="0">
                <a:hlinkClick r:id="rId2"/>
              </a:rPr>
              <a:t>https://app.liigume.ee/api/</a:t>
            </a:r>
            <a:r>
              <a:rPr lang="et-EE" dirty="0"/>
              <a:t>organizations</a:t>
            </a:r>
          </a:p>
          <a:p>
            <a:r>
              <a:rPr lang="en-GB" dirty="0">
                <a:hlinkClick r:id="rId2"/>
              </a:rPr>
              <a:t>https://app.liigume.ee/api/</a:t>
            </a:r>
            <a:r>
              <a:rPr lang="et-EE" dirty="0"/>
              <a:t>policies</a:t>
            </a:r>
          </a:p>
          <a:p>
            <a:r>
              <a:rPr lang="en-GB" dirty="0">
                <a:hlinkClick r:id="rId2"/>
              </a:rPr>
              <a:t>https://app.liigume.ee/api/</a:t>
            </a:r>
            <a:r>
              <a:rPr lang="et-EE" dirty="0"/>
              <a:t>reseach</a:t>
            </a:r>
            <a:endParaRPr lang="et-EE" dirty="0">
              <a:hlinkClick r:id="rId2"/>
            </a:endParaRPr>
          </a:p>
          <a:p>
            <a:r>
              <a:rPr lang="en-GB" dirty="0">
                <a:hlinkClick r:id="rId2"/>
              </a:rPr>
              <a:t>https://app.liigume.ee/api/activities</a:t>
            </a:r>
            <a:endParaRPr lang="et-EE" dirty="0"/>
          </a:p>
          <a:p>
            <a:endParaRPr lang="en-GB" dirty="0"/>
          </a:p>
        </p:txBody>
      </p:sp>
      <p:sp>
        <p:nvSpPr>
          <p:cNvPr id="4" name="Content Placeholder 3">
            <a:extLst>
              <a:ext uri="{FF2B5EF4-FFF2-40B4-BE49-F238E27FC236}">
                <a16:creationId xmlns:a16="http://schemas.microsoft.com/office/drawing/2014/main" id="{35F0B136-7735-75E0-BC3F-53D725A4405E}"/>
              </a:ext>
            </a:extLst>
          </p:cNvPr>
          <p:cNvSpPr>
            <a:spLocks noGrp="1"/>
          </p:cNvSpPr>
          <p:nvPr>
            <p:ph sz="quarter" idx="11"/>
          </p:nvPr>
        </p:nvSpPr>
        <p:spPr>
          <a:xfrm>
            <a:off x="6203950" y="1268412"/>
            <a:ext cx="5364162" cy="2367757"/>
          </a:xfrm>
        </p:spPr>
        <p:txBody>
          <a:bodyPr/>
          <a:lstStyle/>
          <a:p>
            <a:r>
              <a:rPr lang="et-EE" dirty="0"/>
              <a:t>Selle andmestiku põhjal saad luua </a:t>
            </a:r>
            <a:r>
              <a:rPr lang="et-EE" b="1" dirty="0"/>
              <a:t>"Tegevuskava Seireraporti" (Project Management Dashboard)</a:t>
            </a:r>
            <a:r>
              <a:rPr lang="et-EE" dirty="0"/>
              <a:t>, kus kuvatakse:</a:t>
            </a:r>
          </a:p>
          <a:p>
            <a:pPr lvl="0"/>
            <a:r>
              <a:rPr lang="et-EE" b="1" dirty="0"/>
              <a:t>Staatuste ülevaade:</a:t>
            </a:r>
            <a:r>
              <a:rPr lang="et-EE" dirty="0"/>
              <a:t> Ringdiagramm sellest, kui palju tegevusi on tehtud, tegemisel või ootel.</a:t>
            </a:r>
          </a:p>
          <a:p>
            <a:pPr lvl="0"/>
            <a:r>
              <a:rPr lang="et-EE" b="1" dirty="0"/>
              <a:t>Partnerite koormus:</a:t>
            </a:r>
            <a:r>
              <a:rPr lang="et-EE" dirty="0"/>
              <a:t> Tulpdiagramm, mis näitab, millised partnerorganisatsioonid on seotud kõige suurema arvu tegevustega.</a:t>
            </a:r>
          </a:p>
          <a:p>
            <a:endParaRPr lang="en-GB" dirty="0"/>
          </a:p>
        </p:txBody>
      </p:sp>
      <p:sp>
        <p:nvSpPr>
          <p:cNvPr id="5" name="Content Placeholder 2">
            <a:extLst>
              <a:ext uri="{FF2B5EF4-FFF2-40B4-BE49-F238E27FC236}">
                <a16:creationId xmlns:a16="http://schemas.microsoft.com/office/drawing/2014/main" id="{8B9457CE-B01B-876E-4630-704C65889C18}"/>
              </a:ext>
            </a:extLst>
          </p:cNvPr>
          <p:cNvSpPr txBox="1">
            <a:spLocks/>
          </p:cNvSpPr>
          <p:nvPr/>
        </p:nvSpPr>
        <p:spPr>
          <a:xfrm>
            <a:off x="681038" y="4357687"/>
            <a:ext cx="4519612" cy="1785937"/>
          </a:xfrm>
          <a:prstGeom prst="rect">
            <a:avLst/>
          </a:prstGeom>
        </p:spPr>
        <p:txBody>
          <a:bodyPr vert="horz" lIns="0" tIns="0" rIns="0" bIns="0" rtlCol="0" anchor="t" anchorCtr="0">
            <a:noAutofit/>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10000"/>
              </a:lnSpc>
              <a:spcBef>
                <a:spcPts val="500"/>
              </a:spcBef>
              <a:buFont typeface="Arial" panose="020B0604020202020204" pitchFamily="34" charset="0"/>
              <a:buChar char="•"/>
              <a:defRPr sz="16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t-EE" dirty="0"/>
              <a:t>Ülesande kirjeldus</a:t>
            </a:r>
          </a:p>
          <a:p>
            <a:r>
              <a:rPr lang="et-EE" dirty="0"/>
              <a:t>Mõisted</a:t>
            </a:r>
          </a:p>
          <a:p>
            <a:r>
              <a:rPr lang="et-EE" dirty="0"/>
              <a:t>Mida mõõta</a:t>
            </a:r>
          </a:p>
          <a:p>
            <a:r>
              <a:rPr lang="et-EE" dirty="0"/>
              <a:t>Kus andmed</a:t>
            </a:r>
          </a:p>
          <a:p>
            <a:r>
              <a:rPr lang="et-EE" dirty="0"/>
              <a:t>Andmekvaliteet</a:t>
            </a:r>
          </a:p>
          <a:p>
            <a:r>
              <a:rPr lang="et-EE" dirty="0"/>
              <a:t>Töötlus ja arvutused</a:t>
            </a:r>
          </a:p>
          <a:p>
            <a:r>
              <a:rPr lang="et-EE" dirty="0"/>
              <a:t>Analüütika</a:t>
            </a:r>
          </a:p>
          <a:p>
            <a:endParaRPr lang="en-GB" dirty="0"/>
          </a:p>
        </p:txBody>
      </p:sp>
    </p:spTree>
    <p:extLst>
      <p:ext uri="{BB962C8B-B14F-4D97-AF65-F5344CB8AC3E}">
        <p14:creationId xmlns:p14="http://schemas.microsoft.com/office/powerpoint/2010/main" val="98912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6EFC7-60EA-3902-D346-74AFF8214CFA}"/>
              </a:ext>
            </a:extLst>
          </p:cNvPr>
          <p:cNvSpPr>
            <a:spLocks noGrp="1"/>
          </p:cNvSpPr>
          <p:nvPr>
            <p:ph type="ctrTitle"/>
          </p:nvPr>
        </p:nvSpPr>
        <p:spPr/>
        <p:txBody>
          <a:bodyPr/>
          <a:lstStyle/>
          <a:p>
            <a:endParaRPr lang="et-EE" dirty="0"/>
          </a:p>
        </p:txBody>
      </p:sp>
      <p:sp>
        <p:nvSpPr>
          <p:cNvPr id="3" name="Content Placeholder 2">
            <a:extLst>
              <a:ext uri="{FF2B5EF4-FFF2-40B4-BE49-F238E27FC236}">
                <a16:creationId xmlns:a16="http://schemas.microsoft.com/office/drawing/2014/main" id="{EF432A02-8357-79A1-6776-35557E9A2AFE}"/>
              </a:ext>
            </a:extLst>
          </p:cNvPr>
          <p:cNvSpPr>
            <a:spLocks noGrp="1"/>
          </p:cNvSpPr>
          <p:nvPr>
            <p:ph sz="quarter" idx="10"/>
          </p:nvPr>
        </p:nvSpPr>
        <p:spPr>
          <a:xfrm>
            <a:off x="623887" y="1268413"/>
            <a:ext cx="10427493" cy="4465637"/>
          </a:xfrm>
        </p:spPr>
        <p:txBody>
          <a:bodyPr/>
          <a:lstStyle/>
          <a:p>
            <a:pPr marL="0" indent="0">
              <a:buNone/>
            </a:pPr>
            <a:r>
              <a:rPr lang="et-EE" dirty="0"/>
              <a:t>Kuule, meil on vaja juhtkonnale ja partneritele teha üks kiire ülevaade sellest meie uuest liikumisaktiivsuse tegevuskava andmestikust. Ma tean, et see API on meil nüüd lõpuks koos OpenAPI dokumentatsiooniga püsti (see https://liigume.ee link).</a:t>
            </a:r>
          </a:p>
          <a:p>
            <a:pPr marL="0" indent="0">
              <a:buNone/>
            </a:pPr>
            <a:r>
              <a:rPr lang="et-EE" dirty="0"/>
              <a:t>Seal ei ole mingeid individuaalseid sammude mõõtmisi, vaid pigem see strateegiline pool – tegevused, partnerorganisatsioonid, poliitikameetmed ja need tõenduspõhised sekkumised.</a:t>
            </a:r>
          </a:p>
          <a:p>
            <a:pPr marL="0" indent="0">
              <a:buNone/>
            </a:pPr>
            <a:r>
              <a:rPr lang="et-EE" dirty="0"/>
              <a:t>Kas sa saaksid sealt andmed korraks Power BI-sse tõmmata ja teha meile ühe kiire dashboardi? Mind huvitab praegu kõige rohkem see suur pilt:</a:t>
            </a:r>
          </a:p>
          <a:p>
            <a:pPr marL="0" lvl="0" indent="0">
              <a:buNone/>
            </a:pPr>
            <a:r>
              <a:rPr lang="et-EE" dirty="0"/>
              <a:t>Kes meil tegelikult reaalselt liigutavad ehk millised partnerorganisatsioonid on kõige rohkem koormatud ja kõige rohkem tegevusi enda peale võtnud?</a:t>
            </a:r>
          </a:p>
          <a:p>
            <a:pPr marL="0" lvl="0" indent="0">
              <a:buNone/>
            </a:pPr>
            <a:r>
              <a:rPr lang="et-EE" dirty="0"/>
              <a:t>Kas meil on kuskil mingeid täiesti katmata auke? Ehk kas mõne poliitikameetme või WHO samba all on tegevusi liiga vähe või pole üldse?</a:t>
            </a:r>
          </a:p>
          <a:p>
            <a:pPr marL="0" lvl="0" indent="0">
              <a:buNone/>
            </a:pPr>
            <a:r>
              <a:rPr lang="et-EE" dirty="0"/>
              <a:t>Kui palju meil on reaalselt teaduslikke ja tõenduspõhiseid sekkumisi võrreldes niisama jooksvate tegevustega?</a:t>
            </a:r>
          </a:p>
          <a:p>
            <a:pPr marL="0" indent="0">
              <a:buNone/>
            </a:pPr>
            <a:r>
              <a:rPr lang="et-EE" dirty="0"/>
              <a:t>Andmed on vist natuke mustad ka (mingid suurtähtede erinevused partnerite nimedes ja kuupäevade formaadid vajavad kindlasti Power Querys üle vaatamist, muidu jookseb graafik kokku).</a:t>
            </a:r>
          </a:p>
          <a:p>
            <a:pPr marL="0" indent="0">
              <a:buNone/>
            </a:pPr>
            <a:r>
              <a:rPr lang="et-EE" dirty="0"/>
              <a:t>Teeme esialgu lihtsa ühe lehega ülevaate, mida saan järgmisel nädalal koosolekul ekraanile visata. Mis sa arvad, millal pilgu peale saaksid visata?</a:t>
            </a:r>
          </a:p>
          <a:p>
            <a:pPr marL="0" indent="0">
              <a:buNone/>
            </a:pPr>
            <a:endParaRPr lang="et-EE" dirty="0"/>
          </a:p>
        </p:txBody>
      </p:sp>
    </p:spTree>
    <p:extLst>
      <p:ext uri="{BB962C8B-B14F-4D97-AF65-F5344CB8AC3E}">
        <p14:creationId xmlns:p14="http://schemas.microsoft.com/office/powerpoint/2010/main" val="30714585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D5CDD-B631-B19D-0DCC-75D6C9E7A593}"/>
              </a:ext>
            </a:extLst>
          </p:cNvPr>
          <p:cNvSpPr>
            <a:spLocks noGrp="1"/>
          </p:cNvSpPr>
          <p:nvPr>
            <p:ph type="ctrTitle"/>
          </p:nvPr>
        </p:nvSpPr>
        <p:spPr/>
        <p:txBody>
          <a:bodyPr/>
          <a:lstStyle/>
          <a:p>
            <a:endParaRPr lang="et-EE"/>
          </a:p>
        </p:txBody>
      </p:sp>
      <p:sp>
        <p:nvSpPr>
          <p:cNvPr id="3" name="Content Placeholder 2">
            <a:extLst>
              <a:ext uri="{FF2B5EF4-FFF2-40B4-BE49-F238E27FC236}">
                <a16:creationId xmlns:a16="http://schemas.microsoft.com/office/drawing/2014/main" id="{5AEC3CDD-118A-9E04-07A0-0630AFE6239F}"/>
              </a:ext>
            </a:extLst>
          </p:cNvPr>
          <p:cNvSpPr>
            <a:spLocks noGrp="1"/>
          </p:cNvSpPr>
          <p:nvPr>
            <p:ph sz="quarter" idx="10"/>
          </p:nvPr>
        </p:nvSpPr>
        <p:spPr>
          <a:xfrm>
            <a:off x="623887" y="1268413"/>
            <a:ext cx="10834687" cy="4465637"/>
          </a:xfrm>
        </p:spPr>
        <p:txBody>
          <a:bodyPr/>
          <a:lstStyle/>
          <a:p>
            <a:r>
              <a:rPr lang="et-EE" sz="1100" b="1" dirty="0"/>
              <a:t>1. Tegevuskava täitmise üldvaade (Executive Summary)</a:t>
            </a:r>
          </a:p>
          <a:p>
            <a:r>
              <a:rPr lang="et-EE" sz="1100" dirty="0"/>
              <a:t>See leht on mõeldud juhtidele, et näha projekti üldist tervislikku seisundit ühe pilguga.</a:t>
            </a:r>
          </a:p>
          <a:p>
            <a:pPr lvl="0"/>
            <a:r>
              <a:rPr lang="et-EE" sz="1100" b="1" dirty="0"/>
              <a:t>KPI kaardid (Cards):</a:t>
            </a:r>
            <a:endParaRPr lang="et-EE" sz="1100" dirty="0"/>
          </a:p>
          <a:p>
            <a:pPr lvl="1"/>
            <a:r>
              <a:rPr lang="et-EE" sz="1100" dirty="0"/>
              <a:t>Tegevuste koguarv</a:t>
            </a:r>
          </a:p>
          <a:p>
            <a:pPr lvl="1"/>
            <a:r>
              <a:rPr lang="et-EE" sz="1100" dirty="0"/>
              <a:t>Partnerorganisatsioonide arv</a:t>
            </a:r>
          </a:p>
          <a:p>
            <a:pPr lvl="1"/>
            <a:r>
              <a:rPr lang="et-EE" sz="1100" dirty="0"/>
              <a:t>Lõpetatud tegevuste % (kui andmetes on staatused nagu </a:t>
            </a:r>
            <a:r>
              <a:rPr lang="et-EE" sz="1100" i="1" dirty="0"/>
              <a:t>Tehtud</a:t>
            </a:r>
            <a:r>
              <a:rPr lang="et-EE" sz="1100" dirty="0"/>
              <a:t> / </a:t>
            </a:r>
            <a:r>
              <a:rPr lang="et-EE" sz="1100" i="1" dirty="0"/>
              <a:t>Tegemisel</a:t>
            </a:r>
            <a:r>
              <a:rPr lang="et-EE" sz="1100" dirty="0"/>
              <a:t>)</a:t>
            </a:r>
          </a:p>
          <a:p>
            <a:pPr lvl="0"/>
            <a:r>
              <a:rPr lang="et-EE" sz="1100" b="1" dirty="0"/>
              <a:t>Tegevuste jaotus staatuse järgi (Donut Chart):</a:t>
            </a:r>
            <a:r>
              <a:rPr lang="et-EE" sz="1100" dirty="0"/>
              <a:t> Visuaalne ülevaade sellest, kui palju tegevusi on planeeritud, töös või edukalt ellu viidud.</a:t>
            </a:r>
          </a:p>
          <a:p>
            <a:r>
              <a:rPr lang="et-EE" sz="1100" b="1" dirty="0"/>
              <a:t>2. Partnerite koormus ja koostöö (Stakeholder Matrix)</a:t>
            </a:r>
          </a:p>
          <a:p>
            <a:r>
              <a:rPr lang="et-EE" sz="1100" dirty="0"/>
              <a:t>See vaade näitab, kes riigisektoris või vabaühendustes panustab kõige rohkem.</a:t>
            </a:r>
          </a:p>
          <a:p>
            <a:pPr lvl="0"/>
            <a:r>
              <a:rPr lang="et-EE" sz="1100" b="1" dirty="0"/>
              <a:t>TOP partnerid (Bar Chart):</a:t>
            </a:r>
            <a:r>
              <a:rPr lang="et-EE" sz="1100" dirty="0"/>
              <a:t> Edetabel organisatsioonidest (nt Kultuuriministeerium, Tervise Arengu Instituut), mis on seotud kõige suurema arvu tegevustega.</a:t>
            </a:r>
          </a:p>
          <a:p>
            <a:pPr lvl="0"/>
            <a:r>
              <a:rPr lang="et-EE" sz="1100" b="1" dirty="0"/>
              <a:t>Koostöövõrgustik (Matrix):</a:t>
            </a:r>
            <a:r>
              <a:rPr lang="et-EE" sz="1100" dirty="0"/>
              <a:t> Tabel, kus ridades on partnerid ja veergudes tegevuste tüübid. See näitab kohe ära, millised asutused teevad koos kõige rohkem projekte.</a:t>
            </a:r>
          </a:p>
          <a:p>
            <a:r>
              <a:rPr lang="et-EE" sz="1100" b="1" dirty="0"/>
              <a:t>3. Poliitikameetmete ja WHO (GAPPA) katvus</a:t>
            </a:r>
          </a:p>
          <a:p>
            <a:r>
              <a:rPr lang="et-EE" sz="1100" dirty="0"/>
              <a:t>Kuna tegevuskava aluseks on poliitikameetmed, on oluline näha, kas andmed katavad kõiki strateegilisi suundi ühtlaselt.</a:t>
            </a:r>
          </a:p>
          <a:p>
            <a:pPr lvl="0"/>
            <a:r>
              <a:rPr lang="et-EE" sz="1100" b="1" dirty="0"/>
              <a:t>Suundade katvus (Treemap):</a:t>
            </a:r>
            <a:r>
              <a:rPr lang="et-EE" sz="1100" dirty="0"/>
              <a:t> Suured värvilised kastid, mis näitavad, millisele poliitikameetmele või WHO sambale (nt </a:t>
            </a:r>
            <a:r>
              <a:rPr lang="et-EE" sz="1100" i="1" dirty="0"/>
              <a:t>Aktiivne keskkond</a:t>
            </a:r>
            <a:r>
              <a:rPr lang="et-EE" sz="1100" dirty="0"/>
              <a:t>, </a:t>
            </a:r>
            <a:r>
              <a:rPr lang="et-EE" sz="1100" i="1" dirty="0"/>
              <a:t>Aktiivsed inimesed</a:t>
            </a:r>
            <a:r>
              <a:rPr lang="et-EE" sz="1100" dirty="0"/>
              <a:t>, </a:t>
            </a:r>
            <a:r>
              <a:rPr lang="et-EE" sz="1100" i="1" dirty="0"/>
              <a:t>Aktiivsed süsteemid</a:t>
            </a:r>
            <a:r>
              <a:rPr lang="et-EE" sz="1100" dirty="0"/>
              <a:t>) on suunatud kõige rohkem tegevusi.</a:t>
            </a:r>
          </a:p>
          <a:p>
            <a:pPr lvl="0"/>
            <a:r>
              <a:rPr lang="et-EE" sz="1100" b="1" dirty="0"/>
              <a:t>Katvuse lüngad (Tulpdiagramm):</a:t>
            </a:r>
            <a:r>
              <a:rPr lang="et-EE" sz="1100" dirty="0"/>
              <a:t> Visuaal, mis toob esile meetmed, mille all on </a:t>
            </a:r>
            <a:r>
              <a:rPr lang="et-EE" sz="1100" b="1" dirty="0"/>
              <a:t>kõige vähem</a:t>
            </a:r>
            <a:r>
              <a:rPr lang="et-EE" sz="1100" dirty="0"/>
              <a:t> või üldse mitte ühtegi tegevust. See aitab otsustajatel näha, kuhu on vaja ressursse juurde suunata.</a:t>
            </a:r>
          </a:p>
          <a:p>
            <a:r>
              <a:rPr lang="et-EE" sz="1100" b="1" dirty="0"/>
              <a:t>4. Tõenduspõhised sekkumised ja mõju</a:t>
            </a:r>
          </a:p>
          <a:p>
            <a:r>
              <a:rPr lang="et-EE" sz="1100" dirty="0"/>
              <a:t>See osa keskendub tegevuste kvaliteedile – kas tegu on lihtsalt plaanidega või reaalsete teaduslikult tõestatud sekkumistega.</a:t>
            </a:r>
          </a:p>
          <a:p>
            <a:pPr lvl="0"/>
            <a:r>
              <a:rPr lang="et-EE" sz="1100" b="1" dirty="0"/>
              <a:t>Sekkumiste osakaal (Pie Chart):</a:t>
            </a:r>
            <a:r>
              <a:rPr lang="et-EE" sz="1100" dirty="0"/>
              <a:t> Võrdlus, kui mitu protsenti tegevustest põhinevad ametlikel "tõenduspõhistel sekkumistel" versus tavalistel jooksvatel tegevustel.</a:t>
            </a:r>
          </a:p>
          <a:p>
            <a:pPr lvl="0"/>
            <a:r>
              <a:rPr lang="et-EE" sz="1100" b="1" dirty="0"/>
              <a:t>Sekkumiste tüübid (Word Cloud või Tabel):</a:t>
            </a:r>
            <a:r>
              <a:rPr lang="et-EE" sz="1100" dirty="0"/>
              <a:t> Milliseid sekkumismeetodeid (nt koolitused, kampaaniad, taristu arendus) kõige sagedamini kasutatakse.</a:t>
            </a:r>
          </a:p>
          <a:p>
            <a:r>
              <a:rPr lang="et-EE" sz="1100" b="1" dirty="0"/>
              <a:t>5. Tegevuste ajajoon (Timeline &amp; Milestones)</a:t>
            </a:r>
          </a:p>
          <a:p>
            <a:pPr lvl="0"/>
            <a:r>
              <a:rPr lang="et-EE" sz="1100" b="1" dirty="0"/>
              <a:t>Gantti diagramm (Gantt Chart või Timeline Slicer):</a:t>
            </a:r>
            <a:r>
              <a:rPr lang="et-EE" sz="1100" dirty="0"/>
              <a:t> Kui andmetes on algus- ja lõpukuupäevad, kuva tegevused ajajoonel. See näitab, millised projektid peaksid praegusel hetkel (näiteks aastal 2026) olema aktiivsed või lõpetamisel.</a:t>
            </a:r>
          </a:p>
          <a:p>
            <a:endParaRPr lang="et-EE" sz="1100" dirty="0"/>
          </a:p>
        </p:txBody>
      </p:sp>
    </p:spTree>
    <p:extLst>
      <p:ext uri="{BB962C8B-B14F-4D97-AF65-F5344CB8AC3E}">
        <p14:creationId xmlns:p14="http://schemas.microsoft.com/office/powerpoint/2010/main" val="3905116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E545A2-0CFF-B217-A5CA-E290E5C884DB}"/>
              </a:ext>
            </a:extLst>
          </p:cNvPr>
          <p:cNvSpPr>
            <a:spLocks noGrp="1"/>
          </p:cNvSpPr>
          <p:nvPr>
            <p:ph sz="quarter" idx="10"/>
          </p:nvPr>
        </p:nvSpPr>
        <p:spPr>
          <a:xfrm>
            <a:off x="142875" y="85725"/>
            <a:ext cx="12049125" cy="5648325"/>
          </a:xfrm>
        </p:spPr>
        <p:txBody>
          <a:bodyPr/>
          <a:lstStyle/>
          <a:p>
            <a:pPr marL="0" indent="0">
              <a:buNone/>
            </a:pPr>
            <a:r>
              <a:rPr lang="et-EE" sz="1100" b="1" dirty="0"/>
              <a:t>ANDMEANALÜÜSI STRUKTUURIDOKUMENT: LIIKUMISAKTIIVSUSE TEGEVUSKAVA</a:t>
            </a:r>
          </a:p>
          <a:p>
            <a:pPr marL="0" indent="0">
              <a:buNone/>
            </a:pPr>
            <a:r>
              <a:rPr lang="et-EE" sz="1100" b="1" dirty="0"/>
              <a:t>1. Ettevõtte ja uurimisprobleemi tutvustus</a:t>
            </a:r>
          </a:p>
          <a:p>
            <a:pPr marL="0" lvl="0" indent="0">
              <a:buNone/>
            </a:pPr>
            <a:r>
              <a:rPr lang="et-EE" sz="1100" b="1" dirty="0"/>
              <a:t>Kontekst:</a:t>
            </a:r>
            <a:r>
              <a:rPr lang="et-EE" sz="1100" dirty="0"/>
              <a:t> SA Liikumisharrastuse Kompetentsikeskus haldab riiklikku "Liikumisaktiivsuse tegevuskava". Strateegia elluviimiseks on loodud avalik REST API, mis koondab andmeid tegevuste, partnerite ja poliitikate kohta.</a:t>
            </a:r>
          </a:p>
          <a:p>
            <a:pPr marL="0" lvl="0" indent="0">
              <a:buNone/>
            </a:pPr>
            <a:r>
              <a:rPr lang="et-EE" sz="1100" b="1" dirty="0"/>
              <a:t>Ärivajadus ja probleem:</a:t>
            </a:r>
            <a:r>
              <a:rPr lang="et-EE" sz="1100" dirty="0"/>
              <a:t> Strateegilised andmed on sisestatud manuaalselt erinevate osapoolte poolt, mistõttu on andmekvaliteet madal (segamini kuupäevaformaadid, topelttühikud, kirjavead partnerite nimedes). Juhtkonnal puudub reaalajas visuaalne ülevaade tegevuskava täitmisest, ressursside (partnerite) koormusest ja kriitilistest lünkadest poliitikameetmetes.</a:t>
            </a:r>
          </a:p>
          <a:p>
            <a:pPr marL="0" indent="0">
              <a:buNone/>
            </a:pPr>
            <a:r>
              <a:rPr lang="et-EE" sz="1100" b="1" dirty="0"/>
              <a:t>2. Ärisõnastik ja andmemudel (Olulised mõisted)</a:t>
            </a:r>
          </a:p>
          <a:p>
            <a:pPr marL="0" lvl="0" indent="0">
              <a:buNone/>
            </a:pPr>
            <a:r>
              <a:rPr lang="et-EE" sz="1100" b="1" dirty="0"/>
              <a:t>Tegevus (</a:t>
            </a:r>
            <a:r>
              <a:rPr lang="et-EE" sz="1100" b="1" i="1" dirty="0"/>
              <a:t>Activity</a:t>
            </a:r>
            <a:r>
              <a:rPr lang="et-EE" sz="1100" b="1" dirty="0"/>
              <a:t>):</a:t>
            </a:r>
            <a:r>
              <a:rPr lang="et-EE" sz="1100" dirty="0"/>
              <a:t> Konkreetne projekt, kampaania või algatus liikumisharrastuse edendamiseks.</a:t>
            </a:r>
          </a:p>
          <a:p>
            <a:pPr marL="0" lvl="0" indent="0">
              <a:buNone/>
            </a:pPr>
            <a:r>
              <a:rPr lang="et-EE" sz="1100" b="1" dirty="0"/>
              <a:t>Partnerorganisatsioon (</a:t>
            </a:r>
            <a:r>
              <a:rPr lang="et-EE" sz="1100" b="1" i="1" dirty="0"/>
              <a:t>Organization</a:t>
            </a:r>
            <a:r>
              <a:rPr lang="et-EE" sz="1100" b="1" dirty="0"/>
              <a:t>):</a:t>
            </a:r>
            <a:r>
              <a:rPr lang="et-EE" sz="1100" dirty="0"/>
              <a:t> Vastutav või kaasatud osapool (ministeerium, TAI, omavalitsus jne).</a:t>
            </a:r>
          </a:p>
          <a:p>
            <a:pPr marL="0" lvl="0" indent="0">
              <a:buNone/>
            </a:pPr>
            <a:r>
              <a:rPr lang="et-EE" sz="1100" b="1" dirty="0"/>
              <a:t>Poliitikameede / WHO GAPPA:</a:t>
            </a:r>
            <a:r>
              <a:rPr lang="et-EE" sz="1100" dirty="0"/>
              <a:t> Ülemaailmse liikumisaktiivsuse tegevuskava strateegilised sambad (Aktiivsed inimesed, keskkonnad, ühiskonnad, süsteemid).</a:t>
            </a:r>
          </a:p>
          <a:p>
            <a:pPr marL="0" lvl="0" indent="0">
              <a:buNone/>
            </a:pPr>
            <a:r>
              <a:rPr lang="et-EE" sz="1100" b="1" dirty="0"/>
              <a:t>Tõenduspõhine sekkumine (</a:t>
            </a:r>
            <a:r>
              <a:rPr lang="et-EE" sz="1100" b="1" i="1" dirty="0"/>
              <a:t>Intervention</a:t>
            </a:r>
            <a:r>
              <a:rPr lang="et-EE" sz="1100" b="1" dirty="0"/>
              <a:t>):</a:t>
            </a:r>
            <a:r>
              <a:rPr lang="et-EE" sz="1100" dirty="0"/>
              <a:t> Teaduslikult tõestatud mõjuga meetod, millele tegevus peab toetuma.</a:t>
            </a:r>
          </a:p>
          <a:p>
            <a:pPr marL="0" indent="0">
              <a:buNone/>
            </a:pPr>
            <a:r>
              <a:rPr lang="et-EE" sz="1100" b="1" dirty="0"/>
              <a:t>3. Allika ja andmevoogude kirjeldus</a:t>
            </a:r>
          </a:p>
          <a:p>
            <a:pPr marL="0" lvl="0" indent="0">
              <a:buNone/>
            </a:pPr>
            <a:r>
              <a:rPr lang="et-EE" sz="1100" b="1" dirty="0"/>
              <a:t>Andmeallikas:</a:t>
            </a:r>
            <a:r>
              <a:rPr lang="et-EE" sz="1100" dirty="0"/>
              <a:t> Avalik OpenAPI 3.0 REST API otspunktidega: </a:t>
            </a:r>
            <a:r>
              <a:rPr lang="et-EE" sz="1050" dirty="0"/>
              <a:t>https</a:t>
            </a:r>
            <a:r>
              <a:rPr lang="et-EE" sz="1100" dirty="0"/>
              <a:t>://liigume.ee</a:t>
            </a:r>
          </a:p>
          <a:p>
            <a:pPr marL="0" lvl="0" indent="0">
              <a:buNone/>
            </a:pPr>
            <a:r>
              <a:rPr lang="et-EE" sz="1100" b="1" dirty="0"/>
              <a:t>Andmevoog:</a:t>
            </a:r>
            <a:r>
              <a:rPr lang="et-EE" sz="1100" dirty="0"/>
              <a:t> Power BI laeb andmed veebiühenduse (</a:t>
            </a:r>
            <a:r>
              <a:rPr lang="et-EE" sz="1100" i="1" dirty="0"/>
              <a:t>Web.Contents</a:t>
            </a:r>
            <a:r>
              <a:rPr lang="et-EE" sz="1100" dirty="0"/>
              <a:t>) kaudu otse JSON-formaadis. Power Query teeb vajalikud andmetüüpide teisendused ja puhastuse ning laeb andmed mällu (andmemudelisse).</a:t>
            </a:r>
          </a:p>
          <a:p>
            <a:pPr marL="0" lvl="0" indent="0">
              <a:buNone/>
            </a:pPr>
            <a:r>
              <a:rPr lang="et-EE" sz="1100" b="1" dirty="0"/>
              <a:t>Andmekaitse (GDPR):</a:t>
            </a:r>
            <a:r>
              <a:rPr lang="et-EE" sz="1100" dirty="0"/>
              <a:t> API ei sisalda isikuandmeid ega individuaalseid seadmete (Garmin/Strava) mõõtmistulemusi. Andmed on täielikult avalikud ja strateegilised – risk andmekaitsele puudub.</a:t>
            </a:r>
          </a:p>
          <a:p>
            <a:pPr marL="0" indent="0">
              <a:buNone/>
            </a:pPr>
            <a:r>
              <a:rPr lang="et-EE" sz="1100" b="1" dirty="0"/>
              <a:t>4. Andmete kvaliteedi kontroll (Power Query reeglid)</a:t>
            </a:r>
          </a:p>
          <a:p>
            <a:pPr marL="0" indent="0">
              <a:buNone/>
            </a:pPr>
            <a:r>
              <a:rPr lang="et-EE" sz="1100" dirty="0"/>
              <a:t>Enne analüüsi rakendatakse järgmised puhastusreeglid:</a:t>
            </a:r>
          </a:p>
          <a:p>
            <a:pPr marL="0" lvl="0" indent="0">
              <a:buNone/>
            </a:pPr>
            <a:r>
              <a:rPr lang="et-EE" sz="1100" b="1" dirty="0"/>
              <a:t>Tekstide ühtlustamine:</a:t>
            </a:r>
            <a:r>
              <a:rPr lang="et-EE" sz="1100" dirty="0"/>
              <a:t> Rakendatakse Text.Trim ja Capitalize Each Word partnerorganisatsioonide nimedele, et vältida dubleerimist (nt "TAI" vs "tai").</a:t>
            </a:r>
          </a:p>
          <a:p>
            <a:pPr marL="0" lvl="0" indent="0">
              <a:buNone/>
            </a:pPr>
            <a:r>
              <a:rPr lang="et-EE" sz="1100" b="1" dirty="0"/>
              <a:t>Kuupäevade parandus:</a:t>
            </a:r>
            <a:r>
              <a:rPr lang="et-EE" sz="1100" dirty="0"/>
              <a:t> Punktidega kuupäevad (30.12.2023) asendatakse kriipsudega, tagamaks veatu andmetüübi muutmise (</a:t>
            </a:r>
            <a:r>
              <a:rPr lang="et-EE" sz="1100" i="1" dirty="0"/>
              <a:t>Date</a:t>
            </a:r>
            <a:r>
              <a:rPr lang="et-EE" sz="1100" dirty="0"/>
              <a:t>).</a:t>
            </a:r>
          </a:p>
          <a:p>
            <a:pPr marL="0" lvl="0" indent="0">
              <a:buNone/>
            </a:pPr>
            <a:r>
              <a:rPr lang="et-EE" sz="1100" b="1" dirty="0"/>
              <a:t>Tühjade väärtuste käsitlus:</a:t>
            </a:r>
            <a:r>
              <a:rPr lang="et-EE" sz="1100" dirty="0"/>
              <a:t> Puuduvad seosed või null väärtused tekstiveergudes asendatakse väärtusega "Määramata".</a:t>
            </a:r>
          </a:p>
          <a:p>
            <a:pPr marL="0" indent="0">
              <a:buNone/>
            </a:pPr>
            <a:r>
              <a:rPr lang="et-EE" sz="1100" b="1" dirty="0"/>
              <a:t>5. Peamised mõõdikud (KPI-d)</a:t>
            </a:r>
          </a:p>
          <a:p>
            <a:pPr marL="0" lvl="0" indent="0">
              <a:buNone/>
            </a:pPr>
            <a:r>
              <a:rPr lang="et-EE" sz="1100" b="1" dirty="0"/>
              <a:t>Tegevuste koguarv:</a:t>
            </a:r>
            <a:r>
              <a:rPr lang="et-EE" sz="1100" dirty="0"/>
              <a:t> COUNT(SalesTable[SaleID]) (Mõõdab tegevuste mahtu).</a:t>
            </a:r>
          </a:p>
          <a:p>
            <a:pPr marL="0" lvl="0" indent="0">
              <a:buNone/>
            </a:pPr>
            <a:r>
              <a:rPr lang="et-EE" sz="1100" b="1" dirty="0"/>
              <a:t>Tegevuste täitmise %:</a:t>
            </a:r>
            <a:r>
              <a:rPr lang="et-EE" sz="1100" dirty="0"/>
              <a:t> Lõpetatud tegevuste suhe kõigisse planeeritud tegevustesse.</a:t>
            </a:r>
          </a:p>
          <a:p>
            <a:pPr marL="0" lvl="0" indent="0">
              <a:buNone/>
            </a:pPr>
            <a:r>
              <a:rPr lang="et-EE" sz="1100" b="1" dirty="0"/>
              <a:t>Tõenduspõhisuse määr (%):</a:t>
            </a:r>
            <a:r>
              <a:rPr lang="et-EE" sz="1100" dirty="0"/>
              <a:t> Teaduslike sekkumiste osakaal kõigist tegevustest (Eesmärk: &gt;50%).</a:t>
            </a:r>
          </a:p>
          <a:p>
            <a:pPr marL="0" lvl="0" indent="0">
              <a:buNone/>
            </a:pPr>
            <a:r>
              <a:rPr lang="et-EE" sz="1100" b="1" dirty="0"/>
              <a:t>Partneri koormusindeks:</a:t>
            </a:r>
            <a:r>
              <a:rPr lang="et-EE" sz="1100" dirty="0"/>
              <a:t> Tegevuste arv ühe partnerorganisatsiooni kohta.</a:t>
            </a:r>
          </a:p>
          <a:p>
            <a:pPr marL="0" indent="0">
              <a:buNone/>
            </a:pPr>
            <a:r>
              <a:rPr lang="et-EE" sz="1100" b="1" dirty="0"/>
              <a:t>6. Kirjeldav raport ja andmelugu (Visualiseerimine)</a:t>
            </a:r>
          </a:p>
          <a:p>
            <a:pPr marL="0" indent="0">
              <a:buNone/>
            </a:pPr>
            <a:r>
              <a:rPr lang="et-EE" sz="1100" dirty="0"/>
              <a:t>Raport luuakse ühelehelelisena ja see koosneb kolmest fookusest:</a:t>
            </a:r>
          </a:p>
          <a:p>
            <a:pPr marL="0" lvl="0" indent="0">
              <a:buNone/>
            </a:pPr>
            <a:r>
              <a:rPr lang="et-EE" sz="1100" b="1" dirty="0"/>
              <a:t>Ülevaatekaart (KPI-d):</a:t>
            </a:r>
            <a:r>
              <a:rPr lang="et-EE" sz="1100" dirty="0"/>
              <a:t> Tegevuste arv, täitmise progress ja tõenduspõhisuse suhtarv.</a:t>
            </a:r>
          </a:p>
          <a:p>
            <a:pPr marL="0" lvl="0" indent="0">
              <a:buNone/>
            </a:pPr>
            <a:r>
              <a:rPr lang="et-EE" sz="1100" b="1" dirty="0"/>
              <a:t>Katvuse analüüs (Treemap):</a:t>
            </a:r>
            <a:r>
              <a:rPr lang="et-EE" sz="1100" dirty="0"/>
              <a:t> Näitab visuaalselt ära, millised WHO sambad on tegevustega ülekoormatud ja kus haigutavad tühjad lüngad.</a:t>
            </a:r>
          </a:p>
          <a:p>
            <a:pPr marL="0" lvl="0" indent="0">
              <a:buNone/>
            </a:pPr>
            <a:r>
              <a:rPr lang="et-EE" sz="1100" b="1" dirty="0"/>
              <a:t>Partnerite edetabel (Bar Chart):</a:t>
            </a:r>
            <a:r>
              <a:rPr lang="et-EE" sz="1100" dirty="0"/>
              <a:t> Toob esile kõige suurema koormusega ministeeriumid ja asutused, võimaldades juhtkonnal ressursse paremini planeerida.</a:t>
            </a:r>
          </a:p>
          <a:p>
            <a:pPr marL="0" lvl="0" indent="0">
              <a:buNone/>
            </a:pPr>
            <a:r>
              <a:rPr lang="et-EE" sz="1050" b="1" dirty="0"/>
              <a:t>Partnerite koormus on väga kaldu:</a:t>
            </a:r>
            <a:r>
              <a:rPr lang="et-EE" sz="1050" dirty="0"/>
              <a:t> Kultuuriministeerium ja Tervise Arengu Instituut veavad kahepeale kokku peaaegu 60% kõigist tegevustest. Samal ajal on mitmed kohalikud omavalitsused märgitud vaid üksikute tegevuste juurde. See on hea koht, kus küsida, kas saaksime koormust paremini jagada.</a:t>
            </a:r>
          </a:p>
          <a:p>
            <a:pPr marL="0" lvl="0" indent="0">
              <a:buNone/>
            </a:pPr>
            <a:r>
              <a:rPr lang="et-EE" sz="1050" b="1" dirty="0"/>
              <a:t>Katmata lüngad WHO sammastes:</a:t>
            </a:r>
            <a:r>
              <a:rPr lang="et-EE" sz="1050" dirty="0"/>
              <a:t> Kui vaadata tegevuste jaotust WHO sammaste järgi, siis </a:t>
            </a:r>
            <a:r>
              <a:rPr lang="et-EE" sz="1050" i="1" dirty="0"/>
              <a:t>"Aktiivsed inimesed"</a:t>
            </a:r>
            <a:r>
              <a:rPr lang="et-EE" sz="1050" dirty="0"/>
              <a:t> ja </a:t>
            </a:r>
            <a:r>
              <a:rPr lang="et-EE" sz="1050" i="1" dirty="0"/>
              <a:t>"Aktiivne keskkond"</a:t>
            </a:r>
            <a:r>
              <a:rPr lang="et-EE" sz="1050" dirty="0"/>
              <a:t> on väga hästi kaetud (koolispordi projektid, kergliikusteed jne). Suur lünk on aga sambas </a:t>
            </a:r>
            <a:r>
              <a:rPr lang="et-EE" sz="1050" i="1" dirty="0"/>
              <a:t>"Aktiivsed süsteemid"</a:t>
            </a:r>
            <a:r>
              <a:rPr lang="et-EE" sz="1050" dirty="0"/>
              <a:t> – poliitikate ja andmekogude arendamisega seotud tegevusi on hetkel tabelis vaid näpuotsatäis.</a:t>
            </a:r>
          </a:p>
          <a:p>
            <a:pPr marL="0" lvl="0" indent="0">
              <a:buNone/>
            </a:pPr>
            <a:r>
              <a:rPr lang="et-EE" sz="1050" b="1" dirty="0"/>
              <a:t>Tõenduspõhiseid sekkumisi on vähe:</a:t>
            </a:r>
            <a:r>
              <a:rPr lang="et-EE" sz="1050" dirty="0"/>
              <a:t> Hetkel on ainult umbes 25% kõigist kirjas olevatest tegevustest reaalselt märgistatud kui "tõenduspõhised sekkumised". Ülejäänud on pigem tavalised jooksvad infokampaaniad või üritused. Kui meie eesmärk on teadusepõhisus, siis siin on meil kõvasti arenguruumi.</a:t>
            </a:r>
          </a:p>
          <a:p>
            <a:pPr marL="0" lvl="0" indent="0">
              <a:buNone/>
            </a:pPr>
            <a:endParaRPr lang="et-EE" sz="1100" dirty="0"/>
          </a:p>
          <a:p>
            <a:pPr marL="0" indent="0">
              <a:buNone/>
            </a:pPr>
            <a:endParaRPr lang="et-EE" sz="1100" dirty="0"/>
          </a:p>
        </p:txBody>
      </p:sp>
    </p:spTree>
    <p:extLst>
      <p:ext uri="{BB962C8B-B14F-4D97-AF65-F5344CB8AC3E}">
        <p14:creationId xmlns:p14="http://schemas.microsoft.com/office/powerpoint/2010/main" val="33662656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20C4E-BE21-E0C1-768D-D6ABAC2B3DE1}"/>
              </a:ext>
            </a:extLst>
          </p:cNvPr>
          <p:cNvSpPr>
            <a:spLocks noGrp="1"/>
          </p:cNvSpPr>
          <p:nvPr>
            <p:ph type="ctrTitle"/>
          </p:nvPr>
        </p:nvSpPr>
        <p:spPr/>
        <p:txBody>
          <a:bodyPr/>
          <a:lstStyle/>
          <a:p>
            <a:r>
              <a:rPr lang="en-GB" dirty="0" err="1"/>
              <a:t>Kuupäeva</a:t>
            </a:r>
            <a:r>
              <a:rPr lang="en-GB" dirty="0"/>
              <a:t> </a:t>
            </a:r>
            <a:r>
              <a:rPr lang="en-GB" dirty="0" err="1"/>
              <a:t>tabeli</a:t>
            </a:r>
            <a:r>
              <a:rPr lang="en-GB" dirty="0"/>
              <a:t> </a:t>
            </a:r>
            <a:r>
              <a:rPr lang="en-GB" dirty="0" err="1"/>
              <a:t>lisamine</a:t>
            </a:r>
            <a:endParaRPr lang="et-EE" dirty="0"/>
          </a:p>
        </p:txBody>
      </p:sp>
      <p:sp>
        <p:nvSpPr>
          <p:cNvPr id="4" name="Content Placeholder 3">
            <a:extLst>
              <a:ext uri="{FF2B5EF4-FFF2-40B4-BE49-F238E27FC236}">
                <a16:creationId xmlns:a16="http://schemas.microsoft.com/office/drawing/2014/main" id="{56540149-830D-1CCA-E890-A0D120941A6C}"/>
              </a:ext>
            </a:extLst>
          </p:cNvPr>
          <p:cNvSpPr>
            <a:spLocks noGrp="1"/>
          </p:cNvSpPr>
          <p:nvPr>
            <p:ph sz="quarter" idx="10"/>
          </p:nvPr>
        </p:nvSpPr>
        <p:spPr>
          <a:xfrm>
            <a:off x="623888" y="1196181"/>
            <a:ext cx="10721445" cy="4465637"/>
          </a:xfrm>
        </p:spPr>
        <p:txBody>
          <a:bodyPr/>
          <a:lstStyle/>
          <a:p>
            <a:pPr marL="0" indent="0">
              <a:buNone/>
            </a:pPr>
            <a:r>
              <a:rPr lang="en-GB" sz="1100" b="1" dirty="0"/>
              <a:t>NEW TABLE</a:t>
            </a:r>
          </a:p>
          <a:p>
            <a:pPr marL="0" indent="0">
              <a:buNone/>
            </a:pPr>
            <a:endParaRPr lang="en-GB" sz="1100" b="1" dirty="0"/>
          </a:p>
          <a:p>
            <a:pPr marL="0" indent="0">
              <a:buNone/>
            </a:pPr>
            <a:endParaRPr lang="en-GB" sz="1100" b="1" dirty="0"/>
          </a:p>
          <a:p>
            <a:pPr marL="0" indent="0">
              <a:buNone/>
            </a:pPr>
            <a:endParaRPr lang="en-GB" sz="1100" dirty="0"/>
          </a:p>
          <a:p>
            <a:pPr marL="0" indent="0">
              <a:buNone/>
            </a:pPr>
            <a:r>
              <a:rPr lang="en-GB" sz="1200" dirty="0" err="1"/>
              <a:t>dim_date</a:t>
            </a:r>
            <a:r>
              <a:rPr lang="en-GB" sz="1200" dirty="0"/>
              <a:t> = SELECTCOLUMNS (</a:t>
            </a:r>
          </a:p>
          <a:p>
            <a:pPr marL="0" indent="0">
              <a:buNone/>
            </a:pPr>
            <a:r>
              <a:rPr lang="en-GB" sz="1200" dirty="0"/>
              <a:t>    CALENDAR ( DATE ( 2023, 1, 1 ), DATE ( 2030, 12, 31 ) ),</a:t>
            </a:r>
          </a:p>
          <a:p>
            <a:pPr marL="0" indent="0">
              <a:buNone/>
            </a:pPr>
            <a:r>
              <a:rPr lang="en-GB" sz="1200" dirty="0"/>
              <a:t>    "</a:t>
            </a:r>
            <a:r>
              <a:rPr lang="en-GB" sz="1200" dirty="0" err="1"/>
              <a:t>Kuupäev</a:t>
            </a:r>
            <a:r>
              <a:rPr lang="en-GB" sz="1200" dirty="0"/>
              <a:t>", [Date]</a:t>
            </a:r>
          </a:p>
          <a:p>
            <a:pPr marL="0" indent="0">
              <a:buNone/>
            </a:pPr>
            <a:r>
              <a:rPr lang="en-GB" sz="1200" dirty="0"/>
              <a:t>)</a:t>
            </a:r>
          </a:p>
          <a:p>
            <a:pPr marL="0" indent="0">
              <a:buNone/>
            </a:pPr>
            <a:endParaRPr lang="en-GB" dirty="0"/>
          </a:p>
          <a:p>
            <a:pPr marL="0" indent="0">
              <a:buNone/>
            </a:pPr>
            <a:endParaRPr lang="en-GB" dirty="0"/>
          </a:p>
          <a:p>
            <a:pPr marL="0" indent="0">
              <a:buNone/>
            </a:pPr>
            <a:endParaRPr lang="en-GB" sz="1100" dirty="0"/>
          </a:p>
          <a:p>
            <a:pPr marL="0" indent="0">
              <a:buNone/>
            </a:pPr>
            <a:r>
              <a:rPr lang="en-GB" sz="1100" dirty="0" err="1"/>
              <a:t>Paranda</a:t>
            </a:r>
            <a:r>
              <a:rPr lang="en-GB" sz="1100" dirty="0"/>
              <a:t> </a:t>
            </a:r>
            <a:r>
              <a:rPr lang="en-GB" sz="1100" dirty="0" err="1"/>
              <a:t>andmetüübid</a:t>
            </a:r>
            <a:endParaRPr lang="en-GB" sz="1100" dirty="0"/>
          </a:p>
          <a:p>
            <a:pPr marL="0" indent="0">
              <a:buNone/>
            </a:pPr>
            <a:r>
              <a:rPr lang="en-GB" sz="1100" dirty="0"/>
              <a:t>Tee </a:t>
            </a:r>
            <a:r>
              <a:rPr lang="en-GB" sz="1100" dirty="0" err="1"/>
              <a:t>seos</a:t>
            </a:r>
            <a:endParaRPr lang="en-GB" sz="1100" dirty="0"/>
          </a:p>
          <a:p>
            <a:pPr marL="0" indent="0">
              <a:buNone/>
            </a:pPr>
            <a:endParaRPr lang="en-GB" sz="1100" dirty="0"/>
          </a:p>
        </p:txBody>
      </p:sp>
      <p:pic>
        <p:nvPicPr>
          <p:cNvPr id="15" name="Picture 14">
            <a:extLst>
              <a:ext uri="{FF2B5EF4-FFF2-40B4-BE49-F238E27FC236}">
                <a16:creationId xmlns:a16="http://schemas.microsoft.com/office/drawing/2014/main" id="{E1D34C07-E4BC-89D1-BD36-C25701C0FE1F}"/>
              </a:ext>
            </a:extLst>
          </p:cNvPr>
          <p:cNvPicPr>
            <a:picLocks noChangeAspect="1"/>
          </p:cNvPicPr>
          <p:nvPr/>
        </p:nvPicPr>
        <p:blipFill>
          <a:blip r:embed="rId2"/>
          <a:stretch>
            <a:fillRect/>
          </a:stretch>
        </p:blipFill>
        <p:spPr>
          <a:xfrm>
            <a:off x="5808783" y="608040"/>
            <a:ext cx="5759329" cy="2607063"/>
          </a:xfrm>
          <a:prstGeom prst="rect">
            <a:avLst/>
          </a:prstGeom>
        </p:spPr>
      </p:pic>
      <p:pic>
        <p:nvPicPr>
          <p:cNvPr id="17" name="Picture 16">
            <a:extLst>
              <a:ext uri="{FF2B5EF4-FFF2-40B4-BE49-F238E27FC236}">
                <a16:creationId xmlns:a16="http://schemas.microsoft.com/office/drawing/2014/main" id="{B1420541-4114-C92A-7D6E-D61E6360972C}"/>
              </a:ext>
            </a:extLst>
          </p:cNvPr>
          <p:cNvPicPr>
            <a:picLocks noChangeAspect="1"/>
          </p:cNvPicPr>
          <p:nvPr/>
        </p:nvPicPr>
        <p:blipFill>
          <a:blip r:embed="rId3"/>
          <a:stretch>
            <a:fillRect/>
          </a:stretch>
        </p:blipFill>
        <p:spPr>
          <a:xfrm>
            <a:off x="2794176" y="3428999"/>
            <a:ext cx="5325533" cy="2446715"/>
          </a:xfrm>
          <a:prstGeom prst="rect">
            <a:avLst/>
          </a:prstGeom>
        </p:spPr>
      </p:pic>
      <p:pic>
        <p:nvPicPr>
          <p:cNvPr id="19" name="Picture 18">
            <a:extLst>
              <a:ext uri="{FF2B5EF4-FFF2-40B4-BE49-F238E27FC236}">
                <a16:creationId xmlns:a16="http://schemas.microsoft.com/office/drawing/2014/main" id="{2CE89CC0-8EA6-2524-0E9E-F98532F871E9}"/>
              </a:ext>
            </a:extLst>
          </p:cNvPr>
          <p:cNvPicPr>
            <a:picLocks noChangeAspect="1"/>
          </p:cNvPicPr>
          <p:nvPr/>
        </p:nvPicPr>
        <p:blipFill>
          <a:blip r:embed="rId4"/>
          <a:stretch>
            <a:fillRect/>
          </a:stretch>
        </p:blipFill>
        <p:spPr>
          <a:xfrm>
            <a:off x="216076" y="4012451"/>
            <a:ext cx="2146124" cy="2237508"/>
          </a:xfrm>
          <a:prstGeom prst="rect">
            <a:avLst/>
          </a:prstGeom>
        </p:spPr>
      </p:pic>
    </p:spTree>
    <p:extLst>
      <p:ext uri="{BB962C8B-B14F-4D97-AF65-F5344CB8AC3E}">
        <p14:creationId xmlns:p14="http://schemas.microsoft.com/office/powerpoint/2010/main" val="1979195442"/>
      </p:ext>
    </p:extLst>
  </p:cSld>
  <p:clrMapOvr>
    <a:masterClrMapping/>
  </p:clrMapOvr>
</p:sld>
</file>

<file path=ppt/theme/theme1.xml><?xml version="1.0" encoding="utf-8"?>
<a:theme xmlns:a="http://schemas.openxmlformats.org/drawingml/2006/main" name="BCS">
  <a:themeElements>
    <a:clrScheme name="Custom 18">
      <a:dk1>
        <a:srgbClr val="121212"/>
      </a:dk1>
      <a:lt1>
        <a:srgbClr val="FFFFFF"/>
      </a:lt1>
      <a:dk2>
        <a:srgbClr val="584FF5"/>
      </a:dk2>
      <a:lt2>
        <a:srgbClr val="F2F2F2"/>
      </a:lt2>
      <a:accent1>
        <a:srgbClr val="584FF5"/>
      </a:accent1>
      <a:accent2>
        <a:srgbClr val="EC6249"/>
      </a:accent2>
      <a:accent3>
        <a:srgbClr val="FAE060"/>
      </a:accent3>
      <a:accent4>
        <a:srgbClr val="54BA77"/>
      </a:accent4>
      <a:accent5>
        <a:srgbClr val="F0F0FF"/>
      </a:accent5>
      <a:accent6>
        <a:srgbClr val="EEF7F5"/>
      </a:accent6>
      <a:hlink>
        <a:srgbClr val="121212"/>
      </a:hlink>
      <a:folHlink>
        <a:srgbClr val="121212"/>
      </a:folHlink>
    </a:clrScheme>
    <a:fontScheme name="Custom 28">
      <a:majorFont>
        <a:latin typeface="Inter Bold"/>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4D27B8FA8976546BCD79313C588588D" ma:contentTypeVersion="8" ma:contentTypeDescription="Create a new document." ma:contentTypeScope="" ma:versionID="a112c56f6fe148a79025c76584832af0">
  <xsd:schema xmlns:xsd="http://www.w3.org/2001/XMLSchema" xmlns:xs="http://www.w3.org/2001/XMLSchema" xmlns:p="http://schemas.microsoft.com/office/2006/metadata/properties" xmlns:ns2="a1a2d923-8fea-42f1-bd41-9cdfff65694e" targetNamespace="http://schemas.microsoft.com/office/2006/metadata/properties" ma:root="true" ma:fieldsID="97c8655d467eaa9470a714421e7268c0" ns2:_="">
    <xsd:import namespace="a1a2d923-8fea-42f1-bd41-9cdfff65694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a2d923-8fea-42f1-bd41-9cdfff65694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CF4F972-2392-44D0-AA45-41AC4FDC4A59}">
  <ds:schemaRefs>
    <ds:schemaRef ds:uri="a1a2d923-8fea-42f1-bd41-9cdfff65694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BDF4908-A52A-47DD-A794-6E02D71942FC}">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9DC439CA-6F1C-4005-ACA6-A52E04DEE0A7}">
  <ds:schemaRefs>
    <ds:schemaRef ds:uri="http://schemas.microsoft.com/sharepoint/v3/contenttype/forms"/>
  </ds:schemaRefs>
</ds:datastoreItem>
</file>

<file path=docMetadata/LabelInfo.xml><?xml version="1.0" encoding="utf-8"?>
<clbl:labelList xmlns:clbl="http://schemas.microsoft.com/office/2020/mipLabelMetadata">
  <clbl:label id="{4fc69ca6-ce6b-4059-8ad9-2049c3c135b3}" enabled="0" method="" siteId="{4fc69ca6-ce6b-4059-8ad9-2049c3c135b3}" removed="1"/>
</clbl:labelList>
</file>

<file path=docProps/app.xml><?xml version="1.0" encoding="utf-8"?>
<Properties xmlns="http://schemas.openxmlformats.org/officeDocument/2006/extended-properties" xmlns:vt="http://schemas.openxmlformats.org/officeDocument/2006/docPropsVTypes">
  <TotalTime>826</TotalTime>
  <Words>4567</Words>
  <Application>Microsoft Office PowerPoint</Application>
  <PresentationFormat>Widescreen</PresentationFormat>
  <Paragraphs>329</Paragraphs>
  <Slides>24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Inter</vt:lpstr>
      <vt:lpstr>Poppins SemiBold</vt:lpstr>
      <vt:lpstr>Arial</vt:lpstr>
      <vt:lpstr>Google Sans</vt:lpstr>
      <vt:lpstr>Calibri</vt:lpstr>
      <vt:lpstr>Inter Bold</vt:lpstr>
      <vt:lpstr>BCS</vt:lpstr>
      <vt:lpstr>Vali Andmetarkus!</vt:lpstr>
      <vt:lpstr>Päevakava - XIII päev</vt:lpstr>
      <vt:lpstr>Analüütika tööriistad</vt:lpstr>
      <vt:lpstr>Analüütika tööriistade hinnad</vt:lpstr>
      <vt:lpstr>Kas Power BI või on midagi veel vaja?</vt:lpstr>
      <vt:lpstr>Millal vaja midagi sinna juurde?</vt:lpstr>
      <vt:lpstr>PowerPoint Presentation</vt:lpstr>
      <vt:lpstr>Kaasaegse andmeplatvormi põhikomponendid</vt:lpstr>
      <vt:lpstr>Populaarsed andmeplatvormide tehnoloogiad </vt:lpstr>
      <vt:lpstr>Võrdlus: põhimõtted</vt:lpstr>
      <vt:lpstr>Võrdlus: hind, tugevused, nõrkused</vt:lpstr>
      <vt:lpstr>Paus 10:30-10:45</vt:lpstr>
      <vt:lpstr>Power BI hinnastamine</vt:lpstr>
      <vt:lpstr>Andmeplatvormide hinnastamine</vt:lpstr>
      <vt:lpstr>Hinnastamine: näide erinevate lahenduste puhul</vt:lpstr>
      <vt:lpstr>Kuidas valida?</vt:lpstr>
      <vt:lpstr>Lõunapaus 12:15-13:15</vt:lpstr>
      <vt:lpstr>Harjutus</vt:lpstr>
      <vt:lpstr>Paus 14:45-15:00</vt:lpstr>
      <vt:lpstr>Harjutus 2 Avaandmete kasutamine raportis: json formaadis töötlemine </vt:lpstr>
      <vt:lpstr>PowerPoint Presentation</vt:lpstr>
      <vt:lpstr>PowerPoint Presentation</vt:lpstr>
      <vt:lpstr>PowerPoint Presentation</vt:lpstr>
      <vt:lpstr>Kuupäeva tabeli lisamine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Emilie Abel</cp:lastModifiedBy>
  <cp:revision>9</cp:revision>
  <dcterms:created xsi:type="dcterms:W3CDTF">2021-08-27T11:35:28Z</dcterms:created>
  <dcterms:modified xsi:type="dcterms:W3CDTF">2026-09-03T06:13:53Z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0x010100C4D27B8FA8976546BCD79313C588588D</vt:lpwstr>
  </property>
</Properties>
</file>