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8"/>
  </p:notesMasterIdLst>
  <p:handoutMasterIdLst>
    <p:handoutMasterId r:id="rId49"/>
  </p:handoutMasterIdLst>
  <p:sldIdLst>
    <p:sldId id="417" r:id="rId5"/>
    <p:sldId id="457" r:id="rId6"/>
    <p:sldId id="447" r:id="rId7"/>
    <p:sldId id="669" r:id="rId8"/>
    <p:sldId id="449" r:id="rId9"/>
    <p:sldId id="644" r:id="rId10"/>
    <p:sldId id="641" r:id="rId11"/>
    <p:sldId id="643" r:id="rId12"/>
    <p:sldId id="448" r:id="rId13"/>
    <p:sldId id="579" r:id="rId14"/>
    <p:sldId id="670" r:id="rId15"/>
    <p:sldId id="580" r:id="rId16"/>
    <p:sldId id="257" r:id="rId17"/>
    <p:sldId id="258" r:id="rId18"/>
    <p:sldId id="259" r:id="rId19"/>
    <p:sldId id="260" r:id="rId20"/>
    <p:sldId id="261" r:id="rId21"/>
    <p:sldId id="672" r:id="rId22"/>
    <p:sldId id="674" r:id="rId23"/>
    <p:sldId id="484" r:id="rId24"/>
    <p:sldId id="603" r:id="rId25"/>
    <p:sldId id="638" r:id="rId26"/>
    <p:sldId id="639" r:id="rId27"/>
    <p:sldId id="640" r:id="rId28"/>
    <p:sldId id="635" r:id="rId29"/>
    <p:sldId id="267" r:id="rId30"/>
    <p:sldId id="265" r:id="rId31"/>
    <p:sldId id="271" r:id="rId32"/>
    <p:sldId id="272" r:id="rId33"/>
    <p:sldId id="273" r:id="rId34"/>
    <p:sldId id="268" r:id="rId35"/>
    <p:sldId id="269" r:id="rId36"/>
    <p:sldId id="270" r:id="rId37"/>
    <p:sldId id="673" r:id="rId38"/>
    <p:sldId id="503" r:id="rId39"/>
    <p:sldId id="666" r:id="rId40"/>
    <p:sldId id="667" r:id="rId41"/>
    <p:sldId id="668" r:id="rId42"/>
    <p:sldId id="460" r:id="rId43"/>
    <p:sldId id="581" r:id="rId44"/>
    <p:sldId id="671" r:id="rId45"/>
    <p:sldId id="450" r:id="rId46"/>
    <p:sldId id="461" r:id="rId47"/>
  </p:sldIdLst>
  <p:sldSz cx="12192000" cy="6858000"/>
  <p:notesSz cx="6858000" cy="9144000"/>
  <p:embeddedFontLst>
    <p:embeddedFont>
      <p:font typeface="Inter" panose="020B0604020202020204" charset="0"/>
      <p:regular r:id="rId50"/>
      <p:bold r:id="rId51"/>
      <p:italic r:id="rId52"/>
      <p:boldItalic r:id="rId53"/>
    </p:embeddedFont>
    <p:embeddedFont>
      <p:font typeface="Inter Bold" panose="020B0604020202020204" charset="0"/>
      <p:bold r:id="rId54"/>
    </p:embeddedFont>
    <p:embeddedFont>
      <p:font typeface="Poppins SemiBold" panose="00000700000000000000" pitchFamily="2" charset="-70"/>
      <p:bold r:id="rId55"/>
      <p:boldItalic r:id="rId5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>
        <p:scale>
          <a:sx n="50" d="100"/>
          <a:sy n="50" d="100"/>
        </p:scale>
        <p:origin x="12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4.fntdata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6/11/relationships/changesInfo" Target="changesInfos/changesInfo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7.fntdata"/><Relationship Id="rId8" Type="http://schemas.openxmlformats.org/officeDocument/2006/relationships/slide" Target="slides/slide4.xml"/><Relationship Id="rId51" Type="http://schemas.openxmlformats.org/officeDocument/2006/relationships/font" Target="fonts/font2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5.fntdata"/><Relationship Id="rId62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3.fntdata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378470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M-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päringukeel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Raporti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jagamine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Google Sheets</a:t>
            </a:r>
          </a:p>
          <a:p>
            <a:r>
              <a:rPr lang="en-GB" dirty="0">
                <a:solidFill>
                  <a:schemeClr val="accent4"/>
                </a:solidFill>
              </a:rPr>
              <a:t>Date Table</a:t>
            </a:r>
          </a:p>
          <a:p>
            <a:r>
              <a:rPr lang="en-GB" dirty="0">
                <a:solidFill>
                  <a:schemeClr val="accent4"/>
                </a:solidFill>
              </a:rPr>
              <a:t>Region Table</a:t>
            </a:r>
          </a:p>
          <a:p>
            <a:r>
              <a:rPr lang="en-GB" dirty="0">
                <a:solidFill>
                  <a:schemeClr val="accent4"/>
                </a:solidFill>
              </a:rPr>
              <a:t>Customer Table</a:t>
            </a:r>
          </a:p>
          <a:p>
            <a:r>
              <a:rPr lang="en-GB" dirty="0">
                <a:solidFill>
                  <a:schemeClr val="accent4"/>
                </a:solidFill>
              </a:rPr>
              <a:t>Sales Table</a:t>
            </a:r>
          </a:p>
          <a:p>
            <a:endParaRPr lang="en-GB" dirty="0">
              <a:solidFill>
                <a:schemeClr val="accent4"/>
              </a:solidFill>
            </a:endParaRPr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Product Table</a:t>
            </a:r>
          </a:p>
          <a:p>
            <a:r>
              <a:rPr lang="en-GB" dirty="0" err="1"/>
              <a:t>SalesRep</a:t>
            </a:r>
            <a:r>
              <a:rPr lang="en-GB" dirty="0"/>
              <a:t> Table</a:t>
            </a:r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/>
              <a:t>S</a:t>
            </a:r>
            <a:r>
              <a:rPr lang="en-GB" sz="1800" b="1" dirty="0" err="1"/>
              <a:t>alesTable</a:t>
            </a:r>
            <a:r>
              <a:rPr lang="en-GB" sz="1800" dirty="0"/>
              <a:t> </a:t>
            </a:r>
            <a:r>
              <a:rPr lang="et-EE" sz="1800" dirty="0"/>
              <a:t>https://docs.google.com/spreadsheets/d/1k1nHE1Fy5UFR5Kh7BPy-ASfnItSJ5DyUIuPZhL4qDU4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DateTable</a:t>
            </a:r>
            <a:r>
              <a:rPr lang="en-GB" sz="1800" dirty="0"/>
              <a:t> https://docs.google.com/spreadsheets/d/1ifSFIuK4WYbRo6vfcRmKUb0J8OCHsIP-hyY3Q3wLMoo</a:t>
            </a:r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    Source = GoogleSheets.Contents("https://docs.google.com/spreadsheets/d/1k1nHE1Fy5UFR5Kh7BPy-ASfnItSJ5DyUIuPZhL4qDU4/edit?usp=sharing"),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2843-84FC-6050-6780-3E1CF9056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Githu</a:t>
            </a:r>
            <a:r>
              <a:rPr lang="et-EE" dirty="0"/>
              <a:t>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5C53-3E1D-61A6-CE62-781555F7FC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800" dirty="0"/>
              <a:t>Product Table</a:t>
            </a:r>
          </a:p>
          <a:p>
            <a:r>
              <a:rPr lang="en-GB" sz="2800" dirty="0" err="1"/>
              <a:t>SalesRep</a:t>
            </a:r>
            <a:r>
              <a:rPr lang="en-GB" sz="2800" dirty="0"/>
              <a:t> Table</a:t>
            </a:r>
          </a:p>
          <a:p>
            <a:pPr marL="0" indent="0">
              <a:buNone/>
            </a:pPr>
            <a:endParaRPr lang="et-EE" sz="2800" dirty="0"/>
          </a:p>
          <a:p>
            <a:r>
              <a:rPr lang="et-EE" sz="2800" dirty="0"/>
              <a:t>Ava fail</a:t>
            </a:r>
          </a:p>
          <a:p>
            <a:r>
              <a:rPr lang="et-EE" sz="2800" dirty="0"/>
              <a:t>Vali Raw</a:t>
            </a:r>
          </a:p>
          <a:p>
            <a:r>
              <a:rPr lang="et-EE" sz="2800" dirty="0"/>
              <a:t>Kopeeri URL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71217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Lisame faili kas githubist või google sheets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https://docs.google.com/spreadsheets/d/1-6f2CkhuTtMPWjEdhKHPV_yHeeYV6zi5WnMR9mFKDkg/edit?usp=sharing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Faili import</a:t>
            </a:r>
          </a:p>
          <a:p>
            <a:pPr lvl="1"/>
            <a:r>
              <a:rPr lang="et-EE"/>
              <a:t>Arvutist</a:t>
            </a:r>
          </a:p>
          <a:p>
            <a:pPr lvl="1"/>
            <a:r>
              <a:rPr lang="et-EE"/>
              <a:t>Võrgust</a:t>
            </a:r>
          </a:p>
          <a:p>
            <a:r>
              <a:rPr lang="et-EE"/>
              <a:t>Andmete kontrollimine</a:t>
            </a:r>
          </a:p>
          <a:p>
            <a:pPr lvl="1"/>
            <a:r>
              <a:rPr lang="et-EE"/>
              <a:t>Column distribute, Qualitiy, Profile + visuaalne kontroll</a:t>
            </a:r>
          </a:p>
          <a:p>
            <a:r>
              <a:rPr lang="et-EE"/>
              <a:t>Andmete parandamine</a:t>
            </a:r>
          </a:p>
          <a:p>
            <a:pPr lvl="1"/>
            <a:r>
              <a:rPr lang="et-EE"/>
              <a:t>Päise rida</a:t>
            </a:r>
          </a:p>
          <a:p>
            <a:pPr lvl="1"/>
            <a:r>
              <a:rPr lang="et-EE"/>
              <a:t>Tühjad read</a:t>
            </a:r>
          </a:p>
          <a:p>
            <a:pPr lvl="1"/>
            <a:r>
              <a:rPr lang="et-EE"/>
              <a:t>Valed kpv eraldajad</a:t>
            </a:r>
          </a:p>
          <a:p>
            <a:pPr lvl="1"/>
            <a:r>
              <a:rPr lang="et-EE"/>
              <a:t>Valed komakoha eraldajad</a:t>
            </a:r>
          </a:p>
          <a:p>
            <a:pPr lvl="1"/>
            <a:r>
              <a:rPr lang="et-EE"/>
              <a:t>Valed sümbolid</a:t>
            </a:r>
          </a:p>
          <a:p>
            <a:r>
              <a:rPr lang="et-EE"/>
              <a:t>Andmete töötlemine ja andmemudel</a:t>
            </a:r>
          </a:p>
          <a:p>
            <a:pPr lvl="1"/>
            <a:r>
              <a:rPr lang="et-EE"/>
              <a:t>Dim, fakt</a:t>
            </a:r>
          </a:p>
          <a:p>
            <a:pPr lvl="1"/>
            <a:r>
              <a:rPr lang="et-EE"/>
              <a:t>Seosed, seose suund ja tüüp</a:t>
            </a:r>
          </a:p>
          <a:p>
            <a:pPr lvl="1"/>
            <a:r>
              <a:rPr lang="et-EE"/>
              <a:t>Tabelisse uus arvutatud Column</a:t>
            </a:r>
          </a:p>
          <a:p>
            <a:pPr lvl="1"/>
            <a:r>
              <a:rPr lang="et-EE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korrektsed, objektid organiseeritud, koristatud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1133</TotalTime>
  <Words>2123</Words>
  <Application>Microsoft Office PowerPoint</Application>
  <PresentationFormat>Widescreen</PresentationFormat>
  <Paragraphs>265</Paragraphs>
  <Slides>43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Courier New</vt:lpstr>
      <vt:lpstr>Inter</vt:lpstr>
      <vt:lpstr>Poppins SemiBold</vt:lpstr>
      <vt:lpstr>Arial</vt:lpstr>
      <vt:lpstr>Wingdings</vt:lpstr>
      <vt:lpstr>Calibri</vt:lpstr>
      <vt:lpstr>Inter Bold</vt:lpstr>
      <vt:lpstr>BCS</vt:lpstr>
      <vt:lpstr>Vali Andmetarkus!</vt:lpstr>
      <vt:lpstr>Päevakava - III päev</vt:lpstr>
      <vt:lpstr>Power BI – Päringud (M-language)</vt:lpstr>
      <vt:lpstr>PowerPoint Presentation</vt:lpstr>
      <vt:lpstr>Power BI – päringu kaudu tulpade lisamine</vt:lpstr>
      <vt:lpstr>Teeme veebipõhiseks</vt:lpstr>
      <vt:lpstr>Harjutus – muudame andmeallikad veebipõhiseks Google Sheets</vt:lpstr>
      <vt:lpstr>Github</vt:lpstr>
      <vt:lpstr>Power BI – Eelarve faili lisamine</vt:lpstr>
      <vt:lpstr>Paus 10:30-10:45</vt:lpstr>
      <vt:lpstr>Mida me POWER Bis õppinud oleme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Power BI Desktop – vormistame raporti</vt:lpstr>
      <vt:lpstr>Paus 14:45-15:00</vt:lpstr>
      <vt:lpstr>Raporti loetavuse parandamine</vt:lpstr>
      <vt:lpstr>Andmete visualiseerimise parimad praktikad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17</cp:revision>
  <dcterms:created xsi:type="dcterms:W3CDTF">2021-08-27T11:35:28Z</dcterms:created>
  <dcterms:modified xsi:type="dcterms:W3CDTF">2026-09-02T04:48:19Z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