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31"/>
  </p:notesMasterIdLst>
  <p:handoutMasterIdLst>
    <p:handoutMasterId r:id="rId32"/>
  </p:handoutMasterIdLst>
  <p:sldIdLst>
    <p:sldId id="417" r:id="rId5"/>
    <p:sldId id="457" r:id="rId6"/>
    <p:sldId id="447" r:id="rId7"/>
    <p:sldId id="644" r:id="rId8"/>
    <p:sldId id="641" r:id="rId9"/>
    <p:sldId id="643" r:id="rId10"/>
    <p:sldId id="448" r:id="rId11"/>
    <p:sldId id="579" r:id="rId12"/>
    <p:sldId id="449" r:id="rId13"/>
    <p:sldId id="580" r:id="rId14"/>
    <p:sldId id="450" r:id="rId15"/>
    <p:sldId id="603" r:id="rId16"/>
    <p:sldId id="638" r:id="rId17"/>
    <p:sldId id="639" r:id="rId18"/>
    <p:sldId id="640" r:id="rId19"/>
    <p:sldId id="484" r:id="rId20"/>
    <p:sldId id="635" r:id="rId21"/>
    <p:sldId id="588" r:id="rId22"/>
    <p:sldId id="666" r:id="rId23"/>
    <p:sldId id="667" r:id="rId24"/>
    <p:sldId id="668" r:id="rId25"/>
    <p:sldId id="460" r:id="rId26"/>
    <p:sldId id="461" r:id="rId27"/>
    <p:sldId id="581" r:id="rId28"/>
    <p:sldId id="503" r:id="rId29"/>
    <p:sldId id="642" r:id="rId30"/>
  </p:sldIdLst>
  <p:sldSz cx="12192000" cy="6858000"/>
  <p:notesSz cx="6858000" cy="9144000"/>
  <p:embeddedFontLst>
    <p:embeddedFont>
      <p:font typeface="Inter" panose="020B0604020202020204" charset="0"/>
      <p:regular r:id="rId33"/>
      <p:bold r:id="rId34"/>
      <p:italic r:id="rId35"/>
      <p:boldItalic r:id="rId36"/>
    </p:embeddedFont>
    <p:embeddedFont>
      <p:font typeface="Inter Bold" panose="020B0604020202020204" charset="0"/>
      <p:bold r:id="rId37"/>
    </p:embeddedFont>
    <p:embeddedFont>
      <p:font typeface="Poppins SemiBold" panose="00000700000000000000" pitchFamily="2" charset="-70"/>
      <p:bold r:id="rId38"/>
      <p:boldItalic r:id="rId39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1279FD-3AF9-4CBC-9324-F843398BA6C7}" v="18" dt="2026-08-25T10:58:04.3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3212" autoAdjust="0"/>
  </p:normalViewPr>
  <p:slideViewPr>
    <p:cSldViewPr snapToGrid="0">
      <p:cViewPr varScale="1">
        <p:scale>
          <a:sx n="51" d="100"/>
          <a:sy n="51" d="100"/>
        </p:scale>
        <p:origin x="117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7.fntdata"/><Relationship Id="rId21" Type="http://schemas.openxmlformats.org/officeDocument/2006/relationships/slide" Target="slides/slide17.xml"/><Relationship Id="rId34" Type="http://schemas.openxmlformats.org/officeDocument/2006/relationships/font" Target="fonts/font2.fntdata"/><Relationship Id="rId42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37" Type="http://schemas.openxmlformats.org/officeDocument/2006/relationships/font" Target="fonts/font5.fntdata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4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4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font" Target="fonts/font3.fntdata"/><Relationship Id="rId43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20" Type="http://schemas.openxmlformats.org/officeDocument/2006/relationships/slide" Target="slides/slide16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">
      <pc:chgData name="Emilie Abel" userId="20dec598-1860-40de-ab3f-181316cc4da6" providerId="ADAL" clId="{3EAE1975-14BE-41D5-9E3B-28573F0EE5DC}" dt="2026-08-26T07:05:09.415" v="693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07:08:49.032" v="28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07:08:47.170" v="27" actId="20577"/>
          <ac:spMkLst>
            <pc:docMk/>
            <pc:sldMk cId="4169291970" sldId="417"/>
            <ac:spMk id="5" creationId="{3496B8E7-2B01-285F-88ED-B3ADE66A3D31}"/>
          </ac:spMkLst>
        </pc:spChg>
      </pc:sldChg>
      <pc:sldChg chg="ord">
        <pc:chgData name="Emilie Abel" userId="20dec598-1860-40de-ab3f-181316cc4da6" providerId="ADAL" clId="{3EAE1975-14BE-41D5-9E3B-28573F0EE5DC}" dt="2026-08-25T09:23:10.353" v="74"/>
        <pc:sldMkLst>
          <pc:docMk/>
          <pc:sldMk cId="2033048184" sldId="44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961512564" sldId="450"/>
        </pc:sldMkLst>
      </pc:sldChg>
      <pc:sldChg chg="modSp mod">
        <pc:chgData name="Emilie Abel" userId="20dec598-1860-40de-ab3f-181316cc4da6" providerId="ADAL" clId="{3EAE1975-14BE-41D5-9E3B-28573F0EE5DC}" dt="2026-08-25T07:14:02.723" v="42" actId="20577"/>
        <pc:sldMkLst>
          <pc:docMk/>
          <pc:sldMk cId="3693905438" sldId="457"/>
        </pc:sldMkLst>
        <pc:graphicFrameChg chg="modGraphic">
          <ac:chgData name="Emilie Abel" userId="20dec598-1860-40de-ab3f-181316cc4da6" providerId="ADAL" clId="{3EAE1975-14BE-41D5-9E3B-28573F0EE5DC}" dt="2026-08-25T07:14:02.723" v="42" actId="20577"/>
          <ac:graphicFrameMkLst>
            <pc:docMk/>
            <pc:sldMk cId="3693905438" sldId="457"/>
            <ac:graphicFrameMk id="5" creationId="{62F3D34C-2699-76DE-4C1A-F379ABDEE53E}"/>
          </ac:graphicFrameMkLst>
        </pc:graphicFrameChg>
      </pc:sldChg>
      <pc:sldChg chg="modSp mod">
        <pc:chgData name="Emilie Abel" userId="20dec598-1860-40de-ab3f-181316cc4da6" providerId="ADAL" clId="{3EAE1975-14BE-41D5-9E3B-28573F0EE5DC}" dt="2026-08-25T11:50:29.576" v="682" actId="20577"/>
        <pc:sldMkLst>
          <pc:docMk/>
          <pc:sldMk cId="3558728410" sldId="461"/>
        </pc:sldMkLst>
        <pc:spChg chg="mod">
          <ac:chgData name="Emilie Abel" userId="20dec598-1860-40de-ab3f-181316cc4da6" providerId="ADAL" clId="{3EAE1975-14BE-41D5-9E3B-28573F0EE5DC}" dt="2026-08-25T11:50:29.576" v="682" actId="20577"/>
          <ac:spMkLst>
            <pc:docMk/>
            <pc:sldMk cId="3558728410" sldId="461"/>
            <ac:spMk id="3" creationId="{5B57BEB0-F68E-0C93-C7A0-ABBBB8146951}"/>
          </ac:spMkLst>
        </pc:spChg>
      </pc:sldChg>
      <pc:sldChg chg="del">
        <pc:chgData name="Emilie Abel" userId="20dec598-1860-40de-ab3f-181316cc4da6" providerId="ADAL" clId="{3EAE1975-14BE-41D5-9E3B-28573F0EE5DC}" dt="2026-08-25T10:57:53.110" v="380" actId="47"/>
        <pc:sldMkLst>
          <pc:docMk/>
          <pc:sldMk cId="1426166856" sldId="480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042153973" sldId="48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645323131" sldId="603"/>
        </pc:sldMkLst>
      </pc:sldChg>
      <pc:sldChg chg="del">
        <pc:chgData name="Emilie Abel" userId="20dec598-1860-40de-ab3f-181316cc4da6" providerId="ADAL" clId="{3EAE1975-14BE-41D5-9E3B-28573F0EE5DC}" dt="2026-08-25T10:57:56.334" v="381" actId="47"/>
        <pc:sldMkLst>
          <pc:docMk/>
          <pc:sldMk cId="3309601003" sldId="60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2519496009" sldId="635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73110062" sldId="638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213550379" sldId="63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797544648" sldId="640"/>
        </pc:sldMkLst>
      </pc:sldChg>
      <pc:sldChg chg="modSp mod">
        <pc:chgData name="Emilie Abel" userId="20dec598-1860-40de-ab3f-181316cc4da6" providerId="ADAL" clId="{3EAE1975-14BE-41D5-9E3B-28573F0EE5DC}" dt="2026-08-25T10:31:24.106" v="372" actId="20577"/>
        <pc:sldMkLst>
          <pc:docMk/>
          <pc:sldMk cId="2411427698" sldId="641"/>
        </pc:sldMkLst>
        <pc:spChg chg="mod">
          <ac:chgData name="Emilie Abel" userId="20dec598-1860-40de-ab3f-181316cc4da6" providerId="ADAL" clId="{3EAE1975-14BE-41D5-9E3B-28573F0EE5DC}" dt="2026-08-25T10:07:25.425" v="126" actId="20577"/>
          <ac:spMkLst>
            <pc:docMk/>
            <pc:sldMk cId="2411427698" sldId="641"/>
            <ac:spMk id="2" creationId="{1524985D-536E-5D52-E9A5-AA1E3944782F}"/>
          </ac:spMkLst>
        </pc:spChg>
        <pc:spChg chg="mod">
          <ac:chgData name="Emilie Abel" userId="20dec598-1860-40de-ab3f-181316cc4da6" providerId="ADAL" clId="{3EAE1975-14BE-41D5-9E3B-28573F0EE5DC}" dt="2026-08-25T10:31:24.106" v="372" actId="20577"/>
          <ac:spMkLst>
            <pc:docMk/>
            <pc:sldMk cId="2411427698" sldId="641"/>
            <ac:spMk id="3" creationId="{C53EAF1F-B8FA-F7FE-8F42-5998CE884202}"/>
          </ac:spMkLst>
        </pc:spChg>
      </pc:sldChg>
      <pc:sldChg chg="modSp new mod">
        <pc:chgData name="Emilie Abel" userId="20dec598-1860-40de-ab3f-181316cc4da6" providerId="ADAL" clId="{3EAE1975-14BE-41D5-9E3B-28573F0EE5DC}" dt="2026-08-26T07:05:09.415" v="693" actId="20577"/>
        <pc:sldMkLst>
          <pc:docMk/>
          <pc:sldMk cId="3184440662" sldId="642"/>
        </pc:sldMkLst>
        <pc:spChg chg="mod">
          <ac:chgData name="Emilie Abel" userId="20dec598-1860-40de-ab3f-181316cc4da6" providerId="ADAL" clId="{3EAE1975-14BE-41D5-9E3B-28573F0EE5DC}" dt="2026-08-26T07:05:09.415" v="693" actId="20577"/>
          <ac:spMkLst>
            <pc:docMk/>
            <pc:sldMk cId="3184440662" sldId="642"/>
            <ac:spMk id="2" creationId="{AA28F7D9-A61C-3BF0-60A4-85822C8A2C0A}"/>
          </ac:spMkLst>
        </pc:spChg>
        <pc:spChg chg="mod">
          <ac:chgData name="Emilie Abel" userId="20dec598-1860-40de-ab3f-181316cc4da6" providerId="ADAL" clId="{3EAE1975-14BE-41D5-9E3B-28573F0EE5DC}" dt="2026-08-25T11:48:51.581" v="619" actId="20577"/>
          <ac:spMkLst>
            <pc:docMk/>
            <pc:sldMk cId="3184440662" sldId="642"/>
            <ac:spMk id="3" creationId="{55318E02-D1F2-D7E8-A7D2-98280F35E3B2}"/>
          </ac:spMkLst>
        </pc:spChg>
      </pc:sldChg>
      <pc:sldChg chg="modSp new mod">
        <pc:chgData name="Emilie Abel" userId="20dec598-1860-40de-ab3f-181316cc4da6" providerId="ADAL" clId="{3EAE1975-14BE-41D5-9E3B-28573F0EE5DC}" dt="2026-08-25T10:05:21.303" v="99" actId="20577"/>
        <pc:sldMkLst>
          <pc:docMk/>
          <pc:sldMk cId="771217817" sldId="643"/>
        </pc:sldMkLst>
        <pc:spChg chg="mod">
          <ac:chgData name="Emilie Abel" userId="20dec598-1860-40de-ab3f-181316cc4da6" providerId="ADAL" clId="{3EAE1975-14BE-41D5-9E3B-28573F0EE5DC}" dt="2026-08-25T10:05:21.303" v="99" actId="20577"/>
          <ac:spMkLst>
            <pc:docMk/>
            <pc:sldMk cId="771217817" sldId="643"/>
            <ac:spMk id="2" creationId="{F4FB2843-84FC-6050-6780-3E1CF9056EB6}"/>
          </ac:spMkLst>
        </pc:spChg>
        <pc:spChg chg="mod">
          <ac:chgData name="Emilie Abel" userId="20dec598-1860-40de-ab3f-181316cc4da6" providerId="ADAL" clId="{3EAE1975-14BE-41D5-9E3B-28573F0EE5DC}" dt="2026-08-25T10:05:07.540" v="76"/>
          <ac:spMkLst>
            <pc:docMk/>
            <pc:sldMk cId="771217817" sldId="643"/>
            <ac:spMk id="3" creationId="{0B745C53-3E1D-61A6-CE62-781555F7FC02}"/>
          </ac:spMkLst>
        </pc:spChg>
      </pc:sldChg>
      <pc:sldChg chg="modSp new mod">
        <pc:chgData name="Emilie Abel" userId="20dec598-1860-40de-ab3f-181316cc4da6" providerId="ADAL" clId="{3EAE1975-14BE-41D5-9E3B-28573F0EE5DC}" dt="2026-08-25T10:31:36.491" v="379"/>
        <pc:sldMkLst>
          <pc:docMk/>
          <pc:sldMk cId="616072544" sldId="644"/>
        </pc:sldMkLst>
        <pc:spChg chg="mod">
          <ac:chgData name="Emilie Abel" userId="20dec598-1860-40de-ab3f-181316cc4da6" providerId="ADAL" clId="{3EAE1975-14BE-41D5-9E3B-28573F0EE5DC}" dt="2026-08-25T10:31:36.491" v="379"/>
          <ac:spMkLst>
            <pc:docMk/>
            <pc:sldMk cId="616072544" sldId="644"/>
            <ac:spMk id="3" creationId="{1590A32E-6C24-47B1-84E4-7C548BB3076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01.09.2026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7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8862987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942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DF933-BFB9-27D3-0A06-54399311E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798A3-F9BE-1F87-DE35-F0B237A62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996194-4EDA-7C56-21BE-C0BC2ED52B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3C18D4-5ABA-0A67-C066-259B68425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2125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4153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02533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01.09.2026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powerquery-m/" TargetMode="Externa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plotlib-journey.com/bonus/design-principle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ylon.com/blog/types-of-charts-graphs-examples-data-visualization" TargetMode="External"/><Relationship Id="rId2" Type="http://schemas.openxmlformats.org/officeDocument/2006/relationships/hyperlink" Target="https://www.polymersearch.com/blog/10-good-and-bad-examples-of-data-visualization" TargetMode="Externa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orytellingwithdata.com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stat.ee/et/statistikaamet/meist/konkurss-andmeparl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E5E7A-D9DC-2EB1-B038-C8FBD9772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55A0C-988F-422F-3820-660462E00D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Päevakava</a:t>
            </a:r>
            <a:r>
              <a:rPr lang="en-US" sz="3600" b="1">
                <a:ea typeface="+mj-lt"/>
                <a:cs typeface="+mj-lt"/>
              </a:rPr>
              <a:t> - III </a:t>
            </a:r>
            <a:r>
              <a:rPr lang="en-US" sz="3600" b="1" err="1">
                <a:ea typeface="+mj-lt"/>
                <a:cs typeface="+mj-lt"/>
              </a:rPr>
              <a:t>päev</a:t>
            </a:r>
            <a:endParaRPr lang="en-US" err="1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2F3D34C-2699-76DE-4C1A-F379ABDEE53E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937847010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M-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päringukeel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visuaalid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visualiseerimise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parimad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praktikad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Raporti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kirjeldamine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vormistamine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jagamine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Andmeloo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jutustamine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905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C55E8-FBF1-AD5D-6DA0-CBD58BBEB5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– </a:t>
            </a:r>
            <a:r>
              <a:rPr lang="en-US" err="1"/>
              <a:t>Päringud</a:t>
            </a:r>
            <a:r>
              <a:rPr lang="en-US"/>
              <a:t> (M-language)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7BB7F-4F12-0B50-CEE8-3F6E6A2C9EE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>
                <a:ea typeface="Inter"/>
              </a:rPr>
              <a:t>Power BI </a:t>
            </a:r>
            <a:r>
              <a:rPr lang="en-US" sz="2400" err="1">
                <a:ea typeface="Inter"/>
              </a:rPr>
              <a:t>päringukeel</a:t>
            </a:r>
            <a:r>
              <a:rPr lang="en-US" sz="2400">
                <a:ea typeface="Inter"/>
              </a:rPr>
              <a:t> </a:t>
            </a:r>
            <a:endParaRPr lang="en-US"/>
          </a:p>
          <a:p>
            <a:pPr>
              <a:lnSpc>
                <a:spcPct val="150000"/>
              </a:lnSpc>
            </a:pPr>
            <a:r>
              <a:rPr lang="en-US" sz="2400" err="1">
                <a:ea typeface="Inter"/>
              </a:rPr>
              <a:t>Juhend</a:t>
            </a:r>
            <a:r>
              <a:rPr lang="en-US" sz="2400">
                <a:ea typeface="Inter"/>
              </a:rPr>
              <a:t>: </a:t>
            </a:r>
            <a:r>
              <a:rPr lang="en-US" sz="2400">
                <a:ea typeface="+mn-lt"/>
                <a:cs typeface="+mn-lt"/>
                <a:hlinkClick r:id="rId2"/>
              </a:rPr>
              <a:t>Power Query M formula language reference - PowerQuery M | Microsoft Learn</a:t>
            </a:r>
          </a:p>
          <a:p>
            <a:pPr>
              <a:lnSpc>
                <a:spcPct val="150000"/>
              </a:lnSpc>
            </a:pPr>
            <a:r>
              <a:rPr lang="en-US" sz="2400" err="1">
                <a:ea typeface="+mn-lt"/>
                <a:cs typeface="+mn-lt"/>
              </a:rPr>
              <a:t>Leitav</a:t>
            </a:r>
            <a:r>
              <a:rPr lang="en-US" sz="2400">
                <a:ea typeface="+mn-lt"/>
                <a:cs typeface="+mn-lt"/>
              </a:rPr>
              <a:t>: Model View --&gt; Edit Query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>
                <a:ea typeface="+mn-lt"/>
                <a:cs typeface="+mn-lt"/>
              </a:rPr>
              <a:t>Paremal </a:t>
            </a:r>
            <a:r>
              <a:rPr lang="en-US" sz="2400" err="1">
                <a:ea typeface="+mn-lt"/>
                <a:cs typeface="+mn-lt"/>
              </a:rPr>
              <a:t>sammude</a:t>
            </a:r>
            <a:r>
              <a:rPr lang="en-US" sz="240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kaupa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>
                <a:ea typeface="+mn-lt"/>
                <a:cs typeface="+mn-lt"/>
              </a:rPr>
              <a:t>Advanced Editor – </a:t>
            </a:r>
            <a:r>
              <a:rPr lang="en-US" sz="2400" err="1">
                <a:ea typeface="+mn-lt"/>
                <a:cs typeface="+mn-lt"/>
              </a:rPr>
              <a:t>kogu</a:t>
            </a:r>
            <a:r>
              <a:rPr lang="en-US" sz="240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päring</a:t>
            </a:r>
          </a:p>
        </p:txBody>
      </p:sp>
    </p:spTree>
    <p:extLst>
      <p:ext uri="{BB962C8B-B14F-4D97-AF65-F5344CB8AC3E}">
        <p14:creationId xmlns:p14="http://schemas.microsoft.com/office/powerpoint/2010/main" val="27615348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FB7D-B6F0-73A1-D3C4-814B38B7CE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Teeme veebipõhiseks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0A32E-6C24-47B1-84E4-7C548BB3076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Google Sheets</a:t>
            </a:r>
          </a:p>
          <a:p>
            <a:r>
              <a:rPr lang="en-GB" dirty="0">
                <a:solidFill>
                  <a:schemeClr val="accent4"/>
                </a:solidFill>
              </a:rPr>
              <a:t>Date Table</a:t>
            </a:r>
          </a:p>
          <a:p>
            <a:r>
              <a:rPr lang="en-GB" dirty="0">
                <a:solidFill>
                  <a:schemeClr val="accent4"/>
                </a:solidFill>
              </a:rPr>
              <a:t>Region Table</a:t>
            </a:r>
          </a:p>
          <a:p>
            <a:r>
              <a:rPr lang="en-GB" dirty="0">
                <a:solidFill>
                  <a:schemeClr val="accent4"/>
                </a:solidFill>
              </a:rPr>
              <a:t>Budget Table</a:t>
            </a:r>
          </a:p>
          <a:p>
            <a:r>
              <a:rPr lang="en-GB" dirty="0">
                <a:solidFill>
                  <a:schemeClr val="accent4"/>
                </a:solidFill>
              </a:rPr>
              <a:t>Customer Table</a:t>
            </a:r>
          </a:p>
          <a:p>
            <a:r>
              <a:rPr lang="en-GB" dirty="0">
                <a:solidFill>
                  <a:schemeClr val="accent4"/>
                </a:solidFill>
              </a:rPr>
              <a:t>Sales Table</a:t>
            </a:r>
          </a:p>
          <a:p>
            <a:endParaRPr lang="en-GB" dirty="0">
              <a:solidFill>
                <a:schemeClr val="accent4"/>
              </a:solidFill>
            </a:endParaRPr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GB" dirty="0" err="1"/>
              <a:t>GitHUB</a:t>
            </a:r>
            <a:endParaRPr lang="en-GB" dirty="0"/>
          </a:p>
          <a:p>
            <a:r>
              <a:rPr lang="en-GB" dirty="0"/>
              <a:t>Product Table</a:t>
            </a:r>
          </a:p>
          <a:p>
            <a:r>
              <a:rPr lang="en-GB" dirty="0" err="1"/>
              <a:t>SalesRep</a:t>
            </a:r>
            <a:r>
              <a:rPr lang="en-GB" dirty="0"/>
              <a:t> Table</a:t>
            </a:r>
          </a:p>
          <a:p>
            <a:endParaRPr lang="en-GB" dirty="0"/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16072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4985D-536E-5D52-E9A5-AA1E394478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7" y="479570"/>
            <a:ext cx="11168719" cy="392789"/>
          </a:xfrm>
        </p:spPr>
        <p:txBody>
          <a:bodyPr/>
          <a:lstStyle/>
          <a:p>
            <a:r>
              <a:rPr lang="en-US" dirty="0" err="1"/>
              <a:t>Harjutus</a:t>
            </a:r>
            <a:r>
              <a:rPr lang="en-US" dirty="0"/>
              <a:t> – </a:t>
            </a:r>
            <a:r>
              <a:rPr lang="en-US" dirty="0" err="1"/>
              <a:t>muudame</a:t>
            </a:r>
            <a:r>
              <a:rPr lang="en-US" dirty="0"/>
              <a:t> </a:t>
            </a:r>
            <a:r>
              <a:rPr lang="en-US" dirty="0" err="1"/>
              <a:t>andmeallikad</a:t>
            </a:r>
            <a:r>
              <a:rPr lang="en-US" dirty="0"/>
              <a:t> </a:t>
            </a:r>
            <a:r>
              <a:rPr lang="en-US" dirty="0" err="1"/>
              <a:t>veebipõhiseks</a:t>
            </a:r>
            <a:br>
              <a:rPr lang="en-US" dirty="0"/>
            </a:br>
            <a:r>
              <a:rPr lang="en-US" dirty="0"/>
              <a:t>Google Sheets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EAF1F-B8FA-F7FE-8F42-5998CE88420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8857" y="1268413"/>
            <a:ext cx="11456081" cy="5110017"/>
          </a:xfrm>
        </p:spPr>
        <p:txBody>
          <a:bodyPr/>
          <a:lstStyle/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n-GB" sz="1800" dirty="0"/>
              <a:t>Logi google </a:t>
            </a:r>
            <a:r>
              <a:rPr lang="en-GB" sz="1800" dirty="0" err="1"/>
              <a:t>kontoga</a:t>
            </a:r>
            <a:r>
              <a:rPr lang="en-GB" sz="1800" dirty="0"/>
              <a:t> </a:t>
            </a:r>
            <a:r>
              <a:rPr lang="en-GB" sz="1800" dirty="0" err="1"/>
              <a:t>sisse</a:t>
            </a:r>
            <a:endParaRPr lang="en-GB" sz="1800" dirty="0"/>
          </a:p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SalesTable</a:t>
            </a:r>
            <a:r>
              <a:rPr lang="en-GB" sz="1800" dirty="0"/>
              <a:t> </a:t>
            </a:r>
            <a:r>
              <a:rPr lang="et-EE" sz="1800" dirty="0"/>
              <a:t>https://docs.google.com/spreadsheets/d/1k1nHE1Fy5UFR5Kh7BPy-ASfnItSJ5DyUIuPZhL4qDU4</a:t>
            </a: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RegionTable</a:t>
            </a:r>
            <a:r>
              <a:rPr lang="en-GB" sz="1800" b="1" dirty="0"/>
              <a:t> </a:t>
            </a:r>
            <a:r>
              <a:rPr lang="en-GB" sz="1800" dirty="0"/>
              <a:t>https://docs.google.com/spreadsheets/d/10p-3C7tUc516sCMkODM3qxajIpqN6UH6iYWjdLkLYfA</a:t>
            </a:r>
          </a:p>
          <a:p>
            <a:pPr marL="457200" lvl="1" indent="0">
              <a:buNone/>
            </a:pPr>
            <a:r>
              <a:rPr lang="en-GB" sz="1800" b="1" dirty="0" err="1"/>
              <a:t>CustomerTable</a:t>
            </a:r>
            <a:r>
              <a:rPr lang="en-GB" sz="1800" dirty="0"/>
              <a:t> https://docs.google.com/spreadsheets/d/1rDv2xJNgMjIu0_wftF9DcrAfeW5QGnSKQhkxu7ZRbKE</a:t>
            </a:r>
          </a:p>
          <a:p>
            <a:pPr marL="457200" lvl="1" indent="0">
              <a:buNone/>
            </a:pPr>
            <a:r>
              <a:rPr lang="en-GB" sz="1800" b="1" dirty="0" err="1"/>
              <a:t>DateTable</a:t>
            </a:r>
            <a:r>
              <a:rPr lang="en-GB" sz="1800" dirty="0"/>
              <a:t> https://docs.google.com/spreadsheets/d/1ifSFIuK4WYbRo6vfcRmKUb0J8OCHsIP-hyY3Q3wLMoo</a:t>
            </a:r>
          </a:p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t-EE" sz="1800" dirty="0"/>
              <a:t>let</a:t>
            </a:r>
          </a:p>
          <a:p>
            <a:pPr marL="457200" lvl="1" indent="0">
              <a:buNone/>
            </a:pPr>
            <a:r>
              <a:rPr lang="et-EE" sz="1800" dirty="0"/>
              <a:t>    Source = GoogleSheets.Contents("https://docs.google.com/spreadsheets/d/1k1nHE1Fy5UFR5Kh7BPy-ASfnItSJ5DyUIuPZhL4qDU4/edit?usp=sharing"),</a:t>
            </a:r>
          </a:p>
          <a:p>
            <a:pPr marL="457200" lvl="1" indent="0">
              <a:buNone/>
            </a:pPr>
            <a:r>
              <a:rPr lang="et-EE" sz="1800" dirty="0"/>
              <a:t>    SalesTable.csv_Table = Source{[name="SalesTable.csv",ItemKind="Table"]}[Data]</a:t>
            </a:r>
          </a:p>
          <a:p>
            <a:pPr marL="457200" lvl="1" indent="0">
              <a:buNone/>
            </a:pPr>
            <a:r>
              <a:rPr lang="et-EE" sz="1800" dirty="0"/>
              <a:t>in</a:t>
            </a:r>
          </a:p>
          <a:p>
            <a:pPr marL="457200" lvl="1" indent="0">
              <a:buNone/>
            </a:pPr>
            <a:r>
              <a:rPr lang="et-EE" sz="1800" dirty="0"/>
              <a:t>    SalesTable.csv_Table</a:t>
            </a:r>
          </a:p>
        </p:txBody>
      </p:sp>
    </p:spTree>
    <p:extLst>
      <p:ext uri="{BB962C8B-B14F-4D97-AF65-F5344CB8AC3E}">
        <p14:creationId xmlns:p14="http://schemas.microsoft.com/office/powerpoint/2010/main" val="2411427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B2843-84FC-6050-6780-3E1CF9056E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Githu</a:t>
            </a:r>
            <a:r>
              <a:rPr lang="et-EE" dirty="0"/>
              <a:t>b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45C53-3E1D-61A6-CE62-781555F7FC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/>
              <a:t>https://raw.githubusercontent.com/emilieabel/andmetarkus/refs/heads/main/Materjalid/Data%20sources/ProductTable.csv?token=GHSAT0AAAAAAEGG5H3OHIJ4SXRIYPKT5J6O2UNNCTA</a:t>
            </a:r>
          </a:p>
        </p:txBody>
      </p:sp>
    </p:spTree>
    <p:extLst>
      <p:ext uri="{BB962C8B-B14F-4D97-AF65-F5344CB8AC3E}">
        <p14:creationId xmlns:p14="http://schemas.microsoft.com/office/powerpoint/2010/main" val="771217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2BCF1-3C9A-3A58-37F2-D2D006BF1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1C9DA-68C6-2574-D71F-9682677EC8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– </a:t>
            </a:r>
            <a:r>
              <a:rPr lang="en-US" err="1"/>
              <a:t>Eelarve</a:t>
            </a:r>
            <a:r>
              <a:rPr lang="en-US"/>
              <a:t> </a:t>
            </a:r>
            <a:r>
              <a:rPr lang="en-US" err="1"/>
              <a:t>faili</a:t>
            </a:r>
            <a:r>
              <a:rPr lang="en-US"/>
              <a:t> </a:t>
            </a:r>
            <a:r>
              <a:rPr lang="en-US" err="1"/>
              <a:t>lisamine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27649-761C-3A2F-3446-721B53FB495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Ühendus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kuupäeva</a:t>
            </a:r>
            <a:r>
              <a:rPr lang="en-US" sz="2000">
                <a:ea typeface="Inter"/>
              </a:rPr>
              <a:t> (</a:t>
            </a:r>
            <a:r>
              <a:rPr lang="en-US" sz="2000" err="1">
                <a:ea typeface="Inter"/>
              </a:rPr>
              <a:t>eelarve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failis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kuu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esimene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päev</a:t>
            </a:r>
            <a:r>
              <a:rPr lang="en-US" sz="2000">
                <a:ea typeface="Inter"/>
              </a:rPr>
              <a:t>) ja </a:t>
            </a:r>
            <a:r>
              <a:rPr lang="en-US" sz="2000" err="1">
                <a:ea typeface="Inter"/>
              </a:rPr>
              <a:t>SalesRep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alusel</a:t>
            </a:r>
            <a:endParaRPr lang="en-US"/>
          </a:p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Eelarve</a:t>
            </a:r>
            <a:r>
              <a:rPr lang="en-US" sz="2000">
                <a:ea typeface="Inter"/>
              </a:rPr>
              <a:t> fail on </a:t>
            </a:r>
            <a:r>
              <a:rPr lang="en-US" sz="2000" err="1">
                <a:ea typeface="Inter"/>
              </a:rPr>
              <a:t>risttabeli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kujul</a:t>
            </a:r>
            <a:r>
              <a:rPr lang="en-US" sz="2000">
                <a:ea typeface="Inter"/>
              </a:rPr>
              <a:t> – </a:t>
            </a:r>
            <a:r>
              <a:rPr lang="en-US" sz="2000" err="1">
                <a:ea typeface="Inter"/>
              </a:rPr>
              <a:t>vajalik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muuta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lihttabeliks</a:t>
            </a:r>
            <a:endParaRPr lang="en-US" sz="2000" err="1"/>
          </a:p>
          <a:p>
            <a:pPr lvl="1" indent="-514350">
              <a:lnSpc>
                <a:spcPct val="150000"/>
              </a:lnSpc>
              <a:buAutoNum type="arabicPeriod"/>
            </a:pPr>
            <a:r>
              <a:rPr lang="en-US" sz="2000">
                <a:ea typeface="Inter"/>
              </a:rPr>
              <a:t>Promote Headers</a:t>
            </a:r>
            <a:endParaRPr lang="en-US" sz="2000"/>
          </a:p>
          <a:p>
            <a:pPr lvl="1" indent="-514350">
              <a:lnSpc>
                <a:spcPct val="150000"/>
              </a:lnSpc>
              <a:buAutoNum type="arabicPeriod"/>
            </a:pPr>
            <a:r>
              <a:rPr lang="en-US" sz="2000">
                <a:ea typeface="Inter"/>
              </a:rPr>
              <a:t>Vali </a:t>
            </a:r>
            <a:r>
              <a:rPr lang="en-US" sz="2000" err="1">
                <a:ea typeface="Inter"/>
              </a:rPr>
              <a:t>SalesRep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tulp</a:t>
            </a:r>
            <a:r>
              <a:rPr lang="en-US" sz="2000">
                <a:ea typeface="Inter"/>
              </a:rPr>
              <a:t> ja Unpivot other columns</a:t>
            </a:r>
          </a:p>
          <a:p>
            <a:pPr lvl="1" indent="-514350">
              <a:lnSpc>
                <a:spcPct val="150000"/>
              </a:lnSpc>
              <a:buAutoNum type="arabicPeriod"/>
            </a:pPr>
            <a:r>
              <a:rPr lang="en-US" sz="2000" err="1">
                <a:ea typeface="Inter"/>
              </a:rPr>
              <a:t>Vaata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üle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tulpade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formaat</a:t>
            </a:r>
          </a:p>
          <a:p>
            <a:pPr lvl="1" indent="-514350">
              <a:lnSpc>
                <a:spcPct val="150000"/>
              </a:lnSpc>
              <a:buAutoNum type="arabicPeriod"/>
            </a:pPr>
            <a:r>
              <a:rPr lang="en-US" sz="2000">
                <a:ea typeface="Inter"/>
              </a:rPr>
              <a:t>Nimeta </a:t>
            </a:r>
            <a:r>
              <a:rPr lang="en-US" sz="2000" err="1">
                <a:ea typeface="Inter"/>
              </a:rPr>
              <a:t>tulbad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kirjeldavate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nimedega</a:t>
            </a:r>
          </a:p>
          <a:p>
            <a:pPr lvl="1" indent="-514350">
              <a:lnSpc>
                <a:spcPct val="150000"/>
              </a:lnSpc>
              <a:buAutoNum type="arabicPeriod"/>
            </a:pPr>
            <a:r>
              <a:rPr lang="en-US" sz="2000">
                <a:ea typeface="Inter"/>
              </a:rPr>
              <a:t>Loo </a:t>
            </a:r>
            <a:r>
              <a:rPr lang="en-US" sz="2000" err="1">
                <a:ea typeface="Inter"/>
              </a:rPr>
              <a:t>ühendused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mudelis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teiste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tabelitega</a:t>
            </a:r>
          </a:p>
          <a:p>
            <a:pPr lvl="1" indent="-514350">
              <a:lnSpc>
                <a:spcPct val="150000"/>
              </a:lnSpc>
              <a:buAutoNum type="arabicPeriod"/>
            </a:pPr>
            <a:r>
              <a:rPr lang="en-US" sz="2000">
                <a:ea typeface="Inter"/>
              </a:rPr>
              <a:t>Loo </a:t>
            </a:r>
            <a:r>
              <a:rPr lang="en-US" sz="2000" err="1">
                <a:ea typeface="Inter"/>
              </a:rPr>
              <a:t>visuaalid</a:t>
            </a:r>
          </a:p>
        </p:txBody>
      </p:sp>
    </p:spTree>
    <p:extLst>
      <p:ext uri="{BB962C8B-B14F-4D97-AF65-F5344CB8AC3E}">
        <p14:creationId xmlns:p14="http://schemas.microsoft.com/office/powerpoint/2010/main" val="1699116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00673-B2ED-8144-8F2F-C8A3A2C57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DC3F9-BC59-F923-A2D9-857DEA278E2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E545A85-9D11-3167-DEC4-B510A6A1B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979717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737C5-6E00-3DCD-857E-9E3F1CA50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C413F-2097-0435-884E-DC88E14FF9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Power BI – </a:t>
            </a:r>
            <a:r>
              <a:rPr lang="en-US" dirty="0" err="1"/>
              <a:t>päringu</a:t>
            </a:r>
            <a:r>
              <a:rPr lang="en-US" dirty="0"/>
              <a:t> </a:t>
            </a:r>
            <a:r>
              <a:rPr lang="en-US" dirty="0" err="1"/>
              <a:t>kaudu</a:t>
            </a:r>
            <a:r>
              <a:rPr lang="en-US" dirty="0"/>
              <a:t> </a:t>
            </a:r>
            <a:r>
              <a:rPr lang="en-US" dirty="0" err="1"/>
              <a:t>tulpade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4D9C5-3791-BF32-C6DA-2B258420122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Mitmeid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võimalusi</a:t>
            </a:r>
            <a:r>
              <a:rPr lang="en-US" sz="2000" dirty="0">
                <a:ea typeface="Inter"/>
              </a:rPr>
              <a:t> uue </a:t>
            </a:r>
            <a:r>
              <a:rPr lang="en-US" sz="2000" dirty="0" err="1">
                <a:ea typeface="Inter"/>
              </a:rPr>
              <a:t>tulba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lisamiseks</a:t>
            </a:r>
            <a:endParaRPr lang="et-EE" sz="2000" dirty="0">
              <a:ea typeface="Inter"/>
            </a:endParaRP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Tühi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From examples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Dublicate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Split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Tulp </a:t>
            </a:r>
            <a:r>
              <a:rPr lang="en-US" sz="2000" dirty="0" err="1">
                <a:ea typeface="Inter"/>
              </a:rPr>
              <a:t>müügiesindaja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eesnime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jaoks</a:t>
            </a:r>
            <a:endParaRPr lang="en-US" sz="2000" dirty="0">
              <a:ea typeface="Inter"/>
            </a:endParaRPr>
          </a:p>
          <a:p>
            <a:pPr lvl="1" indent="-514350">
              <a:lnSpc>
                <a:spcPct val="150000"/>
              </a:lnSpc>
            </a:pPr>
            <a:r>
              <a:rPr lang="en-US" sz="2000" dirty="0">
                <a:ea typeface="Inter"/>
              </a:rPr>
              <a:t>Column from example</a:t>
            </a: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Trükime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esimesse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lahtrisse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mida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tahame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väärtusena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näha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PowerQuery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automaatselt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valemi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et </a:t>
            </a:r>
            <a:r>
              <a:rPr lang="en-US" sz="2000" dirty="0" err="1">
                <a:ea typeface="Inter"/>
              </a:rPr>
              <a:t>õige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loogika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rakendame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kõigile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ridadele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kas </a:t>
            </a:r>
            <a:r>
              <a:rPr lang="en-US" sz="2000" dirty="0" err="1">
                <a:ea typeface="Inter"/>
              </a:rPr>
              <a:t>tulid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korrektsed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väärtused</a:t>
            </a:r>
            <a:endParaRPr lang="en-US" sz="200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03304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C2242-2C8B-7D72-D812-D7A90CB18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F00C6-9E67-F7B5-9482-12F2FA61B5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6BDC649-FC18-AEC5-0827-D5FAAF4BD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3847127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AD23-21CF-7D29-8D66-636683571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095D8-D648-FA54-EB16-9C66278286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parimad</a:t>
            </a:r>
            <a:r>
              <a:rPr lang="en-US"/>
              <a:t> </a:t>
            </a:r>
            <a:r>
              <a:rPr lang="en-US" err="1"/>
              <a:t>praktikad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39F0EF-349F-BB4C-824A-C77DF0566A0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Eesmärgipärane</a:t>
            </a: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Arusaadav</a:t>
            </a:r>
            <a:r>
              <a:rPr lang="en-US" sz="2400">
                <a:solidFill>
                  <a:srgbClr val="000000"/>
                </a:solidFill>
                <a:ea typeface="Inter"/>
              </a:rPr>
              <a:t> –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lisada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pealkirjad</a:t>
            </a:r>
            <a:r>
              <a:rPr lang="en-US" sz="2400">
                <a:solidFill>
                  <a:srgbClr val="000000"/>
                </a:solidFill>
                <a:ea typeface="Inter"/>
              </a:rPr>
              <a:t>,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kirjeldused</a:t>
            </a: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Lihtne</a:t>
            </a:r>
            <a:r>
              <a:rPr lang="en-US" sz="2400">
                <a:solidFill>
                  <a:srgbClr val="000000"/>
                </a:solidFill>
                <a:ea typeface="Inter"/>
              </a:rPr>
              <a:t> -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ainult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mõistmiseks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vajalik</a:t>
            </a:r>
            <a:r>
              <a:rPr lang="en-US" sz="2400">
                <a:solidFill>
                  <a:srgbClr val="000000"/>
                </a:solidFill>
                <a:ea typeface="Inter"/>
              </a:rPr>
              <a:t>,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muu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eemaldada</a:t>
            </a: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Ligipääsetav</a:t>
            </a:r>
            <a:r>
              <a:rPr lang="en-US" sz="2400">
                <a:solidFill>
                  <a:srgbClr val="000000"/>
                </a:solidFill>
                <a:ea typeface="Inter"/>
              </a:rPr>
              <a:t> (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nt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värvipimedusega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arvestamine</a:t>
            </a:r>
            <a:r>
              <a:rPr lang="en-US" sz="2400">
                <a:solidFill>
                  <a:srgbClr val="000000"/>
                </a:solidFill>
                <a:ea typeface="Inter"/>
              </a:rPr>
              <a:t>)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>
                <a:solidFill>
                  <a:srgbClr val="000000"/>
                </a:solidFill>
                <a:ea typeface="Inter"/>
              </a:rPr>
              <a:t>Piisav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kontrast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tausta</a:t>
            </a:r>
            <a:r>
              <a:rPr lang="en-US" sz="2400">
                <a:solidFill>
                  <a:srgbClr val="000000"/>
                </a:solidFill>
                <a:ea typeface="Inter"/>
              </a:rPr>
              <a:t> ja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graafiku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värvide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vahel</a:t>
            </a: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Teljed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alustada</a:t>
            </a:r>
            <a:r>
              <a:rPr lang="en-US" sz="2400">
                <a:solidFill>
                  <a:srgbClr val="000000"/>
                </a:solidFill>
                <a:ea typeface="Inter"/>
              </a:rPr>
              <a:t> 0-st</a:t>
            </a: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Kasutaja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loeb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vasakult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ülevalt</a:t>
            </a:r>
            <a:r>
              <a:rPr lang="en-US" sz="2400">
                <a:solidFill>
                  <a:srgbClr val="000000"/>
                </a:solidFill>
                <a:ea typeface="Inter"/>
              </a:rPr>
              <a:t> 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paremale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alla</a:t>
            </a:r>
            <a:r>
              <a:rPr lang="en-US" sz="2400">
                <a:solidFill>
                  <a:srgbClr val="000000"/>
                </a:solidFill>
                <a:ea typeface="Inter"/>
              </a:rPr>
              <a:t> – info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samas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loogikas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esitada</a:t>
            </a:r>
            <a:endParaRPr lang="en-US" sz="2400" err="1"/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Visuaalide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võrdluse</a:t>
            </a:r>
            <a:r>
              <a:rPr lang="en-US" sz="2400">
                <a:solidFill>
                  <a:srgbClr val="000000"/>
                </a:solidFill>
                <a:ea typeface="Inter"/>
              </a:rPr>
              <a:t> test: 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  <a:hlinkClick r:id="rId3"/>
              </a:rPr>
              <a:t>Dataviz Design Principles</a:t>
            </a: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961512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9665-760D-358F-27BE-96E726B14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Kas see on </a:t>
            </a:r>
            <a:r>
              <a:rPr lang="en-US" err="1">
                <a:ea typeface="+mj-lt"/>
                <a:cs typeface="+mj-lt"/>
              </a:rPr>
              <a:t>hea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visuaal</a:t>
            </a:r>
            <a:r>
              <a:rPr lang="en-US">
                <a:ea typeface="+mj-lt"/>
                <a:cs typeface="+mj-lt"/>
              </a:rPr>
              <a:t> –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või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mitte</a:t>
            </a:r>
            <a:r>
              <a:rPr lang="en-US">
                <a:ea typeface="+mj-lt"/>
                <a:cs typeface="+mj-lt"/>
              </a:rPr>
              <a:t>?</a:t>
            </a:r>
            <a:endParaRPr lang="en-US">
              <a:solidFill>
                <a:srgbClr val="000000"/>
              </a:solidFill>
              <a:ea typeface="+mj-lt"/>
              <a:cs typeface="+mj-lt"/>
            </a:endParaRPr>
          </a:p>
          <a:p>
            <a:endParaRPr lang="en-US"/>
          </a:p>
        </p:txBody>
      </p:sp>
      <p:pic>
        <p:nvPicPr>
          <p:cNvPr id="4" name="Content Placeholder 3" descr="chart, pie chart">
            <a:extLst>
              <a:ext uri="{FF2B5EF4-FFF2-40B4-BE49-F238E27FC236}">
                <a16:creationId xmlns:a16="http://schemas.microsoft.com/office/drawing/2014/main" id="{0A6BB9F2-11DF-2DBD-BD78-2AD402C8967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465810" y="1268413"/>
            <a:ext cx="5257205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3231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70693-807C-0582-E2F8-D70C2E33A1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D13E-E6C1-F13D-85FB-D41B6EB0BA6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4A489-80BB-9D68-E783-307EEB75483F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4" descr="A graph of co2 emissions&#10;&#10;AI-generated content may be incorrect.">
            <a:extLst>
              <a:ext uri="{FF2B5EF4-FFF2-40B4-BE49-F238E27FC236}">
                <a16:creationId xmlns:a16="http://schemas.microsoft.com/office/drawing/2014/main" id="{42F28992-9372-2820-2AA9-A223EC4F3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279" y="1266546"/>
            <a:ext cx="5181752" cy="4159478"/>
          </a:xfrm>
          <a:prstGeom prst="rect">
            <a:avLst/>
          </a:prstGeom>
        </p:spPr>
      </p:pic>
      <p:pic>
        <p:nvPicPr>
          <p:cNvPr id="8" name="Content Placeholder 5" descr="A graph with a red bar and gray bars&#10;&#10;AI-generated content may be incorrect.">
            <a:extLst>
              <a:ext uri="{FF2B5EF4-FFF2-40B4-BE49-F238E27FC236}">
                <a16:creationId xmlns:a16="http://schemas.microsoft.com/office/drawing/2014/main" id="{FDC5B212-1535-8D2B-FD2B-642991781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849" y="1268413"/>
            <a:ext cx="5371682" cy="41437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A9BEFD3-193A-7B44-10AC-572FE16CDF23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473110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A2B20-17DB-62FA-4642-AEDF9BBEE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55F4C-1D32-4631-F4CF-0F9BD91F55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0A52F640-1D0A-6676-2612-F74C1B9849EC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6757193" y="1722741"/>
            <a:ext cx="4140445" cy="3674208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9DEEC26-55A7-9770-1A7A-48D155173F1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088110" y="1722743"/>
            <a:ext cx="4582257" cy="3674207"/>
          </a:xfrm>
          <a:prstGeom prst="rect">
            <a:avLst/>
          </a:prstGeom>
          <a:ln>
            <a:solidFill>
              <a:schemeClr val="tx1">
                <a:lumMod val="10000"/>
                <a:lumOff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2135503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B6255-A18B-98C8-37D3-5A91EE8E0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DADF3-06C6-7A42-2CFB-B3F6BEA297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5CB1DB-43DC-007D-0D83-3BFBC5B29A8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736455" y="1268413"/>
            <a:ext cx="4711055" cy="4131610"/>
          </a:xfrm>
          <a:prstGeom prst="rect">
            <a:avLst/>
          </a:prstGeom>
        </p:spPr>
      </p:pic>
      <p:pic>
        <p:nvPicPr>
          <p:cNvPr id="8" name="Content Placeholder 7" descr="A graph showing a number of sales&#10;&#10;AI-generated content may be incorrect.">
            <a:extLst>
              <a:ext uri="{FF2B5EF4-FFF2-40B4-BE49-F238E27FC236}">
                <a16:creationId xmlns:a16="http://schemas.microsoft.com/office/drawing/2014/main" id="{360B97AD-FC5D-BB0E-0676-B5A738A91A24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3"/>
          <a:stretch>
            <a:fillRect/>
          </a:stretch>
        </p:blipFill>
        <p:spPr>
          <a:xfrm>
            <a:off x="6747007" y="1268412"/>
            <a:ext cx="4685143" cy="41316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D38AA4-127B-D0C2-EC2D-3D9FC005B9BF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7975446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95D20-17C4-BC51-A46D-45786216C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CAE3B-A6BD-571A-882F-3266F13CE7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Õige </a:t>
            </a:r>
            <a:r>
              <a:rPr lang="en-US" err="1"/>
              <a:t>visuaali</a:t>
            </a:r>
            <a:r>
              <a:rPr lang="en-US"/>
              <a:t> </a:t>
            </a:r>
            <a:r>
              <a:rPr lang="en-US" err="1"/>
              <a:t>valimine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B89B8-B808-32D1-3C5F-AF4D5CF10E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80FF65D0-1C51-2845-87B7-E7BF5BF17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486" y="974912"/>
            <a:ext cx="7360206" cy="540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1539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5880A-65B9-EF2C-26CD-F373C75060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Lugemist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teemal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6FC58-3D89-09B2-8E5F-8B998115BB7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2"/>
              </a:rPr>
              <a:t>Rand Owens. 10 Good and Bad Examples of Data Visualization in 2024.</a:t>
            </a:r>
            <a:endParaRPr lang="en-US"/>
          </a:p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3"/>
              </a:rPr>
              <a:t>Ivan Kilin. 80 types of charts &amp; graphs for data visualization</a:t>
            </a:r>
            <a:r>
              <a:rPr lang="en-US" sz="2400">
                <a:ea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94960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D841B-1620-7F64-AABF-17AC8BEAD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F5146-E745-CD30-E5D4-2398C96FDC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Müükide</a:t>
            </a:r>
            <a:r>
              <a:rPr lang="en-US"/>
              <a:t> </a:t>
            </a:r>
            <a:r>
              <a:rPr lang="en-US" err="1"/>
              <a:t>ülevaade</a:t>
            </a:r>
            <a:r>
              <a:rPr lang="en-US"/>
              <a:t> </a:t>
            </a:r>
            <a:r>
              <a:rPr lang="en-US" err="1"/>
              <a:t>müügitiimile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04B09-5239-995B-53EC-8B8446BCCFC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Kuidas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edeneb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käesoleval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kuul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eelarve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täitmine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müügiesindajate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kaupa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?</a:t>
            </a: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130150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00C85-88E6-D982-59D1-DFBAC8A3E6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Millistele küsimustele vastust otsid?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C4812-3AC1-5277-F013-28F80EBC2F2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sz="2000" b="1" dirty="0"/>
              <a:t>● Regioonide ja müüjate lõikes:</a:t>
            </a:r>
          </a:p>
          <a:p>
            <a:pPr marL="0" indent="0">
              <a:buNone/>
            </a:pPr>
            <a:r>
              <a:rPr lang="et-EE" dirty="0"/>
              <a:t>○ Millised regioonid toovad kõige suurema kogukasumi ja millised töötavad kahjumiga</a:t>
            </a:r>
          </a:p>
          <a:p>
            <a:pPr marL="0" indent="0">
              <a:buNone/>
            </a:pPr>
            <a:r>
              <a:rPr lang="et-EE" dirty="0"/>
              <a:t>või nulli piiril?</a:t>
            </a:r>
          </a:p>
          <a:p>
            <a:pPr marL="0" indent="0">
              <a:buNone/>
            </a:pPr>
            <a:r>
              <a:rPr lang="et-EE" dirty="0"/>
              <a:t>○ Kas mõni müüja (Salesperson) teeb suurt käivet ainult tänu sellele, et jagab liiga</a:t>
            </a:r>
          </a:p>
          <a:p>
            <a:pPr marL="0" indent="0">
              <a:buNone/>
            </a:pPr>
            <a:r>
              <a:rPr lang="et-EE" dirty="0"/>
              <a:t>kergekäeliselt allahindlusi?</a:t>
            </a:r>
          </a:p>
          <a:p>
            <a:pPr marL="0" indent="0">
              <a:buNone/>
            </a:pPr>
            <a:r>
              <a:rPr lang="et-EE" sz="2000" b="1" dirty="0"/>
              <a:t>● Toodete ja marginaali lõikes:</a:t>
            </a:r>
          </a:p>
          <a:p>
            <a:pPr marL="0" indent="0">
              <a:buNone/>
            </a:pPr>
            <a:r>
              <a:rPr lang="et-EE" dirty="0"/>
              <a:t>○ Millised tootekategooriad on meie "rahamasinad" (kõrge marginaal ja suur maht) ja</a:t>
            </a:r>
          </a:p>
          <a:p>
            <a:pPr marL="0" indent="0">
              <a:buNone/>
            </a:pPr>
            <a:r>
              <a:rPr lang="et-EE" dirty="0"/>
              <a:t>millised võtavad lihtsalt ruumi?</a:t>
            </a:r>
          </a:p>
          <a:p>
            <a:pPr marL="0" indent="0">
              <a:buNone/>
            </a:pPr>
            <a:r>
              <a:rPr lang="et-EE" dirty="0"/>
              <a:t>○ Kas meie allahindluse (Discount) strateegia kasvatab reaalset müügimahtu</a:t>
            </a:r>
          </a:p>
          <a:p>
            <a:pPr marL="0" indent="0">
              <a:buNone/>
            </a:pPr>
            <a:r>
              <a:rPr lang="et-EE" dirty="0"/>
              <a:t>(Quantity) või sööb lihtsalt kasumit?</a:t>
            </a:r>
          </a:p>
        </p:txBody>
      </p:sp>
    </p:spTree>
    <p:extLst>
      <p:ext uri="{BB962C8B-B14F-4D97-AF65-F5344CB8AC3E}">
        <p14:creationId xmlns:p14="http://schemas.microsoft.com/office/powerpoint/2010/main" val="29857372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6DEFC-16F3-98E6-00F6-ADDFE4A8EF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Stsenaarium 1: HÄSTI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B50B6-247F-9AE8-B30C-7A1A6BDBA0D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(Seda näed raportist siis, kui äril läheb suurepäraselt)</a:t>
            </a:r>
          </a:p>
          <a:p>
            <a:pPr marL="0" indent="0">
              <a:buNone/>
            </a:pPr>
            <a:r>
              <a:rPr lang="et-EE" dirty="0"/>
              <a:t>● Kuvand visuaalidel: Graafikud liiguvad stabiilselt ülespoole, kasumimarginaali protsent</a:t>
            </a:r>
          </a:p>
          <a:p>
            <a:pPr marL="0" indent="0">
              <a:buNone/>
            </a:pPr>
            <a:r>
              <a:rPr lang="et-EE" dirty="0"/>
              <a:t>(Kasumi_Marginaal_%) on kõrge ja ühtlane kõigis regioonides.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Müügitulu (Tegelik_Tulu) ja kogukasum (Kogukasum) kasvavad käikäes.</a:t>
            </a:r>
          </a:p>
          <a:p>
            <a:pPr marL="0" indent="0">
              <a:buNone/>
            </a:pPr>
            <a:r>
              <a:rPr lang="et-EE" dirty="0"/>
              <a:t>○ Müüjad müüvad tooteid peaaegu täishinnaga – allahindluse veerg (Discount) on</a:t>
            </a:r>
          </a:p>
          <a:p>
            <a:pPr marL="0" indent="0">
              <a:buNone/>
            </a:pPr>
            <a:r>
              <a:rPr lang="et-EE" dirty="0"/>
              <a:t>enamasti nullis või väga madal (näiteks 0–5%).</a:t>
            </a:r>
          </a:p>
          <a:p>
            <a:pPr marL="0" indent="0">
              <a:buNone/>
            </a:pPr>
            <a:r>
              <a:rPr lang="et-EE" dirty="0"/>
              <a:t>○ Kõige suurema müügimahuga (Quantity) on kõrge marginaaliga tootekategooriad.</a:t>
            </a:r>
          </a:p>
          <a:p>
            <a:pPr marL="0" indent="0">
              <a:buNone/>
            </a:pPr>
            <a:r>
              <a:rPr lang="et-EE" dirty="0"/>
              <a:t>○ Kui mõnes regioonis tehaksegi allahindlust, siis mahuandmed näitavad, et see pani</a:t>
            </a:r>
          </a:p>
          <a:p>
            <a:pPr marL="0" indent="0">
              <a:buNone/>
            </a:pPr>
            <a:r>
              <a:rPr lang="et-EE" dirty="0"/>
              <a:t>kliendid koheselt kordades rohkem ostma, ehk allahindlus õigustas ennast täielikult.</a:t>
            </a:r>
          </a:p>
        </p:txBody>
      </p:sp>
    </p:spTree>
    <p:extLst>
      <p:ext uri="{BB962C8B-B14F-4D97-AF65-F5344CB8AC3E}">
        <p14:creationId xmlns:p14="http://schemas.microsoft.com/office/powerpoint/2010/main" val="42459939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7726B-27D5-3C7F-A7BF-9D82BA40F0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⚠️ Stsenaarium 2: HALVASTI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FC515-F523-45CA-C377-D1C69DECF34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(See on ohumärk, mis nõuab kiiret sekkumist)</a:t>
            </a:r>
          </a:p>
          <a:p>
            <a:pPr marL="0" indent="0">
              <a:buNone/>
            </a:pPr>
            <a:r>
              <a:rPr lang="et-EE" dirty="0"/>
              <a:t>● Kuvand visuaalidel: Käive võib näida suur, kuid kasumi joon koonerdab allapoole või on</a:t>
            </a:r>
          </a:p>
          <a:p>
            <a:pPr marL="0" indent="0">
              <a:buNone/>
            </a:pPr>
            <a:r>
              <a:rPr lang="et-EE" dirty="0"/>
              <a:t>suunaga miinusesse. Marginaali protsent kukub kolinal.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Käive (Tegelik_Tulu) on küll suur, aga kogukasum (Kogukasum) on olematu või</a:t>
            </a:r>
          </a:p>
          <a:p>
            <a:pPr marL="0" indent="0">
              <a:buNone/>
            </a:pPr>
            <a:r>
              <a:rPr lang="et-EE" dirty="0"/>
              <a:t>negatiivne. See tähendab, et tegeletakse "tühja tööga".</a:t>
            </a:r>
          </a:p>
          <a:p>
            <a:pPr marL="0" indent="0">
              <a:buNone/>
            </a:pPr>
            <a:r>
              <a:rPr lang="et-EE" dirty="0"/>
              <a:t>○ Müüjad kuritarvitavad allahindlusi. Andmetest on näha, et tehinguid tehakse</a:t>
            </a:r>
          </a:p>
          <a:p>
            <a:pPr marL="0" indent="0">
              <a:buNone/>
            </a:pPr>
            <a:r>
              <a:rPr lang="et-EE" dirty="0"/>
              <a:t>peamiselt siis, kui Discount on määratud maksimumi peale (nt 30–50%). Ilma</a:t>
            </a:r>
          </a:p>
          <a:p>
            <a:pPr marL="0" indent="0">
              <a:buNone/>
            </a:pPr>
            <a:r>
              <a:rPr lang="et-EE" dirty="0"/>
              <a:t>allahindluseta ei osteta midgasi.</a:t>
            </a:r>
          </a:p>
          <a:p>
            <a:pPr marL="0" indent="0">
              <a:buNone/>
            </a:pPr>
            <a:r>
              <a:rPr lang="et-EE" dirty="0"/>
              <a:t>○ Kõige rohkem müüakse tooteid, mille kulu (Cost Price) on peaaegu võrdne</a:t>
            </a:r>
          </a:p>
          <a:p>
            <a:pPr marL="0" indent="0">
              <a:buNone/>
            </a:pPr>
            <a:r>
              <a:rPr lang="et-EE" dirty="0"/>
              <a:t>müügihinnaga (UnitPrice), ehk madala marginaaliga kaupa. Kõrge marginaaliga</a:t>
            </a:r>
          </a:p>
          <a:p>
            <a:pPr marL="0" indent="0">
              <a:buNone/>
            </a:pPr>
            <a:r>
              <a:rPr lang="et-EE" dirty="0"/>
              <a:t>tooted seisavad laos.</a:t>
            </a:r>
          </a:p>
          <a:p>
            <a:pPr marL="0" indent="0">
              <a:buNone/>
            </a:pPr>
            <a:r>
              <a:rPr lang="et-EE" dirty="0"/>
              <a:t>○ Mõni konkreetne regioon toodab stabiilselt miinust, sest sealsed logistikakulud või</a:t>
            </a:r>
          </a:p>
          <a:p>
            <a:pPr marL="0" indent="0">
              <a:buNone/>
            </a:pPr>
            <a:r>
              <a:rPr lang="et-EE" dirty="0"/>
              <a:t>müüjate poolt tehtud madalad hinnad ei kata toote omahinda.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862002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73FD9-D77E-162D-7041-13E961378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699D-1274-F976-3263-C742CC9390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Desktop – </a:t>
            </a:r>
            <a:r>
              <a:rPr lang="en-US" err="1"/>
              <a:t>vormistame</a:t>
            </a:r>
            <a:r>
              <a:rPr lang="en-US"/>
              <a:t> </a:t>
            </a:r>
            <a:r>
              <a:rPr lang="en-US" err="1"/>
              <a:t>raporti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E1846-2AEC-E6FD-1A12-9E9DD48102E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- võimalik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valida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View --&gt; Themes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solidFill>
                  <a:srgbClr val="000000"/>
                </a:solidFill>
                <a:ea typeface="Inter"/>
              </a:rPr>
              <a:t>Tihti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firmadel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enda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fondid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ja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, siis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saab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seadistada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Custom Theme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joondada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üle vaadata – kas on ainult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vajalikud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elemendid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?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Pealkirjad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üle vaadata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287597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74585-D2DF-8BBA-F76F-A1F663592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92E5D-075E-DD90-191E-85206ABC80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7BEB0-F68E-0C93-C7A0-ABBBB814695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Veebikeskkond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PBI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raportite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jagamiseks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Tasuta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versioonis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ainult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My Workspace ja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saa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teistega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Üleslaadimisel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tekib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kaks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faili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Andmestik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Raport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Saab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ajastada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8x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päevas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(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kui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on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veebiallikas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587284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15F75-FC9C-EF8C-50B5-8243CA94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DA6FB-6CD2-65BA-09C4-FCC6EF0AF84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E4C20F-523D-8335-2938-F35D9E570F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37315881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69484-4C76-162B-D0A1-45BF448AB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DC7B-D396-F1F4-9065-942A05C79C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Andmeloo</a:t>
            </a:r>
            <a:r>
              <a:rPr lang="en-US"/>
              <a:t> </a:t>
            </a:r>
            <a:r>
              <a:rPr lang="en-US" err="1"/>
              <a:t>jutustamine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76C14-59CC-5214-7F12-0F82D85E4D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Kui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tahad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edasi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anda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kindla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põhiline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kohta</a:t>
            </a:r>
            <a:endParaRPr lang="en-US" sz="2400" dirty="0">
              <a:solidFill>
                <a:srgbClr val="00000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Kirjeldava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pealkirja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asemel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Minimaalselt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värve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Inspiratsiooni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https://www.storytellingwithdata.com/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Andmepärli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konkurss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4"/>
              </a:rPr>
              <a:t>https://stat.ee/et/statistikaamet/meist/konkurss-andmeparl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208933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8F7D9-A61C-3BF0-60A4-85822C8A2C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Raporti</a:t>
            </a:r>
            <a:r>
              <a:rPr lang="en-GB" dirty="0"/>
              <a:t> </a:t>
            </a:r>
            <a:r>
              <a:rPr lang="en-GB" dirty="0" err="1"/>
              <a:t>loetavus</a:t>
            </a:r>
            <a:r>
              <a:rPr lang="en-GB" dirty="0"/>
              <a:t>: </a:t>
            </a:r>
            <a:r>
              <a:rPr lang="en-GB" dirty="0" err="1"/>
              <a:t>andmelugu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318E02-D1F2-D7E8-A7D2-98280F35E3B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000" dirty="0" err="1"/>
              <a:t>Mudeil</a:t>
            </a:r>
            <a:r>
              <a:rPr lang="en-GB" sz="2000" dirty="0"/>
              <a:t> </a:t>
            </a:r>
            <a:r>
              <a:rPr lang="en-GB" sz="2000" dirty="0" err="1"/>
              <a:t>korrastamine</a:t>
            </a:r>
            <a:r>
              <a:rPr lang="en-GB" sz="2000" dirty="0"/>
              <a:t>	</a:t>
            </a:r>
          </a:p>
          <a:p>
            <a:pPr lvl="1"/>
            <a:r>
              <a:rPr lang="en-GB" sz="2000" dirty="0" err="1"/>
              <a:t>Objektide</a:t>
            </a:r>
            <a:r>
              <a:rPr lang="en-GB" sz="2000" dirty="0"/>
              <a:t> </a:t>
            </a:r>
            <a:r>
              <a:rPr lang="en-GB" sz="2000" dirty="0" err="1"/>
              <a:t>nimetused</a:t>
            </a:r>
            <a:endParaRPr lang="en-GB" sz="2000" dirty="0"/>
          </a:p>
          <a:p>
            <a:pPr lvl="1"/>
            <a:r>
              <a:rPr lang="en-GB" sz="2000" dirty="0" err="1"/>
              <a:t>Ebavajalike</a:t>
            </a:r>
            <a:r>
              <a:rPr lang="en-GB" sz="2000" dirty="0"/>
              <a:t> </a:t>
            </a:r>
            <a:r>
              <a:rPr lang="en-GB" sz="2000" dirty="0" err="1"/>
              <a:t>objektide</a:t>
            </a:r>
            <a:r>
              <a:rPr lang="en-GB" sz="2000" dirty="0"/>
              <a:t> </a:t>
            </a:r>
            <a:r>
              <a:rPr lang="en-GB" sz="2000" dirty="0" err="1"/>
              <a:t>kustutamine</a:t>
            </a:r>
            <a:endParaRPr lang="en-GB" sz="2000" dirty="0"/>
          </a:p>
          <a:p>
            <a:pPr lvl="1"/>
            <a:r>
              <a:rPr lang="en-GB" sz="2000" dirty="0" err="1"/>
              <a:t>Objektide</a:t>
            </a:r>
            <a:r>
              <a:rPr lang="en-GB" sz="2000" dirty="0"/>
              <a:t> </a:t>
            </a:r>
            <a:r>
              <a:rPr lang="en-GB" sz="2000" dirty="0" err="1"/>
              <a:t>peitmine</a:t>
            </a:r>
            <a:endParaRPr lang="en-GB" sz="2000" dirty="0"/>
          </a:p>
          <a:p>
            <a:r>
              <a:rPr lang="en-GB" sz="2000" dirty="0" err="1"/>
              <a:t>Loetavus</a:t>
            </a:r>
            <a:endParaRPr lang="en-GB" sz="2000" dirty="0"/>
          </a:p>
          <a:p>
            <a:pPr lvl="1"/>
            <a:r>
              <a:rPr lang="en-GB" sz="2000" dirty="0" err="1"/>
              <a:t>Tiitellleht</a:t>
            </a:r>
            <a:endParaRPr lang="en-GB" sz="2000" dirty="0"/>
          </a:p>
          <a:p>
            <a:pPr lvl="1"/>
            <a:r>
              <a:rPr lang="en-GB" sz="2000" dirty="0" err="1"/>
              <a:t>Pealkirjad</a:t>
            </a:r>
            <a:r>
              <a:rPr lang="en-GB" sz="2000" dirty="0"/>
              <a:t>, </a:t>
            </a:r>
            <a:r>
              <a:rPr lang="en-GB" sz="2000" dirty="0" err="1"/>
              <a:t>lisakirjeldused</a:t>
            </a:r>
            <a:r>
              <a:rPr lang="en-GB" sz="2000" dirty="0"/>
              <a:t>, </a:t>
            </a:r>
            <a:r>
              <a:rPr lang="en-GB" sz="2000" dirty="0" err="1"/>
              <a:t>ajatempel</a:t>
            </a:r>
            <a:endParaRPr lang="en-GB" sz="2000" dirty="0"/>
          </a:p>
          <a:p>
            <a:pPr lvl="1"/>
            <a:r>
              <a:rPr lang="en-GB" sz="2000" dirty="0" err="1"/>
              <a:t>Lehtede</a:t>
            </a:r>
            <a:r>
              <a:rPr lang="en-GB" sz="2000" dirty="0"/>
              <a:t> </a:t>
            </a:r>
            <a:r>
              <a:rPr lang="en-GB" sz="2000" dirty="0" err="1"/>
              <a:t>järjestus</a:t>
            </a:r>
            <a:endParaRPr lang="en-GB" sz="2000" dirty="0"/>
          </a:p>
          <a:p>
            <a:pPr lvl="1"/>
            <a:r>
              <a:rPr lang="en-GB" sz="2000" dirty="0" err="1"/>
              <a:t>Navigatsioon</a:t>
            </a:r>
            <a:r>
              <a:rPr lang="en-GB" sz="2000" dirty="0"/>
              <a:t>: </a:t>
            </a:r>
            <a:r>
              <a:rPr lang="en-GB" sz="2000" dirty="0" err="1"/>
              <a:t>navigatsiooni</a:t>
            </a:r>
            <a:r>
              <a:rPr lang="en-GB" sz="2000" dirty="0"/>
              <a:t> </a:t>
            </a:r>
            <a:r>
              <a:rPr lang="en-GB" sz="2000" dirty="0" err="1"/>
              <a:t>leht</a:t>
            </a:r>
            <a:r>
              <a:rPr lang="en-GB" sz="2000" dirty="0"/>
              <a:t>, </a:t>
            </a:r>
            <a:r>
              <a:rPr lang="en-GB" sz="2000" dirty="0" err="1"/>
              <a:t>nupud</a:t>
            </a:r>
            <a:endParaRPr lang="en-GB" sz="2000" dirty="0"/>
          </a:p>
          <a:p>
            <a:r>
              <a:rPr lang="en-GB" sz="2000" dirty="0" err="1"/>
              <a:t>Raporti</a:t>
            </a:r>
            <a:r>
              <a:rPr lang="en-GB" sz="2000" dirty="0"/>
              <a:t> </a:t>
            </a:r>
            <a:r>
              <a:rPr lang="en-GB" sz="2000" dirty="0" err="1"/>
              <a:t>kirjeldamine</a:t>
            </a:r>
            <a:endParaRPr lang="en-GB" sz="2000" dirty="0"/>
          </a:p>
          <a:p>
            <a:pPr lvl="1"/>
            <a:r>
              <a:rPr lang="en-GB" sz="2000" dirty="0" err="1"/>
              <a:t>Objektide</a:t>
            </a:r>
            <a:r>
              <a:rPr lang="en-GB" sz="2000" dirty="0"/>
              <a:t> </a:t>
            </a:r>
            <a:r>
              <a:rPr lang="en-GB" sz="2000" dirty="0" err="1"/>
              <a:t>kirjeldused</a:t>
            </a:r>
            <a:endParaRPr lang="en-GB" sz="2000" dirty="0"/>
          </a:p>
          <a:p>
            <a:pPr lvl="1"/>
            <a:r>
              <a:rPr lang="en-GB" sz="2000" dirty="0" err="1"/>
              <a:t>MudeliMõõdikud</a:t>
            </a:r>
            <a:r>
              <a:rPr lang="en-GB" sz="2000" dirty="0"/>
              <a:t> = INFO.VIEW.MEASURES()</a:t>
            </a:r>
          </a:p>
          <a:p>
            <a:r>
              <a:rPr lang="en-GB" sz="2000" dirty="0" err="1"/>
              <a:t>Raporti</a:t>
            </a:r>
            <a:r>
              <a:rPr lang="en-GB" sz="2000" dirty="0"/>
              <a:t> </a:t>
            </a:r>
            <a:r>
              <a:rPr lang="en-GB" sz="2000" dirty="0" err="1"/>
              <a:t>visuaalne</a:t>
            </a:r>
            <a:r>
              <a:rPr lang="en-GB" sz="2000" dirty="0"/>
              <a:t> pool – </a:t>
            </a:r>
            <a:r>
              <a:rPr lang="en-GB" sz="2000" dirty="0" err="1"/>
              <a:t>kujundus</a:t>
            </a:r>
            <a:r>
              <a:rPr lang="en-GB" sz="2000" dirty="0"/>
              <a:t> </a:t>
            </a:r>
            <a:r>
              <a:rPr lang="en-GB" sz="2000" dirty="0" err="1"/>
              <a:t>annab</a:t>
            </a:r>
            <a:r>
              <a:rPr lang="en-GB" sz="2000" dirty="0"/>
              <a:t> </a:t>
            </a:r>
            <a:r>
              <a:rPr lang="en-GB" sz="2000" dirty="0" err="1"/>
              <a:t>palju</a:t>
            </a:r>
            <a:r>
              <a:rPr lang="en-GB" sz="2000" dirty="0"/>
              <a:t> </a:t>
            </a:r>
            <a:r>
              <a:rPr lang="en-GB" sz="2000" dirty="0" err="1"/>
              <a:t>juurde</a:t>
            </a:r>
            <a:r>
              <a:rPr lang="en-GB" sz="2000" dirty="0"/>
              <a:t> </a:t>
            </a:r>
            <a:r>
              <a:rPr lang="en-GB" sz="2000" dirty="0" err="1"/>
              <a:t>usaldatavust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dirty="0" err="1"/>
              <a:t>loetavust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184440662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1086</TotalTime>
  <Words>1101</Words>
  <Application>Microsoft Office PowerPoint</Application>
  <PresentationFormat>Widescreen</PresentationFormat>
  <Paragraphs>170</Paragraphs>
  <Slides>26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Inter Bold</vt:lpstr>
      <vt:lpstr>Courier New</vt:lpstr>
      <vt:lpstr>Arial</vt:lpstr>
      <vt:lpstr>Inter</vt:lpstr>
      <vt:lpstr>Wingdings</vt:lpstr>
      <vt:lpstr>Poppins SemiBold</vt:lpstr>
      <vt:lpstr>Calibri</vt:lpstr>
      <vt:lpstr>BCS</vt:lpstr>
      <vt:lpstr>Vali Andmetarkus!</vt:lpstr>
      <vt:lpstr>Päevakava - III päev</vt:lpstr>
      <vt:lpstr>Power BI – Päringud (M-language)</vt:lpstr>
      <vt:lpstr>Teeme veebipõhiseks</vt:lpstr>
      <vt:lpstr>Harjutus – muudame andmeallikad veebipõhiseks Google Sheets</vt:lpstr>
      <vt:lpstr>Github</vt:lpstr>
      <vt:lpstr>Power BI – Eelarve faili lisamine</vt:lpstr>
      <vt:lpstr>Paus 10:30-10:45</vt:lpstr>
      <vt:lpstr>Power BI – päringu kaudu tulpade lisamine</vt:lpstr>
      <vt:lpstr>Lõunapaus 12:15-13:15</vt:lpstr>
      <vt:lpstr>Andmete visualiseerimise parimad praktikad</vt:lpstr>
      <vt:lpstr>Kas see on hea visuaal – miks või miks mitte? </vt:lpstr>
      <vt:lpstr>Kumb visuaal on  parem – miks?</vt:lpstr>
      <vt:lpstr>Kumb visuaal on  parem – miks?</vt:lpstr>
      <vt:lpstr>Kumb visuaal on parem – miks?</vt:lpstr>
      <vt:lpstr>Õige visuaali valimine</vt:lpstr>
      <vt:lpstr>Lugemist visualiseerimise teemal</vt:lpstr>
      <vt:lpstr>Müükide ülevaade müügitiimile</vt:lpstr>
      <vt:lpstr>Millistele küsimustele vastust otsid?</vt:lpstr>
      <vt:lpstr>Stsenaarium 1: HÄSTI </vt:lpstr>
      <vt:lpstr>⚠️ Stsenaarium 2: HALVASTI </vt:lpstr>
      <vt:lpstr>Power BI Desktop – vormistame raporti</vt:lpstr>
      <vt:lpstr>Power BI Service</vt:lpstr>
      <vt:lpstr>Paus 14:45-15:00</vt:lpstr>
      <vt:lpstr>Andmeloo jutustamine</vt:lpstr>
      <vt:lpstr>Raporti loetavus: andmelugu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8</cp:revision>
  <dcterms:created xsi:type="dcterms:W3CDTF">2021-08-27T11:35:28Z</dcterms:created>
  <dcterms:modified xsi:type="dcterms:W3CDTF">2026-09-01T13:38:07Z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