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6"/>
  </p:notesMasterIdLst>
  <p:handoutMasterIdLst>
    <p:handoutMasterId r:id="rId47"/>
  </p:handoutMasterIdLst>
  <p:sldIdLst>
    <p:sldId id="417" r:id="rId5"/>
    <p:sldId id="457" r:id="rId6"/>
    <p:sldId id="447" r:id="rId7"/>
    <p:sldId id="644" r:id="rId8"/>
    <p:sldId id="641" r:id="rId9"/>
    <p:sldId id="643" r:id="rId10"/>
    <p:sldId id="448" r:id="rId11"/>
    <p:sldId id="579" r:id="rId12"/>
    <p:sldId id="449" r:id="rId13"/>
    <p:sldId id="580" r:id="rId14"/>
    <p:sldId id="450" r:id="rId15"/>
    <p:sldId id="603" r:id="rId16"/>
    <p:sldId id="638" r:id="rId17"/>
    <p:sldId id="639" r:id="rId18"/>
    <p:sldId id="640" r:id="rId19"/>
    <p:sldId id="484" r:id="rId20"/>
    <p:sldId id="635" r:id="rId21"/>
    <p:sldId id="256" r:id="rId22"/>
    <p:sldId id="257" r:id="rId23"/>
    <p:sldId id="258" r:id="rId24"/>
    <p:sldId id="259" r:id="rId25"/>
    <p:sldId id="260" r:id="rId26"/>
    <p:sldId id="261" r:id="rId27"/>
    <p:sldId id="268" r:id="rId28"/>
    <p:sldId id="269" r:id="rId29"/>
    <p:sldId id="270" r:id="rId30"/>
    <p:sldId id="267" r:id="rId31"/>
    <p:sldId id="265" r:id="rId32"/>
    <p:sldId id="271" r:id="rId33"/>
    <p:sldId id="272" r:id="rId34"/>
    <p:sldId id="273" r:id="rId35"/>
    <p:sldId id="274" r:id="rId36"/>
    <p:sldId id="588" r:id="rId37"/>
    <p:sldId id="666" r:id="rId38"/>
    <p:sldId id="667" r:id="rId39"/>
    <p:sldId id="668" r:id="rId40"/>
    <p:sldId id="460" r:id="rId41"/>
    <p:sldId id="461" r:id="rId42"/>
    <p:sldId id="581" r:id="rId43"/>
    <p:sldId id="503" r:id="rId44"/>
    <p:sldId id="642" r:id="rId45"/>
  </p:sldIdLst>
  <p:sldSz cx="12192000" cy="6858000"/>
  <p:notesSz cx="6858000" cy="9144000"/>
  <p:embeddedFontLst>
    <p:embeddedFont>
      <p:font typeface="Inter" panose="020B0604020202020204" charset="0"/>
      <p:regular r:id="rId48"/>
      <p:bold r:id="rId49"/>
      <p:italic r:id="rId50"/>
      <p:boldItalic r:id="rId51"/>
    </p:embeddedFont>
    <p:embeddedFont>
      <p:font typeface="Inter Bold" panose="020B0604020202020204" charset="0"/>
      <p:bold r:id="rId52"/>
    </p:embeddedFont>
    <p:embeddedFont>
      <p:font typeface="Poppins SemiBold" panose="00000700000000000000" pitchFamily="2" charset="-70"/>
      <p:bold r:id="rId53"/>
      <p:boldItalic r:id="rId54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font" Target="fonts/font3.fntdata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6.fntdata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font" Target="fonts/font1.fntdata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font" Target="fonts/font4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2.fntdata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5.fntdata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01.09.2026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DF933-BFB9-27D3-0A06-54399311E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798A3-F9BE-1F87-DE35-F0B237A62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96194-4EDA-7C56-21BE-C0BC2ED52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C18D4-5ABA-0A67-C066-259B68425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125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253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01.09.2026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t-EE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t-E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144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  <p:sldLayoutId id="2147483678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378470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M-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päringukeel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Raporti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jagamine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Power BI </a:t>
            </a:r>
            <a:r>
              <a:rPr lang="en-US" sz="2400" err="1">
                <a:ea typeface="Inter"/>
              </a:rPr>
              <a:t>päringukeel</a:t>
            </a:r>
            <a:r>
              <a:rPr lang="en-US" sz="2400">
                <a:ea typeface="Inter"/>
              </a:rPr>
              <a:t> 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Juhend</a:t>
            </a:r>
            <a:r>
              <a:rPr lang="en-US" sz="2400">
                <a:ea typeface="Inter"/>
              </a:rPr>
              <a:t>: </a:t>
            </a:r>
            <a:r>
              <a:rPr lang="en-US" sz="2400">
                <a:ea typeface="+mn-lt"/>
                <a:cs typeface="+mn-lt"/>
                <a:hlinkClick r:id="rId2"/>
              </a:rPr>
              <a:t>Power Query M formula language reference - PowerQuery M | Microsoft Learn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+mn-lt"/>
                <a:cs typeface="+mn-lt"/>
              </a:rPr>
              <a:t>Leitav</a:t>
            </a:r>
            <a:r>
              <a:rPr lang="en-US" sz="240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ea typeface="+mn-lt"/>
                <a:cs typeface="+mn-lt"/>
              </a:rPr>
              <a:t>Paremal </a:t>
            </a:r>
            <a:r>
              <a:rPr lang="en-US" sz="2400" err="1">
                <a:ea typeface="+mn-lt"/>
                <a:cs typeface="+mn-lt"/>
              </a:rPr>
              <a:t>sammude</a:t>
            </a:r>
            <a:r>
              <a:rPr lang="en-US" sz="240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ea typeface="+mn-lt"/>
                <a:cs typeface="+mn-lt"/>
              </a:rPr>
              <a:t>Advanced Editor – </a:t>
            </a:r>
            <a:r>
              <a:rPr lang="en-US" sz="2400" err="1">
                <a:ea typeface="+mn-lt"/>
                <a:cs typeface="+mn-lt"/>
              </a:rPr>
              <a:t>kogu</a:t>
            </a:r>
            <a:r>
              <a:rPr lang="en-US" sz="240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päring</a:t>
            </a: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Google Sheets</a:t>
            </a:r>
          </a:p>
          <a:p>
            <a:r>
              <a:rPr lang="en-GB" dirty="0">
                <a:solidFill>
                  <a:schemeClr val="accent4"/>
                </a:solidFill>
              </a:rPr>
              <a:t>Date Table</a:t>
            </a:r>
          </a:p>
          <a:p>
            <a:r>
              <a:rPr lang="en-GB" dirty="0">
                <a:solidFill>
                  <a:schemeClr val="accent4"/>
                </a:solidFill>
              </a:rPr>
              <a:t>Region Table</a:t>
            </a:r>
          </a:p>
          <a:p>
            <a:r>
              <a:rPr lang="en-GB" dirty="0">
                <a:solidFill>
                  <a:schemeClr val="accent4"/>
                </a:solidFill>
              </a:rPr>
              <a:t>Budget Table</a:t>
            </a:r>
          </a:p>
          <a:p>
            <a:r>
              <a:rPr lang="en-GB" dirty="0">
                <a:solidFill>
                  <a:schemeClr val="accent4"/>
                </a:solidFill>
              </a:rPr>
              <a:t>Customer Table</a:t>
            </a:r>
          </a:p>
          <a:p>
            <a:r>
              <a:rPr lang="en-GB" dirty="0">
                <a:solidFill>
                  <a:schemeClr val="accent4"/>
                </a:solidFill>
              </a:rPr>
              <a:t>Sales Table</a:t>
            </a:r>
          </a:p>
          <a:p>
            <a:endParaRPr lang="en-GB" dirty="0">
              <a:solidFill>
                <a:schemeClr val="accent4"/>
              </a:solidFill>
            </a:endParaRPr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Product Table</a:t>
            </a:r>
          </a:p>
          <a:p>
            <a:r>
              <a:rPr lang="en-GB" dirty="0" err="1"/>
              <a:t>SalesRep</a:t>
            </a:r>
            <a:r>
              <a:rPr lang="en-GB" dirty="0"/>
              <a:t> Table</a:t>
            </a:r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dirty="0"/>
              <a:t>Logi google </a:t>
            </a:r>
            <a:r>
              <a:rPr lang="en-GB" sz="1800" dirty="0" err="1"/>
              <a:t>kontoga</a:t>
            </a:r>
            <a:r>
              <a:rPr lang="en-GB" sz="1800" dirty="0"/>
              <a:t> </a:t>
            </a:r>
            <a:r>
              <a:rPr lang="en-GB" sz="1800" dirty="0" err="1"/>
              <a:t>sisse</a:t>
            </a: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SalesTable</a:t>
            </a:r>
            <a:r>
              <a:rPr lang="en-GB" sz="1800" dirty="0"/>
              <a:t> </a:t>
            </a:r>
            <a:r>
              <a:rPr lang="et-EE" sz="1800" dirty="0"/>
              <a:t>https://docs.google.com/spreadsheets/d/1k1nHE1Fy5UFR5Kh7BPy-ASfnItSJ5DyUIuPZhL4qDU4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</a:p>
          <a:p>
            <a:pPr marL="457200" lvl="1" indent="0">
              <a:buNone/>
            </a:pPr>
            <a:r>
              <a:rPr lang="en-GB" sz="1800" b="1" dirty="0" err="1"/>
              <a:t>DateTable</a:t>
            </a:r>
            <a:r>
              <a:rPr lang="en-GB" sz="1800" dirty="0"/>
              <a:t> https://docs.google.com/spreadsheets/d/1ifSFIuK4WYbRo6vfcRmKUb0J8OCHsIP-hyY3Q3wLMoo</a:t>
            </a:r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dirty="0"/>
              <a:t>let</a:t>
            </a:r>
          </a:p>
          <a:p>
            <a:pPr marL="457200" lvl="1" indent="0">
              <a:buNone/>
            </a:pPr>
            <a:r>
              <a:rPr lang="et-EE" sz="1800" dirty="0"/>
              <a:t>    Source = GoogleSheets.Contents("https://docs.google.com/spreadsheets/d/1k1nHE1Fy5UFR5Kh7BPy-ASfnItSJ5DyUIuPZhL4qDU4/edit?usp=sharing"),</a:t>
            </a:r>
          </a:p>
          <a:p>
            <a:pPr marL="457200" lvl="1" indent="0">
              <a:buNone/>
            </a:pPr>
            <a:r>
              <a:rPr lang="et-EE" sz="1800" dirty="0"/>
              <a:t>    SalesTable.csv_Table = Source{[name="SalesTable.csv",ItemKind="Table"]}[Data]</a:t>
            </a:r>
          </a:p>
          <a:p>
            <a:pPr marL="457200" lvl="1" indent="0">
              <a:buNone/>
            </a:pPr>
            <a:r>
              <a:rPr lang="et-EE" sz="1800" dirty="0"/>
              <a:t>in</a:t>
            </a:r>
          </a:p>
          <a:p>
            <a:pPr marL="457200" lvl="1" indent="0">
              <a:buNone/>
            </a:pPr>
            <a:r>
              <a:rPr lang="et-EE" sz="1800" dirty="0"/>
              <a:t>    SalesTable.csv_Table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2843-84FC-6050-6780-3E1CF9056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Githu</a:t>
            </a:r>
            <a:r>
              <a:rPr lang="et-EE" dirty="0"/>
              <a:t>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5C53-3E1D-61A6-CE62-781555F7FC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https://raw.githubusercontent.com/emilieabel/andmetarkus/refs/heads/main/Materjalid/Data%20sources/ProductTable.csv?token=GHSAT0AAAAAAEGG5H3OHIJ4SXRIYPKT5J6O2UNNCTA</a:t>
            </a:r>
          </a:p>
        </p:txBody>
      </p:sp>
    </p:spTree>
    <p:extLst>
      <p:ext uri="{BB962C8B-B14F-4D97-AF65-F5344CB8AC3E}">
        <p14:creationId xmlns:p14="http://schemas.microsoft.com/office/powerpoint/2010/main" val="7712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Eelarve</a:t>
            </a:r>
            <a:r>
              <a:rPr lang="en-US"/>
              <a:t> </a:t>
            </a:r>
            <a:r>
              <a:rPr lang="en-US" err="1"/>
              <a:t>faili</a:t>
            </a:r>
            <a:r>
              <a:rPr lang="en-US"/>
              <a:t> </a:t>
            </a:r>
            <a:r>
              <a:rPr lang="en-US" err="1"/>
              <a:t>lisamine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Ühendus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kuupäeva</a:t>
            </a:r>
            <a:r>
              <a:rPr lang="en-US" sz="2000">
                <a:ea typeface="Inter"/>
              </a:rPr>
              <a:t> (</a:t>
            </a:r>
            <a:r>
              <a:rPr lang="en-US" sz="2000" err="1">
                <a:ea typeface="Inter"/>
              </a:rPr>
              <a:t>eelarve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failis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esimene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päev</a:t>
            </a:r>
            <a:r>
              <a:rPr lang="en-US" sz="2000">
                <a:ea typeface="Inter"/>
              </a:rPr>
              <a:t>) ja </a:t>
            </a:r>
            <a:r>
              <a:rPr lang="en-US" sz="2000" err="1">
                <a:ea typeface="Inter"/>
              </a:rPr>
              <a:t>SalesRep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alusel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Eelarve</a:t>
            </a:r>
            <a:r>
              <a:rPr lang="en-US" sz="2000">
                <a:ea typeface="Inter"/>
              </a:rPr>
              <a:t> fail on </a:t>
            </a:r>
            <a:r>
              <a:rPr lang="en-US" sz="2000" err="1">
                <a:ea typeface="Inter"/>
              </a:rPr>
              <a:t>risttabeli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kujul</a:t>
            </a:r>
            <a:r>
              <a:rPr lang="en-US" sz="2000">
                <a:ea typeface="Inter"/>
              </a:rPr>
              <a:t> – </a:t>
            </a:r>
            <a:r>
              <a:rPr lang="en-US" sz="2000" err="1">
                <a:ea typeface="Inter"/>
              </a:rPr>
              <a:t>vajalik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muuta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lihttabeliks</a:t>
            </a:r>
            <a:endParaRPr lang="en-US" sz="2000" err="1"/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Promote Headers</a:t>
            </a:r>
            <a:endParaRPr lang="en-US" sz="2000"/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Vali </a:t>
            </a:r>
            <a:r>
              <a:rPr lang="en-US" sz="2000" err="1">
                <a:ea typeface="Inter"/>
              </a:rPr>
              <a:t>SalesRep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</a:t>
            </a:r>
            <a:r>
              <a:rPr lang="en-US" sz="2000">
                <a:ea typeface="Inter"/>
              </a:rPr>
              <a:t> ja Unpivot other columns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</a:rPr>
              <a:t>Vaata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tulpade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Nimeta </a:t>
            </a:r>
            <a:r>
              <a:rPr lang="en-US" sz="2000" err="1">
                <a:ea typeface="Inter"/>
              </a:rPr>
              <a:t>tulbad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kirjeldavate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nimedega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Loo </a:t>
            </a:r>
            <a:r>
              <a:rPr lang="en-US" sz="2000" err="1">
                <a:ea typeface="Inter"/>
              </a:rPr>
              <a:t>ühendused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mudelis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tabelitega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Loo </a:t>
            </a:r>
            <a:r>
              <a:rPr lang="en-US" sz="2000" err="1">
                <a:ea typeface="Inter"/>
              </a:rPr>
              <a:t>visuaalid</a:t>
            </a:r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Tühi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Eesmärgipärane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Arusaadav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lisada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pealkirjad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kirjeldused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Lihtne</a:t>
            </a:r>
            <a:r>
              <a:rPr lang="en-US" sz="2400">
                <a:solidFill>
                  <a:srgbClr val="000000"/>
                </a:solidFill>
                <a:ea typeface="Inter"/>
              </a:rPr>
              <a:t> -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mõistmiseks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vajalik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muu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eemaldada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Ligipääsetav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nt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värvipimedusega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arvestamine</a:t>
            </a:r>
            <a:r>
              <a:rPr lang="en-US" sz="2400">
                <a:solidFill>
                  <a:srgbClr val="000000"/>
                </a:solidFill>
                <a:ea typeface="Inter"/>
              </a:rPr>
              <a:t>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solidFill>
                  <a:srgbClr val="000000"/>
                </a:solidFill>
                <a:ea typeface="Inter"/>
              </a:rPr>
              <a:t>Piisav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kontrast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tausta</a:t>
            </a:r>
            <a:r>
              <a:rPr lang="en-US" sz="2400">
                <a:solidFill>
                  <a:srgbClr val="000000"/>
                </a:solidFill>
                <a:ea typeface="Inter"/>
              </a:rPr>
              <a:t> ja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graafiku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vahel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0-st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Kasutaja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loeb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vasakult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ülevalt</a:t>
            </a:r>
            <a:r>
              <a:rPr lang="en-US" sz="2400">
                <a:solidFill>
                  <a:srgbClr val="000000"/>
                </a:solidFill>
                <a:ea typeface="Inter"/>
              </a:rPr>
              <a:t> 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paremale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alla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info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samas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loogikas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esitada</a:t>
            </a:r>
            <a:endParaRPr lang="en-US" sz="2400" err="1"/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 Design Principles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23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73110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3550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7975446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Õige </a:t>
            </a:r>
            <a:r>
              <a:rPr lang="en-US" err="1"/>
              <a:t>visuaali</a:t>
            </a:r>
            <a:r>
              <a:rPr lang="en-US"/>
              <a:t> </a:t>
            </a:r>
            <a:r>
              <a:rPr lang="en-US" err="1"/>
              <a:t>valimine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974912"/>
            <a:ext cx="7360206" cy="54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53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9496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0539-5FA6-1138-40E1-09530DFAF6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päev</a:t>
            </a:r>
            <a:r>
              <a:rPr lang="en-GB" dirty="0"/>
              <a:t>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E42FD4-8B43-DD26-754C-0828B634DF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315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sz="1600" b="1" dirty="0"/>
              <a:t>4 </a:t>
            </a:r>
            <a:r>
              <a:rPr lang="en-GB" sz="1600" b="1" dirty="0" err="1"/>
              <a:t>Värvipsühholoogia</a:t>
            </a:r>
            <a:r>
              <a:rPr lang="en-GB" sz="1600" b="1" dirty="0"/>
              <a:t> </a:t>
            </a:r>
            <a:r>
              <a:rPr lang="en-GB" sz="1600" b="1" dirty="0" err="1"/>
              <a:t>ja</a:t>
            </a:r>
            <a:r>
              <a:rPr lang="en-GB" sz="1600" b="1" dirty="0"/>
              <a:t> "60-30-10" </a:t>
            </a:r>
            <a:r>
              <a:rPr lang="en-GB" sz="1600" b="1" dirty="0" err="1"/>
              <a:t>reegel</a:t>
            </a:r>
            <a:endParaRPr lang="en-GB" sz="1600" b="1" dirty="0"/>
          </a:p>
          <a:p>
            <a:pPr lvl="1">
              <a:lnSpc>
                <a:spcPct val="170000"/>
              </a:lnSpc>
            </a:pPr>
            <a:r>
              <a:rPr lang="en-GB" sz="1600" dirty="0"/>
              <a:t>Värv on </a:t>
            </a:r>
            <a:r>
              <a:rPr lang="en-GB" sz="1600" dirty="0" err="1"/>
              <a:t>andmete</a:t>
            </a:r>
            <a:r>
              <a:rPr lang="en-GB" sz="1600" dirty="0"/>
              <a:t> </a:t>
            </a:r>
            <a:r>
              <a:rPr lang="en-GB" sz="1600" dirty="0" err="1"/>
              <a:t>visualiseerimises</a:t>
            </a:r>
            <a:r>
              <a:rPr lang="en-GB" sz="1600" dirty="0"/>
              <a:t> </a:t>
            </a:r>
            <a:r>
              <a:rPr lang="en-GB" sz="1600" dirty="0" err="1"/>
              <a:t>kõige</a:t>
            </a:r>
            <a:r>
              <a:rPr lang="en-GB" sz="1600" dirty="0"/>
              <a:t> </a:t>
            </a:r>
            <a:r>
              <a:rPr lang="en-GB" sz="1600" dirty="0" err="1"/>
              <a:t>võimsam</a:t>
            </a:r>
            <a:r>
              <a:rPr lang="en-GB" sz="1600" dirty="0"/>
              <a:t> </a:t>
            </a:r>
            <a:r>
              <a:rPr lang="en-GB" sz="1600" dirty="0" err="1"/>
              <a:t>relv</a:t>
            </a:r>
            <a:r>
              <a:rPr lang="en-GB" sz="1600" dirty="0"/>
              <a:t>, </a:t>
            </a:r>
            <a:r>
              <a:rPr lang="en-GB" sz="1600" dirty="0" err="1"/>
              <a:t>kuid</a:t>
            </a:r>
            <a:r>
              <a:rPr lang="en-GB" sz="1600" dirty="0"/>
              <a:t> </a:t>
            </a:r>
            <a:r>
              <a:rPr lang="en-GB" sz="1600" dirty="0" err="1"/>
              <a:t>seda</a:t>
            </a:r>
            <a:r>
              <a:rPr lang="en-GB" sz="1600" dirty="0"/>
              <a:t> </a:t>
            </a:r>
            <a:r>
              <a:rPr lang="en-GB" sz="1600" dirty="0" err="1"/>
              <a:t>kuritarvitatakse</a:t>
            </a:r>
            <a:r>
              <a:rPr lang="en-GB" sz="1600" dirty="0"/>
              <a:t> </a:t>
            </a:r>
            <a:r>
              <a:rPr lang="en-GB" sz="1600" dirty="0" err="1"/>
              <a:t>kõige</a:t>
            </a:r>
            <a:r>
              <a:rPr lang="en-GB" sz="1600" dirty="0"/>
              <a:t> </a:t>
            </a:r>
            <a:r>
              <a:rPr lang="en-GB" sz="1600" dirty="0" err="1"/>
              <a:t>sagedamini</a:t>
            </a:r>
            <a:r>
              <a:rPr lang="en-GB" sz="1600" dirty="0"/>
              <a:t>. </a:t>
            </a:r>
            <a:r>
              <a:rPr lang="en-GB" sz="1600" dirty="0" err="1"/>
              <a:t>Liiga</a:t>
            </a:r>
            <a:r>
              <a:rPr lang="en-GB" sz="1600" dirty="0"/>
              <a:t> </a:t>
            </a:r>
            <a:r>
              <a:rPr lang="en-GB" sz="1600" dirty="0" err="1"/>
              <a:t>palju</a:t>
            </a:r>
            <a:r>
              <a:rPr lang="en-GB" sz="1600" dirty="0"/>
              <a:t> </a:t>
            </a:r>
            <a:r>
              <a:rPr lang="en-GB" sz="1600" dirty="0" err="1"/>
              <a:t>värve</a:t>
            </a:r>
            <a:r>
              <a:rPr lang="en-GB" sz="1600" dirty="0"/>
              <a:t> </a:t>
            </a:r>
            <a:r>
              <a:rPr lang="en-GB" sz="1600" dirty="0" err="1"/>
              <a:t>tekitab</a:t>
            </a:r>
            <a:r>
              <a:rPr lang="en-GB" sz="1600" dirty="0"/>
              <a:t> </a:t>
            </a:r>
            <a:r>
              <a:rPr lang="en-GB" sz="1600" dirty="0" err="1"/>
              <a:t>visuaalset</a:t>
            </a:r>
            <a:r>
              <a:rPr lang="en-GB" sz="1600" dirty="0"/>
              <a:t> </a:t>
            </a:r>
            <a:r>
              <a:rPr lang="en-GB" sz="1600" dirty="0" err="1"/>
              <a:t>müra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aju</a:t>
            </a:r>
            <a:r>
              <a:rPr lang="en-GB" sz="1600" dirty="0"/>
              <a:t> </a:t>
            </a:r>
            <a:r>
              <a:rPr lang="en-GB" sz="1600" dirty="0" err="1"/>
              <a:t>lülitub</a:t>
            </a:r>
            <a:r>
              <a:rPr lang="en-GB" sz="1600" dirty="0"/>
              <a:t> </a:t>
            </a:r>
            <a:r>
              <a:rPr lang="en-GB" sz="1600" dirty="0" err="1"/>
              <a:t>välja</a:t>
            </a:r>
            <a:r>
              <a:rPr lang="en-GB" sz="16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sz="1600" b="1" dirty="0" err="1"/>
              <a:t>Reegel</a:t>
            </a:r>
            <a:r>
              <a:rPr lang="en-GB" sz="1600" b="1" dirty="0"/>
              <a:t>: </a:t>
            </a:r>
            <a:r>
              <a:rPr lang="en-GB" sz="1600" b="1" dirty="0" err="1"/>
              <a:t>Ära</a:t>
            </a:r>
            <a:r>
              <a:rPr lang="en-GB" sz="1600" b="1" dirty="0"/>
              <a:t> </a:t>
            </a:r>
            <a:r>
              <a:rPr lang="en-GB" sz="1600" b="1" dirty="0" err="1"/>
              <a:t>kasuta</a:t>
            </a:r>
            <a:r>
              <a:rPr lang="en-GB" sz="1600" b="1" dirty="0"/>
              <a:t> </a:t>
            </a:r>
            <a:r>
              <a:rPr lang="en-GB" sz="1600" b="1" dirty="0" err="1"/>
              <a:t>üle</a:t>
            </a:r>
            <a:r>
              <a:rPr lang="en-GB" sz="1600" b="1" dirty="0"/>
              <a:t> 3 </a:t>
            </a:r>
            <a:r>
              <a:rPr lang="en-GB" sz="1600" b="1" dirty="0" err="1"/>
              <a:t>põhivärvi</a:t>
            </a:r>
            <a:endParaRPr lang="en-GB" sz="1600" b="1" dirty="0"/>
          </a:p>
          <a:p>
            <a:pPr lvl="1">
              <a:lnSpc>
                <a:spcPct val="170000"/>
              </a:lnSpc>
            </a:pPr>
            <a:r>
              <a:rPr lang="en-GB" sz="1600" b="1" dirty="0"/>
              <a:t>60% </a:t>
            </a:r>
            <a:r>
              <a:rPr lang="en-GB" sz="1600" b="1" dirty="0" err="1"/>
              <a:t>Domineeriv</a:t>
            </a:r>
            <a:r>
              <a:rPr lang="en-GB" sz="1600" b="1" dirty="0"/>
              <a:t> </a:t>
            </a:r>
            <a:r>
              <a:rPr lang="en-GB" sz="1600" b="1" dirty="0" err="1"/>
              <a:t>taustajõud</a:t>
            </a:r>
            <a:r>
              <a:rPr lang="en-GB" sz="1600" b="1" dirty="0"/>
              <a:t> </a:t>
            </a:r>
            <a:r>
              <a:rPr lang="en-GB" sz="1600" dirty="0"/>
              <a:t>(Hall/Valge): </a:t>
            </a:r>
            <a:r>
              <a:rPr lang="en-GB" sz="1600" dirty="0" err="1"/>
              <a:t>Raporti</a:t>
            </a:r>
            <a:r>
              <a:rPr lang="en-GB" sz="1600" dirty="0"/>
              <a:t> </a:t>
            </a:r>
            <a:r>
              <a:rPr lang="en-GB" sz="1600" dirty="0" err="1"/>
              <a:t>taust</a:t>
            </a:r>
            <a:r>
              <a:rPr lang="en-GB" sz="1600" dirty="0"/>
              <a:t>, </a:t>
            </a:r>
            <a:r>
              <a:rPr lang="en-GB" sz="1600" dirty="0" err="1"/>
              <a:t>graafikute</a:t>
            </a:r>
            <a:r>
              <a:rPr lang="en-GB" sz="1600" dirty="0"/>
              <a:t> </a:t>
            </a:r>
            <a:r>
              <a:rPr lang="en-GB" sz="1600" dirty="0" err="1"/>
              <a:t>taustad</a:t>
            </a:r>
            <a:r>
              <a:rPr lang="en-GB" sz="1600" dirty="0"/>
              <a:t>, </a:t>
            </a:r>
            <a:r>
              <a:rPr lang="en-GB" sz="1600" dirty="0" err="1"/>
              <a:t>teljed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tekstid</a:t>
            </a:r>
            <a:r>
              <a:rPr lang="en-GB" sz="1600" dirty="0"/>
              <a:t> </a:t>
            </a:r>
            <a:r>
              <a:rPr lang="en-GB" sz="1600" dirty="0" err="1"/>
              <a:t>peaksid</a:t>
            </a:r>
            <a:r>
              <a:rPr lang="en-GB" sz="1600" dirty="0"/>
              <a:t> </a:t>
            </a:r>
            <a:r>
              <a:rPr lang="en-GB" sz="1600" dirty="0" err="1"/>
              <a:t>olema</a:t>
            </a:r>
            <a:r>
              <a:rPr lang="en-GB" sz="1600" dirty="0"/>
              <a:t> </a:t>
            </a:r>
            <a:r>
              <a:rPr lang="en-GB" sz="1600" dirty="0" err="1"/>
              <a:t>neutraalsed</a:t>
            </a:r>
            <a:r>
              <a:rPr lang="en-GB" sz="1600" dirty="0"/>
              <a:t> (</a:t>
            </a:r>
            <a:r>
              <a:rPr lang="en-GB" sz="1600" dirty="0" err="1"/>
              <a:t>erinevad</a:t>
            </a:r>
            <a:r>
              <a:rPr lang="en-GB" sz="1600" dirty="0"/>
              <a:t> halli </a:t>
            </a:r>
            <a:r>
              <a:rPr lang="en-GB" sz="1600" dirty="0" err="1"/>
              <a:t>varjundid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valge</a:t>
            </a:r>
            <a:r>
              <a:rPr lang="en-GB" sz="1600" dirty="0"/>
              <a:t>). Hall </a:t>
            </a:r>
            <a:r>
              <a:rPr lang="en-GB" sz="1600" dirty="0" err="1"/>
              <a:t>ei</a:t>
            </a:r>
            <a:r>
              <a:rPr lang="en-GB" sz="1600" dirty="0"/>
              <a:t> </a:t>
            </a:r>
            <a:r>
              <a:rPr lang="en-GB" sz="1600" dirty="0" err="1"/>
              <a:t>karju</a:t>
            </a:r>
            <a:r>
              <a:rPr lang="en-GB" sz="1600" dirty="0"/>
              <a:t> </a:t>
            </a:r>
            <a:r>
              <a:rPr lang="en-GB" sz="1600" dirty="0" err="1"/>
              <a:t>tähelepanu</a:t>
            </a:r>
            <a:r>
              <a:rPr lang="en-GB" sz="1600" dirty="0"/>
              <a:t> </a:t>
            </a:r>
            <a:r>
              <a:rPr lang="en-GB" sz="1600" dirty="0" err="1"/>
              <a:t>järele</a:t>
            </a:r>
            <a:r>
              <a:rPr lang="en-GB" sz="1600" dirty="0"/>
              <a:t>, see </a:t>
            </a:r>
            <a:r>
              <a:rPr lang="en-GB" sz="1600" dirty="0" err="1"/>
              <a:t>loob</a:t>
            </a:r>
            <a:r>
              <a:rPr lang="en-GB" sz="1600" dirty="0"/>
              <a:t> </a:t>
            </a:r>
            <a:r>
              <a:rPr lang="en-GB" sz="1600" dirty="0" err="1"/>
              <a:t>lõuendi</a:t>
            </a:r>
            <a:r>
              <a:rPr lang="en-GB" sz="16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600" b="1" dirty="0"/>
              <a:t>30% </a:t>
            </a:r>
            <a:r>
              <a:rPr lang="en-GB" sz="1600" b="1" dirty="0" err="1"/>
              <a:t>Struktuurivärv</a:t>
            </a:r>
            <a:r>
              <a:rPr lang="en-GB" sz="1600" b="1" dirty="0"/>
              <a:t> (</a:t>
            </a:r>
            <a:r>
              <a:rPr lang="en-GB" sz="1600" b="1" dirty="0" err="1"/>
              <a:t>Brändivärv</a:t>
            </a:r>
            <a:r>
              <a:rPr lang="en-GB" sz="1600" b="1" dirty="0"/>
              <a:t>): </a:t>
            </a:r>
            <a:r>
              <a:rPr lang="en-GB" sz="1600" dirty="0"/>
              <a:t>Sinu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kliendi</a:t>
            </a:r>
            <a:r>
              <a:rPr lang="en-GB" sz="1600" dirty="0"/>
              <a:t> </a:t>
            </a:r>
            <a:r>
              <a:rPr lang="en-GB" sz="1600" dirty="0" err="1"/>
              <a:t>ettevõtte</a:t>
            </a:r>
            <a:r>
              <a:rPr lang="en-GB" sz="1600" dirty="0"/>
              <a:t> </a:t>
            </a:r>
            <a:r>
              <a:rPr lang="en-GB" sz="1600" dirty="0" err="1"/>
              <a:t>põhivärv</a:t>
            </a:r>
            <a:r>
              <a:rPr lang="en-GB" sz="1600" dirty="0"/>
              <a:t>. Seda </a:t>
            </a:r>
            <a:r>
              <a:rPr lang="en-GB" sz="1600" dirty="0" err="1"/>
              <a:t>kasutatakse</a:t>
            </a:r>
            <a:r>
              <a:rPr lang="en-GB" sz="1600" dirty="0"/>
              <a:t> </a:t>
            </a:r>
            <a:r>
              <a:rPr lang="en-GB" sz="1600" dirty="0" err="1"/>
              <a:t>tavaliste</a:t>
            </a:r>
            <a:r>
              <a:rPr lang="en-GB" sz="1600" dirty="0"/>
              <a:t> </a:t>
            </a:r>
            <a:r>
              <a:rPr lang="en-GB" sz="1600" dirty="0" err="1"/>
              <a:t>andmete</a:t>
            </a:r>
            <a:r>
              <a:rPr lang="en-GB" sz="1600" dirty="0"/>
              <a:t>, </a:t>
            </a:r>
            <a:r>
              <a:rPr lang="en-GB" sz="1600" dirty="0" err="1"/>
              <a:t>tiitliribade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vaikimisi</a:t>
            </a:r>
            <a:r>
              <a:rPr lang="en-GB" sz="1600" dirty="0"/>
              <a:t> </a:t>
            </a:r>
            <a:r>
              <a:rPr lang="en-GB" sz="1600" dirty="0" err="1"/>
              <a:t>tulpade</a:t>
            </a:r>
            <a:r>
              <a:rPr lang="en-GB" sz="1600" dirty="0"/>
              <a:t> </a:t>
            </a:r>
            <a:r>
              <a:rPr lang="en-GB" sz="1600" dirty="0" err="1"/>
              <a:t>kuvamiseks</a:t>
            </a:r>
            <a:r>
              <a:rPr lang="en-GB" sz="16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600" b="1" dirty="0"/>
              <a:t>10% </a:t>
            </a:r>
            <a:r>
              <a:rPr lang="en-GB" sz="1600" b="1" dirty="0" err="1"/>
              <a:t>Aktsentvärv</a:t>
            </a:r>
            <a:r>
              <a:rPr lang="en-GB" sz="1600" b="1" dirty="0"/>
              <a:t> (</a:t>
            </a:r>
            <a:r>
              <a:rPr lang="en-GB" sz="1600" b="1" dirty="0" err="1"/>
              <a:t>Erksad</a:t>
            </a:r>
            <a:r>
              <a:rPr lang="en-GB" sz="1600" b="1" dirty="0"/>
              <a:t> </a:t>
            </a:r>
            <a:r>
              <a:rPr lang="en-GB" sz="1600" b="1" dirty="0" err="1"/>
              <a:t>värvid</a:t>
            </a:r>
            <a:r>
              <a:rPr lang="en-GB" sz="1600" b="1" dirty="0"/>
              <a:t> </a:t>
            </a:r>
            <a:r>
              <a:rPr lang="en-GB" sz="1600" b="1" dirty="0" err="1"/>
              <a:t>tähelepanuks</a:t>
            </a:r>
            <a:r>
              <a:rPr lang="en-GB" sz="1600" b="1" dirty="0"/>
              <a:t>): </a:t>
            </a:r>
            <a:r>
              <a:rPr lang="en-GB" sz="1600" dirty="0"/>
              <a:t>See on Sinu "</a:t>
            </a:r>
            <a:r>
              <a:rPr lang="en-GB" sz="1600" dirty="0" err="1"/>
              <a:t>hoolitse</a:t>
            </a:r>
            <a:r>
              <a:rPr lang="en-GB" sz="1600" dirty="0"/>
              <a:t> </a:t>
            </a:r>
            <a:r>
              <a:rPr lang="en-GB" sz="1600" dirty="0" err="1"/>
              <a:t>selle</a:t>
            </a:r>
            <a:r>
              <a:rPr lang="en-GB" sz="1600" dirty="0"/>
              <a:t> </a:t>
            </a:r>
            <a:r>
              <a:rPr lang="en-GB" sz="1600" dirty="0" err="1"/>
              <a:t>eest</a:t>
            </a:r>
            <a:r>
              <a:rPr lang="en-GB" sz="1600" dirty="0"/>
              <a:t> </a:t>
            </a:r>
            <a:r>
              <a:rPr lang="en-GB" sz="1600" dirty="0" err="1"/>
              <a:t>kohe</a:t>
            </a:r>
            <a:r>
              <a:rPr lang="en-GB" sz="1600" dirty="0"/>
              <a:t>" </a:t>
            </a:r>
            <a:r>
              <a:rPr lang="en-GB" sz="1600" dirty="0" err="1"/>
              <a:t>värv</a:t>
            </a:r>
            <a:r>
              <a:rPr lang="en-GB" sz="1600" dirty="0"/>
              <a:t> (</a:t>
            </a:r>
            <a:r>
              <a:rPr lang="en-GB" sz="1600" dirty="0" err="1"/>
              <a:t>erkpunane</a:t>
            </a:r>
            <a:r>
              <a:rPr lang="en-GB" sz="1600" dirty="0"/>
              <a:t>,, </a:t>
            </a:r>
            <a:r>
              <a:rPr lang="en-GB" sz="1600" dirty="0" err="1"/>
              <a:t>oranž</a:t>
            </a:r>
            <a:r>
              <a:rPr lang="en-GB" sz="1600" dirty="0"/>
              <a:t>). Seda </a:t>
            </a:r>
            <a:r>
              <a:rPr lang="en-GB" sz="1600" dirty="0" err="1"/>
              <a:t>kasutatakse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siis</a:t>
            </a:r>
            <a:r>
              <a:rPr lang="en-GB" sz="1600" dirty="0"/>
              <a:t>, </a:t>
            </a:r>
            <a:r>
              <a:rPr lang="en-GB" sz="1600" dirty="0" err="1"/>
              <a:t>kui</a:t>
            </a:r>
            <a:r>
              <a:rPr lang="en-GB" sz="1600" dirty="0"/>
              <a:t> </a:t>
            </a:r>
            <a:r>
              <a:rPr lang="en-GB" sz="1600" dirty="0" err="1"/>
              <a:t>midagi</a:t>
            </a:r>
            <a:r>
              <a:rPr lang="en-GB" sz="1600" dirty="0"/>
              <a:t> on </a:t>
            </a:r>
            <a:r>
              <a:rPr lang="en-GB" sz="1600" dirty="0" err="1"/>
              <a:t>valesti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vajab</a:t>
            </a:r>
            <a:r>
              <a:rPr lang="en-GB" sz="1600" dirty="0"/>
              <a:t> </a:t>
            </a:r>
            <a:r>
              <a:rPr lang="en-GB" sz="1600" dirty="0" err="1"/>
              <a:t>kriitilist</a:t>
            </a:r>
            <a:r>
              <a:rPr lang="en-GB" sz="1600" dirty="0"/>
              <a:t> </a:t>
            </a:r>
            <a:r>
              <a:rPr lang="en-GB" sz="1600" dirty="0" err="1"/>
              <a:t>tähelepanu</a:t>
            </a:r>
            <a:r>
              <a:rPr lang="en-GB" sz="1600" dirty="0"/>
              <a:t> (</a:t>
            </a:r>
            <a:r>
              <a:rPr lang="en-GB" sz="1600" dirty="0" err="1"/>
              <a:t>nt</a:t>
            </a:r>
            <a:r>
              <a:rPr lang="en-GB" sz="1600" dirty="0"/>
              <a:t> </a:t>
            </a:r>
            <a:r>
              <a:rPr lang="en-GB" sz="1600" dirty="0" err="1"/>
              <a:t>kui</a:t>
            </a:r>
            <a:r>
              <a:rPr lang="en-GB" sz="1600" dirty="0"/>
              <a:t> Sentiment Gap </a:t>
            </a:r>
            <a:r>
              <a:rPr lang="en-GB" sz="1600" dirty="0" err="1"/>
              <a:t>läheb</a:t>
            </a:r>
            <a:r>
              <a:rPr lang="en-GB" sz="1600" dirty="0"/>
              <a:t> </a:t>
            </a:r>
            <a:r>
              <a:rPr lang="en-GB" sz="1600" dirty="0" err="1"/>
              <a:t>punasesse</a:t>
            </a:r>
            <a:r>
              <a:rPr lang="en-GB" sz="1600" dirty="0"/>
              <a:t> </a:t>
            </a:r>
            <a:r>
              <a:rPr lang="en-GB" sz="1600" dirty="0" err="1"/>
              <a:t>tsooni</a:t>
            </a:r>
            <a:r>
              <a:rPr lang="en-GB" sz="1600" dirty="0"/>
              <a:t>). </a:t>
            </a:r>
            <a:r>
              <a:rPr lang="en-GB" sz="1600" dirty="0" err="1"/>
              <a:t>Erista</a:t>
            </a:r>
            <a:r>
              <a:rPr lang="en-GB" sz="1600" dirty="0"/>
              <a:t> </a:t>
            </a:r>
            <a:r>
              <a:rPr lang="en-GB" sz="1600" dirty="0" err="1"/>
              <a:t>vaid</a:t>
            </a:r>
            <a:r>
              <a:rPr lang="en-GB" sz="1600" dirty="0"/>
              <a:t> </a:t>
            </a:r>
            <a:r>
              <a:rPr lang="en-GB" sz="1600" dirty="0" err="1"/>
              <a:t>olulist</a:t>
            </a:r>
            <a:r>
              <a:rPr lang="en-GB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AutoNum type="arabicPeriod"/>
            </a:pPr>
            <a:r>
              <a:rPr lang="en-GB" b="1" dirty="0" err="1"/>
              <a:t>Viie</a:t>
            </a:r>
            <a:r>
              <a:rPr lang="en-GB" b="1" dirty="0"/>
              <a:t> </a:t>
            </a:r>
            <a:r>
              <a:rPr lang="en-GB" b="1" dirty="0" err="1"/>
              <a:t>sekundi</a:t>
            </a:r>
            <a:r>
              <a:rPr lang="en-GB" b="1" dirty="0"/>
              <a:t> test 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üldine</a:t>
            </a:r>
            <a:r>
              <a:rPr lang="en-GB" dirty="0"/>
              <a:t> </a:t>
            </a:r>
            <a:r>
              <a:rPr lang="en-GB" dirty="0" err="1"/>
              <a:t>seisukord</a:t>
            </a:r>
            <a:r>
              <a:rPr lang="en-GB" dirty="0"/>
              <a:t> (</a:t>
            </a:r>
            <a:r>
              <a:rPr lang="en-GB" dirty="0" err="1"/>
              <a:t>hea</a:t>
            </a:r>
            <a:r>
              <a:rPr lang="en-GB" dirty="0"/>
              <a:t> / </a:t>
            </a:r>
            <a:r>
              <a:rPr lang="en-GB" dirty="0" err="1"/>
              <a:t>halb</a:t>
            </a:r>
            <a:r>
              <a:rPr lang="en-GB" dirty="0"/>
              <a:t> / </a:t>
            </a:r>
            <a:r>
              <a:rPr lang="en-GB" dirty="0" err="1"/>
              <a:t>kriitiline</a:t>
            </a:r>
            <a:r>
              <a:rPr lang="en-GB" dirty="0"/>
              <a:t>) on </a:t>
            </a:r>
            <a:r>
              <a:rPr lang="en-GB" dirty="0" err="1"/>
              <a:t>arusaadav</a:t>
            </a:r>
            <a:r>
              <a:rPr lang="en-GB" dirty="0"/>
              <a:t> </a:t>
            </a:r>
            <a:r>
              <a:rPr lang="en-GB" dirty="0" err="1"/>
              <a:t>vähem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5 </a:t>
            </a:r>
            <a:r>
              <a:rPr lang="en-GB" dirty="0" err="1"/>
              <a:t>sekundiga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</a:t>
            </a:r>
            <a:r>
              <a:rPr lang="en-GB" dirty="0" err="1"/>
              <a:t>numbrid</a:t>
            </a:r>
            <a:r>
              <a:rPr lang="en-GB" dirty="0"/>
              <a:t> (KPI-d)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vasakus</a:t>
            </a:r>
            <a:r>
              <a:rPr lang="en-GB" dirty="0"/>
              <a:t> </a:t>
            </a:r>
            <a:r>
              <a:rPr lang="en-GB" dirty="0" err="1"/>
              <a:t>ülemises</a:t>
            </a:r>
            <a:r>
              <a:rPr lang="en-GB" dirty="0"/>
              <a:t> </a:t>
            </a:r>
            <a:r>
              <a:rPr lang="en-GB" dirty="0" err="1"/>
              <a:t>nurgas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aru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miski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kiiret</a:t>
            </a:r>
            <a:r>
              <a:rPr lang="en-GB" dirty="0"/>
              <a:t> </a:t>
            </a:r>
            <a:r>
              <a:rPr lang="en-GB" dirty="0" err="1"/>
              <a:t>sekkumist</a:t>
            </a:r>
            <a:r>
              <a:rPr lang="en-GB" dirty="0"/>
              <a:t>?</a:t>
            </a:r>
          </a:p>
          <a:p>
            <a:pPr marL="0" indent="0">
              <a:buNone/>
            </a:pPr>
            <a:r>
              <a:rPr lang="en-GB" b="1" dirty="0"/>
              <a:t>2.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visuaalne</a:t>
            </a:r>
            <a:r>
              <a:rPr lang="en-GB" b="1" dirty="0"/>
              <a:t> </a:t>
            </a:r>
            <a:r>
              <a:rPr lang="en-GB" b="1" dirty="0" err="1"/>
              <a:t>koormus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värvipalett</a:t>
            </a:r>
            <a:r>
              <a:rPr lang="en-GB" dirty="0"/>
              <a:t> on </a:t>
            </a:r>
            <a:r>
              <a:rPr lang="en-GB" dirty="0" err="1"/>
              <a:t>piiratud</a:t>
            </a:r>
            <a:r>
              <a:rPr lang="en-GB" dirty="0"/>
              <a:t> (</a:t>
            </a:r>
            <a:r>
              <a:rPr lang="en-GB" dirty="0" err="1"/>
              <a:t>soovitavalt</a:t>
            </a:r>
            <a:r>
              <a:rPr lang="en-GB" dirty="0"/>
              <a:t> </a:t>
            </a:r>
            <a:r>
              <a:rPr lang="en-GB" dirty="0" err="1"/>
              <a:t>maksimaalselt</a:t>
            </a:r>
            <a:r>
              <a:rPr lang="en-GB" dirty="0"/>
              <a:t> 2–3 </a:t>
            </a:r>
            <a:r>
              <a:rPr lang="en-GB" dirty="0" err="1"/>
              <a:t>põhivärvi</a:t>
            </a:r>
            <a:r>
              <a:rPr lang="en-GB" dirty="0"/>
              <a:t> + </a:t>
            </a:r>
            <a:r>
              <a:rPr lang="en-GB" dirty="0" err="1"/>
              <a:t>hallid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taustaks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hoiatuste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staatuse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(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tavalise</a:t>
            </a:r>
            <a:r>
              <a:rPr lang="en-GB" dirty="0"/>
              <a:t> </a:t>
            </a:r>
            <a:r>
              <a:rPr lang="en-GB" dirty="0" err="1"/>
              <a:t>kujunduselemendina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piisavalt</a:t>
            </a:r>
            <a:r>
              <a:rPr lang="en-GB" dirty="0"/>
              <a:t> "</a:t>
            </a:r>
            <a:r>
              <a:rPr lang="en-GB" dirty="0" err="1"/>
              <a:t>hingamisruumi</a:t>
            </a:r>
            <a:r>
              <a:rPr lang="en-GB" dirty="0"/>
              <a:t>" (</a:t>
            </a:r>
            <a:r>
              <a:rPr lang="en-GB" dirty="0" err="1"/>
              <a:t>tühja</a:t>
            </a:r>
            <a:r>
              <a:rPr lang="en-GB" dirty="0"/>
              <a:t> </a:t>
            </a:r>
            <a:r>
              <a:rPr lang="en-GB" dirty="0" err="1"/>
              <a:t>valget</a:t>
            </a:r>
            <a:r>
              <a:rPr lang="en-GB" dirty="0"/>
              <a:t> ala), et </a:t>
            </a:r>
            <a:r>
              <a:rPr lang="en-GB" dirty="0" err="1"/>
              <a:t>silm</a:t>
            </a:r>
            <a:r>
              <a:rPr lang="en-GB" dirty="0"/>
              <a:t> </a:t>
            </a:r>
            <a:r>
              <a:rPr lang="en-GB" dirty="0" err="1"/>
              <a:t>saaks</a:t>
            </a:r>
            <a:r>
              <a:rPr lang="en-GB" dirty="0"/>
              <a:t> </a:t>
            </a:r>
            <a:r>
              <a:rPr lang="en-GB" dirty="0" err="1"/>
              <a:t>puhata</a:t>
            </a:r>
            <a:r>
              <a:rPr lang="en-GB" dirty="0"/>
              <a:t>?</a:t>
            </a:r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99127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32552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02066" y="3137770"/>
            <a:ext cx="7566046" cy="2675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200" b="1" dirty="0"/>
              <a:t>4. </a:t>
            </a:r>
            <a:r>
              <a:rPr lang="en-GB" sz="1200" b="1" dirty="0" err="1"/>
              <a:t>Navigatsioon</a:t>
            </a:r>
            <a:r>
              <a:rPr lang="en-GB" sz="1200" b="1" dirty="0"/>
              <a:t> </a:t>
            </a:r>
            <a:r>
              <a:rPr lang="en-GB" sz="1200" b="1" dirty="0" err="1"/>
              <a:t>ja</a:t>
            </a:r>
            <a:r>
              <a:rPr lang="en-GB" sz="1200" b="1" dirty="0"/>
              <a:t> </a:t>
            </a:r>
            <a:r>
              <a:rPr lang="en-GB" sz="1200" b="1" dirty="0" err="1"/>
              <a:t>kasutatavus</a:t>
            </a:r>
            <a:endParaRPr lang="en-GB" sz="1200" b="1" dirty="0"/>
          </a:p>
          <a:p>
            <a:pPr lvl="1"/>
            <a:r>
              <a:rPr lang="en-GB" sz="1200" dirty="0"/>
              <a:t>Kas </a:t>
            </a:r>
            <a:r>
              <a:rPr lang="en-GB" sz="1200" dirty="0" err="1"/>
              <a:t>menüüd</a:t>
            </a:r>
            <a:r>
              <a:rPr lang="en-GB" sz="1200" dirty="0"/>
              <a:t> </a:t>
            </a:r>
            <a:r>
              <a:rPr lang="en-GB" sz="1200" dirty="0" err="1"/>
              <a:t>ja</a:t>
            </a:r>
            <a:r>
              <a:rPr lang="en-GB" sz="1200" dirty="0"/>
              <a:t> </a:t>
            </a:r>
            <a:r>
              <a:rPr lang="en-GB" sz="1200" dirty="0" err="1"/>
              <a:t>filtrid</a:t>
            </a:r>
            <a:r>
              <a:rPr lang="en-GB" sz="1200" dirty="0"/>
              <a:t> on </a:t>
            </a:r>
            <a:r>
              <a:rPr lang="en-GB" sz="1200" dirty="0" err="1"/>
              <a:t>peidetavad</a:t>
            </a:r>
            <a:r>
              <a:rPr lang="en-GB" sz="1200" dirty="0"/>
              <a:t> </a:t>
            </a:r>
            <a:r>
              <a:rPr lang="en-GB" sz="1200" dirty="0" err="1"/>
              <a:t>või</a:t>
            </a:r>
            <a:r>
              <a:rPr lang="en-GB" sz="1200" dirty="0"/>
              <a:t> </a:t>
            </a:r>
            <a:r>
              <a:rPr lang="en-GB" sz="1200" dirty="0" err="1"/>
              <a:t>kompaktsed</a:t>
            </a:r>
            <a:r>
              <a:rPr lang="en-GB" sz="1200" dirty="0"/>
              <a:t>, et </a:t>
            </a:r>
            <a:r>
              <a:rPr lang="en-GB" sz="1200" dirty="0" err="1"/>
              <a:t>mitte</a:t>
            </a:r>
            <a:r>
              <a:rPr lang="en-GB" sz="1200" dirty="0"/>
              <a:t> </a:t>
            </a:r>
            <a:r>
              <a:rPr lang="en-GB" sz="1200" dirty="0" err="1"/>
              <a:t>raisata</a:t>
            </a:r>
            <a:r>
              <a:rPr lang="en-GB" sz="1200" dirty="0"/>
              <a:t> </a:t>
            </a:r>
            <a:r>
              <a:rPr lang="en-GB" sz="1200" dirty="0" err="1"/>
              <a:t>väärtuslikku</a:t>
            </a:r>
            <a:r>
              <a:rPr lang="en-GB" sz="1200" dirty="0"/>
              <a:t> </a:t>
            </a:r>
            <a:r>
              <a:rPr lang="en-GB" sz="1200" dirty="0" err="1"/>
              <a:t>ekraanipinda</a:t>
            </a:r>
            <a:r>
              <a:rPr lang="en-GB" sz="1200" dirty="0"/>
              <a:t>?</a:t>
            </a:r>
          </a:p>
          <a:p>
            <a:pPr lvl="1"/>
            <a:r>
              <a:rPr lang="en-GB" sz="1200" dirty="0"/>
              <a:t>Kas </a:t>
            </a:r>
            <a:r>
              <a:rPr lang="en-GB" sz="1200" dirty="0" err="1"/>
              <a:t>ekraanilt</a:t>
            </a:r>
            <a:r>
              <a:rPr lang="en-GB" sz="1200" dirty="0"/>
              <a:t> on </a:t>
            </a:r>
            <a:r>
              <a:rPr lang="en-GB" sz="1200" dirty="0" err="1"/>
              <a:t>eemaldatud</a:t>
            </a:r>
            <a:r>
              <a:rPr lang="en-GB" sz="1200" dirty="0"/>
              <a:t> </a:t>
            </a:r>
            <a:r>
              <a:rPr lang="en-GB" sz="1200" dirty="0" err="1"/>
              <a:t>ebaoluline</a:t>
            </a:r>
            <a:r>
              <a:rPr lang="en-GB" sz="1200" dirty="0"/>
              <a:t> "</a:t>
            </a:r>
            <a:r>
              <a:rPr lang="en-GB" sz="1200" dirty="0" err="1"/>
              <a:t>müra</a:t>
            </a:r>
            <a:r>
              <a:rPr lang="en-GB" sz="1200" dirty="0"/>
              <a:t>" (</a:t>
            </a:r>
            <a:r>
              <a:rPr lang="en-GB" sz="1200" dirty="0" err="1"/>
              <a:t>nt</a:t>
            </a:r>
            <a:r>
              <a:rPr lang="en-GB" sz="1200" dirty="0"/>
              <a:t> </a:t>
            </a:r>
            <a:r>
              <a:rPr lang="en-GB" sz="1200" dirty="0" err="1"/>
              <a:t>suured</a:t>
            </a:r>
            <a:r>
              <a:rPr lang="en-GB" sz="1200" dirty="0"/>
              <a:t> </a:t>
            </a:r>
            <a:r>
              <a:rPr lang="en-GB" sz="1200" dirty="0" err="1"/>
              <a:t>kellad</a:t>
            </a:r>
            <a:r>
              <a:rPr lang="en-GB" sz="1200" dirty="0"/>
              <a:t>, </a:t>
            </a:r>
            <a:r>
              <a:rPr lang="en-GB" sz="1200" dirty="0" err="1"/>
              <a:t>tervitustekstid</a:t>
            </a:r>
            <a:r>
              <a:rPr lang="en-GB" sz="1200" dirty="0"/>
              <a:t>, </a:t>
            </a:r>
            <a:r>
              <a:rPr lang="en-GB" sz="1200" dirty="0" err="1"/>
              <a:t>ilmateade</a:t>
            </a:r>
            <a:r>
              <a:rPr lang="en-GB" sz="1200" dirty="0"/>
              <a:t>, </a:t>
            </a:r>
            <a:r>
              <a:rPr lang="en-GB" sz="1200" dirty="0" err="1"/>
              <a:t>kui</a:t>
            </a:r>
            <a:r>
              <a:rPr lang="en-GB" sz="1200" dirty="0"/>
              <a:t> need pole </a:t>
            </a:r>
            <a:r>
              <a:rPr lang="en-GB" sz="1200" dirty="0" err="1"/>
              <a:t>tööks</a:t>
            </a:r>
            <a:r>
              <a:rPr lang="en-GB" sz="1200" dirty="0"/>
              <a:t> </a:t>
            </a:r>
            <a:r>
              <a:rPr lang="en-GB" sz="1200" dirty="0" err="1"/>
              <a:t>otseselt</a:t>
            </a:r>
            <a:r>
              <a:rPr lang="en-GB" sz="1200" dirty="0"/>
              <a:t> </a:t>
            </a:r>
            <a:r>
              <a:rPr lang="en-GB" sz="1200" dirty="0" err="1"/>
              <a:t>vajalikud</a:t>
            </a:r>
            <a:r>
              <a:rPr lang="en-GB" sz="1200" dirty="0"/>
              <a:t>)?</a:t>
            </a:r>
          </a:p>
          <a:p>
            <a:pPr lvl="0"/>
            <a:r>
              <a:rPr lang="en-GB" sz="1200" dirty="0" err="1"/>
              <a:t>Visuaalidevahelised</a:t>
            </a:r>
            <a:r>
              <a:rPr lang="en-GB" sz="1200" dirty="0"/>
              <a:t> </a:t>
            </a:r>
            <a:r>
              <a:rPr lang="en-GB" sz="1200" dirty="0" err="1"/>
              <a:t>seosed</a:t>
            </a:r>
            <a:r>
              <a:rPr lang="en-GB" sz="1200" dirty="0"/>
              <a:t> (</a:t>
            </a:r>
            <a:r>
              <a:rPr lang="en-GB" sz="1200" b="1" dirty="0"/>
              <a:t>Edit Interactions</a:t>
            </a:r>
            <a:r>
              <a:rPr lang="en-GB" sz="1200" dirty="0"/>
              <a:t>) on </a:t>
            </a:r>
            <a:r>
              <a:rPr lang="en-GB" sz="1200" dirty="0" err="1"/>
              <a:t>kontrollitud</a:t>
            </a:r>
            <a:r>
              <a:rPr lang="en-GB" sz="1200" dirty="0"/>
              <a:t> </a:t>
            </a:r>
            <a:r>
              <a:rPr lang="en-GB" sz="1200" dirty="0" err="1"/>
              <a:t>ja</a:t>
            </a:r>
            <a:r>
              <a:rPr lang="en-GB" sz="1200" dirty="0"/>
              <a:t> </a:t>
            </a:r>
            <a:r>
              <a:rPr lang="en-GB" sz="1200" dirty="0" err="1"/>
              <a:t>piiratud</a:t>
            </a:r>
            <a:r>
              <a:rPr lang="en-GB" sz="1200" dirty="0"/>
              <a:t>.</a:t>
            </a:r>
          </a:p>
          <a:p>
            <a:pPr lvl="0"/>
            <a:r>
              <a:rPr lang="en-GB" sz="1200" dirty="0" err="1"/>
              <a:t>Kasutusel</a:t>
            </a:r>
            <a:r>
              <a:rPr lang="en-GB" sz="1200" dirty="0"/>
              <a:t> on </a:t>
            </a:r>
            <a:r>
              <a:rPr lang="en-GB" sz="1200" b="1" dirty="0"/>
              <a:t>"</a:t>
            </a:r>
            <a:r>
              <a:rPr lang="en-GB" sz="1200" b="1" dirty="0" err="1"/>
              <a:t>Tühjenda</a:t>
            </a:r>
            <a:r>
              <a:rPr lang="en-GB" sz="1200" b="1" dirty="0"/>
              <a:t> </a:t>
            </a:r>
            <a:r>
              <a:rPr lang="en-GB" sz="1200" b="1" dirty="0" err="1"/>
              <a:t>filtrid</a:t>
            </a:r>
            <a:r>
              <a:rPr lang="en-GB" sz="1200" b="1" dirty="0"/>
              <a:t>"</a:t>
            </a:r>
            <a:r>
              <a:rPr lang="en-GB" sz="1200" dirty="0"/>
              <a:t> </a:t>
            </a:r>
            <a:r>
              <a:rPr lang="en-GB" sz="1200" dirty="0" err="1"/>
              <a:t>nupp</a:t>
            </a:r>
            <a:r>
              <a:rPr lang="en-GB" sz="1200" dirty="0"/>
              <a:t>.</a:t>
            </a:r>
          </a:p>
          <a:p>
            <a:pPr lvl="0"/>
            <a:r>
              <a:rPr lang="en-GB" sz="1200" dirty="0" err="1"/>
              <a:t>Graafikute</a:t>
            </a:r>
            <a:r>
              <a:rPr lang="en-GB" sz="1200" dirty="0"/>
              <a:t> </a:t>
            </a:r>
            <a:r>
              <a:rPr lang="en-GB" sz="1200" dirty="0" err="1"/>
              <a:t>pealkirjad</a:t>
            </a:r>
            <a:r>
              <a:rPr lang="en-GB" sz="1200" dirty="0"/>
              <a:t> on </a:t>
            </a:r>
            <a:r>
              <a:rPr lang="en-GB" sz="1200" b="1" dirty="0" err="1"/>
              <a:t>selged</a:t>
            </a:r>
            <a:r>
              <a:rPr lang="en-GB" sz="1200" b="1" dirty="0"/>
              <a:t> </a:t>
            </a:r>
            <a:r>
              <a:rPr lang="en-GB" sz="1200" b="1" dirty="0" err="1"/>
              <a:t>ja</a:t>
            </a:r>
            <a:r>
              <a:rPr lang="en-GB" sz="1200" b="1" dirty="0"/>
              <a:t> </a:t>
            </a:r>
            <a:r>
              <a:rPr lang="en-GB" sz="1200" b="1" dirty="0" err="1"/>
              <a:t>kirjeldavad</a:t>
            </a:r>
            <a:r>
              <a:rPr lang="en-GB" sz="1200" dirty="0"/>
              <a:t>.</a:t>
            </a:r>
          </a:p>
          <a:p>
            <a:pPr lvl="0"/>
            <a:r>
              <a:rPr lang="en-GB" sz="1200" dirty="0" err="1"/>
              <a:t>Navigatsioon</a:t>
            </a:r>
            <a:r>
              <a:rPr lang="en-GB" sz="1200" dirty="0"/>
              <a:t> on </a:t>
            </a:r>
            <a:r>
              <a:rPr lang="en-GB" sz="1200" dirty="0" err="1"/>
              <a:t>loogiline</a:t>
            </a:r>
            <a:r>
              <a:rPr lang="en-GB" sz="1200" dirty="0"/>
              <a:t>.</a:t>
            </a:r>
          </a:p>
          <a:p>
            <a:pPr lvl="0"/>
            <a:r>
              <a:rPr lang="en-GB" sz="1200" dirty="0" err="1"/>
              <a:t>Aruandel</a:t>
            </a:r>
            <a:r>
              <a:rPr lang="en-GB" sz="1200" dirty="0"/>
              <a:t> on info </a:t>
            </a:r>
            <a:r>
              <a:rPr lang="en-GB" sz="1200" dirty="0" err="1"/>
              <a:t>leht</a:t>
            </a:r>
            <a:r>
              <a:rPr lang="en-GB" sz="1200" dirty="0"/>
              <a:t>.</a:t>
            </a:r>
          </a:p>
          <a:p>
            <a:pPr marL="0" indent="0">
              <a:buNone/>
            </a:pPr>
            <a:br>
              <a:rPr lang="en-GB" sz="1200" dirty="0"/>
            </a:br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9565829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340" y="275822"/>
            <a:ext cx="7820690" cy="439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D975-99C6-BF57-C572-65565056E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Harjutus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904B3-29E4-C3E0-A31D-19657250C0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Sales </a:t>
            </a:r>
            <a:r>
              <a:rPr lang="en-GB" dirty="0" err="1"/>
              <a:t>aruanne</a:t>
            </a:r>
            <a:r>
              <a:rPr lang="en-GB" dirty="0"/>
              <a:t> HARJUTUS 1</a:t>
            </a:r>
          </a:p>
          <a:p>
            <a:r>
              <a:rPr lang="en-GB" dirty="0" err="1"/>
              <a:t>Kujundame</a:t>
            </a:r>
            <a:endParaRPr lang="en-GB" dirty="0"/>
          </a:p>
          <a:p>
            <a:r>
              <a:rPr lang="en-GB" dirty="0" err="1"/>
              <a:t>Testime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577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841B-1620-7F64-AABF-17AC8BEAD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F5146-E745-CD30-E5D4-2398C96FDC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Müükide</a:t>
            </a:r>
            <a:r>
              <a:rPr lang="en-US"/>
              <a:t> </a:t>
            </a:r>
            <a:r>
              <a:rPr lang="en-US" err="1"/>
              <a:t>ülevaade</a:t>
            </a:r>
            <a:r>
              <a:rPr lang="en-US"/>
              <a:t> </a:t>
            </a:r>
            <a:r>
              <a:rPr lang="en-US" err="1"/>
              <a:t>müügitiimile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4B09-5239-995B-53EC-8B8446BCCF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Kuidas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edeneb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käesoleval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kuul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eelarve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täitmine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müügiesindajate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kaupa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?</a:t>
            </a: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1301507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joondada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üle vaadata – kas on ainult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vajalikud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elemendid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?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üle vaadata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F7D9-A61C-3BF0-60A4-85822C8A2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loetavus</a:t>
            </a:r>
            <a:r>
              <a:rPr lang="en-GB" dirty="0"/>
              <a:t>: </a:t>
            </a:r>
            <a:r>
              <a:rPr lang="en-GB" dirty="0" err="1"/>
              <a:t>andmelugu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18E02-D1F2-D7E8-A7D2-98280F35E3B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Mudeil</a:t>
            </a:r>
            <a:r>
              <a:rPr lang="en-GB" sz="2000" dirty="0"/>
              <a:t> </a:t>
            </a:r>
            <a:r>
              <a:rPr lang="en-GB" sz="2000" dirty="0" err="1"/>
              <a:t>korrastamine</a:t>
            </a:r>
            <a:r>
              <a:rPr lang="en-GB" sz="2000" dirty="0"/>
              <a:t>	</a:t>
            </a:r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nimetused</a:t>
            </a:r>
            <a:endParaRPr lang="en-GB" sz="2000" dirty="0"/>
          </a:p>
          <a:p>
            <a:pPr lvl="1"/>
            <a:r>
              <a:rPr lang="en-GB" sz="2000" dirty="0" err="1"/>
              <a:t>Ebavajalike</a:t>
            </a:r>
            <a:r>
              <a:rPr lang="en-GB" sz="2000" dirty="0"/>
              <a:t> </a:t>
            </a:r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kustutamine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peitmine</a:t>
            </a:r>
            <a:endParaRPr lang="en-GB" sz="2000" dirty="0"/>
          </a:p>
          <a:p>
            <a:r>
              <a:rPr lang="en-GB" sz="2000" dirty="0" err="1"/>
              <a:t>Loetavus</a:t>
            </a:r>
            <a:endParaRPr lang="en-GB" sz="2000" dirty="0"/>
          </a:p>
          <a:p>
            <a:pPr lvl="1"/>
            <a:r>
              <a:rPr lang="en-GB" sz="2000" dirty="0" err="1"/>
              <a:t>Tiitellleht</a:t>
            </a:r>
            <a:endParaRPr lang="en-GB" sz="2000" dirty="0"/>
          </a:p>
          <a:p>
            <a:pPr lvl="1"/>
            <a:r>
              <a:rPr lang="en-GB" sz="2000" dirty="0" err="1"/>
              <a:t>Pealkirjad</a:t>
            </a:r>
            <a:r>
              <a:rPr lang="en-GB" sz="2000" dirty="0"/>
              <a:t>, </a:t>
            </a:r>
            <a:r>
              <a:rPr lang="en-GB" sz="2000" dirty="0" err="1"/>
              <a:t>lisakirjeldused</a:t>
            </a:r>
            <a:r>
              <a:rPr lang="en-GB" sz="2000" dirty="0"/>
              <a:t>, </a:t>
            </a:r>
            <a:r>
              <a:rPr lang="en-GB" sz="2000" dirty="0" err="1"/>
              <a:t>ajatempel</a:t>
            </a:r>
            <a:endParaRPr lang="en-GB" sz="2000" dirty="0"/>
          </a:p>
          <a:p>
            <a:pPr lvl="1"/>
            <a:r>
              <a:rPr lang="en-GB" sz="2000" dirty="0" err="1"/>
              <a:t>Lehtede</a:t>
            </a:r>
            <a:r>
              <a:rPr lang="en-GB" sz="2000" dirty="0"/>
              <a:t> </a:t>
            </a:r>
            <a:r>
              <a:rPr lang="en-GB" sz="2000" dirty="0" err="1"/>
              <a:t>järjestus</a:t>
            </a:r>
            <a:endParaRPr lang="en-GB" sz="2000" dirty="0"/>
          </a:p>
          <a:p>
            <a:pPr lvl="1"/>
            <a:r>
              <a:rPr lang="en-GB" sz="2000" dirty="0" err="1"/>
              <a:t>Navigatsioon</a:t>
            </a:r>
            <a:r>
              <a:rPr lang="en-GB" sz="2000" dirty="0"/>
              <a:t>: </a:t>
            </a:r>
            <a:r>
              <a:rPr lang="en-GB" sz="2000" dirty="0" err="1"/>
              <a:t>navigatsiooni</a:t>
            </a:r>
            <a:r>
              <a:rPr lang="en-GB" sz="2000" dirty="0"/>
              <a:t> </a:t>
            </a:r>
            <a:r>
              <a:rPr lang="en-GB" sz="2000" dirty="0" err="1"/>
              <a:t>leht</a:t>
            </a:r>
            <a:r>
              <a:rPr lang="en-GB" sz="2000" dirty="0"/>
              <a:t>, </a:t>
            </a:r>
            <a:r>
              <a:rPr lang="en-GB" sz="2000" dirty="0" err="1"/>
              <a:t>nupud</a:t>
            </a:r>
            <a:endParaRPr lang="en-GB" sz="2000" dirty="0"/>
          </a:p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visuaalne</a:t>
            </a:r>
            <a:r>
              <a:rPr lang="en-GB" sz="2000" dirty="0"/>
              <a:t> pool – </a:t>
            </a:r>
            <a:r>
              <a:rPr lang="en-GB" sz="2000" dirty="0" err="1"/>
              <a:t>kujundus</a:t>
            </a:r>
            <a:r>
              <a:rPr lang="en-GB" sz="2000" dirty="0"/>
              <a:t> </a:t>
            </a:r>
            <a:r>
              <a:rPr lang="en-GB" sz="2000" dirty="0" err="1"/>
              <a:t>annab</a:t>
            </a:r>
            <a:r>
              <a:rPr lang="en-GB" sz="2000" dirty="0"/>
              <a:t> </a:t>
            </a:r>
            <a:r>
              <a:rPr lang="en-GB" sz="2000" dirty="0" err="1"/>
              <a:t>palju</a:t>
            </a:r>
            <a:r>
              <a:rPr lang="en-GB" sz="2000" dirty="0"/>
              <a:t> </a:t>
            </a:r>
            <a:r>
              <a:rPr lang="en-GB" sz="2000" dirty="0" err="1"/>
              <a:t>juurde</a:t>
            </a:r>
            <a:r>
              <a:rPr lang="en-GB" sz="2000" dirty="0"/>
              <a:t> </a:t>
            </a:r>
            <a:r>
              <a:rPr lang="en-GB" sz="2000" dirty="0" err="1"/>
              <a:t>usaldatavust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loetavust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18444066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1094</TotalTime>
  <Words>2055</Words>
  <Application>Microsoft Office PowerPoint</Application>
  <PresentationFormat>Widescreen</PresentationFormat>
  <Paragraphs>236</Paragraphs>
  <Slides>41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Inter Bold</vt:lpstr>
      <vt:lpstr>Courier New</vt:lpstr>
      <vt:lpstr>Inter</vt:lpstr>
      <vt:lpstr>Arial</vt:lpstr>
      <vt:lpstr>Poppins SemiBold</vt:lpstr>
      <vt:lpstr>Wingdings</vt:lpstr>
      <vt:lpstr>Calibri</vt:lpstr>
      <vt:lpstr>BCS</vt:lpstr>
      <vt:lpstr>Vali Andmetarkus!</vt:lpstr>
      <vt:lpstr>Päevakava - III päev</vt:lpstr>
      <vt:lpstr>Power BI – Päringud (M-language)</vt:lpstr>
      <vt:lpstr>Teeme veebipõhiseks</vt:lpstr>
      <vt:lpstr>Harjutus – muudame andmeallikad veebipõhiseks Google Sheets</vt:lpstr>
      <vt:lpstr>Github</vt:lpstr>
      <vt:lpstr>Power BI – Eelarve faili lisamine</vt:lpstr>
      <vt:lpstr>Paus 10:30-10:45</vt:lpstr>
      <vt:lpstr>Power BI – päringu kaudu tulpade lisamine</vt:lpstr>
      <vt:lpstr>Lõunapaus 12:15-13:15</vt:lpstr>
      <vt:lpstr>Andmete visualiseerimise parimad praktikad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Õige visuaali valimine</vt:lpstr>
      <vt:lpstr>Lugemist visualiseerimise teemal</vt:lpstr>
      <vt:lpstr>Visualiseerimine päev 3</vt:lpstr>
      <vt:lpstr>"ilusaks tegemine“ ja loetavuse parandamine</vt:lpstr>
      <vt:lpstr>Power BI-s kasutame kolme põhilist Gestalt-printsiipi </vt:lpstr>
      <vt:lpstr>Power BI-s kasutame kolme põhilist Gestalt-printsiipi </vt:lpstr>
      <vt:lpstr>Power BI-s kasutame kolme põhilist Gestalt-printsiipi</vt:lpstr>
      <vt:lpstr>Power BI-s kasutame kolme põhilist Gestalt-printsiipi </vt:lpstr>
      <vt:lpstr>Disaini ja kasutajamugavuse kontroll</vt:lpstr>
      <vt:lpstr>Disaini ja kasutajamugavuse kontroll</vt:lpstr>
      <vt:lpstr>Disaini ja kasutajamugavuse kontroll</vt:lpstr>
      <vt:lpstr>Halb näide</vt:lpstr>
      <vt:lpstr>Halb näide</vt:lpstr>
      <vt:lpstr>HEAD NÄITED</vt:lpstr>
      <vt:lpstr>HEAD NÄITED</vt:lpstr>
      <vt:lpstr>HEAD NÄITED</vt:lpstr>
      <vt:lpstr>Harjutus</vt:lpstr>
      <vt:lpstr>Müükide ülevaade müügitiimile</vt:lpstr>
      <vt:lpstr>Millistele küsimustele vastust otsid?</vt:lpstr>
      <vt:lpstr>Stsenaarium 1: HÄSTI </vt:lpstr>
      <vt:lpstr>⚠️ Stsenaarium 2: HALVASTI </vt:lpstr>
      <vt:lpstr>Power BI Desktop – vormistame raporti</vt:lpstr>
      <vt:lpstr>Power BI Service</vt:lpstr>
      <vt:lpstr>Paus 14:45-15:00</vt:lpstr>
      <vt:lpstr>Andmeloo jutustamine</vt:lpstr>
      <vt:lpstr>Raporti loetavus: andmelugu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9</cp:revision>
  <dcterms:created xsi:type="dcterms:W3CDTF">2021-08-27T11:35:28Z</dcterms:created>
  <dcterms:modified xsi:type="dcterms:W3CDTF">2026-09-01T17:09:40Z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