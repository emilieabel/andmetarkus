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79" r:id="rId13"/>
    <p:sldId id="680" r:id="rId14"/>
    <p:sldId id="681" r:id="rId15"/>
    <p:sldId id="677" r:id="rId16"/>
    <p:sldId id="678" r:id="rId17"/>
    <p:sldId id="641" r:id="rId18"/>
    <p:sldId id="448" r:id="rId19"/>
    <p:sldId id="579" r:id="rId20"/>
    <p:sldId id="580" r:id="rId21"/>
    <p:sldId id="257" r:id="rId22"/>
    <p:sldId id="258" r:id="rId23"/>
    <p:sldId id="259" r:id="rId24"/>
    <p:sldId id="260" r:id="rId25"/>
    <p:sldId id="261" r:id="rId26"/>
    <p:sldId id="672" r:id="rId27"/>
    <p:sldId id="674" r:id="rId28"/>
    <p:sldId id="484" r:id="rId29"/>
    <p:sldId id="603" r:id="rId30"/>
    <p:sldId id="638" r:id="rId31"/>
    <p:sldId id="639" r:id="rId32"/>
    <p:sldId id="640" r:id="rId33"/>
    <p:sldId id="635" r:id="rId34"/>
    <p:sldId id="267" r:id="rId35"/>
    <p:sldId id="265" r:id="rId36"/>
    <p:sldId id="271" r:id="rId37"/>
    <p:sldId id="272" r:id="rId38"/>
    <p:sldId id="273" r:id="rId39"/>
    <p:sldId id="268" r:id="rId40"/>
    <p:sldId id="269" r:id="rId41"/>
    <p:sldId id="270" r:id="rId42"/>
    <p:sldId id="673" r:id="rId43"/>
    <p:sldId id="503" r:id="rId44"/>
    <p:sldId id="666" r:id="rId45"/>
    <p:sldId id="667" r:id="rId46"/>
    <p:sldId id="668" r:id="rId47"/>
    <p:sldId id="659" r:id="rId48"/>
    <p:sldId id="460" r:id="rId49"/>
    <p:sldId id="581" r:id="rId50"/>
    <p:sldId id="671" r:id="rId51"/>
    <p:sldId id="450" r:id="rId52"/>
    <p:sldId id="432" r:id="rId53"/>
    <p:sldId id="676" r:id="rId54"/>
    <p:sldId id="461" r:id="rId55"/>
  </p:sldIdLst>
  <p:sldSz cx="12192000" cy="6858000"/>
  <p:notesSz cx="6858000" cy="9144000"/>
  <p:embeddedFontLs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Inter" panose="020B0604020202020204" charset="0"/>
      <p:regular r:id="rId62"/>
      <p:bold r:id="rId63"/>
      <p:italic r:id="rId64"/>
      <p:boldItalic r:id="rId65"/>
    </p:embeddedFont>
    <p:embeddedFont>
      <p:font typeface="Inter Bold" panose="020B0604020202020204" charset="0"/>
      <p:bold r:id="rId66"/>
    </p:embeddedFont>
    <p:embeddedFont>
      <p:font typeface="Poppins SemiBold" panose="00000700000000000000" pitchFamily="2" charset="-70"/>
      <p:bold r:id="rId67"/>
      <p:boldItalic r:id="rId6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4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5139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spreadsheets/d/1-6f2CkhuTtMPWjEdhKHPV_yHeeYV6zi5WnMR9mFKDkg/edit?usp=sharing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  <a:p>
            <a:r>
              <a:rPr lang="et-EE" sz="2000" i="1" dirty="0"/>
              <a:t>Mõõdikute kirjelduse tabel</a:t>
            </a:r>
          </a:p>
          <a:p>
            <a:r>
              <a:rPr lang="et-EE" sz="2000" i="1" dirty="0"/>
              <a:t>Objektide kirjeldused</a:t>
            </a:r>
          </a:p>
          <a:p>
            <a:r>
              <a:rPr lang="et-EE" sz="2000" i="1" dirty="0"/>
              <a:t>Visuaalil agregeerimine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Faili import</a:t>
            </a:r>
          </a:p>
          <a:p>
            <a:pPr lvl="1"/>
            <a:r>
              <a:rPr lang="et-EE" dirty="0"/>
              <a:t>Arvutist</a:t>
            </a:r>
          </a:p>
          <a:p>
            <a:pPr lvl="1"/>
            <a:r>
              <a:rPr lang="et-EE" sz="2000" i="1" dirty="0"/>
              <a:t>Võrgust</a:t>
            </a:r>
          </a:p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pPr lvl="1"/>
            <a:r>
              <a:rPr lang="et-EE" sz="1800" i="1" dirty="0"/>
              <a:t>Veergude lõikamine, dubleerimine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1490" y="100346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 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pPr lvl="1"/>
            <a:r>
              <a:rPr lang="et-EE" sz="1800" dirty="0"/>
              <a:t>Filtrid</a:t>
            </a:r>
          </a:p>
          <a:p>
            <a:pPr lvl="1"/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67044"/>
            <a:ext cx="10044112" cy="357043"/>
          </a:xfrm>
        </p:spPr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12" y="1196181"/>
            <a:ext cx="10941050" cy="4465637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Lisame eelarve tabeli Google sheets alt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https://docs.google.com/spreadsheets/d/1-6f2CkhuTtMPWjEdhKHPV_yHeeYV6zi5WnMR9mFKDkg/edit?usp=sharing</a:t>
            </a:r>
            <a:endParaRPr lang="et-EE" dirty="0"/>
          </a:p>
          <a:p>
            <a:pPr marL="0" indent="0">
              <a:buNone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New source</a:t>
            </a:r>
          </a:p>
          <a:p>
            <a:pPr>
              <a:buFontTx/>
              <a:buChar char="-"/>
            </a:pPr>
            <a:r>
              <a:rPr lang="et-EE" dirty="0"/>
              <a:t>Get data</a:t>
            </a:r>
          </a:p>
          <a:p>
            <a:pPr>
              <a:buFontTx/>
              <a:buChar char="-"/>
            </a:pPr>
            <a:r>
              <a:rPr lang="et-EE" dirty="0"/>
              <a:t>Google sheets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D96D8-D317-C243-097D-9DEA273F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29" y="3228585"/>
            <a:ext cx="6812071" cy="3073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6F184D-2569-BE9A-B883-725A7ED7B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3428999"/>
            <a:ext cx="2896005" cy="246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8B7F-BB81-8EEF-28CD-1278118300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Google sheets Budget tabel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4422D-3344-C66F-A9C1-25D80621687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346543" y="960011"/>
            <a:ext cx="3991627" cy="16257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DD1C43-229F-F95C-DA41-2FEA0B24C5A3}"/>
              </a:ext>
            </a:extLst>
          </p:cNvPr>
          <p:cNvSpPr txBox="1">
            <a:spLocks/>
          </p:cNvSpPr>
          <p:nvPr/>
        </p:nvSpPr>
        <p:spPr>
          <a:xfrm>
            <a:off x="467312" y="1196181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t-EE" dirty="0"/>
              <a:t>Continue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Sisesta URL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Vali sheet ja OK</a:t>
            </a:r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Font typeface="Inter" panose="020B0502030000000004" pitchFamily="34" charset="0"/>
              <a:buNone/>
            </a:pP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F0F07E-0775-6B40-650C-A693D140A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997" y="2652842"/>
            <a:ext cx="6260926" cy="1884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DEFDB-54E5-BDDF-E92A-9916B6850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543" y="4228875"/>
            <a:ext cx="6862175" cy="176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32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28D9-22E4-038E-BDAE-11F241568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Töötleme tabelit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71BF6-3872-C0A3-5DBE-AA2E09EA0F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79422" y="999103"/>
            <a:ext cx="10941050" cy="4465637"/>
          </a:xfrm>
        </p:spPr>
        <p:txBody>
          <a:bodyPr/>
          <a:lstStyle/>
          <a:p>
            <a:r>
              <a:rPr lang="et-EE" dirty="0"/>
              <a:t>Keerame Pivot table </a:t>
            </a:r>
            <a:br>
              <a:rPr lang="et-EE" dirty="0"/>
            </a:br>
            <a:r>
              <a:rPr lang="et-EE" dirty="0"/>
              <a:t>tavaliseks tabaeliks</a:t>
            </a:r>
          </a:p>
          <a:p>
            <a:r>
              <a:rPr lang="et-EE" dirty="0"/>
              <a:t>Esimeses reas on veeru nimed, teeme neist Headerid</a:t>
            </a:r>
            <a:br>
              <a:rPr lang="et-EE" dirty="0"/>
            </a:br>
            <a:r>
              <a:rPr lang="et-EE" dirty="0"/>
              <a:t>Use first rows as headers</a:t>
            </a:r>
          </a:p>
          <a:p>
            <a:endParaRPr lang="et-EE" dirty="0"/>
          </a:p>
          <a:p>
            <a:r>
              <a:rPr lang="et-EE" dirty="0"/>
              <a:t>Märgistame esimese veeru, </a:t>
            </a:r>
            <a:br>
              <a:rPr lang="et-EE" dirty="0"/>
            </a:br>
            <a:r>
              <a:rPr lang="et-EE" dirty="0"/>
              <a:t>paremklõps ja Unpivot Other Columns</a:t>
            </a:r>
            <a:br>
              <a:rPr lang="et-EE" dirty="0"/>
            </a:br>
            <a:br>
              <a:rPr lang="et-EE" dirty="0"/>
            </a:br>
            <a:r>
              <a:rPr lang="et-EE" dirty="0"/>
              <a:t>Nimeta veerud õigesti (kliki veeru päisel)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D39F-8C9E-B125-6113-7EA90E79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33" y="199375"/>
            <a:ext cx="5860092" cy="1656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877A8-1EBE-F370-BA4C-77CB049B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422" y="2085769"/>
            <a:ext cx="1891430" cy="13432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B4D71-F551-675E-485D-1AC24BB3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474" y="2018387"/>
            <a:ext cx="3525494" cy="3870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54639-B91F-CE85-5DB4-EFA8166686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199" y="3822134"/>
            <a:ext cx="3457681" cy="206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1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0672-65A6-9302-B6A9-6ACFC42C25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Eelarve tabel mudelisse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B5B1-CD16-A16F-D2F6-7A92DE5041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Tee seosed</a:t>
            </a:r>
          </a:p>
          <a:p>
            <a:pPr lvl="1"/>
            <a:r>
              <a:rPr lang="et-EE" dirty="0"/>
              <a:t>Eelarve tabeli kuupäeva ja Date tabeli vahel</a:t>
            </a:r>
          </a:p>
          <a:p>
            <a:pPr lvl="1"/>
            <a:r>
              <a:rPr lang="et-EE" dirty="0"/>
              <a:t>Eelarve tabeli SalesRep ja SalesRep tabeli vahel</a:t>
            </a:r>
          </a:p>
          <a:p>
            <a:pPr lvl="1"/>
            <a:endParaRPr lang="et-EE" dirty="0"/>
          </a:p>
          <a:p>
            <a:r>
              <a:rPr lang="et-EE" dirty="0"/>
              <a:t>Tee graafik</a:t>
            </a:r>
          </a:p>
          <a:p>
            <a:pPr lvl="1"/>
            <a:r>
              <a:rPr lang="et-EE" dirty="0"/>
              <a:t>Muuda pealkirja</a:t>
            </a:r>
          </a:p>
          <a:p>
            <a:pPr lvl="1"/>
            <a:r>
              <a:rPr lang="et-EE" dirty="0"/>
              <a:t>Eemalda Y teljelt tekst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4AD3FE-3F28-5552-FE5C-E27421086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384" y="2167003"/>
            <a:ext cx="6296616" cy="3046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73556-2DFD-AE37-9DA1-9030CB037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15" y="3271975"/>
            <a:ext cx="1663190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5721-C287-6A2F-7F64-EA26A24DF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Kui on soov muuta olemasolev päring veebipõhiseks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987B-AC45-C42A-4F99-281809F937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103BE9-D066-DC93-4B36-82D0202AA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33" y="1736894"/>
            <a:ext cx="10051167" cy="430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9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9F4-1F85-CB41-4B93-2627FC637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Advanced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808-ADD7-C0AC-51B3-5DDEA4D389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Asendad</a:t>
            </a:r>
          </a:p>
        </p:txBody>
      </p:sp>
    </p:spTree>
    <p:extLst>
      <p:ext uri="{BB962C8B-B14F-4D97-AF65-F5344CB8AC3E}">
        <p14:creationId xmlns:p14="http://schemas.microsoft.com/office/powerpoint/2010/main" val="254632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br>
              <a:rPr lang="et-EE" sz="2000" b="1" dirty="0">
                <a:ea typeface="Inter"/>
              </a:rPr>
            </a:b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sz="2000" i="1" dirty="0"/>
              <a:t>Tere! </a:t>
            </a:r>
            <a:r>
              <a:rPr lang="en-GB" sz="2000" i="1" dirty="0" err="1"/>
              <a:t>Juhatus</a:t>
            </a:r>
            <a:r>
              <a:rPr lang="en-GB" sz="2000" i="1" dirty="0"/>
              <a:t> </a:t>
            </a:r>
            <a:r>
              <a:rPr lang="en-GB" sz="2000" i="1" dirty="0" err="1"/>
              <a:t>tahab</a:t>
            </a:r>
            <a:r>
              <a:rPr lang="en-GB" sz="2000" i="1" dirty="0"/>
              <a:t> </a:t>
            </a:r>
            <a:r>
              <a:rPr lang="en-GB" sz="2000" i="1" dirty="0" err="1"/>
              <a:t>teada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meil</a:t>
            </a:r>
            <a:r>
              <a:rPr lang="en-GB" sz="2000" i="1" dirty="0"/>
              <a:t> </a:t>
            </a:r>
            <a:r>
              <a:rPr lang="en-GB" sz="2000" i="1" dirty="0" err="1"/>
              <a:t>müügiga</a:t>
            </a:r>
            <a:r>
              <a:rPr lang="en-GB" sz="2000" i="1" dirty="0"/>
              <a:t> </a:t>
            </a:r>
            <a:r>
              <a:rPr lang="en-GB" sz="2000" i="1" dirty="0" err="1"/>
              <a:t>tegelikult</a:t>
            </a:r>
            <a:r>
              <a:rPr lang="en-GB" sz="2000" i="1" dirty="0"/>
              <a:t> </a:t>
            </a:r>
            <a:r>
              <a:rPr lang="en-GB" sz="2000" i="1" dirty="0" err="1"/>
              <a:t>läheb</a:t>
            </a:r>
            <a:r>
              <a:rPr lang="en-GB" sz="2000" i="1" dirty="0"/>
              <a:t>. Nad </a:t>
            </a:r>
            <a:r>
              <a:rPr lang="en-GB" sz="2000" i="1" dirty="0" err="1"/>
              <a:t>soovivad</a:t>
            </a:r>
            <a:r>
              <a:rPr lang="en-GB" sz="2000" i="1" dirty="0"/>
              <a:t> </a:t>
            </a:r>
            <a:r>
              <a:rPr lang="en-GB" sz="2000" i="1" dirty="0" err="1"/>
              <a:t>näha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on </a:t>
            </a:r>
            <a:r>
              <a:rPr lang="en-GB" sz="2000" i="1" dirty="0" err="1"/>
              <a:t>müük</a:t>
            </a:r>
            <a:r>
              <a:rPr lang="en-GB" sz="2000" i="1" dirty="0"/>
              <a:t> </a:t>
            </a:r>
            <a:r>
              <a:rPr lang="en-GB" sz="2000" i="1" dirty="0" err="1"/>
              <a:t>aja</a:t>
            </a:r>
            <a:r>
              <a:rPr lang="en-GB" sz="2000" i="1" dirty="0"/>
              <a:t> </a:t>
            </a:r>
            <a:r>
              <a:rPr lang="en-GB" sz="2000" i="1" dirty="0" err="1"/>
              <a:t>jooksul</a:t>
            </a:r>
            <a:r>
              <a:rPr lang="en-GB" sz="2000" i="1" dirty="0"/>
              <a:t> </a:t>
            </a:r>
            <a:r>
              <a:rPr lang="en-GB" sz="2000" i="1" dirty="0" err="1"/>
              <a:t>muutunud</a:t>
            </a:r>
            <a:r>
              <a:rPr lang="en-GB" sz="2000" i="1" dirty="0"/>
              <a:t> – </a:t>
            </a:r>
            <a:r>
              <a:rPr lang="en-GB" sz="2000" i="1" dirty="0" err="1"/>
              <a:t>ehk</a:t>
            </a:r>
            <a:r>
              <a:rPr lang="en-GB" sz="2000" i="1" dirty="0"/>
              <a:t> kas me </a:t>
            </a:r>
            <a:r>
              <a:rPr lang="en-GB" sz="2000" i="1" dirty="0" err="1"/>
              <a:t>kasvame</a:t>
            </a:r>
            <a:r>
              <a:rPr lang="en-GB" sz="2000" i="1" dirty="0"/>
              <a:t>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kahaneme</a:t>
            </a:r>
            <a:r>
              <a:rPr lang="en-GB" sz="2000" i="1" dirty="0"/>
              <a:t>. Tahan </a:t>
            </a:r>
            <a:r>
              <a:rPr lang="en-GB" sz="2000" i="1" dirty="0" err="1"/>
              <a:t>aru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me </a:t>
            </a:r>
            <a:r>
              <a:rPr lang="en-GB" sz="2000" i="1" dirty="0" err="1"/>
              <a:t>samal</a:t>
            </a:r>
            <a:r>
              <a:rPr lang="en-GB" sz="2000" i="1" dirty="0"/>
              <a:t> </a:t>
            </a:r>
            <a:r>
              <a:rPr lang="en-GB" sz="2000" i="1" dirty="0" err="1"/>
              <a:t>ajal</a:t>
            </a:r>
            <a:r>
              <a:rPr lang="en-GB" sz="2000" i="1" dirty="0"/>
              <a:t> </a:t>
            </a:r>
            <a:r>
              <a:rPr lang="en-GB" sz="2000" i="1" dirty="0" err="1"/>
              <a:t>eelmisel</a:t>
            </a:r>
            <a:r>
              <a:rPr lang="en-GB" sz="2000" i="1" dirty="0"/>
              <a:t> </a:t>
            </a:r>
            <a:r>
              <a:rPr lang="en-GB" sz="2000" i="1" dirty="0" err="1"/>
              <a:t>aastal</a:t>
            </a:r>
            <a:r>
              <a:rPr lang="en-GB" sz="2000" i="1" dirty="0"/>
              <a:t> </a:t>
            </a:r>
            <a:r>
              <a:rPr lang="en-GB" sz="2000" i="1" dirty="0" err="1"/>
              <a:t>tegutsesime</a:t>
            </a:r>
            <a:r>
              <a:rPr lang="en-GB" sz="2000" i="1" dirty="0"/>
              <a:t> </a:t>
            </a:r>
            <a:r>
              <a:rPr lang="en-GB" sz="2000" i="1" dirty="0" err="1"/>
              <a:t>kuidagi</a:t>
            </a:r>
            <a:r>
              <a:rPr lang="en-GB" sz="2000" i="1" dirty="0"/>
              <a:t> </a:t>
            </a:r>
            <a:r>
              <a:rPr lang="en-GB" sz="2000" i="1" dirty="0" err="1"/>
              <a:t>teisiti</a:t>
            </a:r>
            <a:r>
              <a:rPr lang="en-GB" sz="2000" i="1" dirty="0"/>
              <a:t>. </a:t>
            </a:r>
            <a:r>
              <a:rPr lang="en-GB" sz="2000" i="1" dirty="0" err="1"/>
              <a:t>Kindlasti</a:t>
            </a:r>
            <a:r>
              <a:rPr lang="en-GB" sz="2000" i="1" dirty="0"/>
              <a:t> on </a:t>
            </a:r>
            <a:r>
              <a:rPr lang="en-GB" sz="2000" i="1" dirty="0" err="1"/>
              <a:t>vaja</a:t>
            </a:r>
            <a:r>
              <a:rPr lang="en-GB" sz="2000" i="1" dirty="0"/>
              <a:t> </a:t>
            </a:r>
            <a:r>
              <a:rPr lang="en-GB" sz="2000" i="1" dirty="0" err="1"/>
              <a:t>võrdlust</a:t>
            </a:r>
            <a:r>
              <a:rPr lang="en-GB" sz="2000" i="1" dirty="0"/>
              <a:t> </a:t>
            </a:r>
            <a:r>
              <a:rPr lang="en-GB" sz="2000" i="1" dirty="0" err="1"/>
              <a:t>selle</a:t>
            </a:r>
            <a:r>
              <a:rPr lang="en-GB" sz="2000" i="1" dirty="0"/>
              <a:t> </a:t>
            </a:r>
            <a:r>
              <a:rPr lang="en-GB" sz="2000" i="1" dirty="0" err="1"/>
              <a:t>aasta</a:t>
            </a:r>
            <a:r>
              <a:rPr lang="en-GB" sz="2000" i="1" dirty="0"/>
              <a:t> </a:t>
            </a:r>
            <a:r>
              <a:rPr lang="en-GB" sz="2000" i="1" dirty="0" err="1"/>
              <a:t>eelarvega</a:t>
            </a:r>
            <a:r>
              <a:rPr lang="en-GB" sz="2000" i="1" dirty="0"/>
              <a:t>, et </a:t>
            </a:r>
            <a:r>
              <a:rPr lang="en-GB" sz="2000" i="1" dirty="0" err="1"/>
              <a:t>teada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</a:t>
            </a:r>
            <a:r>
              <a:rPr lang="en-GB" sz="2000" i="1" dirty="0" err="1"/>
              <a:t>oleme</a:t>
            </a:r>
            <a:r>
              <a:rPr lang="en-GB" sz="2000" i="1" dirty="0"/>
              <a:t> </a:t>
            </a:r>
            <a:r>
              <a:rPr lang="en-GB" sz="2000" i="1" dirty="0" err="1"/>
              <a:t>plaanist</a:t>
            </a:r>
            <a:r>
              <a:rPr lang="en-GB" sz="2000" i="1" dirty="0"/>
              <a:t> ees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taga</a:t>
            </a:r>
            <a:r>
              <a:rPr lang="en-GB" sz="2000" i="1" dirty="0"/>
              <a:t>. Lisaks </a:t>
            </a:r>
            <a:r>
              <a:rPr lang="en-GB" sz="2000" i="1" dirty="0" err="1"/>
              <a:t>oodatakse</a:t>
            </a:r>
            <a:r>
              <a:rPr lang="en-GB" sz="2000" i="1" dirty="0"/>
              <a:t> </a:t>
            </a:r>
            <a:r>
              <a:rPr lang="en-GB" sz="2000" i="1" dirty="0" err="1"/>
              <a:t>meilt</a:t>
            </a:r>
            <a:r>
              <a:rPr lang="en-GB" sz="2000" i="1" dirty="0"/>
              <a:t> </a:t>
            </a:r>
            <a:r>
              <a:rPr lang="en-GB" sz="2000" i="1" dirty="0" err="1"/>
              <a:t>mõtteid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saaksime</a:t>
            </a:r>
            <a:r>
              <a:rPr lang="en-GB" sz="2000" i="1" dirty="0"/>
              <a:t> </a:t>
            </a:r>
            <a:r>
              <a:rPr lang="en-GB" sz="2000" i="1" dirty="0" err="1"/>
              <a:t>müüki</a:t>
            </a:r>
            <a:r>
              <a:rPr lang="en-GB" sz="2000" i="1" dirty="0"/>
              <a:t> </a:t>
            </a:r>
            <a:r>
              <a:rPr lang="en-GB" sz="2000" i="1" dirty="0" err="1"/>
              <a:t>veelgi</a:t>
            </a:r>
            <a:r>
              <a:rPr lang="en-GB" sz="2000" i="1" dirty="0"/>
              <a:t> </a:t>
            </a:r>
            <a:r>
              <a:rPr lang="en-GB" sz="2000" i="1" dirty="0" err="1"/>
              <a:t>suurendada</a:t>
            </a:r>
            <a:r>
              <a:rPr lang="en-GB" sz="2000" i="1" dirty="0"/>
              <a:t>. </a:t>
            </a:r>
            <a:r>
              <a:rPr lang="en-GB" sz="2000" i="1" dirty="0" err="1"/>
              <a:t>Tõenäoliselt</a:t>
            </a:r>
            <a:r>
              <a:rPr lang="en-GB" sz="2000" i="1" dirty="0"/>
              <a:t> </a:t>
            </a:r>
            <a:r>
              <a:rPr lang="en-GB" sz="2000" i="1" dirty="0" err="1"/>
              <a:t>peaksime</a:t>
            </a:r>
            <a:r>
              <a:rPr lang="en-GB" sz="2000" i="1" dirty="0"/>
              <a:t> </a:t>
            </a:r>
            <a:r>
              <a:rPr lang="en-GB" sz="2000" i="1" dirty="0" err="1"/>
              <a:t>vaatama</a:t>
            </a:r>
            <a:r>
              <a:rPr lang="en-GB" sz="2000" i="1" dirty="0"/>
              <a:t> </a:t>
            </a:r>
            <a:r>
              <a:rPr lang="en-GB" sz="2000" i="1" dirty="0" err="1"/>
              <a:t>reaalseid</a:t>
            </a:r>
            <a:r>
              <a:rPr lang="en-GB" sz="2000" i="1" dirty="0"/>
              <a:t> </a:t>
            </a:r>
            <a:r>
              <a:rPr lang="en-GB" sz="2000" i="1" dirty="0" err="1"/>
              <a:t>müüginumbreid</a:t>
            </a:r>
            <a:r>
              <a:rPr lang="en-GB" sz="2000" i="1" dirty="0"/>
              <a:t> </a:t>
            </a:r>
            <a:r>
              <a:rPr lang="en-GB" sz="2000" i="1" dirty="0" err="1"/>
              <a:t>erinevates</a:t>
            </a:r>
            <a:r>
              <a:rPr lang="en-GB" sz="2000" i="1" dirty="0"/>
              <a:t> </a:t>
            </a:r>
            <a:r>
              <a:rPr lang="en-GB" sz="2000" i="1" dirty="0" err="1"/>
              <a:t>piirkondades</a:t>
            </a:r>
            <a:r>
              <a:rPr lang="en-GB" sz="2000" i="1" dirty="0"/>
              <a:t>, </a:t>
            </a:r>
            <a:r>
              <a:rPr lang="en-GB" sz="2000" i="1" dirty="0" err="1"/>
              <a:t>toodete</a:t>
            </a:r>
            <a:r>
              <a:rPr lang="en-GB" sz="2000" i="1" dirty="0"/>
              <a:t> </a:t>
            </a:r>
            <a:r>
              <a:rPr lang="en-GB" sz="2000" i="1" dirty="0" err="1"/>
              <a:t>müügivõimalusi</a:t>
            </a:r>
            <a:r>
              <a:rPr lang="en-GB" sz="2000" i="1" dirty="0"/>
              <a:t>, </a:t>
            </a:r>
            <a:r>
              <a:rPr lang="en-GB" sz="2000" i="1" dirty="0" err="1"/>
              <a:t>klientide</a:t>
            </a:r>
            <a:r>
              <a:rPr lang="en-GB" sz="2000" i="1" dirty="0"/>
              <a:t> </a:t>
            </a:r>
            <a:r>
              <a:rPr lang="en-GB" sz="2000" i="1" dirty="0" err="1"/>
              <a:t>ostuharjumusi</a:t>
            </a:r>
            <a:r>
              <a:rPr lang="en-GB" sz="2000" i="1" dirty="0"/>
              <a:t>, </a:t>
            </a:r>
            <a:r>
              <a:rPr lang="en-GB" sz="2000" i="1" dirty="0" err="1"/>
              <a:t>müügiesindajate</a:t>
            </a:r>
            <a:r>
              <a:rPr lang="en-GB" sz="2000" i="1" dirty="0"/>
              <a:t> </a:t>
            </a:r>
            <a:r>
              <a:rPr lang="en-GB" sz="2000" i="1" dirty="0" err="1"/>
              <a:t>tulemusi</a:t>
            </a:r>
            <a:r>
              <a:rPr lang="en-GB" sz="2000" i="1" dirty="0"/>
              <a:t> </a:t>
            </a:r>
            <a:r>
              <a:rPr lang="en-GB" sz="2000" i="1" dirty="0" err="1"/>
              <a:t>ja</a:t>
            </a:r>
            <a:r>
              <a:rPr lang="en-GB" sz="2000" i="1" dirty="0"/>
              <a:t> </a:t>
            </a:r>
            <a:r>
              <a:rPr lang="en-GB" sz="2000" i="1" dirty="0" err="1"/>
              <a:t>ametlikku</a:t>
            </a:r>
            <a:r>
              <a:rPr lang="en-GB" sz="2000" i="1" dirty="0"/>
              <a:t> </a:t>
            </a:r>
            <a:r>
              <a:rPr lang="en-GB" sz="2000" i="1" dirty="0" err="1"/>
              <a:t>eelarveplaani</a:t>
            </a:r>
            <a:r>
              <a:rPr lang="en-GB" sz="2000" i="1" dirty="0"/>
              <a:t>.“</a:t>
            </a:r>
          </a:p>
          <a:p>
            <a:pPr>
              <a:lnSpc>
                <a:spcPct val="150000"/>
              </a:lnSpc>
            </a:pPr>
            <a:endParaRPr lang="en-US" sz="2000" b="1" dirty="0">
              <a:ea typeface="Inter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Veel harjutusi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1440</TotalTime>
  <Words>2783</Words>
  <Application>Microsoft Office PowerPoint</Application>
  <PresentationFormat>Widescreen</PresentationFormat>
  <Paragraphs>346</Paragraphs>
  <Slides>51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Consolas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Google sheets Budget tabel</vt:lpstr>
      <vt:lpstr>Töötleme tabelit</vt:lpstr>
      <vt:lpstr>Eelarve tabel mudelisse</vt:lpstr>
      <vt:lpstr>Kui on soov muuta olemasolev päring veebipõhiseks</vt:lpstr>
      <vt:lpstr>Advanced editor</vt:lpstr>
      <vt:lpstr>Harjutus – muudame andmeallikad veebipõhiseks Google Sheets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harjutusi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23</cp:revision>
  <dcterms:created xsi:type="dcterms:W3CDTF">2021-08-27T11:35:28Z</dcterms:created>
  <dcterms:modified xsi:type="dcterms:W3CDTF">2026-09-02T10:53:58Z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