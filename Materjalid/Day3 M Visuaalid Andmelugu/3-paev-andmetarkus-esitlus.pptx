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2"/>
  </p:notesMasterIdLst>
  <p:handoutMasterIdLst>
    <p:handoutMasterId r:id="rId53"/>
  </p:handoutMasterIdLst>
  <p:sldIdLst>
    <p:sldId id="417" r:id="rId5"/>
    <p:sldId id="457" r:id="rId6"/>
    <p:sldId id="670" r:id="rId7"/>
    <p:sldId id="675" r:id="rId8"/>
    <p:sldId id="447" r:id="rId9"/>
    <p:sldId id="669" r:id="rId10"/>
    <p:sldId id="449" r:id="rId11"/>
    <p:sldId id="644" r:id="rId12"/>
    <p:sldId id="641" r:id="rId13"/>
    <p:sldId id="643" r:id="rId14"/>
    <p:sldId id="448" r:id="rId15"/>
    <p:sldId id="579" r:id="rId16"/>
    <p:sldId id="580" r:id="rId17"/>
    <p:sldId id="257" r:id="rId18"/>
    <p:sldId id="258" r:id="rId19"/>
    <p:sldId id="259" r:id="rId20"/>
    <p:sldId id="260" r:id="rId21"/>
    <p:sldId id="261" r:id="rId22"/>
    <p:sldId id="672" r:id="rId23"/>
    <p:sldId id="674" r:id="rId24"/>
    <p:sldId id="484" r:id="rId25"/>
    <p:sldId id="603" r:id="rId26"/>
    <p:sldId id="638" r:id="rId27"/>
    <p:sldId id="639" r:id="rId28"/>
    <p:sldId id="640" r:id="rId29"/>
    <p:sldId id="635" r:id="rId30"/>
    <p:sldId id="267" r:id="rId31"/>
    <p:sldId id="265" r:id="rId32"/>
    <p:sldId id="271" r:id="rId33"/>
    <p:sldId id="272" r:id="rId34"/>
    <p:sldId id="273" r:id="rId35"/>
    <p:sldId id="268" r:id="rId36"/>
    <p:sldId id="269" r:id="rId37"/>
    <p:sldId id="270" r:id="rId38"/>
    <p:sldId id="673" r:id="rId39"/>
    <p:sldId id="503" r:id="rId40"/>
    <p:sldId id="666" r:id="rId41"/>
    <p:sldId id="667" r:id="rId42"/>
    <p:sldId id="668" r:id="rId43"/>
    <p:sldId id="659" r:id="rId44"/>
    <p:sldId id="460" r:id="rId45"/>
    <p:sldId id="581" r:id="rId46"/>
    <p:sldId id="671" r:id="rId47"/>
    <p:sldId id="450" r:id="rId48"/>
    <p:sldId id="432" r:id="rId49"/>
    <p:sldId id="676" r:id="rId50"/>
    <p:sldId id="461" r:id="rId51"/>
  </p:sldIdLst>
  <p:sldSz cx="12192000" cy="6858000"/>
  <p:notesSz cx="6858000" cy="9144000"/>
  <p:embeddedFontLst>
    <p:embeddedFont>
      <p:font typeface="Consolas" panose="020B0609020204030204" pitchFamily="49" charset="0"/>
      <p:regular r:id="rId54"/>
      <p:bold r:id="rId55"/>
      <p:italic r:id="rId56"/>
      <p:boldItalic r:id="rId57"/>
    </p:embeddedFont>
    <p:embeddedFont>
      <p:font typeface="Inter" panose="020B0604020202020204" charset="0"/>
      <p:regular r:id="rId58"/>
      <p:bold r:id="rId59"/>
      <p:italic r:id="rId60"/>
      <p:boldItalic r:id="rId61"/>
    </p:embeddedFont>
    <p:embeddedFont>
      <p:font typeface="Inter Bold" panose="020B0604020202020204" charset="0"/>
      <p:bold r:id="rId62"/>
    </p:embeddedFont>
    <p:embeddedFont>
      <p:font typeface="Poppins SemiBold" panose="00000700000000000000" pitchFamily="2" charset="-70"/>
      <p:bold r:id="rId63"/>
      <p:boldItalic r:id="rId64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117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font" Target="fonts/font10.fntdata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8" Type="http://schemas.openxmlformats.org/officeDocument/2006/relationships/font" Target="fonts/font5.fntdata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font" Target="fonts/font8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font" Target="fonts/font3.fntdata"/><Relationship Id="rId64" Type="http://schemas.openxmlformats.org/officeDocument/2006/relationships/font" Target="fonts/font11.fntdata"/><Relationship Id="rId69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font" Target="fonts/font6.fntdata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1.fntdata"/><Relationship Id="rId62" Type="http://schemas.openxmlformats.org/officeDocument/2006/relationships/font" Target="fonts/font9.fntdata"/><Relationship Id="rId7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font" Target="fonts/font4.fntdata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7.fntdata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02.09.2026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11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02.09.2026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38163950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Vaatame üle seni õpitu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15:00 – 16:30 –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Koolitus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Raporti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kirjeldamine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vormistamin</a:t>
                      </a:r>
                      <a:r>
                        <a:rPr lang="et-EE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e</a:t>
                      </a:r>
                      <a:endParaRPr lang="en-US" sz="2400" b="0" i="0" u="none" strike="noStrike" kern="1200" dirty="0">
                        <a:solidFill>
                          <a:srgbClr val="121212"/>
                        </a:solidFill>
                        <a:effectLst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  <a:p>
            <a:r>
              <a:rPr lang="et-EE" sz="2000" i="1" dirty="0"/>
              <a:t>Mõõdikute kirjelduse tabel</a:t>
            </a:r>
          </a:p>
          <a:p>
            <a:r>
              <a:rPr lang="et-EE" sz="2000" i="1" dirty="0"/>
              <a:t>Objektide kirjeldused</a:t>
            </a:r>
          </a:p>
          <a:p>
            <a:r>
              <a:rPr lang="et-EE" sz="2000" i="1" dirty="0"/>
              <a:t>Visuaalil agregeerimine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dirty="0"/>
              <a:t>Faili import</a:t>
            </a:r>
          </a:p>
          <a:p>
            <a:pPr lvl="1"/>
            <a:r>
              <a:rPr lang="et-EE" dirty="0"/>
              <a:t>Arvutist</a:t>
            </a:r>
          </a:p>
          <a:p>
            <a:pPr lvl="1"/>
            <a:r>
              <a:rPr lang="et-EE" sz="2000" i="1" dirty="0"/>
              <a:t>Võrgust</a:t>
            </a:r>
          </a:p>
          <a:p>
            <a:r>
              <a:rPr lang="et-EE" dirty="0"/>
              <a:t>Andmete kontrollimine</a:t>
            </a:r>
          </a:p>
          <a:p>
            <a:pPr lvl="1"/>
            <a:r>
              <a:rPr lang="et-EE" dirty="0"/>
              <a:t>Column distribute, Qualitiy, Profile + visuaalne kontroll</a:t>
            </a:r>
          </a:p>
          <a:p>
            <a:pPr lvl="1"/>
            <a:r>
              <a:rPr lang="et-EE" sz="1800" i="1" dirty="0"/>
              <a:t>Veergude lõikamine, dubleerimine</a:t>
            </a:r>
          </a:p>
          <a:p>
            <a:r>
              <a:rPr lang="et-EE" dirty="0"/>
              <a:t>Andmete parandamine</a:t>
            </a:r>
          </a:p>
          <a:p>
            <a:pPr lvl="1"/>
            <a:r>
              <a:rPr lang="et-EE" dirty="0"/>
              <a:t>Päise rida</a:t>
            </a:r>
          </a:p>
          <a:p>
            <a:pPr lvl="1"/>
            <a:r>
              <a:rPr lang="et-EE" dirty="0"/>
              <a:t>Tühjad read</a:t>
            </a:r>
          </a:p>
          <a:p>
            <a:pPr lvl="1"/>
            <a:r>
              <a:rPr lang="et-EE" dirty="0"/>
              <a:t>Valed kpv eraldajad</a:t>
            </a:r>
          </a:p>
          <a:p>
            <a:pPr lvl="1"/>
            <a:r>
              <a:rPr lang="et-EE" dirty="0"/>
              <a:t>Valed komakoha eraldajad</a:t>
            </a:r>
          </a:p>
          <a:p>
            <a:pPr lvl="1"/>
            <a:r>
              <a:rPr lang="et-EE" dirty="0"/>
              <a:t>Valed sümbolid</a:t>
            </a:r>
          </a:p>
          <a:p>
            <a:r>
              <a:rPr lang="et-EE" dirty="0"/>
              <a:t>Andmete töötlemine ja andmemudel</a:t>
            </a:r>
          </a:p>
          <a:p>
            <a:pPr lvl="1"/>
            <a:r>
              <a:rPr lang="et-EE" dirty="0"/>
              <a:t>Dim, fakt</a:t>
            </a:r>
          </a:p>
          <a:p>
            <a:pPr lvl="1"/>
            <a:r>
              <a:rPr lang="et-EE" dirty="0"/>
              <a:t>Seosed, seose suund ja tüüp</a:t>
            </a:r>
          </a:p>
          <a:p>
            <a:pPr lvl="1"/>
            <a:r>
              <a:rPr lang="et-EE" dirty="0"/>
              <a:t>Tabelisse uus arvutatud Column</a:t>
            </a:r>
          </a:p>
          <a:p>
            <a:pPr lvl="1"/>
            <a:r>
              <a:rPr lang="et-EE" dirty="0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6EF08-112F-58CF-16AE-2A9F97EE26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9588" y="319551"/>
            <a:ext cx="10941050" cy="5528800"/>
          </a:xfrm>
        </p:spPr>
        <p:txBody>
          <a:bodyPr/>
          <a:lstStyle/>
          <a:p>
            <a:r>
              <a:rPr lang="et-EE" sz="1800" dirty="0"/>
              <a:t>Import, impordi asukoha vahetamine</a:t>
            </a:r>
          </a:p>
          <a:p>
            <a:r>
              <a:rPr lang="et-EE" sz="1800" dirty="0"/>
              <a:t>Vigade otsimine: Column quality, Distibution, Quality, visuaalselt</a:t>
            </a:r>
          </a:p>
          <a:p>
            <a:r>
              <a:rPr lang="et-EE" sz="1800" dirty="0"/>
              <a:t>Vigade parandamine: komakoha eraldaja, kuupäeva eraldaja, tühi rida, päise rida</a:t>
            </a:r>
          </a:p>
          <a:p>
            <a:r>
              <a:rPr lang="et-EE" sz="1800" b="1" dirty="0"/>
              <a:t>MUDEL KORDA: seosed: suund, granulaarsus</a:t>
            </a:r>
          </a:p>
          <a:p>
            <a:r>
              <a:rPr lang="et-EE" sz="1800" dirty="0"/>
              <a:t>Tabelite nimetamine</a:t>
            </a:r>
          </a:p>
          <a:p>
            <a:r>
              <a:rPr lang="et-EE" sz="1800" dirty="0"/>
              <a:t>Tabelite ühendamine</a:t>
            </a:r>
          </a:p>
          <a:p>
            <a:r>
              <a:rPr lang="et-EE" sz="1800" dirty="0"/>
              <a:t>Kataloogid kuvamiseks: Model View, objekti properties, Display Folder</a:t>
            </a:r>
          </a:p>
          <a:p>
            <a:r>
              <a:rPr lang="et-EE" sz="1800" dirty="0"/>
              <a:t>Mõõdikute tabel ‘New Table’ -&gt;_KPI-s = DATATABLE("Measures", STRING, {{"Rida"}})</a:t>
            </a:r>
          </a:p>
          <a:p>
            <a:pPr lvl="1"/>
            <a:r>
              <a:rPr lang="et-EE" sz="1800" dirty="0"/>
              <a:t>Sales sum</a:t>
            </a:r>
          </a:p>
          <a:p>
            <a:pPr lvl="1"/>
            <a:r>
              <a:rPr lang="et-EE" sz="1800" dirty="0"/>
              <a:t>Sales sum –discount</a:t>
            </a:r>
          </a:p>
          <a:p>
            <a:pPr lvl="1"/>
            <a:r>
              <a:rPr lang="et-EE" sz="1800" dirty="0"/>
              <a:t>Toote kulu ja kasum</a:t>
            </a:r>
          </a:p>
          <a:p>
            <a:pPr lvl="1"/>
            <a:r>
              <a:rPr lang="en-US" sz="1800" dirty="0"/>
              <a:t>Profit = SUM(</a:t>
            </a:r>
            <a:r>
              <a:rPr lang="en-US" sz="1800" dirty="0" err="1"/>
              <a:t>SalesTable</a:t>
            </a:r>
            <a:r>
              <a:rPr lang="en-US" sz="1800" dirty="0"/>
              <a:t>[Sales Sum]) - SUM(</a:t>
            </a:r>
            <a:r>
              <a:rPr lang="en-US" sz="1800" dirty="0" err="1"/>
              <a:t>SalesTable</a:t>
            </a:r>
            <a:r>
              <a:rPr lang="en-US" sz="1800" dirty="0"/>
              <a:t>[Cost Sum])</a:t>
            </a:r>
            <a:endParaRPr lang="et-EE" sz="1800" dirty="0"/>
          </a:p>
          <a:p>
            <a:pPr lvl="1"/>
            <a:r>
              <a:rPr lang="et-EE" sz="1800" dirty="0"/>
              <a:t>Profit % = [Profit] / [Sales Sum]</a:t>
            </a:r>
          </a:p>
          <a:p>
            <a:r>
              <a:rPr lang="et-EE" sz="1800" dirty="0"/>
              <a:t>Graafiku lisamine, tüübi muutmine, objektide kasutamine graafikul</a:t>
            </a:r>
          </a:p>
          <a:p>
            <a:pPr lvl="1"/>
            <a:r>
              <a:rPr lang="et-EE" sz="1800" dirty="0"/>
              <a:t>Toodete müügi võrdlus</a:t>
            </a:r>
          </a:p>
          <a:p>
            <a:pPr lvl="1"/>
            <a:r>
              <a:rPr lang="et-EE" sz="1800" dirty="0"/>
              <a:t>jne</a:t>
            </a:r>
          </a:p>
          <a:p>
            <a:r>
              <a:rPr lang="et-EE" sz="1800" dirty="0"/>
              <a:t>Tingimuslik vormindamine</a:t>
            </a:r>
          </a:p>
          <a:p>
            <a:r>
              <a:rPr lang="et-EE" sz="1800" dirty="0"/>
              <a:t>Nupp</a:t>
            </a:r>
          </a:p>
          <a:p>
            <a:r>
              <a:rPr lang="et-EE" sz="1800" dirty="0"/>
              <a:t>Filtreerimine</a:t>
            </a:r>
          </a:p>
          <a:p>
            <a:r>
              <a:rPr lang="et-EE" sz="1800" dirty="0"/>
              <a:t>Visuaalide vaheline klikkimine</a:t>
            </a:r>
          </a:p>
          <a:p>
            <a:r>
              <a:rPr lang="et-EE" sz="1800" dirty="0"/>
              <a:t>Lehe suurus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D7272D-978D-1D99-C666-C84710C0A2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92681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Tükeldamine eile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Google Sheets</a:t>
            </a:r>
          </a:p>
          <a:p>
            <a:r>
              <a:rPr lang="en-GB" dirty="0">
                <a:solidFill>
                  <a:schemeClr val="accent4"/>
                </a:solidFill>
              </a:rPr>
              <a:t>Region Table</a:t>
            </a:r>
          </a:p>
          <a:p>
            <a:r>
              <a:rPr lang="en-GB" dirty="0">
                <a:solidFill>
                  <a:schemeClr val="accent4"/>
                </a:solidFill>
              </a:rPr>
              <a:t>Customer Table</a:t>
            </a:r>
          </a:p>
          <a:p>
            <a:endParaRPr lang="en-GB" dirty="0">
              <a:solidFill>
                <a:schemeClr val="accent4"/>
              </a:solidFill>
            </a:endParaRPr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Product Table</a:t>
            </a:r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    Source = GoogleSheets.Contents("https://docs.google.com/spreadsheets/d/1k1nHE1Fy5UFR5Kh7BPy-ASfnItSJ5DyUIuPZhL4qDU4/edit?usp=sharing"),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B2843-84FC-6050-6780-3E1CF9056E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Githu</a:t>
            </a:r>
            <a:r>
              <a:rPr lang="et-EE" dirty="0"/>
              <a:t>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5C53-3E1D-61A6-CE62-781555F7FC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800" dirty="0"/>
              <a:t>Product Table</a:t>
            </a:r>
          </a:p>
          <a:p>
            <a:r>
              <a:rPr lang="en-GB" sz="2800" dirty="0" err="1"/>
              <a:t>SalesRep</a:t>
            </a:r>
            <a:r>
              <a:rPr lang="en-GB" sz="2800" dirty="0"/>
              <a:t> Table</a:t>
            </a:r>
          </a:p>
          <a:p>
            <a:pPr marL="0" indent="0">
              <a:buNone/>
            </a:pPr>
            <a:endParaRPr lang="et-EE" sz="2800" dirty="0"/>
          </a:p>
          <a:p>
            <a:r>
              <a:rPr lang="et-EE" sz="2800" dirty="0"/>
              <a:t>Ava fail</a:t>
            </a:r>
          </a:p>
          <a:p>
            <a:r>
              <a:rPr lang="et-EE" sz="2800" dirty="0"/>
              <a:t>Vali Raw</a:t>
            </a:r>
          </a:p>
          <a:p>
            <a:r>
              <a:rPr lang="et-EE" sz="2800" dirty="0"/>
              <a:t>Kopeeri URL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771217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 fail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CD862-BDA9-E570-A198-FE44E96FF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Andmetega töö esimene samm: Probleemipüstitus/küsimus/huvi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E934-306A-1BB2-9292-4CD3ADD5DA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  <a:p>
            <a:pPr marL="0" indent="0">
              <a:buNone/>
            </a:pPr>
            <a:r>
              <a:rPr lang="et-EE" sz="2400" b="1" dirty="0"/>
              <a:t>NÄITEKS</a:t>
            </a:r>
            <a:endParaRPr lang="et-EE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Ettevõte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juhatus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soovib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ülevaadet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müügitulust</a:t>
            </a:r>
            <a:br>
              <a:rPr lang="et-EE" sz="2000" b="1" dirty="0">
                <a:ea typeface="Inter"/>
              </a:rPr>
            </a:br>
            <a:endParaRPr lang="et-EE" sz="2000" b="1" dirty="0">
              <a:ea typeface="Inter"/>
            </a:endParaRPr>
          </a:p>
          <a:p>
            <a:pPr marL="0" indent="0">
              <a:buNone/>
            </a:pPr>
            <a:r>
              <a:rPr lang="en-US" sz="2000" dirty="0" err="1">
                <a:ea typeface="Inter"/>
              </a:rPr>
              <a:t>Müügijuht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teie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juurde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murega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müügitulu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languses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ta </a:t>
            </a:r>
            <a:r>
              <a:rPr lang="en-US" sz="2000" dirty="0" err="1">
                <a:ea typeface="Inter"/>
              </a:rPr>
              <a:t>sooviks</a:t>
            </a:r>
            <a:r>
              <a:rPr lang="en-US" sz="2000" dirty="0">
                <a:ea typeface="Inter"/>
              </a:rPr>
              <a:t> teada, miks.</a:t>
            </a:r>
            <a:r>
              <a:rPr lang="en-GB" sz="2000" i="1" dirty="0"/>
              <a:t>“</a:t>
            </a:r>
          </a:p>
          <a:p>
            <a:endParaRPr lang="en-GB" sz="2000" i="1" dirty="0"/>
          </a:p>
          <a:p>
            <a:pPr marL="0" indent="0">
              <a:buNone/>
            </a:pPr>
            <a:r>
              <a:rPr lang="en-GB" sz="2000" i="1" dirty="0"/>
              <a:t>Tere! </a:t>
            </a:r>
            <a:r>
              <a:rPr lang="en-GB" sz="2000" i="1" dirty="0" err="1"/>
              <a:t>Juhatus</a:t>
            </a:r>
            <a:r>
              <a:rPr lang="en-GB" sz="2000" i="1" dirty="0"/>
              <a:t> </a:t>
            </a:r>
            <a:r>
              <a:rPr lang="en-GB" sz="2000" i="1" dirty="0" err="1"/>
              <a:t>tahab</a:t>
            </a:r>
            <a:r>
              <a:rPr lang="en-GB" sz="2000" i="1" dirty="0"/>
              <a:t> </a:t>
            </a:r>
            <a:r>
              <a:rPr lang="en-GB" sz="2000" i="1" dirty="0" err="1"/>
              <a:t>teada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</a:t>
            </a:r>
            <a:r>
              <a:rPr lang="en-GB" sz="2000" i="1" dirty="0" err="1"/>
              <a:t>meil</a:t>
            </a:r>
            <a:r>
              <a:rPr lang="en-GB" sz="2000" i="1" dirty="0"/>
              <a:t> </a:t>
            </a:r>
            <a:r>
              <a:rPr lang="en-GB" sz="2000" i="1" dirty="0" err="1"/>
              <a:t>müügiga</a:t>
            </a:r>
            <a:r>
              <a:rPr lang="en-GB" sz="2000" i="1" dirty="0"/>
              <a:t> </a:t>
            </a:r>
            <a:r>
              <a:rPr lang="en-GB" sz="2000" i="1" dirty="0" err="1"/>
              <a:t>tegelikult</a:t>
            </a:r>
            <a:r>
              <a:rPr lang="en-GB" sz="2000" i="1" dirty="0"/>
              <a:t> </a:t>
            </a:r>
            <a:r>
              <a:rPr lang="en-GB" sz="2000" i="1" dirty="0" err="1"/>
              <a:t>läheb</a:t>
            </a:r>
            <a:r>
              <a:rPr lang="en-GB" sz="2000" i="1" dirty="0"/>
              <a:t>. Nad </a:t>
            </a:r>
            <a:r>
              <a:rPr lang="en-GB" sz="2000" i="1" dirty="0" err="1"/>
              <a:t>soovivad</a:t>
            </a:r>
            <a:r>
              <a:rPr lang="en-GB" sz="2000" i="1" dirty="0"/>
              <a:t> </a:t>
            </a:r>
            <a:r>
              <a:rPr lang="en-GB" sz="2000" i="1" dirty="0" err="1"/>
              <a:t>näha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on </a:t>
            </a:r>
            <a:r>
              <a:rPr lang="en-GB" sz="2000" i="1" dirty="0" err="1"/>
              <a:t>müük</a:t>
            </a:r>
            <a:r>
              <a:rPr lang="en-GB" sz="2000" i="1" dirty="0"/>
              <a:t> </a:t>
            </a:r>
            <a:r>
              <a:rPr lang="en-GB" sz="2000" i="1" dirty="0" err="1"/>
              <a:t>aja</a:t>
            </a:r>
            <a:r>
              <a:rPr lang="en-GB" sz="2000" i="1" dirty="0"/>
              <a:t> </a:t>
            </a:r>
            <a:r>
              <a:rPr lang="en-GB" sz="2000" i="1" dirty="0" err="1"/>
              <a:t>jooksul</a:t>
            </a:r>
            <a:r>
              <a:rPr lang="en-GB" sz="2000" i="1" dirty="0"/>
              <a:t> </a:t>
            </a:r>
            <a:r>
              <a:rPr lang="en-GB" sz="2000" i="1" dirty="0" err="1"/>
              <a:t>muutunud</a:t>
            </a:r>
            <a:r>
              <a:rPr lang="en-GB" sz="2000" i="1" dirty="0"/>
              <a:t> – </a:t>
            </a:r>
            <a:r>
              <a:rPr lang="en-GB" sz="2000" i="1" dirty="0" err="1"/>
              <a:t>ehk</a:t>
            </a:r>
            <a:r>
              <a:rPr lang="en-GB" sz="2000" i="1" dirty="0"/>
              <a:t> kas me </a:t>
            </a:r>
            <a:r>
              <a:rPr lang="en-GB" sz="2000" i="1" dirty="0" err="1"/>
              <a:t>kasvame</a:t>
            </a:r>
            <a:r>
              <a:rPr lang="en-GB" sz="2000" i="1" dirty="0"/>
              <a:t> </a:t>
            </a:r>
            <a:r>
              <a:rPr lang="en-GB" sz="2000" i="1" dirty="0" err="1"/>
              <a:t>või</a:t>
            </a:r>
            <a:r>
              <a:rPr lang="en-GB" sz="2000" i="1" dirty="0"/>
              <a:t> </a:t>
            </a:r>
            <a:r>
              <a:rPr lang="en-GB" sz="2000" i="1" dirty="0" err="1"/>
              <a:t>kahaneme</a:t>
            </a:r>
            <a:r>
              <a:rPr lang="en-GB" sz="2000" i="1" dirty="0"/>
              <a:t>. Tahan </a:t>
            </a:r>
            <a:r>
              <a:rPr lang="en-GB" sz="2000" i="1" dirty="0" err="1"/>
              <a:t>aru</a:t>
            </a:r>
            <a:r>
              <a:rPr lang="en-GB" sz="2000" i="1" dirty="0"/>
              <a:t> </a:t>
            </a:r>
            <a:r>
              <a:rPr lang="en-GB" sz="2000" i="1" dirty="0" err="1"/>
              <a:t>saada</a:t>
            </a:r>
            <a:r>
              <a:rPr lang="en-GB" sz="2000" i="1" dirty="0"/>
              <a:t>, kas me </a:t>
            </a:r>
            <a:r>
              <a:rPr lang="en-GB" sz="2000" i="1" dirty="0" err="1"/>
              <a:t>samal</a:t>
            </a:r>
            <a:r>
              <a:rPr lang="en-GB" sz="2000" i="1" dirty="0"/>
              <a:t> </a:t>
            </a:r>
            <a:r>
              <a:rPr lang="en-GB" sz="2000" i="1" dirty="0" err="1"/>
              <a:t>ajal</a:t>
            </a:r>
            <a:r>
              <a:rPr lang="en-GB" sz="2000" i="1" dirty="0"/>
              <a:t> </a:t>
            </a:r>
            <a:r>
              <a:rPr lang="en-GB" sz="2000" i="1" dirty="0" err="1"/>
              <a:t>eelmisel</a:t>
            </a:r>
            <a:r>
              <a:rPr lang="en-GB" sz="2000" i="1" dirty="0"/>
              <a:t> </a:t>
            </a:r>
            <a:r>
              <a:rPr lang="en-GB" sz="2000" i="1" dirty="0" err="1"/>
              <a:t>aastal</a:t>
            </a:r>
            <a:r>
              <a:rPr lang="en-GB" sz="2000" i="1" dirty="0"/>
              <a:t> </a:t>
            </a:r>
            <a:r>
              <a:rPr lang="en-GB" sz="2000" i="1" dirty="0" err="1"/>
              <a:t>tegutsesime</a:t>
            </a:r>
            <a:r>
              <a:rPr lang="en-GB" sz="2000" i="1" dirty="0"/>
              <a:t> </a:t>
            </a:r>
            <a:r>
              <a:rPr lang="en-GB" sz="2000" i="1" dirty="0" err="1"/>
              <a:t>kuidagi</a:t>
            </a:r>
            <a:r>
              <a:rPr lang="en-GB" sz="2000" i="1" dirty="0"/>
              <a:t> </a:t>
            </a:r>
            <a:r>
              <a:rPr lang="en-GB" sz="2000" i="1" dirty="0" err="1"/>
              <a:t>teisiti</a:t>
            </a:r>
            <a:r>
              <a:rPr lang="en-GB" sz="2000" i="1" dirty="0"/>
              <a:t>. </a:t>
            </a:r>
            <a:r>
              <a:rPr lang="en-GB" sz="2000" i="1" dirty="0" err="1"/>
              <a:t>Kindlasti</a:t>
            </a:r>
            <a:r>
              <a:rPr lang="en-GB" sz="2000" i="1" dirty="0"/>
              <a:t> on </a:t>
            </a:r>
            <a:r>
              <a:rPr lang="en-GB" sz="2000" i="1" dirty="0" err="1"/>
              <a:t>vaja</a:t>
            </a:r>
            <a:r>
              <a:rPr lang="en-GB" sz="2000" i="1" dirty="0"/>
              <a:t> </a:t>
            </a:r>
            <a:r>
              <a:rPr lang="en-GB" sz="2000" i="1" dirty="0" err="1"/>
              <a:t>võrdlust</a:t>
            </a:r>
            <a:r>
              <a:rPr lang="en-GB" sz="2000" i="1" dirty="0"/>
              <a:t> </a:t>
            </a:r>
            <a:r>
              <a:rPr lang="en-GB" sz="2000" i="1" dirty="0" err="1"/>
              <a:t>selle</a:t>
            </a:r>
            <a:r>
              <a:rPr lang="en-GB" sz="2000" i="1" dirty="0"/>
              <a:t> </a:t>
            </a:r>
            <a:r>
              <a:rPr lang="en-GB" sz="2000" i="1" dirty="0" err="1"/>
              <a:t>aasta</a:t>
            </a:r>
            <a:r>
              <a:rPr lang="en-GB" sz="2000" i="1" dirty="0"/>
              <a:t> </a:t>
            </a:r>
            <a:r>
              <a:rPr lang="en-GB" sz="2000" i="1" dirty="0" err="1"/>
              <a:t>eelarvega</a:t>
            </a:r>
            <a:r>
              <a:rPr lang="en-GB" sz="2000" i="1" dirty="0"/>
              <a:t>, et </a:t>
            </a:r>
            <a:r>
              <a:rPr lang="en-GB" sz="2000" i="1" dirty="0" err="1"/>
              <a:t>teada</a:t>
            </a:r>
            <a:r>
              <a:rPr lang="en-GB" sz="2000" i="1" dirty="0"/>
              <a:t> </a:t>
            </a:r>
            <a:r>
              <a:rPr lang="en-GB" sz="2000" i="1" dirty="0" err="1"/>
              <a:t>saada</a:t>
            </a:r>
            <a:r>
              <a:rPr lang="en-GB" sz="2000" i="1" dirty="0"/>
              <a:t>, kas </a:t>
            </a:r>
            <a:r>
              <a:rPr lang="en-GB" sz="2000" i="1" dirty="0" err="1"/>
              <a:t>oleme</a:t>
            </a:r>
            <a:r>
              <a:rPr lang="en-GB" sz="2000" i="1" dirty="0"/>
              <a:t> </a:t>
            </a:r>
            <a:r>
              <a:rPr lang="en-GB" sz="2000" i="1" dirty="0" err="1"/>
              <a:t>plaanist</a:t>
            </a:r>
            <a:r>
              <a:rPr lang="en-GB" sz="2000" i="1" dirty="0"/>
              <a:t> ees </a:t>
            </a:r>
            <a:r>
              <a:rPr lang="en-GB" sz="2000" i="1" dirty="0" err="1"/>
              <a:t>või</a:t>
            </a:r>
            <a:r>
              <a:rPr lang="en-GB" sz="2000" i="1" dirty="0"/>
              <a:t> </a:t>
            </a:r>
            <a:r>
              <a:rPr lang="en-GB" sz="2000" i="1" dirty="0" err="1"/>
              <a:t>taga</a:t>
            </a:r>
            <a:r>
              <a:rPr lang="en-GB" sz="2000" i="1" dirty="0"/>
              <a:t>. Lisaks </a:t>
            </a:r>
            <a:r>
              <a:rPr lang="en-GB" sz="2000" i="1" dirty="0" err="1"/>
              <a:t>oodatakse</a:t>
            </a:r>
            <a:r>
              <a:rPr lang="en-GB" sz="2000" i="1" dirty="0"/>
              <a:t> </a:t>
            </a:r>
            <a:r>
              <a:rPr lang="en-GB" sz="2000" i="1" dirty="0" err="1"/>
              <a:t>meilt</a:t>
            </a:r>
            <a:r>
              <a:rPr lang="en-GB" sz="2000" i="1" dirty="0"/>
              <a:t> </a:t>
            </a:r>
            <a:r>
              <a:rPr lang="en-GB" sz="2000" i="1" dirty="0" err="1"/>
              <a:t>mõtteid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</a:t>
            </a:r>
            <a:r>
              <a:rPr lang="en-GB" sz="2000" i="1" dirty="0" err="1"/>
              <a:t>saaksime</a:t>
            </a:r>
            <a:r>
              <a:rPr lang="en-GB" sz="2000" i="1" dirty="0"/>
              <a:t> </a:t>
            </a:r>
            <a:r>
              <a:rPr lang="en-GB" sz="2000" i="1" dirty="0" err="1"/>
              <a:t>müüki</a:t>
            </a:r>
            <a:r>
              <a:rPr lang="en-GB" sz="2000" i="1" dirty="0"/>
              <a:t> </a:t>
            </a:r>
            <a:r>
              <a:rPr lang="en-GB" sz="2000" i="1" dirty="0" err="1"/>
              <a:t>veelgi</a:t>
            </a:r>
            <a:r>
              <a:rPr lang="en-GB" sz="2000" i="1" dirty="0"/>
              <a:t> </a:t>
            </a:r>
            <a:r>
              <a:rPr lang="en-GB" sz="2000" i="1" dirty="0" err="1"/>
              <a:t>suurendada</a:t>
            </a:r>
            <a:r>
              <a:rPr lang="en-GB" sz="2000" i="1" dirty="0"/>
              <a:t>. </a:t>
            </a:r>
            <a:r>
              <a:rPr lang="en-GB" sz="2000" i="1" dirty="0" err="1"/>
              <a:t>Tõenäoliselt</a:t>
            </a:r>
            <a:r>
              <a:rPr lang="en-GB" sz="2000" i="1" dirty="0"/>
              <a:t> </a:t>
            </a:r>
            <a:r>
              <a:rPr lang="en-GB" sz="2000" i="1" dirty="0" err="1"/>
              <a:t>peaksime</a:t>
            </a:r>
            <a:r>
              <a:rPr lang="en-GB" sz="2000" i="1" dirty="0"/>
              <a:t> </a:t>
            </a:r>
            <a:r>
              <a:rPr lang="en-GB" sz="2000" i="1" dirty="0" err="1"/>
              <a:t>vaatama</a:t>
            </a:r>
            <a:r>
              <a:rPr lang="en-GB" sz="2000" i="1" dirty="0"/>
              <a:t> </a:t>
            </a:r>
            <a:r>
              <a:rPr lang="en-GB" sz="2000" i="1" dirty="0" err="1"/>
              <a:t>reaalseid</a:t>
            </a:r>
            <a:r>
              <a:rPr lang="en-GB" sz="2000" i="1" dirty="0"/>
              <a:t> </a:t>
            </a:r>
            <a:r>
              <a:rPr lang="en-GB" sz="2000" i="1" dirty="0" err="1"/>
              <a:t>müüginumbreid</a:t>
            </a:r>
            <a:r>
              <a:rPr lang="en-GB" sz="2000" i="1" dirty="0"/>
              <a:t> </a:t>
            </a:r>
            <a:r>
              <a:rPr lang="en-GB" sz="2000" i="1" dirty="0" err="1"/>
              <a:t>erinevates</a:t>
            </a:r>
            <a:r>
              <a:rPr lang="en-GB" sz="2000" i="1" dirty="0"/>
              <a:t> </a:t>
            </a:r>
            <a:r>
              <a:rPr lang="en-GB" sz="2000" i="1" dirty="0" err="1"/>
              <a:t>piirkondades</a:t>
            </a:r>
            <a:r>
              <a:rPr lang="en-GB" sz="2000" i="1" dirty="0"/>
              <a:t>, </a:t>
            </a:r>
            <a:r>
              <a:rPr lang="en-GB" sz="2000" i="1" dirty="0" err="1"/>
              <a:t>toodete</a:t>
            </a:r>
            <a:r>
              <a:rPr lang="en-GB" sz="2000" i="1" dirty="0"/>
              <a:t> </a:t>
            </a:r>
            <a:r>
              <a:rPr lang="en-GB" sz="2000" i="1" dirty="0" err="1"/>
              <a:t>müügivõimalusi</a:t>
            </a:r>
            <a:r>
              <a:rPr lang="en-GB" sz="2000" i="1" dirty="0"/>
              <a:t>, </a:t>
            </a:r>
            <a:r>
              <a:rPr lang="en-GB" sz="2000" i="1" dirty="0" err="1"/>
              <a:t>klientide</a:t>
            </a:r>
            <a:r>
              <a:rPr lang="en-GB" sz="2000" i="1" dirty="0"/>
              <a:t> </a:t>
            </a:r>
            <a:r>
              <a:rPr lang="en-GB" sz="2000" i="1" dirty="0" err="1"/>
              <a:t>ostuharjumusi</a:t>
            </a:r>
            <a:r>
              <a:rPr lang="en-GB" sz="2000" i="1" dirty="0"/>
              <a:t>, </a:t>
            </a:r>
            <a:r>
              <a:rPr lang="en-GB" sz="2000" i="1" dirty="0" err="1"/>
              <a:t>müügiesindajate</a:t>
            </a:r>
            <a:r>
              <a:rPr lang="en-GB" sz="2000" i="1" dirty="0"/>
              <a:t> </a:t>
            </a:r>
            <a:r>
              <a:rPr lang="en-GB" sz="2000" i="1" dirty="0" err="1"/>
              <a:t>tulemusi</a:t>
            </a:r>
            <a:r>
              <a:rPr lang="en-GB" sz="2000" i="1" dirty="0"/>
              <a:t> </a:t>
            </a:r>
            <a:r>
              <a:rPr lang="en-GB" sz="2000" i="1" dirty="0" err="1"/>
              <a:t>ja</a:t>
            </a:r>
            <a:r>
              <a:rPr lang="en-GB" sz="2000" i="1" dirty="0"/>
              <a:t> </a:t>
            </a:r>
            <a:r>
              <a:rPr lang="en-GB" sz="2000" i="1" dirty="0" err="1"/>
              <a:t>ametlikku</a:t>
            </a:r>
            <a:r>
              <a:rPr lang="en-GB" sz="2000" i="1" dirty="0"/>
              <a:t> </a:t>
            </a:r>
            <a:r>
              <a:rPr lang="en-GB" sz="2000" i="1" dirty="0" err="1"/>
              <a:t>eelarveplaani</a:t>
            </a:r>
            <a:r>
              <a:rPr lang="en-GB" sz="2000" i="1" dirty="0"/>
              <a:t>.“</a:t>
            </a:r>
          </a:p>
          <a:p>
            <a:pPr>
              <a:lnSpc>
                <a:spcPct val="150000"/>
              </a:lnSpc>
            </a:pPr>
            <a:endParaRPr lang="en-US" sz="2000" b="1" dirty="0">
              <a:ea typeface="Inter"/>
            </a:endParaRP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85469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</a:t>
            </a:r>
            <a:r>
              <a:rPr lang="et-EE" sz="2400">
                <a:solidFill>
                  <a:srgbClr val="000000"/>
                </a:solidFill>
                <a:ea typeface="Inter"/>
              </a:rPr>
              <a:t>korrektsed,andmetüübid õiged, 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objektid organiseeritud</a:t>
            </a:r>
            <a:r>
              <a:rPr lang="et-EE" sz="2400">
                <a:solidFill>
                  <a:srgbClr val="000000"/>
                </a:solidFill>
                <a:ea typeface="Inter"/>
              </a:rPr>
              <a:t>, koristatud</a:t>
            </a:r>
            <a:endParaRPr lang="et-EE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664B4-0BFB-7C2E-450D-7F2B42AB7D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Veel harjutuso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933B0-9004-BC8C-118F-F4F4C0F9EB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dirty="0" err="1"/>
              <a:t>Käive</a:t>
            </a:r>
            <a:r>
              <a:rPr lang="en-US" sz="2000" dirty="0"/>
              <a:t> Üle </a:t>
            </a:r>
            <a:r>
              <a:rPr lang="en-US" sz="2000" dirty="0" err="1"/>
              <a:t>Keskmise</a:t>
            </a:r>
            <a:r>
              <a:rPr lang="en-US" sz="2000" dirty="0"/>
              <a:t> Hinna = </a:t>
            </a:r>
            <a:br>
              <a:rPr lang="et-EE" sz="2000" dirty="0"/>
            </a:br>
            <a:r>
              <a:rPr lang="en-US" sz="2000" dirty="0"/>
              <a:t>CALCULATE(    SUM(</a:t>
            </a:r>
            <a:r>
              <a:rPr lang="en-US" sz="2000" dirty="0" err="1"/>
              <a:t>fact_sales</a:t>
            </a:r>
            <a:r>
              <a:rPr lang="en-US" sz="2000" dirty="0"/>
              <a:t>[Sales sum]),    FILTER(        </a:t>
            </a:r>
            <a:r>
              <a:rPr lang="en-US" sz="2000" dirty="0" err="1"/>
              <a:t>fact_sales</a:t>
            </a:r>
            <a:r>
              <a:rPr lang="en-US" sz="2000" dirty="0"/>
              <a:t>,        </a:t>
            </a:r>
            <a:r>
              <a:rPr lang="en-US" sz="2000" dirty="0" err="1"/>
              <a:t>fact_sales</a:t>
            </a:r>
            <a:r>
              <a:rPr lang="en-US" sz="2000" dirty="0"/>
              <a:t>[Price] &gt; [</a:t>
            </a:r>
            <a:r>
              <a:rPr lang="en-US" sz="2000" dirty="0" err="1"/>
              <a:t>Toodete</a:t>
            </a:r>
            <a:r>
              <a:rPr lang="en-US" sz="2000" dirty="0"/>
              <a:t> </a:t>
            </a:r>
            <a:r>
              <a:rPr lang="en-US" sz="2000" dirty="0" err="1"/>
              <a:t>Keskmine</a:t>
            </a:r>
            <a:r>
              <a:rPr lang="en-US" sz="2000" dirty="0"/>
              <a:t> Hind]    ))</a:t>
            </a:r>
            <a:br>
              <a:rPr lang="et-EE" sz="2000" dirty="0"/>
            </a:br>
            <a:endParaRPr lang="et-EE" sz="2000" dirty="0"/>
          </a:p>
          <a:p>
            <a:r>
              <a:rPr lang="et-EE" sz="2000" dirty="0"/>
              <a:t>Suurklientide Käive = </a:t>
            </a:r>
            <a:br>
              <a:rPr lang="et-EE" sz="2000" dirty="0"/>
            </a:br>
            <a:r>
              <a:rPr lang="et-EE" sz="2000" dirty="0"/>
              <a:t>CALCULATE(    SUM(fact_sales[Sales sum]),    FILTER(        VALUES(dim_customer[CustomerName]), -- Käib läbi kliendid ühekaupa        [KoguKäive_Mõõdik] &gt; 10000    ))</a:t>
            </a:r>
          </a:p>
        </p:txBody>
      </p:sp>
    </p:spTree>
    <p:extLst>
      <p:ext uri="{BB962C8B-B14F-4D97-AF65-F5344CB8AC3E}">
        <p14:creationId xmlns:p14="http://schemas.microsoft.com/office/powerpoint/2010/main" val="20938812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1257</TotalTime>
  <Words>2678</Words>
  <Application>Microsoft Office PowerPoint</Application>
  <PresentationFormat>Widescreen</PresentationFormat>
  <Paragraphs>321</Paragraphs>
  <Slides>47</Slides>
  <Notes>5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6" baseType="lpstr">
      <vt:lpstr>Inter Bold</vt:lpstr>
      <vt:lpstr>Courier New</vt:lpstr>
      <vt:lpstr>Inter</vt:lpstr>
      <vt:lpstr>Arial</vt:lpstr>
      <vt:lpstr>Poppins SemiBold</vt:lpstr>
      <vt:lpstr>Wingdings</vt:lpstr>
      <vt:lpstr>Calibri</vt:lpstr>
      <vt:lpstr>Consolas</vt:lpstr>
      <vt:lpstr>BCS</vt:lpstr>
      <vt:lpstr>Vali Andmetarkus!</vt:lpstr>
      <vt:lpstr>Päevakava - III päev</vt:lpstr>
      <vt:lpstr>Mida me POWER Bis õppinud oleme</vt:lpstr>
      <vt:lpstr>PowerPoint Presentation</vt:lpstr>
      <vt:lpstr>Power BI – Päringud (M-language)</vt:lpstr>
      <vt:lpstr>Tükeldamine eile</vt:lpstr>
      <vt:lpstr>Power BI – päringu kaudu tulpade lisamine</vt:lpstr>
      <vt:lpstr>Teeme veebipõhiseks</vt:lpstr>
      <vt:lpstr>Harjutus – muudame andmeallikad veebipõhiseks Google Sheets</vt:lpstr>
      <vt:lpstr>Github</vt:lpstr>
      <vt:lpstr>Power BI – Eelarve faili lisamine</vt:lpstr>
      <vt:lpstr>Paus 10:30-10:45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Andmetega töö esimene samm: Probleemipüstitus/küsimus/huvi </vt:lpstr>
      <vt:lpstr>Power BI Desktop – vormistame raporti</vt:lpstr>
      <vt:lpstr>Paus 14:45-15:00</vt:lpstr>
      <vt:lpstr>Raporti loetavuse parandamine</vt:lpstr>
      <vt:lpstr>Andmete visualiseerimise parimad praktikad</vt:lpstr>
      <vt:lpstr>YTD Sales mõõdik ja graafikud</vt:lpstr>
      <vt:lpstr>Veel harjutuso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21</cp:revision>
  <dcterms:created xsi:type="dcterms:W3CDTF">2021-08-27T11:35:28Z</dcterms:created>
  <dcterms:modified xsi:type="dcterms:W3CDTF">2026-09-02T07:50:16Z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