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56"/>
  </p:notesMasterIdLst>
  <p:handoutMasterIdLst>
    <p:handoutMasterId r:id="rId57"/>
  </p:handoutMasterIdLst>
  <p:sldIdLst>
    <p:sldId id="417" r:id="rId5"/>
    <p:sldId id="457" r:id="rId6"/>
    <p:sldId id="670" r:id="rId7"/>
    <p:sldId id="675" r:id="rId8"/>
    <p:sldId id="447" r:id="rId9"/>
    <p:sldId id="669" r:id="rId10"/>
    <p:sldId id="449" r:id="rId11"/>
    <p:sldId id="644" r:id="rId12"/>
    <p:sldId id="679" r:id="rId13"/>
    <p:sldId id="680" r:id="rId14"/>
    <p:sldId id="681" r:id="rId15"/>
    <p:sldId id="677" r:id="rId16"/>
    <p:sldId id="678" r:id="rId17"/>
    <p:sldId id="641" r:id="rId18"/>
    <p:sldId id="448" r:id="rId19"/>
    <p:sldId id="579" r:id="rId20"/>
    <p:sldId id="580" r:id="rId21"/>
    <p:sldId id="257" r:id="rId22"/>
    <p:sldId id="258" r:id="rId23"/>
    <p:sldId id="259" r:id="rId24"/>
    <p:sldId id="260" r:id="rId25"/>
    <p:sldId id="261" r:id="rId26"/>
    <p:sldId id="672" r:id="rId27"/>
    <p:sldId id="674" r:id="rId28"/>
    <p:sldId id="484" r:id="rId29"/>
    <p:sldId id="603" r:id="rId30"/>
    <p:sldId id="638" r:id="rId31"/>
    <p:sldId id="639" r:id="rId32"/>
    <p:sldId id="640" r:id="rId33"/>
    <p:sldId id="635" r:id="rId34"/>
    <p:sldId id="267" r:id="rId35"/>
    <p:sldId id="265" r:id="rId36"/>
    <p:sldId id="271" r:id="rId37"/>
    <p:sldId id="272" r:id="rId38"/>
    <p:sldId id="273" r:id="rId39"/>
    <p:sldId id="268" r:id="rId40"/>
    <p:sldId id="269" r:id="rId41"/>
    <p:sldId id="270" r:id="rId42"/>
    <p:sldId id="673" r:id="rId43"/>
    <p:sldId id="503" r:id="rId44"/>
    <p:sldId id="666" r:id="rId45"/>
    <p:sldId id="667" r:id="rId46"/>
    <p:sldId id="668" r:id="rId47"/>
    <p:sldId id="659" r:id="rId48"/>
    <p:sldId id="460" r:id="rId49"/>
    <p:sldId id="581" r:id="rId50"/>
    <p:sldId id="671" r:id="rId51"/>
    <p:sldId id="450" r:id="rId52"/>
    <p:sldId id="432" r:id="rId53"/>
    <p:sldId id="676" r:id="rId54"/>
    <p:sldId id="461" r:id="rId55"/>
  </p:sldIdLst>
  <p:sldSz cx="12192000" cy="6858000"/>
  <p:notesSz cx="6858000" cy="9144000"/>
  <p:embeddedFontLst>
    <p:embeddedFont>
      <p:font typeface="Consolas" panose="020B0609020204030204" pitchFamily="49" charset="0"/>
      <p:regular r:id="rId58"/>
      <p:bold r:id="rId59"/>
      <p:italic r:id="rId60"/>
      <p:boldItalic r:id="rId61"/>
    </p:embeddedFont>
    <p:embeddedFont>
      <p:font typeface="Inter" panose="020B0604020202020204" charset="0"/>
      <p:regular r:id="rId62"/>
      <p:bold r:id="rId63"/>
      <p:italic r:id="rId64"/>
      <p:boldItalic r:id="rId65"/>
    </p:embeddedFont>
    <p:embeddedFont>
      <p:font typeface="Inter Bold" panose="020B0604020202020204" charset="0"/>
      <p:bold r:id="rId66"/>
    </p:embeddedFont>
    <p:embeddedFont>
      <p:font typeface="Poppins SemiBold" panose="00000700000000000000" pitchFamily="2" charset="-70"/>
      <p:bold r:id="rId67"/>
      <p:boldItalic r:id="rId68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279FD-3AF9-4CBC-9324-F843398BA6C7}" v="18" dt="2026-08-25T10:58:04.3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212" autoAdjust="0"/>
  </p:normalViewPr>
  <p:slideViewPr>
    <p:cSldViewPr snapToGrid="0">
      <p:cViewPr varScale="1">
        <p:scale>
          <a:sx n="51" d="100"/>
          <a:sy n="51" d="100"/>
        </p:scale>
        <p:origin x="117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font" Target="fonts/font6.fntdata"/><Relationship Id="rId68" Type="http://schemas.openxmlformats.org/officeDocument/2006/relationships/font" Target="fonts/font11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font" Target="fonts/font1.fntdata"/><Relationship Id="rId66" Type="http://schemas.openxmlformats.org/officeDocument/2006/relationships/font" Target="fonts/font9.fntdata"/><Relationship Id="rId74" Type="http://schemas.microsoft.com/office/2015/10/relationships/revisionInfo" Target="revisionInfo.xml"/><Relationship Id="rId5" Type="http://schemas.openxmlformats.org/officeDocument/2006/relationships/slide" Target="slides/slide1.xml"/><Relationship Id="rId61" Type="http://schemas.openxmlformats.org/officeDocument/2006/relationships/font" Target="fonts/font4.fntdata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notesMaster" Target="notesMasters/notesMaster1.xml"/><Relationship Id="rId64" Type="http://schemas.openxmlformats.org/officeDocument/2006/relationships/font" Target="fonts/font7.fntdata"/><Relationship Id="rId69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font" Target="fonts/font2.fntdata"/><Relationship Id="rId67" Type="http://schemas.openxmlformats.org/officeDocument/2006/relationships/font" Target="fonts/font10.fntdata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font" Target="fonts/font5.fntdata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73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8-26T07:05:09.415" v="693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8:49.032" v="28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8:47.170" v="27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ord">
        <pc:chgData name="Emilie Abel" userId="20dec598-1860-40de-ab3f-181316cc4da6" providerId="ADAL" clId="{3EAE1975-14BE-41D5-9E3B-28573F0EE5DC}" dt="2026-08-25T09:23:10.353" v="74"/>
        <pc:sldMkLst>
          <pc:docMk/>
          <pc:sldMk cId="2033048184" sldId="44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961512564" sldId="450"/>
        </pc:sldMkLst>
      </pc:sldChg>
      <pc:sldChg chg="modSp mod">
        <pc:chgData name="Emilie Abel" userId="20dec598-1860-40de-ab3f-181316cc4da6" providerId="ADAL" clId="{3EAE1975-14BE-41D5-9E3B-28573F0EE5DC}" dt="2026-08-25T07:14:02.723" v="42" actId="20577"/>
        <pc:sldMkLst>
          <pc:docMk/>
          <pc:sldMk cId="3693905438" sldId="457"/>
        </pc:sldMkLst>
        <pc:graphicFrameChg chg="modGraphic">
          <ac:chgData name="Emilie Abel" userId="20dec598-1860-40de-ab3f-181316cc4da6" providerId="ADAL" clId="{3EAE1975-14BE-41D5-9E3B-28573F0EE5DC}" dt="2026-08-25T07:14:02.723" v="42" actId="20577"/>
          <ac:graphicFrameMkLst>
            <pc:docMk/>
            <pc:sldMk cId="3693905438" sldId="457"/>
            <ac:graphicFrameMk id="5" creationId="{62F3D34C-2699-76DE-4C1A-F379ABDEE53E}"/>
          </ac:graphicFrameMkLst>
        </pc:graphicFrameChg>
      </pc:sldChg>
      <pc:sldChg chg="modSp mod">
        <pc:chgData name="Emilie Abel" userId="20dec598-1860-40de-ab3f-181316cc4da6" providerId="ADAL" clId="{3EAE1975-14BE-41D5-9E3B-28573F0EE5DC}" dt="2026-08-25T11:50:29.576" v="682" actId="20577"/>
        <pc:sldMkLst>
          <pc:docMk/>
          <pc:sldMk cId="3558728410" sldId="461"/>
        </pc:sldMkLst>
        <pc:spChg chg="mod">
          <ac:chgData name="Emilie Abel" userId="20dec598-1860-40de-ab3f-181316cc4da6" providerId="ADAL" clId="{3EAE1975-14BE-41D5-9E3B-28573F0EE5DC}" dt="2026-08-25T11:50:29.576" v="682" actId="20577"/>
          <ac:spMkLst>
            <pc:docMk/>
            <pc:sldMk cId="3558728410" sldId="461"/>
            <ac:spMk id="3" creationId="{5B57BEB0-F68E-0C93-C7A0-ABBBB8146951}"/>
          </ac:spMkLst>
        </pc:spChg>
      </pc:sldChg>
      <pc:sldChg chg="del">
        <pc:chgData name="Emilie Abel" userId="20dec598-1860-40de-ab3f-181316cc4da6" providerId="ADAL" clId="{3EAE1975-14BE-41D5-9E3B-28573F0EE5DC}" dt="2026-08-25T10:57:53.110" v="380" actId="47"/>
        <pc:sldMkLst>
          <pc:docMk/>
          <pc:sldMk cId="1426166856" sldId="480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042153973" sldId="48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645323131" sldId="603"/>
        </pc:sldMkLst>
      </pc:sldChg>
      <pc:sldChg chg="del">
        <pc:chgData name="Emilie Abel" userId="20dec598-1860-40de-ab3f-181316cc4da6" providerId="ADAL" clId="{3EAE1975-14BE-41D5-9E3B-28573F0EE5DC}" dt="2026-08-25T10:57:56.334" v="381" actId="47"/>
        <pc:sldMkLst>
          <pc:docMk/>
          <pc:sldMk cId="3309601003" sldId="60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2519496009" sldId="635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73110062" sldId="638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213550379" sldId="63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797544648" sldId="640"/>
        </pc:sldMkLst>
      </pc:sldChg>
      <pc:sldChg chg="modSp mod">
        <pc:chgData name="Emilie Abel" userId="20dec598-1860-40de-ab3f-181316cc4da6" providerId="ADAL" clId="{3EAE1975-14BE-41D5-9E3B-28573F0EE5DC}" dt="2026-08-25T10:31:24.106" v="372" actId="20577"/>
        <pc:sldMkLst>
          <pc:docMk/>
          <pc:sldMk cId="2411427698" sldId="641"/>
        </pc:sldMkLst>
        <pc:spChg chg="mod">
          <ac:chgData name="Emilie Abel" userId="20dec598-1860-40de-ab3f-181316cc4da6" providerId="ADAL" clId="{3EAE1975-14BE-41D5-9E3B-28573F0EE5DC}" dt="2026-08-25T10:07:25.425" v="126" actId="20577"/>
          <ac:spMkLst>
            <pc:docMk/>
            <pc:sldMk cId="2411427698" sldId="641"/>
            <ac:spMk id="2" creationId="{1524985D-536E-5D52-E9A5-AA1E3944782F}"/>
          </ac:spMkLst>
        </pc:spChg>
        <pc:spChg chg="mod">
          <ac:chgData name="Emilie Abel" userId="20dec598-1860-40de-ab3f-181316cc4da6" providerId="ADAL" clId="{3EAE1975-14BE-41D5-9E3B-28573F0EE5DC}" dt="2026-08-25T10:31:24.106" v="372" actId="20577"/>
          <ac:spMkLst>
            <pc:docMk/>
            <pc:sldMk cId="2411427698" sldId="641"/>
            <ac:spMk id="3" creationId="{C53EAF1F-B8FA-F7FE-8F42-5998CE884202}"/>
          </ac:spMkLst>
        </pc:spChg>
      </pc:sldChg>
      <pc:sldChg chg="modSp new mod">
        <pc:chgData name="Emilie Abel" userId="20dec598-1860-40de-ab3f-181316cc4da6" providerId="ADAL" clId="{3EAE1975-14BE-41D5-9E3B-28573F0EE5DC}" dt="2026-08-26T07:05:09.415" v="693" actId="20577"/>
        <pc:sldMkLst>
          <pc:docMk/>
          <pc:sldMk cId="3184440662" sldId="642"/>
        </pc:sldMkLst>
        <pc:spChg chg="mod">
          <ac:chgData name="Emilie Abel" userId="20dec598-1860-40de-ab3f-181316cc4da6" providerId="ADAL" clId="{3EAE1975-14BE-41D5-9E3B-28573F0EE5DC}" dt="2026-08-26T07:05:09.415" v="693" actId="20577"/>
          <ac:spMkLst>
            <pc:docMk/>
            <pc:sldMk cId="3184440662" sldId="642"/>
            <ac:spMk id="2" creationId="{AA28F7D9-A61C-3BF0-60A4-85822C8A2C0A}"/>
          </ac:spMkLst>
        </pc:spChg>
        <pc:spChg chg="mod">
          <ac:chgData name="Emilie Abel" userId="20dec598-1860-40de-ab3f-181316cc4da6" providerId="ADAL" clId="{3EAE1975-14BE-41D5-9E3B-28573F0EE5DC}" dt="2026-08-25T11:48:51.581" v="619" actId="20577"/>
          <ac:spMkLst>
            <pc:docMk/>
            <pc:sldMk cId="3184440662" sldId="642"/>
            <ac:spMk id="3" creationId="{55318E02-D1F2-D7E8-A7D2-98280F35E3B2}"/>
          </ac:spMkLst>
        </pc:spChg>
      </pc:sldChg>
      <pc:sldChg chg="modSp new mod">
        <pc:chgData name="Emilie Abel" userId="20dec598-1860-40de-ab3f-181316cc4da6" providerId="ADAL" clId="{3EAE1975-14BE-41D5-9E3B-28573F0EE5DC}" dt="2026-08-25T10:05:21.303" v="99" actId="20577"/>
        <pc:sldMkLst>
          <pc:docMk/>
          <pc:sldMk cId="771217817" sldId="643"/>
        </pc:sldMkLst>
        <pc:spChg chg="mod">
          <ac:chgData name="Emilie Abel" userId="20dec598-1860-40de-ab3f-181316cc4da6" providerId="ADAL" clId="{3EAE1975-14BE-41D5-9E3B-28573F0EE5DC}" dt="2026-08-25T10:05:21.303" v="99" actId="20577"/>
          <ac:spMkLst>
            <pc:docMk/>
            <pc:sldMk cId="771217817" sldId="643"/>
            <ac:spMk id="2" creationId="{F4FB2843-84FC-6050-6780-3E1CF9056EB6}"/>
          </ac:spMkLst>
        </pc:spChg>
        <pc:spChg chg="mod">
          <ac:chgData name="Emilie Abel" userId="20dec598-1860-40de-ab3f-181316cc4da6" providerId="ADAL" clId="{3EAE1975-14BE-41D5-9E3B-28573F0EE5DC}" dt="2026-08-25T10:05:07.540" v="76"/>
          <ac:spMkLst>
            <pc:docMk/>
            <pc:sldMk cId="771217817" sldId="643"/>
            <ac:spMk id="3" creationId="{0B745C53-3E1D-61A6-CE62-781555F7FC02}"/>
          </ac:spMkLst>
        </pc:spChg>
      </pc:sldChg>
      <pc:sldChg chg="modSp new mod">
        <pc:chgData name="Emilie Abel" userId="20dec598-1860-40de-ab3f-181316cc4da6" providerId="ADAL" clId="{3EAE1975-14BE-41D5-9E3B-28573F0EE5DC}" dt="2026-08-25T10:31:36.491" v="379"/>
        <pc:sldMkLst>
          <pc:docMk/>
          <pc:sldMk cId="616072544" sldId="644"/>
        </pc:sldMkLst>
        <pc:spChg chg="mod">
          <ac:chgData name="Emilie Abel" userId="20dec598-1860-40de-ab3f-181316cc4da6" providerId="ADAL" clId="{3EAE1975-14BE-41D5-9E3B-28573F0EE5DC}" dt="2026-08-25T10:31:36.491" v="379"/>
          <ac:spMkLst>
            <pc:docMk/>
            <pc:sldMk cId="616072544" sldId="644"/>
            <ac:spMk id="3" creationId="{1590A32E-6C24-47B1-84E4-7C548BB3076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02.09.2026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10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251395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15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62987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153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942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Mõõdiku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loogika</a:t>
            </a:r>
            <a:r>
              <a:rPr lang="en-US" dirty="0">
                <a:ea typeface="Calibri"/>
                <a:cs typeface="Calibri"/>
              </a:rPr>
              <a:t>: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1) Kui </a:t>
            </a:r>
            <a:r>
              <a:rPr lang="en-US" dirty="0" err="1">
                <a:ea typeface="Calibri"/>
                <a:cs typeface="Calibri"/>
              </a:rPr>
              <a:t>mitu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korda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asja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kasutada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siis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saad</a:t>
            </a:r>
            <a:r>
              <a:rPr lang="en-US" dirty="0">
                <a:ea typeface="Calibri"/>
                <a:cs typeface="Calibri"/>
              </a:rPr>
              <a:t> variable-I VAR </a:t>
            </a:r>
            <a:r>
              <a:rPr lang="en-US" dirty="0" err="1">
                <a:ea typeface="Calibri"/>
                <a:cs typeface="Calibri"/>
              </a:rPr>
              <a:t>märksõnaga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defineerida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2) CALCULATE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filtritega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</a:t>
            </a:r>
            <a:r>
              <a:rPr lang="en-US" dirty="0">
                <a:ea typeface="Calibri"/>
                <a:cs typeface="Calibri"/>
              </a:rPr>
              <a:t> peal. </a:t>
            </a:r>
            <a:r>
              <a:rPr lang="en-US" dirty="0" err="1">
                <a:ea typeface="Calibri"/>
                <a:cs typeface="Calibri"/>
              </a:rPr>
              <a:t>Praegusel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juhul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tahame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kuupäeva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filtreerimine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mõjutaks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arvutust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seega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märksõna</a:t>
            </a:r>
            <a:r>
              <a:rPr lang="en-US" dirty="0">
                <a:ea typeface="Calibri"/>
                <a:cs typeface="Calibri"/>
              </a:rPr>
              <a:t> "ALL" </a:t>
            </a:r>
            <a:r>
              <a:rPr lang="en-US" dirty="0" err="1">
                <a:ea typeface="Calibri"/>
                <a:cs typeface="Calibri"/>
              </a:rPr>
              <a:t>ehk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eemaldame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filtrid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3) MAX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maksimumväärtuse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4) MONTH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5) DAY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6) RETURN </a:t>
            </a:r>
            <a:r>
              <a:rPr lang="en-US" dirty="0" err="1">
                <a:ea typeface="Calibri"/>
                <a:cs typeface="Calibri"/>
              </a:rPr>
              <a:t>täpsustab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alustame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valemi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osaga</a:t>
            </a:r>
            <a:r>
              <a:rPr lang="en-US" dirty="0">
                <a:ea typeface="Calibri"/>
                <a:cs typeface="Calibri"/>
              </a:rPr>
              <a:t>, mis </a:t>
            </a:r>
            <a:r>
              <a:rPr lang="en-US" dirty="0" err="1">
                <a:ea typeface="Calibri"/>
                <a:cs typeface="Calibri"/>
              </a:rPr>
              <a:t>tagastab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näha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7)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uuesti</a:t>
            </a:r>
            <a:r>
              <a:rPr lang="en-US" dirty="0">
                <a:ea typeface="Calibri"/>
                <a:cs typeface="Calibri"/>
              </a:rPr>
              <a:t> CALCULATE, et </a:t>
            </a:r>
            <a:r>
              <a:rPr lang="en-US" dirty="0" err="1">
                <a:ea typeface="Calibri"/>
                <a:cs typeface="Calibri"/>
              </a:rPr>
              <a:t>lisada</a:t>
            </a:r>
            <a:r>
              <a:rPr lang="en-US" dirty="0">
                <a:ea typeface="Calibri"/>
                <a:cs typeface="Calibri"/>
              </a:rPr>
              <a:t> filter.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8)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 SUM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müügisummat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9) </a:t>
            </a:r>
            <a:r>
              <a:rPr lang="en-US" dirty="0" err="1">
                <a:ea typeface="Calibri"/>
                <a:cs typeface="Calibri"/>
              </a:rPr>
              <a:t>Lisame</a:t>
            </a:r>
            <a:r>
              <a:rPr lang="en-US" dirty="0">
                <a:ea typeface="Calibri"/>
                <a:cs typeface="Calibri"/>
              </a:rPr>
              <a:t> FILTER </a:t>
            </a:r>
            <a:r>
              <a:rPr lang="en-US" dirty="0" err="1">
                <a:ea typeface="Calibri"/>
                <a:cs typeface="Calibri"/>
              </a:rPr>
              <a:t>tingimuse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millist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filtreerida</a:t>
            </a:r>
            <a:r>
              <a:rPr lang="en-US" dirty="0">
                <a:ea typeface="Calibri"/>
                <a:cs typeface="Calibri"/>
              </a:rPr>
              <a:t>. See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loetavusele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kaasa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10)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müügikuud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11)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kuul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müügipäeva</a:t>
            </a:r>
            <a:r>
              <a:rPr lang="en-US" dirty="0">
                <a:ea typeface="Calibri"/>
                <a:cs typeface="Calibri"/>
              </a:rPr>
              <a:t>.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 err="1">
                <a:ea typeface="Calibri"/>
                <a:cs typeface="Calibri"/>
              </a:rPr>
              <a:t>Kontrollime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risttabelist</a:t>
            </a:r>
            <a:r>
              <a:rPr lang="en-US" dirty="0">
                <a:ea typeface="Calibri"/>
                <a:cs typeface="Calibri"/>
              </a:rPr>
              <a:t>, kas </a:t>
            </a:r>
            <a:r>
              <a:rPr lang="en-US" dirty="0" err="1">
                <a:ea typeface="Calibri"/>
                <a:cs typeface="Calibri"/>
              </a:rPr>
              <a:t>saadud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</a:t>
            </a:r>
            <a:r>
              <a:rPr lang="en-US" dirty="0">
                <a:ea typeface="Calibri"/>
                <a:cs typeface="Calibri"/>
              </a:rPr>
              <a:t> on </a:t>
            </a:r>
            <a:r>
              <a:rPr lang="en-US" dirty="0" err="1">
                <a:ea typeface="Calibri"/>
                <a:cs typeface="Calibri"/>
              </a:rPr>
              <a:t>õige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54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02.09.2026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query-m/" TargetMode="Externa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docs.google.com/spreadsheets/d/1-6f2CkhuTtMPWjEdhKHPV_yHeeYV6zi5WnMR9mFKDkg/edit?usp=sharing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ylon.com/blog/types-of-charts-graphs-examples-data-visualization" TargetMode="External"/><Relationship Id="rId2" Type="http://schemas.openxmlformats.org/officeDocument/2006/relationships/hyperlink" Target="https://www.polymersearch.com/blog/10-good-and-bad-examples-of-data-visualization" TargetMode="Externa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orytellingwithdata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stat.ee/et/statistikaamet/meist/konkurss-andmeparl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E5E7A-D9DC-2EB1-B038-C8FBD977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5A0C-988F-422F-3820-660462E00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F3D34C-2699-76DE-4C1A-F379ABDEE53E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381639505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Vaatame üle seni õpitu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visualiseerimise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parimad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praktikad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Andmeloo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jutustamine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15:00 – 16:30 –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Koolitus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Raporti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kirjeldamine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vormistamin</a:t>
                      </a:r>
                      <a:r>
                        <a:rPr lang="et-EE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e</a:t>
                      </a:r>
                      <a:endParaRPr lang="en-US" sz="2400" b="0" i="0" u="none" strike="noStrike" kern="1200" dirty="0">
                        <a:solidFill>
                          <a:srgbClr val="121212"/>
                        </a:solidFill>
                        <a:effectLst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905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5340F-C524-6C04-CAB6-B5622613C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Mida me POWER Bis õppinud oleme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C14F8-A1DB-0AC6-3A5E-361FF67BCDD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0950" y="1420812"/>
            <a:ext cx="5554662" cy="4465637"/>
          </a:xfrm>
        </p:spPr>
        <p:txBody>
          <a:bodyPr/>
          <a:lstStyle/>
          <a:p>
            <a:r>
              <a:rPr lang="et-EE" dirty="0"/>
              <a:t>Kaustade tegemine</a:t>
            </a:r>
          </a:p>
          <a:p>
            <a:r>
              <a:rPr lang="et-EE" dirty="0"/>
              <a:t>Mõõdikute tabeli tegemine</a:t>
            </a:r>
          </a:p>
          <a:p>
            <a:r>
              <a:rPr lang="et-EE" dirty="0"/>
              <a:t>Visuaalid</a:t>
            </a:r>
          </a:p>
          <a:p>
            <a:pPr lvl="1"/>
            <a:r>
              <a:rPr lang="et-EE" dirty="0"/>
              <a:t>Tabel</a:t>
            </a:r>
          </a:p>
          <a:p>
            <a:pPr lvl="1"/>
            <a:r>
              <a:rPr lang="et-EE" dirty="0"/>
              <a:t>Graafik</a:t>
            </a:r>
          </a:p>
          <a:p>
            <a:r>
              <a:rPr lang="et-EE" dirty="0"/>
              <a:t>Nupp, bookmark</a:t>
            </a:r>
          </a:p>
          <a:p>
            <a:r>
              <a:rPr lang="et-EE" dirty="0"/>
              <a:t>Filtrid</a:t>
            </a:r>
          </a:p>
          <a:p>
            <a:r>
              <a:rPr lang="et-EE" dirty="0"/>
              <a:t>Tabelite filtreerimine</a:t>
            </a:r>
          </a:p>
          <a:p>
            <a:r>
              <a:rPr lang="et-EE" dirty="0"/>
              <a:t>Visuaalide vaheline klikkimine</a:t>
            </a:r>
          </a:p>
          <a:p>
            <a:pPr lvl="1"/>
            <a:r>
              <a:rPr lang="et-EE" dirty="0"/>
              <a:t>Klikkimise eemaldamine/tagasi lülitamine</a:t>
            </a:r>
          </a:p>
          <a:p>
            <a:r>
              <a:rPr lang="et-EE" dirty="0"/>
              <a:t>Drill</a:t>
            </a:r>
          </a:p>
          <a:p>
            <a:r>
              <a:rPr lang="et-EE" dirty="0"/>
              <a:t>Sort</a:t>
            </a:r>
          </a:p>
          <a:p>
            <a:r>
              <a:rPr lang="et-EE" dirty="0"/>
              <a:t>Conditional formatting</a:t>
            </a:r>
          </a:p>
          <a:p>
            <a:r>
              <a:rPr lang="et-EE" sz="2000" i="1" dirty="0"/>
              <a:t>Mõõdikute kirjelduse tabel</a:t>
            </a:r>
          </a:p>
          <a:p>
            <a:r>
              <a:rPr lang="et-EE" sz="2000" i="1" dirty="0"/>
              <a:t>Objektide kirjeldused</a:t>
            </a:r>
          </a:p>
          <a:p>
            <a:r>
              <a:rPr lang="et-EE" sz="2000" i="1" dirty="0"/>
              <a:t>Visuaalil agregeerimine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981EC0-6572-C6AB-344C-F28EBF81273E}"/>
              </a:ext>
            </a:extLst>
          </p:cNvPr>
          <p:cNvSpPr txBox="1">
            <a:spLocks/>
          </p:cNvSpPr>
          <p:nvPr/>
        </p:nvSpPr>
        <p:spPr>
          <a:xfrm>
            <a:off x="776288" y="1420813"/>
            <a:ext cx="5554662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dirty="0"/>
              <a:t>Faili import</a:t>
            </a:r>
          </a:p>
          <a:p>
            <a:pPr lvl="1"/>
            <a:r>
              <a:rPr lang="et-EE" dirty="0"/>
              <a:t>Arvutist</a:t>
            </a:r>
          </a:p>
          <a:p>
            <a:pPr lvl="1"/>
            <a:r>
              <a:rPr lang="et-EE" sz="2000" i="1" dirty="0"/>
              <a:t>Võrgust</a:t>
            </a:r>
          </a:p>
          <a:p>
            <a:r>
              <a:rPr lang="et-EE" dirty="0"/>
              <a:t>Andmete kontrollimine</a:t>
            </a:r>
          </a:p>
          <a:p>
            <a:pPr lvl="1"/>
            <a:r>
              <a:rPr lang="et-EE" dirty="0"/>
              <a:t>Column distribute, Qualitiy, Profile + visuaalne kontroll</a:t>
            </a:r>
          </a:p>
          <a:p>
            <a:pPr lvl="1"/>
            <a:r>
              <a:rPr lang="et-EE" sz="1800" i="1" dirty="0"/>
              <a:t>Veergude lõikamine, dubleerimine</a:t>
            </a:r>
          </a:p>
          <a:p>
            <a:r>
              <a:rPr lang="et-EE" dirty="0"/>
              <a:t>Andmete parandamine</a:t>
            </a:r>
          </a:p>
          <a:p>
            <a:pPr lvl="1"/>
            <a:r>
              <a:rPr lang="et-EE" dirty="0"/>
              <a:t>Päise rida</a:t>
            </a:r>
          </a:p>
          <a:p>
            <a:pPr lvl="1"/>
            <a:r>
              <a:rPr lang="et-EE" dirty="0"/>
              <a:t>Tühjad read</a:t>
            </a:r>
          </a:p>
          <a:p>
            <a:pPr lvl="1"/>
            <a:r>
              <a:rPr lang="et-EE" dirty="0"/>
              <a:t>Valed kpv eraldajad</a:t>
            </a:r>
          </a:p>
          <a:p>
            <a:pPr lvl="1"/>
            <a:r>
              <a:rPr lang="et-EE" dirty="0"/>
              <a:t>Valed komakoha eraldajad</a:t>
            </a:r>
          </a:p>
          <a:p>
            <a:pPr lvl="1"/>
            <a:r>
              <a:rPr lang="et-EE" dirty="0"/>
              <a:t>Valed sümbolid</a:t>
            </a:r>
          </a:p>
          <a:p>
            <a:r>
              <a:rPr lang="et-EE" dirty="0"/>
              <a:t>Andmete töötlemine ja andmemudel</a:t>
            </a:r>
          </a:p>
          <a:p>
            <a:pPr lvl="1"/>
            <a:r>
              <a:rPr lang="et-EE" dirty="0"/>
              <a:t>Dim, fakt</a:t>
            </a:r>
          </a:p>
          <a:p>
            <a:pPr lvl="1"/>
            <a:r>
              <a:rPr lang="et-EE" dirty="0"/>
              <a:t>Seosed, seose suund ja tüüp</a:t>
            </a:r>
          </a:p>
          <a:p>
            <a:pPr lvl="1"/>
            <a:r>
              <a:rPr lang="et-EE" dirty="0"/>
              <a:t>Tabelisse uus arvutatud Column</a:t>
            </a:r>
          </a:p>
          <a:p>
            <a:pPr lvl="1"/>
            <a:r>
              <a:rPr lang="et-EE" dirty="0"/>
              <a:t>Mõõdik</a:t>
            </a:r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44155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6EF08-112F-58CF-16AE-2A9F97EE26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21490" y="100346"/>
            <a:ext cx="10941050" cy="5528800"/>
          </a:xfrm>
        </p:spPr>
        <p:txBody>
          <a:bodyPr/>
          <a:lstStyle/>
          <a:p>
            <a:r>
              <a:rPr lang="et-EE" sz="1800" dirty="0"/>
              <a:t>Import, impordi asukoha vahetamine</a:t>
            </a:r>
          </a:p>
          <a:p>
            <a:r>
              <a:rPr lang="et-EE" sz="1800" dirty="0"/>
              <a:t>Vigade otsimine: Column quality, Distibution, Quality, visuaalselt</a:t>
            </a:r>
          </a:p>
          <a:p>
            <a:r>
              <a:rPr lang="et-EE" sz="1800" dirty="0"/>
              <a:t>Vigade parandamine: komakoha eraldaja, kuupäeva eraldaja, tühi rida, päise rida</a:t>
            </a:r>
          </a:p>
          <a:p>
            <a:r>
              <a:rPr lang="et-EE" sz="1800" b="1" dirty="0"/>
              <a:t>MUDEL KORDA: seosed: suund, granulaarsus</a:t>
            </a:r>
          </a:p>
          <a:p>
            <a:r>
              <a:rPr lang="et-EE" sz="1800" dirty="0"/>
              <a:t>Tabelite nimetamine</a:t>
            </a:r>
          </a:p>
          <a:p>
            <a:r>
              <a:rPr lang="et-EE" sz="1800" dirty="0"/>
              <a:t>Tabelite ühendamine</a:t>
            </a:r>
          </a:p>
          <a:p>
            <a:r>
              <a:rPr lang="et-EE" sz="1800" dirty="0"/>
              <a:t>Kataloogid kuvamiseks: Model View, objekti properties, Display Folder</a:t>
            </a:r>
          </a:p>
          <a:p>
            <a:r>
              <a:rPr lang="et-EE" sz="1800" dirty="0"/>
              <a:t>Mõõdikute tabel ‘New Table’ -&gt;_KPI-s = DATATABLE("Measures", STRING, {{"Rida"}})</a:t>
            </a:r>
          </a:p>
          <a:p>
            <a:pPr lvl="1"/>
            <a:r>
              <a:rPr lang="et-EE" sz="1800" dirty="0"/>
              <a:t>Sales sum</a:t>
            </a:r>
          </a:p>
          <a:p>
            <a:pPr lvl="1"/>
            <a:r>
              <a:rPr lang="et-EE" sz="1800" dirty="0"/>
              <a:t>Sales sum –discount</a:t>
            </a:r>
          </a:p>
          <a:p>
            <a:pPr lvl="1"/>
            <a:r>
              <a:rPr lang="et-EE" sz="1800" dirty="0"/>
              <a:t>Toote kulu ja kasum</a:t>
            </a:r>
          </a:p>
          <a:p>
            <a:pPr lvl="1"/>
            <a:r>
              <a:rPr lang="en-US" sz="1800" dirty="0"/>
              <a:t>Profit = SUM(</a:t>
            </a:r>
            <a:r>
              <a:rPr lang="en-US" sz="1800" dirty="0" err="1"/>
              <a:t>SalesTable</a:t>
            </a:r>
            <a:r>
              <a:rPr lang="en-US" sz="1800" dirty="0"/>
              <a:t>[Sales Sum]) - SUM(</a:t>
            </a:r>
            <a:r>
              <a:rPr lang="en-US" sz="1800" dirty="0" err="1"/>
              <a:t>SalesTable</a:t>
            </a:r>
            <a:r>
              <a:rPr lang="en-US" sz="1800" dirty="0"/>
              <a:t>[Cost Sum])</a:t>
            </a:r>
            <a:endParaRPr lang="et-EE" sz="1800" dirty="0"/>
          </a:p>
          <a:p>
            <a:pPr lvl="1"/>
            <a:r>
              <a:rPr lang="et-EE" sz="1800" dirty="0"/>
              <a:t>Profit % = [Profit] / [Sales Sum]</a:t>
            </a:r>
          </a:p>
          <a:p>
            <a:r>
              <a:rPr lang="et-EE" sz="1800" dirty="0"/>
              <a:t>Graafiku lisamine, tüübi muutmine, objektide kasutamine graafikul</a:t>
            </a:r>
          </a:p>
          <a:p>
            <a:pPr lvl="1"/>
            <a:r>
              <a:rPr lang="et-EE" sz="1800" dirty="0"/>
              <a:t>Toodete müügi võrdlus jne</a:t>
            </a:r>
          </a:p>
          <a:p>
            <a:r>
              <a:rPr lang="et-EE" sz="1800" dirty="0"/>
              <a:t>Tingimuslik vormindamine</a:t>
            </a:r>
          </a:p>
          <a:p>
            <a:r>
              <a:rPr lang="et-EE" sz="1800" dirty="0"/>
              <a:t>Nupp</a:t>
            </a:r>
          </a:p>
          <a:p>
            <a:r>
              <a:rPr lang="et-EE" sz="1800" dirty="0"/>
              <a:t>Filtreerimine</a:t>
            </a:r>
          </a:p>
          <a:p>
            <a:pPr lvl="1"/>
            <a:r>
              <a:rPr lang="et-EE" sz="1800" dirty="0"/>
              <a:t>Filtrid</a:t>
            </a:r>
          </a:p>
          <a:p>
            <a:pPr lvl="1"/>
            <a:r>
              <a:rPr lang="et-EE" sz="1800" dirty="0"/>
              <a:t>Visuaalide vaheline klikkimine</a:t>
            </a:r>
          </a:p>
          <a:p>
            <a:r>
              <a:rPr lang="et-EE" sz="1800" dirty="0"/>
              <a:t>Lehe suurus</a:t>
            </a:r>
          </a:p>
        </p:txBody>
      </p:sp>
    </p:spTree>
    <p:extLst>
      <p:ext uri="{BB962C8B-B14F-4D97-AF65-F5344CB8AC3E}">
        <p14:creationId xmlns:p14="http://schemas.microsoft.com/office/powerpoint/2010/main" val="926812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55E8-FBF1-AD5D-6DA0-CBD58BBEB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Päringud</a:t>
            </a:r>
            <a:r>
              <a:rPr lang="en-US"/>
              <a:t> (M-language)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7BB7F-4F12-0B50-CEE8-3F6E6A2C9EE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Power BI </a:t>
            </a:r>
            <a:r>
              <a:rPr lang="en-US" sz="2400" dirty="0" err="1">
                <a:ea typeface="Inter"/>
              </a:rPr>
              <a:t>päringukeel</a:t>
            </a:r>
            <a:r>
              <a:rPr lang="en-US" sz="2400" dirty="0">
                <a:ea typeface="Inter"/>
              </a:rPr>
              <a:t> 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Juhend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>
                <a:ea typeface="+mn-lt"/>
                <a:cs typeface="+mn-lt"/>
                <a:hlinkClick r:id="rId2"/>
              </a:rPr>
              <a:t>Power Query M formula language reference - </a:t>
            </a:r>
            <a:r>
              <a:rPr lang="en-US" sz="2400" dirty="0" err="1">
                <a:ea typeface="+mn-lt"/>
                <a:cs typeface="+mn-lt"/>
                <a:hlinkClick r:id="rId2"/>
              </a:rPr>
              <a:t>PowerQuery</a:t>
            </a:r>
            <a:r>
              <a:rPr lang="en-US" sz="2400" dirty="0">
                <a:ea typeface="+mn-lt"/>
                <a:cs typeface="+mn-lt"/>
                <a:hlinkClick r:id="rId2"/>
              </a:rPr>
              <a:t> M | Microsoft Learn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+mn-lt"/>
                <a:cs typeface="+mn-lt"/>
              </a:rPr>
              <a:t>Leitav</a:t>
            </a:r>
            <a:r>
              <a:rPr lang="en-US" sz="2400" dirty="0">
                <a:ea typeface="+mn-lt"/>
                <a:cs typeface="+mn-lt"/>
              </a:rPr>
              <a:t>: Model View --&gt; Edit Query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+mn-lt"/>
                <a:cs typeface="+mn-lt"/>
              </a:rPr>
              <a:t>Paremal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sammude</a:t>
            </a:r>
            <a:r>
              <a:rPr lang="en-US" sz="2400" dirty="0">
                <a:ea typeface="+mn-lt"/>
                <a:cs typeface="+mn-lt"/>
              </a:rPr>
              <a:t> kaupa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+mn-lt"/>
                <a:cs typeface="+mn-lt"/>
              </a:rPr>
              <a:t>Advanced Editor – </a:t>
            </a:r>
            <a:r>
              <a:rPr lang="en-US" sz="2400" dirty="0" err="1">
                <a:ea typeface="+mn-lt"/>
                <a:cs typeface="+mn-lt"/>
              </a:rPr>
              <a:t>kogu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päring</a:t>
            </a:r>
            <a:endParaRPr lang="en-US" sz="24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1534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6474-3BEF-3008-2327-BDF1846683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Tükeldamine eile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08DED-65AB-89CC-F1CD-1C4067F305B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M kood osaliste komadega eraldamiseks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0EA84-7D97-E038-A4BF-BB7FFE7DA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6579"/>
            <a:ext cx="9442450" cy="502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459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3737C5-6E00-3DCD-857E-9E3F1CA5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C413F-2097-0435-884E-DC88E14F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päringu</a:t>
            </a:r>
            <a:r>
              <a:rPr lang="en-US" dirty="0"/>
              <a:t> </a:t>
            </a:r>
            <a:r>
              <a:rPr lang="en-US" dirty="0" err="1"/>
              <a:t>kaudu</a:t>
            </a:r>
            <a:r>
              <a:rPr lang="en-US" dirty="0"/>
              <a:t> </a:t>
            </a:r>
            <a:r>
              <a:rPr lang="en-US" dirty="0" err="1"/>
              <a:t>tulpade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D9C5-3791-BF32-C6DA-2B25842012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võimalusi</a:t>
            </a:r>
            <a:r>
              <a:rPr lang="en-US" sz="2000" dirty="0">
                <a:ea typeface="Inter"/>
              </a:rPr>
              <a:t> uue </a:t>
            </a:r>
            <a:r>
              <a:rPr lang="en-US" sz="2000" dirty="0" err="1">
                <a:ea typeface="Inter"/>
              </a:rPr>
              <a:t>tulba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lisamiseks</a:t>
            </a:r>
            <a:endParaRPr lang="et-EE" sz="20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From examples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Dublicate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Split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Tulp </a:t>
            </a:r>
            <a:r>
              <a:rPr lang="en-US" sz="2000" dirty="0" err="1">
                <a:ea typeface="Inter"/>
              </a:rPr>
              <a:t>müügiesindaja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eesnime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jaoks</a:t>
            </a:r>
            <a:endParaRPr lang="en-US" sz="2000" dirty="0">
              <a:ea typeface="Inter"/>
            </a:endParaRPr>
          </a:p>
          <a:p>
            <a:pPr lvl="1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Column from example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Trükime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esimesse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lahtrisse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tahame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näha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PowerQuery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automaatselt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valemi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õige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loogika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rakendame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kõigile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ridadele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kas </a:t>
            </a:r>
            <a:r>
              <a:rPr lang="en-US" sz="2000" dirty="0" err="1">
                <a:ea typeface="Inter"/>
              </a:rPr>
              <a:t>tulid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korrektsed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väärtused</a:t>
            </a: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30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FB7D-B6F0-73A1-D3C4-814B38B7C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67044"/>
            <a:ext cx="10044112" cy="357043"/>
          </a:xfrm>
        </p:spPr>
        <p:txBody>
          <a:bodyPr/>
          <a:lstStyle/>
          <a:p>
            <a:r>
              <a:rPr lang="et-EE" dirty="0"/>
              <a:t>Teeme veebipõhiseks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0A32E-6C24-47B1-84E4-7C548BB3076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7312" y="1196181"/>
            <a:ext cx="10941050" cy="4465637"/>
          </a:xfrm>
        </p:spPr>
        <p:txBody>
          <a:bodyPr/>
          <a:lstStyle/>
          <a:p>
            <a:pPr marL="0" indent="0">
              <a:buNone/>
            </a:pPr>
            <a:r>
              <a:rPr lang="et-EE" dirty="0"/>
              <a:t>Lisame eelarve tabeli Google sheets alt</a:t>
            </a:r>
          </a:p>
          <a:p>
            <a:pPr marL="0" indent="0">
              <a:buNone/>
            </a:pPr>
            <a:r>
              <a:rPr lang="en-GB" dirty="0">
                <a:hlinkClick r:id="rId2"/>
              </a:rPr>
              <a:t>https://docs.google.com/spreadsheets/d/1-6f2CkhuTtMPWjEdhKHPV_yHeeYV6zi5WnMR9mFKDkg/edit?usp=sharing</a:t>
            </a:r>
            <a:endParaRPr lang="et-EE" dirty="0"/>
          </a:p>
          <a:p>
            <a:pPr marL="0" indent="0">
              <a:buNone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New source</a:t>
            </a:r>
          </a:p>
          <a:p>
            <a:pPr>
              <a:buFontTx/>
              <a:buChar char="-"/>
            </a:pPr>
            <a:r>
              <a:rPr lang="et-EE" dirty="0"/>
              <a:t>Get data</a:t>
            </a:r>
          </a:p>
          <a:p>
            <a:pPr>
              <a:buFontTx/>
              <a:buChar char="-"/>
            </a:pPr>
            <a:r>
              <a:rPr lang="et-EE" dirty="0"/>
              <a:t>Google sheets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n-GB" dirty="0"/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0D96D8-D317-C243-097D-9DEA273F0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5929" y="3228585"/>
            <a:ext cx="6812071" cy="30730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6F184D-2569-BE9A-B883-725A7ED7B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8" y="3428999"/>
            <a:ext cx="2896005" cy="246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072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98B7F-BB81-8EEF-28CD-1278118300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Google sheets Budget tabel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A4422D-3344-C66F-A9C1-25D80621687D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346543" y="960011"/>
            <a:ext cx="3991627" cy="162573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DD1C43-229F-F95C-DA41-2FEA0B24C5A3}"/>
              </a:ext>
            </a:extLst>
          </p:cNvPr>
          <p:cNvSpPr txBox="1">
            <a:spLocks/>
          </p:cNvSpPr>
          <p:nvPr/>
        </p:nvSpPr>
        <p:spPr>
          <a:xfrm>
            <a:off x="467312" y="1196181"/>
            <a:ext cx="10941050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t-EE" dirty="0"/>
              <a:t>Continue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Sisesta URL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Vali sheet ja OK</a:t>
            </a:r>
          </a:p>
          <a:p>
            <a:pPr>
              <a:buFontTx/>
              <a:buChar char="-"/>
            </a:pPr>
            <a:endParaRPr lang="en-GB" dirty="0"/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Font typeface="Inter" panose="020B0502030000000004" pitchFamily="34" charset="0"/>
              <a:buNone/>
            </a:pP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F0F07E-0775-6B40-650C-A693D140A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997" y="2652842"/>
            <a:ext cx="6260926" cy="18847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0DEFDB-54E5-BDDF-E92A-9916B68508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6543" y="4228875"/>
            <a:ext cx="6862175" cy="176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132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E28D9-22E4-038E-BDAE-11F241568A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Töötleme tabelit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71BF6-3872-C0A3-5DBE-AA2E09EA0F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79422" y="999103"/>
            <a:ext cx="10941050" cy="4465637"/>
          </a:xfrm>
        </p:spPr>
        <p:txBody>
          <a:bodyPr/>
          <a:lstStyle/>
          <a:p>
            <a:r>
              <a:rPr lang="et-EE" dirty="0"/>
              <a:t>Keerame Pivot table </a:t>
            </a:r>
            <a:br>
              <a:rPr lang="et-EE" dirty="0"/>
            </a:br>
            <a:r>
              <a:rPr lang="et-EE" dirty="0"/>
              <a:t>tavaliseks tabaeliks</a:t>
            </a:r>
          </a:p>
          <a:p>
            <a:r>
              <a:rPr lang="et-EE" dirty="0"/>
              <a:t>Esimeses reas on veeru nimed, teeme neist Headerid</a:t>
            </a:r>
            <a:br>
              <a:rPr lang="et-EE" dirty="0"/>
            </a:br>
            <a:r>
              <a:rPr lang="et-EE" dirty="0"/>
              <a:t>Use first rows as headers</a:t>
            </a:r>
          </a:p>
          <a:p>
            <a:endParaRPr lang="et-EE" dirty="0"/>
          </a:p>
          <a:p>
            <a:r>
              <a:rPr lang="et-EE" dirty="0"/>
              <a:t>Märgistame esimese veeru, </a:t>
            </a:r>
            <a:br>
              <a:rPr lang="et-EE" dirty="0"/>
            </a:br>
            <a:r>
              <a:rPr lang="et-EE" dirty="0"/>
              <a:t>paremklõps ja Unpivot Other Columns</a:t>
            </a:r>
            <a:br>
              <a:rPr lang="et-EE" dirty="0"/>
            </a:br>
            <a:br>
              <a:rPr lang="et-EE" dirty="0"/>
            </a:br>
            <a:r>
              <a:rPr lang="et-EE" dirty="0"/>
              <a:t>Nimeta veerud õigesti (kliki veeru päisel)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FCD39F-8C9E-B125-6113-7EA90E79D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7233" y="199375"/>
            <a:ext cx="5860092" cy="16565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9877A8-1EBE-F370-BA4C-77CB049B40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4422" y="2085769"/>
            <a:ext cx="1891430" cy="13432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5B4D71-F551-675E-485D-1AC24BB34B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6474" y="2018387"/>
            <a:ext cx="3525494" cy="38705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F54639-B91F-CE85-5DB4-EFA8166686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199" y="3822134"/>
            <a:ext cx="3457681" cy="206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613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0672-65A6-9302-B6A9-6ACFC42C25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Eelarve tabel mudelisse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BB5B1-CD16-A16F-D2F6-7A92DE50412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Tee seosed</a:t>
            </a:r>
          </a:p>
          <a:p>
            <a:pPr lvl="1"/>
            <a:r>
              <a:rPr lang="et-EE" dirty="0"/>
              <a:t>Eelarve tabeli kuupäeva ja Date tabeli vahel</a:t>
            </a:r>
          </a:p>
          <a:p>
            <a:pPr lvl="1"/>
            <a:r>
              <a:rPr lang="et-EE" dirty="0"/>
              <a:t>Eelarve tabeli SalesRep ja SalesRep tabeli vahel</a:t>
            </a:r>
          </a:p>
          <a:p>
            <a:pPr lvl="1"/>
            <a:endParaRPr lang="et-EE" dirty="0"/>
          </a:p>
          <a:p>
            <a:r>
              <a:rPr lang="et-EE" dirty="0"/>
              <a:t>Tee graafik</a:t>
            </a:r>
          </a:p>
          <a:p>
            <a:pPr lvl="1"/>
            <a:r>
              <a:rPr lang="et-EE" dirty="0"/>
              <a:t>Muuda pealkirja</a:t>
            </a:r>
          </a:p>
          <a:p>
            <a:pPr lvl="1"/>
            <a:r>
              <a:rPr lang="et-EE" dirty="0"/>
              <a:t>Eemalda Y teljelt tekst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4AD3FE-3F28-5552-FE5C-E27421086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384" y="2167003"/>
            <a:ext cx="6296616" cy="30469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B73556-2DFD-AE37-9DA1-9030CB037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715" y="3271975"/>
            <a:ext cx="1663190" cy="3106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325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5721-C287-6A2F-7F64-EA26A24DFB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Kui on soov muuta olemasolev päring veebipõhiseks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2987B-AC45-C42A-4F99-281809F937C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103BE9-D066-DC93-4B36-82D0202AA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833" y="1736894"/>
            <a:ext cx="10051167" cy="4305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419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D89F4-1F85-CB41-4B93-2627FC637F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Advanced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95808-ADD7-C0AC-51B3-5DDEA4D3899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Asendad</a:t>
            </a:r>
          </a:p>
        </p:txBody>
      </p:sp>
    </p:spTree>
    <p:extLst>
      <p:ext uri="{BB962C8B-B14F-4D97-AF65-F5344CB8AC3E}">
        <p14:creationId xmlns:p14="http://schemas.microsoft.com/office/powerpoint/2010/main" val="2546321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985D-536E-5D52-E9A5-AA1E39447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1168719" cy="392789"/>
          </a:xfrm>
        </p:spPr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– </a:t>
            </a:r>
            <a:r>
              <a:rPr lang="en-US" dirty="0" err="1"/>
              <a:t>muudame</a:t>
            </a:r>
            <a:r>
              <a:rPr lang="en-US" dirty="0"/>
              <a:t> </a:t>
            </a:r>
            <a:r>
              <a:rPr lang="en-US" dirty="0" err="1"/>
              <a:t>andmeallikad</a:t>
            </a:r>
            <a:r>
              <a:rPr lang="en-US" dirty="0"/>
              <a:t> </a:t>
            </a:r>
            <a:r>
              <a:rPr lang="en-US" dirty="0" err="1"/>
              <a:t>veebipõhiseks</a:t>
            </a:r>
            <a:br>
              <a:rPr lang="en-US" dirty="0"/>
            </a:br>
            <a:r>
              <a:rPr lang="en-US" dirty="0"/>
              <a:t>Google Sheets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AF1F-B8FA-F7FE-8F42-5998CE8842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8857" y="1268413"/>
            <a:ext cx="11456081" cy="5110017"/>
          </a:xfrm>
        </p:spPr>
        <p:txBody>
          <a:bodyPr/>
          <a:lstStyle/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RegionTable</a:t>
            </a:r>
            <a:r>
              <a:rPr lang="en-GB" sz="1800" b="1" dirty="0"/>
              <a:t> </a:t>
            </a:r>
            <a:r>
              <a:rPr lang="en-GB" sz="1800" dirty="0"/>
              <a:t>https://docs.google.com/spreadsheets/d/10p-3C7tUc516sCMkODM3qxajIpqN6UH6iYWjdLkLYfA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CustomerTable</a:t>
            </a:r>
            <a:r>
              <a:rPr lang="en-GB" sz="1800" dirty="0"/>
              <a:t> https://docs.google.com/spreadsheets/d/1rDv2xJNgMjIu0_wftF9DcrAfeW5QGnSKQhkxu7ZRbKE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let</a:t>
            </a:r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    Source = GoogleSheets.Contents("https://docs.google.com/spreadsheets/d/1k1nHE1Fy5UFR5Kh7BPy-ASfnItSJ5DyUIuPZhL4qDU4/edit?usp=sharing"),</a:t>
            </a:r>
          </a:p>
          <a:p>
            <a:pPr marL="457200" lvl="1" indent="0">
              <a:buNone/>
            </a:pPr>
            <a:r>
              <a:rPr lang="en-US" sz="1800" b="1">
                <a:solidFill>
                  <a:srgbClr val="FF0000"/>
                </a:solidFill>
              </a:rPr>
              <a:t>Sheet1_Sheet = Source{[name="Sheet1",ItemKind="Table"]}[Data],</a:t>
            </a:r>
            <a:endParaRPr lang="et-EE" sz="1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1427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BCF1-3C9A-3A58-37F2-D2D006BF1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1C9DA-68C6-2574-D71F-9682677EC8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>
            <a:normAutofit/>
          </a:bodyPr>
          <a:lstStyle/>
          <a:p>
            <a:r>
              <a:rPr lang="en-US" dirty="0"/>
              <a:t>Power BI – Eelarve </a:t>
            </a:r>
            <a:r>
              <a:rPr lang="en-US" dirty="0" err="1"/>
              <a:t>faili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7649-761C-3A2F-3446-721B53FB49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7" y="2279737"/>
            <a:ext cx="8208961" cy="3454313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400" dirty="0"/>
              <a:t>Lisa fail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 err="1"/>
              <a:t>Ühendus</a:t>
            </a:r>
            <a:r>
              <a:rPr lang="en-US" sz="1400" dirty="0"/>
              <a:t> </a:t>
            </a:r>
            <a:r>
              <a:rPr lang="en-US" sz="1400" dirty="0" err="1"/>
              <a:t>kuupäeva</a:t>
            </a:r>
            <a:r>
              <a:rPr lang="en-US" sz="1400" dirty="0"/>
              <a:t> (eelarve </a:t>
            </a:r>
            <a:r>
              <a:rPr lang="en-US" sz="1400" dirty="0" err="1"/>
              <a:t>failis</a:t>
            </a:r>
            <a:r>
              <a:rPr lang="en-US" sz="1400" dirty="0"/>
              <a:t> kuu </a:t>
            </a:r>
            <a:r>
              <a:rPr lang="en-US" sz="1400" dirty="0" err="1"/>
              <a:t>esimene</a:t>
            </a:r>
            <a:r>
              <a:rPr lang="en-US" sz="1400" dirty="0"/>
              <a:t> </a:t>
            </a:r>
            <a:r>
              <a:rPr lang="en-US" sz="1400" dirty="0" err="1"/>
              <a:t>päev</a:t>
            </a:r>
            <a:r>
              <a:rPr lang="en-US" sz="1400" dirty="0"/>
              <a:t>) ja </a:t>
            </a:r>
            <a:r>
              <a:rPr lang="en-US" sz="1400" dirty="0" err="1"/>
              <a:t>SalesRep</a:t>
            </a:r>
            <a:r>
              <a:rPr lang="en-US" sz="1400" dirty="0"/>
              <a:t> alusel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/>
              <a:t>Eelarve fail on </a:t>
            </a:r>
            <a:r>
              <a:rPr lang="en-US" sz="1400" dirty="0" err="1"/>
              <a:t>risttabeli</a:t>
            </a:r>
            <a:r>
              <a:rPr lang="en-US" sz="1400" dirty="0"/>
              <a:t> </a:t>
            </a:r>
            <a:r>
              <a:rPr lang="en-US" sz="1400" dirty="0" err="1"/>
              <a:t>kujul</a:t>
            </a:r>
            <a:r>
              <a:rPr lang="en-US" sz="1400" dirty="0"/>
              <a:t> – vajalik muuta </a:t>
            </a:r>
            <a:r>
              <a:rPr lang="en-US" sz="1400" dirty="0" err="1"/>
              <a:t>lihttabeliks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Promote Headers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Vali </a:t>
            </a:r>
            <a:r>
              <a:rPr lang="en-US" sz="1400" dirty="0" err="1"/>
              <a:t>SalesRep</a:t>
            </a:r>
            <a:r>
              <a:rPr lang="en-US" sz="1400" dirty="0"/>
              <a:t> </a:t>
            </a:r>
            <a:r>
              <a:rPr lang="en-US" sz="1400" dirty="0" err="1"/>
              <a:t>tulp</a:t>
            </a:r>
            <a:r>
              <a:rPr lang="en-US" sz="1400" dirty="0"/>
              <a:t> ja Unpivot other columns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Vaata</a:t>
            </a:r>
            <a:r>
              <a:rPr lang="en-US" sz="1400" dirty="0"/>
              <a:t> üle </a:t>
            </a:r>
            <a:r>
              <a:rPr lang="en-US" sz="1400" dirty="0" err="1"/>
              <a:t>tulpade</a:t>
            </a:r>
            <a:r>
              <a:rPr lang="en-US" sz="1400" dirty="0"/>
              <a:t> </a:t>
            </a:r>
            <a:r>
              <a:rPr lang="en-US" sz="1400" dirty="0" err="1"/>
              <a:t>formaat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Nimeta</a:t>
            </a:r>
            <a:r>
              <a:rPr lang="en-US" sz="1400" dirty="0"/>
              <a:t> </a:t>
            </a:r>
            <a:r>
              <a:rPr lang="en-US" sz="1400" dirty="0" err="1"/>
              <a:t>tulbad</a:t>
            </a:r>
            <a:r>
              <a:rPr lang="en-US" sz="1400" dirty="0"/>
              <a:t> </a:t>
            </a:r>
            <a:r>
              <a:rPr lang="en-US" sz="1400" dirty="0" err="1"/>
              <a:t>kirjeldavate</a:t>
            </a:r>
            <a:r>
              <a:rPr lang="en-US" sz="1400" dirty="0"/>
              <a:t> </a:t>
            </a:r>
            <a:r>
              <a:rPr lang="en-US" sz="1400" dirty="0" err="1"/>
              <a:t>nimedega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ühendused</a:t>
            </a:r>
            <a:r>
              <a:rPr lang="en-US" sz="1400" dirty="0"/>
              <a:t> </a:t>
            </a:r>
            <a:r>
              <a:rPr lang="en-US" sz="1400" dirty="0" err="1"/>
              <a:t>mudelis</a:t>
            </a:r>
            <a:r>
              <a:rPr lang="en-US" sz="1400" dirty="0"/>
              <a:t> </a:t>
            </a:r>
            <a:r>
              <a:rPr lang="en-US" sz="1400" dirty="0" err="1"/>
              <a:t>teiste</a:t>
            </a:r>
            <a:r>
              <a:rPr lang="en-US" sz="1400" dirty="0"/>
              <a:t> </a:t>
            </a:r>
            <a:r>
              <a:rPr lang="en-US" sz="1400" dirty="0" err="1"/>
              <a:t>tabelitega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visuaalid</a:t>
            </a:r>
            <a:endParaRPr lang="et-EE" sz="1400" dirty="0"/>
          </a:p>
          <a:p>
            <a:pPr lvl="2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t-EE" sz="1400" dirty="0"/>
              <a:t>Eelarve ja müügi võrdlus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991168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673-B2ED-8144-8F2F-C8A3A2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3F9-BC59-F923-A2D9-857DEA278E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E545A85-9D11-3167-DEC4-B510A6A1B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79717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2242-2C8B-7D72-D812-D7A90CB1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00C6-9E67-F7B5-9482-12F2FA61B5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6BDC649-FC18-AEC5-0827-D5FAAF4BD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847127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FC0F-87E5-A764-25BE-2AE9AD903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3299" y="1096963"/>
            <a:ext cx="5364163" cy="2052637"/>
          </a:xfrm>
        </p:spPr>
        <p:txBody>
          <a:bodyPr/>
          <a:lstStyle/>
          <a:p>
            <a:r>
              <a:rPr lang="en-GB" dirty="0"/>
              <a:t>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“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loetavuse</a:t>
            </a:r>
            <a:r>
              <a:rPr lang="en-GB" dirty="0"/>
              <a:t> </a:t>
            </a:r>
            <a:r>
              <a:rPr lang="en-GB" dirty="0" err="1"/>
              <a:t>parandamine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A1EDC-AFDA-5B89-D444-B15F54AEF90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17650" y="3536951"/>
            <a:ext cx="10050462" cy="2276020"/>
          </a:xfrm>
        </p:spPr>
        <p:txBody>
          <a:bodyPr/>
          <a:lstStyle/>
          <a:p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ole </a:t>
            </a:r>
            <a:r>
              <a:rPr lang="en-GB" dirty="0" err="1"/>
              <a:t>graafikute</a:t>
            </a:r>
            <a:r>
              <a:rPr lang="en-GB" dirty="0"/>
              <a:t> 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". See on </a:t>
            </a:r>
            <a:r>
              <a:rPr lang="en-GB" b="1" dirty="0" err="1"/>
              <a:t>kognitiivse</a:t>
            </a:r>
            <a:r>
              <a:rPr lang="en-GB" b="1" dirty="0"/>
              <a:t> </a:t>
            </a:r>
            <a:r>
              <a:rPr lang="en-GB" b="1" dirty="0" err="1"/>
              <a:t>koormuse</a:t>
            </a:r>
            <a:r>
              <a:rPr lang="en-GB" b="1" dirty="0"/>
              <a:t> </a:t>
            </a:r>
            <a:r>
              <a:rPr lang="en-GB" b="1" dirty="0" err="1"/>
              <a:t>vähendamine</a:t>
            </a:r>
            <a:r>
              <a:rPr lang="en-GB" dirty="0"/>
              <a:t>. Kui </a:t>
            </a:r>
            <a:r>
              <a:rPr lang="en-GB" dirty="0" err="1"/>
              <a:t>juhtkond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analüütik</a:t>
            </a:r>
            <a:r>
              <a:rPr lang="en-GB" dirty="0"/>
              <a:t> </a:t>
            </a:r>
            <a:r>
              <a:rPr lang="en-GB" dirty="0" err="1"/>
              <a:t>vaatab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energiat</a:t>
            </a:r>
            <a:r>
              <a:rPr lang="en-GB" dirty="0"/>
              <a:t> info </a:t>
            </a:r>
            <a:r>
              <a:rPr lang="en-GB" dirty="0" err="1"/>
              <a:t>dešifreerimiseks</a:t>
            </a:r>
            <a:r>
              <a:rPr lang="en-GB" dirty="0"/>
              <a:t>. </a:t>
            </a:r>
          </a:p>
          <a:p>
            <a:r>
              <a:rPr lang="en-GB" dirty="0" err="1"/>
              <a:t>Meie</a:t>
            </a:r>
            <a:r>
              <a:rPr lang="en-GB" dirty="0"/>
              <a:t> </a:t>
            </a:r>
            <a:r>
              <a:rPr lang="en-GB" dirty="0" err="1"/>
              <a:t>eesmärk</a:t>
            </a:r>
            <a:r>
              <a:rPr lang="en-GB" dirty="0"/>
              <a:t> </a:t>
            </a:r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disainerina</a:t>
            </a:r>
            <a:r>
              <a:rPr lang="en-GB" dirty="0"/>
              <a:t> on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infost</a:t>
            </a:r>
            <a:r>
              <a:rPr lang="en-GB" dirty="0"/>
              <a:t> </a:t>
            </a:r>
            <a:r>
              <a:rPr lang="en-GB" dirty="0" err="1"/>
              <a:t>arusaamine</a:t>
            </a:r>
            <a:r>
              <a:rPr lang="en-GB" dirty="0"/>
              <a:t> </a:t>
            </a:r>
            <a:r>
              <a:rPr lang="en-GB" dirty="0" err="1"/>
              <a:t>nii</a:t>
            </a:r>
            <a:r>
              <a:rPr lang="en-GB" dirty="0"/>
              <a:t> </a:t>
            </a:r>
            <a:r>
              <a:rPr lang="en-GB" dirty="0" err="1"/>
              <a:t>kiireks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vaevatuks</a:t>
            </a:r>
            <a:r>
              <a:rPr lang="en-GB" dirty="0"/>
              <a:t>, et </a:t>
            </a:r>
            <a:r>
              <a:rPr lang="en-GB" dirty="0" err="1"/>
              <a:t>otsustaja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kognitiivse</a:t>
            </a:r>
            <a:r>
              <a:rPr lang="en-GB" dirty="0"/>
              <a:t> </a:t>
            </a:r>
            <a:r>
              <a:rPr lang="en-GB" dirty="0" err="1"/>
              <a:t>ressursi</a:t>
            </a:r>
            <a:r>
              <a:rPr lang="en-GB" dirty="0"/>
              <a:t> </a:t>
            </a:r>
            <a:r>
              <a:rPr lang="en-GB" dirty="0" err="1"/>
              <a:t>suunata</a:t>
            </a:r>
            <a:r>
              <a:rPr lang="en-GB" dirty="0"/>
              <a:t> </a:t>
            </a:r>
            <a:r>
              <a:rPr lang="en-GB" b="1" dirty="0" err="1"/>
              <a:t>otsustamisele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numbrite</a:t>
            </a:r>
            <a:r>
              <a:rPr lang="en-GB" dirty="0"/>
              <a:t> </a:t>
            </a:r>
            <a:r>
              <a:rPr lang="en-GB" dirty="0" err="1"/>
              <a:t>tagaajamisele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883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98CE-E357-1ACA-5323-056E1152F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4599" y="938213"/>
            <a:ext cx="5364163" cy="2052637"/>
          </a:xfrm>
        </p:spPr>
        <p:txBody>
          <a:bodyPr>
            <a:normAutofit/>
          </a:bodyPr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891B-3DC6-D14C-FE24-76C1BCDF00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44599" y="3200400"/>
            <a:ext cx="10323513" cy="3044371"/>
          </a:xfrm>
        </p:spPr>
        <p:txBody>
          <a:bodyPr>
            <a:normAutofit/>
          </a:bodyPr>
          <a:lstStyle/>
          <a:p>
            <a:r>
              <a:rPr lang="en-GB" b="1" dirty="0"/>
              <a:t>1 </a:t>
            </a:r>
            <a:r>
              <a:rPr lang="en-GB" b="1" dirty="0" err="1"/>
              <a:t>Läheduse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ruumiliselt</a:t>
            </a:r>
            <a:r>
              <a:rPr lang="en-GB" dirty="0"/>
              <a:t> </a:t>
            </a:r>
            <a:r>
              <a:rPr lang="en-GB" dirty="0" err="1"/>
              <a:t>üksteisele</a:t>
            </a:r>
            <a:r>
              <a:rPr lang="en-GB" dirty="0"/>
              <a:t> </a:t>
            </a:r>
            <a:r>
              <a:rPr lang="en-GB" dirty="0" err="1"/>
              <a:t>lähedal</a:t>
            </a:r>
            <a:r>
              <a:rPr lang="en-GB" dirty="0"/>
              <a:t>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kuuluvalt</a:t>
            </a:r>
            <a:r>
              <a:rPr lang="en-GB" dirty="0"/>
              <a:t> </a:t>
            </a:r>
            <a:r>
              <a:rPr lang="en-GB" dirty="0" err="1"/>
              <a:t>ühte</a:t>
            </a:r>
            <a:r>
              <a:rPr lang="en-GB" dirty="0"/>
              <a:t> </a:t>
            </a:r>
            <a:r>
              <a:rPr lang="en-GB" dirty="0" err="1"/>
              <a:t>gruppi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Kui Sul on </a:t>
            </a:r>
            <a:r>
              <a:rPr lang="en-GB" dirty="0" err="1"/>
              <a:t>kolm</a:t>
            </a:r>
            <a:r>
              <a:rPr lang="en-GB" dirty="0"/>
              <a:t> KPI </a:t>
            </a:r>
            <a:r>
              <a:rPr lang="en-GB" dirty="0" err="1"/>
              <a:t>kaarti</a:t>
            </a:r>
            <a:r>
              <a:rPr lang="en-GB" dirty="0"/>
              <a:t> (</a:t>
            </a:r>
            <a:r>
              <a:rPr lang="en-GB" i="1" dirty="0" err="1"/>
              <a:t>Müük</a:t>
            </a:r>
            <a:r>
              <a:rPr lang="en-GB" dirty="0"/>
              <a:t>, </a:t>
            </a:r>
            <a:r>
              <a:rPr lang="en-GB" i="1" dirty="0" err="1"/>
              <a:t>Kasum</a:t>
            </a:r>
            <a:r>
              <a:rPr lang="en-GB" dirty="0"/>
              <a:t>, </a:t>
            </a:r>
            <a:r>
              <a:rPr lang="en-GB" i="1" dirty="0" err="1"/>
              <a:t>Marginaal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kaks</a:t>
            </a:r>
            <a:r>
              <a:rPr lang="en-GB" dirty="0"/>
              <a:t> </a:t>
            </a:r>
            <a:r>
              <a:rPr lang="en-GB" dirty="0" err="1"/>
              <a:t>filtrit</a:t>
            </a:r>
            <a:r>
              <a:rPr lang="en-GB" dirty="0"/>
              <a:t> (</a:t>
            </a:r>
            <a:r>
              <a:rPr lang="en-GB" i="1" dirty="0"/>
              <a:t>Aasta</a:t>
            </a:r>
            <a:r>
              <a:rPr lang="en-GB" dirty="0"/>
              <a:t>, </a:t>
            </a:r>
            <a:r>
              <a:rPr lang="en-GB" i="1" dirty="0" err="1"/>
              <a:t>Regioon</a:t>
            </a:r>
            <a:r>
              <a:rPr lang="en-GB" dirty="0"/>
              <a:t>),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paiguta</a:t>
            </a:r>
            <a:r>
              <a:rPr lang="en-GB" dirty="0"/>
              <a:t> KPI </a:t>
            </a:r>
            <a:r>
              <a:rPr lang="en-GB" dirty="0" err="1"/>
              <a:t>kaardid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kõrvale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jäta</a:t>
            </a:r>
            <a:r>
              <a:rPr lang="en-GB" dirty="0"/>
              <a:t> </a:t>
            </a:r>
            <a:r>
              <a:rPr lang="en-GB" dirty="0" err="1"/>
              <a:t>filtrite</a:t>
            </a:r>
            <a:r>
              <a:rPr lang="en-GB" dirty="0"/>
              <a:t> </a:t>
            </a:r>
            <a:r>
              <a:rPr lang="en-GB" dirty="0" err="1"/>
              <a:t>vahele</a:t>
            </a:r>
            <a:r>
              <a:rPr lang="en-GB" dirty="0"/>
              <a:t> </a:t>
            </a:r>
            <a:r>
              <a:rPr lang="en-GB" dirty="0" err="1"/>
              <a:t>suurem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(</a:t>
            </a:r>
            <a:r>
              <a:rPr lang="en-GB" dirty="0" err="1"/>
              <a:t>valge</a:t>
            </a:r>
            <a:r>
              <a:rPr lang="en-GB" dirty="0"/>
              <a:t> </a:t>
            </a:r>
            <a:r>
              <a:rPr lang="en-GB" dirty="0" err="1"/>
              <a:t>ruum</a:t>
            </a:r>
            <a:r>
              <a:rPr lang="en-GB" dirty="0"/>
              <a:t>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i="1" dirty="0"/>
              <a:t>whitespace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pillutamine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võrdsete</a:t>
            </a:r>
            <a:r>
              <a:rPr lang="en-GB" dirty="0"/>
              <a:t> </a:t>
            </a:r>
            <a:r>
              <a:rPr lang="en-GB" dirty="0" err="1"/>
              <a:t>vahedega</a:t>
            </a:r>
            <a:r>
              <a:rPr lang="en-GB" dirty="0"/>
              <a:t>. Kui </a:t>
            </a:r>
            <a:r>
              <a:rPr lang="en-GB" dirty="0" err="1"/>
              <a:t>kõikide</a:t>
            </a:r>
            <a:r>
              <a:rPr lang="en-GB" dirty="0"/>
              <a:t>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on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ruumi</a:t>
            </a:r>
            <a:r>
              <a:rPr lang="en-GB" dirty="0"/>
              <a:t>,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oska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luua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</a:t>
            </a:r>
            <a:endParaRPr lang="et-EE" dirty="0"/>
          </a:p>
          <a:p>
            <a:pPr lvl="1"/>
            <a:endParaRPr lang="et-EE" dirty="0"/>
          </a:p>
          <a:p>
            <a:r>
              <a:rPr lang="et-EE" dirty="0"/>
              <a:t>Võib kasutada ka paigutamist mingit heledat värvi kasti peale.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359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F56F-DB3E-2797-A817-3708A0DE1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049" y="155416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8AEB-5B82-1C16-1D0A-20B5D776C2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0550" y="3536951"/>
            <a:ext cx="10977562" cy="2276020"/>
          </a:xfrm>
        </p:spPr>
        <p:txBody>
          <a:bodyPr>
            <a:normAutofit/>
          </a:bodyPr>
          <a:lstStyle/>
          <a:p>
            <a:pPr lvl="0"/>
            <a:r>
              <a:rPr lang="en-GB" b="1" dirty="0"/>
              <a:t>2 </a:t>
            </a:r>
            <a:r>
              <a:rPr lang="en-GB" b="1" dirty="0" err="1"/>
              <a:t>Sarnasuse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näevad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 </a:t>
            </a:r>
            <a:r>
              <a:rPr lang="en-GB" dirty="0" err="1"/>
              <a:t>sarnased</a:t>
            </a:r>
            <a:r>
              <a:rPr lang="en-GB" dirty="0"/>
              <a:t> (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värv</a:t>
            </a:r>
            <a:r>
              <a:rPr lang="en-GB" dirty="0"/>
              <a:t>, </a:t>
            </a:r>
            <a:r>
              <a:rPr lang="en-GB" dirty="0" err="1"/>
              <a:t>kuju</a:t>
            </a:r>
            <a:r>
              <a:rPr lang="en-GB" dirty="0"/>
              <a:t>, </a:t>
            </a:r>
            <a:r>
              <a:rPr lang="en-GB" dirty="0" err="1"/>
              <a:t>suurus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font),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täitvat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funktsiooni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omavat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tähendust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Kasuta</a:t>
            </a:r>
            <a:r>
              <a:rPr lang="en-GB" dirty="0"/>
              <a:t> </a:t>
            </a:r>
            <a:r>
              <a:rPr lang="en-GB" dirty="0" err="1"/>
              <a:t>funktsionaalset</a:t>
            </a:r>
            <a:r>
              <a:rPr lang="en-GB" dirty="0"/>
              <a:t> </a:t>
            </a:r>
            <a:r>
              <a:rPr lang="en-GB" dirty="0" err="1"/>
              <a:t>järjepidevust</a:t>
            </a:r>
            <a:r>
              <a:rPr lang="en-GB" dirty="0"/>
              <a:t>. Kui </a:t>
            </a:r>
            <a:r>
              <a:rPr lang="en-GB" dirty="0" err="1"/>
              <a:t>üks</a:t>
            </a:r>
            <a:r>
              <a:rPr lang="en-GB" dirty="0"/>
              <a:t> filter (Slicer) on </a:t>
            </a:r>
            <a:r>
              <a:rPr lang="en-GB" dirty="0" err="1"/>
              <a:t>disainitud</a:t>
            </a:r>
            <a:r>
              <a:rPr lang="en-GB" dirty="0"/>
              <a:t> </a:t>
            </a:r>
            <a:r>
              <a:rPr lang="en-GB" dirty="0" err="1"/>
              <a:t>ristkülikukujulise</a:t>
            </a:r>
            <a:r>
              <a:rPr lang="en-GB" dirty="0"/>
              <a:t> </a:t>
            </a:r>
            <a:r>
              <a:rPr lang="en-GB" dirty="0" err="1"/>
              <a:t>nupuna</a:t>
            </a:r>
            <a:r>
              <a:rPr lang="en-GB" dirty="0"/>
              <a:t>, </a:t>
            </a:r>
            <a:r>
              <a:rPr lang="en-GB" dirty="0" err="1"/>
              <a:t>peavad</a:t>
            </a:r>
            <a:r>
              <a:rPr lang="en-GB" dirty="0"/>
              <a:t> ka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teised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samasugused</a:t>
            </a:r>
            <a:r>
              <a:rPr lang="en-GB" dirty="0"/>
              <a:t>. Kui </a:t>
            </a:r>
            <a:r>
              <a:rPr lang="en-GB" dirty="0" err="1"/>
              <a:t>kasutad</a:t>
            </a:r>
            <a:r>
              <a:rPr lang="en-GB" dirty="0"/>
              <a:t> </a:t>
            </a:r>
            <a:r>
              <a:rPr lang="en-GB" dirty="0" err="1"/>
              <a:t>regiooni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</a:t>
            </a:r>
            <a:r>
              <a:rPr lang="en-GB" dirty="0" err="1"/>
              <a:t>tumesiniseid</a:t>
            </a:r>
            <a:r>
              <a:rPr lang="en-GB" dirty="0"/>
              <a:t> </a:t>
            </a:r>
            <a:r>
              <a:rPr lang="en-GB" dirty="0" err="1"/>
              <a:t>tulpi</a:t>
            </a:r>
            <a:r>
              <a:rPr lang="en-GB" dirty="0"/>
              <a:t> </a:t>
            </a:r>
            <a:r>
              <a:rPr lang="en-GB" dirty="0" err="1"/>
              <a:t>ühel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, </a:t>
            </a:r>
            <a:r>
              <a:rPr lang="en-GB" dirty="0" err="1"/>
              <a:t>peab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regioon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tumesinine</a:t>
            </a:r>
            <a:r>
              <a:rPr lang="en-GB" dirty="0"/>
              <a:t> </a:t>
            </a:r>
            <a:r>
              <a:rPr lang="en-GB" i="1" dirty="0" err="1"/>
              <a:t>kõikidel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lehe</a:t>
            </a:r>
            <a:r>
              <a:rPr lang="en-GB" dirty="0"/>
              <a:t> </a:t>
            </a:r>
            <a:r>
              <a:rPr lang="en-GB" dirty="0" err="1"/>
              <a:t>graafikutel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Värvide</a:t>
            </a:r>
            <a:r>
              <a:rPr lang="en-GB" dirty="0"/>
              <a:t> </a:t>
            </a:r>
            <a:r>
              <a:rPr lang="en-GB" dirty="0" err="1"/>
              <a:t>muutmine</a:t>
            </a:r>
            <a:r>
              <a:rPr lang="en-GB" dirty="0"/>
              <a:t> </a:t>
            </a:r>
            <a:r>
              <a:rPr lang="en-GB" dirty="0" err="1"/>
              <a:t>graafikult</a:t>
            </a:r>
            <a:r>
              <a:rPr lang="en-GB" dirty="0"/>
              <a:t> </a:t>
            </a:r>
            <a:r>
              <a:rPr lang="en-GB" dirty="0" err="1"/>
              <a:t>graafikule</a:t>
            </a:r>
            <a:r>
              <a:rPr lang="en-GB" dirty="0"/>
              <a:t>. Kui </a:t>
            </a:r>
            <a:r>
              <a:rPr lang="en-GB" dirty="0" err="1"/>
              <a:t>esimesel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 on VanArsdel </a:t>
            </a:r>
            <a:r>
              <a:rPr lang="en-GB" dirty="0" err="1"/>
              <a:t>sinine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teisel</a:t>
            </a:r>
            <a:r>
              <a:rPr lang="en-GB" dirty="0"/>
              <a:t> </a:t>
            </a:r>
            <a:r>
              <a:rPr lang="en-GB" dirty="0" err="1"/>
              <a:t>roheline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aega</a:t>
            </a:r>
            <a:r>
              <a:rPr lang="en-GB" dirty="0"/>
              <a:t> </a:t>
            </a:r>
            <a:r>
              <a:rPr lang="en-GB" dirty="0" err="1"/>
              <a:t>ümberharjumisele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9728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FEE9-EFA6-CA17-18B9-D98F96AE8C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2349" y="92551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A53B-AA69-4488-E6B9-6FD4FD766D5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63650" y="3536951"/>
            <a:ext cx="10304462" cy="2276020"/>
          </a:xfrm>
        </p:spPr>
        <p:txBody>
          <a:bodyPr/>
          <a:lstStyle/>
          <a:p>
            <a:pPr lvl="0"/>
            <a:r>
              <a:rPr lang="en-GB" b="1" dirty="0"/>
              <a:t>3 </a:t>
            </a:r>
            <a:r>
              <a:rPr lang="en-GB" b="1" dirty="0" err="1"/>
              <a:t>Joondatuse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Inimsilm</a:t>
            </a:r>
            <a:r>
              <a:rPr lang="en-GB" dirty="0"/>
              <a:t> </a:t>
            </a:r>
            <a:r>
              <a:rPr lang="en-GB" dirty="0" err="1"/>
              <a:t>otsib</a:t>
            </a:r>
            <a:r>
              <a:rPr lang="en-GB" dirty="0"/>
              <a:t> </a:t>
            </a:r>
            <a:r>
              <a:rPr lang="en-GB" dirty="0" err="1"/>
              <a:t>instinktiivselt</a:t>
            </a:r>
            <a:r>
              <a:rPr lang="en-GB" dirty="0"/>
              <a:t> </a:t>
            </a:r>
            <a:r>
              <a:rPr lang="en-GB" dirty="0" err="1"/>
              <a:t>jooni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 </a:t>
            </a:r>
            <a:r>
              <a:rPr lang="en-GB" dirty="0" err="1"/>
              <a:t>Sirgjooneliselt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 </a:t>
            </a:r>
            <a:r>
              <a:rPr lang="en-GB" dirty="0" err="1"/>
              <a:t>elemendid</a:t>
            </a:r>
            <a:r>
              <a:rPr lang="en-GB" dirty="0"/>
              <a:t> </a:t>
            </a:r>
            <a:r>
              <a:rPr lang="en-GB" dirty="0" err="1"/>
              <a:t>mõjuvad</a:t>
            </a:r>
            <a:r>
              <a:rPr lang="en-GB" dirty="0"/>
              <a:t> </a:t>
            </a:r>
            <a:r>
              <a:rPr lang="en-GB" dirty="0" err="1"/>
              <a:t>usaldusväärselt</a:t>
            </a:r>
            <a:r>
              <a:rPr lang="en-GB" dirty="0"/>
              <a:t>, </a:t>
            </a:r>
            <a:r>
              <a:rPr lang="en-GB" dirty="0" err="1"/>
              <a:t>puhtalt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organiseeritult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visuaalide</a:t>
            </a:r>
            <a:r>
              <a:rPr lang="en-GB" dirty="0"/>
              <a:t> </a:t>
            </a:r>
            <a:r>
              <a:rPr lang="en-GB" dirty="0" err="1"/>
              <a:t>servad</a:t>
            </a:r>
            <a:r>
              <a:rPr lang="en-GB" dirty="0"/>
              <a:t> </a:t>
            </a:r>
            <a:r>
              <a:rPr lang="en-GB" dirty="0" err="1"/>
              <a:t>peavad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täpselt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. Power BI-s </a:t>
            </a:r>
            <a:r>
              <a:rPr lang="en-GB" dirty="0" err="1"/>
              <a:t>aitab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tööriist</a:t>
            </a:r>
            <a:r>
              <a:rPr lang="en-GB" dirty="0"/>
              <a:t> </a:t>
            </a:r>
            <a:r>
              <a:rPr lang="en-GB" i="1" dirty="0"/>
              <a:t>Format -&gt; Align</a:t>
            </a:r>
            <a:r>
              <a:rPr lang="en-GB" dirty="0"/>
              <a:t> (Left, Right, Top, Bottom). Kui KPI </a:t>
            </a:r>
            <a:r>
              <a:rPr lang="en-GB" dirty="0" err="1"/>
              <a:t>kaartide</a:t>
            </a:r>
            <a:r>
              <a:rPr lang="en-GB" dirty="0"/>
              <a:t> </a:t>
            </a:r>
            <a:r>
              <a:rPr lang="en-GB" dirty="0" err="1"/>
              <a:t>ülaservad</a:t>
            </a:r>
            <a:r>
              <a:rPr lang="en-GB" dirty="0"/>
              <a:t> on </a:t>
            </a:r>
            <a:r>
              <a:rPr lang="en-GB" dirty="0" err="1"/>
              <a:t>nihkes</a:t>
            </a:r>
            <a:r>
              <a:rPr lang="en-GB" dirty="0"/>
              <a:t> </a:t>
            </a:r>
            <a:r>
              <a:rPr lang="en-GB" dirty="0" err="1"/>
              <a:t>kasvõi</a:t>
            </a:r>
            <a:r>
              <a:rPr lang="en-GB" dirty="0"/>
              <a:t> 3 </a:t>
            </a:r>
            <a:r>
              <a:rPr lang="en-GB" dirty="0" err="1"/>
              <a:t>pikslit</a:t>
            </a:r>
            <a:r>
              <a:rPr lang="en-GB" dirty="0"/>
              <a:t>, </a:t>
            </a:r>
            <a:r>
              <a:rPr lang="en-GB" dirty="0" err="1"/>
              <a:t>tajub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 </a:t>
            </a:r>
            <a:r>
              <a:rPr lang="en-GB" dirty="0" err="1"/>
              <a:t>lohaka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ebaprofessionaalsena</a:t>
            </a:r>
            <a:r>
              <a:rPr lang="en-GB" dirty="0"/>
              <a:t> (</a:t>
            </a:r>
            <a:r>
              <a:rPr lang="en-GB" dirty="0" err="1"/>
              <a:t>isegi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on </a:t>
            </a:r>
            <a:r>
              <a:rPr lang="en-GB" dirty="0" err="1"/>
              <a:t>õiged</a:t>
            </a:r>
            <a:r>
              <a:rPr lang="en-GB" dirty="0"/>
              <a:t>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095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79B9-4D69-453A-C79D-05C8B5A46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8489" y="368625"/>
            <a:ext cx="9469046" cy="1385020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AC225-DD43-995D-E839-357E82106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0247" y="1753646"/>
            <a:ext cx="10847865" cy="4602704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GB" b="1" dirty="0"/>
              <a:t>4 </a:t>
            </a:r>
            <a:r>
              <a:rPr lang="en-GB" b="1" dirty="0" err="1"/>
              <a:t>Värvipsühholoogia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"60-30-10" </a:t>
            </a:r>
            <a:r>
              <a:rPr lang="en-GB" b="1" dirty="0" err="1"/>
              <a:t>reegel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dirty="0"/>
              <a:t>Värv on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visualiseerimises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võimsam</a:t>
            </a:r>
            <a:r>
              <a:rPr lang="en-GB" dirty="0"/>
              <a:t> </a:t>
            </a:r>
            <a:r>
              <a:rPr lang="en-GB" dirty="0" err="1"/>
              <a:t>relv</a:t>
            </a:r>
            <a:r>
              <a:rPr lang="en-GB" dirty="0"/>
              <a:t>, </a:t>
            </a:r>
            <a:r>
              <a:rPr lang="en-GB" dirty="0" err="1"/>
              <a:t>kuid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kuritarvitatakse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sagedamini</a:t>
            </a:r>
            <a:r>
              <a:rPr lang="en-GB" dirty="0"/>
              <a:t>.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värve</a:t>
            </a:r>
            <a:r>
              <a:rPr lang="en-GB" dirty="0"/>
              <a:t> </a:t>
            </a:r>
            <a:r>
              <a:rPr lang="en-GB" dirty="0" err="1"/>
              <a:t>tekitab</a:t>
            </a:r>
            <a:r>
              <a:rPr lang="en-GB" dirty="0"/>
              <a:t> </a:t>
            </a:r>
            <a:r>
              <a:rPr lang="en-GB" dirty="0" err="1"/>
              <a:t>visuaalset</a:t>
            </a:r>
            <a:r>
              <a:rPr lang="en-GB" dirty="0"/>
              <a:t> </a:t>
            </a:r>
            <a:r>
              <a:rPr lang="en-GB" dirty="0" err="1"/>
              <a:t>müra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lülitub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b="1" dirty="0" err="1"/>
              <a:t>Reegel</a:t>
            </a:r>
            <a:r>
              <a:rPr lang="en-GB" b="1" dirty="0"/>
              <a:t>: </a:t>
            </a:r>
            <a:r>
              <a:rPr lang="en-GB" b="1" dirty="0" err="1"/>
              <a:t>Ära</a:t>
            </a:r>
            <a:r>
              <a:rPr lang="en-GB" b="1" dirty="0"/>
              <a:t> </a:t>
            </a:r>
            <a:r>
              <a:rPr lang="en-GB" b="1" dirty="0" err="1"/>
              <a:t>kasuta</a:t>
            </a:r>
            <a:r>
              <a:rPr lang="en-GB" b="1" dirty="0"/>
              <a:t> </a:t>
            </a:r>
            <a:r>
              <a:rPr lang="en-GB" b="1" dirty="0" err="1"/>
              <a:t>üle</a:t>
            </a:r>
            <a:r>
              <a:rPr lang="en-GB" b="1" dirty="0"/>
              <a:t> 3 </a:t>
            </a:r>
            <a:r>
              <a:rPr lang="en-GB" b="1" dirty="0" err="1"/>
              <a:t>põhivärvi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b="1" dirty="0"/>
              <a:t>60% </a:t>
            </a:r>
            <a:r>
              <a:rPr lang="en-GB" b="1" dirty="0" err="1"/>
              <a:t>Domineeriv</a:t>
            </a:r>
            <a:r>
              <a:rPr lang="en-GB" b="1" dirty="0"/>
              <a:t> </a:t>
            </a:r>
            <a:r>
              <a:rPr lang="en-GB" b="1" dirty="0" err="1"/>
              <a:t>taustajõud</a:t>
            </a:r>
            <a:r>
              <a:rPr lang="en-GB" b="1" dirty="0"/>
              <a:t> </a:t>
            </a:r>
            <a:r>
              <a:rPr lang="en-GB" dirty="0"/>
              <a:t>(Hall/Valge): </a:t>
            </a:r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taust</a:t>
            </a:r>
            <a:r>
              <a:rPr lang="en-GB" dirty="0"/>
              <a:t>,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taustad</a:t>
            </a:r>
            <a:r>
              <a:rPr lang="en-GB" dirty="0"/>
              <a:t>, </a:t>
            </a:r>
            <a:r>
              <a:rPr lang="en-GB" dirty="0" err="1"/>
              <a:t>teljed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tekstid</a:t>
            </a:r>
            <a:r>
              <a:rPr lang="en-GB" dirty="0"/>
              <a:t> </a:t>
            </a:r>
            <a:r>
              <a:rPr lang="en-GB" dirty="0" err="1"/>
              <a:t>peaksid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neutraalsed</a:t>
            </a:r>
            <a:r>
              <a:rPr lang="en-GB" dirty="0"/>
              <a:t> (</a:t>
            </a:r>
            <a:r>
              <a:rPr lang="en-GB" dirty="0" err="1"/>
              <a:t>erinevad</a:t>
            </a:r>
            <a:r>
              <a:rPr lang="en-GB" dirty="0"/>
              <a:t> halli </a:t>
            </a:r>
            <a:r>
              <a:rPr lang="en-GB" dirty="0" err="1"/>
              <a:t>varjundid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valge</a:t>
            </a:r>
            <a:r>
              <a:rPr lang="en-GB" dirty="0"/>
              <a:t>). Hall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karju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</a:t>
            </a:r>
            <a:r>
              <a:rPr lang="en-GB" dirty="0" err="1"/>
              <a:t>järele</a:t>
            </a:r>
            <a:r>
              <a:rPr lang="en-GB" dirty="0"/>
              <a:t>, see </a:t>
            </a:r>
            <a:r>
              <a:rPr lang="en-GB" dirty="0" err="1"/>
              <a:t>loob</a:t>
            </a:r>
            <a:r>
              <a:rPr lang="en-GB" dirty="0"/>
              <a:t> </a:t>
            </a:r>
            <a:r>
              <a:rPr lang="en-GB" dirty="0" err="1"/>
              <a:t>lõuendi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30% </a:t>
            </a:r>
            <a:r>
              <a:rPr lang="en-GB" b="1" dirty="0" err="1"/>
              <a:t>Struktuurivärv</a:t>
            </a:r>
            <a:r>
              <a:rPr lang="en-GB" b="1" dirty="0"/>
              <a:t> (</a:t>
            </a:r>
            <a:r>
              <a:rPr lang="en-GB" b="1" dirty="0" err="1"/>
              <a:t>Brändivärv</a:t>
            </a:r>
            <a:r>
              <a:rPr lang="en-GB" b="1" dirty="0"/>
              <a:t>): </a:t>
            </a:r>
            <a:r>
              <a:rPr lang="en-GB" dirty="0"/>
              <a:t>Sinu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kliendi</a:t>
            </a:r>
            <a:r>
              <a:rPr lang="en-GB" dirty="0"/>
              <a:t> </a:t>
            </a:r>
            <a:r>
              <a:rPr lang="en-GB" dirty="0" err="1"/>
              <a:t>ettevõtte</a:t>
            </a:r>
            <a:r>
              <a:rPr lang="en-GB" dirty="0"/>
              <a:t> </a:t>
            </a:r>
            <a:r>
              <a:rPr lang="en-GB" dirty="0" err="1"/>
              <a:t>põhivärv</a:t>
            </a:r>
            <a:r>
              <a:rPr lang="en-GB" dirty="0"/>
              <a:t>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tavaliste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, </a:t>
            </a:r>
            <a:r>
              <a:rPr lang="en-GB" dirty="0" err="1"/>
              <a:t>tiitliribade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vaikimisi</a:t>
            </a:r>
            <a:r>
              <a:rPr lang="en-GB" dirty="0"/>
              <a:t> </a:t>
            </a:r>
            <a:r>
              <a:rPr lang="en-GB" dirty="0" err="1"/>
              <a:t>tulpade</a:t>
            </a:r>
            <a:r>
              <a:rPr lang="en-GB" dirty="0"/>
              <a:t> </a:t>
            </a:r>
            <a:r>
              <a:rPr lang="en-GB" dirty="0" err="1"/>
              <a:t>kuvamiseks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10% </a:t>
            </a:r>
            <a:r>
              <a:rPr lang="en-GB" b="1" dirty="0" err="1"/>
              <a:t>Aktsentvärv</a:t>
            </a:r>
            <a:r>
              <a:rPr lang="en-GB" b="1" dirty="0"/>
              <a:t> (</a:t>
            </a:r>
            <a:r>
              <a:rPr lang="en-GB" b="1" dirty="0" err="1"/>
              <a:t>Erksad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b="1" dirty="0"/>
              <a:t> </a:t>
            </a:r>
            <a:r>
              <a:rPr lang="en-GB" b="1" dirty="0" err="1"/>
              <a:t>tähelepanuks</a:t>
            </a:r>
            <a:r>
              <a:rPr lang="en-GB" b="1" dirty="0"/>
              <a:t>): </a:t>
            </a:r>
            <a:r>
              <a:rPr lang="en-GB" dirty="0"/>
              <a:t>See on Sinu "</a:t>
            </a:r>
            <a:r>
              <a:rPr lang="en-GB" dirty="0" err="1"/>
              <a:t>hoolitse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eest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" </a:t>
            </a:r>
            <a:r>
              <a:rPr lang="en-GB" dirty="0" err="1"/>
              <a:t>värv</a:t>
            </a:r>
            <a:r>
              <a:rPr lang="en-GB" dirty="0"/>
              <a:t> (</a:t>
            </a:r>
            <a:r>
              <a:rPr lang="en-GB" dirty="0" err="1"/>
              <a:t>erkpunane</a:t>
            </a:r>
            <a:r>
              <a:rPr lang="en-GB" dirty="0"/>
              <a:t>,, </a:t>
            </a:r>
            <a:r>
              <a:rPr lang="en-GB" dirty="0" err="1"/>
              <a:t>oranž</a:t>
            </a:r>
            <a:r>
              <a:rPr lang="en-GB" dirty="0"/>
              <a:t>).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ainult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midagi</a:t>
            </a:r>
            <a:r>
              <a:rPr lang="en-GB" dirty="0"/>
              <a:t> on </a:t>
            </a:r>
            <a:r>
              <a:rPr lang="en-GB" dirty="0" err="1"/>
              <a:t>valesti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vajab</a:t>
            </a:r>
            <a:r>
              <a:rPr lang="en-GB" dirty="0"/>
              <a:t> </a:t>
            </a:r>
            <a:r>
              <a:rPr lang="en-GB" dirty="0" err="1"/>
              <a:t>kriitilist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Sentiment Gap </a:t>
            </a:r>
            <a:r>
              <a:rPr lang="en-GB" dirty="0" err="1"/>
              <a:t>läheb</a:t>
            </a:r>
            <a:r>
              <a:rPr lang="en-GB" dirty="0"/>
              <a:t> </a:t>
            </a:r>
            <a:r>
              <a:rPr lang="en-GB" dirty="0" err="1"/>
              <a:t>punasesse</a:t>
            </a:r>
            <a:r>
              <a:rPr lang="en-GB" dirty="0"/>
              <a:t> </a:t>
            </a:r>
            <a:r>
              <a:rPr lang="en-GB" dirty="0" err="1"/>
              <a:t>tsooni</a:t>
            </a:r>
            <a:r>
              <a:rPr lang="en-GB" dirty="0"/>
              <a:t>). </a:t>
            </a:r>
            <a:r>
              <a:rPr lang="en-GB" dirty="0" err="1"/>
              <a:t>Erista</a:t>
            </a:r>
            <a:r>
              <a:rPr lang="en-GB" dirty="0"/>
              <a:t> </a:t>
            </a:r>
            <a:r>
              <a:rPr lang="en-GB" dirty="0" err="1"/>
              <a:t>vaid</a:t>
            </a:r>
            <a:r>
              <a:rPr lang="en-GB" dirty="0"/>
              <a:t> </a:t>
            </a:r>
            <a:r>
              <a:rPr lang="en-GB" dirty="0" err="1"/>
              <a:t>olulist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9365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A9D26-B2A7-77BC-83F1-C9163F4300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3264" y="1268412"/>
            <a:ext cx="5364163" cy="2052637"/>
          </a:xfrm>
        </p:spPr>
        <p:txBody>
          <a:bodyPr/>
          <a:lstStyle/>
          <a:p>
            <a:r>
              <a:rPr lang="et-EE" dirty="0"/>
              <a:t>Lisaks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CA094-46D6-816F-87A8-E3A445A2CA9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86200" y="2120900"/>
            <a:ext cx="7681912" cy="3692071"/>
          </a:xfrm>
        </p:spPr>
        <p:txBody>
          <a:bodyPr/>
          <a:lstStyle/>
          <a:p>
            <a:r>
              <a:rPr lang="et-EE" dirty="0"/>
              <a:t>Z paigutus</a:t>
            </a:r>
          </a:p>
          <a:p>
            <a:pPr lvl="1"/>
            <a:r>
              <a:rPr lang="et-EE" dirty="0"/>
              <a:t>Inimene loeb vasakult ülevalt</a:t>
            </a:r>
          </a:p>
          <a:p>
            <a:r>
              <a:rPr lang="et-EE" dirty="0"/>
              <a:t>Erivajadustega arvestamine</a:t>
            </a:r>
          </a:p>
          <a:p>
            <a:r>
              <a:rPr lang="et-EE" dirty="0"/>
              <a:t>Kasutajamugavus ehk objektide vahel liikumine</a:t>
            </a:r>
          </a:p>
          <a:p>
            <a:pPr lvl="1"/>
            <a:r>
              <a:rPr lang="et-EE" dirty="0"/>
              <a:t>Info leht</a:t>
            </a:r>
          </a:p>
          <a:p>
            <a:pPr lvl="1"/>
            <a:r>
              <a:rPr lang="et-EE" dirty="0"/>
              <a:t>Lehtede järjestus</a:t>
            </a:r>
          </a:p>
          <a:p>
            <a:pPr lvl="1"/>
            <a:r>
              <a:rPr lang="et-EE" dirty="0"/>
              <a:t>Navigatsiooninupud</a:t>
            </a:r>
          </a:p>
          <a:p>
            <a:r>
              <a:rPr lang="et-EE" dirty="0"/>
              <a:t>Pealkirjad</a:t>
            </a:r>
          </a:p>
          <a:p>
            <a:r>
              <a:rPr lang="et-EE" dirty="0">
                <a:solidFill>
                  <a:srgbClr val="000000"/>
                </a:solidFill>
                <a:ea typeface="Inter"/>
              </a:rPr>
              <a:t>Funktsioon+objektid pealkirja asemel -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pealkiri</a:t>
            </a:r>
            <a:endParaRPr lang="et-EE" dirty="0"/>
          </a:p>
          <a:p>
            <a:r>
              <a:rPr lang="et-EE" dirty="0"/>
              <a:t>Ajatempel</a:t>
            </a:r>
          </a:p>
          <a:p>
            <a:r>
              <a:rPr lang="en-US" dirty="0" err="1">
                <a:solidFill>
                  <a:srgbClr val="000000"/>
                </a:solidFill>
                <a:ea typeface="Inter"/>
              </a:rPr>
              <a:t>Teljed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alustada</a:t>
            </a:r>
            <a:r>
              <a:rPr lang="en-US" dirty="0">
                <a:solidFill>
                  <a:srgbClr val="000000"/>
                </a:solidFill>
                <a:ea typeface="Inter"/>
              </a:rPr>
              <a:t> 0-st</a:t>
            </a:r>
          </a:p>
          <a:p>
            <a:r>
              <a:rPr lang="et-EE" dirty="0"/>
              <a:t>Ebavajalik eemaldada</a:t>
            </a:r>
          </a:p>
        </p:txBody>
      </p:sp>
    </p:spTree>
    <p:extLst>
      <p:ext uri="{BB962C8B-B14F-4D97-AF65-F5344CB8AC3E}">
        <p14:creationId xmlns:p14="http://schemas.microsoft.com/office/powerpoint/2010/main" val="41461863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42BA4-0921-C570-F635-E664887827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Graafikute võrdlus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764EF-FE9E-65A4-7BBE-3DF8139E02E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665045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5D20-17C4-BC51-A46D-4578621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AE3B-A6BD-571A-882F-3266F13CE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2132012" cy="2200130"/>
          </a:xfrm>
        </p:spPr>
        <p:txBody>
          <a:bodyPr/>
          <a:lstStyle/>
          <a:p>
            <a:r>
              <a:rPr lang="en-US" dirty="0"/>
              <a:t>Õige </a:t>
            </a:r>
            <a:r>
              <a:rPr lang="en-US" dirty="0" err="1"/>
              <a:t>visuaali</a:t>
            </a:r>
            <a:r>
              <a:rPr lang="en-US" dirty="0"/>
              <a:t> </a:t>
            </a:r>
            <a:r>
              <a:rPr lang="en-US" dirty="0" err="1"/>
              <a:t>valimine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B89B8-B808-32D1-3C5F-AF4D5CF10E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0FF65D0-1C51-2845-87B7-E7BF5BF1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486" y="82550"/>
            <a:ext cx="8576218" cy="629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2327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9665-760D-358F-27BE-96E726B14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Kas see on </a:t>
            </a:r>
            <a:r>
              <a:rPr lang="en-US" err="1">
                <a:ea typeface="+mj-lt"/>
                <a:cs typeface="+mj-lt"/>
              </a:rPr>
              <a:t>hea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visuaal</a:t>
            </a:r>
            <a:r>
              <a:rPr lang="en-US">
                <a:ea typeface="+mj-lt"/>
                <a:cs typeface="+mj-lt"/>
              </a:rPr>
              <a:t> –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või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mitte</a:t>
            </a:r>
            <a:r>
              <a:rPr lang="en-US">
                <a:ea typeface="+mj-lt"/>
                <a:cs typeface="+mj-lt"/>
              </a:rPr>
              <a:t>?</a:t>
            </a:r>
            <a:endParaRPr lang="en-US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pic>
        <p:nvPicPr>
          <p:cNvPr id="4" name="Content Placeholder 3" descr="chart, pie chart">
            <a:extLst>
              <a:ext uri="{FF2B5EF4-FFF2-40B4-BE49-F238E27FC236}">
                <a16:creationId xmlns:a16="http://schemas.microsoft.com/office/drawing/2014/main" id="{0A6BB9F2-11DF-2DBD-BD78-2AD402C8967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65810" y="1268413"/>
            <a:ext cx="5257205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438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0693-807C-0582-E2F8-D70C2E33A1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D13E-E6C1-F13D-85FB-D41B6EB0BA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4A489-80BB-9D68-E783-307EEB75483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4" descr="A graph of co2 emissions&#10;&#10;AI-generated content may be incorrect.">
            <a:extLst>
              <a:ext uri="{FF2B5EF4-FFF2-40B4-BE49-F238E27FC236}">
                <a16:creationId xmlns:a16="http://schemas.microsoft.com/office/drawing/2014/main" id="{42F28992-9372-2820-2AA9-A223EC4F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79" y="1266546"/>
            <a:ext cx="5181752" cy="4159478"/>
          </a:xfrm>
          <a:prstGeom prst="rect">
            <a:avLst/>
          </a:prstGeom>
        </p:spPr>
      </p:pic>
      <p:pic>
        <p:nvPicPr>
          <p:cNvPr id="8" name="Content Placeholder 5" descr="A graph with a red bar and gray bars&#10;&#10;AI-generated content may be incorrect.">
            <a:extLst>
              <a:ext uri="{FF2B5EF4-FFF2-40B4-BE49-F238E27FC236}">
                <a16:creationId xmlns:a16="http://schemas.microsoft.com/office/drawing/2014/main" id="{FDC5B212-1535-8D2B-FD2B-64299178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49" y="1268413"/>
            <a:ext cx="5371682" cy="4143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9BEFD3-193A-7B44-10AC-572FE16CDF23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765006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A2B20-17DB-62FA-4642-AEDF9BBE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5F4C-1D32-4631-F4CF-0F9BD91F55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A52F640-1D0A-6676-2612-F74C1B9849E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6757193" y="1722741"/>
            <a:ext cx="4140445" cy="3674208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9DEEC26-55A7-9770-1A7A-48D155173F1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088110" y="1722743"/>
            <a:ext cx="4582257" cy="3674207"/>
          </a:xfrm>
          <a:prstGeom prst="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100611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B6255-A18B-98C8-37D3-5A91EE8E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ADF3-06C6-7A42-2CFB-B3F6BEA297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5CB1DB-43DC-007D-0D83-3BFBC5B29A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736455" y="1268413"/>
            <a:ext cx="4711055" cy="4131610"/>
          </a:xfrm>
          <a:prstGeom prst="rect">
            <a:avLst/>
          </a:prstGeom>
        </p:spPr>
      </p:pic>
      <p:pic>
        <p:nvPicPr>
          <p:cNvPr id="8" name="Content Placeholder 7" descr="A graph showing a number of sales&#10;&#10;AI-generated content may be incorrect.">
            <a:extLst>
              <a:ext uri="{FF2B5EF4-FFF2-40B4-BE49-F238E27FC236}">
                <a16:creationId xmlns:a16="http://schemas.microsoft.com/office/drawing/2014/main" id="{360B97AD-FC5D-BB0E-0676-B5A738A91A2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747007" y="1268412"/>
            <a:ext cx="4685143" cy="413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D38AA4-127B-D0C2-EC2D-3D9FC005B9BF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469605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5880A-65B9-EF2C-26CD-F373C7506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Lugemist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teemal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6FC58-3D89-09B2-8E5F-8B998115BB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2"/>
              </a:rPr>
              <a:t>Rand Owens. 10 Good and Bad Examples of Data Visualization in 2024.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3"/>
              </a:rPr>
              <a:t>Ivan Kilin. 80 types of charts &amp; graphs for data visualization</a:t>
            </a:r>
            <a:r>
              <a:rPr lang="en-US" sz="2400">
                <a:ea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7792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E6B9-2AC8-5218-C39C-52614A3386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D73B3-D6DF-B270-899B-BB933EED1E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66580" y="5246753"/>
            <a:ext cx="5364162" cy="2276020"/>
          </a:xfrm>
        </p:spPr>
        <p:txBody>
          <a:bodyPr/>
          <a:lstStyle/>
          <a:p>
            <a:r>
              <a:rPr lang="en-GB" dirty="0" err="1"/>
              <a:t>Uuri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too </a:t>
            </a:r>
            <a:r>
              <a:rPr lang="en-GB" dirty="0" err="1"/>
              <a:t>välja</a:t>
            </a:r>
            <a:r>
              <a:rPr lang="en-GB" dirty="0"/>
              <a:t> 5-10 </a:t>
            </a:r>
            <a:r>
              <a:rPr lang="en-GB" dirty="0" err="1"/>
              <a:t>asja</a:t>
            </a:r>
            <a:r>
              <a:rPr lang="en-GB" dirty="0"/>
              <a:t>, mis on </a:t>
            </a:r>
            <a:r>
              <a:rPr lang="en-GB" dirty="0" err="1"/>
              <a:t>valesti</a:t>
            </a:r>
            <a:endParaRPr lang="en-GB" dirty="0"/>
          </a:p>
        </p:txBody>
      </p:sp>
      <p:pic>
        <p:nvPicPr>
          <p:cNvPr id="5" name="Picture 4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E5BA800A-4441-F23B-7348-103B10670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7" y="595236"/>
            <a:ext cx="8269362" cy="4651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956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3548-4215-18ED-8E5C-90C8DED356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9384" y="518948"/>
            <a:ext cx="5364163" cy="2052637"/>
          </a:xfrm>
        </p:spPr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9A125-02B1-55CE-C088-83185654BE8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396" y="3055707"/>
            <a:ext cx="5364162" cy="2276020"/>
          </a:xfrm>
        </p:spPr>
        <p:txBody>
          <a:bodyPr>
            <a:normAutofit fontScale="92500" lnSpcReduction="20000"/>
          </a:bodyPr>
          <a:lstStyle/>
          <a:p>
            <a:r>
              <a:rPr lang="en-GB" dirty="0" err="1"/>
              <a:t>Ekraanile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dirty="0" err="1"/>
              <a:t>kuhjatud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vidinaid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graafikuid</a:t>
            </a:r>
            <a:r>
              <a:rPr lang="en-GB" dirty="0"/>
              <a:t>, mis </a:t>
            </a:r>
            <a:r>
              <a:rPr lang="en-GB" dirty="0" err="1"/>
              <a:t>teeb</a:t>
            </a:r>
            <a:r>
              <a:rPr lang="en-GB" dirty="0"/>
              <a:t> </a:t>
            </a:r>
            <a:r>
              <a:rPr lang="en-GB" dirty="0" err="1"/>
              <a:t>olulise</a:t>
            </a:r>
            <a:r>
              <a:rPr lang="en-GB" dirty="0"/>
              <a:t> info </a:t>
            </a:r>
            <a:r>
              <a:rPr lang="en-GB" dirty="0" err="1"/>
              <a:t>leidmise</a:t>
            </a:r>
            <a:r>
              <a:rPr lang="en-GB" dirty="0"/>
              <a:t> </a:t>
            </a:r>
            <a:r>
              <a:rPr lang="en-GB" dirty="0" err="1"/>
              <a:t>võimatuks</a:t>
            </a:r>
            <a:r>
              <a:rPr lang="en-GB" dirty="0"/>
              <a:t>.</a:t>
            </a:r>
          </a:p>
          <a:p>
            <a:r>
              <a:rPr lang="en-GB" b="1" dirty="0"/>
              <a:t>Silmi </a:t>
            </a:r>
            <a:r>
              <a:rPr lang="en-GB" b="1" dirty="0" err="1"/>
              <a:t>väsitavad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dirty="0"/>
              <a:t>: </a:t>
            </a:r>
            <a:r>
              <a:rPr lang="en-GB" dirty="0" err="1"/>
              <a:t>Tumedal</a:t>
            </a:r>
            <a:r>
              <a:rPr lang="en-GB" dirty="0"/>
              <a:t> </a:t>
            </a:r>
            <a:r>
              <a:rPr lang="en-GB" dirty="0" err="1"/>
              <a:t>taustal</a:t>
            </a:r>
            <a:r>
              <a:rPr lang="en-GB" dirty="0"/>
              <a:t> </a:t>
            </a:r>
            <a:r>
              <a:rPr lang="en-GB" dirty="0" err="1"/>
              <a:t>kasutatud</a:t>
            </a:r>
            <a:r>
              <a:rPr lang="en-GB" dirty="0"/>
              <a:t> </a:t>
            </a:r>
            <a:r>
              <a:rPr lang="en-GB" dirty="0" err="1"/>
              <a:t>neoonrohelised</a:t>
            </a:r>
            <a:r>
              <a:rPr lang="en-GB" dirty="0"/>
              <a:t>, </a:t>
            </a:r>
            <a:r>
              <a:rPr lang="en-GB" dirty="0" err="1"/>
              <a:t>lillad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kollased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väsitavad</a:t>
            </a:r>
            <a:r>
              <a:rPr lang="en-GB" dirty="0"/>
              <a:t> </a:t>
            </a:r>
            <a:r>
              <a:rPr lang="en-GB" dirty="0" err="1"/>
              <a:t>silmi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neil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funktsionaalne</a:t>
            </a:r>
            <a:r>
              <a:rPr lang="en-GB" dirty="0"/>
              <a:t> </a:t>
            </a:r>
            <a:r>
              <a:rPr lang="en-GB" dirty="0" err="1"/>
              <a:t>tähendus</a:t>
            </a:r>
            <a:r>
              <a:rPr lang="en-GB" dirty="0"/>
              <a:t>.</a:t>
            </a:r>
          </a:p>
          <a:p>
            <a:pPr lvl="0"/>
            <a:r>
              <a:rPr lang="en-GB" b="1" dirty="0"/>
              <a:t>Valed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ebatäpsed</a:t>
            </a:r>
            <a:r>
              <a:rPr lang="en-GB" b="1" dirty="0"/>
              <a:t> </a:t>
            </a:r>
            <a:r>
              <a:rPr lang="en-GB" b="1" dirty="0" err="1"/>
              <a:t>diagrammid</a:t>
            </a:r>
            <a:r>
              <a:rPr lang="en-GB" dirty="0"/>
              <a:t>: </a:t>
            </a:r>
            <a:r>
              <a:rPr lang="en-GB" dirty="0" err="1"/>
              <a:t>Keerulised</a:t>
            </a:r>
            <a:r>
              <a:rPr lang="en-GB" dirty="0"/>
              <a:t> 3D-graafikud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otsa</a:t>
            </a:r>
            <a:r>
              <a:rPr lang="en-GB" dirty="0"/>
              <a:t> </a:t>
            </a:r>
            <a:r>
              <a:rPr lang="en-GB" dirty="0" err="1"/>
              <a:t>surutud</a:t>
            </a:r>
            <a:r>
              <a:rPr lang="en-GB" dirty="0"/>
              <a:t> </a:t>
            </a:r>
            <a:r>
              <a:rPr lang="en-GB" dirty="0" err="1"/>
              <a:t>jooned</a:t>
            </a:r>
            <a:r>
              <a:rPr lang="en-GB" dirty="0"/>
              <a:t> </a:t>
            </a:r>
            <a:r>
              <a:rPr lang="en-GB" dirty="0" err="1"/>
              <a:t>muudavad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lugemise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võrdlemise</a:t>
            </a:r>
            <a:r>
              <a:rPr lang="en-GB" dirty="0"/>
              <a:t> </a:t>
            </a:r>
            <a:r>
              <a:rPr lang="en-GB" dirty="0" err="1"/>
              <a:t>ebatäpseks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Puuduv</a:t>
            </a:r>
            <a:r>
              <a:rPr lang="en-GB" b="1" dirty="0"/>
              <a:t> </a:t>
            </a:r>
            <a:r>
              <a:rPr lang="en-GB" b="1" dirty="0" err="1"/>
              <a:t>ruum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dirty="0"/>
              <a:t>: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vaba</a:t>
            </a:r>
            <a:r>
              <a:rPr lang="en-GB" dirty="0"/>
              <a:t> "</a:t>
            </a:r>
            <a:r>
              <a:rPr lang="en-GB" dirty="0" err="1"/>
              <a:t>hingamisruum</a:t>
            </a:r>
            <a:r>
              <a:rPr lang="en-GB" dirty="0"/>
              <a:t>"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kastid</a:t>
            </a:r>
            <a:r>
              <a:rPr lang="en-GB" dirty="0"/>
              <a:t> on </a:t>
            </a:r>
            <a:r>
              <a:rPr lang="en-GB" dirty="0" err="1"/>
              <a:t>ühesuurused</a:t>
            </a:r>
            <a:r>
              <a:rPr lang="en-GB" dirty="0"/>
              <a:t>, </a:t>
            </a:r>
            <a:r>
              <a:rPr lang="en-GB" dirty="0" err="1"/>
              <a:t>mistõttu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eristu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kriitilisemad</a:t>
            </a:r>
            <a:r>
              <a:rPr lang="en-GB" dirty="0"/>
              <a:t> </a:t>
            </a:r>
            <a:r>
              <a:rPr lang="en-GB" dirty="0" err="1"/>
              <a:t>näitajad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809375E6-7B7A-AF11-FB36-276C6BC42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143" y="597036"/>
            <a:ext cx="5143500" cy="28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31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F7A6-C222-A7DA-6B43-F9D7AD0A16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557" y="698478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ADC50-5A1E-1AE7-16D9-9D4C7CAD3AE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31117" y="447235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Selge</a:t>
            </a:r>
            <a:r>
              <a:rPr lang="en-GB" b="1" dirty="0"/>
              <a:t> Z-</a:t>
            </a:r>
            <a:r>
              <a:rPr lang="en-GB" b="1" dirty="0" err="1"/>
              <a:t>kujuline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b="1" dirty="0"/>
              <a:t> </a:t>
            </a:r>
            <a:r>
              <a:rPr lang="en-GB" dirty="0" err="1"/>
              <a:t>paigutab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KPI </a:t>
            </a:r>
            <a:r>
              <a:rPr lang="en-GB" dirty="0" err="1"/>
              <a:t>põhinumbrid</a:t>
            </a:r>
            <a:r>
              <a:rPr lang="en-GB" dirty="0"/>
              <a:t> (</a:t>
            </a:r>
            <a:r>
              <a:rPr lang="en-GB" dirty="0" err="1"/>
              <a:t>käive</a:t>
            </a:r>
            <a:r>
              <a:rPr lang="en-GB" dirty="0"/>
              <a:t>, </a:t>
            </a:r>
            <a:r>
              <a:rPr lang="en-GB" dirty="0" err="1"/>
              <a:t>marginaal</a:t>
            </a:r>
            <a:r>
              <a:rPr lang="en-GB" dirty="0"/>
              <a:t>)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ülaosasse</a:t>
            </a:r>
            <a:r>
              <a:rPr lang="en-GB" dirty="0"/>
              <a:t>. </a:t>
            </a:r>
            <a:r>
              <a:rPr lang="en-GB" dirty="0" err="1"/>
              <a:t>Pilk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</a:t>
            </a:r>
            <a:r>
              <a:rPr lang="en-GB" dirty="0" err="1"/>
              <a:t>sealt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alla </a:t>
            </a:r>
            <a:r>
              <a:rPr lang="en-GB" dirty="0" err="1"/>
              <a:t>detailsemate</a:t>
            </a:r>
            <a:r>
              <a:rPr lang="en-GB" dirty="0"/>
              <a:t> </a:t>
            </a:r>
            <a:r>
              <a:rPr lang="en-GB" dirty="0" err="1"/>
              <a:t>joon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tulpdiagrammide</a:t>
            </a:r>
            <a:r>
              <a:rPr lang="en-GB" dirty="0"/>
              <a:t> </a:t>
            </a:r>
            <a:r>
              <a:rPr lang="en-GB" dirty="0" err="1"/>
              <a:t>poole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Design Toolkit from Numerro">
            <a:extLst>
              <a:ext uri="{FF2B5EF4-FFF2-40B4-BE49-F238E27FC236}">
                <a16:creationId xmlns:a16="http://schemas.microsoft.com/office/drawing/2014/main" id="{94DEE7F7-596B-23DD-9013-0B85E17C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819" y="109624"/>
            <a:ext cx="7106244" cy="399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106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4EE-C154-4AB8-1445-79A84FCF6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9687" y="141071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9BBB-4CE6-4B4E-04C4-CEBEFCBC0B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669528" y="429477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"</a:t>
            </a:r>
            <a:r>
              <a:rPr lang="en-GB" b="1" dirty="0" err="1"/>
              <a:t>Hingamisruum</a:t>
            </a:r>
            <a:r>
              <a:rPr lang="en-GB" b="1" dirty="0"/>
              <a:t>"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ümarad</a:t>
            </a:r>
            <a:r>
              <a:rPr lang="en-GB" b="1" dirty="0"/>
              <a:t> </a:t>
            </a:r>
            <a:r>
              <a:rPr lang="en-GB" b="1" dirty="0" err="1"/>
              <a:t>konteinerid</a:t>
            </a:r>
            <a:r>
              <a:rPr lang="en-GB" b="1" dirty="0"/>
              <a:t> (</a:t>
            </a:r>
            <a:r>
              <a:rPr lang="en-GB" b="1" dirty="0" err="1"/>
              <a:t>Keskmine</a:t>
            </a:r>
            <a:r>
              <a:rPr lang="en-GB" b="1" dirty="0"/>
              <a:t> </a:t>
            </a:r>
            <a:r>
              <a:rPr lang="en-GB" b="1" dirty="0" err="1"/>
              <a:t>pilt</a:t>
            </a:r>
            <a:r>
              <a:rPr lang="en-GB" b="1" dirty="0"/>
              <a:t>)</a:t>
            </a:r>
            <a:r>
              <a:rPr lang="en-GB" dirty="0"/>
              <a:t>: </a:t>
            </a:r>
            <a:r>
              <a:rPr lang="en-GB" dirty="0" err="1"/>
              <a:t>kasutab</a:t>
            </a:r>
            <a:r>
              <a:rPr lang="en-GB" dirty="0"/>
              <a:t> </a:t>
            </a:r>
            <a:r>
              <a:rPr lang="en-GB" dirty="0" err="1"/>
              <a:t>õrna</a:t>
            </a:r>
            <a:r>
              <a:rPr lang="en-GB" dirty="0"/>
              <a:t> halli </a:t>
            </a:r>
            <a:r>
              <a:rPr lang="en-GB" dirty="0" err="1"/>
              <a:t>tausta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valgeid</a:t>
            </a:r>
            <a:r>
              <a:rPr lang="en-GB" dirty="0"/>
              <a:t> </a:t>
            </a:r>
            <a:r>
              <a:rPr lang="en-GB" dirty="0" err="1"/>
              <a:t>ümarate</a:t>
            </a:r>
            <a:r>
              <a:rPr lang="en-GB" dirty="0"/>
              <a:t> </a:t>
            </a:r>
            <a:r>
              <a:rPr lang="en-GB" dirty="0" err="1"/>
              <a:t>nurkadega</a:t>
            </a:r>
            <a:r>
              <a:rPr lang="en-GB" dirty="0"/>
              <a:t> </a:t>
            </a:r>
            <a:r>
              <a:rPr lang="en-GB" dirty="0" err="1"/>
              <a:t>kaste</a:t>
            </a:r>
            <a:r>
              <a:rPr lang="en-GB" dirty="0"/>
              <a:t> (</a:t>
            </a:r>
            <a:r>
              <a:rPr lang="en-GB" dirty="0" err="1"/>
              <a:t>kontenereid</a:t>
            </a:r>
            <a:r>
              <a:rPr lang="en-GB" dirty="0"/>
              <a:t>).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puutu</a:t>
            </a:r>
            <a:r>
              <a:rPr lang="en-GB" dirty="0"/>
              <a:t> </a:t>
            </a:r>
            <a:r>
              <a:rPr lang="en-GB" dirty="0" err="1"/>
              <a:t>kokku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ekraan</a:t>
            </a:r>
            <a:r>
              <a:rPr lang="en-GB" dirty="0"/>
              <a:t> </a:t>
            </a:r>
            <a:r>
              <a:rPr lang="en-GB" dirty="0" err="1"/>
              <a:t>mõjub</a:t>
            </a:r>
            <a:r>
              <a:rPr lang="en-GB" dirty="0"/>
              <a:t> </a:t>
            </a:r>
            <a:r>
              <a:rPr lang="en-GB" dirty="0" err="1"/>
              <a:t>puhtalt</a:t>
            </a:r>
            <a:r>
              <a:rPr lang="en-GB" dirty="0"/>
              <a:t>, </a:t>
            </a:r>
            <a:r>
              <a:rPr lang="en-GB" dirty="0" err="1"/>
              <a:t>kuigi</a:t>
            </a:r>
            <a:r>
              <a:rPr lang="en-GB" dirty="0"/>
              <a:t> </a:t>
            </a:r>
            <a:r>
              <a:rPr lang="en-GB" dirty="0" err="1"/>
              <a:t>andmetihedus</a:t>
            </a:r>
            <a:r>
              <a:rPr lang="en-GB" dirty="0"/>
              <a:t> on </a:t>
            </a:r>
            <a:r>
              <a:rPr lang="en-GB" dirty="0" err="1"/>
              <a:t>kõrge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Example: Sales Actuals vs Budget - Lukas ...">
            <a:extLst>
              <a:ext uri="{FF2B5EF4-FFF2-40B4-BE49-F238E27FC236}">
                <a16:creationId xmlns:a16="http://schemas.microsoft.com/office/drawing/2014/main" id="{09D1DA94-1BE3-5869-ACCE-64A84E3D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262" y="10384"/>
            <a:ext cx="7218738" cy="39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778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57FF-1FE5-C8B6-35F9-0B03C2D78D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C94-F2AA-F14B-0ABD-686DEE48C87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68071" y="4313640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Funktsionaalne</a:t>
            </a:r>
            <a:r>
              <a:rPr lang="en-GB" b="1" dirty="0"/>
              <a:t> </a:t>
            </a:r>
            <a:r>
              <a:rPr lang="en-GB" b="1" dirty="0" err="1"/>
              <a:t>värvikasutus</a:t>
            </a:r>
            <a:r>
              <a:rPr lang="en-GB" b="1" dirty="0"/>
              <a:t> </a:t>
            </a:r>
            <a:r>
              <a:rPr lang="en-GB" dirty="0" err="1"/>
              <a:t>näitab</a:t>
            </a:r>
            <a:r>
              <a:rPr lang="en-GB" dirty="0"/>
              <a:t>, </a:t>
            </a:r>
            <a:r>
              <a:rPr lang="en-GB" dirty="0" err="1"/>
              <a:t>kuidas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põhiosa</a:t>
            </a:r>
            <a:r>
              <a:rPr lang="en-GB" dirty="0"/>
              <a:t> </a:t>
            </a:r>
            <a:r>
              <a:rPr lang="en-GB" dirty="0" err="1"/>
              <a:t>graafikutest</a:t>
            </a:r>
            <a:r>
              <a:rPr lang="en-GB" dirty="0"/>
              <a:t> </a:t>
            </a:r>
            <a:r>
              <a:rPr lang="en-GB" dirty="0" err="1"/>
              <a:t>neutraalselt</a:t>
            </a:r>
            <a:r>
              <a:rPr lang="en-GB" dirty="0"/>
              <a:t> halli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mustana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kasutada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eelarve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reaalsuse</a:t>
            </a:r>
            <a:r>
              <a:rPr lang="en-GB" dirty="0"/>
              <a:t> </a:t>
            </a:r>
            <a:r>
              <a:rPr lang="en-GB" dirty="0" err="1"/>
              <a:t>erinevuste</a:t>
            </a:r>
            <a:r>
              <a:rPr lang="en-GB" dirty="0"/>
              <a:t> (</a:t>
            </a:r>
            <a:r>
              <a:rPr lang="en-GB" dirty="0" err="1"/>
              <a:t>pluss</a:t>
            </a:r>
            <a:r>
              <a:rPr lang="en-GB" dirty="0"/>
              <a:t>/</a:t>
            </a:r>
            <a:r>
              <a:rPr lang="en-GB" dirty="0" err="1"/>
              <a:t>miinus</a:t>
            </a:r>
            <a:r>
              <a:rPr lang="en-GB" dirty="0"/>
              <a:t>) </a:t>
            </a:r>
            <a:r>
              <a:rPr lang="en-GB" dirty="0" err="1"/>
              <a:t>näitamiseks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Financial Dashboard: Examples, KPIs &amp; Free Templates ...">
            <a:extLst>
              <a:ext uri="{FF2B5EF4-FFF2-40B4-BE49-F238E27FC236}">
                <a16:creationId xmlns:a16="http://schemas.microsoft.com/office/drawing/2014/main" id="{F6BA9306-AE9A-CD3F-EDD9-334AF6F37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02" y="275823"/>
            <a:ext cx="7104133" cy="382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379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710A-585B-FF43-ACF7-7BD31A74FA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3649" y="81756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EB3B-4461-1F71-4804-25717EAAD8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46150" y="3041650"/>
            <a:ext cx="10621962" cy="2771321"/>
          </a:xfrm>
        </p:spPr>
        <p:txBody>
          <a:bodyPr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GB" sz="1800" b="1" dirty="0" err="1"/>
              <a:t>Viie</a:t>
            </a:r>
            <a:r>
              <a:rPr lang="en-GB" sz="1800" b="1" dirty="0"/>
              <a:t> </a:t>
            </a:r>
            <a:r>
              <a:rPr lang="en-GB" sz="1800" b="1" dirty="0" err="1"/>
              <a:t>sekundi</a:t>
            </a:r>
            <a:r>
              <a:rPr lang="en-GB" sz="1800" b="1" dirty="0"/>
              <a:t> test 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üldine</a:t>
            </a:r>
            <a:r>
              <a:rPr lang="en-GB" sz="1800" dirty="0"/>
              <a:t> </a:t>
            </a:r>
            <a:r>
              <a:rPr lang="en-GB" sz="1800" dirty="0" err="1"/>
              <a:t>seisukord</a:t>
            </a:r>
            <a:r>
              <a:rPr lang="en-GB" sz="1800" dirty="0"/>
              <a:t> (</a:t>
            </a:r>
            <a:r>
              <a:rPr lang="en-GB" sz="1800" dirty="0" err="1"/>
              <a:t>hea</a:t>
            </a:r>
            <a:r>
              <a:rPr lang="en-GB" sz="1800" dirty="0"/>
              <a:t> / </a:t>
            </a:r>
            <a:r>
              <a:rPr lang="en-GB" sz="1800" dirty="0" err="1"/>
              <a:t>halb</a:t>
            </a:r>
            <a:r>
              <a:rPr lang="en-GB" sz="1800" dirty="0"/>
              <a:t> / </a:t>
            </a:r>
            <a:r>
              <a:rPr lang="en-GB" sz="1800" dirty="0" err="1"/>
              <a:t>kriitiline</a:t>
            </a:r>
            <a:r>
              <a:rPr lang="en-GB" sz="1800" dirty="0"/>
              <a:t>) on </a:t>
            </a:r>
            <a:r>
              <a:rPr lang="en-GB" sz="1800" dirty="0" err="1"/>
              <a:t>arusaadav</a:t>
            </a:r>
            <a:r>
              <a:rPr lang="en-GB" sz="1800" dirty="0"/>
              <a:t> </a:t>
            </a:r>
            <a:r>
              <a:rPr lang="en-GB" sz="1800" dirty="0" err="1"/>
              <a:t>vähem</a:t>
            </a:r>
            <a:r>
              <a:rPr lang="en-GB" sz="1800" dirty="0"/>
              <a:t> </a:t>
            </a:r>
            <a:r>
              <a:rPr lang="en-GB" sz="1800" dirty="0" err="1"/>
              <a:t>kui</a:t>
            </a:r>
            <a:r>
              <a:rPr lang="en-GB" sz="1800" dirty="0"/>
              <a:t> 5 </a:t>
            </a:r>
            <a:r>
              <a:rPr lang="en-GB" sz="1800" dirty="0" err="1"/>
              <a:t>sekundiga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kõige</a:t>
            </a:r>
            <a:r>
              <a:rPr lang="en-GB" sz="1800" dirty="0"/>
              <a:t> </a:t>
            </a:r>
            <a:r>
              <a:rPr lang="en-GB" sz="1800" dirty="0" err="1"/>
              <a:t>olulisemad</a:t>
            </a:r>
            <a:r>
              <a:rPr lang="en-GB" sz="1800" dirty="0"/>
              <a:t> </a:t>
            </a:r>
            <a:r>
              <a:rPr lang="en-GB" sz="1800" dirty="0" err="1"/>
              <a:t>numbrid</a:t>
            </a:r>
            <a:r>
              <a:rPr lang="en-GB" sz="1800" dirty="0"/>
              <a:t> (KPI-d) </a:t>
            </a:r>
            <a:r>
              <a:rPr lang="en-GB" sz="1800" dirty="0" err="1"/>
              <a:t>asuvad</a:t>
            </a:r>
            <a:r>
              <a:rPr lang="en-GB" sz="1800" dirty="0"/>
              <a:t> </a:t>
            </a:r>
            <a:r>
              <a:rPr lang="en-GB" sz="1800" dirty="0" err="1"/>
              <a:t>ekraani</a:t>
            </a:r>
            <a:r>
              <a:rPr lang="en-GB" sz="1800" dirty="0"/>
              <a:t> </a:t>
            </a:r>
            <a:r>
              <a:rPr lang="en-GB" sz="1800" dirty="0" err="1"/>
              <a:t>vasakus</a:t>
            </a:r>
            <a:r>
              <a:rPr lang="en-GB" sz="1800" dirty="0"/>
              <a:t> </a:t>
            </a:r>
            <a:r>
              <a:rPr lang="en-GB" sz="1800" dirty="0" err="1"/>
              <a:t>ülemises</a:t>
            </a:r>
            <a:r>
              <a:rPr lang="en-GB" sz="1800" dirty="0"/>
              <a:t> </a:t>
            </a:r>
            <a:r>
              <a:rPr lang="en-GB" sz="1800" dirty="0" err="1"/>
              <a:t>nurgas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kasutaja</a:t>
            </a:r>
            <a:r>
              <a:rPr lang="en-GB" sz="1800" dirty="0"/>
              <a:t> </a:t>
            </a:r>
            <a:r>
              <a:rPr lang="en-GB" sz="1800" dirty="0" err="1"/>
              <a:t>saab</a:t>
            </a:r>
            <a:r>
              <a:rPr lang="en-GB" sz="1800" dirty="0"/>
              <a:t> </a:t>
            </a:r>
            <a:r>
              <a:rPr lang="en-GB" sz="1800" dirty="0" err="1"/>
              <a:t>kohe</a:t>
            </a:r>
            <a:r>
              <a:rPr lang="en-GB" sz="1800" dirty="0"/>
              <a:t> </a:t>
            </a:r>
            <a:r>
              <a:rPr lang="en-GB" sz="1800" dirty="0" err="1"/>
              <a:t>aru</a:t>
            </a:r>
            <a:r>
              <a:rPr lang="en-GB" sz="1800" dirty="0"/>
              <a:t>, </a:t>
            </a:r>
            <a:r>
              <a:rPr lang="en-GB" sz="1800" dirty="0" err="1"/>
              <a:t>kui</a:t>
            </a:r>
            <a:r>
              <a:rPr lang="en-GB" sz="1800" dirty="0"/>
              <a:t> </a:t>
            </a:r>
            <a:r>
              <a:rPr lang="en-GB" sz="1800" dirty="0" err="1"/>
              <a:t>miski</a:t>
            </a:r>
            <a:r>
              <a:rPr lang="en-GB" sz="1800" dirty="0"/>
              <a:t> </a:t>
            </a:r>
            <a:r>
              <a:rPr lang="en-GB" sz="1800" dirty="0" err="1"/>
              <a:t>vajab</a:t>
            </a:r>
            <a:r>
              <a:rPr lang="en-GB" sz="1800" dirty="0"/>
              <a:t> </a:t>
            </a:r>
            <a:r>
              <a:rPr lang="en-GB" sz="1800" dirty="0" err="1"/>
              <a:t>tema</a:t>
            </a:r>
            <a:r>
              <a:rPr lang="en-GB" sz="1800" dirty="0"/>
              <a:t> </a:t>
            </a:r>
            <a:r>
              <a:rPr lang="en-GB" sz="1800" dirty="0" err="1"/>
              <a:t>kiiret</a:t>
            </a:r>
            <a:r>
              <a:rPr lang="en-GB" sz="1800" dirty="0"/>
              <a:t> </a:t>
            </a:r>
            <a:r>
              <a:rPr lang="en-GB" sz="1800" dirty="0" err="1"/>
              <a:t>sekkumist</a:t>
            </a:r>
            <a:r>
              <a:rPr lang="en-GB" sz="1800" dirty="0"/>
              <a:t>?</a:t>
            </a:r>
          </a:p>
          <a:p>
            <a:pPr marL="0" indent="0">
              <a:buNone/>
            </a:pPr>
            <a:r>
              <a:rPr lang="en-GB" sz="1800" b="1" dirty="0"/>
              <a:t>2. </a:t>
            </a:r>
            <a:r>
              <a:rPr lang="en-GB" sz="1800" b="1" dirty="0" err="1"/>
              <a:t>Värvid</a:t>
            </a:r>
            <a:r>
              <a:rPr lang="en-GB" sz="1800" b="1" dirty="0"/>
              <a:t> </a:t>
            </a:r>
            <a:r>
              <a:rPr lang="en-GB" sz="1800" b="1" dirty="0" err="1"/>
              <a:t>ja</a:t>
            </a:r>
            <a:r>
              <a:rPr lang="en-GB" sz="1800" b="1" dirty="0"/>
              <a:t> </a:t>
            </a:r>
            <a:r>
              <a:rPr lang="en-GB" sz="1800" b="1" dirty="0" err="1"/>
              <a:t>visuaalne</a:t>
            </a:r>
            <a:r>
              <a:rPr lang="en-GB" sz="1800" b="1" dirty="0"/>
              <a:t> </a:t>
            </a:r>
            <a:r>
              <a:rPr lang="en-GB" sz="1800" b="1" dirty="0" err="1"/>
              <a:t>koormus</a:t>
            </a:r>
            <a:endParaRPr lang="en-GB" sz="1800" b="1" dirty="0"/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värvipalett</a:t>
            </a:r>
            <a:r>
              <a:rPr lang="en-GB" sz="1800" dirty="0"/>
              <a:t> on </a:t>
            </a:r>
            <a:r>
              <a:rPr lang="en-GB" sz="1800" dirty="0" err="1"/>
              <a:t>piiratud</a:t>
            </a:r>
            <a:r>
              <a:rPr lang="en-GB" sz="1800" dirty="0"/>
              <a:t> (</a:t>
            </a:r>
            <a:r>
              <a:rPr lang="en-GB" sz="1800" dirty="0" err="1"/>
              <a:t>soovitavalt</a:t>
            </a:r>
            <a:r>
              <a:rPr lang="en-GB" sz="1800" dirty="0"/>
              <a:t> </a:t>
            </a:r>
            <a:r>
              <a:rPr lang="en-GB" sz="1800" dirty="0" err="1"/>
              <a:t>maksimaalselt</a:t>
            </a:r>
            <a:r>
              <a:rPr lang="en-GB" sz="1800" dirty="0"/>
              <a:t> 2–3 </a:t>
            </a:r>
            <a:r>
              <a:rPr lang="en-GB" sz="1800" dirty="0" err="1"/>
              <a:t>põhivärvi</a:t>
            </a:r>
            <a:r>
              <a:rPr lang="en-GB" sz="1800" dirty="0"/>
              <a:t> + </a:t>
            </a:r>
            <a:r>
              <a:rPr lang="en-GB" sz="1800" dirty="0" err="1"/>
              <a:t>hallid</a:t>
            </a:r>
            <a:r>
              <a:rPr lang="en-GB" sz="1800" dirty="0"/>
              <a:t> </a:t>
            </a:r>
            <a:r>
              <a:rPr lang="en-GB" sz="1800" dirty="0" err="1"/>
              <a:t>toonid</a:t>
            </a:r>
            <a:r>
              <a:rPr lang="en-GB" sz="1800" dirty="0"/>
              <a:t> </a:t>
            </a:r>
            <a:r>
              <a:rPr lang="en-GB" sz="1800" dirty="0" err="1"/>
              <a:t>taustaks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punast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rohelist</a:t>
            </a:r>
            <a:r>
              <a:rPr lang="en-GB" sz="1800" dirty="0"/>
              <a:t> </a:t>
            </a:r>
            <a:r>
              <a:rPr lang="en-GB" sz="1800" dirty="0" err="1"/>
              <a:t>värvi</a:t>
            </a:r>
            <a:r>
              <a:rPr lang="en-GB" sz="1800" dirty="0"/>
              <a:t> </a:t>
            </a:r>
            <a:r>
              <a:rPr lang="en-GB" sz="1800" dirty="0" err="1"/>
              <a:t>kasutatakse</a:t>
            </a:r>
            <a:r>
              <a:rPr lang="en-GB" sz="1800" dirty="0"/>
              <a:t> </a:t>
            </a:r>
            <a:r>
              <a:rPr lang="en-GB" sz="1800" b="1" dirty="0" err="1"/>
              <a:t>ainult</a:t>
            </a:r>
            <a:r>
              <a:rPr lang="en-GB" sz="1800" dirty="0"/>
              <a:t> </a:t>
            </a:r>
            <a:r>
              <a:rPr lang="en-GB" sz="1800" dirty="0" err="1"/>
              <a:t>hoiatuste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staatuse</a:t>
            </a:r>
            <a:r>
              <a:rPr lang="en-GB" sz="1800" dirty="0"/>
              <a:t> </a:t>
            </a:r>
            <a:r>
              <a:rPr lang="en-GB" sz="1800" dirty="0" err="1"/>
              <a:t>tähistamiseks</a:t>
            </a:r>
            <a:r>
              <a:rPr lang="en-GB" sz="1800" dirty="0"/>
              <a:t> (</a:t>
            </a:r>
            <a:r>
              <a:rPr lang="en-GB" sz="1800" dirty="0" err="1"/>
              <a:t>mitte</a:t>
            </a:r>
            <a:r>
              <a:rPr lang="en-GB" sz="1800" dirty="0"/>
              <a:t> </a:t>
            </a:r>
            <a:r>
              <a:rPr lang="en-GB" sz="1800" dirty="0" err="1"/>
              <a:t>tavalise</a:t>
            </a:r>
            <a:r>
              <a:rPr lang="en-GB" sz="1800" dirty="0"/>
              <a:t> </a:t>
            </a:r>
            <a:r>
              <a:rPr lang="en-GB" sz="1800" dirty="0" err="1"/>
              <a:t>kujunduselemendina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ekraanil</a:t>
            </a:r>
            <a:r>
              <a:rPr lang="en-GB" sz="1800" dirty="0"/>
              <a:t> on </a:t>
            </a:r>
            <a:r>
              <a:rPr lang="en-GB" sz="1800" dirty="0" err="1"/>
              <a:t>piisavalt</a:t>
            </a:r>
            <a:r>
              <a:rPr lang="en-GB" sz="1800" dirty="0"/>
              <a:t> "</a:t>
            </a:r>
            <a:r>
              <a:rPr lang="en-GB" sz="1800" dirty="0" err="1"/>
              <a:t>hingamisruumi</a:t>
            </a:r>
            <a:r>
              <a:rPr lang="en-GB" sz="1800" dirty="0"/>
              <a:t>" (</a:t>
            </a:r>
            <a:r>
              <a:rPr lang="en-GB" sz="1800" dirty="0" err="1"/>
              <a:t>tühja</a:t>
            </a:r>
            <a:r>
              <a:rPr lang="en-GB" sz="1800" dirty="0"/>
              <a:t> </a:t>
            </a:r>
            <a:r>
              <a:rPr lang="en-GB" sz="1800" dirty="0" err="1"/>
              <a:t>valget</a:t>
            </a:r>
            <a:r>
              <a:rPr lang="en-GB" sz="1800" dirty="0"/>
              <a:t> ala), et </a:t>
            </a:r>
            <a:r>
              <a:rPr lang="en-GB" sz="1800" dirty="0" err="1"/>
              <a:t>silm</a:t>
            </a:r>
            <a:r>
              <a:rPr lang="en-GB" sz="1800" dirty="0"/>
              <a:t> </a:t>
            </a:r>
            <a:r>
              <a:rPr lang="en-GB" sz="1800" dirty="0" err="1"/>
              <a:t>saaks</a:t>
            </a:r>
            <a:r>
              <a:rPr lang="en-GB" sz="1800" dirty="0"/>
              <a:t> </a:t>
            </a:r>
            <a:r>
              <a:rPr lang="en-GB" sz="1800" dirty="0" err="1"/>
              <a:t>puhata</a:t>
            </a:r>
            <a:r>
              <a:rPr lang="en-GB" sz="1800" dirty="0"/>
              <a:t>?</a:t>
            </a:r>
          </a:p>
          <a:p>
            <a:pPr lvl="1"/>
            <a:endParaRPr lang="en-GB" sz="1800" dirty="0"/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9933579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0CFB-8B93-AF39-A6EF-2CB68C57E7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8399" y="91281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9C389-D78E-1CA2-021D-010A43BD00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168399" y="3536951"/>
            <a:ext cx="10399713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3. </a:t>
            </a:r>
            <a:r>
              <a:rPr lang="en-GB" b="1" dirty="0" err="1"/>
              <a:t>Diagrammid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andmed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b="1" dirty="0" err="1"/>
              <a:t>kuni</a:t>
            </a:r>
            <a:r>
              <a:rPr lang="en-GB" b="1" dirty="0"/>
              <a:t> 5</a:t>
            </a:r>
            <a:r>
              <a:rPr lang="en-GB" dirty="0"/>
              <a:t> </a:t>
            </a:r>
            <a:r>
              <a:rPr lang="en-GB" dirty="0" err="1"/>
              <a:t>peamist</a:t>
            </a:r>
            <a:r>
              <a:rPr lang="en-GB" dirty="0"/>
              <a:t> </a:t>
            </a:r>
            <a:r>
              <a:rPr lang="en-GB" dirty="0" err="1"/>
              <a:t>näitajat</a:t>
            </a:r>
            <a:r>
              <a:rPr lang="en-GB" dirty="0"/>
              <a:t>/</a:t>
            </a:r>
            <a:r>
              <a:rPr lang="en-GB" dirty="0" err="1"/>
              <a:t>graafikut</a:t>
            </a:r>
            <a:r>
              <a:rPr lang="en-GB" dirty="0"/>
              <a:t> (</a:t>
            </a:r>
            <a:r>
              <a:rPr lang="en-GB" dirty="0" err="1"/>
              <a:t>välditud</a:t>
            </a:r>
            <a:r>
              <a:rPr lang="en-GB" dirty="0"/>
              <a:t> on </a:t>
            </a:r>
            <a:r>
              <a:rPr lang="en-GB" dirty="0" err="1"/>
              <a:t>ülekuhjamist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oled</a:t>
            </a:r>
            <a:r>
              <a:rPr lang="en-GB" dirty="0"/>
              <a:t> </a:t>
            </a:r>
            <a:r>
              <a:rPr lang="en-GB" dirty="0" err="1"/>
              <a:t>vältinud</a:t>
            </a:r>
            <a:r>
              <a:rPr lang="en-GB" dirty="0"/>
              <a:t> </a:t>
            </a:r>
            <a:r>
              <a:rPr lang="en-GB" dirty="0" err="1"/>
              <a:t>keerulisi</a:t>
            </a:r>
            <a:r>
              <a:rPr lang="en-GB" dirty="0"/>
              <a:t> 3D-graafikuid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sektoritega</a:t>
            </a:r>
            <a:r>
              <a:rPr lang="en-GB" dirty="0"/>
              <a:t> </a:t>
            </a:r>
            <a:r>
              <a:rPr lang="en-GB" dirty="0" err="1"/>
              <a:t>ringdiagramme</a:t>
            </a:r>
            <a:r>
              <a:rPr lang="en-GB" dirty="0"/>
              <a:t> (pie charts)?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igal</a:t>
            </a:r>
            <a:r>
              <a:rPr lang="en-GB" dirty="0"/>
              <a:t> </a:t>
            </a:r>
            <a:r>
              <a:rPr lang="en-GB" dirty="0" err="1"/>
              <a:t>numbril</a:t>
            </a:r>
            <a:r>
              <a:rPr lang="en-GB" dirty="0"/>
              <a:t> on </a:t>
            </a:r>
            <a:r>
              <a:rPr lang="en-GB" dirty="0" err="1"/>
              <a:t>olemas</a:t>
            </a:r>
            <a:r>
              <a:rPr lang="en-GB" dirty="0"/>
              <a:t> </a:t>
            </a:r>
            <a:r>
              <a:rPr lang="en-GB" b="1" dirty="0" err="1"/>
              <a:t>kontekst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võrdlus</a:t>
            </a:r>
            <a:r>
              <a:rPr lang="en-GB" dirty="0"/>
              <a:t> </a:t>
            </a:r>
            <a:r>
              <a:rPr lang="en-GB" dirty="0" err="1"/>
              <a:t>eelmise</a:t>
            </a:r>
            <a:r>
              <a:rPr lang="en-GB" dirty="0"/>
              <a:t> </a:t>
            </a:r>
            <a:r>
              <a:rPr lang="en-GB" dirty="0" err="1"/>
              <a:t>kuu</a:t>
            </a:r>
            <a:r>
              <a:rPr lang="en-GB" dirty="0"/>
              <a:t>, </a:t>
            </a:r>
            <a:r>
              <a:rPr lang="en-GB" dirty="0" err="1"/>
              <a:t>eesmärgi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trendiga</a:t>
            </a:r>
            <a:r>
              <a:rPr lang="en-GB" dirty="0"/>
              <a:t>)?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32877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4DDCA-8D9E-79DA-4261-8066F69A0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8316" y="1180730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EB22-B7A3-477A-F6D6-10AC53DC6D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22316" y="3563220"/>
            <a:ext cx="11028384" cy="26752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4. </a:t>
            </a:r>
            <a:r>
              <a:rPr lang="en-GB" b="1" dirty="0" err="1"/>
              <a:t>Navigatsioon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kasutatavus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menüüd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on </a:t>
            </a:r>
            <a:r>
              <a:rPr lang="en-GB" dirty="0" err="1"/>
              <a:t>peidetavad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kompaktsed</a:t>
            </a:r>
            <a:r>
              <a:rPr lang="en-GB" dirty="0"/>
              <a:t>, et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raisata</a:t>
            </a:r>
            <a:r>
              <a:rPr lang="en-GB" dirty="0"/>
              <a:t> </a:t>
            </a:r>
            <a:r>
              <a:rPr lang="en-GB" dirty="0" err="1"/>
              <a:t>väärtuslikku</a:t>
            </a:r>
            <a:r>
              <a:rPr lang="en-GB" dirty="0"/>
              <a:t> </a:t>
            </a:r>
            <a:r>
              <a:rPr lang="en-GB" dirty="0" err="1"/>
              <a:t>ekraanipinda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ekraanilt</a:t>
            </a:r>
            <a:r>
              <a:rPr lang="en-GB" dirty="0"/>
              <a:t> on </a:t>
            </a:r>
            <a:r>
              <a:rPr lang="en-GB" dirty="0" err="1"/>
              <a:t>eemaldatud</a:t>
            </a:r>
            <a:r>
              <a:rPr lang="en-GB" dirty="0"/>
              <a:t> </a:t>
            </a:r>
            <a:r>
              <a:rPr lang="en-GB" dirty="0" err="1"/>
              <a:t>ebaoluline</a:t>
            </a:r>
            <a:r>
              <a:rPr lang="en-GB" dirty="0"/>
              <a:t> "</a:t>
            </a:r>
            <a:r>
              <a:rPr lang="en-GB" dirty="0" err="1"/>
              <a:t>müra</a:t>
            </a:r>
            <a:r>
              <a:rPr lang="en-GB" dirty="0"/>
              <a:t>"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suured</a:t>
            </a:r>
            <a:r>
              <a:rPr lang="en-GB" dirty="0"/>
              <a:t> </a:t>
            </a:r>
            <a:r>
              <a:rPr lang="en-GB" dirty="0" err="1"/>
              <a:t>kellad</a:t>
            </a:r>
            <a:r>
              <a:rPr lang="en-GB" dirty="0"/>
              <a:t>, </a:t>
            </a:r>
            <a:r>
              <a:rPr lang="en-GB" dirty="0" err="1"/>
              <a:t>tervitustekstid</a:t>
            </a:r>
            <a:r>
              <a:rPr lang="en-GB" dirty="0"/>
              <a:t>, </a:t>
            </a:r>
            <a:r>
              <a:rPr lang="en-GB" dirty="0" err="1"/>
              <a:t>ilmateade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need pole </a:t>
            </a:r>
            <a:r>
              <a:rPr lang="en-GB" dirty="0" err="1"/>
              <a:t>tööks</a:t>
            </a:r>
            <a:r>
              <a:rPr lang="en-GB" dirty="0"/>
              <a:t> </a:t>
            </a:r>
            <a:r>
              <a:rPr lang="en-GB" dirty="0" err="1"/>
              <a:t>otseselt</a:t>
            </a:r>
            <a:r>
              <a:rPr lang="en-GB" dirty="0"/>
              <a:t> </a:t>
            </a:r>
            <a:r>
              <a:rPr lang="en-GB" dirty="0" err="1"/>
              <a:t>vajalikud</a:t>
            </a:r>
            <a:r>
              <a:rPr lang="en-GB" dirty="0"/>
              <a:t>)?</a:t>
            </a:r>
          </a:p>
          <a:p>
            <a:pPr lvl="0"/>
            <a:r>
              <a:rPr lang="en-GB" dirty="0" err="1"/>
              <a:t>Visuaalidevahelised</a:t>
            </a:r>
            <a:r>
              <a:rPr lang="en-GB" dirty="0"/>
              <a:t> </a:t>
            </a:r>
            <a:r>
              <a:rPr lang="en-GB" dirty="0" err="1"/>
              <a:t>seosed</a:t>
            </a:r>
            <a:r>
              <a:rPr lang="en-GB" dirty="0"/>
              <a:t> (</a:t>
            </a:r>
            <a:r>
              <a:rPr lang="en-GB" b="1" dirty="0"/>
              <a:t>Edit Interactions</a:t>
            </a:r>
            <a:r>
              <a:rPr lang="en-GB" dirty="0"/>
              <a:t>) on </a:t>
            </a:r>
            <a:r>
              <a:rPr lang="en-GB" dirty="0" err="1"/>
              <a:t>kontrollitud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piiratud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Kasutusel</a:t>
            </a:r>
            <a:r>
              <a:rPr lang="en-GB" dirty="0"/>
              <a:t> on </a:t>
            </a:r>
            <a:r>
              <a:rPr lang="en-GB" b="1" dirty="0"/>
              <a:t>"</a:t>
            </a:r>
            <a:r>
              <a:rPr lang="en-GB" b="1" dirty="0" err="1"/>
              <a:t>Tühjenda</a:t>
            </a:r>
            <a:r>
              <a:rPr lang="en-GB" b="1" dirty="0"/>
              <a:t> </a:t>
            </a:r>
            <a:r>
              <a:rPr lang="en-GB" b="1" dirty="0" err="1"/>
              <a:t>filtrid</a:t>
            </a:r>
            <a:r>
              <a:rPr lang="en-GB" b="1" dirty="0"/>
              <a:t>"</a:t>
            </a:r>
            <a:r>
              <a:rPr lang="en-GB" dirty="0"/>
              <a:t> </a:t>
            </a:r>
            <a:r>
              <a:rPr lang="en-GB" dirty="0" err="1"/>
              <a:t>nupp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pealkirjad</a:t>
            </a:r>
            <a:r>
              <a:rPr lang="en-GB" dirty="0"/>
              <a:t> on </a:t>
            </a:r>
            <a:r>
              <a:rPr lang="en-GB" b="1" dirty="0" err="1"/>
              <a:t>selged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kirjeldavad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Navigatsioon</a:t>
            </a:r>
            <a:r>
              <a:rPr lang="en-GB" dirty="0"/>
              <a:t> on </a:t>
            </a:r>
            <a:r>
              <a:rPr lang="en-GB" dirty="0" err="1"/>
              <a:t>loogiline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Aruandel</a:t>
            </a:r>
            <a:r>
              <a:rPr lang="en-GB" dirty="0"/>
              <a:t> on info </a:t>
            </a:r>
            <a:r>
              <a:rPr lang="en-GB" dirty="0" err="1"/>
              <a:t>leht</a:t>
            </a:r>
            <a:r>
              <a:rPr lang="en-GB" dirty="0"/>
              <a:t>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30332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1FE2-E803-AEE8-B4F8-232698B38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ANDMELUGU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FB3F4-5797-2E9B-6FD1-350CE3B248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000" dirty="0"/>
              <a:t>Andmed räägivad olukorrast</a:t>
            </a:r>
          </a:p>
          <a:p>
            <a:pPr lvl="1"/>
            <a:r>
              <a:rPr lang="et-EE" sz="2000" dirty="0"/>
              <a:t>Sellest, mis oluline</a:t>
            </a:r>
          </a:p>
          <a:p>
            <a:r>
              <a:rPr lang="et-EE" sz="2000" dirty="0"/>
              <a:t>Kirjelda, mida peaksid nägema, kui on hästi</a:t>
            </a:r>
          </a:p>
          <a:p>
            <a:r>
              <a:rPr lang="et-EE" sz="2000" dirty="0"/>
              <a:t>Kirjelda, mida peaksid nägema, kui on halvasti</a:t>
            </a:r>
          </a:p>
        </p:txBody>
      </p:sp>
    </p:spTree>
    <p:extLst>
      <p:ext uri="{BB962C8B-B14F-4D97-AF65-F5344CB8AC3E}">
        <p14:creationId xmlns:p14="http://schemas.microsoft.com/office/powerpoint/2010/main" val="9919944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9484-4C76-162B-D0A1-45BF448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C7B-D396-F1F4-9065-942A05C79C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Andmeloo</a:t>
            </a:r>
            <a:r>
              <a:rPr lang="en-US"/>
              <a:t> </a:t>
            </a:r>
            <a:r>
              <a:rPr lang="en-US" err="1"/>
              <a:t>jutustamine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76C14-59CC-5214-7F12-0F82D85E4D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Kui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tahad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edasi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kindla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põhiline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kohta</a:t>
            </a:r>
            <a:endParaRPr lang="en-US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Kirjeldava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asemel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Minimaalselt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värve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Inspiratsiooni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https://www.storytellingwithdata.com/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Andmepärli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konkurss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4"/>
              </a:rPr>
              <a:t>https://stat.ee/et/statistikaamet/meist/konkurss-andmeparl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08933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0C85-88E6-D982-59D1-DFBAC8A3E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Millistele küsimustele vastust otsid?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C4812-3AC1-5277-F013-28F80EBC2F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2000" b="1" dirty="0"/>
              <a:t>● Regioonide ja müüjate lõikes:</a:t>
            </a:r>
          </a:p>
          <a:p>
            <a:pPr marL="0" indent="0">
              <a:buNone/>
            </a:pPr>
            <a:r>
              <a:rPr lang="et-EE" dirty="0"/>
              <a:t>○ Millised regioonid toovad kõige suurema kogukasumi ja millised töötavad kahjumiga</a:t>
            </a:r>
          </a:p>
          <a:p>
            <a:pPr marL="0" indent="0">
              <a:buNone/>
            </a:pPr>
            <a:r>
              <a:rPr lang="et-EE" dirty="0"/>
              <a:t>või nulli piiril?</a:t>
            </a:r>
          </a:p>
          <a:p>
            <a:pPr marL="0" indent="0">
              <a:buNone/>
            </a:pPr>
            <a:r>
              <a:rPr lang="et-EE" dirty="0"/>
              <a:t>○ Kas mõni müüja (Salesperson) teeb suurt käivet ainult tänu sellele, et jagab liiga</a:t>
            </a:r>
          </a:p>
          <a:p>
            <a:pPr marL="0" indent="0">
              <a:buNone/>
            </a:pPr>
            <a:r>
              <a:rPr lang="et-EE" dirty="0"/>
              <a:t>kergekäeliselt allahindlusi?</a:t>
            </a:r>
          </a:p>
          <a:p>
            <a:pPr marL="0" indent="0">
              <a:buNone/>
            </a:pPr>
            <a:r>
              <a:rPr lang="et-EE" sz="2000" b="1" dirty="0"/>
              <a:t>● Toodete ja marginaali lõikes:</a:t>
            </a:r>
          </a:p>
          <a:p>
            <a:pPr marL="0" indent="0">
              <a:buNone/>
            </a:pPr>
            <a:r>
              <a:rPr lang="et-EE" dirty="0"/>
              <a:t>○ Millised tootekategooriad on meie "rahamasinad" (kõrge marginaal ja suur maht) ja</a:t>
            </a:r>
          </a:p>
          <a:p>
            <a:pPr marL="0" indent="0">
              <a:buNone/>
            </a:pPr>
            <a:r>
              <a:rPr lang="et-EE" dirty="0"/>
              <a:t>millised võtavad lihtsalt ruumi?</a:t>
            </a:r>
          </a:p>
          <a:p>
            <a:pPr marL="0" indent="0">
              <a:buNone/>
            </a:pPr>
            <a:r>
              <a:rPr lang="et-EE" dirty="0"/>
              <a:t>○ Kas meie allahindluse (Discount) strateegia kasvatab reaalset müügimahtu</a:t>
            </a:r>
          </a:p>
          <a:p>
            <a:pPr marL="0" indent="0">
              <a:buNone/>
            </a:pPr>
            <a:r>
              <a:rPr lang="et-EE" dirty="0"/>
              <a:t>(Quantity) või sööb lihtsalt kasumit?</a:t>
            </a:r>
          </a:p>
        </p:txBody>
      </p:sp>
    </p:spTree>
    <p:extLst>
      <p:ext uri="{BB962C8B-B14F-4D97-AF65-F5344CB8AC3E}">
        <p14:creationId xmlns:p14="http://schemas.microsoft.com/office/powerpoint/2010/main" val="29857372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DEFC-16F3-98E6-00F6-ADDFE4A8EF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Stsenaarium 1: HÄSTI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50B6-247F-9AE8-B30C-7A1A6BDBA0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(Seda näed raportist siis, kui äril läheb suurepäraselt)</a:t>
            </a:r>
          </a:p>
          <a:p>
            <a:pPr marL="0" indent="0">
              <a:buNone/>
            </a:pPr>
            <a:r>
              <a:rPr lang="et-EE" dirty="0"/>
              <a:t>● Kuvand visuaalidel: Graafikud liiguvad stabiilselt ülespoole, kasumimarginaali protsent</a:t>
            </a:r>
          </a:p>
          <a:p>
            <a:pPr marL="0" indent="0">
              <a:buNone/>
            </a:pPr>
            <a:r>
              <a:rPr lang="et-EE" dirty="0"/>
              <a:t>(Kasumi_Marginaal_%) on kõrge ja ühtlane kõigis regioonides.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Müügitulu (Tegelik_Tulu) ja kogukasum (Kogukasum) kasvavad käikäes.</a:t>
            </a:r>
          </a:p>
          <a:p>
            <a:pPr marL="0" indent="0">
              <a:buNone/>
            </a:pPr>
            <a:r>
              <a:rPr lang="et-EE" dirty="0"/>
              <a:t>○ Müüjad müüvad tooteid peaaegu täishinnaga – allahindluse veerg (Discount) on</a:t>
            </a:r>
          </a:p>
          <a:p>
            <a:pPr marL="0" indent="0">
              <a:buNone/>
            </a:pPr>
            <a:r>
              <a:rPr lang="et-EE" dirty="0"/>
              <a:t>enamasti nullis või väga madal (näiteks 0–5%).</a:t>
            </a:r>
          </a:p>
          <a:p>
            <a:pPr marL="0" indent="0">
              <a:buNone/>
            </a:pPr>
            <a:r>
              <a:rPr lang="et-EE" dirty="0"/>
              <a:t>○ Kõige suurema müügimahuga (Quantity) on kõrge marginaaliga tootekategooriad.</a:t>
            </a:r>
          </a:p>
          <a:p>
            <a:pPr marL="0" indent="0">
              <a:buNone/>
            </a:pPr>
            <a:r>
              <a:rPr lang="et-EE" dirty="0"/>
              <a:t>○ Kui mõnes regioonis tehaksegi allahindlust, siis mahuandmed näitavad, et see pani</a:t>
            </a:r>
          </a:p>
          <a:p>
            <a:pPr marL="0" indent="0">
              <a:buNone/>
            </a:pPr>
            <a:r>
              <a:rPr lang="et-EE" dirty="0"/>
              <a:t>kliendid koheselt kordades rohkem ostma, ehk allahindlus õigustas ennast täielikult.</a:t>
            </a:r>
          </a:p>
        </p:txBody>
      </p:sp>
    </p:spTree>
    <p:extLst>
      <p:ext uri="{BB962C8B-B14F-4D97-AF65-F5344CB8AC3E}">
        <p14:creationId xmlns:p14="http://schemas.microsoft.com/office/powerpoint/2010/main" val="42459939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7726B-27D5-3C7F-A7BF-9D82BA40F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⚠️ Stsenaarium 2: HALVASTI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FC515-F523-45CA-C377-D1C69DECF34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(See on ohumärk, mis nõuab kiiret sekkumist)</a:t>
            </a:r>
          </a:p>
          <a:p>
            <a:pPr marL="0" indent="0">
              <a:buNone/>
            </a:pPr>
            <a:r>
              <a:rPr lang="et-EE" dirty="0"/>
              <a:t>● Kuvand visuaalidel: Käive võib näida suur, kuid kasumi joon koonerdab allapoole või on</a:t>
            </a:r>
          </a:p>
          <a:p>
            <a:pPr marL="0" indent="0">
              <a:buNone/>
            </a:pPr>
            <a:r>
              <a:rPr lang="et-EE" dirty="0"/>
              <a:t>suunaga miinusesse. Marginaali protsent kukub kolinal.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Käive (Tegelik_Tulu) on küll suur, aga kogukasum (Kogukasum) on olematu või</a:t>
            </a:r>
          </a:p>
          <a:p>
            <a:pPr marL="0" indent="0">
              <a:buNone/>
            </a:pPr>
            <a:r>
              <a:rPr lang="et-EE" dirty="0"/>
              <a:t>negatiivne. See tähendab, et tegeletakse "tühja tööga".</a:t>
            </a:r>
          </a:p>
          <a:p>
            <a:pPr marL="0" indent="0">
              <a:buNone/>
            </a:pPr>
            <a:r>
              <a:rPr lang="et-EE" dirty="0"/>
              <a:t>○ Müüjad kuritarvitavad allahindlusi. Andmetest on näha, et tehinguid tehakse</a:t>
            </a:r>
          </a:p>
          <a:p>
            <a:pPr marL="0" indent="0">
              <a:buNone/>
            </a:pPr>
            <a:r>
              <a:rPr lang="et-EE" dirty="0"/>
              <a:t>peamiselt siis, kui Discount on määratud maksimumi peale (nt 30–50%). Ilma</a:t>
            </a:r>
          </a:p>
          <a:p>
            <a:pPr marL="0" indent="0">
              <a:buNone/>
            </a:pPr>
            <a:r>
              <a:rPr lang="et-EE" dirty="0"/>
              <a:t>allahindluseta ei osteta midgasi.</a:t>
            </a:r>
          </a:p>
          <a:p>
            <a:pPr marL="0" indent="0">
              <a:buNone/>
            </a:pPr>
            <a:r>
              <a:rPr lang="et-EE" dirty="0"/>
              <a:t>○ Kõige rohkem müüakse tooteid, mille kulu (Cost Price) on peaaegu võrdne</a:t>
            </a:r>
          </a:p>
          <a:p>
            <a:pPr marL="0" indent="0">
              <a:buNone/>
            </a:pPr>
            <a:r>
              <a:rPr lang="et-EE" dirty="0"/>
              <a:t>müügihinnaga (UnitPrice), ehk madala marginaaliga kaupa. Kõrge marginaaliga</a:t>
            </a:r>
          </a:p>
          <a:p>
            <a:pPr marL="0" indent="0">
              <a:buNone/>
            </a:pPr>
            <a:r>
              <a:rPr lang="et-EE" dirty="0"/>
              <a:t>tooted seisavad laos.</a:t>
            </a:r>
          </a:p>
          <a:p>
            <a:pPr marL="0" indent="0">
              <a:buNone/>
            </a:pPr>
            <a:r>
              <a:rPr lang="et-EE" dirty="0"/>
              <a:t>○ Mõni konkreetne regioon toodab stabiilselt miinust, sest sealsed logistikakulud või</a:t>
            </a:r>
          </a:p>
          <a:p>
            <a:pPr marL="0" indent="0">
              <a:buNone/>
            </a:pPr>
            <a:r>
              <a:rPr lang="et-EE" dirty="0"/>
              <a:t>müüjate poolt tehtud madalad hinnad ei kata toote omahinda.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620027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CD862-BDA9-E570-A198-FE44E96FFD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Andmetega töö esimene samm: Probleemipüstitus/küsimus/huvi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E934-306A-1BB2-9292-4CD3ADD5DA0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  <a:p>
            <a:pPr marL="0" indent="0">
              <a:buNone/>
            </a:pPr>
            <a:r>
              <a:rPr lang="et-EE" sz="2400" b="1" dirty="0"/>
              <a:t>NÄITEKS</a:t>
            </a:r>
            <a:endParaRPr lang="et-EE" b="1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Ettevõte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juhatus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soovib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ülevaadet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müügitulust</a:t>
            </a:r>
            <a:br>
              <a:rPr lang="et-EE" sz="2000" b="1" dirty="0">
                <a:ea typeface="Inter"/>
              </a:rPr>
            </a:br>
            <a:endParaRPr lang="et-EE" sz="2000" b="1" dirty="0">
              <a:ea typeface="Inter"/>
            </a:endParaRPr>
          </a:p>
          <a:p>
            <a:pPr marL="0" indent="0">
              <a:buNone/>
            </a:pPr>
            <a:r>
              <a:rPr lang="en-US" sz="2000" dirty="0" err="1">
                <a:ea typeface="Inter"/>
              </a:rPr>
              <a:t>Müügijuht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tuleb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teie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juurde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murega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müügitulu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languses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ning</a:t>
            </a:r>
            <a:r>
              <a:rPr lang="en-US" sz="2000" dirty="0">
                <a:ea typeface="Inter"/>
              </a:rPr>
              <a:t> ta </a:t>
            </a:r>
            <a:r>
              <a:rPr lang="en-US" sz="2000" dirty="0" err="1">
                <a:ea typeface="Inter"/>
              </a:rPr>
              <a:t>sooviks</a:t>
            </a:r>
            <a:r>
              <a:rPr lang="en-US" sz="2000" dirty="0">
                <a:ea typeface="Inter"/>
              </a:rPr>
              <a:t> teada, miks.</a:t>
            </a:r>
            <a:r>
              <a:rPr lang="en-GB" sz="2000" i="1" dirty="0"/>
              <a:t>“</a:t>
            </a:r>
          </a:p>
          <a:p>
            <a:endParaRPr lang="en-GB" sz="2000" i="1" dirty="0"/>
          </a:p>
          <a:p>
            <a:pPr marL="0" indent="0">
              <a:buNone/>
            </a:pPr>
            <a:r>
              <a:rPr lang="en-GB" sz="2000" i="1" dirty="0"/>
              <a:t>Tere! </a:t>
            </a:r>
            <a:r>
              <a:rPr lang="en-GB" sz="2000" i="1" dirty="0" err="1"/>
              <a:t>Juhatus</a:t>
            </a:r>
            <a:r>
              <a:rPr lang="en-GB" sz="2000" i="1" dirty="0"/>
              <a:t> </a:t>
            </a:r>
            <a:r>
              <a:rPr lang="en-GB" sz="2000" i="1" dirty="0" err="1"/>
              <a:t>tahab</a:t>
            </a:r>
            <a:r>
              <a:rPr lang="en-GB" sz="2000" i="1" dirty="0"/>
              <a:t> </a:t>
            </a:r>
            <a:r>
              <a:rPr lang="en-GB" sz="2000" i="1" dirty="0" err="1"/>
              <a:t>teada</a:t>
            </a:r>
            <a:r>
              <a:rPr lang="en-GB" sz="2000" i="1" dirty="0"/>
              <a:t>, </a:t>
            </a:r>
            <a:r>
              <a:rPr lang="en-GB" sz="2000" i="1" dirty="0" err="1"/>
              <a:t>kuidas</a:t>
            </a:r>
            <a:r>
              <a:rPr lang="en-GB" sz="2000" i="1" dirty="0"/>
              <a:t> </a:t>
            </a:r>
            <a:r>
              <a:rPr lang="en-GB" sz="2000" i="1" dirty="0" err="1"/>
              <a:t>meil</a:t>
            </a:r>
            <a:r>
              <a:rPr lang="en-GB" sz="2000" i="1" dirty="0"/>
              <a:t> </a:t>
            </a:r>
            <a:r>
              <a:rPr lang="en-GB" sz="2000" i="1" dirty="0" err="1"/>
              <a:t>müügiga</a:t>
            </a:r>
            <a:r>
              <a:rPr lang="en-GB" sz="2000" i="1" dirty="0"/>
              <a:t> </a:t>
            </a:r>
            <a:r>
              <a:rPr lang="en-GB" sz="2000" i="1" dirty="0" err="1"/>
              <a:t>tegelikult</a:t>
            </a:r>
            <a:r>
              <a:rPr lang="en-GB" sz="2000" i="1" dirty="0"/>
              <a:t> </a:t>
            </a:r>
            <a:r>
              <a:rPr lang="en-GB" sz="2000" i="1" dirty="0" err="1"/>
              <a:t>läheb</a:t>
            </a:r>
            <a:r>
              <a:rPr lang="en-GB" sz="2000" i="1" dirty="0"/>
              <a:t>. Nad </a:t>
            </a:r>
            <a:r>
              <a:rPr lang="en-GB" sz="2000" i="1" dirty="0" err="1"/>
              <a:t>soovivad</a:t>
            </a:r>
            <a:r>
              <a:rPr lang="en-GB" sz="2000" i="1" dirty="0"/>
              <a:t> </a:t>
            </a:r>
            <a:r>
              <a:rPr lang="en-GB" sz="2000" i="1" dirty="0" err="1"/>
              <a:t>näha</a:t>
            </a:r>
            <a:r>
              <a:rPr lang="en-GB" sz="2000" i="1" dirty="0"/>
              <a:t>, </a:t>
            </a:r>
            <a:r>
              <a:rPr lang="en-GB" sz="2000" i="1" dirty="0" err="1"/>
              <a:t>kuidas</a:t>
            </a:r>
            <a:r>
              <a:rPr lang="en-GB" sz="2000" i="1" dirty="0"/>
              <a:t> on </a:t>
            </a:r>
            <a:r>
              <a:rPr lang="en-GB" sz="2000" i="1" dirty="0" err="1"/>
              <a:t>müük</a:t>
            </a:r>
            <a:r>
              <a:rPr lang="en-GB" sz="2000" i="1" dirty="0"/>
              <a:t> </a:t>
            </a:r>
            <a:r>
              <a:rPr lang="en-GB" sz="2000" i="1" dirty="0" err="1"/>
              <a:t>aja</a:t>
            </a:r>
            <a:r>
              <a:rPr lang="en-GB" sz="2000" i="1" dirty="0"/>
              <a:t> </a:t>
            </a:r>
            <a:r>
              <a:rPr lang="en-GB" sz="2000" i="1" dirty="0" err="1"/>
              <a:t>jooksul</a:t>
            </a:r>
            <a:r>
              <a:rPr lang="en-GB" sz="2000" i="1" dirty="0"/>
              <a:t> </a:t>
            </a:r>
            <a:r>
              <a:rPr lang="en-GB" sz="2000" i="1" dirty="0" err="1"/>
              <a:t>muutunud</a:t>
            </a:r>
            <a:r>
              <a:rPr lang="en-GB" sz="2000" i="1" dirty="0"/>
              <a:t> – </a:t>
            </a:r>
            <a:r>
              <a:rPr lang="en-GB" sz="2000" i="1" dirty="0" err="1"/>
              <a:t>ehk</a:t>
            </a:r>
            <a:r>
              <a:rPr lang="en-GB" sz="2000" i="1" dirty="0"/>
              <a:t> kas me </a:t>
            </a:r>
            <a:r>
              <a:rPr lang="en-GB" sz="2000" i="1" dirty="0" err="1"/>
              <a:t>kasvame</a:t>
            </a:r>
            <a:r>
              <a:rPr lang="en-GB" sz="2000" i="1" dirty="0"/>
              <a:t> </a:t>
            </a:r>
            <a:r>
              <a:rPr lang="en-GB" sz="2000" i="1" dirty="0" err="1"/>
              <a:t>või</a:t>
            </a:r>
            <a:r>
              <a:rPr lang="en-GB" sz="2000" i="1" dirty="0"/>
              <a:t> </a:t>
            </a:r>
            <a:r>
              <a:rPr lang="en-GB" sz="2000" i="1" dirty="0" err="1"/>
              <a:t>kahaneme</a:t>
            </a:r>
            <a:r>
              <a:rPr lang="en-GB" sz="2000" i="1" dirty="0"/>
              <a:t>. Tahan </a:t>
            </a:r>
            <a:r>
              <a:rPr lang="en-GB" sz="2000" i="1" dirty="0" err="1"/>
              <a:t>aru</a:t>
            </a:r>
            <a:r>
              <a:rPr lang="en-GB" sz="2000" i="1" dirty="0"/>
              <a:t> </a:t>
            </a:r>
            <a:r>
              <a:rPr lang="en-GB" sz="2000" i="1" dirty="0" err="1"/>
              <a:t>saada</a:t>
            </a:r>
            <a:r>
              <a:rPr lang="en-GB" sz="2000" i="1" dirty="0"/>
              <a:t>, kas me </a:t>
            </a:r>
            <a:r>
              <a:rPr lang="en-GB" sz="2000" i="1" dirty="0" err="1"/>
              <a:t>samal</a:t>
            </a:r>
            <a:r>
              <a:rPr lang="en-GB" sz="2000" i="1" dirty="0"/>
              <a:t> </a:t>
            </a:r>
            <a:r>
              <a:rPr lang="en-GB" sz="2000" i="1" dirty="0" err="1"/>
              <a:t>ajal</a:t>
            </a:r>
            <a:r>
              <a:rPr lang="en-GB" sz="2000" i="1" dirty="0"/>
              <a:t> </a:t>
            </a:r>
            <a:r>
              <a:rPr lang="en-GB" sz="2000" i="1" dirty="0" err="1"/>
              <a:t>eelmisel</a:t>
            </a:r>
            <a:r>
              <a:rPr lang="en-GB" sz="2000" i="1" dirty="0"/>
              <a:t> </a:t>
            </a:r>
            <a:r>
              <a:rPr lang="en-GB" sz="2000" i="1" dirty="0" err="1"/>
              <a:t>aastal</a:t>
            </a:r>
            <a:r>
              <a:rPr lang="en-GB" sz="2000" i="1" dirty="0"/>
              <a:t> </a:t>
            </a:r>
            <a:r>
              <a:rPr lang="en-GB" sz="2000" i="1" dirty="0" err="1"/>
              <a:t>tegutsesime</a:t>
            </a:r>
            <a:r>
              <a:rPr lang="en-GB" sz="2000" i="1" dirty="0"/>
              <a:t> </a:t>
            </a:r>
            <a:r>
              <a:rPr lang="en-GB" sz="2000" i="1" dirty="0" err="1"/>
              <a:t>kuidagi</a:t>
            </a:r>
            <a:r>
              <a:rPr lang="en-GB" sz="2000" i="1" dirty="0"/>
              <a:t> </a:t>
            </a:r>
            <a:r>
              <a:rPr lang="en-GB" sz="2000" i="1" dirty="0" err="1"/>
              <a:t>teisiti</a:t>
            </a:r>
            <a:r>
              <a:rPr lang="en-GB" sz="2000" i="1" dirty="0"/>
              <a:t>. </a:t>
            </a:r>
            <a:r>
              <a:rPr lang="en-GB" sz="2000" i="1" dirty="0" err="1"/>
              <a:t>Kindlasti</a:t>
            </a:r>
            <a:r>
              <a:rPr lang="en-GB" sz="2000" i="1" dirty="0"/>
              <a:t> on </a:t>
            </a:r>
            <a:r>
              <a:rPr lang="en-GB" sz="2000" i="1" dirty="0" err="1"/>
              <a:t>vaja</a:t>
            </a:r>
            <a:r>
              <a:rPr lang="en-GB" sz="2000" i="1" dirty="0"/>
              <a:t> </a:t>
            </a:r>
            <a:r>
              <a:rPr lang="en-GB" sz="2000" i="1" dirty="0" err="1"/>
              <a:t>võrdlust</a:t>
            </a:r>
            <a:r>
              <a:rPr lang="en-GB" sz="2000" i="1" dirty="0"/>
              <a:t> </a:t>
            </a:r>
            <a:r>
              <a:rPr lang="en-GB" sz="2000" i="1" dirty="0" err="1"/>
              <a:t>selle</a:t>
            </a:r>
            <a:r>
              <a:rPr lang="en-GB" sz="2000" i="1" dirty="0"/>
              <a:t> </a:t>
            </a:r>
            <a:r>
              <a:rPr lang="en-GB" sz="2000" i="1" dirty="0" err="1"/>
              <a:t>aasta</a:t>
            </a:r>
            <a:r>
              <a:rPr lang="en-GB" sz="2000" i="1" dirty="0"/>
              <a:t> </a:t>
            </a:r>
            <a:r>
              <a:rPr lang="en-GB" sz="2000" i="1" dirty="0" err="1"/>
              <a:t>eelarvega</a:t>
            </a:r>
            <a:r>
              <a:rPr lang="en-GB" sz="2000" i="1" dirty="0"/>
              <a:t>, et </a:t>
            </a:r>
            <a:r>
              <a:rPr lang="en-GB" sz="2000" i="1" dirty="0" err="1"/>
              <a:t>teada</a:t>
            </a:r>
            <a:r>
              <a:rPr lang="en-GB" sz="2000" i="1" dirty="0"/>
              <a:t> </a:t>
            </a:r>
            <a:r>
              <a:rPr lang="en-GB" sz="2000" i="1" dirty="0" err="1"/>
              <a:t>saada</a:t>
            </a:r>
            <a:r>
              <a:rPr lang="en-GB" sz="2000" i="1" dirty="0"/>
              <a:t>, kas </a:t>
            </a:r>
            <a:r>
              <a:rPr lang="en-GB" sz="2000" i="1" dirty="0" err="1"/>
              <a:t>oleme</a:t>
            </a:r>
            <a:r>
              <a:rPr lang="en-GB" sz="2000" i="1" dirty="0"/>
              <a:t> </a:t>
            </a:r>
            <a:r>
              <a:rPr lang="en-GB" sz="2000" i="1" dirty="0" err="1"/>
              <a:t>plaanist</a:t>
            </a:r>
            <a:r>
              <a:rPr lang="en-GB" sz="2000" i="1" dirty="0"/>
              <a:t> ees </a:t>
            </a:r>
            <a:r>
              <a:rPr lang="en-GB" sz="2000" i="1" dirty="0" err="1"/>
              <a:t>või</a:t>
            </a:r>
            <a:r>
              <a:rPr lang="en-GB" sz="2000" i="1" dirty="0"/>
              <a:t> </a:t>
            </a:r>
            <a:r>
              <a:rPr lang="en-GB" sz="2000" i="1" dirty="0" err="1"/>
              <a:t>taga</a:t>
            </a:r>
            <a:r>
              <a:rPr lang="en-GB" sz="2000" i="1" dirty="0"/>
              <a:t>. Lisaks </a:t>
            </a:r>
            <a:r>
              <a:rPr lang="en-GB" sz="2000" i="1" dirty="0" err="1"/>
              <a:t>oodatakse</a:t>
            </a:r>
            <a:r>
              <a:rPr lang="en-GB" sz="2000" i="1" dirty="0"/>
              <a:t> </a:t>
            </a:r>
            <a:r>
              <a:rPr lang="en-GB" sz="2000" i="1" dirty="0" err="1"/>
              <a:t>meilt</a:t>
            </a:r>
            <a:r>
              <a:rPr lang="en-GB" sz="2000" i="1" dirty="0"/>
              <a:t> </a:t>
            </a:r>
            <a:r>
              <a:rPr lang="en-GB" sz="2000" i="1" dirty="0" err="1"/>
              <a:t>mõtteid</a:t>
            </a:r>
            <a:r>
              <a:rPr lang="en-GB" sz="2000" i="1" dirty="0"/>
              <a:t>, </a:t>
            </a:r>
            <a:r>
              <a:rPr lang="en-GB" sz="2000" i="1" dirty="0" err="1"/>
              <a:t>kuidas</a:t>
            </a:r>
            <a:r>
              <a:rPr lang="en-GB" sz="2000" i="1" dirty="0"/>
              <a:t> </a:t>
            </a:r>
            <a:r>
              <a:rPr lang="en-GB" sz="2000" i="1" dirty="0" err="1"/>
              <a:t>saaksime</a:t>
            </a:r>
            <a:r>
              <a:rPr lang="en-GB" sz="2000" i="1" dirty="0"/>
              <a:t> </a:t>
            </a:r>
            <a:r>
              <a:rPr lang="en-GB" sz="2000" i="1" dirty="0" err="1"/>
              <a:t>müüki</a:t>
            </a:r>
            <a:r>
              <a:rPr lang="en-GB" sz="2000" i="1" dirty="0"/>
              <a:t> </a:t>
            </a:r>
            <a:r>
              <a:rPr lang="en-GB" sz="2000" i="1" dirty="0" err="1"/>
              <a:t>veelgi</a:t>
            </a:r>
            <a:r>
              <a:rPr lang="en-GB" sz="2000" i="1" dirty="0"/>
              <a:t> </a:t>
            </a:r>
            <a:r>
              <a:rPr lang="en-GB" sz="2000" i="1" dirty="0" err="1"/>
              <a:t>suurendada</a:t>
            </a:r>
            <a:r>
              <a:rPr lang="en-GB" sz="2000" i="1" dirty="0"/>
              <a:t>. </a:t>
            </a:r>
            <a:r>
              <a:rPr lang="en-GB" sz="2000" i="1" dirty="0" err="1"/>
              <a:t>Tõenäoliselt</a:t>
            </a:r>
            <a:r>
              <a:rPr lang="en-GB" sz="2000" i="1" dirty="0"/>
              <a:t> </a:t>
            </a:r>
            <a:r>
              <a:rPr lang="en-GB" sz="2000" i="1" dirty="0" err="1"/>
              <a:t>peaksime</a:t>
            </a:r>
            <a:r>
              <a:rPr lang="en-GB" sz="2000" i="1" dirty="0"/>
              <a:t> </a:t>
            </a:r>
            <a:r>
              <a:rPr lang="en-GB" sz="2000" i="1" dirty="0" err="1"/>
              <a:t>vaatama</a:t>
            </a:r>
            <a:r>
              <a:rPr lang="en-GB" sz="2000" i="1" dirty="0"/>
              <a:t> </a:t>
            </a:r>
            <a:r>
              <a:rPr lang="en-GB" sz="2000" i="1" dirty="0" err="1"/>
              <a:t>reaalseid</a:t>
            </a:r>
            <a:r>
              <a:rPr lang="en-GB" sz="2000" i="1" dirty="0"/>
              <a:t> </a:t>
            </a:r>
            <a:r>
              <a:rPr lang="en-GB" sz="2000" i="1" dirty="0" err="1"/>
              <a:t>müüginumbreid</a:t>
            </a:r>
            <a:r>
              <a:rPr lang="en-GB" sz="2000" i="1" dirty="0"/>
              <a:t> </a:t>
            </a:r>
            <a:r>
              <a:rPr lang="en-GB" sz="2000" i="1" dirty="0" err="1"/>
              <a:t>erinevates</a:t>
            </a:r>
            <a:r>
              <a:rPr lang="en-GB" sz="2000" i="1" dirty="0"/>
              <a:t> </a:t>
            </a:r>
            <a:r>
              <a:rPr lang="en-GB" sz="2000" i="1" dirty="0" err="1"/>
              <a:t>piirkondades</a:t>
            </a:r>
            <a:r>
              <a:rPr lang="en-GB" sz="2000" i="1" dirty="0"/>
              <a:t>, </a:t>
            </a:r>
            <a:r>
              <a:rPr lang="en-GB" sz="2000" i="1" dirty="0" err="1"/>
              <a:t>toodete</a:t>
            </a:r>
            <a:r>
              <a:rPr lang="en-GB" sz="2000" i="1" dirty="0"/>
              <a:t> </a:t>
            </a:r>
            <a:r>
              <a:rPr lang="en-GB" sz="2000" i="1" dirty="0" err="1"/>
              <a:t>müügivõimalusi</a:t>
            </a:r>
            <a:r>
              <a:rPr lang="en-GB" sz="2000" i="1" dirty="0"/>
              <a:t>, </a:t>
            </a:r>
            <a:r>
              <a:rPr lang="en-GB" sz="2000" i="1" dirty="0" err="1"/>
              <a:t>klientide</a:t>
            </a:r>
            <a:r>
              <a:rPr lang="en-GB" sz="2000" i="1" dirty="0"/>
              <a:t> </a:t>
            </a:r>
            <a:r>
              <a:rPr lang="en-GB" sz="2000" i="1" dirty="0" err="1"/>
              <a:t>ostuharjumusi</a:t>
            </a:r>
            <a:r>
              <a:rPr lang="en-GB" sz="2000" i="1" dirty="0"/>
              <a:t>, </a:t>
            </a:r>
            <a:r>
              <a:rPr lang="en-GB" sz="2000" i="1" dirty="0" err="1"/>
              <a:t>müügiesindajate</a:t>
            </a:r>
            <a:r>
              <a:rPr lang="en-GB" sz="2000" i="1" dirty="0"/>
              <a:t> </a:t>
            </a:r>
            <a:r>
              <a:rPr lang="en-GB" sz="2000" i="1" dirty="0" err="1"/>
              <a:t>tulemusi</a:t>
            </a:r>
            <a:r>
              <a:rPr lang="en-GB" sz="2000" i="1" dirty="0"/>
              <a:t> </a:t>
            </a:r>
            <a:r>
              <a:rPr lang="en-GB" sz="2000" i="1" dirty="0" err="1"/>
              <a:t>ja</a:t>
            </a:r>
            <a:r>
              <a:rPr lang="en-GB" sz="2000" i="1" dirty="0"/>
              <a:t> </a:t>
            </a:r>
            <a:r>
              <a:rPr lang="en-GB" sz="2000" i="1" dirty="0" err="1"/>
              <a:t>ametlikku</a:t>
            </a:r>
            <a:r>
              <a:rPr lang="en-GB" sz="2000" i="1" dirty="0"/>
              <a:t> </a:t>
            </a:r>
            <a:r>
              <a:rPr lang="en-GB" sz="2000" i="1" dirty="0" err="1"/>
              <a:t>eelarveplaani</a:t>
            </a:r>
            <a:r>
              <a:rPr lang="en-GB" sz="2000" i="1" dirty="0"/>
              <a:t>.“</a:t>
            </a:r>
          </a:p>
          <a:p>
            <a:pPr>
              <a:lnSpc>
                <a:spcPct val="150000"/>
              </a:lnSpc>
            </a:pPr>
            <a:endParaRPr lang="en-US" sz="2000" b="1" dirty="0">
              <a:ea typeface="Inter"/>
            </a:endParaRP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85469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73FD9-D77E-162D-7041-13E96137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699D-1274-F976-3263-C742CC939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Desktop – </a:t>
            </a:r>
            <a:r>
              <a:rPr lang="en-US" err="1"/>
              <a:t>vormistame</a:t>
            </a:r>
            <a:r>
              <a:rPr lang="en-US"/>
              <a:t> </a:t>
            </a:r>
            <a:r>
              <a:rPr lang="en-US" err="1"/>
              <a:t>raporti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E1846-2AEC-E6FD-1A12-9E9DD48102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Aruande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mudel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 on korras, andmed </a:t>
            </a:r>
            <a:r>
              <a:rPr lang="et-EE" sz="2400">
                <a:solidFill>
                  <a:srgbClr val="000000"/>
                </a:solidFill>
                <a:ea typeface="Inter"/>
              </a:rPr>
              <a:t>korrektsed,andmetüübid õiged, 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objektid organiseeritud</a:t>
            </a:r>
            <a:r>
              <a:rPr lang="et-EE" sz="2400">
                <a:solidFill>
                  <a:srgbClr val="000000"/>
                </a:solidFill>
                <a:ea typeface="Inter"/>
              </a:rPr>
              <a:t>, koristatud</a:t>
            </a:r>
            <a:endParaRPr lang="et-EE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Vaatame üle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ülesande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, sõnastame, teeme kavandi (joonistame prototüübi)</a:t>
            </a: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Ehitame, teeme arvutused, loome visuaalid, disainime, UX; testime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- võimalik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valida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View --&gt; Themes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000000"/>
                </a:solidFill>
                <a:ea typeface="Inter"/>
              </a:rPr>
              <a:t>Tihti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firmadel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enda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fondid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ja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, siis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saab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seadistada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Custom Theme</a:t>
            </a:r>
            <a:endParaRPr lang="et-EE" sz="20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Grupid 2-4 inimest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Grupitöö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Demo</a:t>
            </a:r>
            <a:endParaRPr lang="en-US" sz="2000" dirty="0">
              <a:solidFill>
                <a:srgbClr val="FF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87597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7315881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8F16B-E2B9-3F43-1D52-0CC01C1D5D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/>
              <a:t>Raporti loetavuse parandamine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A3A4E-5E1E-6FB7-44CB-B627549B05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kirjeldamine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kirjeldused</a:t>
            </a:r>
            <a:endParaRPr lang="en-GB" sz="2000" dirty="0"/>
          </a:p>
          <a:p>
            <a:pPr lvl="1"/>
            <a:r>
              <a:rPr lang="en-GB" sz="2000" dirty="0" err="1"/>
              <a:t>MudeliMõõdikud</a:t>
            </a:r>
            <a:r>
              <a:rPr lang="en-GB" sz="2000" dirty="0"/>
              <a:t> = INFO.VIEW.MEASURES()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2630023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AD23-21CF-7D29-8D66-63668357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95D8-D648-FA54-EB16-9C6627828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parimad</a:t>
            </a:r>
            <a:r>
              <a:rPr lang="en-US"/>
              <a:t> </a:t>
            </a:r>
            <a:r>
              <a:rPr lang="en-US" err="1"/>
              <a:t>praktikad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9F0EF-349F-BB4C-824A-C77DF0566A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Visuaalide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võrdluse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test: </a:t>
            </a:r>
            <a:r>
              <a:rPr lang="en-US" sz="2400" dirty="0" err="1">
                <a:solidFill>
                  <a:srgbClr val="000000"/>
                </a:solidFill>
                <a:ea typeface="+mn-lt"/>
                <a:cs typeface="+mn-lt"/>
                <a:hlinkClick r:id="rId3"/>
              </a:rPr>
              <a:t>Dataviz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 Design Principles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615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FF243-D0DC-9E0F-58AC-0ABA1E7FF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6AB3E-D069-D40D-CF7C-9154C2F75C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YTD Sales </a:t>
            </a:r>
            <a:r>
              <a:rPr lang="en-US" sz="3600" b="1" dirty="0" err="1"/>
              <a:t>mõõdik</a:t>
            </a:r>
            <a:r>
              <a:rPr lang="et-EE" sz="3600" b="1" dirty="0"/>
              <a:t> ja graafikud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418F8-A06F-DCE7-A7F2-65299835B5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YTD Sales = 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())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SUM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[Sales Sum]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FILTER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|| (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&amp;&amp;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sz="1800" dirty="0">
              <a:solidFill>
                <a:srgbClr val="000000"/>
              </a:solidFill>
              <a:latin typeface="Consolas"/>
              <a:ea typeface="Inter"/>
            </a:endParaRPr>
          </a:p>
          <a:p>
            <a:pPr marL="0" indent="0">
              <a:buClr>
                <a:srgbClr val="121212"/>
              </a:buClr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514350" indent="-514350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645886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664B4-0BFB-7C2E-450D-7F2B42AB7D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Veel harjutusi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933B0-9004-BC8C-118F-F4F4C0F9EB3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000" dirty="0" err="1"/>
              <a:t>Käive</a:t>
            </a:r>
            <a:r>
              <a:rPr lang="en-US" sz="2000" dirty="0"/>
              <a:t> Üle </a:t>
            </a:r>
            <a:r>
              <a:rPr lang="en-US" sz="2000" dirty="0" err="1"/>
              <a:t>Keskmise</a:t>
            </a:r>
            <a:r>
              <a:rPr lang="en-US" sz="2000" dirty="0"/>
              <a:t> Hinna = </a:t>
            </a:r>
            <a:br>
              <a:rPr lang="et-EE" sz="2000" dirty="0"/>
            </a:br>
            <a:r>
              <a:rPr lang="en-US" sz="2000" dirty="0"/>
              <a:t>CALCULATE(    SUM(</a:t>
            </a:r>
            <a:r>
              <a:rPr lang="en-US" sz="2000" dirty="0" err="1"/>
              <a:t>fact_sales</a:t>
            </a:r>
            <a:r>
              <a:rPr lang="en-US" sz="2000" dirty="0"/>
              <a:t>[Sales sum]),    FILTER(        </a:t>
            </a:r>
            <a:r>
              <a:rPr lang="en-US" sz="2000" dirty="0" err="1"/>
              <a:t>fact_sales</a:t>
            </a:r>
            <a:r>
              <a:rPr lang="en-US" sz="2000" dirty="0"/>
              <a:t>,        </a:t>
            </a:r>
            <a:r>
              <a:rPr lang="en-US" sz="2000" dirty="0" err="1"/>
              <a:t>fact_sales</a:t>
            </a:r>
            <a:r>
              <a:rPr lang="en-US" sz="2000" dirty="0"/>
              <a:t>[Price] &gt; [</a:t>
            </a:r>
            <a:r>
              <a:rPr lang="en-US" sz="2000" dirty="0" err="1"/>
              <a:t>Toodete</a:t>
            </a:r>
            <a:r>
              <a:rPr lang="en-US" sz="2000" dirty="0"/>
              <a:t> </a:t>
            </a:r>
            <a:r>
              <a:rPr lang="en-US" sz="2000" dirty="0" err="1"/>
              <a:t>Keskmine</a:t>
            </a:r>
            <a:r>
              <a:rPr lang="en-US" sz="2000" dirty="0"/>
              <a:t> Hind]    ))</a:t>
            </a:r>
            <a:br>
              <a:rPr lang="et-EE" sz="2000" dirty="0"/>
            </a:br>
            <a:endParaRPr lang="et-EE" sz="2000" dirty="0"/>
          </a:p>
          <a:p>
            <a:r>
              <a:rPr lang="et-EE" sz="2000" dirty="0"/>
              <a:t>Suurklientide Käive = </a:t>
            </a:r>
            <a:br>
              <a:rPr lang="et-EE" sz="2000" dirty="0"/>
            </a:br>
            <a:r>
              <a:rPr lang="et-EE" sz="2000" dirty="0"/>
              <a:t>CALCULATE(    SUM(fact_sales[Sales sum]),    FILTER(        VALUES(dim_customer[CustomerName]), -- Käib läbi kliendid ühekaupa        [KoguKäive_Mõõdik] &gt; 10000    ))</a:t>
            </a:r>
          </a:p>
        </p:txBody>
      </p:sp>
    </p:spTree>
    <p:extLst>
      <p:ext uri="{BB962C8B-B14F-4D97-AF65-F5344CB8AC3E}">
        <p14:creationId xmlns:p14="http://schemas.microsoft.com/office/powerpoint/2010/main" val="20938812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F74585-D2DF-8BBA-F76F-A1F663592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2E5D-075E-DD90-191E-85206ABC8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7BEB0-F68E-0C93-C7A0-ABBBB81469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Veebikeskkond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PBI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raportite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jagamiseks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Tasuta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versioonis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My Workspace ja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saa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teistega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Üleslaadimisel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tekib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kaks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faili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Andmestik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Raport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Saab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ajastada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8x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päevas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kui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on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veebiallikas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872841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1494</TotalTime>
  <Words>2799</Words>
  <Application>Microsoft Office PowerPoint</Application>
  <PresentationFormat>Widescreen</PresentationFormat>
  <Paragraphs>347</Paragraphs>
  <Slides>51</Slides>
  <Notes>6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0" baseType="lpstr">
      <vt:lpstr>Inter Bold</vt:lpstr>
      <vt:lpstr>Courier New</vt:lpstr>
      <vt:lpstr>Inter</vt:lpstr>
      <vt:lpstr>Arial</vt:lpstr>
      <vt:lpstr>Poppins SemiBold</vt:lpstr>
      <vt:lpstr>Wingdings</vt:lpstr>
      <vt:lpstr>Calibri</vt:lpstr>
      <vt:lpstr>Consolas</vt:lpstr>
      <vt:lpstr>BCS</vt:lpstr>
      <vt:lpstr>Vali Andmetarkus!</vt:lpstr>
      <vt:lpstr>Päevakava - III päev</vt:lpstr>
      <vt:lpstr>Mida me POWER Bis õppinud oleme</vt:lpstr>
      <vt:lpstr>PowerPoint Presentation</vt:lpstr>
      <vt:lpstr>Power BI – Päringud (M-language)</vt:lpstr>
      <vt:lpstr>Tükeldamine eile</vt:lpstr>
      <vt:lpstr>Power BI – päringu kaudu tulpade lisamine</vt:lpstr>
      <vt:lpstr>Teeme veebipõhiseks</vt:lpstr>
      <vt:lpstr>Google sheets Budget tabel</vt:lpstr>
      <vt:lpstr>Töötleme tabelit</vt:lpstr>
      <vt:lpstr>Eelarve tabel mudelisse</vt:lpstr>
      <vt:lpstr>Kui on soov muuta olemasolev päring veebipõhiseks</vt:lpstr>
      <vt:lpstr>Advanced editor</vt:lpstr>
      <vt:lpstr>Harjutus – muudame andmeallikad veebipõhiseks Google Sheets</vt:lpstr>
      <vt:lpstr>Power BI – Eelarve faili lisamine</vt:lpstr>
      <vt:lpstr>Paus 10:30-10:45</vt:lpstr>
      <vt:lpstr>Lõunapaus 12:15-13:15</vt:lpstr>
      <vt:lpstr>"ilusaks tegemine“ ja loetavuse parandamine</vt:lpstr>
      <vt:lpstr>Power BI-s kasutame printsiipe </vt:lpstr>
      <vt:lpstr>Power BI-s kasutame printsiipe </vt:lpstr>
      <vt:lpstr>Power BI-s kasutame printsiipe</vt:lpstr>
      <vt:lpstr>Power BI-s kasutame printsiipe </vt:lpstr>
      <vt:lpstr>Lisaks</vt:lpstr>
      <vt:lpstr>Graafikute võrdlus </vt:lpstr>
      <vt:lpstr>Õige visuaali valimine</vt:lpstr>
      <vt:lpstr>Kas see on hea visuaal – miks või miks mitte? </vt:lpstr>
      <vt:lpstr>Kumb visuaal on  parem – miks?</vt:lpstr>
      <vt:lpstr>Kumb visuaal on  parem – miks?</vt:lpstr>
      <vt:lpstr>Kumb visuaal on parem – miks?</vt:lpstr>
      <vt:lpstr>Lugemist visualiseerimise teemal</vt:lpstr>
      <vt:lpstr>Halb näide</vt:lpstr>
      <vt:lpstr>Halb näide</vt:lpstr>
      <vt:lpstr>HEAD NÄITED</vt:lpstr>
      <vt:lpstr>HEAD NÄITED</vt:lpstr>
      <vt:lpstr>HEAD NÄITED</vt:lpstr>
      <vt:lpstr>Disaini ja kasutajamugavuse kontroll</vt:lpstr>
      <vt:lpstr>Disaini ja kasutajamugavuse kontroll</vt:lpstr>
      <vt:lpstr>Disaini ja kasutajamugavuse kontroll</vt:lpstr>
      <vt:lpstr>ANDMELUGU</vt:lpstr>
      <vt:lpstr>Andmeloo jutustamine</vt:lpstr>
      <vt:lpstr>Millistele küsimustele vastust otsid?</vt:lpstr>
      <vt:lpstr>Stsenaarium 1: HÄSTI </vt:lpstr>
      <vt:lpstr>⚠️ Stsenaarium 2: HALVASTI </vt:lpstr>
      <vt:lpstr>Andmetega töö esimene samm: Probleemipüstitus/küsimus/huvi </vt:lpstr>
      <vt:lpstr>Power BI Desktop – vormistame raporti</vt:lpstr>
      <vt:lpstr>Paus 14:45-15:00</vt:lpstr>
      <vt:lpstr>Raporti loetavuse parandamine</vt:lpstr>
      <vt:lpstr>Andmete visualiseerimise parimad praktikad</vt:lpstr>
      <vt:lpstr>YTD Sales mõõdik ja graafikud</vt:lpstr>
      <vt:lpstr>Veel harjutusi</vt:lpstr>
      <vt:lpstr>Power BI Service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24</cp:revision>
  <dcterms:created xsi:type="dcterms:W3CDTF">2021-08-27T11:35:28Z</dcterms:created>
  <dcterms:modified xsi:type="dcterms:W3CDTF">2026-09-02T11:47:20Z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