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6"/>
  </p:notesMasterIdLst>
  <p:handoutMasterIdLst>
    <p:handoutMasterId r:id="rId47"/>
  </p:handoutMasterIdLst>
  <p:sldIdLst>
    <p:sldId id="417" r:id="rId5"/>
    <p:sldId id="457" r:id="rId6"/>
    <p:sldId id="447" r:id="rId7"/>
    <p:sldId id="669" r:id="rId8"/>
    <p:sldId id="644" r:id="rId9"/>
    <p:sldId id="641" r:id="rId10"/>
    <p:sldId id="643" r:id="rId11"/>
    <p:sldId id="448" r:id="rId12"/>
    <p:sldId id="579" r:id="rId13"/>
    <p:sldId id="670" r:id="rId14"/>
    <p:sldId id="449" r:id="rId15"/>
    <p:sldId id="580" r:id="rId16"/>
    <p:sldId id="450" r:id="rId17"/>
    <p:sldId id="603" r:id="rId18"/>
    <p:sldId id="638" r:id="rId19"/>
    <p:sldId id="639" r:id="rId20"/>
    <p:sldId id="640" r:id="rId21"/>
    <p:sldId id="484" r:id="rId22"/>
    <p:sldId id="635" r:id="rId23"/>
    <p:sldId id="257" r:id="rId24"/>
    <p:sldId id="258" r:id="rId25"/>
    <p:sldId id="259" r:id="rId26"/>
    <p:sldId id="260" r:id="rId27"/>
    <p:sldId id="261" r:id="rId28"/>
    <p:sldId id="267" r:id="rId29"/>
    <p:sldId id="265" r:id="rId30"/>
    <p:sldId id="271" r:id="rId31"/>
    <p:sldId id="272" r:id="rId32"/>
    <p:sldId id="273" r:id="rId33"/>
    <p:sldId id="268" r:id="rId34"/>
    <p:sldId id="269" r:id="rId35"/>
    <p:sldId id="270" r:id="rId36"/>
    <p:sldId id="460" r:id="rId37"/>
    <p:sldId id="642" r:id="rId38"/>
    <p:sldId id="666" r:id="rId39"/>
    <p:sldId id="667" r:id="rId40"/>
    <p:sldId id="668" r:id="rId41"/>
    <p:sldId id="461" r:id="rId42"/>
    <p:sldId id="581" r:id="rId43"/>
    <p:sldId id="671" r:id="rId44"/>
    <p:sldId id="503" r:id="rId45"/>
  </p:sldIdLst>
  <p:sldSz cx="12192000" cy="6858000"/>
  <p:notesSz cx="6858000" cy="9144000"/>
  <p:embeddedFontLst>
    <p:embeddedFont>
      <p:font typeface="Inter" panose="020B0604020202020204" charset="0"/>
      <p:regular r:id="rId48"/>
      <p:bold r:id="rId49"/>
      <p:italic r:id="rId50"/>
      <p:boldItalic r:id="rId51"/>
    </p:embeddedFont>
    <p:embeddedFont>
      <p:font typeface="Inter Bold" panose="020B0604020202020204" charset="0"/>
      <p:bold r:id="rId52"/>
    </p:embeddedFont>
    <p:embeddedFont>
      <p:font typeface="Poppins SemiBold" panose="00000700000000000000" pitchFamily="2" charset="-70"/>
      <p:bold r:id="rId53"/>
      <p:boldItalic r:id="rId54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>
        <p:scale>
          <a:sx n="75" d="100"/>
          <a:sy n="75" d="100"/>
        </p:scale>
        <p:origin x="18" y="-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font" Target="fonts/font3.fntdata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6.fntdata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font" Target="fonts/font1.fntdata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font" Target="fonts/font4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2.fntdata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5.fntdata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01.09.2026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8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253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378470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Date Table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r>
              <a:rPr lang="en-GB" dirty="0">
                <a:solidFill>
                  <a:schemeClr val="accent4"/>
                </a:solidFill>
              </a:rPr>
              <a:t>Sales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r>
              <a:rPr lang="en-GB" dirty="0" err="1"/>
              <a:t>SalesRep</a:t>
            </a:r>
            <a:r>
              <a:rPr lang="en-GB" dirty="0"/>
              <a:t>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/>
              <a:t>S</a:t>
            </a:r>
            <a:r>
              <a:rPr lang="en-GB" sz="1800" b="1" dirty="0" err="1"/>
              <a:t>alesTable</a:t>
            </a:r>
            <a:r>
              <a:rPr lang="en-GB" sz="1800" dirty="0"/>
              <a:t> </a:t>
            </a:r>
            <a:r>
              <a:rPr lang="et-EE" sz="1800" dirty="0"/>
              <a:t>https://docs.google.com/spreadsheets/d/1k1nHE1Fy5UFR5Kh7BPy-ASfnItSJ5DyUIuPZhL4qDU4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DateTable</a:t>
            </a:r>
            <a:r>
              <a:rPr lang="en-GB" sz="1800" dirty="0"/>
              <a:t> https://docs.google.com/spreadsheets/d/1ifSFIuK4WYbRo6vfcRmKUb0J8OCHsIP-hyY3Q3wLMoo</a:t>
            </a:r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dirty="0"/>
              <a:t>let</a:t>
            </a:r>
          </a:p>
          <a:p>
            <a:pPr marL="457200" lvl="1" indent="0">
              <a:buNone/>
            </a:pPr>
            <a:r>
              <a:rPr lang="et-EE" sz="1800" dirty="0"/>
              <a:t>    Source = GoogleSheets.Contents("https://docs.google.com/spreadsheets/d/1k1nHE1Fy5UFR5Kh7BPy-ASfnItSJ5DyUIuPZhL4qDU4/edit?usp=sharing"),</a:t>
            </a:r>
          </a:p>
          <a:p>
            <a:pPr marL="457200" lvl="1" indent="0">
              <a:buNone/>
            </a:pPr>
            <a:r>
              <a:rPr lang="et-EE" sz="1800" dirty="0"/>
              <a:t>    SalesTable.csv_Table = Source{[name="SalesTable.csv",ItemKind="Table"]}[Data]</a:t>
            </a:r>
          </a:p>
          <a:p>
            <a:pPr marL="457200" lvl="1" indent="0">
              <a:buNone/>
            </a:pPr>
            <a:r>
              <a:rPr lang="et-EE" sz="1800" dirty="0"/>
              <a:t>in</a:t>
            </a:r>
          </a:p>
          <a:p>
            <a:pPr marL="457200" lvl="1" indent="0">
              <a:buNone/>
            </a:pPr>
            <a:r>
              <a:rPr lang="et-EE" sz="1800" dirty="0"/>
              <a:t>    SalesTable.csv_Table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3536951"/>
            <a:ext cx="8208961" cy="2197099"/>
          </a:xfrm>
        </p:spPr>
        <p:txBody>
          <a:bodyPr anchor="t">
            <a:normAutofit lnSpcReduction="10000"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000" dirty="0"/>
              <a:t>Lisame faili kas githubist või google sheets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000"/>
              <a:t>https://docs.google.com/spreadsheets/d/1-6f2CkhuTtMPWjEdhKHPV_yHeeYV6zi5WnMR9mFKDkg/edit?usp=sharing</a:t>
            </a:r>
            <a:endParaRPr lang="et-EE" sz="1000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00" dirty="0" err="1"/>
              <a:t>Ühendus</a:t>
            </a:r>
            <a:r>
              <a:rPr lang="en-US" sz="1000" dirty="0"/>
              <a:t> </a:t>
            </a:r>
            <a:r>
              <a:rPr lang="en-US" sz="1000" dirty="0" err="1"/>
              <a:t>kuupäeva</a:t>
            </a:r>
            <a:r>
              <a:rPr lang="en-US" sz="1000" dirty="0"/>
              <a:t> (eelarve </a:t>
            </a:r>
            <a:r>
              <a:rPr lang="en-US" sz="1000" dirty="0" err="1"/>
              <a:t>failis</a:t>
            </a:r>
            <a:r>
              <a:rPr lang="en-US" sz="1000" dirty="0"/>
              <a:t> kuu </a:t>
            </a:r>
            <a:r>
              <a:rPr lang="en-US" sz="1000" dirty="0" err="1"/>
              <a:t>esimene</a:t>
            </a:r>
            <a:r>
              <a:rPr lang="en-US" sz="1000" dirty="0"/>
              <a:t> </a:t>
            </a:r>
            <a:r>
              <a:rPr lang="en-US" sz="1000" dirty="0" err="1"/>
              <a:t>päev</a:t>
            </a:r>
            <a:r>
              <a:rPr lang="en-US" sz="1000" dirty="0"/>
              <a:t>) ja </a:t>
            </a:r>
            <a:r>
              <a:rPr lang="en-US" sz="1000" dirty="0" err="1"/>
              <a:t>SalesRep</a:t>
            </a:r>
            <a:r>
              <a:rPr lang="en-US" sz="10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00" dirty="0"/>
              <a:t>Eelarve fail on </a:t>
            </a:r>
            <a:r>
              <a:rPr lang="en-US" sz="1000" dirty="0" err="1"/>
              <a:t>risttabeli</a:t>
            </a:r>
            <a:r>
              <a:rPr lang="en-US" sz="1000" dirty="0"/>
              <a:t> </a:t>
            </a:r>
            <a:r>
              <a:rPr lang="en-US" sz="1000" dirty="0" err="1"/>
              <a:t>kujul</a:t>
            </a:r>
            <a:r>
              <a:rPr lang="en-US" sz="1000" dirty="0"/>
              <a:t> – vajalik muuta </a:t>
            </a:r>
            <a:r>
              <a:rPr lang="en-US" sz="1000" dirty="0" err="1"/>
              <a:t>lihttabeliks</a:t>
            </a:r>
            <a:endParaRPr lang="en-US" sz="10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0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000" dirty="0"/>
              <a:t>Vali </a:t>
            </a:r>
            <a:r>
              <a:rPr lang="en-US" sz="1000" dirty="0" err="1"/>
              <a:t>SalesRep</a:t>
            </a:r>
            <a:r>
              <a:rPr lang="en-US" sz="1000" dirty="0"/>
              <a:t> </a:t>
            </a:r>
            <a:r>
              <a:rPr lang="en-US" sz="1000" dirty="0" err="1"/>
              <a:t>tulp</a:t>
            </a:r>
            <a:r>
              <a:rPr lang="en-US" sz="10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000" dirty="0" err="1"/>
              <a:t>Vaata</a:t>
            </a:r>
            <a:r>
              <a:rPr lang="en-US" sz="1000" dirty="0"/>
              <a:t> üle </a:t>
            </a:r>
            <a:r>
              <a:rPr lang="en-US" sz="1000" dirty="0" err="1"/>
              <a:t>tulpade</a:t>
            </a:r>
            <a:r>
              <a:rPr lang="en-US" sz="1000" dirty="0"/>
              <a:t> </a:t>
            </a:r>
            <a:r>
              <a:rPr lang="en-US" sz="1000" dirty="0" err="1"/>
              <a:t>formaat</a:t>
            </a:r>
            <a:endParaRPr lang="en-US" sz="10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000" dirty="0" err="1"/>
              <a:t>Nimeta</a:t>
            </a:r>
            <a:r>
              <a:rPr lang="en-US" sz="1000" dirty="0"/>
              <a:t> </a:t>
            </a:r>
            <a:r>
              <a:rPr lang="en-US" sz="1000" dirty="0" err="1"/>
              <a:t>tulbad</a:t>
            </a:r>
            <a:r>
              <a:rPr lang="en-US" sz="1000" dirty="0"/>
              <a:t> </a:t>
            </a:r>
            <a:r>
              <a:rPr lang="en-US" sz="1000" dirty="0" err="1"/>
              <a:t>kirjeldavate</a:t>
            </a:r>
            <a:r>
              <a:rPr lang="en-US" sz="1000" dirty="0"/>
              <a:t> </a:t>
            </a:r>
            <a:r>
              <a:rPr lang="en-US" sz="1000" dirty="0" err="1"/>
              <a:t>nimedega</a:t>
            </a:r>
            <a:endParaRPr lang="en-US" sz="10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000" dirty="0"/>
              <a:t>Loo </a:t>
            </a:r>
            <a:r>
              <a:rPr lang="en-US" sz="1000" dirty="0" err="1"/>
              <a:t>ühendused</a:t>
            </a:r>
            <a:r>
              <a:rPr lang="en-US" sz="1000" dirty="0"/>
              <a:t> </a:t>
            </a:r>
            <a:r>
              <a:rPr lang="en-US" sz="1000" dirty="0" err="1"/>
              <a:t>mudelis</a:t>
            </a:r>
            <a:r>
              <a:rPr lang="en-US" sz="1000" dirty="0"/>
              <a:t> </a:t>
            </a:r>
            <a:r>
              <a:rPr lang="en-US" sz="1000" dirty="0" err="1"/>
              <a:t>teiste</a:t>
            </a:r>
            <a:r>
              <a:rPr lang="en-US" sz="1000" dirty="0"/>
              <a:t> </a:t>
            </a:r>
            <a:r>
              <a:rPr lang="en-US" sz="1000" dirty="0" err="1"/>
              <a:t>tabelitega</a:t>
            </a:r>
            <a:endParaRPr lang="en-US" sz="10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000" dirty="0"/>
              <a:t>Loo </a:t>
            </a:r>
            <a:r>
              <a:rPr lang="en-US" sz="1000" dirty="0" err="1"/>
              <a:t>visuaalid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Mis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Faili import</a:t>
            </a:r>
          </a:p>
          <a:p>
            <a:pPr lvl="1"/>
            <a:r>
              <a:rPr lang="et-EE"/>
              <a:t>Arvutist</a:t>
            </a:r>
          </a:p>
          <a:p>
            <a:pPr lvl="1"/>
            <a:r>
              <a:rPr lang="et-EE"/>
              <a:t>Võrgust</a:t>
            </a:r>
          </a:p>
          <a:p>
            <a:r>
              <a:rPr lang="et-EE"/>
              <a:t>Andmete kontrollimine</a:t>
            </a:r>
          </a:p>
          <a:p>
            <a:pPr lvl="1"/>
            <a:r>
              <a:rPr lang="et-EE"/>
              <a:t>Column distribute, Qualitiy, Profile + visuaalne kontroll</a:t>
            </a:r>
          </a:p>
          <a:p>
            <a:r>
              <a:rPr lang="et-EE"/>
              <a:t>Andmete parandamine</a:t>
            </a:r>
          </a:p>
          <a:p>
            <a:pPr lvl="1"/>
            <a:r>
              <a:rPr lang="et-EE"/>
              <a:t>Päise rida</a:t>
            </a:r>
          </a:p>
          <a:p>
            <a:pPr lvl="1"/>
            <a:r>
              <a:rPr lang="et-EE"/>
              <a:t>Tühjad read</a:t>
            </a:r>
          </a:p>
          <a:p>
            <a:pPr lvl="1"/>
            <a:r>
              <a:rPr lang="et-EE"/>
              <a:t>Valed kpv eraldajad</a:t>
            </a:r>
          </a:p>
          <a:p>
            <a:pPr lvl="1"/>
            <a:r>
              <a:rPr lang="et-EE"/>
              <a:t>Valed komakoha eraldajad</a:t>
            </a:r>
          </a:p>
          <a:p>
            <a:pPr lvl="1"/>
            <a:r>
              <a:rPr lang="et-EE"/>
              <a:t>Valed sümbolid</a:t>
            </a:r>
          </a:p>
          <a:p>
            <a:r>
              <a:rPr lang="et-EE"/>
              <a:t>Andmete töötlemine ja andmemudel</a:t>
            </a:r>
          </a:p>
          <a:p>
            <a:pPr lvl="1"/>
            <a:r>
              <a:rPr lang="et-EE"/>
              <a:t>Dim, fakt</a:t>
            </a:r>
          </a:p>
          <a:p>
            <a:pPr lvl="1"/>
            <a:r>
              <a:rPr lang="et-EE"/>
              <a:t>Seosed, seose suund ja tüüp</a:t>
            </a:r>
          </a:p>
          <a:p>
            <a:pPr lvl="1"/>
            <a:r>
              <a:rPr lang="et-EE"/>
              <a:t>Tabelisse uus arvutatud Column</a:t>
            </a:r>
          </a:p>
          <a:p>
            <a:pPr lvl="1"/>
            <a:r>
              <a:rPr lang="et-EE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Tühi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Eesmärgipärane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Arusaadav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lisada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kirjeldused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Lihtne</a:t>
            </a:r>
            <a:r>
              <a:rPr lang="en-US" sz="2400">
                <a:solidFill>
                  <a:srgbClr val="000000"/>
                </a:solidFill>
                <a:ea typeface="Inter"/>
              </a:rPr>
              <a:t> -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mõistmiseks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vajalik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muu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eemaldada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Ligipääsetav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nt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värvipimedusega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arvestamine</a:t>
            </a:r>
            <a:r>
              <a:rPr lang="en-US" sz="2400">
                <a:solidFill>
                  <a:srgbClr val="000000"/>
                </a:solidFill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solidFill>
                  <a:srgbClr val="000000"/>
                </a:solidFill>
                <a:ea typeface="Inter"/>
              </a:rPr>
              <a:t>Piisav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kontrast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tausta</a:t>
            </a:r>
            <a:r>
              <a:rPr lang="en-US" sz="24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graafiku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vahel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0-st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Kasutaja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loeb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vasakult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ülevalt</a:t>
            </a:r>
            <a:r>
              <a:rPr lang="en-US" sz="2400">
                <a:solidFill>
                  <a:srgbClr val="000000"/>
                </a:solidFill>
                <a:ea typeface="Inter"/>
              </a:rPr>
              <a:t> 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paremale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alla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info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samas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loogikas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esitada</a:t>
            </a:r>
            <a:endParaRPr lang="en-US" sz="2400" err="1"/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 Design Principles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23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73110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355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797544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Õige </a:t>
            </a:r>
            <a:r>
              <a:rPr lang="en-US" err="1"/>
              <a:t>visuaali</a:t>
            </a:r>
            <a:r>
              <a:rPr lang="en-US"/>
              <a:t> </a:t>
            </a:r>
            <a:r>
              <a:rPr lang="en-US" err="1"/>
              <a:t>valimine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974912"/>
            <a:ext cx="7360206" cy="54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53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9496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4900" y="1045029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42950" y="3536950"/>
            <a:ext cx="10825162" cy="281939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sz="1400" b="1" dirty="0"/>
              <a:t>4 </a:t>
            </a:r>
            <a:r>
              <a:rPr lang="en-GB" sz="1400" b="1" dirty="0" err="1"/>
              <a:t>Värvipsühholoogia</a:t>
            </a:r>
            <a:r>
              <a:rPr lang="en-GB" sz="1400" b="1" dirty="0"/>
              <a:t> </a:t>
            </a:r>
            <a:r>
              <a:rPr lang="en-GB" sz="1400" b="1" dirty="0" err="1"/>
              <a:t>ja</a:t>
            </a:r>
            <a:r>
              <a:rPr lang="en-GB" sz="1400" b="1" dirty="0"/>
              <a:t> "60-30-10" </a:t>
            </a:r>
            <a:r>
              <a:rPr lang="en-GB" sz="1400" b="1" dirty="0" err="1"/>
              <a:t>reegel</a:t>
            </a:r>
            <a:endParaRPr lang="en-GB" sz="1400" b="1" dirty="0"/>
          </a:p>
          <a:p>
            <a:pPr lvl="1">
              <a:lnSpc>
                <a:spcPct val="170000"/>
              </a:lnSpc>
            </a:pPr>
            <a:r>
              <a:rPr lang="en-GB" sz="1400" dirty="0"/>
              <a:t>Värv on </a:t>
            </a:r>
            <a:r>
              <a:rPr lang="en-GB" sz="1400" dirty="0" err="1"/>
              <a:t>andmete</a:t>
            </a:r>
            <a:r>
              <a:rPr lang="en-GB" sz="1400" dirty="0"/>
              <a:t> </a:t>
            </a:r>
            <a:r>
              <a:rPr lang="en-GB" sz="1400" dirty="0" err="1"/>
              <a:t>visualiseerimises</a:t>
            </a:r>
            <a:r>
              <a:rPr lang="en-GB" sz="1400" dirty="0"/>
              <a:t> </a:t>
            </a:r>
            <a:r>
              <a:rPr lang="en-GB" sz="1400" dirty="0" err="1"/>
              <a:t>kõige</a:t>
            </a:r>
            <a:r>
              <a:rPr lang="en-GB" sz="1400" dirty="0"/>
              <a:t> </a:t>
            </a:r>
            <a:r>
              <a:rPr lang="en-GB" sz="1400" dirty="0" err="1"/>
              <a:t>võimsam</a:t>
            </a:r>
            <a:r>
              <a:rPr lang="en-GB" sz="1400" dirty="0"/>
              <a:t> </a:t>
            </a:r>
            <a:r>
              <a:rPr lang="en-GB" sz="1400" dirty="0" err="1"/>
              <a:t>relv</a:t>
            </a:r>
            <a:r>
              <a:rPr lang="en-GB" sz="1400" dirty="0"/>
              <a:t>, </a:t>
            </a:r>
            <a:r>
              <a:rPr lang="en-GB" sz="1400" dirty="0" err="1"/>
              <a:t>kuid</a:t>
            </a:r>
            <a:r>
              <a:rPr lang="en-GB" sz="1400" dirty="0"/>
              <a:t> </a:t>
            </a:r>
            <a:r>
              <a:rPr lang="en-GB" sz="1400" dirty="0" err="1"/>
              <a:t>seda</a:t>
            </a:r>
            <a:r>
              <a:rPr lang="en-GB" sz="1400" dirty="0"/>
              <a:t> </a:t>
            </a:r>
            <a:r>
              <a:rPr lang="en-GB" sz="1400" dirty="0" err="1"/>
              <a:t>kuritarvitatakse</a:t>
            </a:r>
            <a:r>
              <a:rPr lang="en-GB" sz="1400" dirty="0"/>
              <a:t> </a:t>
            </a:r>
            <a:r>
              <a:rPr lang="en-GB" sz="1400" dirty="0" err="1"/>
              <a:t>kõige</a:t>
            </a:r>
            <a:r>
              <a:rPr lang="en-GB" sz="1400" dirty="0"/>
              <a:t> </a:t>
            </a:r>
            <a:r>
              <a:rPr lang="en-GB" sz="1400" dirty="0" err="1"/>
              <a:t>sagedamini</a:t>
            </a:r>
            <a:r>
              <a:rPr lang="en-GB" sz="1400" dirty="0"/>
              <a:t>. </a:t>
            </a:r>
            <a:r>
              <a:rPr lang="en-GB" sz="1400" dirty="0" err="1"/>
              <a:t>Liiga</a:t>
            </a:r>
            <a:r>
              <a:rPr lang="en-GB" sz="1400" dirty="0"/>
              <a:t> </a:t>
            </a:r>
            <a:r>
              <a:rPr lang="en-GB" sz="1400" dirty="0" err="1"/>
              <a:t>palju</a:t>
            </a:r>
            <a:r>
              <a:rPr lang="en-GB" sz="1400" dirty="0"/>
              <a:t> </a:t>
            </a:r>
            <a:r>
              <a:rPr lang="en-GB" sz="1400" dirty="0" err="1"/>
              <a:t>värve</a:t>
            </a:r>
            <a:r>
              <a:rPr lang="en-GB" sz="1400" dirty="0"/>
              <a:t> </a:t>
            </a:r>
            <a:r>
              <a:rPr lang="en-GB" sz="1400" dirty="0" err="1"/>
              <a:t>tekitab</a:t>
            </a:r>
            <a:r>
              <a:rPr lang="en-GB" sz="1400" dirty="0"/>
              <a:t> </a:t>
            </a:r>
            <a:r>
              <a:rPr lang="en-GB" sz="1400" dirty="0" err="1"/>
              <a:t>visuaalset</a:t>
            </a:r>
            <a:r>
              <a:rPr lang="en-GB" sz="1400" dirty="0"/>
              <a:t> </a:t>
            </a:r>
            <a:r>
              <a:rPr lang="en-GB" sz="1400" dirty="0" err="1"/>
              <a:t>müra</a:t>
            </a:r>
            <a:r>
              <a:rPr lang="en-GB" sz="1400" dirty="0"/>
              <a:t> </a:t>
            </a:r>
            <a:r>
              <a:rPr lang="en-GB" sz="1400" dirty="0" err="1"/>
              <a:t>ja</a:t>
            </a:r>
            <a:r>
              <a:rPr lang="en-GB" sz="1400" dirty="0"/>
              <a:t> </a:t>
            </a:r>
            <a:r>
              <a:rPr lang="en-GB" sz="1400" dirty="0" err="1"/>
              <a:t>aju</a:t>
            </a:r>
            <a:r>
              <a:rPr lang="en-GB" sz="1400" dirty="0"/>
              <a:t> </a:t>
            </a:r>
            <a:r>
              <a:rPr lang="en-GB" sz="1400" dirty="0" err="1"/>
              <a:t>lülitub</a:t>
            </a:r>
            <a:r>
              <a:rPr lang="en-GB" sz="1400" dirty="0"/>
              <a:t> </a:t>
            </a:r>
            <a:r>
              <a:rPr lang="en-GB" sz="1400" dirty="0" err="1"/>
              <a:t>välja</a:t>
            </a:r>
            <a:r>
              <a:rPr lang="en-GB" sz="14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sz="1400" b="1" dirty="0" err="1"/>
              <a:t>Reegel</a:t>
            </a:r>
            <a:r>
              <a:rPr lang="en-GB" sz="1400" b="1" dirty="0"/>
              <a:t>: </a:t>
            </a:r>
            <a:r>
              <a:rPr lang="en-GB" sz="1400" b="1" dirty="0" err="1"/>
              <a:t>Ära</a:t>
            </a:r>
            <a:r>
              <a:rPr lang="en-GB" sz="1400" b="1" dirty="0"/>
              <a:t> </a:t>
            </a:r>
            <a:r>
              <a:rPr lang="en-GB" sz="1400" b="1" dirty="0" err="1"/>
              <a:t>kasuta</a:t>
            </a:r>
            <a:r>
              <a:rPr lang="en-GB" sz="1400" b="1" dirty="0"/>
              <a:t> </a:t>
            </a:r>
            <a:r>
              <a:rPr lang="en-GB" sz="1400" b="1" dirty="0" err="1"/>
              <a:t>üle</a:t>
            </a:r>
            <a:r>
              <a:rPr lang="en-GB" sz="1400" b="1" dirty="0"/>
              <a:t> 3 </a:t>
            </a:r>
            <a:r>
              <a:rPr lang="en-GB" sz="1400" b="1" dirty="0" err="1"/>
              <a:t>põhivärvi</a:t>
            </a:r>
            <a:endParaRPr lang="en-GB" sz="1400" b="1" dirty="0"/>
          </a:p>
          <a:p>
            <a:pPr lvl="1">
              <a:lnSpc>
                <a:spcPct val="170000"/>
              </a:lnSpc>
            </a:pPr>
            <a:r>
              <a:rPr lang="en-GB" sz="1400" b="1" dirty="0"/>
              <a:t>60% </a:t>
            </a:r>
            <a:r>
              <a:rPr lang="en-GB" sz="1400" b="1" dirty="0" err="1"/>
              <a:t>Domineeriv</a:t>
            </a:r>
            <a:r>
              <a:rPr lang="en-GB" sz="1400" b="1" dirty="0"/>
              <a:t> </a:t>
            </a:r>
            <a:r>
              <a:rPr lang="en-GB" sz="1400" b="1" dirty="0" err="1"/>
              <a:t>taustajõud</a:t>
            </a:r>
            <a:r>
              <a:rPr lang="en-GB" sz="1400" b="1" dirty="0"/>
              <a:t> </a:t>
            </a:r>
            <a:r>
              <a:rPr lang="en-GB" sz="1400" dirty="0"/>
              <a:t>(Hall/Valge): </a:t>
            </a:r>
            <a:r>
              <a:rPr lang="en-GB" sz="1400" dirty="0" err="1"/>
              <a:t>Raporti</a:t>
            </a:r>
            <a:r>
              <a:rPr lang="en-GB" sz="1400" dirty="0"/>
              <a:t> </a:t>
            </a:r>
            <a:r>
              <a:rPr lang="en-GB" sz="1400" dirty="0" err="1"/>
              <a:t>taust</a:t>
            </a:r>
            <a:r>
              <a:rPr lang="en-GB" sz="1400" dirty="0"/>
              <a:t>, </a:t>
            </a:r>
            <a:r>
              <a:rPr lang="en-GB" sz="1400" dirty="0" err="1"/>
              <a:t>graafikute</a:t>
            </a:r>
            <a:r>
              <a:rPr lang="en-GB" sz="1400" dirty="0"/>
              <a:t> </a:t>
            </a:r>
            <a:r>
              <a:rPr lang="en-GB" sz="1400" dirty="0" err="1"/>
              <a:t>taustad</a:t>
            </a:r>
            <a:r>
              <a:rPr lang="en-GB" sz="1400" dirty="0"/>
              <a:t>, </a:t>
            </a:r>
            <a:r>
              <a:rPr lang="en-GB" sz="1400" dirty="0" err="1"/>
              <a:t>teljed</a:t>
            </a:r>
            <a:r>
              <a:rPr lang="en-GB" sz="1400" dirty="0"/>
              <a:t> </a:t>
            </a:r>
            <a:r>
              <a:rPr lang="en-GB" sz="1400" dirty="0" err="1"/>
              <a:t>ja</a:t>
            </a:r>
            <a:r>
              <a:rPr lang="en-GB" sz="1400" dirty="0"/>
              <a:t> </a:t>
            </a:r>
            <a:r>
              <a:rPr lang="en-GB" sz="1400" dirty="0" err="1"/>
              <a:t>tekstid</a:t>
            </a:r>
            <a:r>
              <a:rPr lang="en-GB" sz="1400" dirty="0"/>
              <a:t> </a:t>
            </a:r>
            <a:r>
              <a:rPr lang="en-GB" sz="1400" dirty="0" err="1"/>
              <a:t>peaksid</a:t>
            </a:r>
            <a:r>
              <a:rPr lang="en-GB" sz="1400" dirty="0"/>
              <a:t> </a:t>
            </a:r>
            <a:r>
              <a:rPr lang="en-GB" sz="1400" dirty="0" err="1"/>
              <a:t>olema</a:t>
            </a:r>
            <a:r>
              <a:rPr lang="en-GB" sz="1400" dirty="0"/>
              <a:t> </a:t>
            </a:r>
            <a:r>
              <a:rPr lang="en-GB" sz="1400" dirty="0" err="1"/>
              <a:t>neutraalsed</a:t>
            </a:r>
            <a:r>
              <a:rPr lang="en-GB" sz="1400" dirty="0"/>
              <a:t> (</a:t>
            </a:r>
            <a:r>
              <a:rPr lang="en-GB" sz="1400" dirty="0" err="1"/>
              <a:t>erinevad</a:t>
            </a:r>
            <a:r>
              <a:rPr lang="en-GB" sz="1400" dirty="0"/>
              <a:t> halli </a:t>
            </a:r>
            <a:r>
              <a:rPr lang="en-GB" sz="1400" dirty="0" err="1"/>
              <a:t>varjundid</a:t>
            </a:r>
            <a:r>
              <a:rPr lang="en-GB" sz="1400" dirty="0"/>
              <a:t> </a:t>
            </a:r>
            <a:r>
              <a:rPr lang="en-GB" sz="1400" dirty="0" err="1"/>
              <a:t>või</a:t>
            </a:r>
            <a:r>
              <a:rPr lang="en-GB" sz="1400" dirty="0"/>
              <a:t> </a:t>
            </a:r>
            <a:r>
              <a:rPr lang="en-GB" sz="1400" dirty="0" err="1"/>
              <a:t>valge</a:t>
            </a:r>
            <a:r>
              <a:rPr lang="en-GB" sz="1400" dirty="0"/>
              <a:t>). Hall </a:t>
            </a:r>
            <a:r>
              <a:rPr lang="en-GB" sz="1400" dirty="0" err="1"/>
              <a:t>ei</a:t>
            </a:r>
            <a:r>
              <a:rPr lang="en-GB" sz="1400" dirty="0"/>
              <a:t> </a:t>
            </a:r>
            <a:r>
              <a:rPr lang="en-GB" sz="1400" dirty="0" err="1"/>
              <a:t>karju</a:t>
            </a:r>
            <a:r>
              <a:rPr lang="en-GB" sz="1400" dirty="0"/>
              <a:t> </a:t>
            </a:r>
            <a:r>
              <a:rPr lang="en-GB" sz="1400" dirty="0" err="1"/>
              <a:t>tähelepanu</a:t>
            </a:r>
            <a:r>
              <a:rPr lang="en-GB" sz="1400" dirty="0"/>
              <a:t> </a:t>
            </a:r>
            <a:r>
              <a:rPr lang="en-GB" sz="1400" dirty="0" err="1"/>
              <a:t>järele</a:t>
            </a:r>
            <a:r>
              <a:rPr lang="en-GB" sz="1400" dirty="0"/>
              <a:t>, see </a:t>
            </a:r>
            <a:r>
              <a:rPr lang="en-GB" sz="1400" dirty="0" err="1"/>
              <a:t>loob</a:t>
            </a:r>
            <a:r>
              <a:rPr lang="en-GB" sz="1400" dirty="0"/>
              <a:t> </a:t>
            </a:r>
            <a:r>
              <a:rPr lang="en-GB" sz="1400" dirty="0" err="1"/>
              <a:t>lõuendi</a:t>
            </a:r>
            <a:r>
              <a:rPr lang="en-GB" sz="14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400" b="1" dirty="0"/>
              <a:t>30% </a:t>
            </a:r>
            <a:r>
              <a:rPr lang="en-GB" sz="1400" b="1" dirty="0" err="1"/>
              <a:t>Struktuurivärv</a:t>
            </a:r>
            <a:r>
              <a:rPr lang="en-GB" sz="1400" b="1" dirty="0"/>
              <a:t> (</a:t>
            </a:r>
            <a:r>
              <a:rPr lang="en-GB" sz="1400" b="1" dirty="0" err="1"/>
              <a:t>Brändivärv</a:t>
            </a:r>
            <a:r>
              <a:rPr lang="en-GB" sz="1400" b="1" dirty="0"/>
              <a:t>): </a:t>
            </a:r>
            <a:r>
              <a:rPr lang="en-GB" sz="1400" dirty="0"/>
              <a:t>Sinu </a:t>
            </a:r>
            <a:r>
              <a:rPr lang="en-GB" sz="1400" dirty="0" err="1"/>
              <a:t>või</a:t>
            </a:r>
            <a:r>
              <a:rPr lang="en-GB" sz="1400" dirty="0"/>
              <a:t> </a:t>
            </a:r>
            <a:r>
              <a:rPr lang="en-GB" sz="1400" dirty="0" err="1"/>
              <a:t>kliendi</a:t>
            </a:r>
            <a:r>
              <a:rPr lang="en-GB" sz="1400" dirty="0"/>
              <a:t> </a:t>
            </a:r>
            <a:r>
              <a:rPr lang="en-GB" sz="1400" dirty="0" err="1"/>
              <a:t>ettevõtte</a:t>
            </a:r>
            <a:r>
              <a:rPr lang="en-GB" sz="1400" dirty="0"/>
              <a:t> </a:t>
            </a:r>
            <a:r>
              <a:rPr lang="en-GB" sz="1400" dirty="0" err="1"/>
              <a:t>põhivärv</a:t>
            </a:r>
            <a:r>
              <a:rPr lang="en-GB" sz="1400" dirty="0"/>
              <a:t>. Seda </a:t>
            </a:r>
            <a:r>
              <a:rPr lang="en-GB" sz="1400" dirty="0" err="1"/>
              <a:t>kasutatakse</a:t>
            </a:r>
            <a:r>
              <a:rPr lang="en-GB" sz="1400" dirty="0"/>
              <a:t> </a:t>
            </a:r>
            <a:r>
              <a:rPr lang="en-GB" sz="1400" dirty="0" err="1"/>
              <a:t>tavaliste</a:t>
            </a:r>
            <a:r>
              <a:rPr lang="en-GB" sz="1400" dirty="0"/>
              <a:t> </a:t>
            </a:r>
            <a:r>
              <a:rPr lang="en-GB" sz="1400" dirty="0" err="1"/>
              <a:t>andmete</a:t>
            </a:r>
            <a:r>
              <a:rPr lang="en-GB" sz="1400" dirty="0"/>
              <a:t>, </a:t>
            </a:r>
            <a:r>
              <a:rPr lang="en-GB" sz="1400" dirty="0" err="1"/>
              <a:t>tiitliribade</a:t>
            </a:r>
            <a:r>
              <a:rPr lang="en-GB" sz="1400" dirty="0"/>
              <a:t> </a:t>
            </a:r>
            <a:r>
              <a:rPr lang="en-GB" sz="1400" dirty="0" err="1"/>
              <a:t>või</a:t>
            </a:r>
            <a:r>
              <a:rPr lang="en-GB" sz="1400" dirty="0"/>
              <a:t> </a:t>
            </a:r>
            <a:r>
              <a:rPr lang="en-GB" sz="1400" dirty="0" err="1"/>
              <a:t>vaikimisi</a:t>
            </a:r>
            <a:r>
              <a:rPr lang="en-GB" sz="1400" dirty="0"/>
              <a:t> </a:t>
            </a:r>
            <a:r>
              <a:rPr lang="en-GB" sz="1400" dirty="0" err="1"/>
              <a:t>tulpade</a:t>
            </a:r>
            <a:r>
              <a:rPr lang="en-GB" sz="1400" dirty="0"/>
              <a:t> </a:t>
            </a:r>
            <a:r>
              <a:rPr lang="en-GB" sz="1400" dirty="0" err="1"/>
              <a:t>kuvamiseks</a:t>
            </a:r>
            <a:r>
              <a:rPr lang="en-GB" sz="14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400" b="1" dirty="0"/>
              <a:t>10% </a:t>
            </a:r>
            <a:r>
              <a:rPr lang="en-GB" sz="1400" b="1" dirty="0" err="1"/>
              <a:t>Aktsentvärv</a:t>
            </a:r>
            <a:r>
              <a:rPr lang="en-GB" sz="1400" b="1" dirty="0"/>
              <a:t> (</a:t>
            </a:r>
            <a:r>
              <a:rPr lang="en-GB" sz="1400" b="1" dirty="0" err="1"/>
              <a:t>Erksad</a:t>
            </a:r>
            <a:r>
              <a:rPr lang="en-GB" sz="1400" b="1" dirty="0"/>
              <a:t> </a:t>
            </a:r>
            <a:r>
              <a:rPr lang="en-GB" sz="1400" b="1" dirty="0" err="1"/>
              <a:t>värvid</a:t>
            </a:r>
            <a:r>
              <a:rPr lang="en-GB" sz="1400" b="1" dirty="0"/>
              <a:t> </a:t>
            </a:r>
            <a:r>
              <a:rPr lang="en-GB" sz="1400" b="1" dirty="0" err="1"/>
              <a:t>tähelepanuks</a:t>
            </a:r>
            <a:r>
              <a:rPr lang="en-GB" sz="1400" b="1" dirty="0"/>
              <a:t>): </a:t>
            </a:r>
            <a:r>
              <a:rPr lang="en-GB" sz="1400" dirty="0"/>
              <a:t>See on Sinu "</a:t>
            </a:r>
            <a:r>
              <a:rPr lang="en-GB" sz="1400" dirty="0" err="1"/>
              <a:t>hoolitse</a:t>
            </a:r>
            <a:r>
              <a:rPr lang="en-GB" sz="1400" dirty="0"/>
              <a:t> </a:t>
            </a:r>
            <a:r>
              <a:rPr lang="en-GB" sz="1400" dirty="0" err="1"/>
              <a:t>selle</a:t>
            </a:r>
            <a:r>
              <a:rPr lang="en-GB" sz="1400" dirty="0"/>
              <a:t> </a:t>
            </a:r>
            <a:r>
              <a:rPr lang="en-GB" sz="1400" dirty="0" err="1"/>
              <a:t>eest</a:t>
            </a:r>
            <a:r>
              <a:rPr lang="en-GB" sz="1400" dirty="0"/>
              <a:t> </a:t>
            </a:r>
            <a:r>
              <a:rPr lang="en-GB" sz="1400" dirty="0" err="1"/>
              <a:t>kohe</a:t>
            </a:r>
            <a:r>
              <a:rPr lang="en-GB" sz="1400" dirty="0"/>
              <a:t>" </a:t>
            </a:r>
            <a:r>
              <a:rPr lang="en-GB" sz="1400" dirty="0" err="1"/>
              <a:t>värv</a:t>
            </a:r>
            <a:r>
              <a:rPr lang="en-GB" sz="1400" dirty="0"/>
              <a:t> (</a:t>
            </a:r>
            <a:r>
              <a:rPr lang="en-GB" sz="1400" dirty="0" err="1"/>
              <a:t>erkpunane</a:t>
            </a:r>
            <a:r>
              <a:rPr lang="en-GB" sz="1400" dirty="0"/>
              <a:t>,, </a:t>
            </a:r>
            <a:r>
              <a:rPr lang="en-GB" sz="1400" dirty="0" err="1"/>
              <a:t>oranž</a:t>
            </a:r>
            <a:r>
              <a:rPr lang="en-GB" sz="1400" dirty="0"/>
              <a:t>). Seda </a:t>
            </a:r>
            <a:r>
              <a:rPr lang="en-GB" sz="1400" dirty="0" err="1"/>
              <a:t>kasutatakse</a:t>
            </a:r>
            <a:r>
              <a:rPr lang="en-GB" sz="1400" dirty="0"/>
              <a:t> </a:t>
            </a:r>
            <a:r>
              <a:rPr lang="en-GB" sz="1400" dirty="0" err="1"/>
              <a:t>ainult</a:t>
            </a:r>
            <a:r>
              <a:rPr lang="en-GB" sz="1400" dirty="0"/>
              <a:t> </a:t>
            </a:r>
            <a:r>
              <a:rPr lang="en-GB" sz="1400" dirty="0" err="1"/>
              <a:t>siis</a:t>
            </a:r>
            <a:r>
              <a:rPr lang="en-GB" sz="1400" dirty="0"/>
              <a:t>, </a:t>
            </a:r>
            <a:r>
              <a:rPr lang="en-GB" sz="1400" dirty="0" err="1"/>
              <a:t>kui</a:t>
            </a:r>
            <a:r>
              <a:rPr lang="en-GB" sz="1400" dirty="0"/>
              <a:t> </a:t>
            </a:r>
            <a:r>
              <a:rPr lang="en-GB" sz="1400" dirty="0" err="1"/>
              <a:t>midagi</a:t>
            </a:r>
            <a:r>
              <a:rPr lang="en-GB" sz="1400" dirty="0"/>
              <a:t> on </a:t>
            </a:r>
            <a:r>
              <a:rPr lang="en-GB" sz="1400" dirty="0" err="1"/>
              <a:t>valesti</a:t>
            </a:r>
            <a:r>
              <a:rPr lang="en-GB" sz="1400" dirty="0"/>
              <a:t> </a:t>
            </a:r>
            <a:r>
              <a:rPr lang="en-GB" sz="1400" dirty="0" err="1"/>
              <a:t>või</a:t>
            </a:r>
            <a:r>
              <a:rPr lang="en-GB" sz="1400" dirty="0"/>
              <a:t> </a:t>
            </a:r>
            <a:r>
              <a:rPr lang="en-GB" sz="1400" dirty="0" err="1"/>
              <a:t>vajab</a:t>
            </a:r>
            <a:r>
              <a:rPr lang="en-GB" sz="1400" dirty="0"/>
              <a:t> </a:t>
            </a:r>
            <a:r>
              <a:rPr lang="en-GB" sz="1400" dirty="0" err="1"/>
              <a:t>kriitilist</a:t>
            </a:r>
            <a:r>
              <a:rPr lang="en-GB" sz="1400" dirty="0"/>
              <a:t> </a:t>
            </a:r>
            <a:r>
              <a:rPr lang="en-GB" sz="1400" dirty="0" err="1"/>
              <a:t>tähelepanu</a:t>
            </a:r>
            <a:r>
              <a:rPr lang="en-GB" sz="1400" dirty="0"/>
              <a:t> (</a:t>
            </a:r>
            <a:r>
              <a:rPr lang="en-GB" sz="1400" dirty="0" err="1"/>
              <a:t>nt</a:t>
            </a:r>
            <a:r>
              <a:rPr lang="en-GB" sz="1400" dirty="0"/>
              <a:t> </a:t>
            </a:r>
            <a:r>
              <a:rPr lang="en-GB" sz="1400" dirty="0" err="1"/>
              <a:t>kui</a:t>
            </a:r>
            <a:r>
              <a:rPr lang="en-GB" sz="1400" dirty="0"/>
              <a:t> Sentiment Gap </a:t>
            </a:r>
            <a:r>
              <a:rPr lang="en-GB" sz="1400" dirty="0" err="1"/>
              <a:t>läheb</a:t>
            </a:r>
            <a:r>
              <a:rPr lang="en-GB" sz="1400" dirty="0"/>
              <a:t> </a:t>
            </a:r>
            <a:r>
              <a:rPr lang="en-GB" sz="1400" dirty="0" err="1"/>
              <a:t>punasesse</a:t>
            </a:r>
            <a:r>
              <a:rPr lang="en-GB" sz="1400" dirty="0"/>
              <a:t> </a:t>
            </a:r>
            <a:r>
              <a:rPr lang="en-GB" sz="1400" dirty="0" err="1"/>
              <a:t>tsooni</a:t>
            </a:r>
            <a:r>
              <a:rPr lang="en-GB" sz="1400" dirty="0"/>
              <a:t>). </a:t>
            </a:r>
            <a:r>
              <a:rPr lang="en-GB" sz="1400" dirty="0" err="1"/>
              <a:t>Erista</a:t>
            </a:r>
            <a:r>
              <a:rPr lang="en-GB" sz="1400" dirty="0"/>
              <a:t> </a:t>
            </a:r>
            <a:r>
              <a:rPr lang="en-GB" sz="1400" dirty="0" err="1"/>
              <a:t>vaid</a:t>
            </a:r>
            <a:r>
              <a:rPr lang="en-GB" sz="1400" dirty="0"/>
              <a:t> </a:t>
            </a:r>
            <a:r>
              <a:rPr lang="en-GB" sz="1400" dirty="0" err="1"/>
              <a:t>olulist</a:t>
            </a:r>
            <a:r>
              <a:rPr lang="en-GB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340" y="275822"/>
            <a:ext cx="7820690" cy="439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ülesande, sõnastame, teeme kavandi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Korrastame impordid, mudeli, nimetused, kataloogid, koristame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00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00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000000"/>
                </a:solidFill>
                <a:ea typeface="Inter"/>
              </a:rPr>
              <a:t>Demo</a:t>
            </a:r>
            <a:endParaRPr lang="en-US" sz="2000" dirty="0">
              <a:solidFill>
                <a:srgbClr val="00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F7D9-A61C-3BF0-60A4-85822C8A2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loetavus</a:t>
            </a:r>
            <a:r>
              <a:rPr lang="en-GB" dirty="0"/>
              <a:t>: </a:t>
            </a:r>
            <a:r>
              <a:rPr lang="en-GB" dirty="0" err="1"/>
              <a:t>andmelugu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18E02-D1F2-D7E8-A7D2-98280F35E3B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Mudeil</a:t>
            </a:r>
            <a:r>
              <a:rPr lang="en-GB" sz="2000" dirty="0"/>
              <a:t> </a:t>
            </a:r>
            <a:r>
              <a:rPr lang="en-GB" sz="2000" dirty="0" err="1"/>
              <a:t>korrastamine</a:t>
            </a:r>
            <a:r>
              <a:rPr lang="en-GB" sz="2000" dirty="0"/>
              <a:t>	</a:t>
            </a:r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nimetused</a:t>
            </a:r>
            <a:endParaRPr lang="en-GB" sz="2000" dirty="0"/>
          </a:p>
          <a:p>
            <a:pPr lvl="1"/>
            <a:r>
              <a:rPr lang="en-GB" sz="2000" dirty="0" err="1"/>
              <a:t>Ebavajalike</a:t>
            </a:r>
            <a:r>
              <a:rPr lang="en-GB" sz="2000" dirty="0"/>
              <a:t> </a:t>
            </a:r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kustutamine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peitmine</a:t>
            </a:r>
            <a:endParaRPr lang="en-GB" sz="2000" dirty="0"/>
          </a:p>
          <a:p>
            <a:r>
              <a:rPr lang="en-GB" sz="2000" dirty="0" err="1"/>
              <a:t>Loetavus</a:t>
            </a:r>
            <a:endParaRPr lang="en-GB" sz="2000" dirty="0"/>
          </a:p>
          <a:p>
            <a:pPr lvl="1"/>
            <a:r>
              <a:rPr lang="en-GB" sz="2000" dirty="0" err="1"/>
              <a:t>Tiitellleht</a:t>
            </a:r>
            <a:endParaRPr lang="en-GB" sz="2000" dirty="0"/>
          </a:p>
          <a:p>
            <a:pPr lvl="1"/>
            <a:r>
              <a:rPr lang="en-GB" sz="2000" dirty="0" err="1"/>
              <a:t>Pealkirjad</a:t>
            </a:r>
            <a:r>
              <a:rPr lang="en-GB" sz="2000" dirty="0"/>
              <a:t>, </a:t>
            </a:r>
            <a:r>
              <a:rPr lang="en-GB" sz="2000" dirty="0" err="1"/>
              <a:t>lisakirjeldused</a:t>
            </a:r>
            <a:r>
              <a:rPr lang="en-GB" sz="2000" dirty="0"/>
              <a:t>, </a:t>
            </a:r>
            <a:r>
              <a:rPr lang="en-GB" sz="2000" dirty="0" err="1"/>
              <a:t>ajatempel</a:t>
            </a:r>
            <a:endParaRPr lang="en-GB" sz="2000" dirty="0"/>
          </a:p>
          <a:p>
            <a:pPr lvl="1"/>
            <a:r>
              <a:rPr lang="en-GB" sz="2000" dirty="0" err="1"/>
              <a:t>Lehtede</a:t>
            </a:r>
            <a:r>
              <a:rPr lang="en-GB" sz="2000" dirty="0"/>
              <a:t> </a:t>
            </a:r>
            <a:r>
              <a:rPr lang="en-GB" sz="2000" dirty="0" err="1"/>
              <a:t>järjestus</a:t>
            </a:r>
            <a:endParaRPr lang="en-GB" sz="2000" dirty="0"/>
          </a:p>
          <a:p>
            <a:pPr lvl="1"/>
            <a:r>
              <a:rPr lang="en-GB" sz="2000" dirty="0" err="1"/>
              <a:t>Navigatsioon</a:t>
            </a:r>
            <a:r>
              <a:rPr lang="en-GB" sz="2000" dirty="0"/>
              <a:t>: </a:t>
            </a:r>
            <a:r>
              <a:rPr lang="en-GB" sz="2000" dirty="0" err="1"/>
              <a:t>navigatsiooni</a:t>
            </a:r>
            <a:r>
              <a:rPr lang="en-GB" sz="2000" dirty="0"/>
              <a:t> </a:t>
            </a:r>
            <a:r>
              <a:rPr lang="en-GB" sz="2000" dirty="0" err="1"/>
              <a:t>leht</a:t>
            </a:r>
            <a:r>
              <a:rPr lang="en-GB" sz="2000" dirty="0"/>
              <a:t>, </a:t>
            </a:r>
            <a:r>
              <a:rPr lang="en-GB" sz="2000" dirty="0" err="1"/>
              <a:t>nupud</a:t>
            </a:r>
            <a:endParaRPr lang="en-GB" sz="2000" dirty="0"/>
          </a:p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visuaalne</a:t>
            </a:r>
            <a:r>
              <a:rPr lang="en-GB" sz="2000" dirty="0"/>
              <a:t> pool – </a:t>
            </a:r>
            <a:r>
              <a:rPr lang="en-GB" sz="2000" dirty="0" err="1"/>
              <a:t>kujundus</a:t>
            </a:r>
            <a:r>
              <a:rPr lang="en-GB" sz="2000" dirty="0"/>
              <a:t> </a:t>
            </a:r>
            <a:r>
              <a:rPr lang="en-GB" sz="2000" dirty="0" err="1"/>
              <a:t>annab</a:t>
            </a:r>
            <a:r>
              <a:rPr lang="en-GB" sz="2000" dirty="0"/>
              <a:t> </a:t>
            </a:r>
            <a:r>
              <a:rPr lang="en-GB" sz="2000" dirty="0" err="1"/>
              <a:t>palju</a:t>
            </a:r>
            <a:r>
              <a:rPr lang="en-GB" sz="2000" dirty="0"/>
              <a:t> </a:t>
            </a:r>
            <a:r>
              <a:rPr lang="en-GB" sz="2000" dirty="0" err="1"/>
              <a:t>juurde</a:t>
            </a:r>
            <a:r>
              <a:rPr lang="en-GB" sz="2000" dirty="0"/>
              <a:t> </a:t>
            </a:r>
            <a:r>
              <a:rPr lang="en-GB" sz="2000" dirty="0" err="1"/>
              <a:t>usaldatavust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loetavust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1844406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1114</TotalTime>
  <Words>2128</Words>
  <Application>Microsoft Office PowerPoint</Application>
  <PresentationFormat>Widescreen</PresentationFormat>
  <Paragraphs>258</Paragraphs>
  <Slides>41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Inter Bold</vt:lpstr>
      <vt:lpstr>Courier New</vt:lpstr>
      <vt:lpstr>Arial</vt:lpstr>
      <vt:lpstr>Inter</vt:lpstr>
      <vt:lpstr>Wingdings</vt:lpstr>
      <vt:lpstr>Poppins SemiBold</vt:lpstr>
      <vt:lpstr>Calibri</vt:lpstr>
      <vt:lpstr>BCS</vt:lpstr>
      <vt:lpstr>Vali Andmetarkus!</vt:lpstr>
      <vt:lpstr>Päevakava - III päev</vt:lpstr>
      <vt:lpstr>Power BI – Päringud (M-language)</vt:lpstr>
      <vt:lpstr>PowerPoint Presentation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Mis me POWER Bis õppinud oleme</vt:lpstr>
      <vt:lpstr>Power BI – päringu kaudu tulpade lisamine</vt:lpstr>
      <vt:lpstr>Lõunapaus 12:15-13:15</vt:lpstr>
      <vt:lpstr>Andmete visualiseerimise parimad praktikad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Õige visuaali valimine</vt:lpstr>
      <vt:lpstr>Lugemist visualiseerimise teemal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Power BI Desktop – vormistame raporti</vt:lpstr>
      <vt:lpstr>Raporti loetavus: andmelugu</vt:lpstr>
      <vt:lpstr>Millistele küsimustele vastust otsid?</vt:lpstr>
      <vt:lpstr>Stsenaarium 1: HÄSTI </vt:lpstr>
      <vt:lpstr>⚠️ Stsenaarium 2: HALVASTI </vt:lpstr>
      <vt:lpstr>Power BI Service</vt:lpstr>
      <vt:lpstr>Paus 14:45-15:00</vt:lpstr>
      <vt:lpstr>PowerPoint Presentation</vt:lpstr>
      <vt:lpstr>Andmeloo jutustamine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11</cp:revision>
  <dcterms:created xsi:type="dcterms:W3CDTF">2021-08-27T11:35:28Z</dcterms:created>
  <dcterms:modified xsi:type="dcterms:W3CDTF">2026-09-01T18:17:05Z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