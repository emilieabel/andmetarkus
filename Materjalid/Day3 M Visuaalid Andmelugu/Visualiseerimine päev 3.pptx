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70" r:id="rId10"/>
    <p:sldId id="267" r:id="rId11"/>
    <p:sldId id="265" r:id="rId12"/>
    <p:sldId id="271" r:id="rId13"/>
    <p:sldId id="272" r:id="rId14"/>
    <p:sldId id="273" r:id="rId15"/>
    <p:sldId id="27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F6A7E7-DD9E-4E9C-95E2-27BFAF936C4F}" v="7" dt="2026-08-28T12:56:25.4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modSld">
      <pc:chgData name="Emilie Abel" userId="20dec598-1860-40de-ab3f-181316cc4da6" providerId="ADAL" clId="{3EAE1975-14BE-41D5-9E3B-28573F0EE5DC}" dt="2026-08-28T12:56:25.435" v="8"/>
      <pc:docMkLst>
        <pc:docMk/>
      </pc:docMkLst>
      <pc:sldChg chg="addSp modSp">
        <pc:chgData name="Emilie Abel" userId="20dec598-1860-40de-ab3f-181316cc4da6" providerId="ADAL" clId="{3EAE1975-14BE-41D5-9E3B-28573F0EE5DC}" dt="2026-08-28T12:53:11.369" v="3"/>
        <pc:sldMkLst>
          <pc:docMk/>
          <pc:sldMk cId="3712510639" sldId="271"/>
        </pc:sldMkLst>
        <pc:spChg chg="mod">
          <ac:chgData name="Emilie Abel" userId="20dec598-1860-40de-ab3f-181316cc4da6" providerId="ADAL" clId="{3EAE1975-14BE-41D5-9E3B-28573F0EE5DC}" dt="2026-08-28T12:53:05.734" v="2"/>
          <ac:spMkLst>
            <pc:docMk/>
            <pc:sldMk cId="3712510639" sldId="271"/>
            <ac:spMk id="2" creationId="{94FCF7A6-C222-A7DA-6B43-F9D7AD0A164B}"/>
          </ac:spMkLst>
        </pc:spChg>
        <pc:spChg chg="mod">
          <ac:chgData name="Emilie Abel" userId="20dec598-1860-40de-ab3f-181316cc4da6" providerId="ADAL" clId="{3EAE1975-14BE-41D5-9E3B-28573F0EE5DC}" dt="2026-08-28T12:53:11.369" v="3"/>
          <ac:spMkLst>
            <pc:docMk/>
            <pc:sldMk cId="3712510639" sldId="271"/>
            <ac:spMk id="3" creationId="{A66ADC50-5A1E-1AE7-16D9-9D4C7CAD3AEC}"/>
          </ac:spMkLst>
        </pc:spChg>
        <pc:picChg chg="add">
          <ac:chgData name="Emilie Abel" userId="20dec598-1860-40de-ab3f-181316cc4da6" providerId="ADAL" clId="{3EAE1975-14BE-41D5-9E3B-28573F0EE5DC}" dt="2026-08-28T12:52:13.085" v="0"/>
          <ac:picMkLst>
            <pc:docMk/>
            <pc:sldMk cId="3712510639" sldId="271"/>
            <ac:picMk id="4" creationId="{94DEE7F7-596B-23DD-9013-0B85E17CEC19}"/>
          </ac:picMkLst>
        </pc:picChg>
      </pc:sldChg>
      <pc:sldChg chg="modSp">
        <pc:chgData name="Emilie Abel" userId="20dec598-1860-40de-ab3f-181316cc4da6" providerId="ADAL" clId="{3EAE1975-14BE-41D5-9E3B-28573F0EE5DC}" dt="2026-08-28T12:56:22.998" v="7"/>
        <pc:sldMkLst>
          <pc:docMk/>
          <pc:sldMk cId="1928077864" sldId="272"/>
        </pc:sldMkLst>
        <pc:spChg chg="mod">
          <ac:chgData name="Emilie Abel" userId="20dec598-1860-40de-ab3f-181316cc4da6" providerId="ADAL" clId="{3EAE1975-14BE-41D5-9E3B-28573F0EE5DC}" dt="2026-08-28T12:56:22.998" v="7"/>
          <ac:spMkLst>
            <pc:docMk/>
            <pc:sldMk cId="1928077864" sldId="272"/>
            <ac:spMk id="2" creationId="{0FA6D4EE-C154-4AB8-1445-79A84FCF6E78}"/>
          </ac:spMkLst>
        </pc:spChg>
        <pc:spChg chg="mod">
          <ac:chgData name="Emilie Abel" userId="20dec598-1860-40de-ab3f-181316cc4da6" providerId="ADAL" clId="{3EAE1975-14BE-41D5-9E3B-28573F0EE5DC}" dt="2026-08-28T12:53:52.817" v="4"/>
          <ac:spMkLst>
            <pc:docMk/>
            <pc:sldMk cId="1928077864" sldId="272"/>
            <ac:spMk id="3" creationId="{6E539BBB-4CE6-4B4E-04C4-CEBEFCBC0BD5}"/>
          </ac:spMkLst>
        </pc:spChg>
      </pc:sldChg>
      <pc:sldChg chg="addSp modSp">
        <pc:chgData name="Emilie Abel" userId="20dec598-1860-40de-ab3f-181316cc4da6" providerId="ADAL" clId="{3EAE1975-14BE-41D5-9E3B-28573F0EE5DC}" dt="2026-08-28T12:56:25.435" v="8"/>
        <pc:sldMkLst>
          <pc:docMk/>
          <pc:sldMk cId="3847737916" sldId="273"/>
        </pc:sldMkLst>
        <pc:spChg chg="mod">
          <ac:chgData name="Emilie Abel" userId="20dec598-1860-40de-ab3f-181316cc4da6" providerId="ADAL" clId="{3EAE1975-14BE-41D5-9E3B-28573F0EE5DC}" dt="2026-08-28T12:56:25.435" v="8"/>
          <ac:spMkLst>
            <pc:docMk/>
            <pc:sldMk cId="3847737916" sldId="273"/>
            <ac:spMk id="2" creationId="{BCE757FF-1FE5-C8B6-35F9-0B03C2D78D8E}"/>
          </ac:spMkLst>
        </pc:spChg>
        <pc:spChg chg="mod">
          <ac:chgData name="Emilie Abel" userId="20dec598-1860-40de-ab3f-181316cc4da6" providerId="ADAL" clId="{3EAE1975-14BE-41D5-9E3B-28573F0EE5DC}" dt="2026-08-28T12:55:14.877" v="6"/>
          <ac:spMkLst>
            <pc:docMk/>
            <pc:sldMk cId="3847737916" sldId="273"/>
            <ac:spMk id="3" creationId="{5E294C94-F2AA-F14B-0ABD-686DEE48C879}"/>
          </ac:spMkLst>
        </pc:spChg>
        <pc:picChg chg="add">
          <ac:chgData name="Emilie Abel" userId="20dec598-1860-40de-ab3f-181316cc4da6" providerId="ADAL" clId="{3EAE1975-14BE-41D5-9E3B-28573F0EE5DC}" dt="2026-08-28T12:55:00.337" v="5"/>
          <ac:picMkLst>
            <pc:docMk/>
            <pc:sldMk cId="3847737916" sldId="273"/>
            <ac:picMk id="4" creationId="{F6BA9306-AE9A-CD3F-EDD9-334AF6F37AB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062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5284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83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0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005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7759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918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1139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8221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482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0253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351B17E-BCCC-43D6-AB44-9C55EEECE1D8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669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0539-5FA6-1138-40E1-09530DFAF6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päev</a:t>
            </a:r>
            <a:r>
              <a:rPr lang="en-GB" dirty="0"/>
              <a:t>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E42FD4-8B43-DD26-754C-0828B634DF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315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sz="1600" b="1" dirty="0"/>
              <a:t>4 </a:t>
            </a:r>
            <a:r>
              <a:rPr lang="en-GB" sz="1600" b="1" dirty="0" err="1"/>
              <a:t>Värvipsühholoogia</a:t>
            </a:r>
            <a:r>
              <a:rPr lang="en-GB" sz="1600" b="1" dirty="0"/>
              <a:t> </a:t>
            </a:r>
            <a:r>
              <a:rPr lang="en-GB" sz="1600" b="1" dirty="0" err="1"/>
              <a:t>ja</a:t>
            </a:r>
            <a:r>
              <a:rPr lang="en-GB" sz="1600" b="1" dirty="0"/>
              <a:t> "60-30-10" </a:t>
            </a:r>
            <a:r>
              <a:rPr lang="en-GB" sz="1600" b="1" dirty="0" err="1"/>
              <a:t>reegel</a:t>
            </a:r>
            <a:endParaRPr lang="en-GB" sz="1600" b="1" dirty="0"/>
          </a:p>
          <a:p>
            <a:pPr lvl="1">
              <a:lnSpc>
                <a:spcPct val="170000"/>
              </a:lnSpc>
            </a:pPr>
            <a:r>
              <a:rPr lang="en-GB" sz="1600" dirty="0"/>
              <a:t>Värv on </a:t>
            </a:r>
            <a:r>
              <a:rPr lang="en-GB" sz="1600" dirty="0" err="1"/>
              <a:t>andmete</a:t>
            </a:r>
            <a:r>
              <a:rPr lang="en-GB" sz="1600" dirty="0"/>
              <a:t> </a:t>
            </a:r>
            <a:r>
              <a:rPr lang="en-GB" sz="1600" dirty="0" err="1"/>
              <a:t>visualiseerimises</a:t>
            </a:r>
            <a:r>
              <a:rPr lang="en-GB" sz="1600" dirty="0"/>
              <a:t> </a:t>
            </a:r>
            <a:r>
              <a:rPr lang="en-GB" sz="1600" dirty="0" err="1"/>
              <a:t>kõige</a:t>
            </a:r>
            <a:r>
              <a:rPr lang="en-GB" sz="1600" dirty="0"/>
              <a:t> </a:t>
            </a:r>
            <a:r>
              <a:rPr lang="en-GB" sz="1600" dirty="0" err="1"/>
              <a:t>võimsam</a:t>
            </a:r>
            <a:r>
              <a:rPr lang="en-GB" sz="1600" dirty="0"/>
              <a:t> </a:t>
            </a:r>
            <a:r>
              <a:rPr lang="en-GB" sz="1600" dirty="0" err="1"/>
              <a:t>relv</a:t>
            </a:r>
            <a:r>
              <a:rPr lang="en-GB" sz="1600" dirty="0"/>
              <a:t>, </a:t>
            </a:r>
            <a:r>
              <a:rPr lang="en-GB" sz="1600" dirty="0" err="1"/>
              <a:t>kuid</a:t>
            </a:r>
            <a:r>
              <a:rPr lang="en-GB" sz="1600" dirty="0"/>
              <a:t> </a:t>
            </a:r>
            <a:r>
              <a:rPr lang="en-GB" sz="1600" dirty="0" err="1"/>
              <a:t>seda</a:t>
            </a:r>
            <a:r>
              <a:rPr lang="en-GB" sz="1600" dirty="0"/>
              <a:t> </a:t>
            </a:r>
            <a:r>
              <a:rPr lang="en-GB" sz="1600" dirty="0" err="1"/>
              <a:t>kuritarvitatakse</a:t>
            </a:r>
            <a:r>
              <a:rPr lang="en-GB" sz="1600" dirty="0"/>
              <a:t> </a:t>
            </a:r>
            <a:r>
              <a:rPr lang="en-GB" sz="1600" dirty="0" err="1"/>
              <a:t>kõige</a:t>
            </a:r>
            <a:r>
              <a:rPr lang="en-GB" sz="1600" dirty="0"/>
              <a:t> </a:t>
            </a:r>
            <a:r>
              <a:rPr lang="en-GB" sz="1600" dirty="0" err="1"/>
              <a:t>sagedamini</a:t>
            </a:r>
            <a:r>
              <a:rPr lang="en-GB" sz="1600" dirty="0"/>
              <a:t>. </a:t>
            </a:r>
            <a:r>
              <a:rPr lang="en-GB" sz="1600" dirty="0" err="1"/>
              <a:t>Liiga</a:t>
            </a:r>
            <a:r>
              <a:rPr lang="en-GB" sz="1600" dirty="0"/>
              <a:t> </a:t>
            </a:r>
            <a:r>
              <a:rPr lang="en-GB" sz="1600" dirty="0" err="1"/>
              <a:t>palju</a:t>
            </a:r>
            <a:r>
              <a:rPr lang="en-GB" sz="1600" dirty="0"/>
              <a:t> </a:t>
            </a:r>
            <a:r>
              <a:rPr lang="en-GB" sz="1600" dirty="0" err="1"/>
              <a:t>värve</a:t>
            </a:r>
            <a:r>
              <a:rPr lang="en-GB" sz="1600" dirty="0"/>
              <a:t> </a:t>
            </a:r>
            <a:r>
              <a:rPr lang="en-GB" sz="1600" dirty="0" err="1"/>
              <a:t>tekitab</a:t>
            </a:r>
            <a:r>
              <a:rPr lang="en-GB" sz="1600" dirty="0"/>
              <a:t> </a:t>
            </a:r>
            <a:r>
              <a:rPr lang="en-GB" sz="1600" dirty="0" err="1"/>
              <a:t>visuaalset</a:t>
            </a:r>
            <a:r>
              <a:rPr lang="en-GB" sz="1600" dirty="0"/>
              <a:t> </a:t>
            </a:r>
            <a:r>
              <a:rPr lang="en-GB" sz="1600" dirty="0" err="1"/>
              <a:t>müra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aju</a:t>
            </a:r>
            <a:r>
              <a:rPr lang="en-GB" sz="1600" dirty="0"/>
              <a:t> </a:t>
            </a:r>
            <a:r>
              <a:rPr lang="en-GB" sz="1600" dirty="0" err="1"/>
              <a:t>lülitub</a:t>
            </a:r>
            <a:r>
              <a:rPr lang="en-GB" sz="1600" dirty="0"/>
              <a:t> </a:t>
            </a:r>
            <a:r>
              <a:rPr lang="en-GB" sz="1600" dirty="0" err="1"/>
              <a:t>välja</a:t>
            </a:r>
            <a:r>
              <a:rPr lang="en-GB" sz="16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sz="1600" b="1" dirty="0" err="1"/>
              <a:t>Reegel</a:t>
            </a:r>
            <a:r>
              <a:rPr lang="en-GB" sz="1600" b="1" dirty="0"/>
              <a:t>: </a:t>
            </a:r>
            <a:r>
              <a:rPr lang="en-GB" sz="1600" b="1" dirty="0" err="1"/>
              <a:t>Ära</a:t>
            </a:r>
            <a:r>
              <a:rPr lang="en-GB" sz="1600" b="1" dirty="0"/>
              <a:t> </a:t>
            </a:r>
            <a:r>
              <a:rPr lang="en-GB" sz="1600" b="1" dirty="0" err="1"/>
              <a:t>kasuta</a:t>
            </a:r>
            <a:r>
              <a:rPr lang="en-GB" sz="1600" b="1" dirty="0"/>
              <a:t> </a:t>
            </a:r>
            <a:r>
              <a:rPr lang="en-GB" sz="1600" b="1" dirty="0" err="1"/>
              <a:t>üle</a:t>
            </a:r>
            <a:r>
              <a:rPr lang="en-GB" sz="1600" b="1" dirty="0"/>
              <a:t> 3 </a:t>
            </a:r>
            <a:r>
              <a:rPr lang="en-GB" sz="1600" b="1" dirty="0" err="1"/>
              <a:t>põhivärvi</a:t>
            </a:r>
            <a:endParaRPr lang="en-GB" sz="1600" b="1" dirty="0"/>
          </a:p>
          <a:p>
            <a:pPr lvl="1">
              <a:lnSpc>
                <a:spcPct val="170000"/>
              </a:lnSpc>
            </a:pPr>
            <a:r>
              <a:rPr lang="en-GB" sz="1600" b="1" dirty="0"/>
              <a:t>60% </a:t>
            </a:r>
            <a:r>
              <a:rPr lang="en-GB" sz="1600" b="1" dirty="0" err="1"/>
              <a:t>Domineeriv</a:t>
            </a:r>
            <a:r>
              <a:rPr lang="en-GB" sz="1600" b="1" dirty="0"/>
              <a:t> </a:t>
            </a:r>
            <a:r>
              <a:rPr lang="en-GB" sz="1600" b="1" dirty="0" err="1"/>
              <a:t>taustajõud</a:t>
            </a:r>
            <a:r>
              <a:rPr lang="en-GB" sz="1600" b="1" dirty="0"/>
              <a:t> </a:t>
            </a:r>
            <a:r>
              <a:rPr lang="en-GB" sz="1600" dirty="0"/>
              <a:t>(Hall/Valge): </a:t>
            </a:r>
            <a:r>
              <a:rPr lang="en-GB" sz="1600" dirty="0" err="1"/>
              <a:t>Raporti</a:t>
            </a:r>
            <a:r>
              <a:rPr lang="en-GB" sz="1600" dirty="0"/>
              <a:t> </a:t>
            </a:r>
            <a:r>
              <a:rPr lang="en-GB" sz="1600" dirty="0" err="1"/>
              <a:t>taust</a:t>
            </a:r>
            <a:r>
              <a:rPr lang="en-GB" sz="1600" dirty="0"/>
              <a:t>, </a:t>
            </a:r>
            <a:r>
              <a:rPr lang="en-GB" sz="1600" dirty="0" err="1"/>
              <a:t>graafikute</a:t>
            </a:r>
            <a:r>
              <a:rPr lang="en-GB" sz="1600" dirty="0"/>
              <a:t> </a:t>
            </a:r>
            <a:r>
              <a:rPr lang="en-GB" sz="1600" dirty="0" err="1"/>
              <a:t>taustad</a:t>
            </a:r>
            <a:r>
              <a:rPr lang="en-GB" sz="1600" dirty="0"/>
              <a:t>, </a:t>
            </a:r>
            <a:r>
              <a:rPr lang="en-GB" sz="1600" dirty="0" err="1"/>
              <a:t>teljed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tekstid</a:t>
            </a:r>
            <a:r>
              <a:rPr lang="en-GB" sz="1600" dirty="0"/>
              <a:t> </a:t>
            </a:r>
            <a:r>
              <a:rPr lang="en-GB" sz="1600" dirty="0" err="1"/>
              <a:t>peaksid</a:t>
            </a:r>
            <a:r>
              <a:rPr lang="en-GB" sz="1600" dirty="0"/>
              <a:t> </a:t>
            </a:r>
            <a:r>
              <a:rPr lang="en-GB" sz="1600" dirty="0" err="1"/>
              <a:t>olema</a:t>
            </a:r>
            <a:r>
              <a:rPr lang="en-GB" sz="1600" dirty="0"/>
              <a:t> </a:t>
            </a:r>
            <a:r>
              <a:rPr lang="en-GB" sz="1600" dirty="0" err="1"/>
              <a:t>neutraalsed</a:t>
            </a:r>
            <a:r>
              <a:rPr lang="en-GB" sz="1600" dirty="0"/>
              <a:t> (</a:t>
            </a:r>
            <a:r>
              <a:rPr lang="en-GB" sz="1600" dirty="0" err="1"/>
              <a:t>erinevad</a:t>
            </a:r>
            <a:r>
              <a:rPr lang="en-GB" sz="1600" dirty="0"/>
              <a:t> halli </a:t>
            </a:r>
            <a:r>
              <a:rPr lang="en-GB" sz="1600" dirty="0" err="1"/>
              <a:t>varjundid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valge</a:t>
            </a:r>
            <a:r>
              <a:rPr lang="en-GB" sz="1600" dirty="0"/>
              <a:t>). Hall </a:t>
            </a:r>
            <a:r>
              <a:rPr lang="en-GB" sz="1600" dirty="0" err="1"/>
              <a:t>ei</a:t>
            </a:r>
            <a:r>
              <a:rPr lang="en-GB" sz="1600" dirty="0"/>
              <a:t> </a:t>
            </a:r>
            <a:r>
              <a:rPr lang="en-GB" sz="1600" dirty="0" err="1"/>
              <a:t>karju</a:t>
            </a:r>
            <a:r>
              <a:rPr lang="en-GB" sz="1600" dirty="0"/>
              <a:t> </a:t>
            </a:r>
            <a:r>
              <a:rPr lang="en-GB" sz="1600" dirty="0" err="1"/>
              <a:t>tähelepanu</a:t>
            </a:r>
            <a:r>
              <a:rPr lang="en-GB" sz="1600" dirty="0"/>
              <a:t> </a:t>
            </a:r>
            <a:r>
              <a:rPr lang="en-GB" sz="1600" dirty="0" err="1"/>
              <a:t>järele</a:t>
            </a:r>
            <a:r>
              <a:rPr lang="en-GB" sz="1600" dirty="0"/>
              <a:t>, see </a:t>
            </a:r>
            <a:r>
              <a:rPr lang="en-GB" sz="1600" dirty="0" err="1"/>
              <a:t>loob</a:t>
            </a:r>
            <a:r>
              <a:rPr lang="en-GB" sz="1600" dirty="0"/>
              <a:t> </a:t>
            </a:r>
            <a:r>
              <a:rPr lang="en-GB" sz="1600" dirty="0" err="1"/>
              <a:t>lõuendi</a:t>
            </a:r>
            <a:r>
              <a:rPr lang="en-GB" sz="1600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sz="1600" b="1" dirty="0"/>
              <a:t>30% </a:t>
            </a:r>
            <a:r>
              <a:rPr lang="en-GB" sz="1600" b="1" dirty="0" err="1"/>
              <a:t>Struktuurivärv</a:t>
            </a:r>
            <a:r>
              <a:rPr lang="en-GB" sz="1600" b="1" dirty="0"/>
              <a:t> (</a:t>
            </a:r>
            <a:r>
              <a:rPr lang="en-GB" sz="1600" b="1" dirty="0" err="1"/>
              <a:t>Brändivärv</a:t>
            </a:r>
            <a:r>
              <a:rPr lang="en-GB" sz="1600" b="1" dirty="0"/>
              <a:t>): </a:t>
            </a:r>
            <a:r>
              <a:rPr lang="en-GB" sz="1600" dirty="0"/>
              <a:t>Sinu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kliendi</a:t>
            </a:r>
            <a:r>
              <a:rPr lang="en-GB" sz="1600" dirty="0"/>
              <a:t> </a:t>
            </a:r>
            <a:r>
              <a:rPr lang="en-GB" sz="1600" dirty="0" err="1"/>
              <a:t>ettevõtte</a:t>
            </a:r>
            <a:r>
              <a:rPr lang="en-GB" sz="1600" dirty="0"/>
              <a:t> </a:t>
            </a:r>
            <a:r>
              <a:rPr lang="en-GB" sz="1600" dirty="0" err="1"/>
              <a:t>põhivärv</a:t>
            </a:r>
            <a:r>
              <a:rPr lang="en-GB" sz="1600" dirty="0"/>
              <a:t>. Seda </a:t>
            </a:r>
            <a:r>
              <a:rPr lang="en-GB" sz="1600" dirty="0" err="1"/>
              <a:t>kasutatakse</a:t>
            </a:r>
            <a:r>
              <a:rPr lang="en-GB" sz="1600" dirty="0"/>
              <a:t> </a:t>
            </a:r>
            <a:r>
              <a:rPr lang="en-GB" sz="1600" dirty="0" err="1"/>
              <a:t>tavaliste</a:t>
            </a:r>
            <a:r>
              <a:rPr lang="en-GB" sz="1600" dirty="0"/>
              <a:t> </a:t>
            </a:r>
            <a:r>
              <a:rPr lang="en-GB" sz="1600" dirty="0" err="1"/>
              <a:t>andmete</a:t>
            </a:r>
            <a:r>
              <a:rPr lang="en-GB" sz="1600" dirty="0"/>
              <a:t>, </a:t>
            </a:r>
            <a:r>
              <a:rPr lang="en-GB" sz="1600" dirty="0" err="1"/>
              <a:t>tiitliribade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vaikimisi</a:t>
            </a:r>
            <a:r>
              <a:rPr lang="en-GB" sz="1600" dirty="0"/>
              <a:t> </a:t>
            </a:r>
            <a:r>
              <a:rPr lang="en-GB" sz="1600" dirty="0" err="1"/>
              <a:t>tulpade</a:t>
            </a:r>
            <a:r>
              <a:rPr lang="en-GB" sz="1600" dirty="0"/>
              <a:t> </a:t>
            </a:r>
            <a:r>
              <a:rPr lang="en-GB" sz="1600" dirty="0" err="1"/>
              <a:t>kuvamiseks</a:t>
            </a:r>
            <a:r>
              <a:rPr lang="en-GB" sz="1600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sz="1600" b="1" dirty="0"/>
              <a:t>10% </a:t>
            </a:r>
            <a:r>
              <a:rPr lang="en-GB" sz="1600" b="1" dirty="0" err="1"/>
              <a:t>Aktsentvärv</a:t>
            </a:r>
            <a:r>
              <a:rPr lang="en-GB" sz="1600" b="1" dirty="0"/>
              <a:t> (</a:t>
            </a:r>
            <a:r>
              <a:rPr lang="en-GB" sz="1600" b="1" dirty="0" err="1"/>
              <a:t>Erksad</a:t>
            </a:r>
            <a:r>
              <a:rPr lang="en-GB" sz="1600" b="1" dirty="0"/>
              <a:t> </a:t>
            </a:r>
            <a:r>
              <a:rPr lang="en-GB" sz="1600" b="1" dirty="0" err="1"/>
              <a:t>värvid</a:t>
            </a:r>
            <a:r>
              <a:rPr lang="en-GB" sz="1600" b="1" dirty="0"/>
              <a:t> </a:t>
            </a:r>
            <a:r>
              <a:rPr lang="en-GB" sz="1600" b="1" dirty="0" err="1"/>
              <a:t>tähelepanuks</a:t>
            </a:r>
            <a:r>
              <a:rPr lang="en-GB" sz="1600" b="1" dirty="0"/>
              <a:t>): </a:t>
            </a:r>
            <a:r>
              <a:rPr lang="en-GB" sz="1600" dirty="0"/>
              <a:t>See on Sinu "</a:t>
            </a:r>
            <a:r>
              <a:rPr lang="en-GB" sz="1600" dirty="0" err="1"/>
              <a:t>hoolitse</a:t>
            </a:r>
            <a:r>
              <a:rPr lang="en-GB" sz="1600" dirty="0"/>
              <a:t> </a:t>
            </a:r>
            <a:r>
              <a:rPr lang="en-GB" sz="1600" dirty="0" err="1"/>
              <a:t>selle</a:t>
            </a:r>
            <a:r>
              <a:rPr lang="en-GB" sz="1600" dirty="0"/>
              <a:t> </a:t>
            </a:r>
            <a:r>
              <a:rPr lang="en-GB" sz="1600" dirty="0" err="1"/>
              <a:t>eest</a:t>
            </a:r>
            <a:r>
              <a:rPr lang="en-GB" sz="1600" dirty="0"/>
              <a:t> </a:t>
            </a:r>
            <a:r>
              <a:rPr lang="en-GB" sz="1600" dirty="0" err="1"/>
              <a:t>kohe</a:t>
            </a:r>
            <a:r>
              <a:rPr lang="en-GB" sz="1600" dirty="0"/>
              <a:t>" </a:t>
            </a:r>
            <a:r>
              <a:rPr lang="en-GB" sz="1600" dirty="0" err="1"/>
              <a:t>värv</a:t>
            </a:r>
            <a:r>
              <a:rPr lang="en-GB" sz="1600" dirty="0"/>
              <a:t> (</a:t>
            </a:r>
            <a:r>
              <a:rPr lang="en-GB" sz="1600" dirty="0" err="1"/>
              <a:t>erkpunane</a:t>
            </a:r>
            <a:r>
              <a:rPr lang="en-GB" sz="1600" dirty="0"/>
              <a:t>,, </a:t>
            </a:r>
            <a:r>
              <a:rPr lang="en-GB" sz="1600" dirty="0" err="1"/>
              <a:t>oranž</a:t>
            </a:r>
            <a:r>
              <a:rPr lang="en-GB" sz="1600" dirty="0"/>
              <a:t>). Seda </a:t>
            </a:r>
            <a:r>
              <a:rPr lang="en-GB" sz="1600" dirty="0" err="1"/>
              <a:t>kasutatakse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siis</a:t>
            </a:r>
            <a:r>
              <a:rPr lang="en-GB" sz="1600" dirty="0"/>
              <a:t>, </a:t>
            </a:r>
            <a:r>
              <a:rPr lang="en-GB" sz="1600" dirty="0" err="1"/>
              <a:t>kui</a:t>
            </a:r>
            <a:r>
              <a:rPr lang="en-GB" sz="1600" dirty="0"/>
              <a:t> </a:t>
            </a:r>
            <a:r>
              <a:rPr lang="en-GB" sz="1600" dirty="0" err="1"/>
              <a:t>midagi</a:t>
            </a:r>
            <a:r>
              <a:rPr lang="en-GB" sz="1600" dirty="0"/>
              <a:t> on </a:t>
            </a:r>
            <a:r>
              <a:rPr lang="en-GB" sz="1600" dirty="0" err="1"/>
              <a:t>valesti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vajab</a:t>
            </a:r>
            <a:r>
              <a:rPr lang="en-GB" sz="1600" dirty="0"/>
              <a:t> </a:t>
            </a:r>
            <a:r>
              <a:rPr lang="en-GB" sz="1600" dirty="0" err="1"/>
              <a:t>kriitilist</a:t>
            </a:r>
            <a:r>
              <a:rPr lang="en-GB" sz="1600" dirty="0"/>
              <a:t> </a:t>
            </a:r>
            <a:r>
              <a:rPr lang="en-GB" sz="1600" dirty="0" err="1"/>
              <a:t>tähelepanu</a:t>
            </a:r>
            <a:r>
              <a:rPr lang="en-GB" sz="1600" dirty="0"/>
              <a:t> (</a:t>
            </a:r>
            <a:r>
              <a:rPr lang="en-GB" sz="1600" dirty="0" err="1"/>
              <a:t>nt</a:t>
            </a:r>
            <a:r>
              <a:rPr lang="en-GB" sz="1600" dirty="0"/>
              <a:t> </a:t>
            </a:r>
            <a:r>
              <a:rPr lang="en-GB" sz="1600" dirty="0" err="1"/>
              <a:t>kui</a:t>
            </a:r>
            <a:r>
              <a:rPr lang="en-GB" sz="1600" dirty="0"/>
              <a:t> Sentiment Gap </a:t>
            </a:r>
            <a:r>
              <a:rPr lang="en-GB" sz="1600" dirty="0" err="1"/>
              <a:t>läheb</a:t>
            </a:r>
            <a:r>
              <a:rPr lang="en-GB" sz="1600" dirty="0"/>
              <a:t> </a:t>
            </a:r>
            <a:r>
              <a:rPr lang="en-GB" sz="1600" dirty="0" err="1"/>
              <a:t>punasesse</a:t>
            </a:r>
            <a:r>
              <a:rPr lang="en-GB" sz="1600" dirty="0"/>
              <a:t> </a:t>
            </a:r>
            <a:r>
              <a:rPr lang="en-GB" sz="1600" dirty="0" err="1"/>
              <a:t>tsooni</a:t>
            </a:r>
            <a:r>
              <a:rPr lang="en-GB" sz="1600" dirty="0"/>
              <a:t>). </a:t>
            </a:r>
            <a:r>
              <a:rPr lang="en-GB" sz="1600" dirty="0" err="1"/>
              <a:t>Erista</a:t>
            </a:r>
            <a:r>
              <a:rPr lang="en-GB" sz="1600" dirty="0"/>
              <a:t> </a:t>
            </a:r>
            <a:r>
              <a:rPr lang="en-GB" sz="1600" dirty="0" err="1"/>
              <a:t>vaid</a:t>
            </a:r>
            <a:r>
              <a:rPr lang="en-GB" sz="1600" dirty="0"/>
              <a:t> </a:t>
            </a:r>
            <a:r>
              <a:rPr lang="en-GB" sz="1600" dirty="0" err="1"/>
              <a:t>olulist</a:t>
            </a:r>
            <a:r>
              <a:rPr lang="en-GB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GB" b="1" dirty="0" err="1"/>
              <a:t>Viie</a:t>
            </a:r>
            <a:r>
              <a:rPr lang="en-GB" b="1" dirty="0"/>
              <a:t> </a:t>
            </a:r>
            <a:r>
              <a:rPr lang="en-GB" b="1" dirty="0" err="1"/>
              <a:t>sekundi</a:t>
            </a:r>
            <a:r>
              <a:rPr lang="en-GB" b="1" dirty="0"/>
              <a:t> test 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üldine</a:t>
            </a:r>
            <a:r>
              <a:rPr lang="en-GB" dirty="0"/>
              <a:t> </a:t>
            </a:r>
            <a:r>
              <a:rPr lang="en-GB" dirty="0" err="1"/>
              <a:t>seisukord</a:t>
            </a:r>
            <a:r>
              <a:rPr lang="en-GB" dirty="0"/>
              <a:t> (</a:t>
            </a:r>
            <a:r>
              <a:rPr lang="en-GB" dirty="0" err="1"/>
              <a:t>hea</a:t>
            </a:r>
            <a:r>
              <a:rPr lang="en-GB" dirty="0"/>
              <a:t> / </a:t>
            </a:r>
            <a:r>
              <a:rPr lang="en-GB" dirty="0" err="1"/>
              <a:t>halb</a:t>
            </a:r>
            <a:r>
              <a:rPr lang="en-GB" dirty="0"/>
              <a:t> / </a:t>
            </a:r>
            <a:r>
              <a:rPr lang="en-GB" dirty="0" err="1"/>
              <a:t>kriitiline</a:t>
            </a:r>
            <a:r>
              <a:rPr lang="en-GB" dirty="0"/>
              <a:t>) on </a:t>
            </a:r>
            <a:r>
              <a:rPr lang="en-GB" dirty="0" err="1"/>
              <a:t>arusaadav</a:t>
            </a:r>
            <a:r>
              <a:rPr lang="en-GB" dirty="0"/>
              <a:t> </a:t>
            </a:r>
            <a:r>
              <a:rPr lang="en-GB" dirty="0" err="1"/>
              <a:t>vähem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5 </a:t>
            </a:r>
            <a:r>
              <a:rPr lang="en-GB" dirty="0" err="1"/>
              <a:t>sekundiga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</a:t>
            </a:r>
            <a:r>
              <a:rPr lang="en-GB" dirty="0" err="1"/>
              <a:t>numbrid</a:t>
            </a:r>
            <a:r>
              <a:rPr lang="en-GB" dirty="0"/>
              <a:t> (KPI-d)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vasakus</a:t>
            </a:r>
            <a:r>
              <a:rPr lang="en-GB" dirty="0"/>
              <a:t> </a:t>
            </a:r>
            <a:r>
              <a:rPr lang="en-GB" dirty="0" err="1"/>
              <a:t>ülemises</a:t>
            </a:r>
            <a:r>
              <a:rPr lang="en-GB" dirty="0"/>
              <a:t> </a:t>
            </a:r>
            <a:r>
              <a:rPr lang="en-GB" dirty="0" err="1"/>
              <a:t>nurgas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aru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miski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kiiret</a:t>
            </a:r>
            <a:r>
              <a:rPr lang="en-GB" dirty="0"/>
              <a:t> </a:t>
            </a:r>
            <a:r>
              <a:rPr lang="en-GB" dirty="0" err="1"/>
              <a:t>sekkumist</a:t>
            </a:r>
            <a:r>
              <a:rPr lang="en-GB" dirty="0"/>
              <a:t>?</a:t>
            </a:r>
          </a:p>
          <a:p>
            <a:pPr marL="0" indent="0">
              <a:buNone/>
            </a:pPr>
            <a:r>
              <a:rPr lang="en-GB" b="1" dirty="0"/>
              <a:t>2.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visuaalne</a:t>
            </a:r>
            <a:r>
              <a:rPr lang="en-GB" b="1" dirty="0"/>
              <a:t> </a:t>
            </a:r>
            <a:r>
              <a:rPr lang="en-GB" b="1" dirty="0" err="1"/>
              <a:t>koormus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värvipalett</a:t>
            </a:r>
            <a:r>
              <a:rPr lang="en-GB" dirty="0"/>
              <a:t> on </a:t>
            </a:r>
            <a:r>
              <a:rPr lang="en-GB" dirty="0" err="1"/>
              <a:t>piiratud</a:t>
            </a:r>
            <a:r>
              <a:rPr lang="en-GB" dirty="0"/>
              <a:t> (</a:t>
            </a:r>
            <a:r>
              <a:rPr lang="en-GB" dirty="0" err="1"/>
              <a:t>soovitavalt</a:t>
            </a:r>
            <a:r>
              <a:rPr lang="en-GB" dirty="0"/>
              <a:t> </a:t>
            </a:r>
            <a:r>
              <a:rPr lang="en-GB" dirty="0" err="1"/>
              <a:t>maksimaalselt</a:t>
            </a:r>
            <a:r>
              <a:rPr lang="en-GB" dirty="0"/>
              <a:t> 2–3 </a:t>
            </a:r>
            <a:r>
              <a:rPr lang="en-GB" dirty="0" err="1"/>
              <a:t>põhivärvi</a:t>
            </a:r>
            <a:r>
              <a:rPr lang="en-GB" dirty="0"/>
              <a:t> + </a:t>
            </a:r>
            <a:r>
              <a:rPr lang="en-GB" dirty="0" err="1"/>
              <a:t>hallid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taustaks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hoiatuste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staatuse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(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tavalise</a:t>
            </a:r>
            <a:r>
              <a:rPr lang="en-GB" dirty="0"/>
              <a:t> </a:t>
            </a:r>
            <a:r>
              <a:rPr lang="en-GB" dirty="0" err="1"/>
              <a:t>kujunduselemendina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piisavalt</a:t>
            </a:r>
            <a:r>
              <a:rPr lang="en-GB" dirty="0"/>
              <a:t> "</a:t>
            </a:r>
            <a:r>
              <a:rPr lang="en-GB" dirty="0" err="1"/>
              <a:t>hingamisruumi</a:t>
            </a:r>
            <a:r>
              <a:rPr lang="en-GB" dirty="0"/>
              <a:t>" (</a:t>
            </a:r>
            <a:r>
              <a:rPr lang="en-GB" dirty="0" err="1"/>
              <a:t>tühja</a:t>
            </a:r>
            <a:r>
              <a:rPr lang="en-GB" dirty="0"/>
              <a:t> </a:t>
            </a:r>
            <a:r>
              <a:rPr lang="en-GB" dirty="0" err="1"/>
              <a:t>valget</a:t>
            </a:r>
            <a:r>
              <a:rPr lang="en-GB" dirty="0"/>
              <a:t> ala), et </a:t>
            </a:r>
            <a:r>
              <a:rPr lang="en-GB" dirty="0" err="1"/>
              <a:t>silm</a:t>
            </a:r>
            <a:r>
              <a:rPr lang="en-GB" dirty="0"/>
              <a:t> </a:t>
            </a:r>
            <a:r>
              <a:rPr lang="en-GB" dirty="0" err="1"/>
              <a:t>saaks</a:t>
            </a:r>
            <a:r>
              <a:rPr lang="en-GB" dirty="0"/>
              <a:t> </a:t>
            </a:r>
            <a:r>
              <a:rPr lang="en-GB" dirty="0" err="1"/>
              <a:t>puhata</a:t>
            </a:r>
            <a:r>
              <a:rPr lang="en-GB" dirty="0"/>
              <a:t>?</a:t>
            </a:r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9912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3255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6582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116" y="1123837"/>
            <a:ext cx="7820690" cy="439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3771900"/>
            <a:ext cx="7315200" cy="308610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092" y="709770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0124" y="3895344"/>
            <a:ext cx="7315200" cy="4119372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602" y="813816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4718304"/>
            <a:ext cx="7315200" cy="185166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499" y="625920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3182" y="4613148"/>
            <a:ext cx="7315200" cy="1796796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182" y="676656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9D975-99C6-BF57-C572-65565056E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Harjutus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904B3-29E4-C3E0-A31D-19657250C0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Sales </a:t>
            </a:r>
            <a:r>
              <a:rPr lang="en-GB" dirty="0" err="1"/>
              <a:t>aruanne</a:t>
            </a:r>
            <a:r>
              <a:rPr lang="en-GB" dirty="0"/>
              <a:t> HARJUTUS 1</a:t>
            </a:r>
          </a:p>
          <a:p>
            <a:r>
              <a:rPr lang="en-GB" dirty="0" err="1"/>
              <a:t>Kujundame</a:t>
            </a:r>
            <a:endParaRPr lang="en-GB" dirty="0"/>
          </a:p>
          <a:p>
            <a:r>
              <a:rPr lang="en-GB" dirty="0" err="1"/>
              <a:t>Testime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57709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136</TotalTime>
  <Words>954</Words>
  <Application>Microsoft Office PowerPoint</Application>
  <PresentationFormat>Widescreen</PresentationFormat>
  <Paragraphs>66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Corbel</vt:lpstr>
      <vt:lpstr>Wingdings 2</vt:lpstr>
      <vt:lpstr>Frame</vt:lpstr>
      <vt:lpstr>Visualiseerimine päev 3</vt:lpstr>
      <vt:lpstr>"ilusaks tegemine“ ja loetavuse parandamine</vt:lpstr>
      <vt:lpstr>Power BI-s kasutame kolme põhilist Gestalt-printsiipi </vt:lpstr>
      <vt:lpstr>Power BI-s kasutame kolme põhilist Gestalt-printsiipi </vt:lpstr>
      <vt:lpstr>Power BI-s kasutame kolme põhilist Gestalt-printsiipi</vt:lpstr>
      <vt:lpstr>Power BI-s kasutame kolme põhilist Gestalt-printsiipi </vt:lpstr>
      <vt:lpstr>Disaini ja kasutajamugavuse kontroll</vt:lpstr>
      <vt:lpstr>Disaini ja kasutajamugavuse kontroll</vt:lpstr>
      <vt:lpstr>Disaini ja kasutajamugavuse kontroll</vt:lpstr>
      <vt:lpstr>Halb näide</vt:lpstr>
      <vt:lpstr>Halb näide</vt:lpstr>
      <vt:lpstr>HEAD NÄITED</vt:lpstr>
      <vt:lpstr>HEAD NÄITED</vt:lpstr>
      <vt:lpstr>HEAD NÄITED</vt:lpstr>
      <vt:lpstr>Harjutus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Emilie Abel</dc:creator>
  <cp:lastModifiedBy>Emilie Abel</cp:lastModifiedBy>
  <cp:revision>1</cp:revision>
  <dcterms:created xsi:type="dcterms:W3CDTF">2026-08-28T10:44:17Z</dcterms:created>
  <dcterms:modified xsi:type="dcterms:W3CDTF">2026-08-28T13:00:58Z</dcterms:modified>
</cp:coreProperties>
</file>