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70" r:id="rId10"/>
    <p:sldId id="267" r:id="rId11"/>
    <p:sldId id="265" r:id="rId12"/>
    <p:sldId id="271" r:id="rId13"/>
    <p:sldId id="272" r:id="rId14"/>
    <p:sldId id="273" r:id="rId15"/>
    <p:sldId id="27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F6A7E7-DD9E-4E9C-95E2-27BFAF936C4F}" v="7" dt="2026-08-28T12:56:25.4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22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ie Abel" userId="20dec598-1860-40de-ab3f-181316cc4da6" providerId="ADAL" clId="{3EAE1975-14BE-41D5-9E3B-28573F0EE5DC}"/>
    <pc:docChg chg="modSld">
      <pc:chgData name="Emilie Abel" userId="20dec598-1860-40de-ab3f-181316cc4da6" providerId="ADAL" clId="{3EAE1975-14BE-41D5-9E3B-28573F0EE5DC}" dt="2026-08-28T12:56:25.435" v="8"/>
      <pc:docMkLst>
        <pc:docMk/>
      </pc:docMkLst>
      <pc:sldChg chg="addSp modSp">
        <pc:chgData name="Emilie Abel" userId="20dec598-1860-40de-ab3f-181316cc4da6" providerId="ADAL" clId="{3EAE1975-14BE-41D5-9E3B-28573F0EE5DC}" dt="2026-08-28T12:53:11.369" v="3"/>
        <pc:sldMkLst>
          <pc:docMk/>
          <pc:sldMk cId="3712510639" sldId="271"/>
        </pc:sldMkLst>
        <pc:spChg chg="mod">
          <ac:chgData name="Emilie Abel" userId="20dec598-1860-40de-ab3f-181316cc4da6" providerId="ADAL" clId="{3EAE1975-14BE-41D5-9E3B-28573F0EE5DC}" dt="2026-08-28T12:53:05.734" v="2"/>
          <ac:spMkLst>
            <pc:docMk/>
            <pc:sldMk cId="3712510639" sldId="271"/>
            <ac:spMk id="2" creationId="{94FCF7A6-C222-A7DA-6B43-F9D7AD0A164B}"/>
          </ac:spMkLst>
        </pc:spChg>
        <pc:spChg chg="mod">
          <ac:chgData name="Emilie Abel" userId="20dec598-1860-40de-ab3f-181316cc4da6" providerId="ADAL" clId="{3EAE1975-14BE-41D5-9E3B-28573F0EE5DC}" dt="2026-08-28T12:53:11.369" v="3"/>
          <ac:spMkLst>
            <pc:docMk/>
            <pc:sldMk cId="3712510639" sldId="271"/>
            <ac:spMk id="3" creationId="{A66ADC50-5A1E-1AE7-16D9-9D4C7CAD3AEC}"/>
          </ac:spMkLst>
        </pc:spChg>
        <pc:picChg chg="add">
          <ac:chgData name="Emilie Abel" userId="20dec598-1860-40de-ab3f-181316cc4da6" providerId="ADAL" clId="{3EAE1975-14BE-41D5-9E3B-28573F0EE5DC}" dt="2026-08-28T12:52:13.085" v="0"/>
          <ac:picMkLst>
            <pc:docMk/>
            <pc:sldMk cId="3712510639" sldId="271"/>
            <ac:picMk id="4" creationId="{94DEE7F7-596B-23DD-9013-0B85E17CEC19}"/>
          </ac:picMkLst>
        </pc:picChg>
      </pc:sldChg>
      <pc:sldChg chg="modSp">
        <pc:chgData name="Emilie Abel" userId="20dec598-1860-40de-ab3f-181316cc4da6" providerId="ADAL" clId="{3EAE1975-14BE-41D5-9E3B-28573F0EE5DC}" dt="2026-08-28T12:56:22.998" v="7"/>
        <pc:sldMkLst>
          <pc:docMk/>
          <pc:sldMk cId="1928077864" sldId="272"/>
        </pc:sldMkLst>
        <pc:spChg chg="mod">
          <ac:chgData name="Emilie Abel" userId="20dec598-1860-40de-ab3f-181316cc4da6" providerId="ADAL" clId="{3EAE1975-14BE-41D5-9E3B-28573F0EE5DC}" dt="2026-08-28T12:56:22.998" v="7"/>
          <ac:spMkLst>
            <pc:docMk/>
            <pc:sldMk cId="1928077864" sldId="272"/>
            <ac:spMk id="2" creationId="{0FA6D4EE-C154-4AB8-1445-79A84FCF6E78}"/>
          </ac:spMkLst>
        </pc:spChg>
        <pc:spChg chg="mod">
          <ac:chgData name="Emilie Abel" userId="20dec598-1860-40de-ab3f-181316cc4da6" providerId="ADAL" clId="{3EAE1975-14BE-41D5-9E3B-28573F0EE5DC}" dt="2026-08-28T12:53:52.817" v="4"/>
          <ac:spMkLst>
            <pc:docMk/>
            <pc:sldMk cId="1928077864" sldId="272"/>
            <ac:spMk id="3" creationId="{6E539BBB-4CE6-4B4E-04C4-CEBEFCBC0BD5}"/>
          </ac:spMkLst>
        </pc:spChg>
      </pc:sldChg>
      <pc:sldChg chg="addSp modSp">
        <pc:chgData name="Emilie Abel" userId="20dec598-1860-40de-ab3f-181316cc4da6" providerId="ADAL" clId="{3EAE1975-14BE-41D5-9E3B-28573F0EE5DC}" dt="2026-08-28T12:56:25.435" v="8"/>
        <pc:sldMkLst>
          <pc:docMk/>
          <pc:sldMk cId="3847737916" sldId="273"/>
        </pc:sldMkLst>
        <pc:spChg chg="mod">
          <ac:chgData name="Emilie Abel" userId="20dec598-1860-40de-ab3f-181316cc4da6" providerId="ADAL" clId="{3EAE1975-14BE-41D5-9E3B-28573F0EE5DC}" dt="2026-08-28T12:56:25.435" v="8"/>
          <ac:spMkLst>
            <pc:docMk/>
            <pc:sldMk cId="3847737916" sldId="273"/>
            <ac:spMk id="2" creationId="{BCE757FF-1FE5-C8B6-35F9-0B03C2D78D8E}"/>
          </ac:spMkLst>
        </pc:spChg>
        <pc:spChg chg="mod">
          <ac:chgData name="Emilie Abel" userId="20dec598-1860-40de-ab3f-181316cc4da6" providerId="ADAL" clId="{3EAE1975-14BE-41D5-9E3B-28573F0EE5DC}" dt="2026-08-28T12:55:14.877" v="6"/>
          <ac:spMkLst>
            <pc:docMk/>
            <pc:sldMk cId="3847737916" sldId="273"/>
            <ac:spMk id="3" creationId="{5E294C94-F2AA-F14B-0ABD-686DEE48C879}"/>
          </ac:spMkLst>
        </pc:spChg>
        <pc:picChg chg="add">
          <ac:chgData name="Emilie Abel" userId="20dec598-1860-40de-ab3f-181316cc4da6" providerId="ADAL" clId="{3EAE1975-14BE-41D5-9E3B-28573F0EE5DC}" dt="2026-08-28T12:55:00.337" v="5"/>
          <ac:picMkLst>
            <pc:docMk/>
            <pc:sldMk cId="3847737916" sldId="273"/>
            <ac:picMk id="4" creationId="{F6BA9306-AE9A-CD3F-EDD9-334AF6F37AB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1B17E-BCCC-43D6-AB44-9C55EEECE1D8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96-ED87-4914-AAB3-B5C318C6CF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062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1B17E-BCCC-43D6-AB44-9C55EEECE1D8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96-ED87-4914-AAB3-B5C318C6CF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5284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1B17E-BCCC-43D6-AB44-9C55EEECE1D8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96-ED87-4914-AAB3-B5C318C6CF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83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1B17E-BCCC-43D6-AB44-9C55EEECE1D8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96-ED87-4914-AAB3-B5C318C6CF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0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1B17E-BCCC-43D6-AB44-9C55EEECE1D8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96-ED87-4914-AAB3-B5C318C6CF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1005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1B17E-BCCC-43D6-AB44-9C55EEECE1D8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96-ED87-4914-AAB3-B5C318C6CF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9775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1B17E-BCCC-43D6-AB44-9C55EEECE1D8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96-ED87-4914-AAB3-B5C318C6CF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918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1B17E-BCCC-43D6-AB44-9C55EEECE1D8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96-ED87-4914-AAB3-B5C318C6CF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1139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1B17E-BCCC-43D6-AB44-9C55EEECE1D8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96-ED87-4914-AAB3-B5C318C6CF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8221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1B17E-BCCC-43D6-AB44-9C55EEECE1D8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96-ED87-4914-AAB3-B5C318C6CF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82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1B17E-BCCC-43D6-AB44-9C55EEECE1D8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96-ED87-4914-AAB3-B5C318C6CF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0253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351B17E-BCCC-43D6-AB44-9C55EEECE1D8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B425A396-ED87-4914-AAB3-B5C318C6CF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69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0539-5FA6-1138-40E1-09530DFAF6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Visualiseerimine</a:t>
            </a:r>
            <a:r>
              <a:rPr lang="en-GB" dirty="0"/>
              <a:t> </a:t>
            </a:r>
            <a:r>
              <a:rPr lang="en-GB" dirty="0" err="1"/>
              <a:t>päev</a:t>
            </a:r>
            <a:r>
              <a:rPr lang="en-GB" dirty="0"/>
              <a:t>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E42FD4-8B43-DD26-754C-0828B634DF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0315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2FC0F-87E5-A764-25BE-2AE9AD903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"</a:t>
            </a:r>
            <a:r>
              <a:rPr lang="en-GB" dirty="0" err="1"/>
              <a:t>ilusaks</a:t>
            </a:r>
            <a:r>
              <a:rPr lang="en-GB" dirty="0"/>
              <a:t> </a:t>
            </a:r>
            <a:r>
              <a:rPr lang="en-GB" dirty="0" err="1"/>
              <a:t>tegemine</a:t>
            </a:r>
            <a:r>
              <a:rPr lang="en-GB" dirty="0"/>
              <a:t>“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loetavuse</a:t>
            </a:r>
            <a:r>
              <a:rPr lang="en-GB" dirty="0"/>
              <a:t> </a:t>
            </a:r>
            <a:r>
              <a:rPr lang="en-GB" dirty="0" err="1"/>
              <a:t>parandamine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A1EDC-AFDA-5B89-D444-B15F54AEF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Andmete</a:t>
            </a:r>
            <a:r>
              <a:rPr lang="en-GB" dirty="0"/>
              <a:t> </a:t>
            </a:r>
            <a:r>
              <a:rPr lang="en-GB" dirty="0" err="1"/>
              <a:t>visualiseerimine</a:t>
            </a:r>
            <a:r>
              <a:rPr lang="en-GB" dirty="0"/>
              <a:t> </a:t>
            </a:r>
            <a:r>
              <a:rPr lang="en-GB" dirty="0" err="1"/>
              <a:t>ei</a:t>
            </a:r>
            <a:r>
              <a:rPr lang="en-GB" dirty="0"/>
              <a:t> ole </a:t>
            </a:r>
            <a:r>
              <a:rPr lang="en-GB" dirty="0" err="1"/>
              <a:t>graafikute</a:t>
            </a:r>
            <a:r>
              <a:rPr lang="en-GB" dirty="0"/>
              <a:t> "</a:t>
            </a:r>
            <a:r>
              <a:rPr lang="en-GB" dirty="0" err="1"/>
              <a:t>ilusaks</a:t>
            </a:r>
            <a:r>
              <a:rPr lang="en-GB" dirty="0"/>
              <a:t> </a:t>
            </a:r>
            <a:r>
              <a:rPr lang="en-GB" dirty="0" err="1"/>
              <a:t>tegemine</a:t>
            </a:r>
            <a:r>
              <a:rPr lang="en-GB" dirty="0"/>
              <a:t>". See on </a:t>
            </a:r>
            <a:r>
              <a:rPr lang="en-GB" b="1" dirty="0" err="1"/>
              <a:t>kognitiivse</a:t>
            </a:r>
            <a:r>
              <a:rPr lang="en-GB" b="1" dirty="0"/>
              <a:t> </a:t>
            </a:r>
            <a:r>
              <a:rPr lang="en-GB" b="1" dirty="0" err="1"/>
              <a:t>koormuse</a:t>
            </a:r>
            <a:r>
              <a:rPr lang="en-GB" b="1" dirty="0"/>
              <a:t> </a:t>
            </a:r>
            <a:r>
              <a:rPr lang="en-GB" b="1" dirty="0" err="1"/>
              <a:t>vähendamine</a:t>
            </a:r>
            <a:r>
              <a:rPr lang="en-GB" dirty="0"/>
              <a:t>. Kui </a:t>
            </a:r>
            <a:r>
              <a:rPr lang="en-GB" dirty="0" err="1"/>
              <a:t>juhtkond</a:t>
            </a:r>
            <a:r>
              <a:rPr lang="en-GB" dirty="0"/>
              <a:t> </a:t>
            </a:r>
            <a:r>
              <a:rPr lang="en-GB" dirty="0" err="1"/>
              <a:t>või</a:t>
            </a:r>
            <a:r>
              <a:rPr lang="en-GB" dirty="0"/>
              <a:t> </a:t>
            </a:r>
            <a:r>
              <a:rPr lang="en-GB" dirty="0" err="1"/>
              <a:t>analüütik</a:t>
            </a:r>
            <a:r>
              <a:rPr lang="en-GB" dirty="0"/>
              <a:t> </a:t>
            </a:r>
            <a:r>
              <a:rPr lang="en-GB" dirty="0" err="1"/>
              <a:t>vaatab</a:t>
            </a:r>
            <a:r>
              <a:rPr lang="en-GB" dirty="0"/>
              <a:t> </a:t>
            </a:r>
            <a:r>
              <a:rPr lang="en-GB" dirty="0" err="1"/>
              <a:t>raportit</a:t>
            </a:r>
            <a:r>
              <a:rPr lang="en-GB" dirty="0"/>
              <a:t>, </a:t>
            </a:r>
            <a:r>
              <a:rPr lang="en-GB" dirty="0" err="1"/>
              <a:t>kulutab</a:t>
            </a:r>
            <a:r>
              <a:rPr lang="en-GB" dirty="0"/>
              <a:t> </a:t>
            </a:r>
            <a:r>
              <a:rPr lang="en-GB" dirty="0" err="1"/>
              <a:t>tema</a:t>
            </a:r>
            <a:r>
              <a:rPr lang="en-GB" dirty="0"/>
              <a:t> </a:t>
            </a:r>
            <a:r>
              <a:rPr lang="en-GB" dirty="0" err="1"/>
              <a:t>aju</a:t>
            </a:r>
            <a:r>
              <a:rPr lang="en-GB" dirty="0"/>
              <a:t> </a:t>
            </a:r>
            <a:r>
              <a:rPr lang="en-GB" dirty="0" err="1"/>
              <a:t>energiat</a:t>
            </a:r>
            <a:r>
              <a:rPr lang="en-GB" dirty="0"/>
              <a:t> info </a:t>
            </a:r>
            <a:r>
              <a:rPr lang="en-GB" dirty="0" err="1"/>
              <a:t>dešifreerimiseks</a:t>
            </a:r>
            <a:r>
              <a:rPr lang="en-GB" dirty="0"/>
              <a:t>. </a:t>
            </a:r>
          </a:p>
          <a:p>
            <a:r>
              <a:rPr lang="en-GB" dirty="0" err="1"/>
              <a:t>Meie</a:t>
            </a:r>
            <a:r>
              <a:rPr lang="en-GB" dirty="0"/>
              <a:t> </a:t>
            </a:r>
            <a:r>
              <a:rPr lang="en-GB" dirty="0" err="1"/>
              <a:t>eesmärk</a:t>
            </a:r>
            <a:r>
              <a:rPr lang="en-GB" dirty="0"/>
              <a:t> </a:t>
            </a:r>
            <a:r>
              <a:rPr lang="en-GB" dirty="0" err="1"/>
              <a:t>aruande</a:t>
            </a:r>
            <a:r>
              <a:rPr lang="en-GB" dirty="0"/>
              <a:t> </a:t>
            </a:r>
            <a:r>
              <a:rPr lang="en-GB" dirty="0" err="1"/>
              <a:t>disainerina</a:t>
            </a:r>
            <a:r>
              <a:rPr lang="en-GB" dirty="0"/>
              <a:t> on </a:t>
            </a:r>
            <a:r>
              <a:rPr lang="en-GB" dirty="0" err="1"/>
              <a:t>teha</a:t>
            </a:r>
            <a:r>
              <a:rPr lang="en-GB" dirty="0"/>
              <a:t> </a:t>
            </a:r>
            <a:r>
              <a:rPr lang="en-GB" dirty="0" err="1"/>
              <a:t>infost</a:t>
            </a:r>
            <a:r>
              <a:rPr lang="en-GB" dirty="0"/>
              <a:t> </a:t>
            </a:r>
            <a:r>
              <a:rPr lang="en-GB" dirty="0" err="1"/>
              <a:t>arusaamine</a:t>
            </a:r>
            <a:r>
              <a:rPr lang="en-GB" dirty="0"/>
              <a:t> </a:t>
            </a:r>
            <a:r>
              <a:rPr lang="en-GB" dirty="0" err="1"/>
              <a:t>nii</a:t>
            </a:r>
            <a:r>
              <a:rPr lang="en-GB" dirty="0"/>
              <a:t> </a:t>
            </a:r>
            <a:r>
              <a:rPr lang="en-GB" dirty="0" err="1"/>
              <a:t>kiireks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vaevatuks</a:t>
            </a:r>
            <a:r>
              <a:rPr lang="en-GB" dirty="0"/>
              <a:t>, et </a:t>
            </a:r>
            <a:r>
              <a:rPr lang="en-GB" dirty="0" err="1"/>
              <a:t>otsustaja</a:t>
            </a:r>
            <a:r>
              <a:rPr lang="en-GB" dirty="0"/>
              <a:t> </a:t>
            </a:r>
            <a:r>
              <a:rPr lang="en-GB" dirty="0" err="1"/>
              <a:t>saab</a:t>
            </a:r>
            <a:r>
              <a:rPr lang="en-GB" dirty="0"/>
              <a:t> </a:t>
            </a:r>
            <a:r>
              <a:rPr lang="en-GB" dirty="0" err="1"/>
              <a:t>kogu</a:t>
            </a:r>
            <a:r>
              <a:rPr lang="en-GB" dirty="0"/>
              <a:t> </a:t>
            </a:r>
            <a:r>
              <a:rPr lang="en-GB" dirty="0" err="1"/>
              <a:t>oma</a:t>
            </a:r>
            <a:r>
              <a:rPr lang="en-GB" dirty="0"/>
              <a:t> </a:t>
            </a:r>
            <a:r>
              <a:rPr lang="en-GB" dirty="0" err="1"/>
              <a:t>kognitiivse</a:t>
            </a:r>
            <a:r>
              <a:rPr lang="en-GB" dirty="0"/>
              <a:t> </a:t>
            </a:r>
            <a:r>
              <a:rPr lang="en-GB" dirty="0" err="1"/>
              <a:t>ressursi</a:t>
            </a:r>
            <a:r>
              <a:rPr lang="en-GB" dirty="0"/>
              <a:t> </a:t>
            </a:r>
            <a:r>
              <a:rPr lang="en-GB" dirty="0" err="1"/>
              <a:t>suunata</a:t>
            </a:r>
            <a:r>
              <a:rPr lang="en-GB" dirty="0"/>
              <a:t> </a:t>
            </a:r>
            <a:r>
              <a:rPr lang="en-GB" b="1" dirty="0" err="1"/>
              <a:t>otsustamisele</a:t>
            </a:r>
            <a:r>
              <a:rPr lang="en-GB" dirty="0"/>
              <a:t>, </a:t>
            </a:r>
            <a:r>
              <a:rPr lang="en-GB" dirty="0" err="1"/>
              <a:t>mitte</a:t>
            </a:r>
            <a:r>
              <a:rPr lang="en-GB" dirty="0"/>
              <a:t> </a:t>
            </a:r>
            <a:r>
              <a:rPr lang="en-GB" dirty="0" err="1"/>
              <a:t>numbrite</a:t>
            </a:r>
            <a:r>
              <a:rPr lang="en-GB" dirty="0"/>
              <a:t> </a:t>
            </a:r>
            <a:r>
              <a:rPr lang="en-GB" dirty="0" err="1"/>
              <a:t>tagaajamisele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888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B98CE-E357-1ACA-5323-056E1152F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Power BI-s </a:t>
            </a:r>
            <a:r>
              <a:rPr lang="en-GB" dirty="0" err="1"/>
              <a:t>kasutame</a:t>
            </a:r>
            <a:r>
              <a:rPr lang="en-GB" dirty="0"/>
              <a:t> </a:t>
            </a:r>
            <a:r>
              <a:rPr lang="en-GB" dirty="0" err="1"/>
              <a:t>kolme</a:t>
            </a:r>
            <a:r>
              <a:rPr lang="en-GB" dirty="0"/>
              <a:t> </a:t>
            </a:r>
            <a:r>
              <a:rPr lang="en-GB" dirty="0" err="1"/>
              <a:t>põhilist</a:t>
            </a:r>
            <a:r>
              <a:rPr lang="en-GB" dirty="0"/>
              <a:t> Gestalt-</a:t>
            </a:r>
            <a:r>
              <a:rPr lang="en-GB" dirty="0" err="1"/>
              <a:t>printsiipi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4891B-3DC6-D14C-FE24-76C1BCDF0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1 </a:t>
            </a:r>
            <a:r>
              <a:rPr lang="en-GB" b="1" dirty="0" err="1"/>
              <a:t>Läheduse</a:t>
            </a:r>
            <a:r>
              <a:rPr lang="en-GB" b="1" dirty="0"/>
              <a:t> </a:t>
            </a:r>
            <a:r>
              <a:rPr lang="en-GB" b="1" dirty="0" err="1"/>
              <a:t>seadus</a:t>
            </a:r>
            <a:endParaRPr lang="en-GB" b="1" dirty="0"/>
          </a:p>
          <a:p>
            <a:r>
              <a:rPr lang="en-GB" b="1" dirty="0" err="1"/>
              <a:t>Teooria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Objektid</a:t>
            </a:r>
            <a:r>
              <a:rPr lang="en-GB" dirty="0"/>
              <a:t>, mis </a:t>
            </a:r>
            <a:r>
              <a:rPr lang="en-GB" dirty="0" err="1"/>
              <a:t>asuvad</a:t>
            </a:r>
            <a:r>
              <a:rPr lang="en-GB" dirty="0"/>
              <a:t> </a:t>
            </a:r>
            <a:r>
              <a:rPr lang="en-GB" dirty="0" err="1"/>
              <a:t>ruumiliselt</a:t>
            </a:r>
            <a:r>
              <a:rPr lang="en-GB" dirty="0"/>
              <a:t> </a:t>
            </a:r>
            <a:r>
              <a:rPr lang="en-GB" dirty="0" err="1"/>
              <a:t>üksteisele</a:t>
            </a:r>
            <a:r>
              <a:rPr lang="en-GB" dirty="0"/>
              <a:t> </a:t>
            </a:r>
            <a:r>
              <a:rPr lang="en-GB" dirty="0" err="1"/>
              <a:t>lähedal</a:t>
            </a:r>
            <a:r>
              <a:rPr lang="en-GB" dirty="0"/>
              <a:t>, </a:t>
            </a:r>
            <a:r>
              <a:rPr lang="en-GB" dirty="0" err="1"/>
              <a:t>tajutakse</a:t>
            </a:r>
            <a:r>
              <a:rPr lang="en-GB" dirty="0"/>
              <a:t> </a:t>
            </a:r>
            <a:r>
              <a:rPr lang="en-GB" dirty="0" err="1"/>
              <a:t>kuuluvalt</a:t>
            </a:r>
            <a:r>
              <a:rPr lang="en-GB" dirty="0"/>
              <a:t> </a:t>
            </a:r>
            <a:r>
              <a:rPr lang="en-GB" dirty="0" err="1"/>
              <a:t>ühte</a:t>
            </a:r>
            <a:r>
              <a:rPr lang="en-GB" dirty="0"/>
              <a:t> </a:t>
            </a:r>
            <a:r>
              <a:rPr lang="en-GB" dirty="0" err="1"/>
              <a:t>gruppi</a:t>
            </a:r>
            <a:r>
              <a:rPr lang="en-GB" dirty="0"/>
              <a:t>.</a:t>
            </a:r>
          </a:p>
          <a:p>
            <a:pPr lvl="1"/>
            <a:r>
              <a:rPr lang="en-GB" b="1" dirty="0" err="1"/>
              <a:t>Mõju</a:t>
            </a:r>
            <a:r>
              <a:rPr lang="en-GB" b="1" dirty="0"/>
              <a:t> Power BI-s:</a:t>
            </a:r>
            <a:r>
              <a:rPr lang="en-GB" dirty="0"/>
              <a:t> Kui Sul on </a:t>
            </a:r>
            <a:r>
              <a:rPr lang="en-GB" dirty="0" err="1"/>
              <a:t>kolm</a:t>
            </a:r>
            <a:r>
              <a:rPr lang="en-GB" dirty="0"/>
              <a:t> KPI </a:t>
            </a:r>
            <a:r>
              <a:rPr lang="en-GB" dirty="0" err="1"/>
              <a:t>kaarti</a:t>
            </a:r>
            <a:r>
              <a:rPr lang="en-GB" dirty="0"/>
              <a:t> (</a:t>
            </a:r>
            <a:r>
              <a:rPr lang="en-GB" i="1" dirty="0" err="1"/>
              <a:t>Müük</a:t>
            </a:r>
            <a:r>
              <a:rPr lang="en-GB" dirty="0"/>
              <a:t>, </a:t>
            </a:r>
            <a:r>
              <a:rPr lang="en-GB" i="1" dirty="0" err="1"/>
              <a:t>Kasum</a:t>
            </a:r>
            <a:r>
              <a:rPr lang="en-GB" dirty="0"/>
              <a:t>, </a:t>
            </a:r>
            <a:r>
              <a:rPr lang="en-GB" i="1" dirty="0" err="1"/>
              <a:t>Marginaal</a:t>
            </a:r>
            <a:r>
              <a:rPr lang="en-GB" dirty="0"/>
              <a:t>)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kaks</a:t>
            </a:r>
            <a:r>
              <a:rPr lang="en-GB" dirty="0"/>
              <a:t> </a:t>
            </a:r>
            <a:r>
              <a:rPr lang="en-GB" dirty="0" err="1"/>
              <a:t>filtrit</a:t>
            </a:r>
            <a:r>
              <a:rPr lang="en-GB" dirty="0"/>
              <a:t> (</a:t>
            </a:r>
            <a:r>
              <a:rPr lang="en-GB" i="1" dirty="0"/>
              <a:t>Aasta</a:t>
            </a:r>
            <a:r>
              <a:rPr lang="en-GB" dirty="0"/>
              <a:t>, </a:t>
            </a:r>
            <a:r>
              <a:rPr lang="en-GB" i="1" dirty="0" err="1"/>
              <a:t>Regioon</a:t>
            </a:r>
            <a:r>
              <a:rPr lang="en-GB" dirty="0"/>
              <a:t>), </a:t>
            </a:r>
            <a:r>
              <a:rPr lang="en-GB" dirty="0" err="1"/>
              <a:t>siis</a:t>
            </a:r>
            <a:r>
              <a:rPr lang="en-GB" dirty="0"/>
              <a:t> </a:t>
            </a:r>
            <a:r>
              <a:rPr lang="en-GB" dirty="0" err="1"/>
              <a:t>paiguta</a:t>
            </a:r>
            <a:r>
              <a:rPr lang="en-GB" dirty="0"/>
              <a:t> KPI </a:t>
            </a:r>
            <a:r>
              <a:rPr lang="en-GB" dirty="0" err="1"/>
              <a:t>kaardid</a:t>
            </a:r>
            <a:r>
              <a:rPr lang="en-GB" dirty="0"/>
              <a:t> </a:t>
            </a:r>
            <a:r>
              <a:rPr lang="en-GB" dirty="0" err="1"/>
              <a:t>tihedalt</a:t>
            </a:r>
            <a:r>
              <a:rPr lang="en-GB" dirty="0"/>
              <a:t> </a:t>
            </a:r>
            <a:r>
              <a:rPr lang="en-GB" dirty="0" err="1"/>
              <a:t>üksteise</a:t>
            </a:r>
            <a:r>
              <a:rPr lang="en-GB" dirty="0"/>
              <a:t> </a:t>
            </a:r>
            <a:r>
              <a:rPr lang="en-GB" dirty="0" err="1"/>
              <a:t>kõrvale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jäta</a:t>
            </a:r>
            <a:r>
              <a:rPr lang="en-GB" dirty="0"/>
              <a:t> </a:t>
            </a:r>
            <a:r>
              <a:rPr lang="en-GB" dirty="0" err="1"/>
              <a:t>filtrite</a:t>
            </a:r>
            <a:r>
              <a:rPr lang="en-GB" dirty="0"/>
              <a:t> </a:t>
            </a:r>
            <a:r>
              <a:rPr lang="en-GB" dirty="0" err="1"/>
              <a:t>vahele</a:t>
            </a:r>
            <a:r>
              <a:rPr lang="en-GB" dirty="0"/>
              <a:t> </a:t>
            </a:r>
            <a:r>
              <a:rPr lang="en-GB" dirty="0" err="1"/>
              <a:t>suurem</a:t>
            </a:r>
            <a:r>
              <a:rPr lang="en-GB" dirty="0"/>
              <a:t> </a:t>
            </a:r>
            <a:r>
              <a:rPr lang="en-GB" dirty="0" err="1"/>
              <a:t>tühimik</a:t>
            </a:r>
            <a:r>
              <a:rPr lang="en-GB" dirty="0"/>
              <a:t> (</a:t>
            </a:r>
            <a:r>
              <a:rPr lang="en-GB" dirty="0" err="1"/>
              <a:t>valge</a:t>
            </a:r>
            <a:r>
              <a:rPr lang="en-GB" dirty="0"/>
              <a:t> </a:t>
            </a:r>
            <a:r>
              <a:rPr lang="en-GB" dirty="0" err="1"/>
              <a:t>ruum</a:t>
            </a:r>
            <a:r>
              <a:rPr lang="en-GB" dirty="0"/>
              <a:t> </a:t>
            </a:r>
            <a:r>
              <a:rPr lang="en-GB" dirty="0" err="1"/>
              <a:t>ehk</a:t>
            </a:r>
            <a:r>
              <a:rPr lang="en-GB" dirty="0"/>
              <a:t> </a:t>
            </a:r>
            <a:r>
              <a:rPr lang="en-GB" i="1" dirty="0"/>
              <a:t>whitespace</a:t>
            </a:r>
            <a:r>
              <a:rPr lang="en-GB" dirty="0"/>
              <a:t>).</a:t>
            </a:r>
          </a:p>
          <a:p>
            <a:pPr lvl="1"/>
            <a:r>
              <a:rPr lang="en-GB" b="1" dirty="0"/>
              <a:t>Viga, </a:t>
            </a:r>
            <a:r>
              <a:rPr lang="en-GB" b="1" dirty="0" err="1"/>
              <a:t>mida</a:t>
            </a:r>
            <a:r>
              <a:rPr lang="en-GB" b="1" dirty="0"/>
              <a:t> </a:t>
            </a:r>
            <a:r>
              <a:rPr lang="en-GB" b="1" dirty="0" err="1"/>
              <a:t>vältida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Graafikute</a:t>
            </a:r>
            <a:r>
              <a:rPr lang="en-GB" dirty="0"/>
              <a:t> </a:t>
            </a:r>
            <a:r>
              <a:rPr lang="en-GB" dirty="0" err="1"/>
              <a:t>pillutamine</a:t>
            </a:r>
            <a:r>
              <a:rPr lang="en-GB" dirty="0"/>
              <a:t> </a:t>
            </a:r>
            <a:r>
              <a:rPr lang="en-GB" dirty="0" err="1"/>
              <a:t>üle</a:t>
            </a:r>
            <a:r>
              <a:rPr lang="en-GB" dirty="0"/>
              <a:t> </a:t>
            </a:r>
            <a:r>
              <a:rPr lang="en-GB" dirty="0" err="1"/>
              <a:t>ekraani</a:t>
            </a:r>
            <a:r>
              <a:rPr lang="en-GB" dirty="0"/>
              <a:t> </a:t>
            </a:r>
            <a:r>
              <a:rPr lang="en-GB" dirty="0" err="1"/>
              <a:t>võrdsete</a:t>
            </a:r>
            <a:r>
              <a:rPr lang="en-GB" dirty="0"/>
              <a:t> </a:t>
            </a:r>
            <a:r>
              <a:rPr lang="en-GB" dirty="0" err="1"/>
              <a:t>vahedega</a:t>
            </a:r>
            <a:r>
              <a:rPr lang="en-GB" dirty="0"/>
              <a:t>. Kui </a:t>
            </a:r>
            <a:r>
              <a:rPr lang="en-GB" dirty="0" err="1"/>
              <a:t>kõikide</a:t>
            </a:r>
            <a:r>
              <a:rPr lang="en-GB" dirty="0"/>
              <a:t> </a:t>
            </a:r>
            <a:r>
              <a:rPr lang="en-GB" dirty="0" err="1"/>
              <a:t>elementide</a:t>
            </a:r>
            <a:r>
              <a:rPr lang="en-GB" dirty="0"/>
              <a:t> </a:t>
            </a:r>
            <a:r>
              <a:rPr lang="en-GB" dirty="0" err="1"/>
              <a:t>vahel</a:t>
            </a:r>
            <a:r>
              <a:rPr lang="en-GB" dirty="0"/>
              <a:t> on </a:t>
            </a:r>
            <a:r>
              <a:rPr lang="en-GB" dirty="0" err="1"/>
              <a:t>sama</a:t>
            </a:r>
            <a:r>
              <a:rPr lang="en-GB" dirty="0"/>
              <a:t> </a:t>
            </a:r>
            <a:r>
              <a:rPr lang="en-GB" dirty="0" err="1"/>
              <a:t>palju</a:t>
            </a:r>
            <a:r>
              <a:rPr lang="en-GB" dirty="0"/>
              <a:t> </a:t>
            </a:r>
            <a:r>
              <a:rPr lang="en-GB" dirty="0" err="1"/>
              <a:t>ruumi</a:t>
            </a:r>
            <a:r>
              <a:rPr lang="en-GB" dirty="0"/>
              <a:t>, </a:t>
            </a:r>
            <a:r>
              <a:rPr lang="en-GB" dirty="0" err="1"/>
              <a:t>ei</a:t>
            </a:r>
            <a:r>
              <a:rPr lang="en-GB" dirty="0"/>
              <a:t> </a:t>
            </a:r>
            <a:r>
              <a:rPr lang="en-GB" dirty="0" err="1"/>
              <a:t>oska</a:t>
            </a:r>
            <a:r>
              <a:rPr lang="en-GB" dirty="0"/>
              <a:t> </a:t>
            </a:r>
            <a:r>
              <a:rPr lang="en-GB" dirty="0" err="1"/>
              <a:t>aju</a:t>
            </a:r>
            <a:r>
              <a:rPr lang="en-GB" dirty="0"/>
              <a:t> </a:t>
            </a:r>
            <a:r>
              <a:rPr lang="en-GB" dirty="0" err="1"/>
              <a:t>luua</a:t>
            </a:r>
            <a:r>
              <a:rPr lang="en-GB" dirty="0"/>
              <a:t> </a:t>
            </a:r>
            <a:r>
              <a:rPr lang="en-GB" dirty="0" err="1"/>
              <a:t>seoseid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9359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DF56F-DB3E-2797-A817-3708A0DE1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Power BI-s </a:t>
            </a:r>
            <a:r>
              <a:rPr lang="en-GB" dirty="0" err="1"/>
              <a:t>kasutame</a:t>
            </a:r>
            <a:r>
              <a:rPr lang="en-GB" dirty="0"/>
              <a:t> </a:t>
            </a:r>
            <a:r>
              <a:rPr lang="en-GB" dirty="0" err="1"/>
              <a:t>kolme</a:t>
            </a:r>
            <a:r>
              <a:rPr lang="en-GB" dirty="0"/>
              <a:t> </a:t>
            </a:r>
            <a:r>
              <a:rPr lang="en-GB" dirty="0" err="1"/>
              <a:t>põhilist</a:t>
            </a:r>
            <a:r>
              <a:rPr lang="en-GB" dirty="0"/>
              <a:t> Gestalt-</a:t>
            </a:r>
            <a:r>
              <a:rPr lang="en-GB" dirty="0" err="1"/>
              <a:t>printsiipi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98AEB-5B82-1C16-1D0A-20B5D776C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b="1" dirty="0"/>
              <a:t>2 </a:t>
            </a:r>
            <a:r>
              <a:rPr lang="en-GB" b="1" dirty="0" err="1"/>
              <a:t>Sarnasuse</a:t>
            </a:r>
            <a:r>
              <a:rPr lang="en-GB" b="1" dirty="0"/>
              <a:t> </a:t>
            </a:r>
            <a:r>
              <a:rPr lang="en-GB" b="1" dirty="0" err="1"/>
              <a:t>seadus</a:t>
            </a:r>
            <a:endParaRPr lang="en-GB" b="1" dirty="0"/>
          </a:p>
          <a:p>
            <a:pPr lvl="1"/>
            <a:r>
              <a:rPr lang="en-GB" b="1" dirty="0" err="1"/>
              <a:t>Teooria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Objektid</a:t>
            </a:r>
            <a:r>
              <a:rPr lang="en-GB" dirty="0"/>
              <a:t>, mis </a:t>
            </a:r>
            <a:r>
              <a:rPr lang="en-GB" dirty="0" err="1"/>
              <a:t>näevad</a:t>
            </a:r>
            <a:r>
              <a:rPr lang="en-GB" dirty="0"/>
              <a:t> </a:t>
            </a:r>
            <a:r>
              <a:rPr lang="en-GB" dirty="0" err="1"/>
              <a:t>välja</a:t>
            </a:r>
            <a:r>
              <a:rPr lang="en-GB" dirty="0"/>
              <a:t> </a:t>
            </a:r>
            <a:r>
              <a:rPr lang="en-GB" dirty="0" err="1"/>
              <a:t>sarnased</a:t>
            </a:r>
            <a:r>
              <a:rPr lang="en-GB" dirty="0"/>
              <a:t> (</a:t>
            </a:r>
            <a:r>
              <a:rPr lang="en-GB" dirty="0" err="1"/>
              <a:t>sama</a:t>
            </a:r>
            <a:r>
              <a:rPr lang="en-GB" dirty="0"/>
              <a:t> </a:t>
            </a:r>
            <a:r>
              <a:rPr lang="en-GB" dirty="0" err="1"/>
              <a:t>värv</a:t>
            </a:r>
            <a:r>
              <a:rPr lang="en-GB" dirty="0"/>
              <a:t>, </a:t>
            </a:r>
            <a:r>
              <a:rPr lang="en-GB" dirty="0" err="1"/>
              <a:t>kuju</a:t>
            </a:r>
            <a:r>
              <a:rPr lang="en-GB" dirty="0"/>
              <a:t>, </a:t>
            </a:r>
            <a:r>
              <a:rPr lang="en-GB" dirty="0" err="1"/>
              <a:t>suurus</a:t>
            </a:r>
            <a:r>
              <a:rPr lang="en-GB" dirty="0"/>
              <a:t> </a:t>
            </a:r>
            <a:r>
              <a:rPr lang="en-GB" dirty="0" err="1"/>
              <a:t>või</a:t>
            </a:r>
            <a:r>
              <a:rPr lang="en-GB" dirty="0"/>
              <a:t> font), </a:t>
            </a:r>
            <a:r>
              <a:rPr lang="en-GB" dirty="0" err="1"/>
              <a:t>tajutakse</a:t>
            </a:r>
            <a:r>
              <a:rPr lang="en-GB" dirty="0"/>
              <a:t> </a:t>
            </a:r>
            <a:r>
              <a:rPr lang="en-GB" dirty="0" err="1"/>
              <a:t>täitvat</a:t>
            </a:r>
            <a:r>
              <a:rPr lang="en-GB" dirty="0"/>
              <a:t> </a:t>
            </a:r>
            <a:r>
              <a:rPr lang="en-GB" dirty="0" err="1"/>
              <a:t>sama</a:t>
            </a:r>
            <a:r>
              <a:rPr lang="en-GB" dirty="0"/>
              <a:t> </a:t>
            </a:r>
            <a:r>
              <a:rPr lang="en-GB" dirty="0" err="1"/>
              <a:t>funktsiooni</a:t>
            </a:r>
            <a:r>
              <a:rPr lang="en-GB" dirty="0"/>
              <a:t> </a:t>
            </a:r>
            <a:r>
              <a:rPr lang="en-GB" dirty="0" err="1"/>
              <a:t>või</a:t>
            </a:r>
            <a:r>
              <a:rPr lang="en-GB" dirty="0"/>
              <a:t> </a:t>
            </a:r>
            <a:r>
              <a:rPr lang="en-GB" dirty="0" err="1"/>
              <a:t>omavat</a:t>
            </a:r>
            <a:r>
              <a:rPr lang="en-GB" dirty="0"/>
              <a:t> </a:t>
            </a:r>
            <a:r>
              <a:rPr lang="en-GB" dirty="0" err="1"/>
              <a:t>sama</a:t>
            </a:r>
            <a:r>
              <a:rPr lang="en-GB" dirty="0"/>
              <a:t> </a:t>
            </a:r>
            <a:r>
              <a:rPr lang="en-GB" dirty="0" err="1"/>
              <a:t>tähendust</a:t>
            </a:r>
            <a:r>
              <a:rPr lang="en-GB" dirty="0"/>
              <a:t>.</a:t>
            </a:r>
          </a:p>
          <a:p>
            <a:pPr lvl="1"/>
            <a:r>
              <a:rPr lang="en-GB" b="1" dirty="0" err="1"/>
              <a:t>Mõju</a:t>
            </a:r>
            <a:r>
              <a:rPr lang="en-GB" b="1" dirty="0"/>
              <a:t> Power BI-s:</a:t>
            </a:r>
            <a:r>
              <a:rPr lang="en-GB" dirty="0"/>
              <a:t> </a:t>
            </a:r>
            <a:r>
              <a:rPr lang="en-GB" dirty="0" err="1"/>
              <a:t>Kasuta</a:t>
            </a:r>
            <a:r>
              <a:rPr lang="en-GB" dirty="0"/>
              <a:t> </a:t>
            </a:r>
            <a:r>
              <a:rPr lang="en-GB" dirty="0" err="1"/>
              <a:t>funktsionaalset</a:t>
            </a:r>
            <a:r>
              <a:rPr lang="en-GB" dirty="0"/>
              <a:t> </a:t>
            </a:r>
            <a:r>
              <a:rPr lang="en-GB" dirty="0" err="1"/>
              <a:t>järjepidevust</a:t>
            </a:r>
            <a:r>
              <a:rPr lang="en-GB" dirty="0"/>
              <a:t>. Kui </a:t>
            </a:r>
            <a:r>
              <a:rPr lang="en-GB" dirty="0" err="1"/>
              <a:t>üks</a:t>
            </a:r>
            <a:r>
              <a:rPr lang="en-GB" dirty="0"/>
              <a:t> filter (Slicer) on </a:t>
            </a:r>
            <a:r>
              <a:rPr lang="en-GB" dirty="0" err="1"/>
              <a:t>disainitud</a:t>
            </a:r>
            <a:r>
              <a:rPr lang="en-GB" dirty="0"/>
              <a:t> </a:t>
            </a:r>
            <a:r>
              <a:rPr lang="en-GB" dirty="0" err="1"/>
              <a:t>ristkülikukujulise</a:t>
            </a:r>
            <a:r>
              <a:rPr lang="en-GB" dirty="0"/>
              <a:t> </a:t>
            </a:r>
            <a:r>
              <a:rPr lang="en-GB" dirty="0" err="1"/>
              <a:t>nupuna</a:t>
            </a:r>
            <a:r>
              <a:rPr lang="en-GB" dirty="0"/>
              <a:t>, </a:t>
            </a:r>
            <a:r>
              <a:rPr lang="en-GB" dirty="0" err="1"/>
              <a:t>peavad</a:t>
            </a:r>
            <a:r>
              <a:rPr lang="en-GB" dirty="0"/>
              <a:t> ka </a:t>
            </a:r>
            <a:r>
              <a:rPr lang="en-GB" dirty="0" err="1"/>
              <a:t>kõik</a:t>
            </a:r>
            <a:r>
              <a:rPr lang="en-GB" dirty="0"/>
              <a:t> </a:t>
            </a:r>
            <a:r>
              <a:rPr lang="en-GB" dirty="0" err="1"/>
              <a:t>teised</a:t>
            </a:r>
            <a:r>
              <a:rPr lang="en-GB" dirty="0"/>
              <a:t> </a:t>
            </a:r>
            <a:r>
              <a:rPr lang="en-GB" dirty="0" err="1"/>
              <a:t>filtrid</a:t>
            </a:r>
            <a:r>
              <a:rPr lang="en-GB" dirty="0"/>
              <a:t> </a:t>
            </a:r>
            <a:r>
              <a:rPr lang="en-GB" dirty="0" err="1"/>
              <a:t>olema</a:t>
            </a:r>
            <a:r>
              <a:rPr lang="en-GB" dirty="0"/>
              <a:t> </a:t>
            </a:r>
            <a:r>
              <a:rPr lang="en-GB" dirty="0" err="1"/>
              <a:t>samasugused</a:t>
            </a:r>
            <a:r>
              <a:rPr lang="en-GB" dirty="0"/>
              <a:t>. Kui </a:t>
            </a:r>
            <a:r>
              <a:rPr lang="en-GB" dirty="0" err="1"/>
              <a:t>kasutad</a:t>
            </a:r>
            <a:r>
              <a:rPr lang="en-GB" dirty="0"/>
              <a:t> </a:t>
            </a:r>
            <a:r>
              <a:rPr lang="en-GB" dirty="0" err="1"/>
              <a:t>regiooni</a:t>
            </a:r>
            <a:r>
              <a:rPr lang="en-GB" dirty="0"/>
              <a:t> </a:t>
            </a:r>
            <a:r>
              <a:rPr lang="en-GB" dirty="0" err="1"/>
              <a:t>andmete</a:t>
            </a:r>
            <a:r>
              <a:rPr lang="en-GB" dirty="0"/>
              <a:t> </a:t>
            </a:r>
            <a:r>
              <a:rPr lang="en-GB" dirty="0" err="1"/>
              <a:t>tähistamiseks</a:t>
            </a:r>
            <a:r>
              <a:rPr lang="en-GB" dirty="0"/>
              <a:t> </a:t>
            </a:r>
            <a:r>
              <a:rPr lang="en-GB" dirty="0" err="1"/>
              <a:t>tumesiniseid</a:t>
            </a:r>
            <a:r>
              <a:rPr lang="en-GB" dirty="0"/>
              <a:t> </a:t>
            </a:r>
            <a:r>
              <a:rPr lang="en-GB" dirty="0" err="1"/>
              <a:t>tulpi</a:t>
            </a:r>
            <a:r>
              <a:rPr lang="en-GB" dirty="0"/>
              <a:t> </a:t>
            </a:r>
            <a:r>
              <a:rPr lang="en-GB" dirty="0" err="1"/>
              <a:t>ühel</a:t>
            </a:r>
            <a:r>
              <a:rPr lang="en-GB" dirty="0"/>
              <a:t> </a:t>
            </a:r>
            <a:r>
              <a:rPr lang="en-GB" dirty="0" err="1"/>
              <a:t>graafikul</a:t>
            </a:r>
            <a:r>
              <a:rPr lang="en-GB" dirty="0"/>
              <a:t>, </a:t>
            </a:r>
            <a:r>
              <a:rPr lang="en-GB" dirty="0" err="1"/>
              <a:t>peab</a:t>
            </a:r>
            <a:r>
              <a:rPr lang="en-GB" dirty="0"/>
              <a:t> </a:t>
            </a:r>
            <a:r>
              <a:rPr lang="en-GB" dirty="0" err="1"/>
              <a:t>sama</a:t>
            </a:r>
            <a:r>
              <a:rPr lang="en-GB" dirty="0"/>
              <a:t> </a:t>
            </a:r>
            <a:r>
              <a:rPr lang="en-GB" dirty="0" err="1"/>
              <a:t>regioon</a:t>
            </a:r>
            <a:r>
              <a:rPr lang="en-GB" dirty="0"/>
              <a:t> </a:t>
            </a:r>
            <a:r>
              <a:rPr lang="en-GB" dirty="0" err="1"/>
              <a:t>olema</a:t>
            </a:r>
            <a:r>
              <a:rPr lang="en-GB" dirty="0"/>
              <a:t> </a:t>
            </a:r>
            <a:r>
              <a:rPr lang="en-GB" dirty="0" err="1"/>
              <a:t>tumesinine</a:t>
            </a:r>
            <a:r>
              <a:rPr lang="en-GB" dirty="0"/>
              <a:t> </a:t>
            </a:r>
            <a:r>
              <a:rPr lang="en-GB" i="1" dirty="0" err="1"/>
              <a:t>kõikidel</a:t>
            </a:r>
            <a:r>
              <a:rPr lang="en-GB" dirty="0"/>
              <a:t> </a:t>
            </a:r>
            <a:r>
              <a:rPr lang="en-GB" dirty="0" err="1"/>
              <a:t>selle</a:t>
            </a:r>
            <a:r>
              <a:rPr lang="en-GB" dirty="0"/>
              <a:t> </a:t>
            </a:r>
            <a:r>
              <a:rPr lang="en-GB" dirty="0" err="1"/>
              <a:t>lehe</a:t>
            </a:r>
            <a:r>
              <a:rPr lang="en-GB" dirty="0"/>
              <a:t> </a:t>
            </a:r>
            <a:r>
              <a:rPr lang="en-GB" dirty="0" err="1"/>
              <a:t>graafikutel</a:t>
            </a:r>
            <a:r>
              <a:rPr lang="en-GB" dirty="0"/>
              <a:t>.</a:t>
            </a:r>
          </a:p>
          <a:p>
            <a:pPr lvl="1"/>
            <a:r>
              <a:rPr lang="en-GB" b="1" dirty="0"/>
              <a:t>Viga, </a:t>
            </a:r>
            <a:r>
              <a:rPr lang="en-GB" b="1" dirty="0" err="1"/>
              <a:t>mida</a:t>
            </a:r>
            <a:r>
              <a:rPr lang="en-GB" b="1" dirty="0"/>
              <a:t> </a:t>
            </a:r>
            <a:r>
              <a:rPr lang="en-GB" b="1" dirty="0" err="1"/>
              <a:t>vältida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Värvide</a:t>
            </a:r>
            <a:r>
              <a:rPr lang="en-GB" dirty="0"/>
              <a:t> </a:t>
            </a:r>
            <a:r>
              <a:rPr lang="en-GB" dirty="0" err="1"/>
              <a:t>muutmine</a:t>
            </a:r>
            <a:r>
              <a:rPr lang="en-GB" dirty="0"/>
              <a:t> </a:t>
            </a:r>
            <a:r>
              <a:rPr lang="en-GB" dirty="0" err="1"/>
              <a:t>graafikult</a:t>
            </a:r>
            <a:r>
              <a:rPr lang="en-GB" dirty="0"/>
              <a:t> </a:t>
            </a:r>
            <a:r>
              <a:rPr lang="en-GB" dirty="0" err="1"/>
              <a:t>graafikule</a:t>
            </a:r>
            <a:r>
              <a:rPr lang="en-GB" dirty="0"/>
              <a:t>. Kui </a:t>
            </a:r>
            <a:r>
              <a:rPr lang="en-GB" dirty="0" err="1"/>
              <a:t>esimesel</a:t>
            </a:r>
            <a:r>
              <a:rPr lang="en-GB" dirty="0"/>
              <a:t> </a:t>
            </a:r>
            <a:r>
              <a:rPr lang="en-GB" dirty="0" err="1"/>
              <a:t>graafikul</a:t>
            </a:r>
            <a:r>
              <a:rPr lang="en-GB" dirty="0"/>
              <a:t> on VanArsdel </a:t>
            </a:r>
            <a:r>
              <a:rPr lang="en-GB" dirty="0" err="1"/>
              <a:t>sinine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teisel</a:t>
            </a:r>
            <a:r>
              <a:rPr lang="en-GB" dirty="0"/>
              <a:t> </a:t>
            </a:r>
            <a:r>
              <a:rPr lang="en-GB" dirty="0" err="1"/>
              <a:t>roheline</a:t>
            </a:r>
            <a:r>
              <a:rPr lang="en-GB" dirty="0"/>
              <a:t>, </a:t>
            </a:r>
            <a:r>
              <a:rPr lang="en-GB" dirty="0" err="1"/>
              <a:t>kulutab</a:t>
            </a:r>
            <a:r>
              <a:rPr lang="en-GB" dirty="0"/>
              <a:t> </a:t>
            </a:r>
            <a:r>
              <a:rPr lang="en-GB" dirty="0" err="1"/>
              <a:t>kasutaja</a:t>
            </a:r>
            <a:r>
              <a:rPr lang="en-GB" dirty="0"/>
              <a:t> </a:t>
            </a:r>
            <a:r>
              <a:rPr lang="en-GB" dirty="0" err="1"/>
              <a:t>aju</a:t>
            </a:r>
            <a:r>
              <a:rPr lang="en-GB" dirty="0"/>
              <a:t> </a:t>
            </a:r>
            <a:r>
              <a:rPr lang="en-GB" dirty="0" err="1"/>
              <a:t>aega</a:t>
            </a:r>
            <a:r>
              <a:rPr lang="en-GB" dirty="0"/>
              <a:t> </a:t>
            </a:r>
            <a:r>
              <a:rPr lang="en-GB" dirty="0" err="1"/>
              <a:t>ümberharjumisele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9728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5FEE9-EFA6-CA17-18B9-D98F96AE8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Power BI-s </a:t>
            </a:r>
            <a:r>
              <a:rPr lang="en-GB" dirty="0" err="1"/>
              <a:t>kasutame</a:t>
            </a:r>
            <a:r>
              <a:rPr lang="en-GB" dirty="0"/>
              <a:t> </a:t>
            </a:r>
            <a:r>
              <a:rPr lang="en-GB" dirty="0" err="1"/>
              <a:t>kolme</a:t>
            </a:r>
            <a:r>
              <a:rPr lang="en-GB" dirty="0"/>
              <a:t> </a:t>
            </a:r>
            <a:r>
              <a:rPr lang="en-GB" dirty="0" err="1"/>
              <a:t>põhilist</a:t>
            </a:r>
            <a:r>
              <a:rPr lang="en-GB" dirty="0"/>
              <a:t> Gestalt-</a:t>
            </a:r>
            <a:r>
              <a:rPr lang="en-GB" dirty="0" err="1"/>
              <a:t>printsiipi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2A53B-AA69-4488-E6B9-6FD4FD766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3 </a:t>
            </a:r>
            <a:r>
              <a:rPr lang="en-GB" b="1" dirty="0" err="1"/>
              <a:t>Joondatuse</a:t>
            </a:r>
            <a:r>
              <a:rPr lang="en-GB" b="1" dirty="0"/>
              <a:t> </a:t>
            </a:r>
            <a:r>
              <a:rPr lang="en-GB" b="1" dirty="0" err="1"/>
              <a:t>seadus</a:t>
            </a:r>
            <a:endParaRPr lang="en-GB" b="1" dirty="0"/>
          </a:p>
          <a:p>
            <a:pPr lvl="1"/>
            <a:r>
              <a:rPr lang="en-GB" b="1" dirty="0" err="1"/>
              <a:t>Teooria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Inimsilm</a:t>
            </a:r>
            <a:r>
              <a:rPr lang="en-GB" dirty="0"/>
              <a:t> </a:t>
            </a:r>
            <a:r>
              <a:rPr lang="en-GB" dirty="0" err="1"/>
              <a:t>otsib</a:t>
            </a:r>
            <a:r>
              <a:rPr lang="en-GB" dirty="0"/>
              <a:t> </a:t>
            </a:r>
            <a:r>
              <a:rPr lang="en-GB" dirty="0" err="1"/>
              <a:t>instinktiivselt</a:t>
            </a:r>
            <a:r>
              <a:rPr lang="en-GB" dirty="0"/>
              <a:t> </a:t>
            </a:r>
            <a:r>
              <a:rPr lang="en-GB" dirty="0" err="1"/>
              <a:t>jooni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seoseid</a:t>
            </a:r>
            <a:r>
              <a:rPr lang="en-GB" dirty="0"/>
              <a:t>. </a:t>
            </a:r>
            <a:r>
              <a:rPr lang="en-GB" dirty="0" err="1"/>
              <a:t>Sirgjooneliselt</a:t>
            </a:r>
            <a:r>
              <a:rPr lang="en-GB" dirty="0"/>
              <a:t> </a:t>
            </a:r>
            <a:r>
              <a:rPr lang="en-GB" dirty="0" err="1"/>
              <a:t>joondatud</a:t>
            </a:r>
            <a:r>
              <a:rPr lang="en-GB" dirty="0"/>
              <a:t> </a:t>
            </a:r>
            <a:r>
              <a:rPr lang="en-GB" dirty="0" err="1"/>
              <a:t>elemendid</a:t>
            </a:r>
            <a:r>
              <a:rPr lang="en-GB" dirty="0"/>
              <a:t> </a:t>
            </a:r>
            <a:r>
              <a:rPr lang="en-GB" dirty="0" err="1"/>
              <a:t>mõjuvad</a:t>
            </a:r>
            <a:r>
              <a:rPr lang="en-GB" dirty="0"/>
              <a:t> </a:t>
            </a:r>
            <a:r>
              <a:rPr lang="en-GB" dirty="0" err="1"/>
              <a:t>usaldusväärselt</a:t>
            </a:r>
            <a:r>
              <a:rPr lang="en-GB" dirty="0"/>
              <a:t>, </a:t>
            </a:r>
            <a:r>
              <a:rPr lang="en-GB" dirty="0" err="1"/>
              <a:t>puhtalt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organiseeritult</a:t>
            </a:r>
            <a:r>
              <a:rPr lang="en-GB" dirty="0"/>
              <a:t>.</a:t>
            </a:r>
          </a:p>
          <a:p>
            <a:pPr lvl="1"/>
            <a:r>
              <a:rPr lang="en-GB" b="1" dirty="0" err="1"/>
              <a:t>Mõju</a:t>
            </a:r>
            <a:r>
              <a:rPr lang="en-GB" b="1" dirty="0"/>
              <a:t> Power BI-s:</a:t>
            </a:r>
            <a:r>
              <a:rPr lang="en-GB" dirty="0"/>
              <a:t> </a:t>
            </a:r>
            <a:r>
              <a:rPr lang="en-GB" dirty="0" err="1"/>
              <a:t>Kõik</a:t>
            </a:r>
            <a:r>
              <a:rPr lang="en-GB" dirty="0"/>
              <a:t> </a:t>
            </a:r>
            <a:r>
              <a:rPr lang="en-GB" dirty="0" err="1"/>
              <a:t>visuaalide</a:t>
            </a:r>
            <a:r>
              <a:rPr lang="en-GB" dirty="0"/>
              <a:t> </a:t>
            </a:r>
            <a:r>
              <a:rPr lang="en-GB" dirty="0" err="1"/>
              <a:t>servad</a:t>
            </a:r>
            <a:r>
              <a:rPr lang="en-GB" dirty="0"/>
              <a:t> </a:t>
            </a:r>
            <a:r>
              <a:rPr lang="en-GB" dirty="0" err="1"/>
              <a:t>peavad</a:t>
            </a:r>
            <a:r>
              <a:rPr lang="en-GB" dirty="0"/>
              <a:t> </a:t>
            </a:r>
            <a:r>
              <a:rPr lang="en-GB" dirty="0" err="1"/>
              <a:t>olema</a:t>
            </a:r>
            <a:r>
              <a:rPr lang="en-GB" dirty="0"/>
              <a:t> </a:t>
            </a:r>
            <a:r>
              <a:rPr lang="en-GB" dirty="0" err="1"/>
              <a:t>täpselt</a:t>
            </a:r>
            <a:r>
              <a:rPr lang="en-GB" dirty="0"/>
              <a:t> </a:t>
            </a:r>
            <a:r>
              <a:rPr lang="en-GB" dirty="0" err="1"/>
              <a:t>joondatud</a:t>
            </a:r>
            <a:r>
              <a:rPr lang="en-GB" dirty="0"/>
              <a:t>. Power BI-s </a:t>
            </a:r>
            <a:r>
              <a:rPr lang="en-GB" dirty="0" err="1"/>
              <a:t>aitab</a:t>
            </a:r>
            <a:r>
              <a:rPr lang="en-GB" dirty="0"/>
              <a:t> </a:t>
            </a:r>
            <a:r>
              <a:rPr lang="en-GB" dirty="0" err="1"/>
              <a:t>seda</a:t>
            </a:r>
            <a:r>
              <a:rPr lang="en-GB" dirty="0"/>
              <a:t> </a:t>
            </a:r>
            <a:r>
              <a:rPr lang="en-GB" dirty="0" err="1"/>
              <a:t>teha</a:t>
            </a:r>
            <a:r>
              <a:rPr lang="en-GB" dirty="0"/>
              <a:t> </a:t>
            </a:r>
            <a:r>
              <a:rPr lang="en-GB" dirty="0" err="1"/>
              <a:t>tööriist</a:t>
            </a:r>
            <a:r>
              <a:rPr lang="en-GB" dirty="0"/>
              <a:t> </a:t>
            </a:r>
            <a:r>
              <a:rPr lang="en-GB" i="1" dirty="0"/>
              <a:t>Format -&gt; Align</a:t>
            </a:r>
            <a:r>
              <a:rPr lang="en-GB" dirty="0"/>
              <a:t> (Left, Right, Top, Bottom). Kui KPI </a:t>
            </a:r>
            <a:r>
              <a:rPr lang="en-GB" dirty="0" err="1"/>
              <a:t>kaartide</a:t>
            </a:r>
            <a:r>
              <a:rPr lang="en-GB" dirty="0"/>
              <a:t> </a:t>
            </a:r>
            <a:r>
              <a:rPr lang="en-GB" dirty="0" err="1"/>
              <a:t>ülaservad</a:t>
            </a:r>
            <a:r>
              <a:rPr lang="en-GB" dirty="0"/>
              <a:t> on </a:t>
            </a:r>
            <a:r>
              <a:rPr lang="en-GB" dirty="0" err="1"/>
              <a:t>nihkes</a:t>
            </a:r>
            <a:r>
              <a:rPr lang="en-GB" dirty="0"/>
              <a:t> </a:t>
            </a:r>
            <a:r>
              <a:rPr lang="en-GB" dirty="0" err="1"/>
              <a:t>kasvõi</a:t>
            </a:r>
            <a:r>
              <a:rPr lang="en-GB" dirty="0"/>
              <a:t> 3 </a:t>
            </a:r>
            <a:r>
              <a:rPr lang="en-GB" dirty="0" err="1"/>
              <a:t>pikslit</a:t>
            </a:r>
            <a:r>
              <a:rPr lang="en-GB" dirty="0"/>
              <a:t>, </a:t>
            </a:r>
            <a:r>
              <a:rPr lang="en-GB" dirty="0" err="1"/>
              <a:t>tajub</a:t>
            </a:r>
            <a:r>
              <a:rPr lang="en-GB" dirty="0"/>
              <a:t> </a:t>
            </a:r>
            <a:r>
              <a:rPr lang="en-GB" dirty="0" err="1"/>
              <a:t>kasutaja</a:t>
            </a:r>
            <a:r>
              <a:rPr lang="en-GB" dirty="0"/>
              <a:t> </a:t>
            </a:r>
            <a:r>
              <a:rPr lang="en-GB" dirty="0" err="1"/>
              <a:t>raportit</a:t>
            </a:r>
            <a:r>
              <a:rPr lang="en-GB" dirty="0"/>
              <a:t> </a:t>
            </a:r>
            <a:r>
              <a:rPr lang="en-GB" dirty="0" err="1"/>
              <a:t>lohaka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ebaprofessionaalsena</a:t>
            </a:r>
            <a:r>
              <a:rPr lang="en-GB" dirty="0"/>
              <a:t> (</a:t>
            </a:r>
            <a:r>
              <a:rPr lang="en-GB" dirty="0" err="1"/>
              <a:t>isegi</a:t>
            </a:r>
            <a:r>
              <a:rPr lang="en-GB" dirty="0"/>
              <a:t> </a:t>
            </a:r>
            <a:r>
              <a:rPr lang="en-GB" dirty="0" err="1"/>
              <a:t>kui</a:t>
            </a:r>
            <a:r>
              <a:rPr lang="en-GB" dirty="0"/>
              <a:t> </a:t>
            </a:r>
            <a:r>
              <a:rPr lang="en-GB" dirty="0" err="1"/>
              <a:t>andmed</a:t>
            </a:r>
            <a:r>
              <a:rPr lang="en-GB" dirty="0"/>
              <a:t> on </a:t>
            </a:r>
            <a:r>
              <a:rPr lang="en-GB" dirty="0" err="1"/>
              <a:t>õiged</a:t>
            </a:r>
            <a:r>
              <a:rPr lang="en-GB" dirty="0"/>
              <a:t>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7095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679B9-4D69-453A-C79D-05C8B5A4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Power BI-s </a:t>
            </a:r>
            <a:r>
              <a:rPr lang="en-GB" dirty="0" err="1"/>
              <a:t>kasutame</a:t>
            </a:r>
            <a:r>
              <a:rPr lang="en-GB" dirty="0"/>
              <a:t> </a:t>
            </a:r>
            <a:r>
              <a:rPr lang="en-GB" dirty="0" err="1"/>
              <a:t>kolme</a:t>
            </a:r>
            <a:r>
              <a:rPr lang="en-GB" dirty="0"/>
              <a:t> </a:t>
            </a:r>
            <a:r>
              <a:rPr lang="en-GB" dirty="0" err="1"/>
              <a:t>põhilist</a:t>
            </a:r>
            <a:r>
              <a:rPr lang="en-GB" dirty="0"/>
              <a:t> Gestalt-</a:t>
            </a:r>
            <a:r>
              <a:rPr lang="en-GB" dirty="0" err="1"/>
              <a:t>printsiipi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AC225-DD43-995D-E839-357E82106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GB" sz="1600" b="1" dirty="0"/>
              <a:t>4 </a:t>
            </a:r>
            <a:r>
              <a:rPr lang="en-GB" sz="1600" b="1" dirty="0" err="1"/>
              <a:t>Värvipsühholoogia</a:t>
            </a:r>
            <a:r>
              <a:rPr lang="en-GB" sz="1600" b="1" dirty="0"/>
              <a:t> </a:t>
            </a:r>
            <a:r>
              <a:rPr lang="en-GB" sz="1600" b="1" dirty="0" err="1"/>
              <a:t>ja</a:t>
            </a:r>
            <a:r>
              <a:rPr lang="en-GB" sz="1600" b="1" dirty="0"/>
              <a:t> "60-30-10" </a:t>
            </a:r>
            <a:r>
              <a:rPr lang="en-GB" sz="1600" b="1" dirty="0" err="1"/>
              <a:t>reegel</a:t>
            </a:r>
            <a:endParaRPr lang="en-GB" sz="1600" b="1" dirty="0"/>
          </a:p>
          <a:p>
            <a:pPr lvl="1">
              <a:lnSpc>
                <a:spcPct val="170000"/>
              </a:lnSpc>
            </a:pPr>
            <a:r>
              <a:rPr lang="en-GB" sz="1600" dirty="0"/>
              <a:t>Värv on </a:t>
            </a:r>
            <a:r>
              <a:rPr lang="en-GB" sz="1600" dirty="0" err="1"/>
              <a:t>andmete</a:t>
            </a:r>
            <a:r>
              <a:rPr lang="en-GB" sz="1600" dirty="0"/>
              <a:t> </a:t>
            </a:r>
            <a:r>
              <a:rPr lang="en-GB" sz="1600" dirty="0" err="1"/>
              <a:t>visualiseerimises</a:t>
            </a:r>
            <a:r>
              <a:rPr lang="en-GB" sz="1600" dirty="0"/>
              <a:t> </a:t>
            </a:r>
            <a:r>
              <a:rPr lang="en-GB" sz="1600" dirty="0" err="1"/>
              <a:t>kõige</a:t>
            </a:r>
            <a:r>
              <a:rPr lang="en-GB" sz="1600" dirty="0"/>
              <a:t> </a:t>
            </a:r>
            <a:r>
              <a:rPr lang="en-GB" sz="1600" dirty="0" err="1"/>
              <a:t>võimsam</a:t>
            </a:r>
            <a:r>
              <a:rPr lang="en-GB" sz="1600" dirty="0"/>
              <a:t> </a:t>
            </a:r>
            <a:r>
              <a:rPr lang="en-GB" sz="1600" dirty="0" err="1"/>
              <a:t>relv</a:t>
            </a:r>
            <a:r>
              <a:rPr lang="en-GB" sz="1600" dirty="0"/>
              <a:t>, </a:t>
            </a:r>
            <a:r>
              <a:rPr lang="en-GB" sz="1600" dirty="0" err="1"/>
              <a:t>kuid</a:t>
            </a:r>
            <a:r>
              <a:rPr lang="en-GB" sz="1600" dirty="0"/>
              <a:t> </a:t>
            </a:r>
            <a:r>
              <a:rPr lang="en-GB" sz="1600" dirty="0" err="1"/>
              <a:t>seda</a:t>
            </a:r>
            <a:r>
              <a:rPr lang="en-GB" sz="1600" dirty="0"/>
              <a:t> </a:t>
            </a:r>
            <a:r>
              <a:rPr lang="en-GB" sz="1600" dirty="0" err="1"/>
              <a:t>kuritarvitatakse</a:t>
            </a:r>
            <a:r>
              <a:rPr lang="en-GB" sz="1600" dirty="0"/>
              <a:t> </a:t>
            </a:r>
            <a:r>
              <a:rPr lang="en-GB" sz="1600" dirty="0" err="1"/>
              <a:t>kõige</a:t>
            </a:r>
            <a:r>
              <a:rPr lang="en-GB" sz="1600" dirty="0"/>
              <a:t> </a:t>
            </a:r>
            <a:r>
              <a:rPr lang="en-GB" sz="1600" dirty="0" err="1"/>
              <a:t>sagedamini</a:t>
            </a:r>
            <a:r>
              <a:rPr lang="en-GB" sz="1600" dirty="0"/>
              <a:t>. </a:t>
            </a:r>
            <a:r>
              <a:rPr lang="en-GB" sz="1600" dirty="0" err="1"/>
              <a:t>Liiga</a:t>
            </a:r>
            <a:r>
              <a:rPr lang="en-GB" sz="1600" dirty="0"/>
              <a:t> </a:t>
            </a:r>
            <a:r>
              <a:rPr lang="en-GB" sz="1600" dirty="0" err="1"/>
              <a:t>palju</a:t>
            </a:r>
            <a:r>
              <a:rPr lang="en-GB" sz="1600" dirty="0"/>
              <a:t> </a:t>
            </a:r>
            <a:r>
              <a:rPr lang="en-GB" sz="1600" dirty="0" err="1"/>
              <a:t>värve</a:t>
            </a:r>
            <a:r>
              <a:rPr lang="en-GB" sz="1600" dirty="0"/>
              <a:t> </a:t>
            </a:r>
            <a:r>
              <a:rPr lang="en-GB" sz="1600" dirty="0" err="1"/>
              <a:t>tekitab</a:t>
            </a:r>
            <a:r>
              <a:rPr lang="en-GB" sz="1600" dirty="0"/>
              <a:t> </a:t>
            </a:r>
            <a:r>
              <a:rPr lang="en-GB" sz="1600" dirty="0" err="1"/>
              <a:t>visuaalset</a:t>
            </a:r>
            <a:r>
              <a:rPr lang="en-GB" sz="1600" dirty="0"/>
              <a:t> </a:t>
            </a:r>
            <a:r>
              <a:rPr lang="en-GB" sz="1600" dirty="0" err="1"/>
              <a:t>müra</a:t>
            </a:r>
            <a:r>
              <a:rPr lang="en-GB" sz="1600" dirty="0"/>
              <a:t> </a:t>
            </a:r>
            <a:r>
              <a:rPr lang="en-GB" sz="1600" dirty="0" err="1"/>
              <a:t>ja</a:t>
            </a:r>
            <a:r>
              <a:rPr lang="en-GB" sz="1600" dirty="0"/>
              <a:t> </a:t>
            </a:r>
            <a:r>
              <a:rPr lang="en-GB" sz="1600" dirty="0" err="1"/>
              <a:t>aju</a:t>
            </a:r>
            <a:r>
              <a:rPr lang="en-GB" sz="1600" dirty="0"/>
              <a:t> </a:t>
            </a:r>
            <a:r>
              <a:rPr lang="en-GB" sz="1600" dirty="0" err="1"/>
              <a:t>lülitub</a:t>
            </a:r>
            <a:r>
              <a:rPr lang="en-GB" sz="1600" dirty="0"/>
              <a:t> </a:t>
            </a:r>
            <a:r>
              <a:rPr lang="en-GB" sz="1600" dirty="0" err="1"/>
              <a:t>välja</a:t>
            </a:r>
            <a:r>
              <a:rPr lang="en-GB" sz="1600" dirty="0"/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GB" sz="1600" b="1" dirty="0" err="1"/>
              <a:t>Reegel</a:t>
            </a:r>
            <a:r>
              <a:rPr lang="en-GB" sz="1600" b="1" dirty="0"/>
              <a:t>: </a:t>
            </a:r>
            <a:r>
              <a:rPr lang="en-GB" sz="1600" b="1" dirty="0" err="1"/>
              <a:t>Ära</a:t>
            </a:r>
            <a:r>
              <a:rPr lang="en-GB" sz="1600" b="1" dirty="0"/>
              <a:t> </a:t>
            </a:r>
            <a:r>
              <a:rPr lang="en-GB" sz="1600" b="1" dirty="0" err="1"/>
              <a:t>kasuta</a:t>
            </a:r>
            <a:r>
              <a:rPr lang="en-GB" sz="1600" b="1" dirty="0"/>
              <a:t> </a:t>
            </a:r>
            <a:r>
              <a:rPr lang="en-GB" sz="1600" b="1" dirty="0" err="1"/>
              <a:t>üle</a:t>
            </a:r>
            <a:r>
              <a:rPr lang="en-GB" sz="1600" b="1" dirty="0"/>
              <a:t> 3 </a:t>
            </a:r>
            <a:r>
              <a:rPr lang="en-GB" sz="1600" b="1" dirty="0" err="1"/>
              <a:t>põhivärvi</a:t>
            </a:r>
            <a:endParaRPr lang="en-GB" sz="1600" b="1" dirty="0"/>
          </a:p>
          <a:p>
            <a:pPr lvl="1">
              <a:lnSpc>
                <a:spcPct val="170000"/>
              </a:lnSpc>
            </a:pPr>
            <a:r>
              <a:rPr lang="en-GB" sz="1600" b="1" dirty="0"/>
              <a:t>60% </a:t>
            </a:r>
            <a:r>
              <a:rPr lang="en-GB" sz="1600" b="1" dirty="0" err="1"/>
              <a:t>Domineeriv</a:t>
            </a:r>
            <a:r>
              <a:rPr lang="en-GB" sz="1600" b="1" dirty="0"/>
              <a:t> </a:t>
            </a:r>
            <a:r>
              <a:rPr lang="en-GB" sz="1600" b="1" dirty="0" err="1"/>
              <a:t>taustajõud</a:t>
            </a:r>
            <a:r>
              <a:rPr lang="en-GB" sz="1600" b="1" dirty="0"/>
              <a:t> </a:t>
            </a:r>
            <a:r>
              <a:rPr lang="en-GB" sz="1600" dirty="0"/>
              <a:t>(Hall/Valge): </a:t>
            </a:r>
            <a:r>
              <a:rPr lang="en-GB" sz="1600" dirty="0" err="1"/>
              <a:t>Raporti</a:t>
            </a:r>
            <a:r>
              <a:rPr lang="en-GB" sz="1600" dirty="0"/>
              <a:t> </a:t>
            </a:r>
            <a:r>
              <a:rPr lang="en-GB" sz="1600" dirty="0" err="1"/>
              <a:t>taust</a:t>
            </a:r>
            <a:r>
              <a:rPr lang="en-GB" sz="1600" dirty="0"/>
              <a:t>, </a:t>
            </a:r>
            <a:r>
              <a:rPr lang="en-GB" sz="1600" dirty="0" err="1"/>
              <a:t>graafikute</a:t>
            </a:r>
            <a:r>
              <a:rPr lang="en-GB" sz="1600" dirty="0"/>
              <a:t> </a:t>
            </a:r>
            <a:r>
              <a:rPr lang="en-GB" sz="1600" dirty="0" err="1"/>
              <a:t>taustad</a:t>
            </a:r>
            <a:r>
              <a:rPr lang="en-GB" sz="1600" dirty="0"/>
              <a:t>, </a:t>
            </a:r>
            <a:r>
              <a:rPr lang="en-GB" sz="1600" dirty="0" err="1"/>
              <a:t>teljed</a:t>
            </a:r>
            <a:r>
              <a:rPr lang="en-GB" sz="1600" dirty="0"/>
              <a:t> </a:t>
            </a:r>
            <a:r>
              <a:rPr lang="en-GB" sz="1600" dirty="0" err="1"/>
              <a:t>ja</a:t>
            </a:r>
            <a:r>
              <a:rPr lang="en-GB" sz="1600" dirty="0"/>
              <a:t> </a:t>
            </a:r>
            <a:r>
              <a:rPr lang="en-GB" sz="1600" dirty="0" err="1"/>
              <a:t>tekstid</a:t>
            </a:r>
            <a:r>
              <a:rPr lang="en-GB" sz="1600" dirty="0"/>
              <a:t> </a:t>
            </a:r>
            <a:r>
              <a:rPr lang="en-GB" sz="1600" dirty="0" err="1"/>
              <a:t>peaksid</a:t>
            </a:r>
            <a:r>
              <a:rPr lang="en-GB" sz="1600" dirty="0"/>
              <a:t> </a:t>
            </a:r>
            <a:r>
              <a:rPr lang="en-GB" sz="1600" dirty="0" err="1"/>
              <a:t>olema</a:t>
            </a:r>
            <a:r>
              <a:rPr lang="en-GB" sz="1600" dirty="0"/>
              <a:t> </a:t>
            </a:r>
            <a:r>
              <a:rPr lang="en-GB" sz="1600" dirty="0" err="1"/>
              <a:t>neutraalsed</a:t>
            </a:r>
            <a:r>
              <a:rPr lang="en-GB" sz="1600" dirty="0"/>
              <a:t> (</a:t>
            </a:r>
            <a:r>
              <a:rPr lang="en-GB" sz="1600" dirty="0" err="1"/>
              <a:t>erinevad</a:t>
            </a:r>
            <a:r>
              <a:rPr lang="en-GB" sz="1600" dirty="0"/>
              <a:t> halli </a:t>
            </a:r>
            <a:r>
              <a:rPr lang="en-GB" sz="1600" dirty="0" err="1"/>
              <a:t>varjundid</a:t>
            </a:r>
            <a:r>
              <a:rPr lang="en-GB" sz="1600" dirty="0"/>
              <a:t> </a:t>
            </a:r>
            <a:r>
              <a:rPr lang="en-GB" sz="1600" dirty="0" err="1"/>
              <a:t>või</a:t>
            </a:r>
            <a:r>
              <a:rPr lang="en-GB" sz="1600" dirty="0"/>
              <a:t> </a:t>
            </a:r>
            <a:r>
              <a:rPr lang="en-GB" sz="1600" dirty="0" err="1"/>
              <a:t>valge</a:t>
            </a:r>
            <a:r>
              <a:rPr lang="en-GB" sz="1600" dirty="0"/>
              <a:t>). Hall </a:t>
            </a:r>
            <a:r>
              <a:rPr lang="en-GB" sz="1600" dirty="0" err="1"/>
              <a:t>ei</a:t>
            </a:r>
            <a:r>
              <a:rPr lang="en-GB" sz="1600" dirty="0"/>
              <a:t> </a:t>
            </a:r>
            <a:r>
              <a:rPr lang="en-GB" sz="1600" dirty="0" err="1"/>
              <a:t>karju</a:t>
            </a:r>
            <a:r>
              <a:rPr lang="en-GB" sz="1600" dirty="0"/>
              <a:t> </a:t>
            </a:r>
            <a:r>
              <a:rPr lang="en-GB" sz="1600" dirty="0" err="1"/>
              <a:t>tähelepanu</a:t>
            </a:r>
            <a:r>
              <a:rPr lang="en-GB" sz="1600" dirty="0"/>
              <a:t> </a:t>
            </a:r>
            <a:r>
              <a:rPr lang="en-GB" sz="1600" dirty="0" err="1"/>
              <a:t>järele</a:t>
            </a:r>
            <a:r>
              <a:rPr lang="en-GB" sz="1600" dirty="0"/>
              <a:t>, see </a:t>
            </a:r>
            <a:r>
              <a:rPr lang="en-GB" sz="1600" dirty="0" err="1"/>
              <a:t>loob</a:t>
            </a:r>
            <a:r>
              <a:rPr lang="en-GB" sz="1600" dirty="0"/>
              <a:t> </a:t>
            </a:r>
            <a:r>
              <a:rPr lang="en-GB" sz="1600" dirty="0" err="1"/>
              <a:t>lõuendi</a:t>
            </a:r>
            <a:r>
              <a:rPr lang="en-GB" sz="1600" dirty="0"/>
              <a:t>.</a:t>
            </a:r>
          </a:p>
          <a:p>
            <a:pPr lvl="1">
              <a:lnSpc>
                <a:spcPct val="170000"/>
              </a:lnSpc>
            </a:pPr>
            <a:r>
              <a:rPr lang="en-GB" sz="1600" b="1" dirty="0"/>
              <a:t>30% </a:t>
            </a:r>
            <a:r>
              <a:rPr lang="en-GB" sz="1600" b="1" dirty="0" err="1"/>
              <a:t>Struktuurivärv</a:t>
            </a:r>
            <a:r>
              <a:rPr lang="en-GB" sz="1600" b="1" dirty="0"/>
              <a:t> (</a:t>
            </a:r>
            <a:r>
              <a:rPr lang="en-GB" sz="1600" b="1" dirty="0" err="1"/>
              <a:t>Brändivärv</a:t>
            </a:r>
            <a:r>
              <a:rPr lang="en-GB" sz="1600" b="1" dirty="0"/>
              <a:t>): </a:t>
            </a:r>
            <a:r>
              <a:rPr lang="en-GB" sz="1600" dirty="0"/>
              <a:t>Sinu </a:t>
            </a:r>
            <a:r>
              <a:rPr lang="en-GB" sz="1600" dirty="0" err="1"/>
              <a:t>või</a:t>
            </a:r>
            <a:r>
              <a:rPr lang="en-GB" sz="1600" dirty="0"/>
              <a:t> </a:t>
            </a:r>
            <a:r>
              <a:rPr lang="en-GB" sz="1600" dirty="0" err="1"/>
              <a:t>kliendi</a:t>
            </a:r>
            <a:r>
              <a:rPr lang="en-GB" sz="1600" dirty="0"/>
              <a:t> </a:t>
            </a:r>
            <a:r>
              <a:rPr lang="en-GB" sz="1600" dirty="0" err="1"/>
              <a:t>ettevõtte</a:t>
            </a:r>
            <a:r>
              <a:rPr lang="en-GB" sz="1600" dirty="0"/>
              <a:t> </a:t>
            </a:r>
            <a:r>
              <a:rPr lang="en-GB" sz="1600" dirty="0" err="1"/>
              <a:t>põhivärv</a:t>
            </a:r>
            <a:r>
              <a:rPr lang="en-GB" sz="1600" dirty="0"/>
              <a:t>. Seda </a:t>
            </a:r>
            <a:r>
              <a:rPr lang="en-GB" sz="1600" dirty="0" err="1"/>
              <a:t>kasutatakse</a:t>
            </a:r>
            <a:r>
              <a:rPr lang="en-GB" sz="1600" dirty="0"/>
              <a:t> </a:t>
            </a:r>
            <a:r>
              <a:rPr lang="en-GB" sz="1600" dirty="0" err="1"/>
              <a:t>tavaliste</a:t>
            </a:r>
            <a:r>
              <a:rPr lang="en-GB" sz="1600" dirty="0"/>
              <a:t> </a:t>
            </a:r>
            <a:r>
              <a:rPr lang="en-GB" sz="1600" dirty="0" err="1"/>
              <a:t>andmete</a:t>
            </a:r>
            <a:r>
              <a:rPr lang="en-GB" sz="1600" dirty="0"/>
              <a:t>, </a:t>
            </a:r>
            <a:r>
              <a:rPr lang="en-GB" sz="1600" dirty="0" err="1"/>
              <a:t>tiitliribade</a:t>
            </a:r>
            <a:r>
              <a:rPr lang="en-GB" sz="1600" dirty="0"/>
              <a:t> </a:t>
            </a:r>
            <a:r>
              <a:rPr lang="en-GB" sz="1600" dirty="0" err="1"/>
              <a:t>või</a:t>
            </a:r>
            <a:r>
              <a:rPr lang="en-GB" sz="1600" dirty="0"/>
              <a:t> </a:t>
            </a:r>
            <a:r>
              <a:rPr lang="en-GB" sz="1600" dirty="0" err="1"/>
              <a:t>vaikimisi</a:t>
            </a:r>
            <a:r>
              <a:rPr lang="en-GB" sz="1600" dirty="0"/>
              <a:t> </a:t>
            </a:r>
            <a:r>
              <a:rPr lang="en-GB" sz="1600" dirty="0" err="1"/>
              <a:t>tulpade</a:t>
            </a:r>
            <a:r>
              <a:rPr lang="en-GB" sz="1600" dirty="0"/>
              <a:t> </a:t>
            </a:r>
            <a:r>
              <a:rPr lang="en-GB" sz="1600" dirty="0" err="1"/>
              <a:t>kuvamiseks</a:t>
            </a:r>
            <a:r>
              <a:rPr lang="en-GB" sz="1600" dirty="0"/>
              <a:t>.</a:t>
            </a:r>
          </a:p>
          <a:p>
            <a:pPr lvl="1">
              <a:lnSpc>
                <a:spcPct val="170000"/>
              </a:lnSpc>
            </a:pPr>
            <a:r>
              <a:rPr lang="en-GB" sz="1600" b="1" dirty="0"/>
              <a:t>10% </a:t>
            </a:r>
            <a:r>
              <a:rPr lang="en-GB" sz="1600" b="1" dirty="0" err="1"/>
              <a:t>Aktsentvärv</a:t>
            </a:r>
            <a:r>
              <a:rPr lang="en-GB" sz="1600" b="1" dirty="0"/>
              <a:t> (</a:t>
            </a:r>
            <a:r>
              <a:rPr lang="en-GB" sz="1600" b="1" dirty="0" err="1"/>
              <a:t>Erksad</a:t>
            </a:r>
            <a:r>
              <a:rPr lang="en-GB" sz="1600" b="1" dirty="0"/>
              <a:t> </a:t>
            </a:r>
            <a:r>
              <a:rPr lang="en-GB" sz="1600" b="1" dirty="0" err="1"/>
              <a:t>värvid</a:t>
            </a:r>
            <a:r>
              <a:rPr lang="en-GB" sz="1600" b="1" dirty="0"/>
              <a:t> </a:t>
            </a:r>
            <a:r>
              <a:rPr lang="en-GB" sz="1600" b="1" dirty="0" err="1"/>
              <a:t>tähelepanuks</a:t>
            </a:r>
            <a:r>
              <a:rPr lang="en-GB" sz="1600" b="1" dirty="0"/>
              <a:t>): </a:t>
            </a:r>
            <a:r>
              <a:rPr lang="en-GB" sz="1600" dirty="0"/>
              <a:t>See on Sinu "</a:t>
            </a:r>
            <a:r>
              <a:rPr lang="en-GB" sz="1600" dirty="0" err="1"/>
              <a:t>hoolitse</a:t>
            </a:r>
            <a:r>
              <a:rPr lang="en-GB" sz="1600" dirty="0"/>
              <a:t> </a:t>
            </a:r>
            <a:r>
              <a:rPr lang="en-GB" sz="1600" dirty="0" err="1"/>
              <a:t>selle</a:t>
            </a:r>
            <a:r>
              <a:rPr lang="en-GB" sz="1600" dirty="0"/>
              <a:t> </a:t>
            </a:r>
            <a:r>
              <a:rPr lang="en-GB" sz="1600" dirty="0" err="1"/>
              <a:t>eest</a:t>
            </a:r>
            <a:r>
              <a:rPr lang="en-GB" sz="1600" dirty="0"/>
              <a:t> </a:t>
            </a:r>
            <a:r>
              <a:rPr lang="en-GB" sz="1600" dirty="0" err="1"/>
              <a:t>kohe</a:t>
            </a:r>
            <a:r>
              <a:rPr lang="en-GB" sz="1600" dirty="0"/>
              <a:t>" </a:t>
            </a:r>
            <a:r>
              <a:rPr lang="en-GB" sz="1600" dirty="0" err="1"/>
              <a:t>värv</a:t>
            </a:r>
            <a:r>
              <a:rPr lang="en-GB" sz="1600" dirty="0"/>
              <a:t> (</a:t>
            </a:r>
            <a:r>
              <a:rPr lang="en-GB" sz="1600" dirty="0" err="1"/>
              <a:t>erkpunane</a:t>
            </a:r>
            <a:r>
              <a:rPr lang="en-GB" sz="1600" dirty="0"/>
              <a:t>,, </a:t>
            </a:r>
            <a:r>
              <a:rPr lang="en-GB" sz="1600" dirty="0" err="1"/>
              <a:t>oranž</a:t>
            </a:r>
            <a:r>
              <a:rPr lang="en-GB" sz="1600" dirty="0"/>
              <a:t>). Seda </a:t>
            </a:r>
            <a:r>
              <a:rPr lang="en-GB" sz="1600" dirty="0" err="1"/>
              <a:t>kasutatakse</a:t>
            </a:r>
            <a:r>
              <a:rPr lang="en-GB" sz="1600" dirty="0"/>
              <a:t> </a:t>
            </a:r>
            <a:r>
              <a:rPr lang="en-GB" sz="1600" dirty="0" err="1"/>
              <a:t>ainult</a:t>
            </a:r>
            <a:r>
              <a:rPr lang="en-GB" sz="1600" dirty="0"/>
              <a:t> </a:t>
            </a:r>
            <a:r>
              <a:rPr lang="en-GB" sz="1600" dirty="0" err="1"/>
              <a:t>siis</a:t>
            </a:r>
            <a:r>
              <a:rPr lang="en-GB" sz="1600" dirty="0"/>
              <a:t>, </a:t>
            </a:r>
            <a:r>
              <a:rPr lang="en-GB" sz="1600" dirty="0" err="1"/>
              <a:t>kui</a:t>
            </a:r>
            <a:r>
              <a:rPr lang="en-GB" sz="1600" dirty="0"/>
              <a:t> </a:t>
            </a:r>
            <a:r>
              <a:rPr lang="en-GB" sz="1600" dirty="0" err="1"/>
              <a:t>midagi</a:t>
            </a:r>
            <a:r>
              <a:rPr lang="en-GB" sz="1600" dirty="0"/>
              <a:t> on </a:t>
            </a:r>
            <a:r>
              <a:rPr lang="en-GB" sz="1600" dirty="0" err="1"/>
              <a:t>valesti</a:t>
            </a:r>
            <a:r>
              <a:rPr lang="en-GB" sz="1600" dirty="0"/>
              <a:t> </a:t>
            </a:r>
            <a:r>
              <a:rPr lang="en-GB" sz="1600" dirty="0" err="1"/>
              <a:t>või</a:t>
            </a:r>
            <a:r>
              <a:rPr lang="en-GB" sz="1600" dirty="0"/>
              <a:t> </a:t>
            </a:r>
            <a:r>
              <a:rPr lang="en-GB" sz="1600" dirty="0" err="1"/>
              <a:t>vajab</a:t>
            </a:r>
            <a:r>
              <a:rPr lang="en-GB" sz="1600" dirty="0"/>
              <a:t> </a:t>
            </a:r>
            <a:r>
              <a:rPr lang="en-GB" sz="1600" dirty="0" err="1"/>
              <a:t>kriitilist</a:t>
            </a:r>
            <a:r>
              <a:rPr lang="en-GB" sz="1600" dirty="0"/>
              <a:t> </a:t>
            </a:r>
            <a:r>
              <a:rPr lang="en-GB" sz="1600" dirty="0" err="1"/>
              <a:t>tähelepanu</a:t>
            </a:r>
            <a:r>
              <a:rPr lang="en-GB" sz="1600" dirty="0"/>
              <a:t> (</a:t>
            </a:r>
            <a:r>
              <a:rPr lang="en-GB" sz="1600" dirty="0" err="1"/>
              <a:t>nt</a:t>
            </a:r>
            <a:r>
              <a:rPr lang="en-GB" sz="1600" dirty="0"/>
              <a:t> </a:t>
            </a:r>
            <a:r>
              <a:rPr lang="en-GB" sz="1600" dirty="0" err="1"/>
              <a:t>kui</a:t>
            </a:r>
            <a:r>
              <a:rPr lang="en-GB" sz="1600" dirty="0"/>
              <a:t> Sentiment Gap </a:t>
            </a:r>
            <a:r>
              <a:rPr lang="en-GB" sz="1600" dirty="0" err="1"/>
              <a:t>läheb</a:t>
            </a:r>
            <a:r>
              <a:rPr lang="en-GB" sz="1600" dirty="0"/>
              <a:t> </a:t>
            </a:r>
            <a:r>
              <a:rPr lang="en-GB" sz="1600" dirty="0" err="1"/>
              <a:t>punasesse</a:t>
            </a:r>
            <a:r>
              <a:rPr lang="en-GB" sz="1600" dirty="0"/>
              <a:t> </a:t>
            </a:r>
            <a:r>
              <a:rPr lang="en-GB" sz="1600" dirty="0" err="1"/>
              <a:t>tsooni</a:t>
            </a:r>
            <a:r>
              <a:rPr lang="en-GB" sz="1600" dirty="0"/>
              <a:t>). </a:t>
            </a:r>
            <a:r>
              <a:rPr lang="en-GB" sz="1600" dirty="0" err="1"/>
              <a:t>Erista</a:t>
            </a:r>
            <a:r>
              <a:rPr lang="en-GB" sz="1600" dirty="0"/>
              <a:t> </a:t>
            </a:r>
            <a:r>
              <a:rPr lang="en-GB" sz="1600" dirty="0" err="1"/>
              <a:t>vaid</a:t>
            </a:r>
            <a:r>
              <a:rPr lang="en-GB" sz="1600" dirty="0"/>
              <a:t> </a:t>
            </a:r>
            <a:r>
              <a:rPr lang="en-GB" sz="1600" dirty="0" err="1"/>
              <a:t>olulist</a:t>
            </a:r>
            <a:r>
              <a:rPr lang="en-GB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4936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6710A-585B-FF43-ACF7-7BD31A74F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Disaini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kasutajamugavuse</a:t>
            </a:r>
            <a:r>
              <a:rPr lang="en-GB" dirty="0"/>
              <a:t> </a:t>
            </a:r>
            <a:r>
              <a:rPr lang="en-GB" dirty="0" err="1"/>
              <a:t>kontroll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DEB3B-4461-1F71-4804-25717EAAD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GB" b="1" dirty="0" err="1"/>
              <a:t>Viie</a:t>
            </a:r>
            <a:r>
              <a:rPr lang="en-GB" b="1" dirty="0"/>
              <a:t> </a:t>
            </a:r>
            <a:r>
              <a:rPr lang="en-GB" b="1" dirty="0" err="1"/>
              <a:t>sekundi</a:t>
            </a:r>
            <a:r>
              <a:rPr lang="en-GB" b="1" dirty="0"/>
              <a:t> test </a:t>
            </a:r>
          </a:p>
          <a:p>
            <a:pPr lvl="1"/>
            <a:r>
              <a:rPr lang="en-GB" dirty="0"/>
              <a:t>Kas </a:t>
            </a:r>
            <a:r>
              <a:rPr lang="en-GB" dirty="0" err="1"/>
              <a:t>üldine</a:t>
            </a:r>
            <a:r>
              <a:rPr lang="en-GB" dirty="0"/>
              <a:t> </a:t>
            </a:r>
            <a:r>
              <a:rPr lang="en-GB" dirty="0" err="1"/>
              <a:t>seisukord</a:t>
            </a:r>
            <a:r>
              <a:rPr lang="en-GB" dirty="0"/>
              <a:t> (</a:t>
            </a:r>
            <a:r>
              <a:rPr lang="en-GB" dirty="0" err="1"/>
              <a:t>hea</a:t>
            </a:r>
            <a:r>
              <a:rPr lang="en-GB" dirty="0"/>
              <a:t> / </a:t>
            </a:r>
            <a:r>
              <a:rPr lang="en-GB" dirty="0" err="1"/>
              <a:t>halb</a:t>
            </a:r>
            <a:r>
              <a:rPr lang="en-GB" dirty="0"/>
              <a:t> / </a:t>
            </a:r>
            <a:r>
              <a:rPr lang="en-GB" dirty="0" err="1"/>
              <a:t>kriitiline</a:t>
            </a:r>
            <a:r>
              <a:rPr lang="en-GB" dirty="0"/>
              <a:t>) on </a:t>
            </a:r>
            <a:r>
              <a:rPr lang="en-GB" dirty="0" err="1"/>
              <a:t>arusaadav</a:t>
            </a:r>
            <a:r>
              <a:rPr lang="en-GB" dirty="0"/>
              <a:t> </a:t>
            </a:r>
            <a:r>
              <a:rPr lang="en-GB" dirty="0" err="1"/>
              <a:t>vähem</a:t>
            </a:r>
            <a:r>
              <a:rPr lang="en-GB" dirty="0"/>
              <a:t> </a:t>
            </a:r>
            <a:r>
              <a:rPr lang="en-GB" dirty="0" err="1"/>
              <a:t>kui</a:t>
            </a:r>
            <a:r>
              <a:rPr lang="en-GB" dirty="0"/>
              <a:t> 5 </a:t>
            </a:r>
            <a:r>
              <a:rPr lang="en-GB" dirty="0" err="1"/>
              <a:t>sekundiga</a:t>
            </a:r>
            <a:r>
              <a:rPr lang="en-GB" dirty="0"/>
              <a:t>?</a:t>
            </a:r>
          </a:p>
          <a:p>
            <a:pPr lvl="1"/>
            <a:r>
              <a:rPr lang="en-GB" dirty="0"/>
              <a:t>Kas </a:t>
            </a:r>
            <a:r>
              <a:rPr lang="en-GB" dirty="0" err="1"/>
              <a:t>kõige</a:t>
            </a:r>
            <a:r>
              <a:rPr lang="en-GB" dirty="0"/>
              <a:t> </a:t>
            </a:r>
            <a:r>
              <a:rPr lang="en-GB" dirty="0" err="1"/>
              <a:t>olulisemad</a:t>
            </a:r>
            <a:r>
              <a:rPr lang="en-GB" dirty="0"/>
              <a:t> </a:t>
            </a:r>
            <a:r>
              <a:rPr lang="en-GB" dirty="0" err="1"/>
              <a:t>numbrid</a:t>
            </a:r>
            <a:r>
              <a:rPr lang="en-GB" dirty="0"/>
              <a:t> (KPI-d) </a:t>
            </a:r>
            <a:r>
              <a:rPr lang="en-GB" dirty="0" err="1"/>
              <a:t>asuvad</a:t>
            </a:r>
            <a:r>
              <a:rPr lang="en-GB" dirty="0"/>
              <a:t> </a:t>
            </a:r>
            <a:r>
              <a:rPr lang="en-GB" dirty="0" err="1"/>
              <a:t>ekraani</a:t>
            </a:r>
            <a:r>
              <a:rPr lang="en-GB" dirty="0"/>
              <a:t> </a:t>
            </a:r>
            <a:r>
              <a:rPr lang="en-GB" dirty="0" err="1"/>
              <a:t>vasakus</a:t>
            </a:r>
            <a:r>
              <a:rPr lang="en-GB" dirty="0"/>
              <a:t> </a:t>
            </a:r>
            <a:r>
              <a:rPr lang="en-GB" dirty="0" err="1"/>
              <a:t>ülemises</a:t>
            </a:r>
            <a:r>
              <a:rPr lang="en-GB" dirty="0"/>
              <a:t> </a:t>
            </a:r>
            <a:r>
              <a:rPr lang="en-GB" dirty="0" err="1"/>
              <a:t>nurgas</a:t>
            </a:r>
            <a:r>
              <a:rPr lang="en-GB" dirty="0"/>
              <a:t>?</a:t>
            </a:r>
          </a:p>
          <a:p>
            <a:pPr lvl="1"/>
            <a:r>
              <a:rPr lang="en-GB" dirty="0"/>
              <a:t>Kas </a:t>
            </a:r>
            <a:r>
              <a:rPr lang="en-GB" dirty="0" err="1"/>
              <a:t>kasutaja</a:t>
            </a:r>
            <a:r>
              <a:rPr lang="en-GB" dirty="0"/>
              <a:t> </a:t>
            </a:r>
            <a:r>
              <a:rPr lang="en-GB" dirty="0" err="1"/>
              <a:t>saab</a:t>
            </a:r>
            <a:r>
              <a:rPr lang="en-GB" dirty="0"/>
              <a:t> </a:t>
            </a:r>
            <a:r>
              <a:rPr lang="en-GB" dirty="0" err="1"/>
              <a:t>kohe</a:t>
            </a:r>
            <a:r>
              <a:rPr lang="en-GB" dirty="0"/>
              <a:t> </a:t>
            </a:r>
            <a:r>
              <a:rPr lang="en-GB" dirty="0" err="1"/>
              <a:t>aru</a:t>
            </a:r>
            <a:r>
              <a:rPr lang="en-GB" dirty="0"/>
              <a:t>, </a:t>
            </a:r>
            <a:r>
              <a:rPr lang="en-GB" dirty="0" err="1"/>
              <a:t>kui</a:t>
            </a:r>
            <a:r>
              <a:rPr lang="en-GB" dirty="0"/>
              <a:t> </a:t>
            </a:r>
            <a:r>
              <a:rPr lang="en-GB" dirty="0" err="1"/>
              <a:t>miski</a:t>
            </a:r>
            <a:r>
              <a:rPr lang="en-GB" dirty="0"/>
              <a:t> </a:t>
            </a:r>
            <a:r>
              <a:rPr lang="en-GB" dirty="0" err="1"/>
              <a:t>vajab</a:t>
            </a:r>
            <a:r>
              <a:rPr lang="en-GB" dirty="0"/>
              <a:t> </a:t>
            </a:r>
            <a:r>
              <a:rPr lang="en-GB" dirty="0" err="1"/>
              <a:t>tema</a:t>
            </a:r>
            <a:r>
              <a:rPr lang="en-GB" dirty="0"/>
              <a:t> </a:t>
            </a:r>
            <a:r>
              <a:rPr lang="en-GB" dirty="0" err="1"/>
              <a:t>kiiret</a:t>
            </a:r>
            <a:r>
              <a:rPr lang="en-GB" dirty="0"/>
              <a:t> </a:t>
            </a:r>
            <a:r>
              <a:rPr lang="en-GB" dirty="0" err="1"/>
              <a:t>sekkumist</a:t>
            </a:r>
            <a:r>
              <a:rPr lang="en-GB" dirty="0"/>
              <a:t>?</a:t>
            </a:r>
          </a:p>
          <a:p>
            <a:pPr marL="0" indent="0">
              <a:buNone/>
            </a:pPr>
            <a:r>
              <a:rPr lang="en-GB" b="1" dirty="0"/>
              <a:t>2. </a:t>
            </a:r>
            <a:r>
              <a:rPr lang="en-GB" b="1" dirty="0" err="1"/>
              <a:t>Värvid</a:t>
            </a:r>
            <a:r>
              <a:rPr lang="en-GB" b="1" dirty="0"/>
              <a:t> </a:t>
            </a:r>
            <a:r>
              <a:rPr lang="en-GB" b="1" dirty="0" err="1"/>
              <a:t>ja</a:t>
            </a:r>
            <a:r>
              <a:rPr lang="en-GB" b="1" dirty="0"/>
              <a:t> </a:t>
            </a:r>
            <a:r>
              <a:rPr lang="en-GB" b="1" dirty="0" err="1"/>
              <a:t>visuaalne</a:t>
            </a:r>
            <a:r>
              <a:rPr lang="en-GB" b="1" dirty="0"/>
              <a:t> </a:t>
            </a:r>
            <a:r>
              <a:rPr lang="en-GB" b="1" dirty="0" err="1"/>
              <a:t>koormus</a:t>
            </a:r>
            <a:endParaRPr lang="en-GB" b="1" dirty="0"/>
          </a:p>
          <a:p>
            <a:pPr lvl="1"/>
            <a:r>
              <a:rPr lang="en-GB" dirty="0"/>
              <a:t>Kas </a:t>
            </a:r>
            <a:r>
              <a:rPr lang="en-GB" dirty="0" err="1"/>
              <a:t>värvipalett</a:t>
            </a:r>
            <a:r>
              <a:rPr lang="en-GB" dirty="0"/>
              <a:t> on </a:t>
            </a:r>
            <a:r>
              <a:rPr lang="en-GB" dirty="0" err="1"/>
              <a:t>piiratud</a:t>
            </a:r>
            <a:r>
              <a:rPr lang="en-GB" dirty="0"/>
              <a:t> (</a:t>
            </a:r>
            <a:r>
              <a:rPr lang="en-GB" dirty="0" err="1"/>
              <a:t>soovitavalt</a:t>
            </a:r>
            <a:r>
              <a:rPr lang="en-GB" dirty="0"/>
              <a:t> </a:t>
            </a:r>
            <a:r>
              <a:rPr lang="en-GB" dirty="0" err="1"/>
              <a:t>maksimaalselt</a:t>
            </a:r>
            <a:r>
              <a:rPr lang="en-GB" dirty="0"/>
              <a:t> 2–3 </a:t>
            </a:r>
            <a:r>
              <a:rPr lang="en-GB" dirty="0" err="1"/>
              <a:t>põhivärvi</a:t>
            </a:r>
            <a:r>
              <a:rPr lang="en-GB" dirty="0"/>
              <a:t> + </a:t>
            </a:r>
            <a:r>
              <a:rPr lang="en-GB" dirty="0" err="1"/>
              <a:t>hallid</a:t>
            </a:r>
            <a:r>
              <a:rPr lang="en-GB" dirty="0"/>
              <a:t> </a:t>
            </a:r>
            <a:r>
              <a:rPr lang="en-GB" dirty="0" err="1"/>
              <a:t>toonid</a:t>
            </a:r>
            <a:r>
              <a:rPr lang="en-GB" dirty="0"/>
              <a:t> </a:t>
            </a:r>
            <a:r>
              <a:rPr lang="en-GB" dirty="0" err="1"/>
              <a:t>taustaks</a:t>
            </a:r>
            <a:r>
              <a:rPr lang="en-GB" dirty="0"/>
              <a:t>)?</a:t>
            </a:r>
          </a:p>
          <a:p>
            <a:pPr lvl="1"/>
            <a:r>
              <a:rPr lang="en-GB" dirty="0"/>
              <a:t>Kas </a:t>
            </a:r>
            <a:r>
              <a:rPr lang="en-GB" dirty="0" err="1"/>
              <a:t>punast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rohelist</a:t>
            </a:r>
            <a:r>
              <a:rPr lang="en-GB" dirty="0"/>
              <a:t> </a:t>
            </a:r>
            <a:r>
              <a:rPr lang="en-GB" dirty="0" err="1"/>
              <a:t>värvi</a:t>
            </a:r>
            <a:r>
              <a:rPr lang="en-GB" dirty="0"/>
              <a:t> </a:t>
            </a:r>
            <a:r>
              <a:rPr lang="en-GB" dirty="0" err="1"/>
              <a:t>kasutatakse</a:t>
            </a:r>
            <a:r>
              <a:rPr lang="en-GB" dirty="0"/>
              <a:t> </a:t>
            </a:r>
            <a:r>
              <a:rPr lang="en-GB" b="1" dirty="0" err="1"/>
              <a:t>ainult</a:t>
            </a:r>
            <a:r>
              <a:rPr lang="en-GB" dirty="0"/>
              <a:t> </a:t>
            </a:r>
            <a:r>
              <a:rPr lang="en-GB" dirty="0" err="1"/>
              <a:t>hoiatuste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staatuse</a:t>
            </a:r>
            <a:r>
              <a:rPr lang="en-GB" dirty="0"/>
              <a:t> </a:t>
            </a:r>
            <a:r>
              <a:rPr lang="en-GB" dirty="0" err="1"/>
              <a:t>tähistamiseks</a:t>
            </a:r>
            <a:r>
              <a:rPr lang="en-GB" dirty="0"/>
              <a:t> (</a:t>
            </a:r>
            <a:r>
              <a:rPr lang="en-GB" dirty="0" err="1"/>
              <a:t>mitte</a:t>
            </a:r>
            <a:r>
              <a:rPr lang="en-GB" dirty="0"/>
              <a:t> </a:t>
            </a:r>
            <a:r>
              <a:rPr lang="en-GB" dirty="0" err="1"/>
              <a:t>tavalise</a:t>
            </a:r>
            <a:r>
              <a:rPr lang="en-GB" dirty="0"/>
              <a:t> </a:t>
            </a:r>
            <a:r>
              <a:rPr lang="en-GB" dirty="0" err="1"/>
              <a:t>kujunduselemendina</a:t>
            </a:r>
            <a:r>
              <a:rPr lang="en-GB" dirty="0"/>
              <a:t>)?</a:t>
            </a:r>
          </a:p>
          <a:p>
            <a:pPr lvl="1"/>
            <a:r>
              <a:rPr lang="en-GB" dirty="0"/>
              <a:t>Kas </a:t>
            </a:r>
            <a:r>
              <a:rPr lang="en-GB" dirty="0" err="1"/>
              <a:t>ekraanil</a:t>
            </a:r>
            <a:r>
              <a:rPr lang="en-GB" dirty="0"/>
              <a:t> on </a:t>
            </a:r>
            <a:r>
              <a:rPr lang="en-GB" dirty="0" err="1"/>
              <a:t>piisavalt</a:t>
            </a:r>
            <a:r>
              <a:rPr lang="en-GB" dirty="0"/>
              <a:t> "</a:t>
            </a:r>
            <a:r>
              <a:rPr lang="en-GB" dirty="0" err="1"/>
              <a:t>hingamisruumi</a:t>
            </a:r>
            <a:r>
              <a:rPr lang="en-GB" dirty="0"/>
              <a:t>" (</a:t>
            </a:r>
            <a:r>
              <a:rPr lang="en-GB" dirty="0" err="1"/>
              <a:t>tühja</a:t>
            </a:r>
            <a:r>
              <a:rPr lang="en-GB" dirty="0"/>
              <a:t> </a:t>
            </a:r>
            <a:r>
              <a:rPr lang="en-GB" dirty="0" err="1"/>
              <a:t>valget</a:t>
            </a:r>
            <a:r>
              <a:rPr lang="en-GB" dirty="0"/>
              <a:t> ala), et </a:t>
            </a:r>
            <a:r>
              <a:rPr lang="en-GB" dirty="0" err="1"/>
              <a:t>silm</a:t>
            </a:r>
            <a:r>
              <a:rPr lang="en-GB" dirty="0"/>
              <a:t> </a:t>
            </a:r>
            <a:r>
              <a:rPr lang="en-GB" dirty="0" err="1"/>
              <a:t>saaks</a:t>
            </a:r>
            <a:r>
              <a:rPr lang="en-GB" dirty="0"/>
              <a:t> </a:t>
            </a:r>
            <a:r>
              <a:rPr lang="en-GB" dirty="0" err="1"/>
              <a:t>puhata</a:t>
            </a:r>
            <a:r>
              <a:rPr lang="en-GB" dirty="0"/>
              <a:t>?</a:t>
            </a:r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9912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90CFB-8B93-AF39-A6EF-2CB68C57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Disaini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kasutajamugavuse</a:t>
            </a:r>
            <a:r>
              <a:rPr lang="en-GB" dirty="0"/>
              <a:t> </a:t>
            </a:r>
            <a:r>
              <a:rPr lang="en-GB" dirty="0" err="1"/>
              <a:t>kontroll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9C389-D78E-1CA2-021D-010A43BD0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3. </a:t>
            </a:r>
            <a:r>
              <a:rPr lang="en-GB" b="1" dirty="0" err="1"/>
              <a:t>Diagrammid</a:t>
            </a:r>
            <a:r>
              <a:rPr lang="en-GB" b="1" dirty="0"/>
              <a:t> </a:t>
            </a:r>
            <a:r>
              <a:rPr lang="en-GB" b="1" dirty="0" err="1"/>
              <a:t>ja</a:t>
            </a:r>
            <a:r>
              <a:rPr lang="en-GB" b="1" dirty="0"/>
              <a:t> </a:t>
            </a:r>
            <a:r>
              <a:rPr lang="en-GB" b="1" dirty="0" err="1"/>
              <a:t>andmed</a:t>
            </a:r>
            <a:endParaRPr lang="en-GB" b="1" dirty="0"/>
          </a:p>
          <a:p>
            <a:pPr lvl="1"/>
            <a:r>
              <a:rPr lang="en-GB" dirty="0"/>
              <a:t>Kas </a:t>
            </a:r>
            <a:r>
              <a:rPr lang="en-GB" dirty="0" err="1"/>
              <a:t>ekraanil</a:t>
            </a:r>
            <a:r>
              <a:rPr lang="en-GB" dirty="0"/>
              <a:t> on </a:t>
            </a:r>
            <a:r>
              <a:rPr lang="en-GB" dirty="0" err="1"/>
              <a:t>korraga</a:t>
            </a:r>
            <a:r>
              <a:rPr lang="en-GB" dirty="0"/>
              <a:t> </a:t>
            </a:r>
            <a:r>
              <a:rPr lang="en-GB" b="1" dirty="0" err="1"/>
              <a:t>kuni</a:t>
            </a:r>
            <a:r>
              <a:rPr lang="en-GB" b="1" dirty="0"/>
              <a:t> 5</a:t>
            </a:r>
            <a:r>
              <a:rPr lang="en-GB" dirty="0"/>
              <a:t> </a:t>
            </a:r>
            <a:r>
              <a:rPr lang="en-GB" dirty="0" err="1"/>
              <a:t>peamist</a:t>
            </a:r>
            <a:r>
              <a:rPr lang="en-GB" dirty="0"/>
              <a:t> </a:t>
            </a:r>
            <a:r>
              <a:rPr lang="en-GB" dirty="0" err="1"/>
              <a:t>näitajat</a:t>
            </a:r>
            <a:r>
              <a:rPr lang="en-GB" dirty="0"/>
              <a:t>/</a:t>
            </a:r>
            <a:r>
              <a:rPr lang="en-GB" dirty="0" err="1"/>
              <a:t>graafikut</a:t>
            </a:r>
            <a:r>
              <a:rPr lang="en-GB" dirty="0"/>
              <a:t> (</a:t>
            </a:r>
            <a:r>
              <a:rPr lang="en-GB" dirty="0" err="1"/>
              <a:t>välditud</a:t>
            </a:r>
            <a:r>
              <a:rPr lang="en-GB" dirty="0"/>
              <a:t> on </a:t>
            </a:r>
            <a:r>
              <a:rPr lang="en-GB" dirty="0" err="1"/>
              <a:t>ülekuhjamist</a:t>
            </a:r>
            <a:r>
              <a:rPr lang="en-GB" dirty="0"/>
              <a:t>)?</a:t>
            </a:r>
          </a:p>
          <a:p>
            <a:pPr lvl="1"/>
            <a:r>
              <a:rPr lang="en-GB" dirty="0"/>
              <a:t>Kas </a:t>
            </a:r>
            <a:r>
              <a:rPr lang="en-GB" dirty="0" err="1"/>
              <a:t>oled</a:t>
            </a:r>
            <a:r>
              <a:rPr lang="en-GB" dirty="0"/>
              <a:t> </a:t>
            </a:r>
            <a:r>
              <a:rPr lang="en-GB" dirty="0" err="1"/>
              <a:t>vältinud</a:t>
            </a:r>
            <a:r>
              <a:rPr lang="en-GB" dirty="0"/>
              <a:t> </a:t>
            </a:r>
            <a:r>
              <a:rPr lang="en-GB" dirty="0" err="1"/>
              <a:t>keerulisi</a:t>
            </a:r>
            <a:r>
              <a:rPr lang="en-GB" dirty="0"/>
              <a:t> 3D-graafikuid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liiga</a:t>
            </a:r>
            <a:r>
              <a:rPr lang="en-GB" dirty="0"/>
              <a:t> </a:t>
            </a:r>
            <a:r>
              <a:rPr lang="en-GB" dirty="0" err="1"/>
              <a:t>paljude</a:t>
            </a:r>
            <a:r>
              <a:rPr lang="en-GB" dirty="0"/>
              <a:t> </a:t>
            </a:r>
            <a:r>
              <a:rPr lang="en-GB" dirty="0" err="1"/>
              <a:t>sektoritega</a:t>
            </a:r>
            <a:r>
              <a:rPr lang="en-GB" dirty="0"/>
              <a:t> </a:t>
            </a:r>
            <a:r>
              <a:rPr lang="en-GB" dirty="0" err="1"/>
              <a:t>ringdiagramme</a:t>
            </a:r>
            <a:r>
              <a:rPr lang="en-GB" dirty="0"/>
              <a:t> (pie charts)?</a:t>
            </a:r>
          </a:p>
          <a:p>
            <a:pPr lvl="1"/>
            <a:r>
              <a:rPr lang="en-GB" dirty="0"/>
              <a:t>Kas </a:t>
            </a:r>
            <a:r>
              <a:rPr lang="en-GB" dirty="0" err="1"/>
              <a:t>igal</a:t>
            </a:r>
            <a:r>
              <a:rPr lang="en-GB" dirty="0"/>
              <a:t> </a:t>
            </a:r>
            <a:r>
              <a:rPr lang="en-GB" dirty="0" err="1"/>
              <a:t>numbril</a:t>
            </a:r>
            <a:r>
              <a:rPr lang="en-GB" dirty="0"/>
              <a:t> on </a:t>
            </a:r>
            <a:r>
              <a:rPr lang="en-GB" dirty="0" err="1"/>
              <a:t>olemas</a:t>
            </a:r>
            <a:r>
              <a:rPr lang="en-GB" dirty="0"/>
              <a:t> </a:t>
            </a:r>
            <a:r>
              <a:rPr lang="en-GB" b="1" dirty="0" err="1"/>
              <a:t>kontekst</a:t>
            </a:r>
            <a:r>
              <a:rPr lang="en-GB" dirty="0"/>
              <a:t> (</a:t>
            </a:r>
            <a:r>
              <a:rPr lang="en-GB" dirty="0" err="1"/>
              <a:t>nt</a:t>
            </a:r>
            <a:r>
              <a:rPr lang="en-GB" dirty="0"/>
              <a:t> </a:t>
            </a:r>
            <a:r>
              <a:rPr lang="en-GB" dirty="0" err="1"/>
              <a:t>võrdlus</a:t>
            </a:r>
            <a:r>
              <a:rPr lang="en-GB" dirty="0"/>
              <a:t> </a:t>
            </a:r>
            <a:r>
              <a:rPr lang="en-GB" dirty="0" err="1"/>
              <a:t>eelmise</a:t>
            </a:r>
            <a:r>
              <a:rPr lang="en-GB" dirty="0"/>
              <a:t> </a:t>
            </a:r>
            <a:r>
              <a:rPr lang="en-GB" dirty="0" err="1"/>
              <a:t>kuu</a:t>
            </a:r>
            <a:r>
              <a:rPr lang="en-GB" dirty="0"/>
              <a:t>, </a:t>
            </a:r>
            <a:r>
              <a:rPr lang="en-GB" dirty="0" err="1"/>
              <a:t>eesmärgi</a:t>
            </a:r>
            <a:r>
              <a:rPr lang="en-GB" dirty="0"/>
              <a:t> </a:t>
            </a:r>
            <a:r>
              <a:rPr lang="en-GB" dirty="0" err="1"/>
              <a:t>või</a:t>
            </a:r>
            <a:r>
              <a:rPr lang="en-GB" dirty="0"/>
              <a:t> </a:t>
            </a:r>
            <a:r>
              <a:rPr lang="en-GB" dirty="0" err="1"/>
              <a:t>trendiga</a:t>
            </a:r>
            <a:r>
              <a:rPr lang="en-GB" dirty="0"/>
              <a:t>)?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3255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4DDCA-8D9E-79DA-4261-8066F69A0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Disaini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kasutajamugavuse</a:t>
            </a:r>
            <a:r>
              <a:rPr lang="en-GB" dirty="0"/>
              <a:t> </a:t>
            </a:r>
            <a:r>
              <a:rPr lang="en-GB" dirty="0" err="1"/>
              <a:t>kontroll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9EB22-B7A3-477A-F6D6-10AC53DC6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4. </a:t>
            </a:r>
            <a:r>
              <a:rPr lang="en-GB" b="1" dirty="0" err="1"/>
              <a:t>Navigatsioon</a:t>
            </a:r>
            <a:r>
              <a:rPr lang="en-GB" b="1" dirty="0"/>
              <a:t> </a:t>
            </a:r>
            <a:r>
              <a:rPr lang="en-GB" b="1" dirty="0" err="1"/>
              <a:t>ja</a:t>
            </a:r>
            <a:r>
              <a:rPr lang="en-GB" b="1" dirty="0"/>
              <a:t> </a:t>
            </a:r>
            <a:r>
              <a:rPr lang="en-GB" b="1" dirty="0" err="1"/>
              <a:t>kasutatavus</a:t>
            </a:r>
            <a:endParaRPr lang="en-GB" b="1" dirty="0"/>
          </a:p>
          <a:p>
            <a:pPr lvl="1"/>
            <a:r>
              <a:rPr lang="en-GB" dirty="0"/>
              <a:t>Kas </a:t>
            </a:r>
            <a:r>
              <a:rPr lang="en-GB" dirty="0" err="1"/>
              <a:t>menüüd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filtrid</a:t>
            </a:r>
            <a:r>
              <a:rPr lang="en-GB" dirty="0"/>
              <a:t> on </a:t>
            </a:r>
            <a:r>
              <a:rPr lang="en-GB" dirty="0" err="1"/>
              <a:t>peidetavad</a:t>
            </a:r>
            <a:r>
              <a:rPr lang="en-GB" dirty="0"/>
              <a:t> </a:t>
            </a:r>
            <a:r>
              <a:rPr lang="en-GB" dirty="0" err="1"/>
              <a:t>või</a:t>
            </a:r>
            <a:r>
              <a:rPr lang="en-GB" dirty="0"/>
              <a:t> </a:t>
            </a:r>
            <a:r>
              <a:rPr lang="en-GB" dirty="0" err="1"/>
              <a:t>kompaktsed</a:t>
            </a:r>
            <a:r>
              <a:rPr lang="en-GB" dirty="0"/>
              <a:t>, et </a:t>
            </a:r>
            <a:r>
              <a:rPr lang="en-GB" dirty="0" err="1"/>
              <a:t>mitte</a:t>
            </a:r>
            <a:r>
              <a:rPr lang="en-GB" dirty="0"/>
              <a:t> </a:t>
            </a:r>
            <a:r>
              <a:rPr lang="en-GB" dirty="0" err="1"/>
              <a:t>raisata</a:t>
            </a:r>
            <a:r>
              <a:rPr lang="en-GB" dirty="0"/>
              <a:t> </a:t>
            </a:r>
            <a:r>
              <a:rPr lang="en-GB" dirty="0" err="1"/>
              <a:t>väärtuslikku</a:t>
            </a:r>
            <a:r>
              <a:rPr lang="en-GB" dirty="0"/>
              <a:t> </a:t>
            </a:r>
            <a:r>
              <a:rPr lang="en-GB" dirty="0" err="1"/>
              <a:t>ekraanipinda</a:t>
            </a:r>
            <a:r>
              <a:rPr lang="en-GB" dirty="0"/>
              <a:t>?</a:t>
            </a:r>
          </a:p>
          <a:p>
            <a:pPr lvl="1"/>
            <a:r>
              <a:rPr lang="en-GB" dirty="0"/>
              <a:t>Kas </a:t>
            </a:r>
            <a:r>
              <a:rPr lang="en-GB" dirty="0" err="1"/>
              <a:t>ekraanilt</a:t>
            </a:r>
            <a:r>
              <a:rPr lang="en-GB" dirty="0"/>
              <a:t> on </a:t>
            </a:r>
            <a:r>
              <a:rPr lang="en-GB" dirty="0" err="1"/>
              <a:t>eemaldatud</a:t>
            </a:r>
            <a:r>
              <a:rPr lang="en-GB" dirty="0"/>
              <a:t> </a:t>
            </a:r>
            <a:r>
              <a:rPr lang="en-GB" dirty="0" err="1"/>
              <a:t>ebaoluline</a:t>
            </a:r>
            <a:r>
              <a:rPr lang="en-GB" dirty="0"/>
              <a:t> "</a:t>
            </a:r>
            <a:r>
              <a:rPr lang="en-GB" dirty="0" err="1"/>
              <a:t>müra</a:t>
            </a:r>
            <a:r>
              <a:rPr lang="en-GB" dirty="0"/>
              <a:t>" (</a:t>
            </a:r>
            <a:r>
              <a:rPr lang="en-GB" dirty="0" err="1"/>
              <a:t>nt</a:t>
            </a:r>
            <a:r>
              <a:rPr lang="en-GB" dirty="0"/>
              <a:t> </a:t>
            </a:r>
            <a:r>
              <a:rPr lang="en-GB" dirty="0" err="1"/>
              <a:t>suured</a:t>
            </a:r>
            <a:r>
              <a:rPr lang="en-GB" dirty="0"/>
              <a:t> </a:t>
            </a:r>
            <a:r>
              <a:rPr lang="en-GB" dirty="0" err="1"/>
              <a:t>kellad</a:t>
            </a:r>
            <a:r>
              <a:rPr lang="en-GB" dirty="0"/>
              <a:t>, </a:t>
            </a:r>
            <a:r>
              <a:rPr lang="en-GB" dirty="0" err="1"/>
              <a:t>tervitustekstid</a:t>
            </a:r>
            <a:r>
              <a:rPr lang="en-GB" dirty="0"/>
              <a:t>, </a:t>
            </a:r>
            <a:r>
              <a:rPr lang="en-GB" dirty="0" err="1"/>
              <a:t>ilmateade</a:t>
            </a:r>
            <a:r>
              <a:rPr lang="en-GB" dirty="0"/>
              <a:t>, </a:t>
            </a:r>
            <a:r>
              <a:rPr lang="en-GB" dirty="0" err="1"/>
              <a:t>kui</a:t>
            </a:r>
            <a:r>
              <a:rPr lang="en-GB" dirty="0"/>
              <a:t> need pole </a:t>
            </a:r>
            <a:r>
              <a:rPr lang="en-GB" dirty="0" err="1"/>
              <a:t>tööks</a:t>
            </a:r>
            <a:r>
              <a:rPr lang="en-GB" dirty="0"/>
              <a:t> </a:t>
            </a:r>
            <a:r>
              <a:rPr lang="en-GB" dirty="0" err="1"/>
              <a:t>otseselt</a:t>
            </a:r>
            <a:r>
              <a:rPr lang="en-GB" dirty="0"/>
              <a:t> </a:t>
            </a:r>
            <a:r>
              <a:rPr lang="en-GB" dirty="0" err="1"/>
              <a:t>vajalikud</a:t>
            </a:r>
            <a:r>
              <a:rPr lang="en-GB" dirty="0"/>
              <a:t>)?</a:t>
            </a:r>
          </a:p>
          <a:p>
            <a:pPr lvl="0"/>
            <a:r>
              <a:rPr lang="en-GB" dirty="0" err="1"/>
              <a:t>Visuaalidevahelised</a:t>
            </a:r>
            <a:r>
              <a:rPr lang="en-GB" dirty="0"/>
              <a:t> </a:t>
            </a:r>
            <a:r>
              <a:rPr lang="en-GB" dirty="0" err="1"/>
              <a:t>seosed</a:t>
            </a:r>
            <a:r>
              <a:rPr lang="en-GB" dirty="0"/>
              <a:t> (</a:t>
            </a:r>
            <a:r>
              <a:rPr lang="en-GB" b="1" dirty="0"/>
              <a:t>Edit Interactions</a:t>
            </a:r>
            <a:r>
              <a:rPr lang="en-GB" dirty="0"/>
              <a:t>) on </a:t>
            </a:r>
            <a:r>
              <a:rPr lang="en-GB" dirty="0" err="1"/>
              <a:t>kontrollitud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piiratud</a:t>
            </a:r>
            <a:r>
              <a:rPr lang="en-GB" dirty="0"/>
              <a:t>.</a:t>
            </a:r>
          </a:p>
          <a:p>
            <a:pPr lvl="0"/>
            <a:r>
              <a:rPr lang="en-GB" dirty="0" err="1"/>
              <a:t>Kasutusel</a:t>
            </a:r>
            <a:r>
              <a:rPr lang="en-GB" dirty="0"/>
              <a:t> on </a:t>
            </a:r>
            <a:r>
              <a:rPr lang="en-GB" b="1" dirty="0"/>
              <a:t>"</a:t>
            </a:r>
            <a:r>
              <a:rPr lang="en-GB" b="1" dirty="0" err="1"/>
              <a:t>Tühjenda</a:t>
            </a:r>
            <a:r>
              <a:rPr lang="en-GB" b="1" dirty="0"/>
              <a:t> </a:t>
            </a:r>
            <a:r>
              <a:rPr lang="en-GB" b="1" dirty="0" err="1"/>
              <a:t>filtrid</a:t>
            </a:r>
            <a:r>
              <a:rPr lang="en-GB" b="1" dirty="0"/>
              <a:t>"</a:t>
            </a:r>
            <a:r>
              <a:rPr lang="en-GB" dirty="0"/>
              <a:t> </a:t>
            </a:r>
            <a:r>
              <a:rPr lang="en-GB" dirty="0" err="1"/>
              <a:t>nupp</a:t>
            </a:r>
            <a:r>
              <a:rPr lang="en-GB" dirty="0"/>
              <a:t>.</a:t>
            </a:r>
          </a:p>
          <a:p>
            <a:pPr lvl="0"/>
            <a:r>
              <a:rPr lang="en-GB" dirty="0" err="1"/>
              <a:t>Graafikute</a:t>
            </a:r>
            <a:r>
              <a:rPr lang="en-GB" dirty="0"/>
              <a:t> </a:t>
            </a:r>
            <a:r>
              <a:rPr lang="en-GB" dirty="0" err="1"/>
              <a:t>pealkirjad</a:t>
            </a:r>
            <a:r>
              <a:rPr lang="en-GB" dirty="0"/>
              <a:t> on </a:t>
            </a:r>
            <a:r>
              <a:rPr lang="en-GB" b="1" dirty="0" err="1"/>
              <a:t>selged</a:t>
            </a:r>
            <a:r>
              <a:rPr lang="en-GB" b="1" dirty="0"/>
              <a:t> </a:t>
            </a:r>
            <a:r>
              <a:rPr lang="en-GB" b="1" dirty="0" err="1"/>
              <a:t>ja</a:t>
            </a:r>
            <a:r>
              <a:rPr lang="en-GB" b="1" dirty="0"/>
              <a:t> </a:t>
            </a:r>
            <a:r>
              <a:rPr lang="en-GB" b="1" dirty="0" err="1"/>
              <a:t>kirjeldavad</a:t>
            </a:r>
            <a:r>
              <a:rPr lang="en-GB" dirty="0"/>
              <a:t>.</a:t>
            </a:r>
          </a:p>
          <a:p>
            <a:pPr lvl="0"/>
            <a:r>
              <a:rPr lang="en-GB" dirty="0" err="1"/>
              <a:t>Navigatsioon</a:t>
            </a:r>
            <a:r>
              <a:rPr lang="en-GB" dirty="0"/>
              <a:t> on </a:t>
            </a:r>
            <a:r>
              <a:rPr lang="en-GB" dirty="0" err="1"/>
              <a:t>loogiline</a:t>
            </a:r>
            <a:r>
              <a:rPr lang="en-GB" dirty="0"/>
              <a:t>.</a:t>
            </a:r>
          </a:p>
          <a:p>
            <a:pPr lvl="0"/>
            <a:r>
              <a:rPr lang="en-GB" dirty="0" err="1"/>
              <a:t>Aruandel</a:t>
            </a:r>
            <a:r>
              <a:rPr lang="en-GB" dirty="0"/>
              <a:t> on info </a:t>
            </a:r>
            <a:r>
              <a:rPr lang="en-GB" dirty="0" err="1"/>
              <a:t>leht</a:t>
            </a:r>
            <a:r>
              <a:rPr lang="en-GB" dirty="0"/>
              <a:t>.</a:t>
            </a:r>
          </a:p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6582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9E6B9-2AC8-5218-C39C-52614A338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Halb </a:t>
            </a:r>
            <a:r>
              <a:rPr lang="en-GB" dirty="0" err="1"/>
              <a:t>näide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D73B3-D6DF-B270-899B-BB933EED1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Uuri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too </a:t>
            </a:r>
            <a:r>
              <a:rPr lang="en-GB" dirty="0" err="1"/>
              <a:t>välja</a:t>
            </a:r>
            <a:r>
              <a:rPr lang="en-GB" dirty="0"/>
              <a:t> 5-10 </a:t>
            </a:r>
            <a:r>
              <a:rPr lang="en-GB" dirty="0" err="1"/>
              <a:t>asja</a:t>
            </a:r>
            <a:r>
              <a:rPr lang="en-GB" dirty="0"/>
              <a:t>, mis on </a:t>
            </a:r>
            <a:r>
              <a:rPr lang="en-GB" dirty="0" err="1"/>
              <a:t>valesti</a:t>
            </a:r>
            <a:endParaRPr lang="en-GB" dirty="0"/>
          </a:p>
        </p:txBody>
      </p:sp>
      <p:pic>
        <p:nvPicPr>
          <p:cNvPr id="5" name="Picture 4" descr="r/BusinessIntelligence - I Tried My Hand at Designing the Worst Dashboard I Could Imagine">
            <a:extLst>
              <a:ext uri="{FF2B5EF4-FFF2-40B4-BE49-F238E27FC236}">
                <a16:creationId xmlns:a16="http://schemas.microsoft.com/office/drawing/2014/main" id="{E5BA800A-4441-F23B-7348-103B10670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116" y="1123837"/>
            <a:ext cx="7820690" cy="439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895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B3548-4215-18ED-8E5C-90C8DED35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Halb </a:t>
            </a:r>
            <a:r>
              <a:rPr lang="en-GB" dirty="0" err="1"/>
              <a:t>näide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9A125-02B1-55CE-C088-83185654B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3771900"/>
            <a:ext cx="7315200" cy="3086100"/>
          </a:xfrm>
        </p:spPr>
        <p:txBody>
          <a:bodyPr>
            <a:normAutofit fontScale="92500" lnSpcReduction="20000"/>
          </a:bodyPr>
          <a:lstStyle/>
          <a:p>
            <a:r>
              <a:rPr lang="en-GB" dirty="0" err="1"/>
              <a:t>Ekraanile</a:t>
            </a:r>
            <a:r>
              <a:rPr lang="en-GB" dirty="0"/>
              <a:t> on </a:t>
            </a:r>
            <a:r>
              <a:rPr lang="en-GB" dirty="0" err="1"/>
              <a:t>korraga</a:t>
            </a:r>
            <a:r>
              <a:rPr lang="en-GB" dirty="0"/>
              <a:t> </a:t>
            </a:r>
            <a:r>
              <a:rPr lang="en-GB" dirty="0" err="1"/>
              <a:t>kuhjatud</a:t>
            </a:r>
            <a:r>
              <a:rPr lang="en-GB" dirty="0"/>
              <a:t> </a:t>
            </a:r>
            <a:r>
              <a:rPr lang="en-GB" dirty="0" err="1"/>
              <a:t>liiga</a:t>
            </a:r>
            <a:r>
              <a:rPr lang="en-GB" dirty="0"/>
              <a:t> </a:t>
            </a:r>
            <a:r>
              <a:rPr lang="en-GB" dirty="0" err="1"/>
              <a:t>palju</a:t>
            </a:r>
            <a:r>
              <a:rPr lang="en-GB" dirty="0"/>
              <a:t> </a:t>
            </a:r>
            <a:r>
              <a:rPr lang="en-GB" dirty="0" err="1"/>
              <a:t>vidinaid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graafikuid</a:t>
            </a:r>
            <a:r>
              <a:rPr lang="en-GB" dirty="0"/>
              <a:t>, mis </a:t>
            </a:r>
            <a:r>
              <a:rPr lang="en-GB" dirty="0" err="1"/>
              <a:t>teeb</a:t>
            </a:r>
            <a:r>
              <a:rPr lang="en-GB" dirty="0"/>
              <a:t> </a:t>
            </a:r>
            <a:r>
              <a:rPr lang="en-GB" dirty="0" err="1"/>
              <a:t>olulise</a:t>
            </a:r>
            <a:r>
              <a:rPr lang="en-GB" dirty="0"/>
              <a:t> info </a:t>
            </a:r>
            <a:r>
              <a:rPr lang="en-GB" dirty="0" err="1"/>
              <a:t>leidmise</a:t>
            </a:r>
            <a:r>
              <a:rPr lang="en-GB" dirty="0"/>
              <a:t> </a:t>
            </a:r>
            <a:r>
              <a:rPr lang="en-GB" dirty="0" err="1"/>
              <a:t>võimatuks</a:t>
            </a:r>
            <a:r>
              <a:rPr lang="en-GB" dirty="0"/>
              <a:t>.</a:t>
            </a:r>
          </a:p>
          <a:p>
            <a:r>
              <a:rPr lang="en-GB" b="1" dirty="0"/>
              <a:t>Silmi </a:t>
            </a:r>
            <a:r>
              <a:rPr lang="en-GB" b="1" dirty="0" err="1"/>
              <a:t>väsitavad</a:t>
            </a:r>
            <a:r>
              <a:rPr lang="en-GB" b="1" dirty="0"/>
              <a:t> </a:t>
            </a:r>
            <a:r>
              <a:rPr lang="en-GB" b="1" dirty="0" err="1"/>
              <a:t>värvid</a:t>
            </a:r>
            <a:r>
              <a:rPr lang="en-GB" dirty="0"/>
              <a:t>: </a:t>
            </a:r>
            <a:r>
              <a:rPr lang="en-GB" dirty="0" err="1"/>
              <a:t>Tumedal</a:t>
            </a:r>
            <a:r>
              <a:rPr lang="en-GB" dirty="0"/>
              <a:t> </a:t>
            </a:r>
            <a:r>
              <a:rPr lang="en-GB" dirty="0" err="1"/>
              <a:t>taustal</a:t>
            </a:r>
            <a:r>
              <a:rPr lang="en-GB" dirty="0"/>
              <a:t> </a:t>
            </a:r>
            <a:r>
              <a:rPr lang="en-GB" dirty="0" err="1"/>
              <a:t>kasutatud</a:t>
            </a:r>
            <a:r>
              <a:rPr lang="en-GB" dirty="0"/>
              <a:t> </a:t>
            </a:r>
            <a:r>
              <a:rPr lang="en-GB" dirty="0" err="1"/>
              <a:t>neoonrohelised</a:t>
            </a:r>
            <a:r>
              <a:rPr lang="en-GB" dirty="0"/>
              <a:t>, </a:t>
            </a:r>
            <a:r>
              <a:rPr lang="en-GB" dirty="0" err="1"/>
              <a:t>lillad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kollased</a:t>
            </a:r>
            <a:r>
              <a:rPr lang="en-GB" dirty="0"/>
              <a:t> </a:t>
            </a:r>
            <a:r>
              <a:rPr lang="en-GB" dirty="0" err="1"/>
              <a:t>toonid</a:t>
            </a:r>
            <a:r>
              <a:rPr lang="en-GB" dirty="0"/>
              <a:t> </a:t>
            </a:r>
            <a:r>
              <a:rPr lang="en-GB" dirty="0" err="1"/>
              <a:t>väsitavad</a:t>
            </a:r>
            <a:r>
              <a:rPr lang="en-GB" dirty="0"/>
              <a:t> </a:t>
            </a:r>
            <a:r>
              <a:rPr lang="en-GB" dirty="0" err="1"/>
              <a:t>silmi</a:t>
            </a:r>
            <a:r>
              <a:rPr lang="en-GB" dirty="0"/>
              <a:t> </a:t>
            </a:r>
            <a:r>
              <a:rPr lang="en-GB" dirty="0" err="1"/>
              <a:t>ning</a:t>
            </a:r>
            <a:r>
              <a:rPr lang="en-GB" dirty="0"/>
              <a:t> </a:t>
            </a:r>
            <a:r>
              <a:rPr lang="en-GB" dirty="0" err="1"/>
              <a:t>neil</a:t>
            </a:r>
            <a:r>
              <a:rPr lang="en-GB" dirty="0"/>
              <a:t> </a:t>
            </a:r>
            <a:r>
              <a:rPr lang="en-GB" dirty="0" err="1"/>
              <a:t>puudub</a:t>
            </a:r>
            <a:r>
              <a:rPr lang="en-GB" dirty="0"/>
              <a:t> </a:t>
            </a:r>
            <a:r>
              <a:rPr lang="en-GB" dirty="0" err="1"/>
              <a:t>funktsionaalne</a:t>
            </a:r>
            <a:r>
              <a:rPr lang="en-GB" dirty="0"/>
              <a:t> </a:t>
            </a:r>
            <a:r>
              <a:rPr lang="en-GB" dirty="0" err="1"/>
              <a:t>tähendus</a:t>
            </a:r>
            <a:r>
              <a:rPr lang="en-GB" dirty="0"/>
              <a:t>.</a:t>
            </a:r>
          </a:p>
          <a:p>
            <a:pPr lvl="0"/>
            <a:r>
              <a:rPr lang="en-GB" b="1" dirty="0"/>
              <a:t>Valed </a:t>
            </a:r>
            <a:r>
              <a:rPr lang="en-GB" b="1" dirty="0" err="1"/>
              <a:t>ja</a:t>
            </a:r>
            <a:r>
              <a:rPr lang="en-GB" b="1" dirty="0"/>
              <a:t> </a:t>
            </a:r>
            <a:r>
              <a:rPr lang="en-GB" b="1" dirty="0" err="1"/>
              <a:t>ebatäpsed</a:t>
            </a:r>
            <a:r>
              <a:rPr lang="en-GB" b="1" dirty="0"/>
              <a:t> </a:t>
            </a:r>
            <a:r>
              <a:rPr lang="en-GB" b="1" dirty="0" err="1"/>
              <a:t>diagrammid</a:t>
            </a:r>
            <a:r>
              <a:rPr lang="en-GB" dirty="0"/>
              <a:t>: </a:t>
            </a:r>
            <a:r>
              <a:rPr lang="en-GB" dirty="0" err="1"/>
              <a:t>Keerulised</a:t>
            </a:r>
            <a:r>
              <a:rPr lang="en-GB" dirty="0"/>
              <a:t> 3D-graafikud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tihedalt</a:t>
            </a:r>
            <a:r>
              <a:rPr lang="en-GB" dirty="0"/>
              <a:t> </a:t>
            </a:r>
            <a:r>
              <a:rPr lang="en-GB" dirty="0" err="1"/>
              <a:t>üksteise</a:t>
            </a:r>
            <a:r>
              <a:rPr lang="en-GB" dirty="0"/>
              <a:t> </a:t>
            </a:r>
            <a:r>
              <a:rPr lang="en-GB" dirty="0" err="1"/>
              <a:t>otsa</a:t>
            </a:r>
            <a:r>
              <a:rPr lang="en-GB" dirty="0"/>
              <a:t> </a:t>
            </a:r>
            <a:r>
              <a:rPr lang="en-GB" dirty="0" err="1"/>
              <a:t>surutud</a:t>
            </a:r>
            <a:r>
              <a:rPr lang="en-GB" dirty="0"/>
              <a:t> </a:t>
            </a:r>
            <a:r>
              <a:rPr lang="en-GB" dirty="0" err="1"/>
              <a:t>jooned</a:t>
            </a:r>
            <a:r>
              <a:rPr lang="en-GB" dirty="0"/>
              <a:t> </a:t>
            </a:r>
            <a:r>
              <a:rPr lang="en-GB" dirty="0" err="1"/>
              <a:t>muudavad</a:t>
            </a:r>
            <a:r>
              <a:rPr lang="en-GB" dirty="0"/>
              <a:t> </a:t>
            </a:r>
            <a:r>
              <a:rPr lang="en-GB" dirty="0" err="1"/>
              <a:t>andmete</a:t>
            </a:r>
            <a:r>
              <a:rPr lang="en-GB" dirty="0"/>
              <a:t> </a:t>
            </a:r>
            <a:r>
              <a:rPr lang="en-GB" dirty="0" err="1"/>
              <a:t>lugemise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võrdlemise</a:t>
            </a:r>
            <a:r>
              <a:rPr lang="en-GB" dirty="0"/>
              <a:t> </a:t>
            </a:r>
            <a:r>
              <a:rPr lang="en-GB" dirty="0" err="1"/>
              <a:t>ebatäpseks</a:t>
            </a:r>
            <a:r>
              <a:rPr lang="en-GB" dirty="0"/>
              <a:t>.</a:t>
            </a:r>
          </a:p>
          <a:p>
            <a:pPr lvl="0"/>
            <a:r>
              <a:rPr lang="en-GB" b="1" dirty="0" err="1"/>
              <a:t>Puuduv</a:t>
            </a:r>
            <a:r>
              <a:rPr lang="en-GB" b="1" dirty="0"/>
              <a:t> </a:t>
            </a:r>
            <a:r>
              <a:rPr lang="en-GB" b="1" dirty="0" err="1"/>
              <a:t>ruum</a:t>
            </a:r>
            <a:r>
              <a:rPr lang="en-GB" b="1" dirty="0"/>
              <a:t> </a:t>
            </a:r>
            <a:r>
              <a:rPr lang="en-GB" b="1" dirty="0" err="1"/>
              <a:t>ja</a:t>
            </a:r>
            <a:r>
              <a:rPr lang="en-GB" b="1" dirty="0"/>
              <a:t> </a:t>
            </a:r>
            <a:r>
              <a:rPr lang="en-GB" b="1" dirty="0" err="1"/>
              <a:t>hierarhia</a:t>
            </a:r>
            <a:r>
              <a:rPr lang="en-GB" dirty="0"/>
              <a:t>: </a:t>
            </a:r>
            <a:r>
              <a:rPr lang="en-GB" dirty="0" err="1"/>
              <a:t>Elementide</a:t>
            </a:r>
            <a:r>
              <a:rPr lang="en-GB" dirty="0"/>
              <a:t> </a:t>
            </a:r>
            <a:r>
              <a:rPr lang="en-GB" dirty="0" err="1"/>
              <a:t>vahel</a:t>
            </a:r>
            <a:r>
              <a:rPr lang="en-GB" dirty="0"/>
              <a:t> </a:t>
            </a:r>
            <a:r>
              <a:rPr lang="en-GB" dirty="0" err="1"/>
              <a:t>puudub</a:t>
            </a:r>
            <a:r>
              <a:rPr lang="en-GB" dirty="0"/>
              <a:t> </a:t>
            </a:r>
            <a:r>
              <a:rPr lang="en-GB" dirty="0" err="1"/>
              <a:t>vaba</a:t>
            </a:r>
            <a:r>
              <a:rPr lang="en-GB" dirty="0"/>
              <a:t> "</a:t>
            </a:r>
            <a:r>
              <a:rPr lang="en-GB" dirty="0" err="1"/>
              <a:t>hingamisruum</a:t>
            </a:r>
            <a:r>
              <a:rPr lang="en-GB" dirty="0"/>
              <a:t>" </a:t>
            </a:r>
            <a:r>
              <a:rPr lang="en-GB" dirty="0" err="1"/>
              <a:t>ning</a:t>
            </a:r>
            <a:r>
              <a:rPr lang="en-GB" dirty="0"/>
              <a:t> </a:t>
            </a:r>
            <a:r>
              <a:rPr lang="en-GB" dirty="0" err="1"/>
              <a:t>kõik</a:t>
            </a:r>
            <a:r>
              <a:rPr lang="en-GB" dirty="0"/>
              <a:t> </a:t>
            </a:r>
            <a:r>
              <a:rPr lang="en-GB" dirty="0" err="1"/>
              <a:t>kastid</a:t>
            </a:r>
            <a:r>
              <a:rPr lang="en-GB" dirty="0"/>
              <a:t> on </a:t>
            </a:r>
            <a:r>
              <a:rPr lang="en-GB" dirty="0" err="1"/>
              <a:t>ühesuurused</a:t>
            </a:r>
            <a:r>
              <a:rPr lang="en-GB" dirty="0"/>
              <a:t>, </a:t>
            </a:r>
            <a:r>
              <a:rPr lang="en-GB" dirty="0" err="1"/>
              <a:t>mistõttu</a:t>
            </a:r>
            <a:r>
              <a:rPr lang="en-GB" dirty="0"/>
              <a:t> </a:t>
            </a:r>
            <a:r>
              <a:rPr lang="en-GB" dirty="0" err="1"/>
              <a:t>ei</a:t>
            </a:r>
            <a:r>
              <a:rPr lang="en-GB" dirty="0"/>
              <a:t> </a:t>
            </a:r>
            <a:r>
              <a:rPr lang="en-GB" dirty="0" err="1"/>
              <a:t>eristu</a:t>
            </a:r>
            <a:r>
              <a:rPr lang="en-GB" dirty="0"/>
              <a:t> </a:t>
            </a:r>
            <a:r>
              <a:rPr lang="en-GB" dirty="0" err="1"/>
              <a:t>kõige</a:t>
            </a:r>
            <a:r>
              <a:rPr lang="en-GB" dirty="0"/>
              <a:t> </a:t>
            </a:r>
            <a:r>
              <a:rPr lang="en-GB" dirty="0" err="1"/>
              <a:t>kriitilisemad</a:t>
            </a:r>
            <a:r>
              <a:rPr lang="en-GB" dirty="0"/>
              <a:t> </a:t>
            </a:r>
            <a:r>
              <a:rPr lang="en-GB" dirty="0" err="1"/>
              <a:t>näitajad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pic>
        <p:nvPicPr>
          <p:cNvPr id="4" name="Picture 3" descr="r/BusinessIntelligence - I Tried My Hand at Designing the Worst Dashboard I Could Imagine">
            <a:extLst>
              <a:ext uri="{FF2B5EF4-FFF2-40B4-BE49-F238E27FC236}">
                <a16:creationId xmlns:a16="http://schemas.microsoft.com/office/drawing/2014/main" id="{809375E6-7B7A-AF11-FB36-276C6BC42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092" y="709770"/>
            <a:ext cx="5143500" cy="289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31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CF7A6-C222-A7DA-6B43-F9D7AD0A1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HEAD NÄITED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ADC50-5A1E-1AE7-16D9-9D4C7CAD3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0124" y="3895344"/>
            <a:ext cx="7315200" cy="4119372"/>
          </a:xfrm>
        </p:spPr>
        <p:txBody>
          <a:bodyPr/>
          <a:lstStyle/>
          <a:p>
            <a:pPr marL="0" indent="0">
              <a:buNone/>
            </a:pPr>
            <a:r>
              <a:rPr lang="en-GB" b="1" dirty="0" err="1"/>
              <a:t>Selge</a:t>
            </a:r>
            <a:r>
              <a:rPr lang="en-GB" b="1" dirty="0"/>
              <a:t> Z-</a:t>
            </a:r>
            <a:r>
              <a:rPr lang="en-GB" b="1" dirty="0" err="1"/>
              <a:t>kujuline</a:t>
            </a:r>
            <a:r>
              <a:rPr lang="en-GB" b="1" dirty="0"/>
              <a:t> </a:t>
            </a:r>
            <a:r>
              <a:rPr lang="en-GB" b="1" dirty="0" err="1"/>
              <a:t>hierarhia</a:t>
            </a:r>
            <a:r>
              <a:rPr lang="en-GB" b="1" dirty="0"/>
              <a:t> </a:t>
            </a:r>
            <a:r>
              <a:rPr lang="en-GB" dirty="0" err="1"/>
              <a:t>paigutab</a:t>
            </a:r>
            <a:r>
              <a:rPr lang="en-GB" dirty="0"/>
              <a:t> </a:t>
            </a:r>
            <a:r>
              <a:rPr lang="en-GB" dirty="0" err="1"/>
              <a:t>kõige</a:t>
            </a:r>
            <a:r>
              <a:rPr lang="en-GB" dirty="0"/>
              <a:t> </a:t>
            </a:r>
            <a:r>
              <a:rPr lang="en-GB" dirty="0" err="1"/>
              <a:t>olulisemad</a:t>
            </a:r>
            <a:r>
              <a:rPr lang="en-GB" dirty="0"/>
              <a:t> KPI </a:t>
            </a:r>
            <a:r>
              <a:rPr lang="en-GB" dirty="0" err="1"/>
              <a:t>põhinumbrid</a:t>
            </a:r>
            <a:r>
              <a:rPr lang="en-GB" dirty="0"/>
              <a:t> (</a:t>
            </a:r>
            <a:r>
              <a:rPr lang="en-GB" dirty="0" err="1"/>
              <a:t>käive</a:t>
            </a:r>
            <a:r>
              <a:rPr lang="en-GB" dirty="0"/>
              <a:t>, </a:t>
            </a:r>
            <a:r>
              <a:rPr lang="en-GB" dirty="0" err="1"/>
              <a:t>marginaal</a:t>
            </a:r>
            <a:r>
              <a:rPr lang="en-GB" dirty="0"/>
              <a:t>) </a:t>
            </a:r>
            <a:r>
              <a:rPr lang="en-GB" dirty="0" err="1"/>
              <a:t>kohe</a:t>
            </a:r>
            <a:r>
              <a:rPr lang="en-GB" dirty="0"/>
              <a:t> </a:t>
            </a:r>
            <a:r>
              <a:rPr lang="en-GB" dirty="0" err="1"/>
              <a:t>ekraani</a:t>
            </a:r>
            <a:r>
              <a:rPr lang="en-GB" dirty="0"/>
              <a:t> </a:t>
            </a:r>
            <a:r>
              <a:rPr lang="en-GB" dirty="0" err="1"/>
              <a:t>ülaosasse</a:t>
            </a:r>
            <a:r>
              <a:rPr lang="en-GB" dirty="0"/>
              <a:t>. </a:t>
            </a:r>
            <a:r>
              <a:rPr lang="en-GB" dirty="0" err="1"/>
              <a:t>Pilk</a:t>
            </a:r>
            <a:r>
              <a:rPr lang="en-GB" dirty="0"/>
              <a:t> </a:t>
            </a:r>
            <a:r>
              <a:rPr lang="en-GB" dirty="0" err="1"/>
              <a:t>liigub</a:t>
            </a:r>
            <a:r>
              <a:rPr lang="en-GB" dirty="0"/>
              <a:t> </a:t>
            </a:r>
            <a:r>
              <a:rPr lang="en-GB" dirty="0" err="1"/>
              <a:t>sealt</a:t>
            </a:r>
            <a:r>
              <a:rPr lang="en-GB" dirty="0"/>
              <a:t> </a:t>
            </a:r>
            <a:r>
              <a:rPr lang="en-GB" dirty="0" err="1"/>
              <a:t>sujuvalt</a:t>
            </a:r>
            <a:r>
              <a:rPr lang="en-GB" dirty="0"/>
              <a:t> alla </a:t>
            </a:r>
            <a:r>
              <a:rPr lang="en-GB" dirty="0" err="1"/>
              <a:t>detailsemate</a:t>
            </a:r>
            <a:r>
              <a:rPr lang="en-GB" dirty="0"/>
              <a:t> </a:t>
            </a:r>
            <a:r>
              <a:rPr lang="en-GB" dirty="0" err="1"/>
              <a:t>joon</a:t>
            </a:r>
            <a:r>
              <a:rPr lang="en-GB" dirty="0"/>
              <a:t>-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tulpdiagrammide</a:t>
            </a:r>
            <a:r>
              <a:rPr lang="en-GB" dirty="0"/>
              <a:t> </a:t>
            </a:r>
            <a:r>
              <a:rPr lang="en-GB" dirty="0" err="1"/>
              <a:t>poole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pic>
        <p:nvPicPr>
          <p:cNvPr id="4" name="Picture 3" descr="Power BI Dashboard Design Toolkit from Numerro">
            <a:extLst>
              <a:ext uri="{FF2B5EF4-FFF2-40B4-BE49-F238E27FC236}">
                <a16:creationId xmlns:a16="http://schemas.microsoft.com/office/drawing/2014/main" id="{94DEE7F7-596B-23DD-9013-0B85E17CE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602" y="813816"/>
            <a:ext cx="7106244" cy="399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510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6D4EE-C154-4AB8-1445-79A84FCF6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HEAD NÄITED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39BBB-4CE6-4B4E-04C4-CEBEFCBC0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4718304"/>
            <a:ext cx="7315200" cy="1851660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"</a:t>
            </a:r>
            <a:r>
              <a:rPr lang="en-GB" b="1" dirty="0" err="1"/>
              <a:t>Hingamisruum</a:t>
            </a:r>
            <a:r>
              <a:rPr lang="en-GB" b="1" dirty="0"/>
              <a:t>" </a:t>
            </a:r>
            <a:r>
              <a:rPr lang="en-GB" b="1" dirty="0" err="1"/>
              <a:t>ja</a:t>
            </a:r>
            <a:r>
              <a:rPr lang="en-GB" b="1" dirty="0"/>
              <a:t> </a:t>
            </a:r>
            <a:r>
              <a:rPr lang="en-GB" b="1" dirty="0" err="1"/>
              <a:t>ümarad</a:t>
            </a:r>
            <a:r>
              <a:rPr lang="en-GB" b="1" dirty="0"/>
              <a:t> </a:t>
            </a:r>
            <a:r>
              <a:rPr lang="en-GB" b="1" dirty="0" err="1"/>
              <a:t>konteinerid</a:t>
            </a:r>
            <a:r>
              <a:rPr lang="en-GB" b="1" dirty="0"/>
              <a:t> (</a:t>
            </a:r>
            <a:r>
              <a:rPr lang="en-GB" b="1" dirty="0" err="1"/>
              <a:t>Keskmine</a:t>
            </a:r>
            <a:r>
              <a:rPr lang="en-GB" b="1" dirty="0"/>
              <a:t> </a:t>
            </a:r>
            <a:r>
              <a:rPr lang="en-GB" b="1" dirty="0" err="1"/>
              <a:t>pilt</a:t>
            </a:r>
            <a:r>
              <a:rPr lang="en-GB" b="1" dirty="0"/>
              <a:t>)</a:t>
            </a:r>
            <a:r>
              <a:rPr lang="en-GB" dirty="0"/>
              <a:t>: </a:t>
            </a:r>
            <a:r>
              <a:rPr lang="en-GB" dirty="0" err="1"/>
              <a:t>kasutab</a:t>
            </a:r>
            <a:r>
              <a:rPr lang="en-GB" dirty="0"/>
              <a:t> </a:t>
            </a:r>
            <a:r>
              <a:rPr lang="en-GB" dirty="0" err="1"/>
              <a:t>õrna</a:t>
            </a:r>
            <a:r>
              <a:rPr lang="en-GB" dirty="0"/>
              <a:t> halli </a:t>
            </a:r>
            <a:r>
              <a:rPr lang="en-GB" dirty="0" err="1"/>
              <a:t>tausta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valgeid</a:t>
            </a:r>
            <a:r>
              <a:rPr lang="en-GB" dirty="0"/>
              <a:t> </a:t>
            </a:r>
            <a:r>
              <a:rPr lang="en-GB" dirty="0" err="1"/>
              <a:t>ümarate</a:t>
            </a:r>
            <a:r>
              <a:rPr lang="en-GB" dirty="0"/>
              <a:t> </a:t>
            </a:r>
            <a:r>
              <a:rPr lang="en-GB" dirty="0" err="1"/>
              <a:t>nurkadega</a:t>
            </a:r>
            <a:r>
              <a:rPr lang="en-GB" dirty="0"/>
              <a:t> </a:t>
            </a:r>
            <a:r>
              <a:rPr lang="en-GB" dirty="0" err="1"/>
              <a:t>kaste</a:t>
            </a:r>
            <a:r>
              <a:rPr lang="en-GB" dirty="0"/>
              <a:t> (</a:t>
            </a:r>
            <a:r>
              <a:rPr lang="en-GB" dirty="0" err="1"/>
              <a:t>kontenereid</a:t>
            </a:r>
            <a:r>
              <a:rPr lang="en-GB" dirty="0"/>
              <a:t>). </a:t>
            </a:r>
            <a:r>
              <a:rPr lang="en-GB" dirty="0" err="1"/>
              <a:t>Graafikud</a:t>
            </a:r>
            <a:r>
              <a:rPr lang="en-GB" dirty="0"/>
              <a:t> </a:t>
            </a:r>
            <a:r>
              <a:rPr lang="en-GB" dirty="0" err="1"/>
              <a:t>ei</a:t>
            </a:r>
            <a:r>
              <a:rPr lang="en-GB" dirty="0"/>
              <a:t> </a:t>
            </a:r>
            <a:r>
              <a:rPr lang="en-GB" dirty="0" err="1"/>
              <a:t>puutu</a:t>
            </a:r>
            <a:r>
              <a:rPr lang="en-GB" dirty="0"/>
              <a:t> </a:t>
            </a:r>
            <a:r>
              <a:rPr lang="en-GB" dirty="0" err="1"/>
              <a:t>kokku</a:t>
            </a:r>
            <a:r>
              <a:rPr lang="en-GB" dirty="0"/>
              <a:t> </a:t>
            </a:r>
            <a:r>
              <a:rPr lang="en-GB" dirty="0" err="1"/>
              <a:t>ning</a:t>
            </a:r>
            <a:r>
              <a:rPr lang="en-GB" dirty="0"/>
              <a:t> </a:t>
            </a:r>
            <a:r>
              <a:rPr lang="en-GB" dirty="0" err="1"/>
              <a:t>ekraan</a:t>
            </a:r>
            <a:r>
              <a:rPr lang="en-GB" dirty="0"/>
              <a:t> </a:t>
            </a:r>
            <a:r>
              <a:rPr lang="en-GB" dirty="0" err="1"/>
              <a:t>mõjub</a:t>
            </a:r>
            <a:r>
              <a:rPr lang="en-GB" dirty="0"/>
              <a:t> </a:t>
            </a:r>
            <a:r>
              <a:rPr lang="en-GB" dirty="0" err="1"/>
              <a:t>puhtalt</a:t>
            </a:r>
            <a:r>
              <a:rPr lang="en-GB" dirty="0"/>
              <a:t>, </a:t>
            </a:r>
            <a:r>
              <a:rPr lang="en-GB" dirty="0" err="1"/>
              <a:t>kuigi</a:t>
            </a:r>
            <a:r>
              <a:rPr lang="en-GB" dirty="0"/>
              <a:t> </a:t>
            </a:r>
            <a:r>
              <a:rPr lang="en-GB" dirty="0" err="1"/>
              <a:t>andmetihedus</a:t>
            </a:r>
            <a:r>
              <a:rPr lang="en-GB" dirty="0"/>
              <a:t> on </a:t>
            </a:r>
            <a:r>
              <a:rPr lang="en-GB" dirty="0" err="1"/>
              <a:t>kõrge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pic>
        <p:nvPicPr>
          <p:cNvPr id="4" name="Picture 3" descr="Power BI Dashboard Example: Sales Actuals vs Budget - Lukas ...">
            <a:extLst>
              <a:ext uri="{FF2B5EF4-FFF2-40B4-BE49-F238E27FC236}">
                <a16:creationId xmlns:a16="http://schemas.microsoft.com/office/drawing/2014/main" id="{09D1DA94-1BE3-5869-ACCE-64A84E3D9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499" y="625920"/>
            <a:ext cx="7218738" cy="396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077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757FF-1FE5-C8B6-35F9-0B03C2D78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HEAD NÄITED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94C94-F2AA-F14B-0ABD-686DEE48C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3182" y="4613148"/>
            <a:ext cx="7315200" cy="1796796"/>
          </a:xfrm>
        </p:spPr>
        <p:txBody>
          <a:bodyPr/>
          <a:lstStyle/>
          <a:p>
            <a:pPr marL="0" indent="0">
              <a:buNone/>
            </a:pPr>
            <a:r>
              <a:rPr lang="en-GB" b="1" dirty="0" err="1"/>
              <a:t>Funktsionaalne</a:t>
            </a:r>
            <a:r>
              <a:rPr lang="en-GB" b="1" dirty="0"/>
              <a:t> </a:t>
            </a:r>
            <a:r>
              <a:rPr lang="en-GB" b="1" dirty="0" err="1"/>
              <a:t>värvikasutus</a:t>
            </a:r>
            <a:r>
              <a:rPr lang="en-GB" b="1" dirty="0"/>
              <a:t> </a:t>
            </a:r>
            <a:r>
              <a:rPr lang="en-GB" dirty="0" err="1"/>
              <a:t>näitab</a:t>
            </a:r>
            <a:r>
              <a:rPr lang="en-GB" dirty="0"/>
              <a:t>, </a:t>
            </a:r>
            <a:r>
              <a:rPr lang="en-GB" dirty="0" err="1"/>
              <a:t>kuidas</a:t>
            </a:r>
            <a:r>
              <a:rPr lang="en-GB" dirty="0"/>
              <a:t> </a:t>
            </a:r>
            <a:r>
              <a:rPr lang="en-GB" dirty="0" err="1"/>
              <a:t>hoida</a:t>
            </a:r>
            <a:r>
              <a:rPr lang="en-GB" dirty="0"/>
              <a:t> </a:t>
            </a:r>
            <a:r>
              <a:rPr lang="en-GB" dirty="0" err="1"/>
              <a:t>põhiosa</a:t>
            </a:r>
            <a:r>
              <a:rPr lang="en-GB" dirty="0"/>
              <a:t> </a:t>
            </a:r>
            <a:r>
              <a:rPr lang="en-GB" dirty="0" err="1"/>
              <a:t>graafikutest</a:t>
            </a:r>
            <a:r>
              <a:rPr lang="en-GB" dirty="0"/>
              <a:t> </a:t>
            </a:r>
            <a:r>
              <a:rPr lang="en-GB" dirty="0" err="1"/>
              <a:t>neutraalselt</a:t>
            </a:r>
            <a:r>
              <a:rPr lang="en-GB" dirty="0"/>
              <a:t> halli </a:t>
            </a:r>
            <a:r>
              <a:rPr lang="en-GB" dirty="0" err="1"/>
              <a:t>või</a:t>
            </a:r>
            <a:r>
              <a:rPr lang="en-GB" dirty="0"/>
              <a:t> </a:t>
            </a:r>
            <a:r>
              <a:rPr lang="en-GB" dirty="0" err="1"/>
              <a:t>mustana</a:t>
            </a:r>
            <a:r>
              <a:rPr lang="en-GB" dirty="0"/>
              <a:t> </a:t>
            </a:r>
            <a:r>
              <a:rPr lang="en-GB" dirty="0" err="1"/>
              <a:t>ning</a:t>
            </a:r>
            <a:r>
              <a:rPr lang="en-GB" dirty="0"/>
              <a:t> </a:t>
            </a:r>
            <a:r>
              <a:rPr lang="en-GB" dirty="0" err="1"/>
              <a:t>kasutada</a:t>
            </a:r>
            <a:r>
              <a:rPr lang="en-GB" dirty="0"/>
              <a:t> </a:t>
            </a:r>
            <a:r>
              <a:rPr lang="en-GB" dirty="0" err="1"/>
              <a:t>rohelist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punast</a:t>
            </a:r>
            <a:r>
              <a:rPr lang="en-GB" dirty="0"/>
              <a:t> </a:t>
            </a:r>
            <a:r>
              <a:rPr lang="en-GB" dirty="0" err="1"/>
              <a:t>värvi</a:t>
            </a:r>
            <a:r>
              <a:rPr lang="en-GB" dirty="0"/>
              <a:t> </a:t>
            </a:r>
            <a:r>
              <a:rPr lang="en-GB" b="1" dirty="0" err="1"/>
              <a:t>ainult</a:t>
            </a:r>
            <a:r>
              <a:rPr lang="en-GB" dirty="0"/>
              <a:t> </a:t>
            </a:r>
            <a:r>
              <a:rPr lang="en-GB" dirty="0" err="1"/>
              <a:t>eelarve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reaalsuse</a:t>
            </a:r>
            <a:r>
              <a:rPr lang="en-GB" dirty="0"/>
              <a:t> </a:t>
            </a:r>
            <a:r>
              <a:rPr lang="en-GB" dirty="0" err="1"/>
              <a:t>erinevuste</a:t>
            </a:r>
            <a:r>
              <a:rPr lang="en-GB" dirty="0"/>
              <a:t> (</a:t>
            </a:r>
            <a:r>
              <a:rPr lang="en-GB" dirty="0" err="1"/>
              <a:t>pluss</a:t>
            </a:r>
            <a:r>
              <a:rPr lang="en-GB" dirty="0"/>
              <a:t>/</a:t>
            </a:r>
            <a:r>
              <a:rPr lang="en-GB" dirty="0" err="1"/>
              <a:t>miinus</a:t>
            </a:r>
            <a:r>
              <a:rPr lang="en-GB" dirty="0"/>
              <a:t>) </a:t>
            </a:r>
            <a:r>
              <a:rPr lang="en-GB" dirty="0" err="1"/>
              <a:t>näitamiseks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pic>
        <p:nvPicPr>
          <p:cNvPr id="4" name="Picture 3" descr="Power BI Financial Dashboard: Examples, KPIs &amp; Free Templates ...">
            <a:extLst>
              <a:ext uri="{FF2B5EF4-FFF2-40B4-BE49-F238E27FC236}">
                <a16:creationId xmlns:a16="http://schemas.microsoft.com/office/drawing/2014/main" id="{F6BA9306-AE9A-CD3F-EDD9-334AF6F37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182" y="676656"/>
            <a:ext cx="7104133" cy="382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737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9D975-99C6-BF57-C572-65565056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Harjutus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904B3-29E4-C3E0-A31D-19657250C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Sales </a:t>
            </a:r>
            <a:r>
              <a:rPr lang="en-GB" dirty="0" err="1"/>
              <a:t>aruanne</a:t>
            </a:r>
            <a:r>
              <a:rPr lang="en-GB" dirty="0"/>
              <a:t> HARJUTUS 1</a:t>
            </a:r>
          </a:p>
          <a:p>
            <a:r>
              <a:rPr lang="en-GB" dirty="0" err="1"/>
              <a:t>Kujundame</a:t>
            </a:r>
            <a:endParaRPr lang="en-GB" dirty="0"/>
          </a:p>
          <a:p>
            <a:r>
              <a:rPr lang="en-GB" dirty="0" err="1"/>
              <a:t>Testime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57709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Metadata/LabelInfo.xml><?xml version="1.0" encoding="utf-8"?>
<clbl:labelList xmlns:clbl="http://schemas.microsoft.com/office/2020/mipLabelMetadata">
  <clbl:label id="{4fc69ca6-ce6b-4059-8ad9-2049c3c135b3}" enabled="0" method="" siteId="{4fc69ca6-ce6b-4059-8ad9-2049c3c135b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189</TotalTime>
  <Words>954</Words>
  <Application>Microsoft Office PowerPoint</Application>
  <PresentationFormat>Widescreen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Corbel</vt:lpstr>
      <vt:lpstr>Wingdings 2</vt:lpstr>
      <vt:lpstr>Frame</vt:lpstr>
      <vt:lpstr>Visualiseerimine päev 3</vt:lpstr>
      <vt:lpstr>"ilusaks tegemine“ ja loetavuse parandamine</vt:lpstr>
      <vt:lpstr>Power BI-s kasutame kolme põhilist Gestalt-printsiipi </vt:lpstr>
      <vt:lpstr>Power BI-s kasutame kolme põhilist Gestalt-printsiipi </vt:lpstr>
      <vt:lpstr>Power BI-s kasutame kolme põhilist Gestalt-printsiipi</vt:lpstr>
      <vt:lpstr>Power BI-s kasutame kolme põhilist Gestalt-printsiipi </vt:lpstr>
      <vt:lpstr>Disaini ja kasutajamugavuse kontroll</vt:lpstr>
      <vt:lpstr>Disaini ja kasutajamugavuse kontroll</vt:lpstr>
      <vt:lpstr>Disaini ja kasutajamugavuse kontroll</vt:lpstr>
      <vt:lpstr>Halb näide</vt:lpstr>
      <vt:lpstr>Halb näide</vt:lpstr>
      <vt:lpstr>HEAD NÄITED</vt:lpstr>
      <vt:lpstr>HEAD NÄITED</vt:lpstr>
      <vt:lpstr>HEAD NÄITED</vt:lpstr>
      <vt:lpstr>Harjutus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Emilie Abel</dc:creator>
  <cp:lastModifiedBy>Emilie Abel</cp:lastModifiedBy>
  <cp:revision>2</cp:revision>
  <dcterms:created xsi:type="dcterms:W3CDTF">2026-08-28T10:44:17Z</dcterms:created>
  <dcterms:modified xsi:type="dcterms:W3CDTF">2026-09-01T17:56:25Z</dcterms:modified>
</cp:coreProperties>
</file>