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417" r:id="rId5"/>
    <p:sldId id="433" r:id="rId6"/>
    <p:sldId id="634" r:id="rId7"/>
    <p:sldId id="443" r:id="rId8"/>
    <p:sldId id="444" r:id="rId9"/>
    <p:sldId id="445" r:id="rId10"/>
    <p:sldId id="635" r:id="rId11"/>
    <p:sldId id="642" r:id="rId12"/>
    <p:sldId id="643" r:id="rId13"/>
    <p:sldId id="636" r:id="rId14"/>
    <p:sldId id="637" r:id="rId15"/>
    <p:sldId id="535" r:id="rId16"/>
    <p:sldId id="446" r:id="rId17"/>
    <p:sldId id="640" r:id="rId18"/>
    <p:sldId id="585" r:id="rId19"/>
    <p:sldId id="638" r:id="rId20"/>
    <p:sldId id="639" r:id="rId21"/>
    <p:sldId id="586" r:id="rId22"/>
    <p:sldId id="536" r:id="rId23"/>
    <p:sldId id="584" r:id="rId24"/>
    <p:sldId id="583" r:id="rId25"/>
    <p:sldId id="582" r:id="rId26"/>
    <p:sldId id="645" r:id="rId27"/>
    <p:sldId id="537" r:id="rId28"/>
    <p:sldId id="432" r:id="rId29"/>
    <p:sldId id="644" r:id="rId30"/>
  </p:sldIdLst>
  <p:sldSz cx="12192000" cy="6858000"/>
  <p:notesSz cx="6858000" cy="9144000"/>
  <p:embeddedFontLst>
    <p:embeddedFont>
      <p:font typeface="Consolas" panose="020B0609020204030204" pitchFamily="49" charset="0"/>
      <p:regular r:id="rId33"/>
      <p:bold r:id="rId34"/>
      <p:italic r:id="rId35"/>
      <p:boldItalic r:id="rId36"/>
    </p:embeddedFont>
    <p:embeddedFont>
      <p:font typeface="Inter" panose="020B0604020202020204" charset="0"/>
      <p:regular r:id="rId37"/>
      <p:bold r:id="rId38"/>
      <p:italic r:id="rId39"/>
      <p:boldItalic r:id="rId40"/>
    </p:embeddedFont>
    <p:embeddedFont>
      <p:font typeface="Inter Bold" panose="020B0604020202020204" charset="0"/>
      <p:bold r:id="rId41"/>
    </p:embeddedFont>
    <p:embeddedFont>
      <p:font typeface="Poppins SemiBold" panose="00000700000000000000" pitchFamily="2" charset="-70"/>
      <p:bold r:id="rId42"/>
      <p:boldItalic r:id="rId43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12A9BE-6501-4A29-8920-1DEC6FFD6A4F}" v="95" dt="2026-08-18T07:07:30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0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2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7.fntdata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ie Abel" userId="20dec598-1860-40de-ab3f-181316cc4da6" providerId="ADAL" clId="{3EAE1975-14BE-41D5-9E3B-28573F0EE5DC}"/>
    <pc:docChg chg="custSel modSld">
      <pc:chgData name="Emilie Abel" userId="20dec598-1860-40de-ab3f-181316cc4da6" providerId="ADAL" clId="{3EAE1975-14BE-41D5-9E3B-28573F0EE5DC}" dt="2026-08-18T07:07:30.315" v="151" actId="20577"/>
      <pc:docMkLst>
        <pc:docMk/>
      </pc:docMkLst>
      <pc:sldChg chg="delSp modSp mod">
        <pc:chgData name="Emilie Abel" userId="20dec598-1860-40de-ab3f-181316cc4da6" providerId="ADAL" clId="{3EAE1975-14BE-41D5-9E3B-28573F0EE5DC}" dt="2026-08-18T07:06:56.376" v="56" actId="20577"/>
        <pc:sldMkLst>
          <pc:docMk/>
          <pc:sldMk cId="4169291970" sldId="417"/>
        </pc:sldMkLst>
        <pc:spChg chg="mod">
          <ac:chgData name="Emilie Abel" userId="20dec598-1860-40de-ab3f-181316cc4da6" providerId="ADAL" clId="{3EAE1975-14BE-41D5-9E3B-28573F0EE5DC}" dt="2026-08-18T07:06:56.376" v="56" actId="20577"/>
          <ac:spMkLst>
            <pc:docMk/>
            <pc:sldMk cId="4169291970" sldId="417"/>
            <ac:spMk id="5" creationId="{3496B8E7-2B01-285F-88ED-B3ADE66A3D31}"/>
          </ac:spMkLst>
        </pc:spChg>
      </pc:sldChg>
      <pc:sldChg chg="modSp">
        <pc:chgData name="Emilie Abel" userId="20dec598-1860-40de-ab3f-181316cc4da6" providerId="ADAL" clId="{3EAE1975-14BE-41D5-9E3B-28573F0EE5DC}" dt="2026-08-18T07:07:30.315" v="151" actId="20577"/>
        <pc:sldMkLst>
          <pc:docMk/>
          <pc:sldMk cId="1135806306" sldId="634"/>
        </pc:sldMkLst>
        <pc:spChg chg="mod">
          <ac:chgData name="Emilie Abel" userId="20dec598-1860-40de-ab3f-181316cc4da6" providerId="ADAL" clId="{3EAE1975-14BE-41D5-9E3B-28573F0EE5DC}" dt="2026-08-18T07:07:30.315" v="151" actId="20577"/>
          <ac:spMkLst>
            <pc:docMk/>
            <pc:sldMk cId="1135806306" sldId="634"/>
            <ac:spMk id="3" creationId="{667878C4-AB0D-FB23-914A-4E235E5D7F9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BDDBE7-AE37-48D0-9859-DBD817E4A03A}" type="doc">
      <dgm:prSet loTypeId="urn:microsoft.com/office/officeart/2005/8/layout/process1" loCatId="process" qsTypeId="urn:microsoft.com/office/officeart/2005/8/quickstyle/simple1#1" qsCatId="simple" csTypeId="urn:microsoft.com/office/officeart/2005/8/colors/accent1_2#6" csCatId="accent1" phldr="1"/>
      <dgm:spPr/>
      <dgm:t>
        <a:bodyPr/>
        <a:lstStyle/>
        <a:p>
          <a:endParaRPr lang="en-US"/>
        </a:p>
      </dgm:t>
    </dgm:pt>
    <dgm:pt modelId="{4C34529D-1D59-4B5F-A6EF-5001C7E4E0EE}">
      <dgm:prSet phldrT="[Text]" phldr="0"/>
      <dgm:spPr/>
      <dgm:t>
        <a:bodyPr/>
        <a:lstStyle/>
        <a:p>
          <a:r>
            <a:rPr lang="en-US">
              <a:latin typeface="Inter Bold"/>
            </a:rPr>
            <a:t>Hankimine</a:t>
          </a:r>
          <a:endParaRPr lang="en-US"/>
        </a:p>
      </dgm:t>
    </dgm:pt>
    <dgm:pt modelId="{DA87F406-E8AA-483A-9324-3FF8A8176162}" type="parTrans" cxnId="{20AA87D7-07BD-4281-B75C-A7FAC6D0E1C9}">
      <dgm:prSet/>
      <dgm:spPr/>
      <dgm:t>
        <a:bodyPr/>
        <a:lstStyle/>
        <a:p>
          <a:endParaRPr lang="en-US"/>
        </a:p>
      </dgm:t>
    </dgm:pt>
    <dgm:pt modelId="{878A0EEB-E32B-49CB-B481-5F0D31C1598B}" type="sibTrans" cxnId="{20AA87D7-07BD-4281-B75C-A7FAC6D0E1C9}">
      <dgm:prSet/>
      <dgm:spPr/>
      <dgm:t>
        <a:bodyPr/>
        <a:lstStyle/>
        <a:p>
          <a:endParaRPr lang="en-US"/>
        </a:p>
      </dgm:t>
    </dgm:pt>
    <dgm:pt modelId="{27A1E0C9-CE44-43FB-BD22-3734358F189C}">
      <dgm:prSet phldrT="[Text]" phldr="0"/>
      <dgm:spPr/>
      <dgm:t>
        <a:bodyPr/>
        <a:lstStyle/>
        <a:p>
          <a:pPr rtl="0"/>
          <a:r>
            <a:rPr lang="en-US">
              <a:latin typeface="Inter Bold"/>
            </a:rPr>
            <a:t>Talletamine</a:t>
          </a:r>
          <a:endParaRPr lang="en-US"/>
        </a:p>
      </dgm:t>
    </dgm:pt>
    <dgm:pt modelId="{D3B24AD3-6D78-4ECC-A1DB-64540EF9ACB8}" type="parTrans" cxnId="{C3176445-C78F-4C9A-AC8E-B183907FE775}">
      <dgm:prSet/>
      <dgm:spPr/>
      <dgm:t>
        <a:bodyPr/>
        <a:lstStyle/>
        <a:p>
          <a:endParaRPr lang="en-US"/>
        </a:p>
      </dgm:t>
    </dgm:pt>
    <dgm:pt modelId="{DD6A7DC9-5E98-4FD6-A16C-F82CEFC22F6A}" type="sibTrans" cxnId="{C3176445-C78F-4C9A-AC8E-B183907FE775}">
      <dgm:prSet/>
      <dgm:spPr/>
      <dgm:t>
        <a:bodyPr/>
        <a:lstStyle/>
        <a:p>
          <a:endParaRPr lang="en-US"/>
        </a:p>
      </dgm:t>
    </dgm:pt>
    <dgm:pt modelId="{10047F9B-1605-459E-8895-D4A71B52A4DD}">
      <dgm:prSet phldrT="[Text]" phldr="0"/>
      <dgm:spPr/>
      <dgm:t>
        <a:bodyPr/>
        <a:lstStyle/>
        <a:p>
          <a:r>
            <a:rPr lang="en-US" err="1">
              <a:latin typeface="Inter Bold"/>
            </a:rPr>
            <a:t>Kasutamine</a:t>
          </a:r>
          <a:endParaRPr lang="en-US"/>
        </a:p>
      </dgm:t>
    </dgm:pt>
    <dgm:pt modelId="{89CC0548-AD04-40B2-8A73-32ABF99C0221}" type="parTrans" cxnId="{D56DCD2B-3DB4-42F9-A04F-D2C17F562362}">
      <dgm:prSet/>
      <dgm:spPr/>
      <dgm:t>
        <a:bodyPr/>
        <a:lstStyle/>
        <a:p>
          <a:endParaRPr lang="en-US"/>
        </a:p>
      </dgm:t>
    </dgm:pt>
    <dgm:pt modelId="{6F2C8991-0F0D-4903-BC72-1072E52D62BC}" type="sibTrans" cxnId="{D56DCD2B-3DB4-42F9-A04F-D2C17F562362}">
      <dgm:prSet/>
      <dgm:spPr/>
      <dgm:t>
        <a:bodyPr/>
        <a:lstStyle/>
        <a:p>
          <a:endParaRPr lang="en-US"/>
        </a:p>
      </dgm:t>
    </dgm:pt>
    <dgm:pt modelId="{6F3EDDCF-0EC7-48B4-BFA9-85C04FC8EEF5}">
      <dgm:prSet phldrT="[Text]" phldr="0"/>
      <dgm:spPr/>
      <dgm:t>
        <a:bodyPr/>
        <a:lstStyle/>
        <a:p>
          <a:r>
            <a:rPr lang="en-US" err="1">
              <a:latin typeface="Inter Bold"/>
            </a:rPr>
            <a:t>Arhiveerimine</a:t>
          </a:r>
          <a:endParaRPr lang="en-US"/>
        </a:p>
      </dgm:t>
    </dgm:pt>
    <dgm:pt modelId="{F4C0A853-4F3C-4D26-BDEB-C4B4812FD288}" type="parTrans" cxnId="{A13A5126-C20C-4857-AE6F-2E509ACB5D75}">
      <dgm:prSet/>
      <dgm:spPr/>
      <dgm:t>
        <a:bodyPr/>
        <a:lstStyle/>
        <a:p>
          <a:endParaRPr lang="en-US"/>
        </a:p>
      </dgm:t>
    </dgm:pt>
    <dgm:pt modelId="{E2950FC3-71F0-44A6-A8DE-1598C8338E1F}" type="sibTrans" cxnId="{A13A5126-C20C-4857-AE6F-2E509ACB5D75}">
      <dgm:prSet/>
      <dgm:spPr/>
      <dgm:t>
        <a:bodyPr/>
        <a:lstStyle/>
        <a:p>
          <a:endParaRPr lang="en-US"/>
        </a:p>
      </dgm:t>
    </dgm:pt>
    <dgm:pt modelId="{E1BA7BA6-BC03-481F-B7DF-92870E15C328}">
      <dgm:prSet phldrT="[Text]" phldr="0"/>
      <dgm:spPr/>
      <dgm:t>
        <a:bodyPr/>
        <a:lstStyle/>
        <a:p>
          <a:r>
            <a:rPr lang="en-US" err="1">
              <a:latin typeface="Inter Bold"/>
            </a:rPr>
            <a:t>Hävitamine</a:t>
          </a:r>
          <a:endParaRPr lang="en-US"/>
        </a:p>
      </dgm:t>
    </dgm:pt>
    <dgm:pt modelId="{0A68AAEF-E311-45D7-AB05-9A602EF5D864}" type="parTrans" cxnId="{6A6ED64D-2001-4074-A0EA-7418F158C3EF}">
      <dgm:prSet/>
      <dgm:spPr/>
      <dgm:t>
        <a:bodyPr/>
        <a:lstStyle/>
        <a:p>
          <a:endParaRPr lang="en-US"/>
        </a:p>
      </dgm:t>
    </dgm:pt>
    <dgm:pt modelId="{E0F0F220-33CC-4634-B335-D7D76341542C}" type="sibTrans" cxnId="{6A6ED64D-2001-4074-A0EA-7418F158C3EF}">
      <dgm:prSet/>
      <dgm:spPr/>
      <dgm:t>
        <a:bodyPr/>
        <a:lstStyle/>
        <a:p>
          <a:endParaRPr lang="en-US"/>
        </a:p>
      </dgm:t>
    </dgm:pt>
    <dgm:pt modelId="{E2B261C8-F1E7-439B-BE08-EE92F7745541}">
      <dgm:prSet phldr="0"/>
      <dgm:spPr/>
      <dgm:t>
        <a:bodyPr/>
        <a:lstStyle/>
        <a:p>
          <a:pPr rtl="0"/>
          <a:r>
            <a:rPr lang="en-US">
              <a:latin typeface="Inter Bold"/>
            </a:rPr>
            <a:t>Planeerimine</a:t>
          </a:r>
        </a:p>
      </dgm:t>
    </dgm:pt>
    <dgm:pt modelId="{8C77E588-4F11-40BC-A615-AA8D156A9835}" type="parTrans" cxnId="{00329E39-8D99-4461-A6AA-C9E2958A04CA}">
      <dgm:prSet/>
      <dgm:spPr/>
      <dgm:t>
        <a:bodyPr/>
        <a:lstStyle/>
        <a:p>
          <a:endParaRPr lang="et-EE"/>
        </a:p>
      </dgm:t>
    </dgm:pt>
    <dgm:pt modelId="{A02634B4-F9A3-46E9-ABFB-414BD730C56F}" type="sibTrans" cxnId="{00329E39-8D99-4461-A6AA-C9E2958A04CA}">
      <dgm:prSet/>
      <dgm:spPr/>
      <dgm:t>
        <a:bodyPr/>
        <a:lstStyle/>
        <a:p>
          <a:endParaRPr lang="en-US"/>
        </a:p>
      </dgm:t>
    </dgm:pt>
    <dgm:pt modelId="{296F55F7-6911-4A65-B354-F6CA7CBEDDF9}" type="pres">
      <dgm:prSet presAssocID="{86BDDBE7-AE37-48D0-9859-DBD817E4A03A}" presName="Name0" presStyleCnt="0">
        <dgm:presLayoutVars>
          <dgm:dir/>
          <dgm:resizeHandles val="exact"/>
        </dgm:presLayoutVars>
      </dgm:prSet>
      <dgm:spPr/>
    </dgm:pt>
    <dgm:pt modelId="{1EF1184B-3B6E-4637-89D3-9A00CE6E8166}" type="pres">
      <dgm:prSet presAssocID="{E2B261C8-F1E7-439B-BE08-EE92F7745541}" presName="node" presStyleLbl="node1" presStyleIdx="0" presStyleCnt="6">
        <dgm:presLayoutVars>
          <dgm:bulletEnabled val="1"/>
        </dgm:presLayoutVars>
      </dgm:prSet>
      <dgm:spPr/>
    </dgm:pt>
    <dgm:pt modelId="{5BEE890D-2E15-4607-AB72-53F074367298}" type="pres">
      <dgm:prSet presAssocID="{A02634B4-F9A3-46E9-ABFB-414BD730C56F}" presName="sibTrans" presStyleLbl="sibTrans2D1" presStyleIdx="0" presStyleCnt="5"/>
      <dgm:spPr/>
    </dgm:pt>
    <dgm:pt modelId="{53A7B282-95BD-45C4-8B5E-3C8AFCCD5C36}" type="pres">
      <dgm:prSet presAssocID="{A02634B4-F9A3-46E9-ABFB-414BD730C56F}" presName="connectorText" presStyleLbl="sibTrans2D1" presStyleIdx="0" presStyleCnt="5"/>
      <dgm:spPr/>
    </dgm:pt>
    <dgm:pt modelId="{5111FF85-42D4-4D4A-8976-3F5564444B1C}" type="pres">
      <dgm:prSet presAssocID="{4C34529D-1D59-4B5F-A6EF-5001C7E4E0EE}" presName="node" presStyleLbl="node1" presStyleIdx="1" presStyleCnt="6">
        <dgm:presLayoutVars>
          <dgm:bulletEnabled val="1"/>
        </dgm:presLayoutVars>
      </dgm:prSet>
      <dgm:spPr/>
    </dgm:pt>
    <dgm:pt modelId="{B05611B6-B2EA-4624-91BB-88F8481763FB}" type="pres">
      <dgm:prSet presAssocID="{878A0EEB-E32B-49CB-B481-5F0D31C1598B}" presName="sibTrans" presStyleLbl="sibTrans2D1" presStyleIdx="1" presStyleCnt="5"/>
      <dgm:spPr/>
    </dgm:pt>
    <dgm:pt modelId="{1FC3B2B0-A0DA-4522-93B9-E20B7E6408C3}" type="pres">
      <dgm:prSet presAssocID="{878A0EEB-E32B-49CB-B481-5F0D31C1598B}" presName="connectorText" presStyleLbl="sibTrans2D1" presStyleIdx="1" presStyleCnt="5"/>
      <dgm:spPr/>
    </dgm:pt>
    <dgm:pt modelId="{96407FA2-2AFA-4B8E-97FC-6E9094B7638F}" type="pres">
      <dgm:prSet presAssocID="{27A1E0C9-CE44-43FB-BD22-3734358F189C}" presName="node" presStyleLbl="node1" presStyleIdx="2" presStyleCnt="6">
        <dgm:presLayoutVars>
          <dgm:bulletEnabled val="1"/>
        </dgm:presLayoutVars>
      </dgm:prSet>
      <dgm:spPr/>
    </dgm:pt>
    <dgm:pt modelId="{C8F8CE43-947F-4488-8E00-3F9877C33038}" type="pres">
      <dgm:prSet presAssocID="{DD6A7DC9-5E98-4FD6-A16C-F82CEFC22F6A}" presName="sibTrans" presStyleLbl="sibTrans2D1" presStyleIdx="2" presStyleCnt="5"/>
      <dgm:spPr/>
    </dgm:pt>
    <dgm:pt modelId="{0C99AA13-B64E-49B9-8E59-7BE7307AE72A}" type="pres">
      <dgm:prSet presAssocID="{DD6A7DC9-5E98-4FD6-A16C-F82CEFC22F6A}" presName="connectorText" presStyleLbl="sibTrans2D1" presStyleIdx="2" presStyleCnt="5"/>
      <dgm:spPr/>
    </dgm:pt>
    <dgm:pt modelId="{F54221D3-ACBE-41FD-8CC7-625400C51A65}" type="pres">
      <dgm:prSet presAssocID="{10047F9B-1605-459E-8895-D4A71B52A4DD}" presName="node" presStyleLbl="node1" presStyleIdx="3" presStyleCnt="6">
        <dgm:presLayoutVars>
          <dgm:bulletEnabled val="1"/>
        </dgm:presLayoutVars>
      </dgm:prSet>
      <dgm:spPr/>
    </dgm:pt>
    <dgm:pt modelId="{15B74C4D-07D3-4659-B0C3-3BA22973B5F0}" type="pres">
      <dgm:prSet presAssocID="{6F2C8991-0F0D-4903-BC72-1072E52D62BC}" presName="sibTrans" presStyleLbl="sibTrans2D1" presStyleIdx="3" presStyleCnt="5"/>
      <dgm:spPr/>
    </dgm:pt>
    <dgm:pt modelId="{E216B14B-0155-492D-8F5E-3BB94708ECE0}" type="pres">
      <dgm:prSet presAssocID="{6F2C8991-0F0D-4903-BC72-1072E52D62BC}" presName="connectorText" presStyleLbl="sibTrans2D1" presStyleIdx="3" presStyleCnt="5"/>
      <dgm:spPr/>
    </dgm:pt>
    <dgm:pt modelId="{956A5725-0258-4294-9A27-786C17C769A0}" type="pres">
      <dgm:prSet presAssocID="{6F3EDDCF-0EC7-48B4-BFA9-85C04FC8EEF5}" presName="node" presStyleLbl="node1" presStyleIdx="4" presStyleCnt="6">
        <dgm:presLayoutVars>
          <dgm:bulletEnabled val="1"/>
        </dgm:presLayoutVars>
      </dgm:prSet>
      <dgm:spPr/>
    </dgm:pt>
    <dgm:pt modelId="{33E92BA0-5AA3-4211-A29E-3517ED53B92C}" type="pres">
      <dgm:prSet presAssocID="{E2950FC3-71F0-44A6-A8DE-1598C8338E1F}" presName="sibTrans" presStyleLbl="sibTrans2D1" presStyleIdx="4" presStyleCnt="5"/>
      <dgm:spPr/>
    </dgm:pt>
    <dgm:pt modelId="{55B6B442-ED09-485E-A539-F5C106395005}" type="pres">
      <dgm:prSet presAssocID="{E2950FC3-71F0-44A6-A8DE-1598C8338E1F}" presName="connectorText" presStyleLbl="sibTrans2D1" presStyleIdx="4" presStyleCnt="5"/>
      <dgm:spPr/>
    </dgm:pt>
    <dgm:pt modelId="{7AF61044-B86B-40C0-8EB3-180FDF2292F8}" type="pres">
      <dgm:prSet presAssocID="{E1BA7BA6-BC03-481F-B7DF-92870E15C328}" presName="node" presStyleLbl="node1" presStyleIdx="5" presStyleCnt="6">
        <dgm:presLayoutVars>
          <dgm:bulletEnabled val="1"/>
        </dgm:presLayoutVars>
      </dgm:prSet>
      <dgm:spPr/>
    </dgm:pt>
  </dgm:ptLst>
  <dgm:cxnLst>
    <dgm:cxn modelId="{7F154A1A-A998-460D-A2C0-20D7DEE2D4C8}" type="presOf" srcId="{6F2C8991-0F0D-4903-BC72-1072E52D62BC}" destId="{15B74C4D-07D3-4659-B0C3-3BA22973B5F0}" srcOrd="0" destOrd="0" presId="urn:microsoft.com/office/officeart/2005/8/layout/process1"/>
    <dgm:cxn modelId="{A13A5126-C20C-4857-AE6F-2E509ACB5D75}" srcId="{86BDDBE7-AE37-48D0-9859-DBD817E4A03A}" destId="{6F3EDDCF-0EC7-48B4-BFA9-85C04FC8EEF5}" srcOrd="4" destOrd="0" parTransId="{F4C0A853-4F3C-4D26-BDEB-C4B4812FD288}" sibTransId="{E2950FC3-71F0-44A6-A8DE-1598C8338E1F}"/>
    <dgm:cxn modelId="{D56DCD2B-3DB4-42F9-A04F-D2C17F562362}" srcId="{86BDDBE7-AE37-48D0-9859-DBD817E4A03A}" destId="{10047F9B-1605-459E-8895-D4A71B52A4DD}" srcOrd="3" destOrd="0" parTransId="{89CC0548-AD04-40B2-8A73-32ABF99C0221}" sibTransId="{6F2C8991-0F0D-4903-BC72-1072E52D62BC}"/>
    <dgm:cxn modelId="{00329E39-8D99-4461-A6AA-C9E2958A04CA}" srcId="{86BDDBE7-AE37-48D0-9859-DBD817E4A03A}" destId="{E2B261C8-F1E7-439B-BE08-EE92F7745541}" srcOrd="0" destOrd="0" parTransId="{8C77E588-4F11-40BC-A615-AA8D156A9835}" sibTransId="{A02634B4-F9A3-46E9-ABFB-414BD730C56F}"/>
    <dgm:cxn modelId="{CFABBB3E-656B-48BD-916B-279F1C5129AF}" type="presOf" srcId="{E2B261C8-F1E7-439B-BE08-EE92F7745541}" destId="{1EF1184B-3B6E-4637-89D3-9A00CE6E8166}" srcOrd="0" destOrd="0" presId="urn:microsoft.com/office/officeart/2005/8/layout/process1"/>
    <dgm:cxn modelId="{A57BDF5D-0BFD-468C-9CCF-0B1BEEBD967A}" type="presOf" srcId="{DD6A7DC9-5E98-4FD6-A16C-F82CEFC22F6A}" destId="{0C99AA13-B64E-49B9-8E59-7BE7307AE72A}" srcOrd="1" destOrd="0" presId="urn:microsoft.com/office/officeart/2005/8/layout/process1"/>
    <dgm:cxn modelId="{D4430245-77B5-40AD-8D55-AC5162FEF586}" type="presOf" srcId="{6F3EDDCF-0EC7-48B4-BFA9-85C04FC8EEF5}" destId="{956A5725-0258-4294-9A27-786C17C769A0}" srcOrd="0" destOrd="0" presId="urn:microsoft.com/office/officeart/2005/8/layout/process1"/>
    <dgm:cxn modelId="{C3176445-C78F-4C9A-AC8E-B183907FE775}" srcId="{86BDDBE7-AE37-48D0-9859-DBD817E4A03A}" destId="{27A1E0C9-CE44-43FB-BD22-3734358F189C}" srcOrd="2" destOrd="0" parTransId="{D3B24AD3-6D78-4ECC-A1DB-64540EF9ACB8}" sibTransId="{DD6A7DC9-5E98-4FD6-A16C-F82CEFC22F6A}"/>
    <dgm:cxn modelId="{0F55336A-7DDF-41D3-A593-7BE6534A04BB}" type="presOf" srcId="{DD6A7DC9-5E98-4FD6-A16C-F82CEFC22F6A}" destId="{C8F8CE43-947F-4488-8E00-3F9877C33038}" srcOrd="0" destOrd="0" presId="urn:microsoft.com/office/officeart/2005/8/layout/process1"/>
    <dgm:cxn modelId="{50C5A46B-7F40-4EC8-9B4E-6382A9D1F1E4}" type="presOf" srcId="{4C34529D-1D59-4B5F-A6EF-5001C7E4E0EE}" destId="{5111FF85-42D4-4D4A-8976-3F5564444B1C}" srcOrd="0" destOrd="0" presId="urn:microsoft.com/office/officeart/2005/8/layout/process1"/>
    <dgm:cxn modelId="{6A6ED64D-2001-4074-A0EA-7418F158C3EF}" srcId="{86BDDBE7-AE37-48D0-9859-DBD817E4A03A}" destId="{E1BA7BA6-BC03-481F-B7DF-92870E15C328}" srcOrd="5" destOrd="0" parTransId="{0A68AAEF-E311-45D7-AB05-9A602EF5D864}" sibTransId="{E0F0F220-33CC-4634-B335-D7D76341542C}"/>
    <dgm:cxn modelId="{AB57EE7F-E03F-461C-8CD5-22E295E1DB46}" type="presOf" srcId="{E2950FC3-71F0-44A6-A8DE-1598C8338E1F}" destId="{33E92BA0-5AA3-4211-A29E-3517ED53B92C}" srcOrd="0" destOrd="0" presId="urn:microsoft.com/office/officeart/2005/8/layout/process1"/>
    <dgm:cxn modelId="{B1633982-D02A-40CF-83A8-4319DFA48222}" type="presOf" srcId="{878A0EEB-E32B-49CB-B481-5F0D31C1598B}" destId="{B05611B6-B2EA-4624-91BB-88F8481763FB}" srcOrd="0" destOrd="0" presId="urn:microsoft.com/office/officeart/2005/8/layout/process1"/>
    <dgm:cxn modelId="{4D6CEE90-F025-4DDD-BF0C-673D53785690}" type="presOf" srcId="{6F2C8991-0F0D-4903-BC72-1072E52D62BC}" destId="{E216B14B-0155-492D-8F5E-3BB94708ECE0}" srcOrd="1" destOrd="0" presId="urn:microsoft.com/office/officeart/2005/8/layout/process1"/>
    <dgm:cxn modelId="{FB6D449D-7A2F-4222-AAFA-D708D93C0177}" type="presOf" srcId="{E2950FC3-71F0-44A6-A8DE-1598C8338E1F}" destId="{55B6B442-ED09-485E-A539-F5C106395005}" srcOrd="1" destOrd="0" presId="urn:microsoft.com/office/officeart/2005/8/layout/process1"/>
    <dgm:cxn modelId="{EE01C6B7-CECE-4639-A0D6-E29E1E1F5666}" type="presOf" srcId="{A02634B4-F9A3-46E9-ABFB-414BD730C56F}" destId="{53A7B282-95BD-45C4-8B5E-3C8AFCCD5C36}" srcOrd="1" destOrd="0" presId="urn:microsoft.com/office/officeart/2005/8/layout/process1"/>
    <dgm:cxn modelId="{5C1D20BB-B5AB-4699-AFC0-827723A6911A}" type="presOf" srcId="{878A0EEB-E32B-49CB-B481-5F0D31C1598B}" destId="{1FC3B2B0-A0DA-4522-93B9-E20B7E6408C3}" srcOrd="1" destOrd="0" presId="urn:microsoft.com/office/officeart/2005/8/layout/process1"/>
    <dgm:cxn modelId="{EC6C19C5-A70E-4043-BA3A-C2EB55CBA6EB}" type="presOf" srcId="{86BDDBE7-AE37-48D0-9859-DBD817E4A03A}" destId="{296F55F7-6911-4A65-B354-F6CA7CBEDDF9}" srcOrd="0" destOrd="0" presId="urn:microsoft.com/office/officeart/2005/8/layout/process1"/>
    <dgm:cxn modelId="{B533C2D3-22CD-42AC-ABAD-22AFDA248F64}" type="presOf" srcId="{27A1E0C9-CE44-43FB-BD22-3734358F189C}" destId="{96407FA2-2AFA-4B8E-97FC-6E9094B7638F}" srcOrd="0" destOrd="0" presId="urn:microsoft.com/office/officeart/2005/8/layout/process1"/>
    <dgm:cxn modelId="{20AA87D7-07BD-4281-B75C-A7FAC6D0E1C9}" srcId="{86BDDBE7-AE37-48D0-9859-DBD817E4A03A}" destId="{4C34529D-1D59-4B5F-A6EF-5001C7E4E0EE}" srcOrd="1" destOrd="0" parTransId="{DA87F406-E8AA-483A-9324-3FF8A8176162}" sibTransId="{878A0EEB-E32B-49CB-B481-5F0D31C1598B}"/>
    <dgm:cxn modelId="{30DBC3E1-1428-44E3-9994-398EF0312058}" type="presOf" srcId="{E1BA7BA6-BC03-481F-B7DF-92870E15C328}" destId="{7AF61044-B86B-40C0-8EB3-180FDF2292F8}" srcOrd="0" destOrd="0" presId="urn:microsoft.com/office/officeart/2005/8/layout/process1"/>
    <dgm:cxn modelId="{6A2F35E3-EFCD-450E-84B0-C99627F1289E}" type="presOf" srcId="{A02634B4-F9A3-46E9-ABFB-414BD730C56F}" destId="{5BEE890D-2E15-4607-AB72-53F074367298}" srcOrd="0" destOrd="0" presId="urn:microsoft.com/office/officeart/2005/8/layout/process1"/>
    <dgm:cxn modelId="{38CB75F5-036A-4944-9231-F1610B28CDFD}" type="presOf" srcId="{10047F9B-1605-459E-8895-D4A71B52A4DD}" destId="{F54221D3-ACBE-41FD-8CC7-625400C51A65}" srcOrd="0" destOrd="0" presId="urn:microsoft.com/office/officeart/2005/8/layout/process1"/>
    <dgm:cxn modelId="{828F5690-123C-4F91-AA3A-26DE4FE030A2}" type="presParOf" srcId="{296F55F7-6911-4A65-B354-F6CA7CBEDDF9}" destId="{1EF1184B-3B6E-4637-89D3-9A00CE6E8166}" srcOrd="0" destOrd="0" presId="urn:microsoft.com/office/officeart/2005/8/layout/process1"/>
    <dgm:cxn modelId="{2E4A4913-9B7A-45E0-BBB9-319D1AF13AC4}" type="presParOf" srcId="{296F55F7-6911-4A65-B354-F6CA7CBEDDF9}" destId="{5BEE890D-2E15-4607-AB72-53F074367298}" srcOrd="1" destOrd="0" presId="urn:microsoft.com/office/officeart/2005/8/layout/process1"/>
    <dgm:cxn modelId="{941FD875-B088-45C7-B2E2-B01BB25FA764}" type="presParOf" srcId="{5BEE890D-2E15-4607-AB72-53F074367298}" destId="{53A7B282-95BD-45C4-8B5E-3C8AFCCD5C36}" srcOrd="0" destOrd="0" presId="urn:microsoft.com/office/officeart/2005/8/layout/process1"/>
    <dgm:cxn modelId="{9361AF64-5351-4215-97DE-30848C4C04F6}" type="presParOf" srcId="{296F55F7-6911-4A65-B354-F6CA7CBEDDF9}" destId="{5111FF85-42D4-4D4A-8976-3F5564444B1C}" srcOrd="2" destOrd="0" presId="urn:microsoft.com/office/officeart/2005/8/layout/process1"/>
    <dgm:cxn modelId="{66475173-D8F3-424F-8823-30192F54FE44}" type="presParOf" srcId="{296F55F7-6911-4A65-B354-F6CA7CBEDDF9}" destId="{B05611B6-B2EA-4624-91BB-88F8481763FB}" srcOrd="3" destOrd="0" presId="urn:microsoft.com/office/officeart/2005/8/layout/process1"/>
    <dgm:cxn modelId="{28BD9007-1632-4A25-98AD-C536972092CD}" type="presParOf" srcId="{B05611B6-B2EA-4624-91BB-88F8481763FB}" destId="{1FC3B2B0-A0DA-4522-93B9-E20B7E6408C3}" srcOrd="0" destOrd="0" presId="urn:microsoft.com/office/officeart/2005/8/layout/process1"/>
    <dgm:cxn modelId="{35F6C410-7277-422D-8A84-E66E3A0FED99}" type="presParOf" srcId="{296F55F7-6911-4A65-B354-F6CA7CBEDDF9}" destId="{96407FA2-2AFA-4B8E-97FC-6E9094B7638F}" srcOrd="4" destOrd="0" presId="urn:microsoft.com/office/officeart/2005/8/layout/process1"/>
    <dgm:cxn modelId="{2E31F894-BCA6-4A76-A8E6-A3A925B1F60A}" type="presParOf" srcId="{296F55F7-6911-4A65-B354-F6CA7CBEDDF9}" destId="{C8F8CE43-947F-4488-8E00-3F9877C33038}" srcOrd="5" destOrd="0" presId="urn:microsoft.com/office/officeart/2005/8/layout/process1"/>
    <dgm:cxn modelId="{E51D703A-0886-4F36-A1B1-DE0E27A0F3BF}" type="presParOf" srcId="{C8F8CE43-947F-4488-8E00-3F9877C33038}" destId="{0C99AA13-B64E-49B9-8E59-7BE7307AE72A}" srcOrd="0" destOrd="0" presId="urn:microsoft.com/office/officeart/2005/8/layout/process1"/>
    <dgm:cxn modelId="{F2E1B22E-D1E5-4AF7-859D-2FDC6B541BD6}" type="presParOf" srcId="{296F55F7-6911-4A65-B354-F6CA7CBEDDF9}" destId="{F54221D3-ACBE-41FD-8CC7-625400C51A65}" srcOrd="6" destOrd="0" presId="urn:microsoft.com/office/officeart/2005/8/layout/process1"/>
    <dgm:cxn modelId="{46F19386-F018-4D47-9EEA-D5EAB032CEC4}" type="presParOf" srcId="{296F55F7-6911-4A65-B354-F6CA7CBEDDF9}" destId="{15B74C4D-07D3-4659-B0C3-3BA22973B5F0}" srcOrd="7" destOrd="0" presId="urn:microsoft.com/office/officeart/2005/8/layout/process1"/>
    <dgm:cxn modelId="{FE4A6668-40A2-4839-B264-E0FFD6BC0AE8}" type="presParOf" srcId="{15B74C4D-07D3-4659-B0C3-3BA22973B5F0}" destId="{E216B14B-0155-492D-8F5E-3BB94708ECE0}" srcOrd="0" destOrd="0" presId="urn:microsoft.com/office/officeart/2005/8/layout/process1"/>
    <dgm:cxn modelId="{280D1B43-21E1-4CA7-978B-2612EB397639}" type="presParOf" srcId="{296F55F7-6911-4A65-B354-F6CA7CBEDDF9}" destId="{956A5725-0258-4294-9A27-786C17C769A0}" srcOrd="8" destOrd="0" presId="urn:microsoft.com/office/officeart/2005/8/layout/process1"/>
    <dgm:cxn modelId="{2C0A076D-0098-4EFE-9868-EA6378B68B96}" type="presParOf" srcId="{296F55F7-6911-4A65-B354-F6CA7CBEDDF9}" destId="{33E92BA0-5AA3-4211-A29E-3517ED53B92C}" srcOrd="9" destOrd="0" presId="urn:microsoft.com/office/officeart/2005/8/layout/process1"/>
    <dgm:cxn modelId="{A0D3930A-049D-473C-93AF-7A080FB06450}" type="presParOf" srcId="{33E92BA0-5AA3-4211-A29E-3517ED53B92C}" destId="{55B6B442-ED09-485E-A539-F5C106395005}" srcOrd="0" destOrd="0" presId="urn:microsoft.com/office/officeart/2005/8/layout/process1"/>
    <dgm:cxn modelId="{7738F1ED-7FAC-404F-B570-2D9433666384}" type="presParOf" srcId="{296F55F7-6911-4A65-B354-F6CA7CBEDDF9}" destId="{7AF61044-B86B-40C0-8EB3-180FDF2292F8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F1184B-3B6E-4637-89D3-9A00CE6E8166}">
      <dsp:nvSpPr>
        <dsp:cNvPr id="0" name=""/>
        <dsp:cNvSpPr/>
      </dsp:nvSpPr>
      <dsp:spPr>
        <a:xfrm>
          <a:off x="0" y="1145273"/>
          <a:ext cx="1254182" cy="7525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Inter Bold"/>
            </a:rPr>
            <a:t>Planeerimine</a:t>
          </a:r>
        </a:p>
      </dsp:txBody>
      <dsp:txXfrm>
        <a:off x="22040" y="1167313"/>
        <a:ext cx="1210102" cy="708429"/>
      </dsp:txXfrm>
    </dsp:sp>
    <dsp:sp modelId="{5BEE890D-2E15-4607-AB72-53F074367298}">
      <dsp:nvSpPr>
        <dsp:cNvPr id="0" name=""/>
        <dsp:cNvSpPr/>
      </dsp:nvSpPr>
      <dsp:spPr>
        <a:xfrm>
          <a:off x="1379600" y="1366009"/>
          <a:ext cx="265886" cy="3110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379600" y="1428216"/>
        <a:ext cx="186120" cy="186623"/>
      </dsp:txXfrm>
    </dsp:sp>
    <dsp:sp modelId="{5111FF85-42D4-4D4A-8976-3F5564444B1C}">
      <dsp:nvSpPr>
        <dsp:cNvPr id="0" name=""/>
        <dsp:cNvSpPr/>
      </dsp:nvSpPr>
      <dsp:spPr>
        <a:xfrm>
          <a:off x="1755855" y="1145273"/>
          <a:ext cx="1254182" cy="7525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Inter Bold"/>
            </a:rPr>
            <a:t>Hankimine</a:t>
          </a:r>
          <a:endParaRPr lang="en-US" sz="1200" kern="1200"/>
        </a:p>
      </dsp:txBody>
      <dsp:txXfrm>
        <a:off x="1777895" y="1167313"/>
        <a:ext cx="1210102" cy="708429"/>
      </dsp:txXfrm>
    </dsp:sp>
    <dsp:sp modelId="{B05611B6-B2EA-4624-91BB-88F8481763FB}">
      <dsp:nvSpPr>
        <dsp:cNvPr id="0" name=""/>
        <dsp:cNvSpPr/>
      </dsp:nvSpPr>
      <dsp:spPr>
        <a:xfrm>
          <a:off x="3135455" y="1366009"/>
          <a:ext cx="265886" cy="3110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135455" y="1428216"/>
        <a:ext cx="186120" cy="186623"/>
      </dsp:txXfrm>
    </dsp:sp>
    <dsp:sp modelId="{96407FA2-2AFA-4B8E-97FC-6E9094B7638F}">
      <dsp:nvSpPr>
        <dsp:cNvPr id="0" name=""/>
        <dsp:cNvSpPr/>
      </dsp:nvSpPr>
      <dsp:spPr>
        <a:xfrm>
          <a:off x="3511710" y="1145273"/>
          <a:ext cx="1254182" cy="7525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Inter Bold"/>
            </a:rPr>
            <a:t>Talletamine</a:t>
          </a:r>
          <a:endParaRPr lang="en-US" sz="1200" kern="1200"/>
        </a:p>
      </dsp:txBody>
      <dsp:txXfrm>
        <a:off x="3533750" y="1167313"/>
        <a:ext cx="1210102" cy="708429"/>
      </dsp:txXfrm>
    </dsp:sp>
    <dsp:sp modelId="{C8F8CE43-947F-4488-8E00-3F9877C33038}">
      <dsp:nvSpPr>
        <dsp:cNvPr id="0" name=""/>
        <dsp:cNvSpPr/>
      </dsp:nvSpPr>
      <dsp:spPr>
        <a:xfrm>
          <a:off x="4891310" y="1366009"/>
          <a:ext cx="265886" cy="3110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891310" y="1428216"/>
        <a:ext cx="186120" cy="186623"/>
      </dsp:txXfrm>
    </dsp:sp>
    <dsp:sp modelId="{F54221D3-ACBE-41FD-8CC7-625400C51A65}">
      <dsp:nvSpPr>
        <dsp:cNvPr id="0" name=""/>
        <dsp:cNvSpPr/>
      </dsp:nvSpPr>
      <dsp:spPr>
        <a:xfrm>
          <a:off x="5267565" y="1145273"/>
          <a:ext cx="1254182" cy="7525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err="1">
              <a:latin typeface="Inter Bold"/>
            </a:rPr>
            <a:t>Kasutamine</a:t>
          </a:r>
          <a:endParaRPr lang="en-US" sz="1200" kern="1200"/>
        </a:p>
      </dsp:txBody>
      <dsp:txXfrm>
        <a:off x="5289605" y="1167313"/>
        <a:ext cx="1210102" cy="708429"/>
      </dsp:txXfrm>
    </dsp:sp>
    <dsp:sp modelId="{15B74C4D-07D3-4659-B0C3-3BA22973B5F0}">
      <dsp:nvSpPr>
        <dsp:cNvPr id="0" name=""/>
        <dsp:cNvSpPr/>
      </dsp:nvSpPr>
      <dsp:spPr>
        <a:xfrm>
          <a:off x="6647165" y="1366009"/>
          <a:ext cx="265886" cy="3110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6647165" y="1428216"/>
        <a:ext cx="186120" cy="186623"/>
      </dsp:txXfrm>
    </dsp:sp>
    <dsp:sp modelId="{956A5725-0258-4294-9A27-786C17C769A0}">
      <dsp:nvSpPr>
        <dsp:cNvPr id="0" name=""/>
        <dsp:cNvSpPr/>
      </dsp:nvSpPr>
      <dsp:spPr>
        <a:xfrm>
          <a:off x="7023420" y="1145273"/>
          <a:ext cx="1254182" cy="7525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err="1">
              <a:latin typeface="Inter Bold"/>
            </a:rPr>
            <a:t>Arhiveerimine</a:t>
          </a:r>
          <a:endParaRPr lang="en-US" sz="1200" kern="1200"/>
        </a:p>
      </dsp:txBody>
      <dsp:txXfrm>
        <a:off x="7045460" y="1167313"/>
        <a:ext cx="1210102" cy="708429"/>
      </dsp:txXfrm>
    </dsp:sp>
    <dsp:sp modelId="{33E92BA0-5AA3-4211-A29E-3517ED53B92C}">
      <dsp:nvSpPr>
        <dsp:cNvPr id="0" name=""/>
        <dsp:cNvSpPr/>
      </dsp:nvSpPr>
      <dsp:spPr>
        <a:xfrm>
          <a:off x="8403021" y="1366009"/>
          <a:ext cx="265886" cy="3110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8403021" y="1428216"/>
        <a:ext cx="186120" cy="186623"/>
      </dsp:txXfrm>
    </dsp:sp>
    <dsp:sp modelId="{7AF61044-B86B-40C0-8EB3-180FDF2292F8}">
      <dsp:nvSpPr>
        <dsp:cNvPr id="0" name=""/>
        <dsp:cNvSpPr/>
      </dsp:nvSpPr>
      <dsp:spPr>
        <a:xfrm>
          <a:off x="8779275" y="1145273"/>
          <a:ext cx="1254182" cy="7525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err="1">
              <a:latin typeface="Inter Bold"/>
            </a:rPr>
            <a:t>Hävitamine</a:t>
          </a:r>
          <a:endParaRPr lang="en-US" sz="1200" kern="1200"/>
        </a:p>
      </dsp:txBody>
      <dsp:txXfrm>
        <a:off x="8801315" y="1167313"/>
        <a:ext cx="1210102" cy="7084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29.08.2026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51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12C03-5C01-8B8A-3206-8FE48E262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A5648C-3F4F-BBFD-730E-DC70F1FB6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A1949-BD19-3CB6-4A3A-7777248EE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39D6F-525D-01A6-895F-9E18CB1350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442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Mõõdiku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loogika</a:t>
            </a:r>
            <a:r>
              <a:rPr lang="en-US" dirty="0">
                <a:ea typeface="Calibri"/>
                <a:cs typeface="Calibri"/>
              </a:rPr>
              <a:t>: 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1) Kui </a:t>
            </a:r>
            <a:r>
              <a:rPr lang="en-US" dirty="0" err="1">
                <a:ea typeface="Calibri"/>
                <a:cs typeface="Calibri"/>
              </a:rPr>
              <a:t>mitu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korda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soovid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sama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asja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kasutada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siis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saad</a:t>
            </a:r>
            <a:r>
              <a:rPr lang="en-US" dirty="0">
                <a:ea typeface="Calibri"/>
                <a:cs typeface="Calibri"/>
              </a:rPr>
              <a:t> variable-I VAR </a:t>
            </a:r>
            <a:r>
              <a:rPr lang="en-US" dirty="0" err="1">
                <a:ea typeface="Calibri"/>
                <a:cs typeface="Calibri"/>
              </a:rPr>
              <a:t>märksõnaga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defineerida</a:t>
            </a:r>
            <a:r>
              <a:rPr lang="en-US" dirty="0">
                <a:ea typeface="Calibri"/>
                <a:cs typeface="Calibri"/>
              </a:rPr>
              <a:t>. 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2) CALCULATE </a:t>
            </a:r>
            <a:r>
              <a:rPr lang="en-US" dirty="0" err="1">
                <a:ea typeface="Calibri"/>
                <a:cs typeface="Calibri"/>
              </a:rPr>
              <a:t>abil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saab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luua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arvutusi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koos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filtritega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tabeli</a:t>
            </a:r>
            <a:r>
              <a:rPr lang="en-US" dirty="0">
                <a:ea typeface="Calibri"/>
                <a:cs typeface="Calibri"/>
              </a:rPr>
              <a:t> peal. </a:t>
            </a:r>
            <a:r>
              <a:rPr lang="en-US" dirty="0" err="1">
                <a:ea typeface="Calibri"/>
                <a:cs typeface="Calibri"/>
              </a:rPr>
              <a:t>Praegusel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juhul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tahame</a:t>
            </a:r>
            <a:r>
              <a:rPr lang="en-US" dirty="0">
                <a:ea typeface="Calibri"/>
                <a:cs typeface="Calibri"/>
              </a:rPr>
              <a:t>, et </a:t>
            </a:r>
            <a:r>
              <a:rPr lang="en-US" dirty="0" err="1">
                <a:ea typeface="Calibri"/>
                <a:cs typeface="Calibri"/>
              </a:rPr>
              <a:t>kuupäeva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filtreerimine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mõjutaks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arvutust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seega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kasutame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märksõna</a:t>
            </a:r>
            <a:r>
              <a:rPr lang="en-US" dirty="0">
                <a:ea typeface="Calibri"/>
                <a:cs typeface="Calibri"/>
              </a:rPr>
              <a:t> "ALL" </a:t>
            </a:r>
            <a:r>
              <a:rPr lang="en-US" dirty="0" err="1">
                <a:ea typeface="Calibri"/>
                <a:cs typeface="Calibri"/>
              </a:rPr>
              <a:t>ehk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eemaldame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kõik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filtrid</a:t>
            </a:r>
            <a:r>
              <a:rPr lang="en-US" dirty="0">
                <a:ea typeface="Calibri"/>
                <a:cs typeface="Calibri"/>
              </a:rPr>
              <a:t>.</a:t>
            </a:r>
            <a:br>
              <a:rPr lang="en-US" dirty="0">
                <a:cs typeface="+mn-lt"/>
              </a:rPr>
            </a:br>
            <a:r>
              <a:rPr lang="en-US" dirty="0">
                <a:ea typeface="Calibri"/>
                <a:cs typeface="Calibri"/>
              </a:rPr>
              <a:t>3) MAX </a:t>
            </a:r>
            <a:r>
              <a:rPr lang="en-US" dirty="0" err="1">
                <a:ea typeface="Calibri"/>
                <a:cs typeface="Calibri"/>
              </a:rPr>
              <a:t>leiab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maksimumväärtuse</a:t>
            </a:r>
            <a:br>
              <a:rPr lang="en-US" dirty="0">
                <a:cs typeface="+mn-lt"/>
              </a:rPr>
            </a:br>
            <a:r>
              <a:rPr lang="en-US" dirty="0">
                <a:ea typeface="Calibri"/>
                <a:cs typeface="Calibri"/>
              </a:rPr>
              <a:t>4) MONTH </a:t>
            </a:r>
            <a:r>
              <a:rPr lang="en-US" dirty="0" err="1">
                <a:ea typeface="Calibri"/>
                <a:cs typeface="Calibri"/>
              </a:rPr>
              <a:t>leiab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kuu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numbri</a:t>
            </a:r>
            <a:r>
              <a:rPr lang="en-US" dirty="0">
                <a:ea typeface="Calibri"/>
                <a:cs typeface="Calibri"/>
              </a:rPr>
              <a:t>. 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5) DAY </a:t>
            </a:r>
            <a:r>
              <a:rPr lang="en-US" dirty="0" err="1">
                <a:ea typeface="Calibri"/>
                <a:cs typeface="Calibri"/>
              </a:rPr>
              <a:t>leiab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päeva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numbri</a:t>
            </a:r>
            <a:r>
              <a:rPr lang="en-US" dirty="0">
                <a:ea typeface="Calibri"/>
                <a:cs typeface="Calibri"/>
              </a:rPr>
              <a:t>. 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6) RETURN </a:t>
            </a:r>
            <a:r>
              <a:rPr lang="en-US" dirty="0" err="1">
                <a:ea typeface="Calibri"/>
                <a:cs typeface="Calibri"/>
              </a:rPr>
              <a:t>täpsustab</a:t>
            </a:r>
            <a:r>
              <a:rPr lang="en-US" dirty="0">
                <a:ea typeface="Calibri"/>
                <a:cs typeface="Calibri"/>
              </a:rPr>
              <a:t>, et </a:t>
            </a:r>
            <a:r>
              <a:rPr lang="en-US" dirty="0" err="1">
                <a:ea typeface="Calibri"/>
                <a:cs typeface="Calibri"/>
              </a:rPr>
              <a:t>alustame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valemi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osaga</a:t>
            </a:r>
            <a:r>
              <a:rPr lang="en-US" dirty="0">
                <a:ea typeface="Calibri"/>
                <a:cs typeface="Calibri"/>
              </a:rPr>
              <a:t>, mis </a:t>
            </a:r>
            <a:r>
              <a:rPr lang="en-US" dirty="0" err="1">
                <a:ea typeface="Calibri"/>
                <a:cs typeface="Calibri"/>
              </a:rPr>
              <a:t>tagastab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väärtuse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mida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soovime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näha</a:t>
            </a:r>
            <a:r>
              <a:rPr lang="en-US" dirty="0">
                <a:ea typeface="Calibri"/>
                <a:cs typeface="Calibri"/>
              </a:rPr>
              <a:t>. </a:t>
            </a:r>
            <a:br>
              <a:rPr lang="en-US" dirty="0">
                <a:cs typeface="+mn-lt"/>
              </a:rPr>
            </a:br>
            <a:r>
              <a:rPr lang="en-US" dirty="0">
                <a:ea typeface="Calibri"/>
                <a:cs typeface="Calibri"/>
              </a:rPr>
              <a:t>7) </a:t>
            </a:r>
            <a:r>
              <a:rPr lang="en-US" dirty="0" err="1">
                <a:ea typeface="Calibri"/>
                <a:cs typeface="Calibri"/>
              </a:rPr>
              <a:t>Kasutame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uuesti</a:t>
            </a:r>
            <a:r>
              <a:rPr lang="en-US" dirty="0">
                <a:ea typeface="Calibri"/>
                <a:cs typeface="Calibri"/>
              </a:rPr>
              <a:t> CALCULATE, et </a:t>
            </a:r>
            <a:r>
              <a:rPr lang="en-US" dirty="0" err="1">
                <a:ea typeface="Calibri"/>
                <a:cs typeface="Calibri"/>
              </a:rPr>
              <a:t>lisada</a:t>
            </a:r>
            <a:r>
              <a:rPr lang="en-US" dirty="0">
                <a:ea typeface="Calibri"/>
                <a:cs typeface="Calibri"/>
              </a:rPr>
              <a:t> filter. 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8) </a:t>
            </a:r>
            <a:r>
              <a:rPr lang="en-US" dirty="0" err="1">
                <a:ea typeface="Calibri"/>
                <a:cs typeface="Calibri"/>
              </a:rPr>
              <a:t>Täpsustame</a:t>
            </a:r>
            <a:r>
              <a:rPr lang="en-US" dirty="0">
                <a:ea typeface="Calibri"/>
                <a:cs typeface="Calibri"/>
              </a:rPr>
              <a:t> SUM </a:t>
            </a:r>
            <a:r>
              <a:rPr lang="en-US" dirty="0" err="1">
                <a:ea typeface="Calibri"/>
                <a:cs typeface="Calibri"/>
              </a:rPr>
              <a:t>abil</a:t>
            </a:r>
            <a:r>
              <a:rPr lang="en-US" dirty="0">
                <a:ea typeface="Calibri"/>
                <a:cs typeface="Calibri"/>
              </a:rPr>
              <a:t>, et </a:t>
            </a:r>
            <a:r>
              <a:rPr lang="en-US" dirty="0" err="1">
                <a:ea typeface="Calibri"/>
                <a:cs typeface="Calibri"/>
              </a:rPr>
              <a:t>soovime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müügisummat</a:t>
            </a:r>
            <a:r>
              <a:rPr lang="en-US" dirty="0">
                <a:ea typeface="Calibri"/>
                <a:cs typeface="Calibri"/>
              </a:rPr>
              <a:t>. 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9) </a:t>
            </a:r>
            <a:r>
              <a:rPr lang="en-US" dirty="0" err="1">
                <a:ea typeface="Calibri"/>
                <a:cs typeface="Calibri"/>
              </a:rPr>
              <a:t>Lisame</a:t>
            </a:r>
            <a:r>
              <a:rPr lang="en-US" dirty="0">
                <a:ea typeface="Calibri"/>
                <a:cs typeface="Calibri"/>
              </a:rPr>
              <a:t> FILTER </a:t>
            </a:r>
            <a:r>
              <a:rPr lang="en-US" dirty="0" err="1">
                <a:ea typeface="Calibri"/>
                <a:cs typeface="Calibri"/>
              </a:rPr>
              <a:t>tingimuse</a:t>
            </a:r>
            <a:r>
              <a:rPr lang="en-US" dirty="0">
                <a:ea typeface="Calibri"/>
                <a:cs typeface="Calibri"/>
              </a:rPr>
              <a:t> ja </a:t>
            </a:r>
            <a:r>
              <a:rPr lang="en-US" dirty="0" err="1">
                <a:ea typeface="Calibri"/>
                <a:cs typeface="Calibri"/>
              </a:rPr>
              <a:t>täpsustame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millist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tabelit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filtreerida</a:t>
            </a:r>
            <a:r>
              <a:rPr lang="en-US" dirty="0">
                <a:ea typeface="Calibri"/>
                <a:cs typeface="Calibri"/>
              </a:rPr>
              <a:t>. See </a:t>
            </a:r>
            <a:r>
              <a:rPr lang="en-US" dirty="0" err="1">
                <a:ea typeface="Calibri"/>
                <a:cs typeface="Calibri"/>
              </a:rPr>
              <a:t>aitab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loetavusele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kaasa</a:t>
            </a:r>
            <a:r>
              <a:rPr lang="en-US" dirty="0">
                <a:ea typeface="Calibri"/>
                <a:cs typeface="Calibri"/>
              </a:rPr>
              <a:t>.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10) </a:t>
            </a:r>
            <a:r>
              <a:rPr lang="en-US" dirty="0" err="1">
                <a:ea typeface="Calibri"/>
                <a:cs typeface="Calibri"/>
              </a:rPr>
              <a:t>Võtame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kõik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kuud</a:t>
            </a:r>
            <a:r>
              <a:rPr lang="en-US" dirty="0">
                <a:ea typeface="Calibri"/>
                <a:cs typeface="Calibri"/>
              </a:rPr>
              <a:t>, mis on </a:t>
            </a:r>
            <a:r>
              <a:rPr lang="en-US" dirty="0" err="1">
                <a:ea typeface="Calibri"/>
                <a:cs typeface="Calibri"/>
              </a:rPr>
              <a:t>enne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viimast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müügikuud</a:t>
            </a:r>
            <a:br>
              <a:rPr lang="en-US" dirty="0">
                <a:cs typeface="+mn-lt"/>
              </a:rPr>
            </a:br>
            <a:r>
              <a:rPr lang="en-US" dirty="0">
                <a:ea typeface="Calibri"/>
                <a:cs typeface="Calibri"/>
              </a:rPr>
              <a:t>11) </a:t>
            </a:r>
            <a:r>
              <a:rPr lang="en-US" dirty="0" err="1">
                <a:ea typeface="Calibri"/>
                <a:cs typeface="Calibri"/>
              </a:rPr>
              <a:t>Võtame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kõik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päevad</a:t>
            </a:r>
            <a:r>
              <a:rPr lang="en-US" dirty="0">
                <a:ea typeface="Calibri"/>
                <a:cs typeface="Calibri"/>
              </a:rPr>
              <a:t>, mis on </a:t>
            </a:r>
            <a:r>
              <a:rPr lang="en-US" dirty="0" err="1">
                <a:ea typeface="Calibri"/>
                <a:cs typeface="Calibri"/>
              </a:rPr>
              <a:t>sel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kuul</a:t>
            </a:r>
            <a:r>
              <a:rPr lang="en-US" dirty="0">
                <a:ea typeface="Calibri"/>
                <a:cs typeface="Calibri"/>
              </a:rPr>
              <a:t> ja </a:t>
            </a:r>
            <a:r>
              <a:rPr lang="en-US" dirty="0" err="1">
                <a:ea typeface="Calibri"/>
                <a:cs typeface="Calibri"/>
              </a:rPr>
              <a:t>enne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viimast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müügipäeva</a:t>
            </a:r>
            <a:r>
              <a:rPr lang="en-US" dirty="0">
                <a:ea typeface="Calibri"/>
                <a:cs typeface="Calibri"/>
              </a:rPr>
              <a:t>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Kontrollime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risttabelist</a:t>
            </a:r>
            <a:r>
              <a:rPr lang="en-US" dirty="0">
                <a:ea typeface="Calibri"/>
                <a:cs typeface="Calibri"/>
              </a:rPr>
              <a:t>, kas </a:t>
            </a:r>
            <a:r>
              <a:rPr lang="en-US" dirty="0" err="1">
                <a:ea typeface="Calibri"/>
                <a:cs typeface="Calibri"/>
              </a:rPr>
              <a:t>saadud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arvutus</a:t>
            </a:r>
            <a:r>
              <a:rPr lang="en-US" dirty="0">
                <a:ea typeface="Calibri"/>
                <a:cs typeface="Calibri"/>
              </a:rPr>
              <a:t> on </a:t>
            </a:r>
            <a:r>
              <a:rPr lang="en-US" dirty="0" err="1">
                <a:ea typeface="Calibri"/>
                <a:cs typeface="Calibri"/>
              </a:rPr>
              <a:t>õige</a:t>
            </a:r>
            <a:r>
              <a:rPr lang="en-US" dirty="0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554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29.08.2026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.ee/sites/default/files/2022-03/Andmekvaliteedi%20juhis_2020.pdf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8.svg"/><Relationship Id="rId12" Type="http://schemas.openxmlformats.org/officeDocument/2006/relationships/image" Target="../media/image13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11" Type="http://schemas.openxmlformats.org/officeDocument/2006/relationships/image" Target="../media/image12.svg"/><Relationship Id="rId5" Type="http://schemas.openxmlformats.org/officeDocument/2006/relationships/diagramColors" Target="../diagrams/colors1.xml"/><Relationship Id="rId10" Type="http://schemas.openxmlformats.org/officeDocument/2006/relationships/image" Target="../media/image11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cs typeface="Poppins SemiBold"/>
              </a:rPr>
              <a:t>Vali </a:t>
            </a:r>
            <a:r>
              <a:rPr lang="en-US" dirty="0" err="1">
                <a:cs typeface="Poppins SemiBold"/>
              </a:rPr>
              <a:t>Andmetarkus</a:t>
            </a:r>
            <a:r>
              <a:rPr lang="en-US" dirty="0">
                <a:cs typeface="Poppins SemiBold"/>
              </a:rPr>
              <a:t>!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Inter"/>
              </a:rPr>
              <a:t>Emilie Abel</a:t>
            </a:r>
            <a:endParaRPr lang="en-US" dirty="0"/>
          </a:p>
          <a:p>
            <a:r>
              <a:rPr lang="en-US" dirty="0">
                <a:ea typeface="Inter"/>
              </a:rPr>
              <a:t>eilime@live.com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303ED-62DA-7C22-AF4F-605DF8BD1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22F1C-8EAA-D1F9-CA04-6B163BE92A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>
                <a:ea typeface="+mj-lt"/>
                <a:cs typeface="+mj-lt"/>
              </a:rPr>
              <a:t>Päevakava</a:t>
            </a:r>
            <a:r>
              <a:rPr lang="en-US" sz="3600" b="1">
                <a:ea typeface="+mj-lt"/>
                <a:cs typeface="+mj-lt"/>
              </a:rPr>
              <a:t> - II </a:t>
            </a:r>
            <a:r>
              <a:rPr lang="en-US" sz="3600" b="1" err="1">
                <a:ea typeface="+mj-lt"/>
                <a:cs typeface="+mj-lt"/>
              </a:rPr>
              <a:t>päev</a:t>
            </a:r>
            <a:endParaRPr lang="en-US" err="1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A5EDF1B-368B-65D8-DFF5-4A6A6110F10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123019313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Andmete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kogumine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ja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kvaliteet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 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- 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Power BI – Andmete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kvaliteedi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kontroll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 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Power BI –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Toodete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kasumlikkus</a:t>
                      </a:r>
                      <a:endParaRPr lang="en-US" dirty="0"/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 Paus 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Power BI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6616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2421D-B923-0075-0898-9AAC904E0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179BC-08B4-35F8-ECA8-B57A5D1A21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/>
              <a:t>Andmete </a:t>
            </a:r>
            <a:r>
              <a:rPr lang="en-US" sz="3600" b="1" dirty="0" err="1"/>
              <a:t>kogumine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878C4-AB0D-FB23-914A-4E235E5D7F9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000" b="1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Organisatsioonis</a:t>
            </a:r>
            <a:r>
              <a:rPr lang="en-US" sz="2000" b="1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000" b="1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loodavad</a:t>
            </a:r>
            <a:r>
              <a:rPr lang="en-US" sz="2000" b="1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andmed: </a:t>
            </a: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raamatupidamine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, </a:t>
            </a: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personalihaldus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, </a:t>
            </a: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tööprotsessides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toodetavad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andmed, </a:t>
            </a: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seadmete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toodetud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andmed, </a:t>
            </a:r>
            <a:r>
              <a:rPr lang="en-US" sz="2000" dirty="0">
                <a:ea typeface="Inter"/>
              </a:rPr>
              <a:t>IT-</a:t>
            </a:r>
            <a:r>
              <a:rPr lang="en-US" sz="2000" dirty="0" err="1">
                <a:ea typeface="Inter"/>
              </a:rPr>
              <a:t>süsteemide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kasutusandmed</a:t>
            </a:r>
            <a:endParaRPr lang="en-US" sz="2000" dirty="0">
              <a:solidFill>
                <a:srgbClr val="121212"/>
              </a:solidFill>
              <a:latin typeface="Inter" panose="02000503000000020004" pitchFamily="2" charset="0"/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000" dirty="0" err="1">
                <a:latin typeface="Inter"/>
                <a:ea typeface="Inter"/>
                <a:cs typeface="Arial"/>
              </a:rPr>
              <a:t>Teiste</a:t>
            </a:r>
            <a:r>
              <a:rPr lang="en-US" sz="2000" dirty="0">
                <a:latin typeface="Inter"/>
                <a:ea typeface="Inter"/>
                <a:cs typeface="Arial"/>
              </a:rPr>
              <a:t> </a:t>
            </a:r>
            <a:r>
              <a:rPr lang="en-US" sz="2000" dirty="0" err="1">
                <a:latin typeface="Inter"/>
                <a:ea typeface="Inter"/>
                <a:cs typeface="Arial"/>
              </a:rPr>
              <a:t>organisatsioonide</a:t>
            </a:r>
            <a:r>
              <a:rPr lang="en-US" sz="2000" dirty="0">
                <a:latin typeface="Inter"/>
                <a:ea typeface="Inter"/>
                <a:cs typeface="Arial"/>
              </a:rPr>
              <a:t> andmed</a:t>
            </a: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000" dirty="0" err="1">
                <a:latin typeface="Inter"/>
                <a:ea typeface="Inter"/>
                <a:cs typeface="Arial"/>
              </a:rPr>
              <a:t>Veebist</a:t>
            </a:r>
            <a:r>
              <a:rPr lang="en-US" sz="2000" dirty="0">
                <a:latin typeface="Inter"/>
                <a:ea typeface="Inter"/>
                <a:cs typeface="Arial"/>
              </a:rPr>
              <a:t> </a:t>
            </a:r>
            <a:r>
              <a:rPr lang="en-US" sz="2000" dirty="0" err="1">
                <a:latin typeface="Inter"/>
                <a:ea typeface="Inter"/>
                <a:cs typeface="Arial"/>
              </a:rPr>
              <a:t>leitavad</a:t>
            </a:r>
            <a:r>
              <a:rPr lang="en-US" sz="2000" dirty="0">
                <a:latin typeface="Inter"/>
                <a:ea typeface="Inter"/>
                <a:cs typeface="Arial"/>
              </a:rPr>
              <a:t> </a:t>
            </a:r>
            <a:r>
              <a:rPr lang="en-US" sz="2000" dirty="0" err="1">
                <a:latin typeface="Inter"/>
                <a:ea typeface="Inter"/>
                <a:cs typeface="Arial"/>
              </a:rPr>
              <a:t>andmed</a:t>
            </a:r>
          </a:p>
          <a:p>
            <a:pPr marL="857250" lvl="1" indent="-342900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000" dirty="0">
                <a:latin typeface="Inter"/>
                <a:ea typeface="Inter"/>
                <a:cs typeface="Arial"/>
              </a:rPr>
              <a:t>Andmete </a:t>
            </a:r>
            <a:r>
              <a:rPr lang="en-US" sz="2000" dirty="0" err="1">
                <a:latin typeface="Inter"/>
                <a:ea typeface="Inter"/>
                <a:cs typeface="Arial"/>
              </a:rPr>
              <a:t>teabevärav</a:t>
            </a:r>
            <a:r>
              <a:rPr lang="en-US" sz="2000" dirty="0">
                <a:latin typeface="Inter"/>
                <a:ea typeface="Inter"/>
                <a:cs typeface="Arial"/>
              </a:rPr>
              <a:t>: andmed.eesti.ee</a:t>
            </a:r>
          </a:p>
          <a:p>
            <a:pPr marL="857250" lvl="1" indent="-342900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000" dirty="0">
                <a:latin typeface="Inter"/>
                <a:ea typeface="Inter"/>
                <a:cs typeface="Arial"/>
              </a:rPr>
              <a:t>API </a:t>
            </a:r>
            <a:r>
              <a:rPr lang="en-US" sz="2000" dirty="0" err="1">
                <a:latin typeface="Inter"/>
                <a:ea typeface="Inter"/>
                <a:cs typeface="Arial"/>
              </a:rPr>
              <a:t>teenused</a:t>
            </a:r>
            <a:r>
              <a:rPr lang="en-US" sz="2000" dirty="0">
                <a:latin typeface="Inter"/>
                <a:ea typeface="Inter"/>
                <a:cs typeface="Arial"/>
              </a:rPr>
              <a:t> (</a:t>
            </a:r>
            <a:r>
              <a:rPr lang="en-US" sz="2000" dirty="0" err="1">
                <a:latin typeface="Inter"/>
                <a:ea typeface="Inter"/>
                <a:cs typeface="Arial"/>
              </a:rPr>
              <a:t>sotsiaalmeedia</a:t>
            </a:r>
            <a:r>
              <a:rPr lang="en-US" sz="2000" dirty="0">
                <a:latin typeface="Inter"/>
                <a:ea typeface="Inter"/>
                <a:cs typeface="Arial"/>
              </a:rPr>
              <a:t>)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000" dirty="0" err="1">
                <a:latin typeface="Inter"/>
                <a:ea typeface="Inter"/>
                <a:cs typeface="Arial"/>
              </a:rPr>
              <a:t>Küsitlused</a:t>
            </a:r>
            <a:r>
              <a:rPr lang="en-US" sz="2000" dirty="0">
                <a:latin typeface="Inter"/>
                <a:ea typeface="Inter"/>
                <a:cs typeface="Arial"/>
              </a:rPr>
              <a:t>, </a:t>
            </a:r>
            <a:r>
              <a:rPr lang="en-US" sz="2000" dirty="0" err="1">
                <a:latin typeface="Inter"/>
                <a:ea typeface="Inter"/>
                <a:cs typeface="Arial"/>
              </a:rPr>
              <a:t>v</a:t>
            </a:r>
            <a:r>
              <a:rPr lang="en-US" sz="2000" dirty="0" err="1">
                <a:ea typeface="Inter"/>
                <a:cs typeface="Arial"/>
              </a:rPr>
              <a:t>aatlused</a:t>
            </a:r>
            <a:endParaRPr lang="et-EE" sz="2000" dirty="0">
              <a:ea typeface="Inter"/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endParaRPr lang="et-EE" sz="2000" dirty="0">
              <a:ea typeface="Inter"/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t-EE" sz="2000" dirty="0">
                <a:ea typeface="Inter"/>
                <a:cs typeface="Arial"/>
              </a:rPr>
              <a:t>ANDMED ON sageli vastuolus, arusaamatud, vales formaadis jne</a:t>
            </a:r>
            <a:endParaRPr lang="en-US" sz="2000" dirty="0">
              <a:ea typeface="Inter"/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3580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different languages&#10;&#10;AI-generated content may be incorrect.">
            <a:extLst>
              <a:ext uri="{FF2B5EF4-FFF2-40B4-BE49-F238E27FC236}">
                <a16:creationId xmlns:a16="http://schemas.microsoft.com/office/drawing/2014/main" id="{39267B02-058F-73C0-9EB3-255D55F7E7E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095999" y="1053205"/>
            <a:ext cx="5359395" cy="49068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263082-CF21-9F8B-09DD-C80ADEA10E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Andmekvaliteedi</a:t>
            </a:r>
            <a:r>
              <a:rPr lang="en-US" dirty="0"/>
              <a:t> </a:t>
            </a:r>
            <a:r>
              <a:rPr lang="en-US" dirty="0" err="1"/>
              <a:t>dimensioonid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BD9C53-5E20-EFF2-0E71-E27F1990FDD9}"/>
              </a:ext>
            </a:extLst>
          </p:cNvPr>
          <p:cNvSpPr txBox="1"/>
          <p:nvPr/>
        </p:nvSpPr>
        <p:spPr>
          <a:xfrm>
            <a:off x="-3906" y="5818554"/>
            <a:ext cx="121998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Inter Bold"/>
              </a:rPr>
              <a:t>(Allikas: </a:t>
            </a:r>
            <a:r>
              <a:rPr lang="en-US" u="sng">
                <a:latin typeface="Inter Bold"/>
                <a:cs typeface="Segoe UI"/>
                <a:hlinkClick r:id="rId3"/>
              </a:rPr>
              <a:t>Statistikaameti Andmekvaliteedi juhis</a:t>
            </a:r>
            <a:r>
              <a:rPr lang="en-US">
                <a:latin typeface="Inter Bold"/>
              </a:rPr>
              <a:t>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33583-E738-5BC3-FF4D-D81C4B9222C2}"/>
              </a:ext>
            </a:extLst>
          </p:cNvPr>
          <p:cNvSpPr txBox="1">
            <a:spLocks/>
          </p:cNvSpPr>
          <p:nvPr/>
        </p:nvSpPr>
        <p:spPr>
          <a:xfrm>
            <a:off x="623888" y="1268413"/>
            <a:ext cx="10941050" cy="4465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Sageli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määrab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projekti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pikkuse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ja </a:t>
            </a:r>
            <a:br>
              <a:rPr lang="et-EE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</a:b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andmepõhiste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otsuste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kasu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000" b="1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andmete </a:t>
            </a:r>
            <a:r>
              <a:rPr lang="en-US" sz="2000" b="1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kvaliteet</a:t>
            </a:r>
            <a:endParaRPr lang="en-US" sz="2000" b="1" dirty="0">
              <a:solidFill>
                <a:srgbClr val="121212"/>
              </a:solidFill>
              <a:latin typeface="Inter"/>
              <a:ea typeface="Inter"/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endParaRPr lang="et-EE" sz="2000" dirty="0">
              <a:ea typeface="Inter"/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000" dirty="0" err="1">
                <a:ea typeface="Inter"/>
                <a:cs typeface="Arial"/>
              </a:rPr>
              <a:t>Ajamahukamad</a:t>
            </a:r>
            <a:r>
              <a:rPr lang="en-US" sz="2000" dirty="0">
                <a:ea typeface="Inter"/>
                <a:cs typeface="Arial"/>
              </a:rPr>
              <a:t> </a:t>
            </a:r>
            <a:r>
              <a:rPr lang="en-US" sz="2000" dirty="0" err="1">
                <a:ea typeface="Inter"/>
                <a:cs typeface="Arial"/>
              </a:rPr>
              <a:t>tegevused</a:t>
            </a:r>
            <a:r>
              <a:rPr lang="en-US" sz="2000" dirty="0">
                <a:ea typeface="Inter"/>
                <a:cs typeface="Arial"/>
              </a:rPr>
              <a:t> </a:t>
            </a:r>
            <a:r>
              <a:rPr lang="en-US" sz="2000" dirty="0" err="1">
                <a:ea typeface="Inter"/>
                <a:cs typeface="Arial"/>
              </a:rPr>
              <a:t>andmetega</a:t>
            </a:r>
            <a:r>
              <a:rPr lang="en-US" sz="2000" dirty="0">
                <a:ea typeface="Inter"/>
                <a:cs typeface="Arial"/>
              </a:rPr>
              <a:t> </a:t>
            </a:r>
            <a:r>
              <a:rPr lang="en-US" sz="2000" dirty="0" err="1">
                <a:ea typeface="Inter"/>
                <a:cs typeface="Arial"/>
              </a:rPr>
              <a:t>töös</a:t>
            </a:r>
            <a:endParaRPr lang="en-US" sz="2000" dirty="0">
              <a:ea typeface="Inter"/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000" dirty="0" err="1">
                <a:ea typeface="Inter"/>
                <a:cs typeface="Arial"/>
              </a:rPr>
              <a:t>Andmeallika</a:t>
            </a:r>
            <a:r>
              <a:rPr lang="en-US" sz="2000" dirty="0">
                <a:ea typeface="Inter"/>
                <a:cs typeface="Arial"/>
              </a:rPr>
              <a:t> </a:t>
            </a:r>
            <a:r>
              <a:rPr lang="en-US" sz="2000" dirty="0" err="1">
                <a:ea typeface="Inter"/>
                <a:cs typeface="Arial"/>
              </a:rPr>
              <a:t>tuvastamine</a:t>
            </a:r>
            <a:endParaRPr lang="en-US" sz="2000" dirty="0">
              <a:ea typeface="Inter"/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000" dirty="0">
                <a:ea typeface="Inter"/>
                <a:cs typeface="Arial"/>
              </a:rPr>
              <a:t>Andmete </a:t>
            </a:r>
            <a:r>
              <a:rPr lang="en-US" sz="2000" dirty="0" err="1">
                <a:ea typeface="Inter"/>
                <a:cs typeface="Arial"/>
              </a:rPr>
              <a:t>kontroll</a:t>
            </a:r>
            <a:r>
              <a:rPr lang="en-US" sz="2000" dirty="0">
                <a:ea typeface="Inter"/>
                <a:cs typeface="Arial"/>
              </a:rPr>
              <a:t> ja </a:t>
            </a:r>
            <a:r>
              <a:rPr lang="en-US" sz="2000" dirty="0" err="1">
                <a:ea typeface="Inter"/>
                <a:cs typeface="Arial"/>
              </a:rPr>
              <a:t>korrastamine</a:t>
            </a:r>
            <a:endParaRPr lang="en-US" sz="2000" dirty="0">
              <a:ea typeface="Inter"/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000" dirty="0" err="1">
                <a:ea typeface="Inter"/>
                <a:cs typeface="Arial"/>
              </a:rPr>
              <a:t>Kontrollandmete</a:t>
            </a:r>
            <a:r>
              <a:rPr lang="en-US" sz="2000" dirty="0">
                <a:ea typeface="Inter"/>
                <a:cs typeface="Arial"/>
              </a:rPr>
              <a:t> </a:t>
            </a:r>
            <a:r>
              <a:rPr lang="en-US" sz="2000" dirty="0" err="1">
                <a:ea typeface="Inter"/>
                <a:cs typeface="Arial"/>
              </a:rPr>
              <a:t>leidmine</a:t>
            </a:r>
            <a:r>
              <a:rPr lang="en-US" sz="2000" dirty="0">
                <a:ea typeface="Inter"/>
                <a:cs typeface="Arial"/>
              </a:rPr>
              <a:t> (</a:t>
            </a:r>
            <a:r>
              <a:rPr lang="en-US" sz="2000" dirty="0" err="1">
                <a:ea typeface="Inter"/>
                <a:cs typeface="Arial"/>
              </a:rPr>
              <a:t>sageli</a:t>
            </a:r>
            <a:r>
              <a:rPr lang="en-US" sz="2000" dirty="0">
                <a:ea typeface="Inter"/>
                <a:cs typeface="Arial"/>
              </a:rPr>
              <a:t> </a:t>
            </a:r>
            <a:r>
              <a:rPr lang="en-US" sz="2000" dirty="0" err="1">
                <a:ea typeface="Inter"/>
                <a:cs typeface="Arial"/>
              </a:rPr>
              <a:t>topeltarvutused</a:t>
            </a:r>
            <a:r>
              <a:rPr lang="en-US" sz="2000" dirty="0">
                <a:ea typeface="Inter"/>
                <a:cs typeface="Arial"/>
              </a:rPr>
              <a:t>)</a:t>
            </a:r>
          </a:p>
          <a:p>
            <a:pPr marL="0" indent="0">
              <a:lnSpc>
                <a:spcPct val="150000"/>
              </a:lnSpc>
              <a:buFont typeface="Inter" panose="020B0502030000000004" pitchFamily="34" charset="0"/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6458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2D246-FD4C-F634-5572-7E1FEBE4FB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Andmekvaliteedi</a:t>
            </a:r>
            <a:r>
              <a:rPr lang="en-US"/>
              <a:t> </a:t>
            </a:r>
            <a:r>
              <a:rPr lang="en-US" err="1"/>
              <a:t>dimensioonid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63EF3-E01C-156C-9F60-9A0AB08494D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 err="1">
                <a:ea typeface="Inter"/>
              </a:rPr>
              <a:t>Õigsus</a:t>
            </a:r>
            <a:r>
              <a:rPr lang="en-US" sz="2400" b="1" dirty="0">
                <a:ea typeface="Inter"/>
              </a:rPr>
              <a:t> - </a:t>
            </a:r>
            <a:r>
              <a:rPr lang="en-US" sz="2400" dirty="0" err="1">
                <a:ea typeface="Inter"/>
              </a:rPr>
              <a:t>vastavus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tegelikkusele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 err="1">
                <a:ea typeface="Inter"/>
              </a:rPr>
              <a:t>Täielikkus</a:t>
            </a:r>
            <a:r>
              <a:rPr lang="en-US" sz="2400" b="1" dirty="0">
                <a:ea typeface="Inter"/>
              </a:rPr>
              <a:t> - </a:t>
            </a:r>
            <a:r>
              <a:rPr lang="en-US" sz="2400" dirty="0" err="1">
                <a:ea typeface="Inter"/>
              </a:rPr>
              <a:t>kõigi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väärtuste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olemasolu</a:t>
            </a:r>
            <a:r>
              <a:rPr lang="en-US" sz="2400" dirty="0">
                <a:ea typeface="Inter"/>
              </a:rPr>
              <a:t> (</a:t>
            </a:r>
            <a:r>
              <a:rPr lang="en-US" sz="2400" dirty="0" err="1">
                <a:ea typeface="Inter"/>
              </a:rPr>
              <a:t>tulbad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täidetud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kõik</a:t>
            </a:r>
            <a:r>
              <a:rPr lang="en-US" sz="2400" dirty="0">
                <a:ea typeface="Inter"/>
              </a:rPr>
              <a:t> read </a:t>
            </a:r>
            <a:r>
              <a:rPr lang="en-US" sz="2400" dirty="0" err="1">
                <a:ea typeface="Inter"/>
              </a:rPr>
              <a:t>olemas</a:t>
            </a:r>
            <a:r>
              <a:rPr lang="en-US" sz="2400" dirty="0">
                <a:ea typeface="Inter"/>
              </a:rPr>
              <a:t>) 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 err="1">
                <a:ea typeface="Inter"/>
              </a:rPr>
              <a:t>Ajakohasus</a:t>
            </a:r>
            <a:r>
              <a:rPr lang="en-US" sz="2400" b="1" dirty="0">
                <a:ea typeface="Inter"/>
              </a:rPr>
              <a:t> – </a:t>
            </a:r>
            <a:r>
              <a:rPr lang="en-US" sz="2400" dirty="0" err="1">
                <a:ea typeface="Inter"/>
              </a:rPr>
              <a:t>uuendatud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vastavalt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vajadusele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muutustele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 err="1">
                <a:ea typeface="Inter"/>
              </a:rPr>
              <a:t>Reeglipärasus</a:t>
            </a:r>
            <a:r>
              <a:rPr lang="en-US" sz="2400" b="1" dirty="0">
                <a:ea typeface="Inter"/>
              </a:rPr>
              <a:t> - </a:t>
            </a:r>
            <a:r>
              <a:rPr lang="en-US" sz="2400" dirty="0" err="1">
                <a:ea typeface="Inter"/>
              </a:rPr>
              <a:t>formaadi</a:t>
            </a:r>
            <a:r>
              <a:rPr lang="en-US" sz="2400" dirty="0">
                <a:ea typeface="Inter"/>
              </a:rPr>
              <a:t> ja </a:t>
            </a:r>
            <a:r>
              <a:rPr lang="en-US" sz="2400" dirty="0" err="1">
                <a:ea typeface="Inter"/>
              </a:rPr>
              <a:t>struktuuri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vastamine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nõuetele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 err="1">
                <a:ea typeface="Inter"/>
              </a:rPr>
              <a:t>Ühekordsus</a:t>
            </a:r>
            <a:r>
              <a:rPr lang="en-US" sz="2400" b="1" dirty="0">
                <a:ea typeface="Inter"/>
              </a:rPr>
              <a:t> - </a:t>
            </a:r>
            <a:r>
              <a:rPr lang="en-US" sz="2400" dirty="0" err="1">
                <a:ea typeface="Inter"/>
              </a:rPr>
              <a:t>ühe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päriselu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objekti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kohta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üks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andmekirje</a:t>
            </a:r>
            <a:endParaRPr lang="en-US" sz="2400" dirty="0">
              <a:ea typeface="Inter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7493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19C03-315A-1405-28B1-81487B1B5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8DEB6-46E7-73AC-2CD5-9FDC571B1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Andmekvaliteedi</a:t>
            </a:r>
            <a:r>
              <a:rPr lang="en-US" dirty="0"/>
              <a:t> </a:t>
            </a:r>
            <a:r>
              <a:rPr lang="en-US" dirty="0" err="1"/>
              <a:t>tagamine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51B77-4A0B-74FA-A6C6-045A5F0F957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502030000000004" pitchFamily="34" charset="0"/>
              <a:buChar char="•"/>
            </a:pPr>
            <a:r>
              <a:rPr lang="en-US" sz="2000" dirty="0" err="1">
                <a:ea typeface="Inter"/>
              </a:rPr>
              <a:t>Andmekvaliteedi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mõõtmise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eelduseks</a:t>
            </a:r>
            <a:r>
              <a:rPr lang="en-US" sz="2000" dirty="0">
                <a:ea typeface="Inter"/>
              </a:rPr>
              <a:t> on </a:t>
            </a:r>
            <a:r>
              <a:rPr lang="en-US" sz="2000" dirty="0" err="1">
                <a:ea typeface="Inter"/>
              </a:rPr>
              <a:t>andmekirjeldused</a:t>
            </a:r>
            <a:endParaRPr lang="en-US" sz="2000" dirty="0">
              <a:ea typeface="Inter"/>
            </a:endParaRPr>
          </a:p>
          <a:p>
            <a:pPr lvl="1">
              <a:lnSpc>
                <a:spcPct val="150000"/>
              </a:lnSpc>
              <a:buFont typeface="Arial" panose="020B0502030000000004" pitchFamily="34" charset="0"/>
              <a:buChar char="•"/>
            </a:pPr>
            <a:r>
              <a:rPr lang="en-US" sz="2000" dirty="0" err="1">
                <a:ea typeface="Inter"/>
              </a:rPr>
              <a:t>Kirjeldus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määrab</a:t>
            </a:r>
            <a:r>
              <a:rPr lang="en-US" sz="2000" dirty="0">
                <a:ea typeface="Inter"/>
              </a:rPr>
              <a:t> andmete sisu (</a:t>
            </a:r>
            <a:r>
              <a:rPr lang="en-US" sz="2000" dirty="0" err="1">
                <a:ea typeface="Inter"/>
              </a:rPr>
              <a:t>klient</a:t>
            </a:r>
            <a:r>
              <a:rPr lang="en-US" sz="2000" dirty="0">
                <a:ea typeface="Inter"/>
              </a:rPr>
              <a:t> on see, </a:t>
            </a:r>
            <a:r>
              <a:rPr lang="en-US" sz="2000" dirty="0" err="1">
                <a:ea typeface="Inter"/>
              </a:rPr>
              <a:t>kellel</a:t>
            </a:r>
            <a:r>
              <a:rPr lang="en-US" sz="2000" dirty="0">
                <a:ea typeface="Inter"/>
              </a:rPr>
              <a:t> on olemas </a:t>
            </a:r>
            <a:r>
              <a:rPr lang="en-US" sz="2000" dirty="0" err="1">
                <a:ea typeface="Inter"/>
              </a:rPr>
              <a:t>kliendikaart</a:t>
            </a:r>
            <a:r>
              <a:rPr lang="en-US" sz="2000" dirty="0">
                <a:ea typeface="Inter"/>
              </a:rPr>
              <a:t>; </a:t>
            </a:r>
            <a:r>
              <a:rPr lang="en-US" sz="2000" dirty="0" err="1">
                <a:ea typeface="Inter"/>
              </a:rPr>
              <a:t>kliendil</a:t>
            </a:r>
            <a:r>
              <a:rPr lang="en-US" sz="2000" dirty="0">
                <a:ea typeface="Inter"/>
              </a:rPr>
              <a:t> peab olema </a:t>
            </a:r>
            <a:r>
              <a:rPr lang="en-US" sz="2000" dirty="0" err="1">
                <a:ea typeface="Inter"/>
              </a:rPr>
              <a:t>isikukood</a:t>
            </a:r>
            <a:r>
              <a:rPr lang="en-US" sz="2000" dirty="0">
                <a:ea typeface="Inter"/>
              </a:rPr>
              <a:t>)</a:t>
            </a:r>
          </a:p>
          <a:p>
            <a:pPr lvl="1">
              <a:lnSpc>
                <a:spcPct val="150000"/>
              </a:lnSpc>
              <a:buFont typeface="Arial" panose="020B0502030000000004" pitchFamily="34" charset="0"/>
              <a:buChar char="•"/>
            </a:pPr>
            <a:r>
              <a:rPr lang="en-US" sz="2000" dirty="0" err="1">
                <a:ea typeface="Inter"/>
              </a:rPr>
              <a:t>Andmekirjeldusi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aitavad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koostada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ärireeglid</a:t>
            </a:r>
            <a:endParaRPr lang="en-US" sz="2000" dirty="0"/>
          </a:p>
          <a:p>
            <a:pPr>
              <a:lnSpc>
                <a:spcPct val="150000"/>
              </a:lnSpc>
              <a:buFont typeface="Arial" panose="020B0502030000000004" pitchFamily="34" charset="0"/>
              <a:buChar char="•"/>
            </a:pPr>
            <a:r>
              <a:rPr lang="en-US" sz="2000" dirty="0" err="1">
                <a:ea typeface="Inter"/>
              </a:rPr>
              <a:t>Keskenduda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tuleks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äriliselt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olulistele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andmekvaliteedi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probleemidele</a:t>
            </a:r>
            <a:r>
              <a:rPr lang="en-US" sz="2000" dirty="0">
                <a:ea typeface="Inter"/>
              </a:rPr>
              <a:t> (</a:t>
            </a:r>
            <a:r>
              <a:rPr lang="en-US" sz="2000" dirty="0" err="1">
                <a:ea typeface="Inter"/>
              </a:rPr>
              <a:t>täpsuse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määr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ajaraam</a:t>
            </a:r>
            <a:r>
              <a:rPr lang="en-US" sz="2000" dirty="0">
                <a:ea typeface="Inter"/>
              </a:rPr>
              <a:t>)</a:t>
            </a:r>
          </a:p>
          <a:p>
            <a:pPr>
              <a:lnSpc>
                <a:spcPct val="150000"/>
              </a:lnSpc>
              <a:buFont typeface="Arial" panose="020B0502030000000004" pitchFamily="34" charset="0"/>
              <a:buChar char="•"/>
            </a:pPr>
            <a:r>
              <a:rPr lang="en-US" sz="2000" dirty="0" err="1">
                <a:ea typeface="Inter"/>
              </a:rPr>
              <a:t>Kontrollitakse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neid</a:t>
            </a:r>
            <a:r>
              <a:rPr lang="en-US" sz="2000" dirty="0">
                <a:ea typeface="Inter"/>
              </a:rPr>
              <a:t> andmeid, mida </a:t>
            </a:r>
            <a:r>
              <a:rPr lang="en-US" sz="2000" dirty="0" err="1">
                <a:ea typeface="Inter"/>
              </a:rPr>
              <a:t>analüüsis</a:t>
            </a:r>
            <a:r>
              <a:rPr lang="en-US" sz="2000" dirty="0">
                <a:ea typeface="Inter"/>
              </a:rPr>
              <a:t> vaja (</a:t>
            </a:r>
            <a:r>
              <a:rPr lang="en-US" sz="2000" dirty="0" err="1">
                <a:ea typeface="Inter"/>
              </a:rPr>
              <a:t>nt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kui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tabelis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mitmeid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veerge</a:t>
            </a:r>
            <a:r>
              <a:rPr lang="en-US" sz="2000" dirty="0">
                <a:ea typeface="Inter"/>
              </a:rPr>
              <a:t>)</a:t>
            </a:r>
          </a:p>
          <a:p>
            <a:pPr>
              <a:lnSpc>
                <a:spcPct val="150000"/>
              </a:lnSpc>
              <a:buFont typeface="Arial" panose="020B0502030000000004" pitchFamily="34" charset="0"/>
              <a:buChar char="•"/>
            </a:pPr>
            <a:r>
              <a:rPr lang="en-US" sz="2000" dirty="0" err="1">
                <a:ea typeface="Inter"/>
              </a:rPr>
              <a:t>Andmekvaliteedi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reeglid</a:t>
            </a:r>
            <a:r>
              <a:rPr lang="en-US" sz="2000" dirty="0">
                <a:ea typeface="Inter"/>
              </a:rPr>
              <a:t> ja </a:t>
            </a:r>
            <a:r>
              <a:rPr lang="en-US" sz="2000" dirty="0" err="1">
                <a:ea typeface="Inter"/>
              </a:rPr>
              <a:t>andmekirjeldused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tuleb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dokumenteerida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ning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muutused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versioneerida</a:t>
            </a:r>
            <a:r>
              <a:rPr lang="en-US" sz="2000" dirty="0">
                <a:ea typeface="Inter"/>
              </a:rPr>
              <a:t>.</a:t>
            </a:r>
            <a:endParaRPr lang="en-US" sz="2000" dirty="0"/>
          </a:p>
          <a:p>
            <a:pPr>
              <a:lnSpc>
                <a:spcPct val="150000"/>
              </a:lnSpc>
              <a:buClr>
                <a:srgbClr val="121212"/>
              </a:buClr>
              <a:buFont typeface="Arial" panose="020B0502030000000004" pitchFamily="34" charset="0"/>
              <a:buChar char="•"/>
            </a:pP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0280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88A7F-A6A6-7D7F-1007-52AC31A35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BFD72-B778-382B-9B5C-840C7B4A60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b="1" err="1"/>
              <a:t>Andmete</a:t>
            </a:r>
            <a:r>
              <a:rPr lang="en-US" sz="2800" b="1"/>
              <a:t> </a:t>
            </a:r>
            <a:r>
              <a:rPr lang="en-US" sz="2800" b="1" err="1"/>
              <a:t>elutsükkel</a:t>
            </a:r>
            <a:endParaRPr lang="en-US" sz="2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F4DFA-7598-AD27-CAAA-A2115C8A337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endParaRPr lang="en-US" sz="240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n-US" sz="2800"/>
          </a:p>
          <a:p>
            <a:pPr marL="0" indent="0">
              <a:lnSpc>
                <a:spcPct val="150000"/>
              </a:lnSpc>
              <a:buNone/>
            </a:pPr>
            <a:endParaRPr lang="en-US" sz="2800"/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83B19840-056B-25B7-58BF-BEC689DC7765}"/>
              </a:ext>
            </a:extLst>
          </p:cNvPr>
          <p:cNvSpPr txBox="1"/>
          <p:nvPr/>
        </p:nvSpPr>
        <p:spPr>
          <a:xfrm>
            <a:off x="788375" y="4248132"/>
            <a:ext cx="11085710" cy="16158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ea typeface="Inter"/>
              </a:rPr>
              <a:t>Andmekvaliteet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tuleb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tagada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igas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elutsükli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etapis</a:t>
            </a:r>
            <a:r>
              <a:rPr lang="en-US" dirty="0">
                <a:ea typeface="Inter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ea typeface="Inter"/>
              </a:rPr>
              <a:t>Andmeväärtused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peavad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tsüklis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jääma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samaks</a:t>
            </a:r>
            <a:r>
              <a:rPr lang="en-US" dirty="0">
                <a:ea typeface="Inter"/>
              </a:rPr>
              <a:t>, </a:t>
            </a:r>
            <a:r>
              <a:rPr lang="en-US" dirty="0" err="1">
                <a:ea typeface="Inter"/>
              </a:rPr>
              <a:t>kui</a:t>
            </a:r>
            <a:r>
              <a:rPr lang="en-US" dirty="0">
                <a:ea typeface="Inter"/>
              </a:rPr>
              <a:t> pole kokku </a:t>
            </a:r>
            <a:r>
              <a:rPr lang="en-US" dirty="0" err="1">
                <a:ea typeface="Inter"/>
              </a:rPr>
              <a:t>lepitud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teisiti</a:t>
            </a:r>
            <a:r>
              <a:rPr lang="en-US" dirty="0">
                <a:ea typeface="Inter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>
                <a:ea typeface="Inter"/>
              </a:rPr>
              <a:t>Mida </a:t>
            </a:r>
            <a:r>
              <a:rPr lang="en-US" dirty="0" err="1">
                <a:ea typeface="Inter"/>
              </a:rPr>
              <a:t>varem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reegleid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rakendada</a:t>
            </a:r>
            <a:r>
              <a:rPr lang="en-US" dirty="0">
                <a:ea typeface="Inter"/>
              </a:rPr>
              <a:t>, </a:t>
            </a:r>
            <a:r>
              <a:rPr lang="en-US" dirty="0" err="1">
                <a:ea typeface="Inter"/>
              </a:rPr>
              <a:t>seda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kergem</a:t>
            </a:r>
            <a:r>
              <a:rPr lang="en-US" dirty="0">
                <a:ea typeface="Inter"/>
              </a:rPr>
              <a:t> ja </a:t>
            </a:r>
            <a:r>
              <a:rPr lang="en-US" dirty="0" err="1">
                <a:ea typeface="Inter"/>
              </a:rPr>
              <a:t>odavam</a:t>
            </a:r>
            <a:r>
              <a:rPr lang="en-US" dirty="0">
                <a:ea typeface="Inter"/>
              </a:rPr>
              <a:t> on </a:t>
            </a:r>
            <a:r>
              <a:rPr lang="en-US" dirty="0" err="1">
                <a:ea typeface="Inter"/>
              </a:rPr>
              <a:t>kvaliteeti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tagada</a:t>
            </a:r>
            <a:r>
              <a:rPr lang="en-US" dirty="0">
                <a:ea typeface="Inter"/>
              </a:rPr>
              <a:t>.</a:t>
            </a:r>
          </a:p>
          <a:p>
            <a:endParaRPr lang="en-US" dirty="0">
              <a:ea typeface="Inter"/>
            </a:endParaRP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2A3D1327-4C66-49A1-3CA7-991196D30B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4290877"/>
              </p:ext>
            </p:extLst>
          </p:nvPr>
        </p:nvGraphicFramePr>
        <p:xfrm>
          <a:off x="705522" y="897230"/>
          <a:ext cx="10033458" cy="3043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8" name="Graphic 41" descr="Blueprint outline">
            <a:extLst>
              <a:ext uri="{FF2B5EF4-FFF2-40B4-BE49-F238E27FC236}">
                <a16:creationId xmlns:a16="http://schemas.microsoft.com/office/drawing/2014/main" id="{71D20794-3C1B-E580-181F-D8E67E262F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4616" y="3083490"/>
            <a:ext cx="705633" cy="674319"/>
          </a:xfrm>
          <a:prstGeom prst="rect">
            <a:avLst/>
          </a:prstGeom>
        </p:spPr>
      </p:pic>
      <p:pic>
        <p:nvPicPr>
          <p:cNvPr id="19" name="Graphic 79" descr="Questions outline">
            <a:extLst>
              <a:ext uri="{FF2B5EF4-FFF2-40B4-BE49-F238E27FC236}">
                <a16:creationId xmlns:a16="http://schemas.microsoft.com/office/drawing/2014/main" id="{C5EDA6E9-71D7-0E43-4C18-C8CD194B20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40013" y="3016588"/>
            <a:ext cx="632565" cy="663880"/>
          </a:xfrm>
          <a:prstGeom prst="rect">
            <a:avLst/>
          </a:prstGeom>
        </p:spPr>
      </p:pic>
      <p:pic>
        <p:nvPicPr>
          <p:cNvPr id="20" name="Graphic 81" descr="Database outline">
            <a:extLst>
              <a:ext uri="{FF2B5EF4-FFF2-40B4-BE49-F238E27FC236}">
                <a16:creationId xmlns:a16="http://schemas.microsoft.com/office/drawing/2014/main" id="{A2C8095B-8166-8907-25F7-AE4858B7CE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46060" y="3016588"/>
            <a:ext cx="611688" cy="653442"/>
          </a:xfrm>
          <a:prstGeom prst="rect">
            <a:avLst/>
          </a:prstGeom>
        </p:spPr>
      </p:pic>
      <p:pic>
        <p:nvPicPr>
          <p:cNvPr id="21" name="Graphic 83" descr="Research outline">
            <a:extLst>
              <a:ext uri="{FF2B5EF4-FFF2-40B4-BE49-F238E27FC236}">
                <a16:creationId xmlns:a16="http://schemas.microsoft.com/office/drawing/2014/main" id="{E7303798-A37A-CA2C-5B12-4528796A05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31230" y="3055741"/>
            <a:ext cx="663880" cy="674318"/>
          </a:xfrm>
          <a:prstGeom prst="rect">
            <a:avLst/>
          </a:prstGeom>
        </p:spPr>
      </p:pic>
      <p:pic>
        <p:nvPicPr>
          <p:cNvPr id="22" name="Graphic 84" descr="Filing Box Archive outline">
            <a:extLst>
              <a:ext uri="{FF2B5EF4-FFF2-40B4-BE49-F238E27FC236}">
                <a16:creationId xmlns:a16="http://schemas.microsoft.com/office/drawing/2014/main" id="{9573F17F-4D4A-59C1-CBA6-821479492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16400" y="3055741"/>
            <a:ext cx="674318" cy="674318"/>
          </a:xfrm>
          <a:prstGeom prst="rect">
            <a:avLst/>
          </a:prstGeom>
        </p:spPr>
      </p:pic>
      <p:pic>
        <p:nvPicPr>
          <p:cNvPr id="23" name="Graphic 85" descr="Shredder outline">
            <a:extLst>
              <a:ext uri="{FF2B5EF4-FFF2-40B4-BE49-F238E27FC236}">
                <a16:creationId xmlns:a16="http://schemas.microsoft.com/office/drawing/2014/main" id="{77BB4153-FA85-E30F-C6EA-19FEFADE66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38729" y="3091841"/>
            <a:ext cx="726510" cy="67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629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F1CE1-2B6D-F2D4-3FF9-8B7AAD7AC3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B21D7-19D0-975B-5922-8C1CDC24BEF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t-EE"/>
          </a:p>
        </p:txBody>
      </p:sp>
      <p:pic>
        <p:nvPicPr>
          <p:cNvPr id="4" name="Picture 3" descr="Funny Data Science How Much Time Is Spent on Data Cleansing&quot; Magnet for  Sale by MadPanda | Redbubble">
            <a:extLst>
              <a:ext uri="{FF2B5EF4-FFF2-40B4-BE49-F238E27FC236}">
                <a16:creationId xmlns:a16="http://schemas.microsoft.com/office/drawing/2014/main" id="{870ED8CD-AFEF-3ACE-6346-0D2FE0936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831" y="0"/>
            <a:ext cx="5119031" cy="682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66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2EFA9-113B-3F35-BA20-9FAC11E551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8F2BB-230A-4D83-62C3-1D56AFD34FF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t-EE"/>
          </a:p>
        </p:txBody>
      </p:sp>
      <p:pic>
        <p:nvPicPr>
          <p:cNvPr id="4" name="Picture 3" descr="50+ data science memes to fight the weekday blues">
            <a:extLst>
              <a:ext uri="{FF2B5EF4-FFF2-40B4-BE49-F238E27FC236}">
                <a16:creationId xmlns:a16="http://schemas.microsoft.com/office/drawing/2014/main" id="{785876CE-F3A1-65EB-6EC2-C29903565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983" y="114447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591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030D3-F5A0-E509-EA21-9622B5AA15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Näiteid</a:t>
            </a:r>
            <a:r>
              <a:rPr lang="en-US" dirty="0"/>
              <a:t> </a:t>
            </a:r>
            <a:r>
              <a:rPr lang="en-US" dirty="0" err="1"/>
              <a:t>andmekvaliteedi</a:t>
            </a:r>
            <a:r>
              <a:rPr lang="en-US" dirty="0"/>
              <a:t> </a:t>
            </a:r>
            <a:r>
              <a:rPr lang="en-US" dirty="0" err="1"/>
              <a:t>probleemidest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018F4-3DDC-6A2A-49CB-E48023F796D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000" b="1" dirty="0" err="1"/>
              <a:t>Lähteandmete</a:t>
            </a:r>
            <a:r>
              <a:rPr lang="en-US" sz="2000" dirty="0"/>
              <a:t> </a:t>
            </a:r>
            <a:r>
              <a:rPr lang="en-US" sz="2000" b="1" dirty="0" err="1"/>
              <a:t>vead</a:t>
            </a:r>
            <a:endParaRPr lang="en-US" sz="2000" b="1" dirty="0"/>
          </a:p>
          <a:p>
            <a:pPr lvl="1"/>
            <a:r>
              <a:rPr lang="en-US" sz="2000" dirty="0" err="1"/>
              <a:t>Importfailis</a:t>
            </a:r>
            <a:r>
              <a:rPr lang="en-US" sz="2000" dirty="0"/>
              <a:t> </a:t>
            </a:r>
            <a:r>
              <a:rPr lang="en-US" sz="2000" dirty="0" err="1"/>
              <a:t>puuduvad</a:t>
            </a:r>
            <a:r>
              <a:rPr lang="en-US" sz="2000" dirty="0"/>
              <a:t> </a:t>
            </a:r>
            <a:r>
              <a:rPr lang="en-US" sz="2000" dirty="0" err="1"/>
              <a:t>vajalikud</a:t>
            </a:r>
            <a:r>
              <a:rPr lang="en-US" sz="2000" dirty="0"/>
              <a:t> </a:t>
            </a:r>
            <a:r>
              <a:rPr lang="en-US" sz="2000" dirty="0" err="1"/>
              <a:t>aastad</a:t>
            </a:r>
            <a:r>
              <a:rPr lang="en-US" sz="2000" dirty="0"/>
              <a:t> – ei </a:t>
            </a:r>
            <a:r>
              <a:rPr lang="en-US" sz="2000" dirty="0" err="1"/>
              <a:t>saa</a:t>
            </a:r>
            <a:r>
              <a:rPr lang="en-US" sz="2000" dirty="0"/>
              <a:t> </a:t>
            </a:r>
            <a:r>
              <a:rPr lang="en-US" sz="2000" dirty="0" err="1"/>
              <a:t>näitada</a:t>
            </a:r>
            <a:r>
              <a:rPr lang="en-US" sz="2000" dirty="0"/>
              <a:t> </a:t>
            </a:r>
            <a:r>
              <a:rPr lang="en-US" sz="2000" dirty="0" err="1"/>
              <a:t>muutust</a:t>
            </a:r>
            <a:r>
              <a:rPr lang="en-US" sz="2000" dirty="0"/>
              <a:t> </a:t>
            </a:r>
            <a:r>
              <a:rPr lang="en-US" sz="2000" dirty="0" err="1"/>
              <a:t>ajas</a:t>
            </a:r>
            <a:r>
              <a:rPr lang="en-US" sz="2000" dirty="0"/>
              <a:t> alates 2020</a:t>
            </a:r>
          </a:p>
          <a:p>
            <a:pPr lvl="1"/>
            <a:r>
              <a:rPr lang="en-US" sz="2000" dirty="0" err="1"/>
              <a:t>Osadel</a:t>
            </a:r>
            <a:r>
              <a:rPr lang="en-US" sz="2000" dirty="0"/>
              <a:t> </a:t>
            </a:r>
            <a:r>
              <a:rPr lang="en-US" sz="2000" dirty="0" err="1"/>
              <a:t>ridadel</a:t>
            </a:r>
            <a:r>
              <a:rPr lang="en-US" sz="2000" dirty="0"/>
              <a:t> on </a:t>
            </a:r>
            <a:r>
              <a:rPr lang="en-US" sz="2000" dirty="0" err="1"/>
              <a:t>tühjad</a:t>
            </a:r>
            <a:r>
              <a:rPr lang="en-US" sz="2000" dirty="0"/>
              <a:t> </a:t>
            </a:r>
            <a:r>
              <a:rPr lang="en-US" sz="2000" dirty="0" err="1"/>
              <a:t>väärtused</a:t>
            </a:r>
            <a:r>
              <a:rPr lang="en-US" sz="2000" dirty="0"/>
              <a:t> – </a:t>
            </a:r>
            <a:r>
              <a:rPr lang="en-US" sz="2000" dirty="0" err="1"/>
              <a:t>kogused</a:t>
            </a:r>
            <a:r>
              <a:rPr lang="en-US" sz="2000" dirty="0"/>
              <a:t> pudu, </a:t>
            </a:r>
            <a:r>
              <a:rPr lang="en-US" sz="2000" dirty="0" err="1"/>
              <a:t>hinnad</a:t>
            </a:r>
            <a:r>
              <a:rPr lang="en-US" sz="2000" dirty="0"/>
              <a:t> pudu</a:t>
            </a:r>
            <a:endParaRPr lang="et-EE" sz="2000" dirty="0"/>
          </a:p>
          <a:p>
            <a:pPr lvl="1"/>
            <a:r>
              <a:rPr lang="et-EE" sz="2000" dirty="0"/>
              <a:t>Osad read on tühjad</a:t>
            </a:r>
            <a:endParaRPr lang="en-US" sz="2000" dirty="0"/>
          </a:p>
          <a:p>
            <a:pPr lvl="1"/>
            <a:r>
              <a:rPr lang="en-US" sz="2000" dirty="0" err="1"/>
              <a:t>Kuupäevad</a:t>
            </a:r>
            <a:r>
              <a:rPr lang="en-US" sz="2000" dirty="0"/>
              <a:t> ei ole </a:t>
            </a:r>
            <a:r>
              <a:rPr lang="en-US" sz="2000" dirty="0" err="1"/>
              <a:t>kuupäeva</a:t>
            </a:r>
            <a:r>
              <a:rPr lang="en-US" sz="2000" dirty="0"/>
              <a:t> </a:t>
            </a:r>
            <a:r>
              <a:rPr lang="en-US" sz="2000" dirty="0" err="1"/>
              <a:t>formaadis</a:t>
            </a:r>
            <a:r>
              <a:rPr lang="en-US" sz="2000" dirty="0"/>
              <a:t>, </a:t>
            </a:r>
            <a:r>
              <a:rPr lang="en-US" sz="2000" dirty="0" err="1"/>
              <a:t>osaliselt</a:t>
            </a:r>
            <a:r>
              <a:rPr lang="en-US" sz="2000" dirty="0"/>
              <a:t> </a:t>
            </a:r>
            <a:r>
              <a:rPr lang="en-US" sz="2000" dirty="0" err="1"/>
              <a:t>kellaajaga</a:t>
            </a:r>
            <a:endParaRPr lang="en-US" sz="2000" dirty="0"/>
          </a:p>
          <a:p>
            <a:pPr lvl="1"/>
            <a:r>
              <a:rPr lang="en-US" sz="2000" dirty="0" err="1"/>
              <a:t>Toodetel</a:t>
            </a:r>
            <a:r>
              <a:rPr lang="en-US" sz="2000" dirty="0"/>
              <a:t> pole </a:t>
            </a:r>
            <a:r>
              <a:rPr lang="en-US" sz="2000" dirty="0" err="1"/>
              <a:t>kategooriaid</a:t>
            </a:r>
            <a:endParaRPr lang="en-US" sz="2000" dirty="0"/>
          </a:p>
          <a:p>
            <a:pPr lvl="1"/>
            <a:r>
              <a:rPr lang="en-US" sz="2000" dirty="0" err="1"/>
              <a:t>Toodetel</a:t>
            </a:r>
            <a:r>
              <a:rPr lang="en-US" sz="2000" dirty="0"/>
              <a:t> on </a:t>
            </a:r>
            <a:r>
              <a:rPr lang="en-US" sz="2000" dirty="0" err="1"/>
              <a:t>valed</a:t>
            </a:r>
            <a:r>
              <a:rPr lang="en-US" sz="2000" dirty="0"/>
              <a:t> </a:t>
            </a:r>
            <a:r>
              <a:rPr lang="en-US" sz="2000" dirty="0" err="1"/>
              <a:t>kategooriad</a:t>
            </a:r>
            <a:endParaRPr lang="en-US" sz="2000" dirty="0"/>
          </a:p>
          <a:p>
            <a:pPr lvl="1"/>
            <a:r>
              <a:rPr lang="en-US" sz="2000" dirty="0" err="1"/>
              <a:t>Summad</a:t>
            </a:r>
            <a:r>
              <a:rPr lang="en-US" sz="2000" dirty="0"/>
              <a:t> </a:t>
            </a:r>
            <a:r>
              <a:rPr lang="en-US" sz="2000" dirty="0" err="1"/>
              <a:t>tulevad</a:t>
            </a:r>
            <a:r>
              <a:rPr lang="en-US" sz="2000" dirty="0"/>
              <a:t> </a:t>
            </a:r>
            <a:r>
              <a:rPr lang="en-US" sz="2000" dirty="0" err="1"/>
              <a:t>topelt</a:t>
            </a:r>
            <a:r>
              <a:rPr lang="en-US" sz="2000" dirty="0"/>
              <a:t> (</a:t>
            </a:r>
            <a:r>
              <a:rPr lang="en-US" sz="2000" dirty="0" err="1"/>
              <a:t>müügiread</a:t>
            </a:r>
            <a:r>
              <a:rPr lang="en-US" sz="2000" dirty="0"/>
              <a:t> on </a:t>
            </a:r>
            <a:r>
              <a:rPr lang="en-US" sz="2000" dirty="0" err="1"/>
              <a:t>nt</a:t>
            </a:r>
            <a:r>
              <a:rPr lang="en-US" sz="2000" dirty="0"/>
              <a:t> </a:t>
            </a:r>
            <a:r>
              <a:rPr lang="en-US" sz="2000" dirty="0" err="1"/>
              <a:t>samas</a:t>
            </a:r>
            <a:r>
              <a:rPr lang="en-US" sz="2000" dirty="0"/>
              <a:t> </a:t>
            </a:r>
            <a:r>
              <a:rPr lang="en-US" sz="2000" dirty="0" err="1"/>
              <a:t>allikas</a:t>
            </a:r>
            <a:r>
              <a:rPr lang="en-US" sz="2000" dirty="0"/>
              <a:t> </a:t>
            </a:r>
            <a:r>
              <a:rPr lang="en-US" sz="2000" dirty="0" err="1"/>
              <a:t>kahest</a:t>
            </a:r>
            <a:r>
              <a:rPr lang="en-US" sz="2000" dirty="0"/>
              <a:t> </a:t>
            </a:r>
            <a:r>
              <a:rPr lang="en-US" sz="2000" dirty="0" err="1"/>
              <a:t>erinevast</a:t>
            </a:r>
            <a:r>
              <a:rPr lang="en-US" sz="2000" dirty="0"/>
              <a:t> </a:t>
            </a:r>
            <a:r>
              <a:rPr lang="en-US" sz="2000" dirty="0" err="1"/>
              <a:t>ajavööndist</a:t>
            </a:r>
            <a:r>
              <a:rPr lang="en-US" sz="2000" dirty="0"/>
              <a:t>)</a:t>
            </a:r>
          </a:p>
          <a:p>
            <a:r>
              <a:rPr lang="en-US" sz="2000" b="1" dirty="0"/>
              <a:t>Andmete </a:t>
            </a:r>
            <a:r>
              <a:rPr lang="en-US" sz="2000" b="1" dirty="0" err="1"/>
              <a:t>töötlemise</a:t>
            </a:r>
            <a:r>
              <a:rPr lang="en-US" sz="2000" b="1" dirty="0"/>
              <a:t> </a:t>
            </a:r>
            <a:r>
              <a:rPr lang="en-US" sz="2000" b="1" dirty="0" err="1"/>
              <a:t>etapis</a:t>
            </a:r>
            <a:r>
              <a:rPr lang="en-US" sz="2000" b="1" dirty="0"/>
              <a:t> või </a:t>
            </a:r>
            <a:r>
              <a:rPr lang="en-US" sz="2000" b="1" dirty="0" err="1"/>
              <a:t>analüüsis</a:t>
            </a:r>
            <a:r>
              <a:rPr lang="en-US" sz="2000" b="1" dirty="0"/>
              <a:t> </a:t>
            </a:r>
            <a:r>
              <a:rPr lang="en-US" sz="2000" b="1" dirty="0" err="1"/>
              <a:t>tekkinud</a:t>
            </a:r>
            <a:r>
              <a:rPr lang="en-US" sz="2000" b="1" dirty="0"/>
              <a:t> </a:t>
            </a:r>
            <a:r>
              <a:rPr lang="en-US" sz="2000" b="1" dirty="0" err="1"/>
              <a:t>vead</a:t>
            </a:r>
            <a:endParaRPr lang="en-US" sz="2000" b="1" dirty="0"/>
          </a:p>
          <a:p>
            <a:pPr lvl="1"/>
            <a:r>
              <a:rPr lang="en-US" sz="2000" dirty="0"/>
              <a:t>Mu </a:t>
            </a:r>
            <a:r>
              <a:rPr lang="en-US" sz="2000" dirty="0" err="1"/>
              <a:t>kasumi</a:t>
            </a:r>
            <a:r>
              <a:rPr lang="en-US" sz="2000" dirty="0"/>
              <a:t> nr </a:t>
            </a:r>
            <a:r>
              <a:rPr lang="en-US" sz="2000" dirty="0" err="1"/>
              <a:t>erineb</a:t>
            </a:r>
            <a:r>
              <a:rPr lang="en-US" sz="2000" dirty="0"/>
              <a:t> </a:t>
            </a:r>
            <a:r>
              <a:rPr lang="en-US" sz="2000" dirty="0" err="1"/>
              <a:t>raamatupidamisprogrammis</a:t>
            </a:r>
            <a:r>
              <a:rPr lang="en-US" sz="2000" dirty="0"/>
              <a:t> </a:t>
            </a:r>
            <a:r>
              <a:rPr lang="en-US" sz="2000" dirty="0" err="1"/>
              <a:t>olevast</a:t>
            </a:r>
            <a:endParaRPr lang="en-US" sz="2000" dirty="0"/>
          </a:p>
          <a:p>
            <a:pPr lvl="1"/>
            <a:r>
              <a:rPr lang="en-US" sz="2000" dirty="0"/>
              <a:t>Töötajate </a:t>
            </a:r>
            <a:r>
              <a:rPr lang="en-US" sz="2000" dirty="0" err="1"/>
              <a:t>arv</a:t>
            </a:r>
            <a:r>
              <a:rPr lang="en-US" sz="2000" dirty="0"/>
              <a:t> on </a:t>
            </a:r>
            <a:r>
              <a:rPr lang="en-US" sz="2000" dirty="0" err="1"/>
              <a:t>teisel</a:t>
            </a:r>
            <a:r>
              <a:rPr lang="en-US" sz="2000" dirty="0"/>
              <a:t> </a:t>
            </a:r>
            <a:r>
              <a:rPr lang="en-US" sz="2000" dirty="0" err="1"/>
              <a:t>juhil</a:t>
            </a:r>
            <a:r>
              <a:rPr lang="en-US" sz="2000" dirty="0"/>
              <a:t> </a:t>
            </a:r>
            <a:r>
              <a:rPr lang="en-US" sz="2000" dirty="0" err="1"/>
              <a:t>teine</a:t>
            </a:r>
            <a:endParaRPr lang="en-US" sz="2000" dirty="0"/>
          </a:p>
          <a:p>
            <a:pPr lvl="1"/>
            <a:r>
              <a:rPr lang="en-US" sz="2000" dirty="0" err="1"/>
              <a:t>Allokatsioonide</a:t>
            </a:r>
            <a:r>
              <a:rPr lang="en-US" sz="2000" dirty="0"/>
              <a:t> </a:t>
            </a:r>
            <a:r>
              <a:rPr lang="en-US" sz="2000" dirty="0" err="1"/>
              <a:t>summad</a:t>
            </a:r>
            <a:r>
              <a:rPr lang="en-US" sz="2000" dirty="0"/>
              <a:t> on </a:t>
            </a:r>
            <a:r>
              <a:rPr lang="en-US" sz="2000" dirty="0" err="1"/>
              <a:t>muutunud</a:t>
            </a:r>
            <a:r>
              <a:rPr lang="en-US" sz="2000" dirty="0"/>
              <a:t> </a:t>
            </a:r>
            <a:r>
              <a:rPr lang="en-US" sz="2000" dirty="0" err="1"/>
              <a:t>võrreldes</a:t>
            </a:r>
            <a:r>
              <a:rPr lang="en-US" sz="2000" dirty="0"/>
              <a:t> </a:t>
            </a:r>
            <a:r>
              <a:rPr lang="en-US" sz="2000" dirty="0" err="1"/>
              <a:t>eilsega</a:t>
            </a:r>
            <a:endParaRPr lang="et-EE" sz="2000" dirty="0"/>
          </a:p>
        </p:txBody>
      </p:sp>
    </p:spTree>
    <p:extLst>
      <p:ext uri="{BB962C8B-B14F-4D97-AF65-F5344CB8AC3E}">
        <p14:creationId xmlns:p14="http://schemas.microsoft.com/office/powerpoint/2010/main" val="1818135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74240-DA98-AFD1-5042-F7972DCFC4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Andmekvaliteedi</a:t>
            </a:r>
            <a:r>
              <a:rPr lang="en-US" dirty="0"/>
              <a:t> </a:t>
            </a:r>
            <a:r>
              <a:rPr lang="en-US" dirty="0" err="1"/>
              <a:t>probleemide</a:t>
            </a:r>
            <a:r>
              <a:rPr lang="en-US" dirty="0"/>
              <a:t> </a:t>
            </a:r>
            <a:r>
              <a:rPr lang="en-US" dirty="0" err="1"/>
              <a:t>lahendamine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43AF2-D8CB-E789-1C35-D2762C89402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7952" y="1027493"/>
            <a:ext cx="10941050" cy="44656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 err="1"/>
              <a:t>Andmeallikate</a:t>
            </a:r>
            <a:r>
              <a:rPr lang="en-US" sz="1800" dirty="0"/>
              <a:t> </a:t>
            </a:r>
            <a:r>
              <a:rPr lang="en-US" sz="1800" b="1" dirty="0"/>
              <a:t>analüüs</a:t>
            </a:r>
            <a:r>
              <a:rPr lang="en-US" sz="1800" dirty="0"/>
              <a:t> ja </a:t>
            </a:r>
            <a:r>
              <a:rPr lang="en-US" sz="1800" b="1" dirty="0" err="1"/>
              <a:t>profileerimine</a:t>
            </a:r>
            <a:r>
              <a:rPr lang="en-US" sz="1800" dirty="0"/>
              <a:t> (selle </a:t>
            </a:r>
            <a:r>
              <a:rPr lang="en-US" sz="1800" dirty="0" err="1"/>
              <a:t>eelduseks</a:t>
            </a:r>
            <a:r>
              <a:rPr lang="en-US" sz="1800" dirty="0"/>
              <a:t> on </a:t>
            </a:r>
            <a:r>
              <a:rPr lang="en-US" sz="1800" dirty="0" err="1"/>
              <a:t>valdkonna</a:t>
            </a:r>
            <a:r>
              <a:rPr lang="en-US" sz="1800" dirty="0"/>
              <a:t> </a:t>
            </a:r>
            <a:r>
              <a:rPr lang="en-US" sz="1800" dirty="0" err="1"/>
              <a:t>teadmised</a:t>
            </a:r>
            <a:r>
              <a:rPr lang="en-US" sz="1800" dirty="0"/>
              <a:t> ja analüütika </a:t>
            </a:r>
            <a:r>
              <a:rPr lang="en-US" sz="1800" dirty="0" err="1"/>
              <a:t>tehnikad</a:t>
            </a:r>
            <a:r>
              <a:rPr lang="en-US" sz="1800" dirty="0"/>
              <a:t>). </a:t>
            </a:r>
            <a:r>
              <a:rPr lang="en-US" sz="1800" dirty="0" err="1"/>
              <a:t>Sageli</a:t>
            </a:r>
            <a:r>
              <a:rPr lang="en-US" sz="1800" dirty="0"/>
              <a:t> </a:t>
            </a:r>
            <a:r>
              <a:rPr lang="en-US" sz="1800" dirty="0" err="1"/>
              <a:t>tabelite</a:t>
            </a:r>
            <a:r>
              <a:rPr lang="en-US" sz="1800" dirty="0"/>
              <a:t>, </a:t>
            </a:r>
            <a:r>
              <a:rPr lang="en-US" sz="1800" dirty="0" err="1"/>
              <a:t>veergude</a:t>
            </a:r>
            <a:r>
              <a:rPr lang="en-US" sz="1800" dirty="0"/>
              <a:t> ja </a:t>
            </a:r>
            <a:r>
              <a:rPr lang="en-US" sz="1800" dirty="0" err="1"/>
              <a:t>ridade</a:t>
            </a:r>
            <a:r>
              <a:rPr lang="en-US" sz="1800" dirty="0"/>
              <a:t> kaupa. </a:t>
            </a:r>
            <a:r>
              <a:rPr lang="en-US" sz="1800" dirty="0" err="1"/>
              <a:t>Automatiseerimiseks</a:t>
            </a:r>
            <a:r>
              <a:rPr lang="en-US" sz="1800" dirty="0"/>
              <a:t> </a:t>
            </a:r>
            <a:r>
              <a:rPr lang="en-US" sz="1800" dirty="0" err="1"/>
              <a:t>tööriistades</a:t>
            </a:r>
            <a:r>
              <a:rPr lang="en-US" sz="1800" dirty="0"/>
              <a:t> </a:t>
            </a:r>
            <a:r>
              <a:rPr lang="en-US" sz="1800" dirty="0" err="1"/>
              <a:t>vahendid</a:t>
            </a:r>
            <a:r>
              <a:rPr lang="en-US" sz="1800" dirty="0"/>
              <a:t> + AI</a:t>
            </a:r>
            <a:br>
              <a:rPr lang="en-US" sz="1800" dirty="0"/>
            </a:br>
            <a:r>
              <a:rPr lang="en-US" sz="1800" dirty="0">
                <a:ea typeface="Inter"/>
              </a:rPr>
              <a:t>Pm </a:t>
            </a:r>
            <a:r>
              <a:rPr lang="en-US" sz="1800" dirty="0" err="1">
                <a:ea typeface="Inter"/>
              </a:rPr>
              <a:t>hakkad</a:t>
            </a:r>
            <a:r>
              <a:rPr lang="en-US" sz="1800" dirty="0">
                <a:ea typeface="Inter"/>
              </a:rPr>
              <a:t> </a:t>
            </a:r>
            <a:r>
              <a:rPr lang="et-EE" sz="1800" dirty="0">
                <a:ea typeface="Inter"/>
              </a:rPr>
              <a:t>algandmeid </a:t>
            </a:r>
            <a:r>
              <a:rPr lang="en-US" sz="1800" dirty="0" err="1">
                <a:ea typeface="Inter"/>
              </a:rPr>
              <a:t>mööda</a:t>
            </a:r>
            <a:r>
              <a:rPr lang="en-US" sz="1800" dirty="0">
                <a:ea typeface="Inter"/>
              </a:rPr>
              <a:t> </a:t>
            </a:r>
            <a:r>
              <a:rPr lang="en-US" sz="1800" dirty="0" err="1">
                <a:ea typeface="Inter"/>
              </a:rPr>
              <a:t>nõudeid</a:t>
            </a:r>
            <a:r>
              <a:rPr lang="en-US" sz="1800" dirty="0">
                <a:ea typeface="Inter"/>
              </a:rPr>
              <a:t> </a:t>
            </a:r>
            <a:r>
              <a:rPr lang="en-US" sz="1800" dirty="0" err="1">
                <a:ea typeface="Inter"/>
              </a:rPr>
              <a:t>kontrollima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/>
              <a:t>Andmete </a:t>
            </a:r>
            <a:r>
              <a:rPr lang="en-US" sz="1800" b="1" dirty="0" err="1"/>
              <a:t>korrastamine</a:t>
            </a:r>
            <a:endParaRPr lang="en-US" sz="1800" b="1" dirty="0"/>
          </a:p>
          <a:p>
            <a:pPr lvl="1">
              <a:lnSpc>
                <a:spcPct val="150000"/>
              </a:lnSpc>
            </a:pPr>
            <a:r>
              <a:rPr lang="en-US" sz="1800" dirty="0" err="1"/>
              <a:t>töövahenditega</a:t>
            </a:r>
            <a:r>
              <a:rPr lang="en-US" sz="1800" dirty="0"/>
              <a:t> </a:t>
            </a:r>
            <a:r>
              <a:rPr lang="en-US" sz="1800" dirty="0" err="1"/>
              <a:t>puhastamine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sz="1800" dirty="0" err="1"/>
              <a:t>rikastamine</a:t>
            </a:r>
            <a:r>
              <a:rPr lang="en-US" sz="1800" dirty="0"/>
              <a:t> (</a:t>
            </a:r>
            <a:r>
              <a:rPr lang="en-US" sz="1800" dirty="0" err="1"/>
              <a:t>otsid</a:t>
            </a:r>
            <a:r>
              <a:rPr lang="en-US" sz="1800" dirty="0"/>
              <a:t> </a:t>
            </a:r>
            <a:r>
              <a:rPr lang="en-US" sz="1800" dirty="0" err="1"/>
              <a:t>lisaallikaid</a:t>
            </a:r>
            <a:r>
              <a:rPr lang="en-US" sz="1800" dirty="0"/>
              <a:t>, </a:t>
            </a:r>
            <a:r>
              <a:rPr lang="en-US" sz="1800" dirty="0" err="1"/>
              <a:t>vahel</a:t>
            </a:r>
            <a:r>
              <a:rPr lang="en-US" sz="1800" dirty="0"/>
              <a:t> ka </a:t>
            </a:r>
            <a:r>
              <a:rPr lang="en-US" sz="1800" dirty="0" err="1"/>
              <a:t>kodeerimis</a:t>
            </a:r>
            <a:r>
              <a:rPr lang="en-US" sz="1800" dirty="0"/>
              <a:t>- ja </a:t>
            </a:r>
            <a:r>
              <a:rPr lang="en-US" sz="1800" dirty="0" err="1"/>
              <a:t>grupeerimisfaile</a:t>
            </a:r>
            <a:r>
              <a:rPr lang="en-US" sz="1800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1800" dirty="0" err="1"/>
              <a:t>Analüüsi</a:t>
            </a:r>
            <a:r>
              <a:rPr lang="en-US" sz="1800" dirty="0"/>
              <a:t> </a:t>
            </a:r>
            <a:r>
              <a:rPr lang="en-US" sz="1800" dirty="0" err="1"/>
              <a:t>tulemuste</a:t>
            </a:r>
            <a:r>
              <a:rPr lang="en-US" sz="1800" dirty="0"/>
              <a:t> (</a:t>
            </a:r>
            <a:r>
              <a:rPr lang="en-US" sz="1800" dirty="0" err="1"/>
              <a:t>raportite</a:t>
            </a:r>
            <a:r>
              <a:rPr lang="en-US" sz="1800" dirty="0"/>
              <a:t>) </a:t>
            </a:r>
            <a:r>
              <a:rPr lang="en-US" sz="1800" b="1" dirty="0"/>
              <a:t>testimine</a:t>
            </a:r>
            <a:r>
              <a:rPr lang="en-US" sz="1800" dirty="0"/>
              <a:t> </a:t>
            </a:r>
            <a:r>
              <a:rPr lang="en-US" sz="1800" dirty="0" err="1"/>
              <a:t>oodatava</a:t>
            </a:r>
            <a:r>
              <a:rPr lang="en-US" sz="1800" dirty="0"/>
              <a:t> </a:t>
            </a:r>
            <a:r>
              <a:rPr lang="en-US" sz="1800" dirty="0" err="1"/>
              <a:t>tulemuse</a:t>
            </a:r>
            <a:r>
              <a:rPr lang="en-US" sz="1800" dirty="0"/>
              <a:t> vastu</a:t>
            </a:r>
            <a:r>
              <a:rPr lang="et-EE" sz="1800" dirty="0"/>
              <a:t>, nt allikas mingit veergu summeerides või profileerides dimensiooni väärtuste kaupa – topeltkontroll, tellijal ei ole neid numbreid anda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 err="1"/>
              <a:t>Regulaarne</a:t>
            </a:r>
            <a:r>
              <a:rPr lang="en-US" sz="1800" dirty="0"/>
              <a:t> </a:t>
            </a:r>
            <a:r>
              <a:rPr lang="en-US" sz="1800" dirty="0" err="1"/>
              <a:t>monitoorimine</a:t>
            </a:r>
            <a:r>
              <a:rPr lang="en-US" sz="1800" dirty="0"/>
              <a:t> ja selle </a:t>
            </a:r>
            <a:r>
              <a:rPr lang="en-US" sz="1800" dirty="0" err="1"/>
              <a:t>tulemusel</a:t>
            </a:r>
            <a:r>
              <a:rPr lang="en-US" sz="1800" dirty="0"/>
              <a:t> </a:t>
            </a:r>
            <a:r>
              <a:rPr lang="en-US" sz="1800" dirty="0" err="1"/>
              <a:t>iteratiivselt</a:t>
            </a:r>
            <a:r>
              <a:rPr lang="en-US" sz="1800" dirty="0"/>
              <a:t> (</a:t>
            </a:r>
            <a:r>
              <a:rPr lang="en-US" sz="1800" dirty="0" err="1"/>
              <a:t>samm-sammult</a:t>
            </a:r>
            <a:r>
              <a:rPr lang="en-US" sz="1800" dirty="0"/>
              <a:t>) </a:t>
            </a:r>
            <a:r>
              <a:rPr lang="en-US" sz="1800" dirty="0" err="1"/>
              <a:t>andmekorralduse</a:t>
            </a:r>
            <a:r>
              <a:rPr lang="en-US" sz="1800" dirty="0"/>
              <a:t> </a:t>
            </a:r>
            <a:r>
              <a:rPr lang="en-US" sz="1800" dirty="0" err="1"/>
              <a:t>täiendamine</a:t>
            </a:r>
            <a:r>
              <a:rPr lang="en-US" sz="1800" dirty="0"/>
              <a:t> ja </a:t>
            </a:r>
            <a:r>
              <a:rPr lang="en-US" sz="1800" dirty="0" err="1"/>
              <a:t>töötlemise</a:t>
            </a:r>
            <a:r>
              <a:rPr lang="en-US" sz="1800" dirty="0"/>
              <a:t> pirandamine/</a:t>
            </a:r>
            <a:r>
              <a:rPr lang="en-US" sz="1800" dirty="0" err="1"/>
              <a:t>muutmine</a:t>
            </a:r>
            <a:r>
              <a:rPr lang="en-US" sz="1800" dirty="0"/>
              <a:t>/</a:t>
            </a:r>
            <a:r>
              <a:rPr lang="en-US" sz="1800" dirty="0" err="1"/>
              <a:t>lisamine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sz="1800" dirty="0" err="1"/>
              <a:t>sisendandmete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sz="1800" dirty="0" err="1"/>
              <a:t>tulemuste</a:t>
            </a:r>
            <a:endParaRPr lang="et-EE" sz="1800" dirty="0"/>
          </a:p>
        </p:txBody>
      </p:sp>
    </p:spTree>
    <p:extLst>
      <p:ext uri="{BB962C8B-B14F-4D97-AF65-F5344CB8AC3E}">
        <p14:creationId xmlns:p14="http://schemas.microsoft.com/office/powerpoint/2010/main" val="1773291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D91E9-61AF-1AEF-55F6-14BFE1C47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5E9F-EFCB-7460-3224-BA2B3C47B13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09A217A-D728-C90A-5012-2F8789A6C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10:30-10:45</a:t>
            </a:r>
          </a:p>
        </p:txBody>
      </p:sp>
    </p:spTree>
    <p:extLst>
      <p:ext uri="{BB962C8B-B14F-4D97-AF65-F5344CB8AC3E}">
        <p14:creationId xmlns:p14="http://schemas.microsoft.com/office/powerpoint/2010/main" val="3493321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A8EF-698C-04CF-D04C-52686C4BA5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/>
              <a:t>Power BI – </a:t>
            </a:r>
            <a:r>
              <a:rPr lang="en-US" sz="2800" err="1"/>
              <a:t>andmete</a:t>
            </a:r>
            <a:r>
              <a:rPr lang="en-US" sz="2800"/>
              <a:t> </a:t>
            </a:r>
            <a:r>
              <a:rPr lang="en-US" sz="2800" err="1"/>
              <a:t>profileerimine</a:t>
            </a:r>
            <a:r>
              <a:rPr lang="en-US" sz="2800"/>
              <a:t> – </a:t>
            </a:r>
            <a:r>
              <a:rPr lang="en-US" sz="2800" err="1"/>
              <a:t>kirjeldav</a:t>
            </a:r>
            <a:r>
              <a:rPr lang="en-US" sz="2800"/>
              <a:t> </a:t>
            </a:r>
            <a:r>
              <a:rPr lang="en-US" sz="2800" err="1"/>
              <a:t>statistika</a:t>
            </a:r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708D-24EA-EFA6-0635-D22EE046AC1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Power Query </a:t>
            </a:r>
            <a:r>
              <a:rPr lang="en-US" sz="2400" dirty="0" err="1">
                <a:ea typeface="Inter"/>
              </a:rPr>
              <a:t>vaade</a:t>
            </a:r>
            <a:r>
              <a:rPr lang="en-US" sz="2400" dirty="0">
                <a:ea typeface="Inter"/>
              </a:rPr>
              <a:t> --&gt; View:</a:t>
            </a:r>
            <a:endParaRPr lang="en-US" sz="2400" dirty="0"/>
          </a:p>
          <a:p>
            <a:pPr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ea typeface="Inter"/>
              </a:rPr>
              <a:t>Column Distribution </a:t>
            </a:r>
            <a:endParaRPr lang="en-US" sz="2400" dirty="0"/>
          </a:p>
          <a:p>
            <a:pPr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ea typeface="Inter"/>
              </a:rPr>
              <a:t>Column Profile</a:t>
            </a:r>
            <a:endParaRPr lang="en-US" sz="2400" dirty="0"/>
          </a:p>
          <a:p>
            <a:pPr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ea typeface="Inter"/>
              </a:rPr>
              <a:t>Column Quality</a:t>
            </a: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 err="1">
                <a:ea typeface="Inter"/>
              </a:rPr>
              <a:t>Vaikimisi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esimesed</a:t>
            </a:r>
            <a:r>
              <a:rPr lang="en-US" sz="2400" dirty="0">
                <a:ea typeface="Inter"/>
              </a:rPr>
              <a:t> 1000 </a:t>
            </a:r>
            <a:r>
              <a:rPr lang="en-US" sz="2400" dirty="0" err="1">
                <a:ea typeface="Inter"/>
              </a:rPr>
              <a:t>kirjet</a:t>
            </a:r>
            <a:r>
              <a:rPr lang="en-US" sz="2400" dirty="0">
                <a:ea typeface="Inter"/>
              </a:rPr>
              <a:t>, vaja </a:t>
            </a:r>
            <a:r>
              <a:rPr lang="en-US" sz="2400" dirty="0" err="1">
                <a:ea typeface="Inter"/>
              </a:rPr>
              <a:t>valida</a:t>
            </a:r>
            <a:r>
              <a:rPr lang="en-US" sz="2400" dirty="0">
                <a:ea typeface="Inter"/>
              </a:rPr>
              <a:t>  "Column profiling based on entire data set„</a:t>
            </a:r>
            <a:endParaRPr lang="et-EE" sz="2400" dirty="0">
              <a:ea typeface="Inter"/>
            </a:endParaRP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t-EE" sz="2400" dirty="0">
                <a:ea typeface="Inter"/>
              </a:rPr>
              <a:t>Mõnikord aga siin kohe pole näha, vaid raportis on andmed „imelikud“</a:t>
            </a:r>
            <a:endParaRPr lang="en-US" sz="2400" dirty="0">
              <a:ea typeface="Inter"/>
            </a:endParaRPr>
          </a:p>
          <a:p>
            <a:pPr marL="0" indent="0">
              <a:lnSpc>
                <a:spcPct val="150000"/>
              </a:lnSpc>
              <a:buClr>
                <a:srgbClr val="121212"/>
              </a:buClr>
              <a:buNone/>
            </a:pPr>
            <a:endParaRPr lang="en-US" sz="2400" dirty="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94666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ECB01-4896-D7FE-1CDD-F7CBAF3B16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8348-5894-513F-5844-F7D0221E80F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t-E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46C7A7-1A08-64CF-0FC7-1454AA8BB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64" y="286808"/>
            <a:ext cx="8876182" cy="609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965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57E86-F0CD-95DC-95D0-8C87805B0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716E-62FE-889D-36A0-488FE68606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Harjutus</a:t>
            </a:r>
            <a:r>
              <a:rPr lang="en-US" dirty="0">
                <a:ea typeface="+mj-lt"/>
                <a:cs typeface="+mj-lt"/>
              </a:rPr>
              <a:t> 1 </a:t>
            </a:r>
            <a:r>
              <a:rPr lang="en-US" dirty="0" err="1">
                <a:ea typeface="+mj-lt"/>
                <a:cs typeface="+mj-lt"/>
              </a:rPr>
              <a:t>jätk</a:t>
            </a:r>
            <a:br>
              <a:rPr lang="en-US" dirty="0">
                <a:ea typeface="+mj-lt"/>
                <a:cs typeface="+mj-lt"/>
              </a:rPr>
            </a:br>
            <a:r>
              <a:rPr lang="en-US" dirty="0">
                <a:ea typeface="+mj-lt"/>
                <a:cs typeface="+mj-lt"/>
              </a:rPr>
              <a:t>Power BI – uue </a:t>
            </a:r>
            <a:r>
              <a:rPr lang="en-US" dirty="0" err="1">
                <a:ea typeface="+mj-lt"/>
                <a:cs typeface="+mj-lt"/>
              </a:rPr>
              <a:t>andmestiku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kvaliteedi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kontroll</a:t>
            </a:r>
            <a:endParaRPr lang="en-US" dirty="0">
              <a:ea typeface="Inter 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528B4-6D3A-26AC-5F90-5FEC55219D5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4149" y="1755728"/>
            <a:ext cx="10941050" cy="4465637"/>
          </a:xfrm>
        </p:spPr>
        <p:txBody>
          <a:bodyPr/>
          <a:lstStyle/>
          <a:p>
            <a:pPr marL="285750" indent="0">
              <a:lnSpc>
                <a:spcPct val="150000"/>
              </a:lnSpc>
              <a:buNone/>
            </a:pPr>
            <a:r>
              <a:rPr lang="en-US" sz="2400" dirty="0" err="1">
                <a:ea typeface="Inter"/>
              </a:rPr>
              <a:t>Võtame</a:t>
            </a:r>
            <a:r>
              <a:rPr lang="en-US" sz="2400" dirty="0">
                <a:ea typeface="Inter"/>
              </a:rPr>
              <a:t> alla </a:t>
            </a:r>
            <a:r>
              <a:rPr lang="en-US" sz="2400" dirty="0" err="1">
                <a:ea typeface="Inter"/>
              </a:rPr>
              <a:t>uued</a:t>
            </a:r>
            <a:r>
              <a:rPr lang="en-US" sz="2400" dirty="0">
                <a:ea typeface="Inter"/>
              </a:rPr>
              <a:t> andmed </a:t>
            </a:r>
            <a:r>
              <a:rPr lang="en-US" sz="2400" dirty="0" err="1">
                <a:ea typeface="Inter"/>
              </a:rPr>
              <a:t>müügiraporti</a:t>
            </a:r>
            <a:r>
              <a:rPr lang="en-US" sz="2400" dirty="0">
                <a:ea typeface="Inter"/>
              </a:rPr>
              <a:t> jaoks (</a:t>
            </a:r>
            <a:r>
              <a:rPr lang="en-US" sz="2400" dirty="0" err="1">
                <a:ea typeface="Inter"/>
              </a:rPr>
              <a:t>sama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raport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kuid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uued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failid</a:t>
            </a:r>
            <a:r>
              <a:rPr lang="en-US" sz="2400" dirty="0">
                <a:ea typeface="Inter"/>
              </a:rPr>
              <a:t>)</a:t>
            </a:r>
          </a:p>
          <a:p>
            <a:pPr marL="1085850" lvl="1" indent="-342900">
              <a:lnSpc>
                <a:spcPct val="150000"/>
              </a:lnSpc>
            </a:pPr>
            <a:r>
              <a:rPr lang="en-US" sz="2000" dirty="0">
                <a:ea typeface="Inter"/>
              </a:rPr>
              <a:t>Lae alla ZIP fail </a:t>
            </a:r>
            <a:r>
              <a:rPr lang="en-US" sz="2000" dirty="0" err="1">
                <a:ea typeface="Inter"/>
              </a:rPr>
              <a:t>alliktabelitega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GitHubist</a:t>
            </a:r>
            <a:r>
              <a:rPr lang="en-US" sz="2000" dirty="0">
                <a:ea typeface="Inter"/>
              </a:rPr>
              <a:t>: </a:t>
            </a:r>
            <a:r>
              <a:rPr lang="en-US" sz="2000" b="1" dirty="0">
                <a:ea typeface="Inter"/>
              </a:rPr>
              <a:t>Day2 </a:t>
            </a:r>
            <a:r>
              <a:rPr lang="en-US" sz="2000" dirty="0">
                <a:ea typeface="Inter"/>
              </a:rPr>
              <a:t>--&gt; DataSources.zip</a:t>
            </a:r>
          </a:p>
          <a:p>
            <a:pPr marL="1085850" lvl="1" indent="-342900">
              <a:lnSpc>
                <a:spcPct val="150000"/>
              </a:lnSpc>
            </a:pPr>
            <a:r>
              <a:rPr lang="en-US" sz="2000" dirty="0">
                <a:ea typeface="Inter"/>
              </a:rPr>
              <a:t>Unzip</a:t>
            </a:r>
          </a:p>
          <a:p>
            <a:pPr marL="1085850" lvl="1" indent="-342900">
              <a:lnSpc>
                <a:spcPct val="150000"/>
              </a:lnSpc>
            </a:pPr>
            <a:r>
              <a:rPr lang="en-US" sz="2000" dirty="0">
                <a:ea typeface="Inter"/>
              </a:rPr>
              <a:t>Ava </a:t>
            </a:r>
            <a:r>
              <a:rPr lang="en-US" sz="2000" dirty="0" err="1">
                <a:ea typeface="Inter"/>
              </a:rPr>
              <a:t>eile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tehtud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PowerBI</a:t>
            </a:r>
            <a:r>
              <a:rPr lang="en-US" sz="2000" dirty="0">
                <a:ea typeface="Inter"/>
              </a:rPr>
              <a:t> fail --&gt; Transform Data --&gt; Change data source</a:t>
            </a:r>
          </a:p>
          <a:p>
            <a:pPr marL="1543050" lvl="2" indent="-342900">
              <a:lnSpc>
                <a:spcPct val="150000"/>
              </a:lnSpc>
            </a:pPr>
            <a:r>
              <a:rPr lang="en-US" sz="2000" dirty="0" err="1">
                <a:ea typeface="Inter"/>
              </a:rPr>
              <a:t>Vaata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üle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tulpade</a:t>
            </a:r>
            <a:r>
              <a:rPr lang="en-US" sz="2000" dirty="0">
                <a:ea typeface="Inter"/>
              </a:rPr>
              <a:t> sisu ja </a:t>
            </a:r>
            <a:r>
              <a:rPr lang="en-US" sz="2000" dirty="0" err="1">
                <a:ea typeface="Inter"/>
              </a:rPr>
              <a:t>vorm</a:t>
            </a:r>
            <a:endParaRPr lang="en-US" sz="2000" dirty="0">
              <a:ea typeface="Inter"/>
            </a:endParaRPr>
          </a:p>
          <a:p>
            <a:pPr marL="1543050" lvl="2" indent="-342900">
              <a:lnSpc>
                <a:spcPct val="150000"/>
              </a:lnSpc>
            </a:pPr>
            <a:r>
              <a:rPr lang="en-US" sz="2000" b="1" dirty="0">
                <a:ea typeface="Inter"/>
              </a:rPr>
              <a:t>Kas on </a:t>
            </a:r>
            <a:r>
              <a:rPr lang="en-US" sz="2000" b="1" dirty="0" err="1">
                <a:ea typeface="Inter"/>
              </a:rPr>
              <a:t>väärtuseid</a:t>
            </a:r>
            <a:r>
              <a:rPr lang="en-US" sz="2000" b="1" dirty="0">
                <a:ea typeface="Inter"/>
              </a:rPr>
              <a:t>, mis </a:t>
            </a:r>
            <a:r>
              <a:rPr lang="en-US" sz="2000" b="1" dirty="0" err="1">
                <a:ea typeface="Inter"/>
              </a:rPr>
              <a:t>tunduvad</a:t>
            </a:r>
            <a:r>
              <a:rPr lang="en-US" sz="2000" b="1" dirty="0">
                <a:ea typeface="Inter"/>
              </a:rPr>
              <a:t> </a:t>
            </a:r>
            <a:r>
              <a:rPr lang="en-US" sz="2000" b="1" dirty="0" err="1">
                <a:ea typeface="Inter"/>
              </a:rPr>
              <a:t>ebaloogilised</a:t>
            </a:r>
            <a:r>
              <a:rPr lang="en-US" sz="2000" b="1" dirty="0">
                <a:ea typeface="Inter"/>
              </a:rPr>
              <a:t>?</a:t>
            </a:r>
            <a:endParaRPr lang="en-US" sz="2000" b="1" dirty="0"/>
          </a:p>
          <a:p>
            <a:pPr marL="1085850" lvl="1" indent="-342900">
              <a:lnSpc>
                <a:spcPct val="150000"/>
              </a:lnSpc>
            </a:pPr>
            <a:r>
              <a:rPr lang="en-US" sz="2000" dirty="0" err="1">
                <a:ea typeface="Inter"/>
              </a:rPr>
              <a:t>Salvesta</a:t>
            </a:r>
            <a:r>
              <a:rPr lang="en-US" sz="2000" dirty="0">
                <a:ea typeface="Inter"/>
              </a:rPr>
              <a:t> fail</a:t>
            </a:r>
            <a:endParaRPr lang="en-US" sz="2000" dirty="0"/>
          </a:p>
          <a:p>
            <a:pPr marL="285750" indent="0">
              <a:lnSpc>
                <a:spcPct val="150000"/>
              </a:lnSpc>
              <a:buClr>
                <a:srgbClr val="121212"/>
              </a:buClr>
              <a:buNone/>
            </a:pPr>
            <a:endParaRPr lang="en-US" sz="2400" dirty="0"/>
          </a:p>
          <a:p>
            <a:pPr marL="514350">
              <a:lnSpc>
                <a:spcPct val="150000"/>
              </a:lnSpc>
              <a:buFont typeface="Inter"/>
              <a:buChar char="‣"/>
            </a:pP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08858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8BC29-5CEB-0838-1E5A-EF9394E93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1790E-034F-7165-DC44-C8512E905C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Power BI – </a:t>
            </a:r>
            <a:r>
              <a:rPr lang="en-US" dirty="0" err="1"/>
              <a:t>formaatide</a:t>
            </a:r>
            <a:r>
              <a:rPr lang="en-US" dirty="0"/>
              <a:t> </a:t>
            </a:r>
            <a:r>
              <a:rPr lang="en-US" dirty="0" err="1"/>
              <a:t>kontroll</a:t>
            </a:r>
            <a:r>
              <a:rPr lang="en-US" dirty="0"/>
              <a:t> - </a:t>
            </a:r>
            <a:r>
              <a:rPr lang="en-US" dirty="0" err="1"/>
              <a:t>reeglipärasus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59742-F599-D46C-34FB-584FA13DE60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Kas kõik </a:t>
            </a:r>
            <a:r>
              <a:rPr lang="en-US" sz="2400" dirty="0" err="1">
                <a:ea typeface="Inter"/>
              </a:rPr>
              <a:t>importandmed</a:t>
            </a:r>
            <a:r>
              <a:rPr lang="en-US" sz="2400" dirty="0">
                <a:ea typeface="Inter"/>
              </a:rPr>
              <a:t> on </a:t>
            </a:r>
            <a:r>
              <a:rPr lang="en-US" sz="2400" dirty="0" err="1">
                <a:ea typeface="Inter"/>
              </a:rPr>
              <a:t>õiges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formaadis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Vaata</a:t>
            </a:r>
            <a:r>
              <a:rPr lang="en-US" sz="2400" dirty="0">
                <a:ea typeface="Inter"/>
              </a:rPr>
              <a:t> </a:t>
            </a:r>
            <a:r>
              <a:rPr lang="en-US" sz="2400" b="1" dirty="0">
                <a:ea typeface="Inter"/>
              </a:rPr>
              <a:t>Sales Table </a:t>
            </a:r>
            <a:r>
              <a:rPr lang="en-US" sz="2400" b="1" dirty="0" err="1">
                <a:ea typeface="Inter"/>
              </a:rPr>
              <a:t>kuupäevi</a:t>
            </a:r>
            <a:r>
              <a:rPr lang="en-US" sz="2400" b="1" dirty="0">
                <a:ea typeface="Inter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ea typeface="Inter"/>
              </a:rPr>
              <a:t>2023-01-31 – USA format </a:t>
            </a:r>
            <a:endParaRPr lang="et-EE" sz="2400" dirty="0">
              <a:ea typeface="Inter"/>
            </a:endParaRPr>
          </a:p>
          <a:p>
            <a:pPr lvl="1">
              <a:lnSpc>
                <a:spcPct val="150000"/>
              </a:lnSpc>
            </a:pPr>
            <a:r>
              <a:rPr lang="en-US" sz="2400" dirty="0" err="1">
                <a:ea typeface="Inter"/>
              </a:rPr>
              <a:t>Ühel</a:t>
            </a:r>
            <a:r>
              <a:rPr lang="en-US" sz="2400" dirty="0">
                <a:ea typeface="Inter"/>
              </a:rPr>
              <a:t> real 2023?12?31– vale </a:t>
            </a:r>
            <a:r>
              <a:rPr lang="en-US" sz="2400" dirty="0" err="1">
                <a:ea typeface="Inter"/>
              </a:rPr>
              <a:t>eraldaja</a:t>
            </a:r>
            <a:endParaRPr lang="en-US" sz="2400" dirty="0">
              <a:ea typeface="Inter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ea typeface="Inter"/>
              </a:rPr>
              <a:t>Mida </a:t>
            </a:r>
            <a:r>
              <a:rPr lang="en-US" sz="2400" dirty="0" err="1">
                <a:ea typeface="Inter"/>
              </a:rPr>
              <a:t>teha</a:t>
            </a:r>
            <a:endParaRPr lang="en-US" sz="2400" dirty="0">
              <a:ea typeface="Inter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t-EE" sz="2400" dirty="0"/>
              <a:t>- Replace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t-EE" sz="2400" dirty="0"/>
              <a:t>Change type using locale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6272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96BC4-1D30-EA1C-0A5F-FA70B540C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F76C1-5EA3-5637-B12F-559AFE3A5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Power BI – </a:t>
            </a:r>
            <a:r>
              <a:rPr lang="en-US" dirty="0" err="1"/>
              <a:t>formaatide</a:t>
            </a:r>
            <a:r>
              <a:rPr lang="en-US" dirty="0"/>
              <a:t> </a:t>
            </a:r>
            <a:r>
              <a:rPr lang="en-US" dirty="0" err="1"/>
              <a:t>kontroll</a:t>
            </a:r>
            <a:r>
              <a:rPr lang="en-US" dirty="0"/>
              <a:t> - </a:t>
            </a:r>
            <a:r>
              <a:rPr lang="en-US" dirty="0" err="1"/>
              <a:t>reeglipärasus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85592-B0F3-6DCD-3A35-845F3FA5F4A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t-EE" sz="2000" dirty="0"/>
              <a:t>Kuupäevad on vahel </a:t>
            </a:r>
            <a:r>
              <a:rPr lang="et-EE" sz="2000" i="1" dirty="0"/>
              <a:t>kellaaegadega</a:t>
            </a:r>
            <a:r>
              <a:rPr lang="et-EE" sz="2000" dirty="0"/>
              <a:t> – lõika, teisenda kuupäevaks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t-EE" sz="2000" dirty="0"/>
              <a:t>Faktitabelis on koos </a:t>
            </a:r>
            <a:r>
              <a:rPr lang="et-EE" sz="2000" i="1" dirty="0"/>
              <a:t>kellajaga</a:t>
            </a:r>
            <a:r>
              <a:rPr lang="et-EE" sz="2000" dirty="0"/>
              <a:t>, aga sa ei vaja seda ja date tabelis on kuupäev – teisenda, lõika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t-EE" sz="2000" dirty="0"/>
              <a:t>Numbri väljad sisaldavad vale eraldajat – change type using locale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t-EE" sz="2000" dirty="0"/>
              <a:t>Numbri väljad sisaldavad vigaseid sümboleid – replace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t-EE" sz="2000" dirty="0"/>
              <a:t>Väärtused sisaldavad tühikuid – product id väljadel tühikud – trim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t-EE" sz="2000" dirty="0"/>
              <a:t>Nimed väikeste või suurte tähtedega – capitalize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t-EE" sz="2000" dirty="0"/>
              <a:t>Kuupäeva formaat fakti tabelis ja dim tabelis ei vasta – teisenda, kasuta id välju, column from examples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1849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B9049-B881-6392-8C98-F3BF44D24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C988-7E7A-A689-0AA8-9B85F7B512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Power BI – </a:t>
            </a:r>
            <a:r>
              <a:rPr lang="en-US" dirty="0" err="1"/>
              <a:t>dimensioonide</a:t>
            </a:r>
            <a:r>
              <a:rPr lang="en-US" dirty="0"/>
              <a:t> </a:t>
            </a:r>
            <a:r>
              <a:rPr lang="en-US" dirty="0" err="1"/>
              <a:t>kontroll</a:t>
            </a:r>
            <a:r>
              <a:rPr lang="en-US" dirty="0"/>
              <a:t> - </a:t>
            </a:r>
            <a:r>
              <a:rPr lang="en-US" dirty="0" err="1"/>
              <a:t>täiellikus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F7844-8FFB-4A74-EC98-683F48E8173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Kas kõik </a:t>
            </a:r>
            <a:r>
              <a:rPr lang="en-US" sz="2400" dirty="0" err="1">
                <a:ea typeface="Inter"/>
              </a:rPr>
              <a:t>faktis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toodud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dimensiooni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väärtused</a:t>
            </a:r>
            <a:r>
              <a:rPr lang="en-US" sz="2400" dirty="0">
                <a:ea typeface="Inter"/>
              </a:rPr>
              <a:t> on olemas ka </a:t>
            </a:r>
            <a:r>
              <a:rPr lang="en-US" sz="2400" dirty="0" err="1">
                <a:ea typeface="Inter"/>
              </a:rPr>
              <a:t>dimensiooni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tabelites</a:t>
            </a:r>
            <a:r>
              <a:rPr lang="en-US" sz="2400" dirty="0">
                <a:ea typeface="Inter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Teha </a:t>
            </a:r>
            <a:r>
              <a:rPr lang="en-US" sz="2400" dirty="0" err="1">
                <a:ea typeface="Inter"/>
              </a:rPr>
              <a:t>lihtne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tabel</a:t>
            </a:r>
            <a:r>
              <a:rPr lang="en-US" sz="2400" dirty="0">
                <a:ea typeface="Inter"/>
              </a:rPr>
              <a:t>, kus </a:t>
            </a:r>
            <a:r>
              <a:rPr lang="en-US" sz="2400" dirty="0" err="1">
                <a:ea typeface="Inter"/>
              </a:rPr>
              <a:t>kõrvuti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väärtused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faktist</a:t>
            </a:r>
            <a:r>
              <a:rPr lang="en-US" sz="2400" dirty="0">
                <a:ea typeface="Inter"/>
              </a:rPr>
              <a:t> ja </a:t>
            </a:r>
            <a:r>
              <a:rPr lang="en-US" sz="2400" dirty="0" err="1">
                <a:ea typeface="Inter"/>
              </a:rPr>
              <a:t>dimensioonist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Näiteks</a:t>
            </a:r>
            <a:endParaRPr lang="en-US" sz="2400" dirty="0">
              <a:ea typeface="Inter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ea typeface="Inter"/>
              </a:rPr>
              <a:t>Mida </a:t>
            </a:r>
            <a:r>
              <a:rPr lang="en-US" sz="2400" dirty="0" err="1">
                <a:ea typeface="Inter"/>
              </a:rPr>
              <a:t>teha</a:t>
            </a:r>
            <a:endParaRPr lang="en-US" sz="2400" dirty="0">
              <a:ea typeface="Inter"/>
            </a:endParaRPr>
          </a:p>
          <a:p>
            <a:pPr lvl="1">
              <a:lnSpc>
                <a:spcPct val="150000"/>
              </a:lnSpc>
            </a:pPr>
            <a:r>
              <a:rPr lang="en-US" sz="2400" dirty="0" err="1">
                <a:ea typeface="Inter"/>
              </a:rPr>
              <a:t>Eemaldada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impordis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mitte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täielikud</a:t>
            </a:r>
            <a:r>
              <a:rPr lang="en-US" sz="2400" dirty="0">
                <a:ea typeface="Inter"/>
              </a:rPr>
              <a:t> read</a:t>
            </a:r>
          </a:p>
          <a:p>
            <a:pPr lvl="1">
              <a:lnSpc>
                <a:spcPct val="150000"/>
              </a:lnSpc>
            </a:pPr>
            <a:r>
              <a:rPr lang="en-US" sz="2400" dirty="0" err="1">
                <a:ea typeface="Inter"/>
              </a:rPr>
              <a:t>Tekitada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toode</a:t>
            </a:r>
            <a:r>
              <a:rPr lang="en-US" sz="2400" dirty="0">
                <a:ea typeface="Inter"/>
              </a:rPr>
              <a:t> ‘</a:t>
            </a:r>
            <a:r>
              <a:rPr lang="en-US" sz="2400" dirty="0" err="1">
                <a:ea typeface="Inter"/>
              </a:rPr>
              <a:t>Määramata</a:t>
            </a:r>
            <a:r>
              <a:rPr lang="en-US" sz="2400" dirty="0">
                <a:ea typeface="Inter"/>
              </a:rPr>
              <a:t>’</a:t>
            </a:r>
          </a:p>
          <a:p>
            <a:pPr lvl="1">
              <a:lnSpc>
                <a:spcPct val="150000"/>
              </a:lnSpc>
            </a:pPr>
            <a:r>
              <a:rPr lang="en-US" sz="2400" dirty="0" err="1">
                <a:ea typeface="Inter"/>
              </a:rPr>
              <a:t>Tekitada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kategooria</a:t>
            </a:r>
            <a:r>
              <a:rPr lang="en-US" sz="2400" dirty="0">
                <a:ea typeface="Inter"/>
              </a:rPr>
              <a:t> ‘</a:t>
            </a:r>
            <a:r>
              <a:rPr lang="en-US" sz="2400" dirty="0" err="1">
                <a:ea typeface="Inter"/>
              </a:rPr>
              <a:t>Määramata</a:t>
            </a:r>
            <a:r>
              <a:rPr lang="en-US" sz="2400" dirty="0">
                <a:ea typeface="Inter"/>
              </a:rPr>
              <a:t>’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B048C8-96BA-DC0D-4535-565BCFF13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106" y="3221688"/>
            <a:ext cx="3209118" cy="274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D3EB4-76BA-0B35-B168-5D0FA4FD0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9E04C-14DF-87D9-4D4B-FC066AA7295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8C49FC7-22D0-B54F-7453-19BCCDEC4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n-US" err="1"/>
              <a:t>Lõunapaus</a:t>
            </a:r>
            <a:r>
              <a:rPr lang="en-US"/>
              <a:t> 12:15-13:15</a:t>
            </a:r>
          </a:p>
        </p:txBody>
      </p:sp>
    </p:spTree>
    <p:extLst>
      <p:ext uri="{BB962C8B-B14F-4D97-AF65-F5344CB8AC3E}">
        <p14:creationId xmlns:p14="http://schemas.microsoft.com/office/powerpoint/2010/main" val="1026343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DA3D0-8C2A-48AF-9EFE-6C50C1190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B65EE-48A4-69E5-3FEC-7320EC6297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/>
              <a:t>Power BI </a:t>
            </a:r>
            <a:r>
              <a:rPr lang="en-US" sz="3600" b="1" err="1"/>
              <a:t>jätk</a:t>
            </a:r>
            <a:r>
              <a:rPr lang="en-US" sz="3600" b="1"/>
              <a:t> - </a:t>
            </a:r>
            <a:r>
              <a:rPr lang="en-US" sz="3600" b="1" err="1"/>
              <a:t>kasumlikkus</a:t>
            </a:r>
            <a:r>
              <a:rPr lang="en-US" sz="3600" b="1"/>
              <a:t> </a:t>
            </a:r>
            <a:r>
              <a:rPr lang="en-US" sz="3600" b="1" err="1"/>
              <a:t>toodete</a:t>
            </a:r>
            <a:r>
              <a:rPr lang="en-US" sz="3600" b="1"/>
              <a:t> </a:t>
            </a:r>
            <a:r>
              <a:rPr lang="en-US" sz="3600" b="1" err="1"/>
              <a:t>kaupa</a:t>
            </a:r>
            <a:endParaRPr lang="en-US" sz="36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5CD7F-2AB0-ECD5-B623-B427F1CA8C2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4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Kuidas </a:t>
            </a:r>
            <a:r>
              <a:rPr lang="en-US" sz="24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toodete</a:t>
            </a:r>
            <a:r>
              <a:rPr lang="en-US" sz="24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kaupa on </a:t>
            </a:r>
            <a:r>
              <a:rPr lang="en-US" sz="24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kasumlikkus</a:t>
            </a:r>
            <a:r>
              <a:rPr lang="en-US" sz="24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?</a:t>
            </a:r>
            <a:endParaRPr lang="en-US" sz="2400" dirty="0">
              <a:solidFill>
                <a:srgbClr val="121212"/>
              </a:solidFill>
              <a:latin typeface="Inter" panose="02000503000000020004" pitchFamily="2" charset="0"/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4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Müügisumma</a:t>
            </a:r>
            <a:br>
              <a:rPr lang="en-US" sz="2400" dirty="0">
                <a:cs typeface="Arial"/>
              </a:rPr>
            </a:b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Sales Sum = Quantity * </a:t>
            </a: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UnitPrice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* (1 - Discount)</a:t>
            </a:r>
            <a:endParaRPr lang="en-US" sz="2400" dirty="0">
              <a:solidFill>
                <a:srgbClr val="121212"/>
              </a:solidFill>
              <a:latin typeface="Inter"/>
              <a:ea typeface="Inter"/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4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Vaja </a:t>
            </a:r>
            <a:r>
              <a:rPr lang="en-US" sz="24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arvutada</a:t>
            </a:r>
            <a:r>
              <a:rPr lang="en-US" sz="24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kulu</a:t>
            </a:r>
            <a:r>
              <a:rPr lang="en-US" sz="24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: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Arvutatud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tulp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: </a:t>
            </a:r>
            <a:b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</a:b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Cost Sum = </a:t>
            </a: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SalesTable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[Quantity] * RELATED(</a:t>
            </a: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ProductTable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[Cost Price])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4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Vaja </a:t>
            </a:r>
            <a:r>
              <a:rPr lang="en-US" sz="24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arvutada</a:t>
            </a:r>
            <a:r>
              <a:rPr lang="en-US" sz="24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kasum</a:t>
            </a:r>
            <a:r>
              <a:rPr lang="en-US" sz="24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: 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Mõõdik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:</a:t>
            </a:r>
          </a:p>
          <a:p>
            <a:pPr marL="857250" lvl="2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Profit = SUM(</a:t>
            </a: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SalesTable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[Sales Sum]) - SUM(</a:t>
            </a: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SalesTable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[Cost Sum])</a:t>
            </a:r>
            <a:endParaRPr lang="en-US" dirty="0"/>
          </a:p>
          <a:p>
            <a:pPr marL="514350" indent="-514350">
              <a:lnSpc>
                <a:spcPct val="150000"/>
              </a:lnSpc>
              <a:buClr>
                <a:srgbClr val="121212"/>
              </a:buClr>
            </a:pP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2092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FB7AF-5ADE-7D1A-FC4F-AB36A016A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F0F2-1C50-6D2E-FB2B-DA93154D2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581994" cy="357043"/>
          </a:xfrm>
        </p:spPr>
        <p:txBody>
          <a:bodyPr/>
          <a:lstStyle/>
          <a:p>
            <a:r>
              <a:rPr lang="en-US" b="1"/>
              <a:t>Power BI </a:t>
            </a:r>
            <a:r>
              <a:rPr lang="en-US" b="1" err="1"/>
              <a:t>jätk</a:t>
            </a:r>
            <a:r>
              <a:rPr lang="en-US" b="1"/>
              <a:t> - </a:t>
            </a:r>
            <a:r>
              <a:rPr lang="en-US" b="1" err="1"/>
              <a:t>visuaalid</a:t>
            </a:r>
            <a:r>
              <a:rPr lang="en-US" b="1"/>
              <a:t> </a:t>
            </a:r>
            <a:r>
              <a:rPr lang="en-US" b="1" err="1"/>
              <a:t>toodete</a:t>
            </a:r>
            <a:r>
              <a:rPr lang="en-US" b="1"/>
              <a:t> </a:t>
            </a:r>
            <a:r>
              <a:rPr lang="en-US" b="1" err="1"/>
              <a:t>müükide</a:t>
            </a:r>
            <a:r>
              <a:rPr lang="en-US" b="1"/>
              <a:t> </a:t>
            </a:r>
            <a:r>
              <a:rPr lang="en-US" b="1" err="1"/>
              <a:t>võrdluseks</a:t>
            </a:r>
            <a:r>
              <a:rPr lang="en-US" b="1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46EC4-8F5A-0F97-74A3-7C00748AAA0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Kuidas on </a:t>
            </a:r>
            <a:r>
              <a:rPr lang="en-US" sz="24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toodete</a:t>
            </a:r>
            <a:r>
              <a:rPr lang="en-US" sz="24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müügid</a:t>
            </a:r>
            <a:r>
              <a:rPr lang="en-US" sz="24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ja </a:t>
            </a:r>
            <a:r>
              <a:rPr lang="en-US" sz="24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kasumlikkus</a:t>
            </a:r>
            <a:r>
              <a:rPr lang="en-US" sz="24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?</a:t>
            </a:r>
          </a:p>
          <a:p>
            <a:pPr marL="857250"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Kasumlikkuse</a:t>
            </a:r>
            <a:r>
              <a:rPr lang="en-US" sz="24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ja </a:t>
            </a:r>
            <a:r>
              <a:rPr lang="en-US" sz="24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müükide</a:t>
            </a:r>
            <a:r>
              <a:rPr lang="en-US" sz="24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võrdlus</a:t>
            </a:r>
            <a:r>
              <a:rPr lang="en-US" sz="24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endParaRPr lang="en-US" sz="2400" dirty="0">
              <a:latin typeface="Inter" panose="02000503000000020004" pitchFamily="2" charset="0"/>
              <a:cs typeface="Arial"/>
            </a:endParaRPr>
          </a:p>
          <a:p>
            <a:pPr marL="0" indent="0">
              <a:lnSpc>
                <a:spcPct val="150000"/>
              </a:lnSpc>
              <a:buClr>
                <a:srgbClr val="121212"/>
              </a:buClr>
              <a:buNone/>
            </a:pPr>
            <a:r>
              <a:rPr lang="en-US" sz="2400" dirty="0">
                <a:ea typeface="Inter"/>
                <a:cs typeface="Arial"/>
              </a:rPr>
              <a:t>Kust </a:t>
            </a:r>
            <a:r>
              <a:rPr lang="en-US" sz="2400" dirty="0" err="1">
                <a:ea typeface="Inter"/>
                <a:cs typeface="Arial"/>
              </a:rPr>
              <a:t>tuleb</a:t>
            </a:r>
            <a:r>
              <a:rPr lang="en-US" sz="2400" dirty="0">
                <a:ea typeface="Inter"/>
                <a:cs typeface="Arial"/>
              </a:rPr>
              <a:t> </a:t>
            </a:r>
            <a:r>
              <a:rPr lang="en-US" sz="2400" dirty="0" err="1">
                <a:ea typeface="Inter"/>
                <a:cs typeface="Arial"/>
              </a:rPr>
              <a:t>toodete</a:t>
            </a:r>
            <a:r>
              <a:rPr lang="en-US" sz="2400" dirty="0">
                <a:ea typeface="Inter"/>
                <a:cs typeface="Arial"/>
              </a:rPr>
              <a:t> </a:t>
            </a:r>
            <a:r>
              <a:rPr lang="en-US" sz="2400" dirty="0" err="1">
                <a:ea typeface="Inter"/>
                <a:cs typeface="Arial"/>
              </a:rPr>
              <a:t>kasumite</a:t>
            </a:r>
            <a:r>
              <a:rPr lang="en-US" sz="2400" dirty="0">
                <a:ea typeface="Inter"/>
                <a:cs typeface="Arial"/>
              </a:rPr>
              <a:t> </a:t>
            </a:r>
            <a:r>
              <a:rPr lang="en-US" sz="2400" dirty="0" err="1">
                <a:ea typeface="Inter"/>
                <a:cs typeface="Arial"/>
              </a:rPr>
              <a:t>erinevus</a:t>
            </a:r>
            <a:r>
              <a:rPr lang="en-US" sz="2400" dirty="0">
                <a:ea typeface="Inter"/>
                <a:cs typeface="Arial"/>
              </a:rPr>
              <a:t>?</a:t>
            </a:r>
          </a:p>
          <a:p>
            <a:pPr marL="857250"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ea typeface="Inter"/>
                <a:cs typeface="Arial"/>
              </a:rPr>
              <a:t>Tabel </a:t>
            </a:r>
            <a:r>
              <a:rPr lang="en-US" sz="2400" dirty="0" err="1">
                <a:ea typeface="Inter"/>
                <a:cs typeface="Arial"/>
              </a:rPr>
              <a:t>müügi</a:t>
            </a:r>
            <a:r>
              <a:rPr lang="en-US" sz="2400" dirty="0">
                <a:ea typeface="Inter"/>
                <a:cs typeface="Arial"/>
              </a:rPr>
              <a:t>, </a:t>
            </a:r>
            <a:r>
              <a:rPr lang="en-US" sz="2400" dirty="0" err="1">
                <a:ea typeface="Inter"/>
                <a:cs typeface="Arial"/>
              </a:rPr>
              <a:t>kulu</a:t>
            </a:r>
            <a:r>
              <a:rPr lang="en-US" sz="2400" dirty="0">
                <a:ea typeface="Inter"/>
                <a:cs typeface="Arial"/>
              </a:rPr>
              <a:t> ja </a:t>
            </a:r>
            <a:r>
              <a:rPr lang="en-US" sz="2400" dirty="0" err="1">
                <a:ea typeface="Inter"/>
                <a:cs typeface="Arial"/>
              </a:rPr>
              <a:t>kasumi</a:t>
            </a:r>
            <a:r>
              <a:rPr lang="en-US" sz="2400" dirty="0">
                <a:ea typeface="Inter"/>
                <a:cs typeface="Arial"/>
              </a:rPr>
              <a:t> </a:t>
            </a:r>
            <a:r>
              <a:rPr lang="en-US" sz="2400" dirty="0" err="1">
                <a:ea typeface="Inter"/>
                <a:cs typeface="Arial"/>
              </a:rPr>
              <a:t>summadega</a:t>
            </a:r>
            <a:endParaRPr lang="en-US" sz="2400" dirty="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ea typeface="Inter"/>
                <a:cs typeface="Arial"/>
              </a:rPr>
              <a:t>Kust </a:t>
            </a:r>
            <a:r>
              <a:rPr lang="en-US" sz="2400" dirty="0" err="1">
                <a:ea typeface="Inter"/>
                <a:cs typeface="Arial"/>
              </a:rPr>
              <a:t>tuleb</a:t>
            </a:r>
            <a:r>
              <a:rPr lang="en-US" sz="2400" dirty="0">
                <a:ea typeface="Inter"/>
                <a:cs typeface="Arial"/>
              </a:rPr>
              <a:t> </a:t>
            </a:r>
            <a:r>
              <a:rPr lang="en-US" sz="2400" dirty="0" err="1">
                <a:ea typeface="Inter"/>
                <a:cs typeface="Arial"/>
              </a:rPr>
              <a:t>kulude</a:t>
            </a:r>
            <a:r>
              <a:rPr lang="en-US" sz="2400" dirty="0">
                <a:ea typeface="Inter"/>
                <a:cs typeface="Arial"/>
              </a:rPr>
              <a:t> </a:t>
            </a:r>
            <a:r>
              <a:rPr lang="en-US" sz="2400" dirty="0" err="1">
                <a:ea typeface="Inter"/>
                <a:cs typeface="Arial"/>
              </a:rPr>
              <a:t>erinevus</a:t>
            </a:r>
            <a:r>
              <a:rPr lang="en-US" sz="2400" dirty="0">
                <a:ea typeface="Inter"/>
                <a:cs typeface="Arial"/>
              </a:rPr>
              <a:t>?</a:t>
            </a:r>
          </a:p>
          <a:p>
            <a:pPr marL="857250"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ea typeface="Inter"/>
                <a:cs typeface="Arial"/>
              </a:rPr>
              <a:t>Tabel </a:t>
            </a:r>
            <a:r>
              <a:rPr lang="en-US" sz="2400" dirty="0" err="1">
                <a:ea typeface="Inter"/>
                <a:cs typeface="Arial"/>
              </a:rPr>
              <a:t>tükikulu</a:t>
            </a:r>
            <a:r>
              <a:rPr lang="en-US" sz="2400" dirty="0">
                <a:ea typeface="Inter"/>
                <a:cs typeface="Arial"/>
              </a:rPr>
              <a:t>, </a:t>
            </a:r>
            <a:r>
              <a:rPr lang="en-US" sz="2400" dirty="0" err="1">
                <a:ea typeface="Inter"/>
                <a:cs typeface="Arial"/>
              </a:rPr>
              <a:t>keskmise</a:t>
            </a:r>
            <a:r>
              <a:rPr lang="en-US" sz="2400" dirty="0">
                <a:ea typeface="Inter"/>
                <a:cs typeface="Arial"/>
              </a:rPr>
              <a:t> </a:t>
            </a:r>
            <a:r>
              <a:rPr lang="en-US" sz="2400" dirty="0" err="1">
                <a:ea typeface="Inter"/>
                <a:cs typeface="Arial"/>
              </a:rPr>
              <a:t>hinna</a:t>
            </a:r>
            <a:r>
              <a:rPr lang="en-US" sz="2400" dirty="0">
                <a:ea typeface="Inter"/>
                <a:cs typeface="Arial"/>
              </a:rPr>
              <a:t> ja </a:t>
            </a:r>
            <a:r>
              <a:rPr lang="en-US" sz="2400" dirty="0" err="1">
                <a:ea typeface="Inter"/>
                <a:cs typeface="Arial"/>
              </a:rPr>
              <a:t>allahindluse</a:t>
            </a:r>
            <a:r>
              <a:rPr lang="en-US" sz="2400" dirty="0">
                <a:ea typeface="Inter"/>
                <a:cs typeface="Arial"/>
              </a:rPr>
              <a:t> kaupa</a:t>
            </a:r>
            <a:endParaRPr lang="en-US" sz="2400" dirty="0">
              <a:cs typeface="Arial"/>
            </a:endParaRPr>
          </a:p>
          <a:p>
            <a:pPr marL="0" indent="0">
              <a:lnSpc>
                <a:spcPct val="150000"/>
              </a:lnSpc>
              <a:buClr>
                <a:srgbClr val="121212"/>
              </a:buClr>
              <a:buNone/>
            </a:pPr>
            <a:r>
              <a:rPr lang="en-US" sz="2400" dirty="0">
                <a:ea typeface="Inter"/>
                <a:cs typeface="Arial"/>
              </a:rPr>
              <a:t>Kuidas on </a:t>
            </a:r>
            <a:r>
              <a:rPr lang="en-US" sz="2400" dirty="0" err="1">
                <a:ea typeface="Inter"/>
                <a:cs typeface="Arial"/>
              </a:rPr>
              <a:t>toodete</a:t>
            </a:r>
            <a:r>
              <a:rPr lang="en-US" sz="2400" dirty="0">
                <a:ea typeface="Inter"/>
                <a:cs typeface="Arial"/>
              </a:rPr>
              <a:t> </a:t>
            </a:r>
            <a:r>
              <a:rPr lang="en-US" sz="2400" dirty="0" err="1">
                <a:ea typeface="Inter"/>
                <a:cs typeface="Arial"/>
              </a:rPr>
              <a:t>müügid</a:t>
            </a:r>
            <a:r>
              <a:rPr lang="en-US" sz="2400" dirty="0">
                <a:ea typeface="Inter"/>
                <a:cs typeface="Arial"/>
              </a:rPr>
              <a:t> </a:t>
            </a:r>
            <a:r>
              <a:rPr lang="en-US" sz="2400" dirty="0" err="1">
                <a:ea typeface="Inter"/>
                <a:cs typeface="Arial"/>
              </a:rPr>
              <a:t>ajas</a:t>
            </a:r>
            <a:r>
              <a:rPr lang="en-US" sz="2400" dirty="0">
                <a:ea typeface="Inter"/>
                <a:cs typeface="Arial"/>
              </a:rPr>
              <a:t> </a:t>
            </a:r>
            <a:r>
              <a:rPr lang="en-US" sz="2400" dirty="0" err="1">
                <a:ea typeface="Inter"/>
                <a:cs typeface="Arial"/>
              </a:rPr>
              <a:t>muutunud</a:t>
            </a:r>
            <a:r>
              <a:rPr lang="en-US" sz="2400" dirty="0">
                <a:ea typeface="Inter"/>
                <a:cs typeface="Arial"/>
              </a:rPr>
              <a:t>?</a:t>
            </a:r>
          </a:p>
          <a:p>
            <a:pPr marL="0" indent="0">
              <a:lnSpc>
                <a:spcPct val="150000"/>
              </a:lnSpc>
              <a:buClr>
                <a:srgbClr val="121212"/>
              </a:buClr>
              <a:buNone/>
            </a:pPr>
            <a:r>
              <a:rPr lang="en-US" sz="2400" dirty="0" err="1">
                <a:ea typeface="Inter"/>
                <a:cs typeface="Arial"/>
              </a:rPr>
              <a:t>Ikoonid</a:t>
            </a:r>
            <a:r>
              <a:rPr lang="en-US" sz="2400" dirty="0">
                <a:ea typeface="Inter"/>
                <a:cs typeface="Arial"/>
              </a:rPr>
              <a:t> vastavalt </a:t>
            </a:r>
            <a:r>
              <a:rPr lang="en-US" sz="2400" dirty="0" err="1">
                <a:ea typeface="Inter"/>
                <a:cs typeface="Arial"/>
              </a:rPr>
              <a:t>toote</a:t>
            </a:r>
            <a:r>
              <a:rPr lang="en-US" sz="2400" dirty="0">
                <a:ea typeface="Inter"/>
                <a:cs typeface="Arial"/>
              </a:rPr>
              <a:t> </a:t>
            </a:r>
            <a:r>
              <a:rPr lang="en-US" sz="2400" dirty="0" err="1">
                <a:ea typeface="Inter"/>
                <a:cs typeface="Arial"/>
              </a:rPr>
              <a:t>kasumilikkusele</a:t>
            </a:r>
            <a:endParaRPr lang="en-US" sz="2400" dirty="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757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5B49D-15AA-B45B-1AF7-9FDEB6DC3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2B03C-693F-B7E5-50D1-402EB5F2D4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/>
              <a:t>Power BI </a:t>
            </a:r>
            <a:r>
              <a:rPr lang="en-US" sz="3600" b="1" dirty="0" err="1"/>
              <a:t>jätk</a:t>
            </a:r>
            <a:r>
              <a:rPr lang="en-US" sz="3600" b="1" dirty="0"/>
              <a:t> - </a:t>
            </a:r>
            <a:r>
              <a:rPr lang="en-US" sz="3600" b="1" dirty="0" err="1"/>
              <a:t>filtrid</a:t>
            </a:r>
            <a:r>
              <a:rPr lang="en-US" sz="3600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0F436-812C-C407-6ABE-B241B67FF48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4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Visuaali</a:t>
            </a:r>
            <a:r>
              <a:rPr lang="en-US" sz="24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filtrid</a:t>
            </a:r>
            <a:endParaRPr lang="en-US" sz="2400" dirty="0">
              <a:latin typeface="Inter" panose="02000503000000020004" pitchFamily="2" charset="0"/>
              <a:cs typeface="Arial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n-US" sz="2400" dirty="0">
                <a:ea typeface="Inter"/>
                <a:cs typeface="Arial"/>
              </a:rPr>
              <a:t>Lehe </a:t>
            </a:r>
            <a:r>
              <a:rPr lang="en-US" sz="2400" dirty="0" err="1">
                <a:ea typeface="Inter"/>
                <a:cs typeface="Arial"/>
              </a:rPr>
              <a:t>filtrid</a:t>
            </a:r>
            <a:endParaRPr lang="en-US" sz="2400" dirty="0">
              <a:ea typeface="Inter"/>
              <a:cs typeface="Arial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n-US" sz="2400" dirty="0" err="1">
                <a:ea typeface="Inter"/>
                <a:cs typeface="Arial"/>
              </a:rPr>
              <a:t>Raporti</a:t>
            </a:r>
            <a:r>
              <a:rPr lang="en-US" sz="2400" dirty="0">
                <a:ea typeface="Inter"/>
                <a:cs typeface="Arial"/>
              </a:rPr>
              <a:t> </a:t>
            </a:r>
            <a:r>
              <a:rPr lang="en-US" sz="2400" dirty="0" err="1">
                <a:ea typeface="Inter"/>
                <a:cs typeface="Arial"/>
              </a:rPr>
              <a:t>filtrid</a:t>
            </a:r>
            <a:endParaRPr lang="en-US" sz="2400" dirty="0">
              <a:ea typeface="Inter"/>
              <a:cs typeface="Arial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n-US" sz="2400" dirty="0">
                <a:ea typeface="Inter"/>
                <a:cs typeface="Arial"/>
              </a:rPr>
              <a:t>Slicers</a:t>
            </a:r>
          </a:p>
          <a:p>
            <a:pPr marL="857250"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ea typeface="Inter"/>
                <a:cs typeface="Arial"/>
              </a:rPr>
              <a:t>Lisan </a:t>
            </a:r>
            <a:r>
              <a:rPr lang="en-US" sz="2400" dirty="0" err="1">
                <a:ea typeface="Inter"/>
                <a:cs typeface="Arial"/>
              </a:rPr>
              <a:t>põhilised</a:t>
            </a:r>
            <a:r>
              <a:rPr lang="en-US" sz="2400" dirty="0">
                <a:ea typeface="Inter"/>
                <a:cs typeface="Arial"/>
              </a:rPr>
              <a:t> </a:t>
            </a:r>
            <a:r>
              <a:rPr lang="en-US" sz="2400" dirty="0" err="1">
                <a:ea typeface="Inter"/>
                <a:cs typeface="Arial"/>
              </a:rPr>
              <a:t>filtrid</a:t>
            </a:r>
            <a:r>
              <a:rPr lang="en-US" sz="2400" dirty="0">
                <a:ea typeface="Inter"/>
                <a:cs typeface="Arial"/>
              </a:rPr>
              <a:t>, et oleks </a:t>
            </a:r>
            <a:r>
              <a:rPr lang="en-US" sz="2400" dirty="0" err="1">
                <a:ea typeface="Inter"/>
                <a:cs typeface="Arial"/>
              </a:rPr>
              <a:t>kasutajale</a:t>
            </a:r>
            <a:r>
              <a:rPr lang="en-US" sz="2400" dirty="0">
                <a:ea typeface="Inter"/>
                <a:cs typeface="Arial"/>
              </a:rPr>
              <a:t> </a:t>
            </a:r>
            <a:r>
              <a:rPr lang="en-US" sz="2400" dirty="0" err="1">
                <a:ea typeface="Inter"/>
                <a:cs typeface="Arial"/>
              </a:rPr>
              <a:t>nähtaval</a:t>
            </a:r>
            <a:r>
              <a:rPr lang="en-US" sz="2400" dirty="0">
                <a:ea typeface="Inter"/>
                <a:cs typeface="Arial"/>
              </a:rPr>
              <a:t> </a:t>
            </a:r>
            <a:r>
              <a:rPr lang="en-US" sz="2400" dirty="0" err="1">
                <a:ea typeface="Inter"/>
                <a:cs typeface="Arial"/>
              </a:rPr>
              <a:t>kohal</a:t>
            </a:r>
            <a:endParaRPr lang="en-US" sz="2400" dirty="0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ea typeface="Inter"/>
                <a:cs typeface="Arial"/>
              </a:rPr>
              <a:t>Sync Slicers – </a:t>
            </a:r>
            <a:r>
              <a:rPr lang="en-US" sz="2400" dirty="0" err="1">
                <a:ea typeface="Inter"/>
                <a:cs typeface="Arial"/>
              </a:rPr>
              <a:t>lehtede</a:t>
            </a:r>
            <a:r>
              <a:rPr lang="en-US" sz="2400" dirty="0">
                <a:ea typeface="Inter"/>
                <a:cs typeface="Arial"/>
              </a:rPr>
              <a:t> </a:t>
            </a:r>
            <a:r>
              <a:rPr lang="en-US" sz="2400" dirty="0" err="1">
                <a:ea typeface="Inter"/>
                <a:cs typeface="Arial"/>
              </a:rPr>
              <a:t>vahel</a:t>
            </a:r>
            <a:r>
              <a:rPr lang="en-US" sz="2400" dirty="0">
                <a:ea typeface="Inter"/>
                <a:cs typeface="Arial"/>
              </a:rPr>
              <a:t> </a:t>
            </a:r>
            <a:r>
              <a:rPr lang="en-US" sz="2400" dirty="0" err="1">
                <a:ea typeface="Inter"/>
                <a:cs typeface="Arial"/>
              </a:rPr>
              <a:t>samad</a:t>
            </a:r>
            <a:r>
              <a:rPr lang="en-US" sz="2400" dirty="0">
                <a:ea typeface="Inter"/>
                <a:cs typeface="Arial"/>
              </a:rPr>
              <a:t> </a:t>
            </a:r>
            <a:r>
              <a:rPr lang="en-US" sz="2400" dirty="0" err="1">
                <a:ea typeface="Inter"/>
                <a:cs typeface="Arial"/>
              </a:rPr>
              <a:t>valikud</a:t>
            </a:r>
            <a:endParaRPr lang="en-US" sz="2400" dirty="0">
              <a:ea typeface="Inter"/>
              <a:cs typeface="Arial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</a:pPr>
            <a:r>
              <a:rPr lang="en-US" sz="2400" dirty="0" err="1">
                <a:ea typeface="Inter"/>
                <a:cs typeface="Arial"/>
              </a:rPr>
              <a:t>Suhtlus</a:t>
            </a:r>
            <a:r>
              <a:rPr lang="en-US" sz="2400" dirty="0">
                <a:ea typeface="Inter"/>
                <a:cs typeface="Arial"/>
              </a:rPr>
              <a:t> </a:t>
            </a:r>
            <a:r>
              <a:rPr lang="en-US" sz="2400" dirty="0" err="1">
                <a:ea typeface="Inter"/>
                <a:cs typeface="Arial"/>
              </a:rPr>
              <a:t>visuaalide</a:t>
            </a:r>
            <a:r>
              <a:rPr lang="en-US" sz="2400" dirty="0">
                <a:ea typeface="Inter"/>
                <a:cs typeface="Arial"/>
              </a:rPr>
              <a:t> </a:t>
            </a:r>
            <a:r>
              <a:rPr lang="en-US" sz="2400" dirty="0" err="1">
                <a:ea typeface="Inter"/>
                <a:cs typeface="Arial"/>
              </a:rPr>
              <a:t>vahel</a:t>
            </a:r>
            <a:r>
              <a:rPr lang="en-US" sz="2400" dirty="0">
                <a:ea typeface="Inter"/>
                <a:cs typeface="Arial"/>
              </a:rPr>
              <a:t> – Edit interactions</a:t>
            </a:r>
            <a:endParaRPr lang="en-US" sz="2400" dirty="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08048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AC623-C08B-7895-C71E-108064B8B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5F65-77B6-ED5C-5BAF-BCE91FD8E8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/>
              <a:t>Power BI </a:t>
            </a:r>
            <a:r>
              <a:rPr lang="en-US" sz="3600" b="1" dirty="0" err="1"/>
              <a:t>jätk</a:t>
            </a:r>
            <a:r>
              <a:rPr lang="en-US" sz="3600" b="1" dirty="0"/>
              <a:t> – </a:t>
            </a:r>
            <a:r>
              <a:rPr lang="et-EE" sz="3600" b="1" dirty="0"/>
              <a:t>drillimine ja sorteerimine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DC875-0A8E-BD80-F86E-9B9D48EFE5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</a:pPr>
            <a:r>
              <a:rPr lang="et-EE" sz="2800" dirty="0"/>
              <a:t>Tabelis või graafikul sorteerimine</a:t>
            </a:r>
          </a:p>
          <a:p>
            <a:pPr marL="514350" indent="-514350">
              <a:lnSpc>
                <a:spcPct val="150000"/>
              </a:lnSpc>
            </a:pPr>
            <a:r>
              <a:rPr lang="et-EE" sz="2800" dirty="0"/>
              <a:t>Hierarhias alla ja üles liikumine</a:t>
            </a: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48011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79E7F-178D-4A14-2A3B-C2A5C304F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EE9B8-4D00-3B4D-3084-36CF75BD0AB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BA87EB-7E52-BBA5-513C-7E8985ED6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14:45-15:00</a:t>
            </a:r>
          </a:p>
        </p:txBody>
      </p:sp>
    </p:spTree>
    <p:extLst>
      <p:ext uri="{BB962C8B-B14F-4D97-AF65-F5344CB8AC3E}">
        <p14:creationId xmlns:p14="http://schemas.microsoft.com/office/powerpoint/2010/main" val="23512972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FF243-D0DC-9E0F-58AC-0ABA1E7FF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6AB3E-D069-D40D-CF7C-9154C2F75C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/>
              <a:t>YTD Sales </a:t>
            </a:r>
            <a:r>
              <a:rPr lang="en-US" sz="3600" b="1" dirty="0" err="1"/>
              <a:t>mõõdik</a:t>
            </a:r>
            <a:r>
              <a:rPr lang="et-EE" sz="3600" b="1" dirty="0"/>
              <a:t> ja graafikud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418F8-A06F-DCE7-A7F2-65299835B59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YTD Sales = 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  <a:ea typeface="Inter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</a:t>
            </a:r>
            <a:r>
              <a:rPr lang="en-US" sz="1800" dirty="0" err="1">
                <a:solidFill>
                  <a:srgbClr val="008080"/>
                </a:solidFill>
                <a:latin typeface="Consolas"/>
                <a:ea typeface="Inter"/>
              </a:rPr>
              <a:t>LastSalesDate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= </a:t>
            </a:r>
            <a:r>
              <a:rPr lang="en-US" sz="1800" dirty="0">
                <a:solidFill>
                  <a:srgbClr val="3165BB"/>
                </a:solidFill>
                <a:latin typeface="Consolas"/>
                <a:ea typeface="Inter"/>
              </a:rPr>
              <a:t>CALCULATE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1800" dirty="0">
                <a:solidFill>
                  <a:srgbClr val="3165BB"/>
                </a:solidFill>
                <a:latin typeface="Consolas"/>
                <a:ea typeface="Inter"/>
              </a:rPr>
              <a:t>MAX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1800" dirty="0" err="1">
                <a:solidFill>
                  <a:srgbClr val="001080"/>
                </a:solidFill>
                <a:latin typeface="Consolas"/>
                <a:ea typeface="Inter"/>
              </a:rPr>
              <a:t>SalesTable</a:t>
            </a:r>
            <a:r>
              <a:rPr lang="en-US" sz="1800" dirty="0">
                <a:solidFill>
                  <a:srgbClr val="001080"/>
                </a:solidFill>
                <a:latin typeface="Consolas"/>
                <a:ea typeface="Inter"/>
              </a:rPr>
              <a:t>[Date]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), </a:t>
            </a:r>
            <a:r>
              <a:rPr lang="en-US" sz="1800" dirty="0">
                <a:solidFill>
                  <a:srgbClr val="3165BB"/>
                </a:solidFill>
                <a:latin typeface="Consolas"/>
                <a:ea typeface="Inter"/>
              </a:rPr>
              <a:t>ALL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())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  <a:ea typeface="Inter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</a:t>
            </a:r>
            <a:r>
              <a:rPr lang="en-US" sz="1800" dirty="0" err="1">
                <a:solidFill>
                  <a:srgbClr val="008080"/>
                </a:solidFill>
                <a:latin typeface="Consolas"/>
                <a:ea typeface="Inter"/>
              </a:rPr>
              <a:t>LastSalesMonth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= </a:t>
            </a:r>
            <a:r>
              <a:rPr lang="en-US" sz="1800" dirty="0">
                <a:solidFill>
                  <a:srgbClr val="3165BB"/>
                </a:solidFill>
                <a:latin typeface="Consolas"/>
                <a:ea typeface="Inter"/>
              </a:rPr>
              <a:t>MONTH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1800" dirty="0" err="1">
                <a:solidFill>
                  <a:srgbClr val="008080"/>
                </a:solidFill>
                <a:latin typeface="Consolas"/>
                <a:ea typeface="Inter"/>
              </a:rPr>
              <a:t>LastSalesDate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)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  <a:ea typeface="Inter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</a:t>
            </a:r>
            <a:r>
              <a:rPr lang="en-US" sz="1800" dirty="0" err="1">
                <a:solidFill>
                  <a:srgbClr val="008080"/>
                </a:solidFill>
                <a:latin typeface="Consolas"/>
                <a:ea typeface="Inter"/>
              </a:rPr>
              <a:t>LastSalesDay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= </a:t>
            </a:r>
            <a:r>
              <a:rPr lang="en-US" sz="1800" dirty="0">
                <a:solidFill>
                  <a:srgbClr val="3165BB"/>
                </a:solidFill>
                <a:latin typeface="Consolas"/>
                <a:ea typeface="Inter"/>
              </a:rPr>
              <a:t>DAY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1800" dirty="0" err="1">
                <a:solidFill>
                  <a:srgbClr val="008080"/>
                </a:solidFill>
                <a:latin typeface="Consolas"/>
                <a:ea typeface="Inter"/>
              </a:rPr>
              <a:t>LastSalesDate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)</a:t>
            </a:r>
            <a:endParaRPr lang="en-US" sz="1800" dirty="0"/>
          </a:p>
          <a:p>
            <a:pPr>
              <a:buNone/>
            </a:pPr>
            <a:br>
              <a:rPr lang="en-US" dirty="0"/>
            </a:b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  <a:ea typeface="Inter"/>
              </a:rPr>
              <a:t>RETURN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3165BB"/>
                </a:solidFill>
                <a:latin typeface="Consolas"/>
                <a:ea typeface="Inter"/>
              </a:rPr>
              <a:t>CALCULATE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(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   </a:t>
            </a:r>
            <a:r>
              <a:rPr lang="en-US" sz="1800" dirty="0">
                <a:solidFill>
                  <a:srgbClr val="3165BB"/>
                </a:solidFill>
                <a:latin typeface="Consolas"/>
                <a:ea typeface="+mn-lt"/>
                <a:cs typeface="+mn-lt"/>
              </a:rPr>
              <a:t>SUM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( </a:t>
            </a:r>
            <a:r>
              <a:rPr lang="en-US" sz="1800" dirty="0" err="1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SalesTable</a:t>
            </a:r>
            <a:r>
              <a:rPr lang="en-US" sz="1800" dirty="0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[Sales Sum]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),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   </a:t>
            </a:r>
            <a:r>
              <a:rPr lang="en-US" sz="1800" dirty="0">
                <a:solidFill>
                  <a:srgbClr val="3165BB"/>
                </a:solidFill>
                <a:latin typeface="Consolas"/>
                <a:ea typeface="+mn-lt"/>
                <a:cs typeface="+mn-lt"/>
              </a:rPr>
              <a:t>FILTER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(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       </a:t>
            </a:r>
            <a:r>
              <a:rPr lang="en-US" sz="1800" dirty="0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'</a:t>
            </a:r>
            <a:r>
              <a:rPr lang="en-US" sz="1800" dirty="0" err="1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SalesTable</a:t>
            </a:r>
            <a:r>
              <a:rPr lang="en-US" sz="1800" dirty="0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'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,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       </a:t>
            </a:r>
            <a:r>
              <a:rPr lang="en-US" sz="1800" dirty="0">
                <a:solidFill>
                  <a:srgbClr val="3165BB"/>
                </a:solidFill>
                <a:latin typeface="Consolas"/>
                <a:ea typeface="Inter"/>
              </a:rPr>
              <a:t>MONTH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( </a:t>
            </a:r>
            <a:r>
              <a:rPr lang="en-US" sz="1800" dirty="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1800" dirty="0" err="1">
                <a:solidFill>
                  <a:srgbClr val="001080"/>
                </a:solidFill>
                <a:latin typeface="Consolas"/>
                <a:ea typeface="Inter"/>
              </a:rPr>
              <a:t>SalesTable</a:t>
            </a:r>
            <a:r>
              <a:rPr lang="en-US" sz="1800" dirty="0">
                <a:solidFill>
                  <a:srgbClr val="001080"/>
                </a:solidFill>
                <a:latin typeface="Consolas"/>
                <a:ea typeface="Inter"/>
              </a:rPr>
              <a:t>'[Date]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) &lt; </a:t>
            </a:r>
            <a:r>
              <a:rPr lang="en-US" sz="1800" dirty="0" err="1">
                <a:solidFill>
                  <a:srgbClr val="008080"/>
                </a:solidFill>
                <a:latin typeface="Consolas"/>
                <a:ea typeface="Inter"/>
              </a:rPr>
              <a:t>LastSalesMonth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            || ( </a:t>
            </a:r>
            <a:r>
              <a:rPr lang="en-US" sz="1800" dirty="0">
                <a:solidFill>
                  <a:srgbClr val="3165BB"/>
                </a:solidFill>
                <a:latin typeface="Consolas"/>
                <a:ea typeface="Inter"/>
              </a:rPr>
              <a:t>MONTH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( </a:t>
            </a:r>
            <a:r>
              <a:rPr lang="en-US" sz="1800" dirty="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1800" dirty="0" err="1">
                <a:solidFill>
                  <a:srgbClr val="001080"/>
                </a:solidFill>
                <a:latin typeface="Consolas"/>
                <a:ea typeface="Inter"/>
              </a:rPr>
              <a:t>SalesTable</a:t>
            </a:r>
            <a:r>
              <a:rPr lang="en-US" sz="1800" dirty="0">
                <a:solidFill>
                  <a:srgbClr val="001080"/>
                </a:solidFill>
                <a:latin typeface="Consolas"/>
                <a:ea typeface="Inter"/>
              </a:rPr>
              <a:t>'[Date]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)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= </a:t>
            </a:r>
            <a:r>
              <a:rPr lang="en-US" sz="1800" dirty="0" err="1">
                <a:solidFill>
                  <a:srgbClr val="008080"/>
                </a:solidFill>
                <a:latin typeface="Consolas"/>
                <a:ea typeface="Inter"/>
              </a:rPr>
              <a:t>LastSalesMonth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            &amp;&amp; </a:t>
            </a:r>
            <a:r>
              <a:rPr lang="en-US" sz="1800" dirty="0">
                <a:solidFill>
                  <a:srgbClr val="3165BB"/>
                </a:solidFill>
                <a:latin typeface="Consolas"/>
                <a:ea typeface="Inter"/>
              </a:rPr>
              <a:t>DAY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( </a:t>
            </a:r>
            <a:r>
              <a:rPr lang="en-US" sz="1800" dirty="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1800" dirty="0" err="1">
                <a:solidFill>
                  <a:srgbClr val="001080"/>
                </a:solidFill>
                <a:latin typeface="Consolas"/>
                <a:ea typeface="Inter"/>
              </a:rPr>
              <a:t>SalesTable</a:t>
            </a:r>
            <a:r>
              <a:rPr lang="en-US" sz="1800" dirty="0">
                <a:solidFill>
                  <a:srgbClr val="001080"/>
                </a:solidFill>
                <a:latin typeface="Consolas"/>
                <a:ea typeface="Inter"/>
              </a:rPr>
              <a:t>'[Date]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) &lt;= </a:t>
            </a:r>
            <a:r>
              <a:rPr lang="en-US" sz="1800" dirty="0" err="1">
                <a:solidFill>
                  <a:srgbClr val="008080"/>
                </a:solidFill>
                <a:latin typeface="Consolas"/>
                <a:ea typeface="Inter"/>
              </a:rPr>
              <a:t>LastSalesDay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)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    )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)</a:t>
            </a:r>
            <a:endParaRPr lang="en-US" sz="1800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/>
              <a:ea typeface="Inter"/>
            </a:endParaRPr>
          </a:p>
          <a:p>
            <a:pPr marL="0" indent="0">
              <a:buClr>
                <a:srgbClr val="121212"/>
              </a:buClr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514350" indent="-514350">
              <a:lnSpc>
                <a:spcPct val="150000"/>
              </a:lnSpc>
            </a:pPr>
            <a:endParaRPr lang="en-US" sz="2000" dirty="0"/>
          </a:p>
          <a:p>
            <a:pPr lvl="1">
              <a:lnSpc>
                <a:spcPct val="150000"/>
              </a:lnSpc>
            </a:pPr>
            <a:endParaRPr lang="en-US" sz="2000" dirty="0"/>
          </a:p>
          <a:p>
            <a:pPr lvl="1">
              <a:lnSpc>
                <a:spcPct val="150000"/>
              </a:lnSpc>
            </a:pPr>
            <a:endParaRPr lang="en-US" sz="2000" dirty="0"/>
          </a:p>
          <a:p>
            <a:pPr marL="514350">
              <a:lnSpc>
                <a:spcPct val="150000"/>
              </a:lnSpc>
              <a:buClr>
                <a:srgbClr val="121212"/>
              </a:buClr>
              <a:buFont typeface="Inter"/>
              <a:buChar char="‣"/>
            </a:pP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645886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6E52B-B8F7-A10A-3B4F-06BBEF9502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dirty="0"/>
              <a:t>Kokkuvõte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9B4A8-EF23-6857-EE24-9F47D7604AF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t-EE" dirty="0"/>
              <a:t>Õppisime</a:t>
            </a:r>
          </a:p>
          <a:p>
            <a:pPr lvl="1"/>
            <a:r>
              <a:rPr lang="et-EE" dirty="0"/>
              <a:t>Andmekvaliteet, tüüpilised probleemid</a:t>
            </a:r>
          </a:p>
          <a:p>
            <a:pPr lvl="1"/>
            <a:r>
              <a:rPr lang="et-EE" dirty="0"/>
              <a:t>Power BI-s andmekvaliteedi hindamine ja lahendamine</a:t>
            </a:r>
          </a:p>
          <a:p>
            <a:pPr lvl="1"/>
            <a:r>
              <a:rPr lang="et-EE" dirty="0"/>
              <a:t>FIltreerimine</a:t>
            </a:r>
          </a:p>
          <a:p>
            <a:pPr lvl="1"/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904514558"/>
      </p:ext>
    </p:extLst>
  </p:cSld>
  <p:clrMapOvr>
    <a:masterClrMapping/>
  </p:clrMapOvr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4fc69ca6-ce6b-4059-8ad9-2049c3c135b3}" enabled="0" method="" siteId="{4fc69ca6-ce6b-4059-8ad9-2049c3c135b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1247</Words>
  <Application>Microsoft Office PowerPoint</Application>
  <PresentationFormat>Widescreen</PresentationFormat>
  <Paragraphs>180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Arial,Sans-Serif</vt:lpstr>
      <vt:lpstr>Consolas</vt:lpstr>
      <vt:lpstr>Inter Bold</vt:lpstr>
      <vt:lpstr>Courier New</vt:lpstr>
      <vt:lpstr>Inter</vt:lpstr>
      <vt:lpstr>Arial</vt:lpstr>
      <vt:lpstr>Poppins SemiBold</vt:lpstr>
      <vt:lpstr>Courier New,monospace</vt:lpstr>
      <vt:lpstr>Calibri</vt:lpstr>
      <vt:lpstr>BCS</vt:lpstr>
      <vt:lpstr>Vali Andmetarkus!</vt:lpstr>
      <vt:lpstr>Päevakava - II päev</vt:lpstr>
      <vt:lpstr>Andmete kogumine</vt:lpstr>
      <vt:lpstr>Andmekvaliteedi dimensioonid</vt:lpstr>
      <vt:lpstr>Andmekvaliteedi dimensioonid</vt:lpstr>
      <vt:lpstr>Andmekvaliteedi tagamine</vt:lpstr>
      <vt:lpstr>Andmete elutsükkel</vt:lpstr>
      <vt:lpstr>PowerPoint Presentation</vt:lpstr>
      <vt:lpstr>PowerPoint Presentation</vt:lpstr>
      <vt:lpstr>Näiteid andmekvaliteedi probleemidest</vt:lpstr>
      <vt:lpstr>Andmekvaliteedi probleemide lahendamine</vt:lpstr>
      <vt:lpstr>Paus 10:30-10:45</vt:lpstr>
      <vt:lpstr>Power BI – andmete profileerimine – kirjeldav statistika</vt:lpstr>
      <vt:lpstr>PowerPoint Presentation</vt:lpstr>
      <vt:lpstr>Harjutus 1 jätk Power BI – uue andmestiku kvaliteedi kontroll</vt:lpstr>
      <vt:lpstr>Power BI – formaatide kontroll - reeglipärasus</vt:lpstr>
      <vt:lpstr>Power BI – formaatide kontroll - reeglipärasus</vt:lpstr>
      <vt:lpstr>Power BI – dimensioonide kontroll - täiellikus</vt:lpstr>
      <vt:lpstr>Lõunapaus 12:15-13:15</vt:lpstr>
      <vt:lpstr>Power BI jätk - kasumlikkus toodete kaupa</vt:lpstr>
      <vt:lpstr>Power BI jätk - visuaalid toodete müükide võrdluseks </vt:lpstr>
      <vt:lpstr>Power BI jätk - filtrid </vt:lpstr>
      <vt:lpstr>Power BI jätk – drillimine ja sorteerimine</vt:lpstr>
      <vt:lpstr>Paus 14:45-15:00</vt:lpstr>
      <vt:lpstr>YTD Sales mõõdik ja graafikud</vt:lpstr>
      <vt:lpstr>Kokkuvõte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Emilie Abel</cp:lastModifiedBy>
  <cp:revision>221</cp:revision>
  <dcterms:created xsi:type="dcterms:W3CDTF">2021-08-27T11:35:28Z</dcterms:created>
  <dcterms:modified xsi:type="dcterms:W3CDTF">2026-08-29T09:19:31Z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