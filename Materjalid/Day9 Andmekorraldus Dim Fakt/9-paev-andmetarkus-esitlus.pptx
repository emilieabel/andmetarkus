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w=3840&amp;q=75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81" r:id="rId2"/>
    <p:sldId id="499" r:id="rId3"/>
    <p:sldId id="282" r:id="rId4"/>
    <p:sldId id="500" r:id="rId5"/>
    <p:sldId id="283" r:id="rId6"/>
    <p:sldId id="494" r:id="rId7"/>
    <p:sldId id="508" r:id="rId8"/>
    <p:sldId id="671" r:id="rId9"/>
    <p:sldId id="522" r:id="rId10"/>
    <p:sldId id="514" r:id="rId11"/>
    <p:sldId id="259" r:id="rId12"/>
    <p:sldId id="615" r:id="rId13"/>
    <p:sldId id="260" r:id="rId14"/>
    <p:sldId id="518" r:id="rId15"/>
    <p:sldId id="519" r:id="rId16"/>
    <p:sldId id="265" r:id="rId17"/>
    <p:sldId id="261" r:id="rId18"/>
    <p:sldId id="524" r:id="rId19"/>
    <p:sldId id="614" r:id="rId20"/>
    <p:sldId id="262" r:id="rId21"/>
    <p:sldId id="670" r:id="rId22"/>
    <p:sldId id="268" r:id="rId23"/>
    <p:sldId id="267" r:id="rId24"/>
    <p:sldId id="523" r:id="rId25"/>
    <p:sldId id="669" r:id="rId26"/>
    <p:sldId id="672" r:id="rId27"/>
    <p:sldId id="521" r:id="rId28"/>
    <p:sldId id="525" r:id="rId29"/>
    <p:sldId id="526" r:id="rId30"/>
    <p:sldId id="490" r:id="rId31"/>
    <p:sldId id="27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16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1BA1A-EF45-3029-ACB0-CF2B5A919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54E4F-312F-EA29-33DA-E6B76FE492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01420-A1DD-11FB-DA9C-1BFE915CE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75C40-CC50-FEE8-38DC-A83D7C26A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476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25F4-5CE5-E1DF-EA66-61916E5C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DDE845-F836-A8E8-2991-D30E2539C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3155C-B531-72AE-A399-C30EA1445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97BEE-F010-C6BA-0640-778AC60DA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92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491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&amp;w=3840&amp;q=75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aki.ee/" TargetMode="External"/><Relationship Id="rId5" Type="http://schemas.openxmlformats.org/officeDocument/2006/relationships/hyperlink" Target="https://eur-lex.europa.eu/legal-content/ET/TXT/?uri=CELEX:32016R0679" TargetMode="External"/><Relationship Id="rId4" Type="http://schemas.openxmlformats.org/officeDocument/2006/relationships/hyperlink" Target="https://www.riigiteataja.ee/akt/106032026010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18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1206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1889" y="1919347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2912" y="2228225"/>
            <a:ext cx="4343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240" y="5065544"/>
            <a:ext cx="112471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b="1" dirty="0">
                <a:solidFill>
                  <a:srgbClr val="FF0000"/>
                </a:solidFill>
                <a:latin typeface="Calibri"/>
              </a:rPr>
              <a:t>TESTI – tee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eraldi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paring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või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arvuta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üle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.</a:t>
            </a:r>
          </a:p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alternative</a:t>
            </a:r>
          </a:p>
          <a:p>
            <a:pPr algn="l"/>
            <a:r>
              <a:rPr lang="en-GB" sz="1500" dirty="0">
                <a:solidFill>
                  <a:srgbClr val="64748B"/>
                </a:solidFill>
                <a:latin typeface="Calibri"/>
              </a:rPr>
              <a:t>Loo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selle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jaoks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VIEW’d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.</a:t>
            </a:r>
            <a:endParaRPr sz="15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442445" y="1965960"/>
            <a:ext cx="524416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54C681-FF17-51E8-E5FA-D5100E368847}"/>
              </a:ext>
            </a:extLst>
          </p:cNvPr>
          <p:cNvSpPr txBox="1"/>
          <p:nvPr/>
        </p:nvSpPr>
        <p:spPr>
          <a:xfrm>
            <a:off x="6137076" y="1097279"/>
            <a:ext cx="565868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888F06-AFB3-2ED8-D878-D05294FC9238}"/>
              </a:ext>
            </a:extLst>
          </p:cNvPr>
          <p:cNvSpPr txBox="1"/>
          <p:nvPr/>
        </p:nvSpPr>
        <p:spPr>
          <a:xfrm>
            <a:off x="6509889" y="2355353"/>
            <a:ext cx="5094657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" b="1" dirty="0">
                <a:solidFill>
                  <a:schemeClr val="bg1"/>
                </a:solidFill>
              </a:rPr>
              <a:t>WITH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aastad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EXTRACT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b="1" dirty="0">
                <a:solidFill>
                  <a:schemeClr val="bg1"/>
                </a:solidFill>
              </a:rPr>
              <a:t>YEAR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kuupäev</a:t>
            </a:r>
            <a:r>
              <a:rPr lang="en-GB" sz="400" dirty="0">
                <a:solidFill>
                  <a:schemeClr val="bg1"/>
                </a:solidFill>
              </a:rPr>
              <a:t>)::</a:t>
            </a:r>
            <a:r>
              <a:rPr lang="en-GB" sz="400" b="1" dirty="0">
                <a:solidFill>
                  <a:schemeClr val="bg1"/>
                </a:solidFill>
              </a:rPr>
              <a:t>integer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>
                <a:solidFill>
                  <a:schemeClr val="bg1"/>
                </a:solidFill>
              </a:rPr>
              <a:t>100.0 *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</a:t>
            </a:r>
          </a:p>
          <a:p>
            <a:r>
              <a:rPr lang="en-GB" sz="400" dirty="0">
                <a:solidFill>
                  <a:schemeClr val="bg1"/>
                </a:solidFill>
              </a:rPr>
              <a:t>/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tellimused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GROUP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400" dirty="0">
                <a:solidFill>
                  <a:schemeClr val="bg1"/>
                </a:solidFill>
              </a:rPr>
              <a:t>)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protsent_eelmine_aasta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- </a:t>
            </a:r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muut_protsendipunkti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ASC</a:t>
            </a:r>
            <a:r>
              <a:rPr lang="en-GB" sz="400" dirty="0">
                <a:solidFill>
                  <a:schemeClr val="bg1"/>
                </a:solidFill>
              </a:rPr>
              <a:t>,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D050DD3A-E968-2A73-748C-7AA8839C6848}"/>
              </a:ext>
            </a:extLst>
          </p:cNvPr>
          <p:cNvSpPr/>
          <p:nvPr/>
        </p:nvSpPr>
        <p:spPr>
          <a:xfrm>
            <a:off x="6129291" y="1975555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3ECD1E-26BE-D501-3EC9-8EEF54262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54" y="2800262"/>
            <a:ext cx="5077534" cy="125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0E008DB-FC40-C87E-D237-8757677002A8}"/>
              </a:ext>
            </a:extLst>
          </p:cNvPr>
          <p:cNvSpPr/>
          <p:nvPr/>
        </p:nvSpPr>
        <p:spPr>
          <a:xfrm>
            <a:off x="1837426" y="3165894"/>
            <a:ext cx="3849183" cy="88733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8FEEC1F-310A-9FDF-99EF-E11B14958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1013" y="3165894"/>
            <a:ext cx="6610809" cy="1368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044978"/>
            <a:ext cx="11044362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analüüsiküsimuste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alusel </a:t>
            </a:r>
            <a:r>
              <a:rPr lang="et-EE" sz="3200" b="1" dirty="0">
                <a:solidFill>
                  <a:srgbClr val="FFC000"/>
                </a:solidFill>
                <a:latin typeface="Calibri"/>
              </a:rPr>
              <a:t>tähtskeem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888652" y="1935073"/>
            <a:ext cx="690710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osakond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müüs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kuu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tugevam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odavaid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keskmisi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kalleid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tooteid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ostjaid</a:t>
            </a:r>
            <a:r>
              <a:rPr lang="en-GB" sz="2000" dirty="0">
                <a:solidFill>
                  <a:srgbClr val="334155"/>
                </a:solidFill>
              </a:rPr>
              <a:t> on </a:t>
            </a:r>
            <a:r>
              <a:rPr lang="en-GB" sz="2000" dirty="0" err="1">
                <a:solidFill>
                  <a:srgbClr val="334155"/>
                </a:solidFill>
              </a:rPr>
              <a:t>Tallinnast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Tartust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mujalt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 err="1">
                <a:solidFill>
                  <a:srgbClr val="334155"/>
                </a:solidFill>
              </a:rPr>
              <a:t>Millist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tarneviisi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kasutatakse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Kui </a:t>
            </a:r>
            <a:r>
              <a:rPr lang="en-GB" sz="2000" dirty="0" err="1">
                <a:solidFill>
                  <a:srgbClr val="334155"/>
                </a:solidFill>
              </a:rPr>
              <a:t>palju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andsime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soodustuseks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Mis </a:t>
            </a:r>
            <a:r>
              <a:rPr lang="en-GB" sz="2000" dirty="0" err="1">
                <a:solidFill>
                  <a:srgbClr val="334155"/>
                </a:solidFill>
              </a:rPr>
              <a:t>nädalapäeval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Kes on </a:t>
            </a:r>
            <a:r>
              <a:rPr lang="en-GB" sz="2000" dirty="0" err="1">
                <a:solidFill>
                  <a:srgbClr val="334155"/>
                </a:solidFill>
              </a:rPr>
              <a:t>meie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suurimad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kliendid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toode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toob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" name="Picture 1" descr="Star Schema Guide: Data Warehouse Modeling Explained | MotherDuck">
            <a:extLst>
              <a:ext uri="{FF2B5EF4-FFF2-40B4-BE49-F238E27FC236}">
                <a16:creationId xmlns:a16="http://schemas.microsoft.com/office/drawing/2014/main" id="{6AAB8B77-6754-F116-E1A2-4B44C4DAB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26" y="1989401"/>
            <a:ext cx="3976531" cy="257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seletada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AE2DA-6A29-B9EB-B75B-EB98B5A48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2DC34E-11D5-9F50-C580-FC411319D5E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0640FC-BBDD-A3F5-311E-426C6FC0373A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48E7B-A36D-8A1F-7629-E5FCA7F105BB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60FF81-0435-BC2D-66B5-A49787887F1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30FAD5-F214-4AAC-1F05-668962147D8B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9990C-673E-7DEF-94FD-1CBB7B22303C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E1595-FF59-1FA7-BADA-C7E3D470F09D}"/>
              </a:ext>
            </a:extLst>
          </p:cNvPr>
          <p:cNvSpPr txBox="1"/>
          <p:nvPr/>
        </p:nvSpPr>
        <p:spPr>
          <a:xfrm>
            <a:off x="270344" y="1649007"/>
            <a:ext cx="11080144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analüütikaks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vaadete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koondamine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  <a:latin typeface="Calibri"/>
              </a:rPr>
              <a:t>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VIEW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loomine</a:t>
            </a:r>
            <a:endParaRPr lang="en-GB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322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SQL script 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;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</a:rPr>
              <a:t>‘</a:t>
            </a:r>
            <a:r>
              <a:rPr lang="en-GB" b="1" dirty="0" err="1">
                <a:solidFill>
                  <a:srgbClr val="334155"/>
                </a:solidFill>
              </a:rPr>
              <a:t>create_tahtskeem_vaated.sql</a:t>
            </a:r>
            <a:r>
              <a:rPr lang="en-GB" b="1" dirty="0">
                <a:solidFill>
                  <a:srgbClr val="334155"/>
                </a:solidFill>
              </a:rPr>
              <a:t>’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dim_toode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dim_aeg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fact_myyk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br>
              <a:rPr lang="en-GB" sz="1600" dirty="0">
                <a:solidFill>
                  <a:srgbClr val="334155"/>
                </a:solidFill>
              </a:rPr>
            </a:br>
            <a:r>
              <a:rPr lang="en-GB" sz="1600" b="1" dirty="0">
                <a:solidFill>
                  <a:srgbClr val="334155"/>
                </a:solidFill>
              </a:rPr>
              <a:t>NB! </a:t>
            </a:r>
            <a:r>
              <a:rPr lang="en-GB" sz="1600" b="1" dirty="0" err="1">
                <a:solidFill>
                  <a:srgbClr val="334155"/>
                </a:solidFill>
              </a:rPr>
              <a:t>Kontrolli</a:t>
            </a:r>
            <a:r>
              <a:rPr lang="en-GB" sz="1600" b="1" dirty="0">
                <a:solidFill>
                  <a:srgbClr val="334155"/>
                </a:solidFill>
              </a:rPr>
              <a:t>, kas </a:t>
            </a:r>
            <a:r>
              <a:rPr lang="en-GB" sz="1600" b="1" dirty="0" err="1">
                <a:solidFill>
                  <a:srgbClr val="334155"/>
                </a:solidFill>
              </a:rPr>
              <a:t>saad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samad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müügisummad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nagu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eilses</a:t>
            </a:r>
            <a:r>
              <a:rPr lang="en-GB" sz="1600" b="1" dirty="0">
                <a:solidFill>
                  <a:srgbClr val="334155"/>
                </a:solidFill>
              </a:rPr>
              <a:t> VIEW’s  KAS ON?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143" y="3605817"/>
            <a:ext cx="3177185" cy="31771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28F5E9-2FDC-695A-72AC-D538E4B84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416" y="1755648"/>
            <a:ext cx="3312160" cy="153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70409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aliiksüsteemi,nt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0B75E4-C5C1-BDB4-FF71-4D38A70131AD}"/>
              </a:ext>
            </a:extLst>
          </p:cNvPr>
          <p:cNvSpPr txBox="1"/>
          <p:nvPr/>
        </p:nvSpPr>
        <p:spPr>
          <a:xfrm>
            <a:off x="379970" y="1242539"/>
            <a:ext cx="1140837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r>
              <a:rPr lang="en-GB" b="1" dirty="0"/>
              <a:t> (IAKS):</a:t>
            </a:r>
            <a:r>
              <a:rPr lang="en-GB" dirty="0"/>
              <a:t> See on Eesti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seadus</a:t>
            </a:r>
            <a:r>
              <a:rPr lang="en-GB" dirty="0"/>
              <a:t>, mis </a:t>
            </a:r>
            <a:r>
              <a:rPr lang="en-GB" dirty="0" err="1"/>
              <a:t>täpsustab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täiendab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üldmäärust</a:t>
            </a:r>
            <a:r>
              <a:rPr lang="en-GB" dirty="0"/>
              <a:t> </a:t>
            </a:r>
            <a:r>
              <a:rPr lang="en-GB" dirty="0" err="1"/>
              <a:t>neis</a:t>
            </a:r>
            <a:r>
              <a:rPr lang="en-GB" dirty="0"/>
              <a:t> </a:t>
            </a:r>
            <a:r>
              <a:rPr lang="en-GB" dirty="0" err="1"/>
              <a:t>küsimustes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riikidele</a:t>
            </a:r>
            <a:r>
              <a:rPr lang="en-GB" dirty="0"/>
              <a:t> on </a:t>
            </a:r>
            <a:r>
              <a:rPr lang="en-GB" dirty="0" err="1"/>
              <a:t>jäetud</a:t>
            </a:r>
            <a:r>
              <a:rPr lang="en-GB" dirty="0"/>
              <a:t> </a:t>
            </a:r>
            <a:r>
              <a:rPr lang="en-GB" dirty="0" err="1"/>
              <a:t>otsustusõigus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r>
              <a:rPr lang="en-GB" dirty="0"/>
              <a:t> </a:t>
            </a:r>
            <a:r>
              <a:rPr lang="en-GB" dirty="0" err="1"/>
              <a:t>ajakirjanduslikul</a:t>
            </a:r>
            <a:r>
              <a:rPr lang="en-GB" dirty="0"/>
              <a:t> </a:t>
            </a:r>
            <a:r>
              <a:rPr lang="en-GB" dirty="0" err="1"/>
              <a:t>eesmärgil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lapse </a:t>
            </a:r>
            <a:r>
              <a:rPr lang="en-GB" dirty="0" err="1"/>
              <a:t>nõusoleku</a:t>
            </a:r>
            <a:r>
              <a:rPr lang="en-GB" dirty="0"/>
              <a:t> </a:t>
            </a:r>
            <a:r>
              <a:rPr lang="en-GB" dirty="0" err="1"/>
              <a:t>vanusepiirang</a:t>
            </a:r>
            <a:r>
              <a:rPr lang="en-GB" dirty="0"/>
              <a:t> e-</a:t>
            </a:r>
            <a:r>
              <a:rPr lang="en-GB" dirty="0" err="1"/>
              <a:t>teenustes</a:t>
            </a:r>
            <a:r>
              <a:rPr lang="en-GB" dirty="0"/>
              <a:t>). </a:t>
            </a:r>
            <a:r>
              <a:rPr lang="en-GB" dirty="0">
                <a:hlinkClick r:id="rId4"/>
              </a:rPr>
              <a:t>https://www.riigiteataja.ee/akt/106032026010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üldmäärus</a:t>
            </a:r>
            <a:r>
              <a:rPr lang="en-GB" b="1" dirty="0"/>
              <a:t> (IKÜM / GDPR):</a:t>
            </a:r>
            <a:r>
              <a:rPr lang="en-GB" dirty="0"/>
              <a:t> See on </a:t>
            </a:r>
            <a:r>
              <a:rPr lang="en-GB" dirty="0" err="1"/>
              <a:t>otsekohalduv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määrus</a:t>
            </a:r>
            <a:r>
              <a:rPr lang="en-GB" dirty="0"/>
              <a:t> (</a:t>
            </a:r>
            <a:r>
              <a:rPr lang="en-GB" dirty="0" err="1"/>
              <a:t>Määrus</a:t>
            </a:r>
            <a:r>
              <a:rPr lang="en-GB" dirty="0"/>
              <a:t> (EL) 2016/679), mis on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vundamendiks</a:t>
            </a:r>
            <a:r>
              <a:rPr lang="en-GB" dirty="0"/>
              <a:t>. See </a:t>
            </a:r>
            <a:r>
              <a:rPr lang="en-GB" dirty="0" err="1"/>
              <a:t>seab</a:t>
            </a:r>
            <a:r>
              <a:rPr lang="en-GB" dirty="0"/>
              <a:t> ranged </a:t>
            </a:r>
            <a:r>
              <a:rPr lang="en-GB" dirty="0" err="1"/>
              <a:t>reeglid</a:t>
            </a:r>
            <a:r>
              <a:rPr lang="en-GB" dirty="0"/>
              <a:t> </a:t>
            </a:r>
            <a:r>
              <a:rPr lang="en-GB" dirty="0" err="1"/>
              <a:t>ettevõtetele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asutustele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annab</a:t>
            </a:r>
            <a:r>
              <a:rPr lang="en-GB" dirty="0"/>
              <a:t> </a:t>
            </a:r>
            <a:r>
              <a:rPr lang="en-GB" dirty="0" err="1"/>
              <a:t>eraisikutele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. </a:t>
            </a:r>
            <a:r>
              <a:rPr lang="en-GB" dirty="0" err="1">
                <a:hlinkClick r:id="rId5"/>
              </a:rPr>
              <a:t>Isikuandmete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kaitse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üldmäärus</a:t>
            </a:r>
            <a:r>
              <a:rPr lang="en-GB" dirty="0">
                <a:hlinkClick r:id="rId5"/>
              </a:rPr>
              <a:t> (EUR-Lex)</a:t>
            </a:r>
            <a:endParaRPr lang="en-GB" dirty="0"/>
          </a:p>
          <a:p>
            <a:pPr lvl="0"/>
            <a:endParaRPr lang="en-GB" dirty="0"/>
          </a:p>
          <a:p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Inspektsiooni</a:t>
            </a:r>
            <a:r>
              <a:rPr lang="en-GB" dirty="0"/>
              <a:t> (AKI) </a:t>
            </a:r>
            <a:r>
              <a:rPr lang="en-GB" dirty="0" err="1"/>
              <a:t>veebileht</a:t>
            </a:r>
            <a:r>
              <a:rPr lang="en-GB" dirty="0"/>
              <a:t> </a:t>
            </a:r>
            <a:r>
              <a:rPr lang="en-GB" dirty="0">
                <a:hlinkClick r:id="rId6"/>
              </a:rPr>
              <a:t>www.aki.ee</a:t>
            </a:r>
            <a:r>
              <a:rPr lang="en-GB" dirty="0"/>
              <a:t> , mis on </a:t>
            </a:r>
            <a:r>
              <a:rPr lang="en-GB" dirty="0" err="1"/>
              <a:t>Eestis</a:t>
            </a:r>
            <a:r>
              <a:rPr lang="en-GB" dirty="0"/>
              <a:t>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järelevalveasutus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pakub</a:t>
            </a:r>
            <a:r>
              <a:rPr lang="en-GB" dirty="0"/>
              <a:t> </a:t>
            </a:r>
            <a:r>
              <a:rPr lang="en-GB" dirty="0" err="1"/>
              <a:t>praktilisi</a:t>
            </a:r>
            <a:r>
              <a:rPr lang="en-GB" dirty="0"/>
              <a:t> </a:t>
            </a:r>
            <a:r>
              <a:rPr lang="en-GB" dirty="0" err="1"/>
              <a:t>juhendeid</a:t>
            </a:r>
            <a:r>
              <a:rPr lang="en-GB" dirty="0"/>
              <a:t> </a:t>
            </a:r>
            <a:r>
              <a:rPr lang="en-GB" dirty="0" err="1"/>
              <a:t>mõlema</a:t>
            </a:r>
            <a:r>
              <a:rPr lang="en-GB" dirty="0"/>
              <a:t> </a:t>
            </a:r>
            <a:r>
              <a:rPr lang="en-GB" dirty="0" err="1"/>
              <a:t>seaduse</a:t>
            </a:r>
            <a:r>
              <a:rPr lang="en-GB" dirty="0"/>
              <a:t> </a:t>
            </a:r>
            <a:r>
              <a:rPr lang="en-GB" dirty="0" err="1"/>
              <a:t>täitmiseks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10ADA-EAA2-3E0B-6C8C-5EE783275241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A00D2-D7AE-317C-7763-5DA76C8144DA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070006"/>
            <a:ext cx="10941050" cy="4465637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sz="2000" dirty="0" err="1">
                <a:ea typeface="+mn-lt"/>
                <a:cs typeface="+mn-lt"/>
              </a:rPr>
              <a:t>Enneta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mitte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ära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tegele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tagajärgedega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tegevusse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alustamist</a:t>
            </a:r>
            <a:r>
              <a:rPr lang="en-US" dirty="0">
                <a:ea typeface="+mn-lt"/>
                <a:cs typeface="+mn-lt"/>
              </a:rPr>
              <a:t>; </a:t>
            </a:r>
            <a:endParaRPr lang="en-US" dirty="0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dirty="0" err="1">
                <a:ea typeface="+mn-lt"/>
                <a:cs typeface="+mn-lt"/>
              </a:rPr>
              <a:t>Andmekaitse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korrapärasus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süsteemsus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disaini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arhitektuuri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äritegevusse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olles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tuumfunktsionaalsusest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Andmetöötleja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hindab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korrapäraselt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võimalikke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ohte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rakendab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vastavalt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olukorrale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täiendavaid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kaitsemeetmeid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algusest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lõpuni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turvaline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Alates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esmasest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kogumisest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u="sng" dirty="0" err="1">
                <a:ea typeface="+mn-lt"/>
                <a:cs typeface="+mn-lt"/>
              </a:rPr>
              <a:t>hävitamiseni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rakendatud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asjakohased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ajakohastatud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turvameetmed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läbipaistev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vastutustundlik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Kõigile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kaasatud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peab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üheselt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arusaadav</a:t>
            </a:r>
            <a:r>
              <a:rPr lang="en-US" dirty="0">
                <a:ea typeface="+mn-lt"/>
                <a:cs typeface="+mn-lt"/>
              </a:rPr>
              <a:t>, mis on </a:t>
            </a:r>
            <a:r>
              <a:rPr lang="en-US" dirty="0" err="1">
                <a:ea typeface="+mn-lt"/>
                <a:cs typeface="+mn-lt"/>
              </a:rPr>
              <a:t>andmetöötluse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eesmärk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Andmesubjektile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tagatud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eesmärgi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kui</a:t>
            </a:r>
            <a:r>
              <a:rPr lang="en-US" dirty="0">
                <a:ea typeface="+mn-lt"/>
                <a:cs typeface="+mn-lt"/>
              </a:rPr>
              <a:t> ta </a:t>
            </a:r>
            <a:r>
              <a:rPr lang="en-US" dirty="0" err="1">
                <a:ea typeface="+mn-lt"/>
                <a:cs typeface="+mn-lt"/>
              </a:rPr>
              <a:t>õiguste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kohta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suhtes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kergelt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kättesaadav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selgelt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lihtsalt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sõnastatud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Organisatsioon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sõlminud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õiguspärased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andmetöötluslepingud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12080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kliendid.nimi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kliendid.linn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fact_muuk.rida_ilma_km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fact_muuk.taidetud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dim_klient.klient_id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6.  dim_klient.nimi (Power BI mudelis)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7.  Kliendi diagnoos (kui oleks kirjelduste tabelis)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8.  Andmebaasi parool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9.  Müügisumma (rida_ilma_km)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10. Palgad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531D-5CB6-CF8B-E43D-CA5EA6EEA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NÄITAN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E5A7-F68B-5C47-349E-F4031FDF80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</a:p>
          <a:p>
            <a:pPr lvl="0"/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Uus</a:t>
            </a:r>
            <a:r>
              <a:rPr lang="en-GB" dirty="0"/>
              <a:t> roll(</a:t>
            </a:r>
            <a:r>
              <a:rPr lang="en-GB" dirty="0" err="1"/>
              <a:t>nt</a:t>
            </a:r>
            <a:r>
              <a:rPr lang="en-GB" dirty="0"/>
              <a:t> Sots min),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</a:t>
            </a:r>
          </a:p>
          <a:p>
            <a:pPr lvl="0"/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9165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1D492-3A01-0408-C71A-C160CB1ACA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 </a:t>
            </a:r>
            <a:r>
              <a:rPr lang="en-GB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BCD2E-F370-63D6-5823-7D3AC3E0D7D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  <a:r>
              <a:rPr lang="en-GB" dirty="0" err="1"/>
              <a:t>päev</a:t>
            </a:r>
            <a:r>
              <a:rPr lang="en-GB" dirty="0"/>
              <a:t> 4-5</a:t>
            </a:r>
          </a:p>
          <a:p>
            <a:pPr lvl="0"/>
            <a:r>
              <a:rPr lang="en-GB" dirty="0"/>
              <a:t>Ava Power BI </a:t>
            </a:r>
            <a:r>
              <a:rPr lang="en-GB" dirty="0" err="1"/>
              <a:t>Desktopis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Loo </a:t>
            </a:r>
            <a:r>
              <a:rPr lang="en-GB" dirty="0" err="1"/>
              <a:t>uus</a:t>
            </a:r>
            <a:r>
              <a:rPr lang="en-GB" dirty="0"/>
              <a:t> roll (</a:t>
            </a:r>
            <a:r>
              <a:rPr lang="en-GB" dirty="0" err="1"/>
              <a:t>nt</a:t>
            </a:r>
            <a:r>
              <a:rPr lang="en-GB" dirty="0"/>
              <a:t> Sots min)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kirjuta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 </a:t>
            </a:r>
            <a:r>
              <a:rPr lang="en-GB" dirty="0" err="1"/>
              <a:t>Salvesta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Klõpsa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vahekaardil</a:t>
            </a:r>
            <a:r>
              <a:rPr lang="en-GB" dirty="0"/>
              <a:t> </a:t>
            </a:r>
            <a:r>
              <a:rPr lang="en-GB" dirty="0" err="1"/>
              <a:t>nuppu</a:t>
            </a:r>
            <a:r>
              <a:rPr lang="en-GB" dirty="0"/>
              <a:t> </a:t>
            </a:r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DA777-2063-5EB4-C1A0-80F50445F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GB" sz="3200" b="1" dirty="0">
                <a:solidFill>
                  <a:srgbClr val="0F203E"/>
                </a:solidFill>
                <a:latin typeface="Calibri"/>
              </a:rPr>
              <a:t>HARJUTUS: arutelu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C9B4-5348-4271-24CD-E28C57BD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440955" cy="4525963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osad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võiksid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andmekorralduses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olla? </a:t>
            </a:r>
          </a:p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probleemid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tekivad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kasutamise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Kui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allikaid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laadimisprotsesse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raporteid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hoida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dokumentatsioon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ühes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tähendus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nähtavaks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just seal,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kasutab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(SQL COMMENT, Power BI Description)?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kergesti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loetav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arusaadav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hallatav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info?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Veel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innovatiivseid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konstruktiivseid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ideid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E394-27E9-2F29-DC4D-9AFAA112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50EE6D-2790-4D89-1CBC-441B0F2E1A0B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8C3834-3DE0-AAC6-8F52-6D9202E838E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12147-B786-4AFE-8EE7-4B9F156E3C3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KOMMENTEERI VAATED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DE8FF-A1BB-7940-BF9A-F244BE3EA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8D41D-F1AB-EB3D-B39B-B21EA602439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9A4097-8FB1-4678-920E-06AF5E1400E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Objektide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kirjeldused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5216C-037D-DD0B-3C45-BAAB367D6628}"/>
              </a:ext>
            </a:extLst>
          </p:cNvPr>
          <p:cNvSpPr txBox="1"/>
          <p:nvPr/>
        </p:nvSpPr>
        <p:spPr>
          <a:xfrm>
            <a:off x="384313" y="1694739"/>
            <a:ext cx="110801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Jätka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samas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CREATE VIEW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scriptis</a:t>
            </a: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SQL script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asub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analytics_veergude_kommentaarid.sql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’</a:t>
            </a:r>
          </a:p>
          <a:p>
            <a:pPr>
              <a:spcAft>
                <a:spcPts val="12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kommenteerimist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vajavat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infot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hiljem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süsteemi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võttes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00813-6C00-9EB1-057D-AD56CB37180C}"/>
              </a:ext>
            </a:extLst>
          </p:cNvPr>
          <p:cNvSpPr txBox="1"/>
          <p:nvPr/>
        </p:nvSpPr>
        <p:spPr>
          <a:xfrm>
            <a:off x="526508" y="4249975"/>
            <a:ext cx="10629172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Loo Vaade, </a:t>
            </a:r>
            <a:r>
              <a:rPr lang="en-GB" sz="2400" dirty="0" err="1">
                <a:latin typeface="Calibri"/>
              </a:rPr>
              <a:t>millega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saab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vaadata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view’de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ja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veergude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kommentaare</a:t>
            </a:r>
            <a:endParaRPr lang="en-GB" sz="2400" dirty="0">
              <a:latin typeface="Calibri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SQL script </a:t>
            </a:r>
            <a:r>
              <a:rPr lang="en-GB" sz="2400" dirty="0" err="1">
                <a:latin typeface="Calibri"/>
              </a:rPr>
              <a:t>asub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failis</a:t>
            </a:r>
            <a:r>
              <a:rPr lang="en-GB" sz="2400" dirty="0">
                <a:latin typeface="Calibri"/>
              </a:rPr>
              <a:t> </a:t>
            </a:r>
            <a:r>
              <a:rPr lang="en-GB" sz="2400" b="1" dirty="0"/>
              <a:t>‘View </a:t>
            </a:r>
            <a:r>
              <a:rPr lang="en-GB" sz="2400" b="1" dirty="0" err="1"/>
              <a:t>kommentaaride</a:t>
            </a:r>
            <a:r>
              <a:rPr lang="en-GB" sz="2400" b="1" dirty="0"/>
              <a:t> Vaade.txt’</a:t>
            </a:r>
            <a:endParaRPr lang="en-GB" sz="2400" b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70611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668FA-47CA-1B90-3B9A-2B700DE8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7CBAE7-CEF4-55FD-7E8A-55BC3756952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8E625C-DA14-8EA4-E78E-7ABC723AD621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014D4-8801-C9EC-2798-40362E22A295}"/>
              </a:ext>
            </a:extLst>
          </p:cNvPr>
          <p:cNvSpPr txBox="1"/>
          <p:nvPr/>
        </p:nvSpPr>
        <p:spPr>
          <a:xfrm>
            <a:off x="519973" y="1360211"/>
            <a:ext cx="537716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</a:t>
            </a:r>
            <a:r>
              <a:rPr lang="en-GB" sz="1600" dirty="0" err="1"/>
              <a:t>v_view_descriptions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endParaRPr lang="en-GB" sz="1600" dirty="0"/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c.relname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a.attname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pg_catalog.</a:t>
            </a:r>
            <a:r>
              <a:rPr lang="en-GB" sz="1600" b="1" dirty="0" err="1"/>
              <a:t>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'analytics' -- Sinu </a:t>
            </a:r>
            <a:r>
              <a:rPr lang="en-GB" sz="1600" dirty="0" err="1"/>
              <a:t>valitud</a:t>
            </a:r>
            <a:r>
              <a:rPr lang="en-GB" sz="1600" dirty="0"/>
              <a:t> </a:t>
            </a:r>
            <a:r>
              <a:rPr lang="en-GB" sz="1600" dirty="0" err="1"/>
              <a:t>skeema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400" dirty="0"/>
          </a:p>
          <a:p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E1B20-CA0C-5324-7E29-01AAEC1CA75B}"/>
              </a:ext>
            </a:extLst>
          </p:cNvPr>
          <p:cNvSpPr txBox="1"/>
          <p:nvPr/>
        </p:nvSpPr>
        <p:spPr>
          <a:xfrm>
            <a:off x="6221711" y="1113990"/>
            <a:ext cx="5377166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/>
          </a:p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analytics. </a:t>
            </a:r>
            <a:r>
              <a:rPr lang="en-GB" sz="1600" dirty="0" err="1"/>
              <a:t>v_view_column_descriptions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'public' -- ASENDATUD: 'analytics' </a:t>
            </a:r>
            <a:r>
              <a:rPr lang="en-GB" sz="1600" dirty="0" err="1"/>
              <a:t>asemel</a:t>
            </a:r>
            <a:r>
              <a:rPr lang="en-GB" sz="1600" dirty="0"/>
              <a:t> on </a:t>
            </a:r>
            <a:r>
              <a:rPr lang="en-GB" sz="1600" dirty="0" err="1"/>
              <a:t>nüüd</a:t>
            </a:r>
            <a:r>
              <a:rPr lang="en-GB" sz="1600" dirty="0"/>
              <a:t> 'public'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426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16043"/>
            <a:ext cx="11044362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, mis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võimaldab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vastata</a:t>
            </a:r>
            <a:endParaRPr lang="en-GB" b="1" dirty="0">
              <a:solidFill>
                <a:schemeClr val="bg1"/>
              </a:solidFill>
              <a:latin typeface="Calibri"/>
            </a:endParaRPr>
          </a:p>
          <a:p>
            <a:pPr algn="ctr">
              <a:spcAft>
                <a:spcPts val="0"/>
              </a:spcAft>
            </a:pPr>
            <a:r>
              <a:rPr lang="et-EE" sz="1800" b="1" dirty="0">
                <a:solidFill>
                  <a:schemeClr val="bg1"/>
                </a:solidFill>
                <a:latin typeface="Calibri"/>
              </a:rPr>
              <a:t> tee mudel, tee töötlus, loo aruanne</a:t>
            </a:r>
            <a:endParaRPr sz="20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4877596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b="0" dirty="0">
                <a:solidFill>
                  <a:srgbClr val="334155"/>
                </a:solidFill>
                <a:latin typeface="Calibri"/>
              </a:rPr>
              <a:t>? (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5957914" y="1935039"/>
            <a:ext cx="487759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tabelite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pealkirjades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visuaalide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loogikat</a:t>
            </a:r>
            <a:r>
              <a:rPr lang="en-GB" dirty="0">
                <a:solidFill>
                  <a:srgbClr val="334155"/>
                </a:solidFill>
              </a:rPr>
              <a:t>.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vis.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mõõdikud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ja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objektid</a:t>
            </a:r>
            <a:r>
              <a:rPr lang="en-GB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</a:rPr>
              <a:t>Tee MEASURES </a:t>
            </a:r>
            <a:r>
              <a:rPr lang="en-GB" dirty="0" err="1">
                <a:solidFill>
                  <a:srgbClr val="334155"/>
                </a:solidFill>
              </a:rPr>
              <a:t>tabel</a:t>
            </a:r>
            <a:r>
              <a:rPr lang="en-GB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Info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info</a:t>
            </a:r>
            <a:endParaRPr lang="en-GB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4892</Words>
  <Application>Microsoft Office PowerPoint</Application>
  <PresentationFormat>Widescreen</PresentationFormat>
  <Paragraphs>593</Paragraphs>
  <Slides>31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Arial</vt:lpstr>
      <vt:lpstr>Calibri</vt:lpstr>
      <vt:lpstr>Consolas</vt:lpstr>
      <vt:lpstr>Courier New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Lõimitud andmekaitse põhimõtted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 BI katsetamine: staatilised rollid NÄITAN</vt:lpstr>
      <vt:lpstr>Power BI katsetamine: staatilised rollid  ISE</vt:lpstr>
      <vt:lpstr>HARJUTUS: arutelu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27</cp:revision>
  <dcterms:created xsi:type="dcterms:W3CDTF">2013-01-27T09:14:16Z</dcterms:created>
  <dcterms:modified xsi:type="dcterms:W3CDTF">2026-09-10T05:52:39Z</dcterms:modified>
  <cp:category/>
</cp:coreProperties>
</file>