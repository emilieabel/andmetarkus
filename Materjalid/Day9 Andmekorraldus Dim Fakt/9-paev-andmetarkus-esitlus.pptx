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417" r:id="rId5"/>
    <p:sldId id="491" r:id="rId6"/>
    <p:sldId id="647" r:id="rId7"/>
    <p:sldId id="499" r:id="rId8"/>
    <p:sldId id="622" r:id="rId9"/>
    <p:sldId id="459" r:id="rId10"/>
    <p:sldId id="656" r:id="rId11"/>
    <p:sldId id="458" r:id="rId12"/>
    <p:sldId id="498" r:id="rId13"/>
    <p:sldId id="455" r:id="rId14"/>
    <p:sldId id="456" r:id="rId15"/>
    <p:sldId id="509" r:id="rId16"/>
    <p:sldId id="562" r:id="rId17"/>
    <p:sldId id="452" r:id="rId18"/>
    <p:sldId id="453" r:id="rId19"/>
    <p:sldId id="454" r:id="rId20"/>
    <p:sldId id="661" r:id="rId21"/>
    <p:sldId id="496" r:id="rId22"/>
    <p:sldId id="662" r:id="rId23"/>
    <p:sldId id="502" r:id="rId24"/>
    <p:sldId id="497" r:id="rId25"/>
    <p:sldId id="561" r:id="rId26"/>
    <p:sldId id="574" r:id="rId27"/>
    <p:sldId id="659" r:id="rId28"/>
    <p:sldId id="660" r:id="rId29"/>
    <p:sldId id="657" r:id="rId30"/>
    <p:sldId id="621" r:id="rId31"/>
    <p:sldId id="658" r:id="rId32"/>
  </p:sldIdLst>
  <p:sldSz cx="12192000" cy="6858000"/>
  <p:notesSz cx="6858000" cy="9144000"/>
  <p:embeddedFontLst>
    <p:embeddedFont>
      <p:font typeface="Inter" panose="020B0604020202020204" charset="0"/>
      <p:regular r:id="rId35"/>
      <p:bold r:id="rId36"/>
      <p:italic r:id="rId37"/>
      <p:boldItalic r:id="rId38"/>
    </p:embeddedFont>
    <p:embeddedFont>
      <p:font typeface="Inter Bold" panose="020B0604020202020204" charset="0"/>
      <p:bold r:id="rId39"/>
    </p:embeddedFont>
    <p:embeddedFont>
      <p:font typeface="Noto Serif" panose="02020600060500020200" pitchFamily="18" charset="0"/>
      <p:regular r:id="rId40"/>
      <p:bold r:id="rId41"/>
      <p:italic r:id="rId42"/>
      <p:boldItalic r:id="rId43"/>
    </p:embeddedFont>
    <p:embeddedFont>
      <p:font typeface="Poppins SemiBold" panose="00000700000000000000" pitchFamily="2" charset="0"/>
      <p:bold r:id="rId44"/>
      <p:boldItalic r:id="rId45"/>
    </p:embeddedFont>
    <p:embeddedFont>
      <p:font typeface="Roboto" panose="02000000000000000000" pitchFamily="2" charset="0"/>
      <p:regular r:id="rId46"/>
      <p:bold r:id="rId47"/>
      <p:italic r:id="rId48"/>
      <p:boldItalic r:id="rId4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70" d="100"/>
          <a:sy n="70" d="100"/>
        </p:scale>
        <p:origin x="516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5.fntdata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10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font" Target="fonts/font14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6.xml"/><Relationship Id="rId41" Type="http://schemas.openxmlformats.org/officeDocument/2006/relationships/font" Target="fonts/font7.fntdata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2.fntdata"/><Relationship Id="rId49" Type="http://schemas.openxmlformats.org/officeDocument/2006/relationships/font" Target="fonts/font1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9:48.415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9:48.415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9:46.855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9:48.415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218FC9-F60E-4273-92D7-0067195C3E9E}" type="doc">
      <dgm:prSet loTypeId="urn:microsoft.com/office/officeart/2005/8/layout/process1" loCatId="process" qsTypeId="urn:microsoft.com/office/officeart/2005/8/quickstyle/simple1#1" qsCatId="simple" csTypeId="urn:microsoft.com/office/officeart/2005/8/colors/accent1_2#1" csCatId="accent1" phldr="1"/>
      <dgm:spPr/>
    </dgm:pt>
    <dgm:pt modelId="{5E990451-973B-4D49-87CD-18891E2F21CD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Raamatupidamissüsteem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</a:t>
          </a:r>
          <a:r>
            <a:rPr lang="et-EE" noProof="0" dirty="0" err="1">
              <a:latin typeface="Inter Bold"/>
            </a:rPr>
            <a:t>invoices_table</a:t>
          </a:r>
          <a:endParaRPr lang="et-EE" noProof="0" dirty="0"/>
        </a:p>
      </dgm:t>
    </dgm:pt>
    <dgm:pt modelId="{741FF6A3-2D04-464D-8644-F248CB34A54D}" type="parTrans" cxnId="{E68C07AD-AB99-452C-B124-EE5B6AB19396}">
      <dgm:prSet/>
      <dgm:spPr/>
    </dgm:pt>
    <dgm:pt modelId="{3F32335E-8EA0-453F-9A73-F8B7968F165E}" type="sibTrans" cxnId="{E68C07AD-AB99-452C-B124-EE5B6AB19396}">
      <dgm:prSet/>
      <dgm:spPr/>
      <dgm:t>
        <a:bodyPr/>
        <a:lstStyle/>
        <a:p>
          <a:endParaRPr lang="et-EE" noProof="0" dirty="0"/>
        </a:p>
      </dgm:t>
    </dgm:pt>
    <dgm:pt modelId="{DB27AF1E-F1CF-4F94-9D1C-CBC1C72C277C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Andmeladu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F_INVOICE</a:t>
          </a:r>
          <a:endParaRPr lang="et-EE" noProof="0" dirty="0"/>
        </a:p>
      </dgm:t>
    </dgm:pt>
    <dgm:pt modelId="{4FFE32DE-0024-41E5-B450-2E747BF3B137}" type="parTrans" cxnId="{1AC0EE84-B358-423C-AD0B-28FEFAB63B8E}">
      <dgm:prSet/>
      <dgm:spPr/>
    </dgm:pt>
    <dgm:pt modelId="{02ED490A-2039-49D0-B625-D6822E4AD28F}" type="sibTrans" cxnId="{1AC0EE84-B358-423C-AD0B-28FEFAB63B8E}">
      <dgm:prSet/>
      <dgm:spPr/>
      <dgm:t>
        <a:bodyPr/>
        <a:lstStyle/>
        <a:p>
          <a:endParaRPr lang="et-EE" noProof="0" dirty="0"/>
        </a:p>
      </dgm:t>
    </dgm:pt>
    <dgm:pt modelId="{BF9CCDDA-0E2C-4B01-A358-098FFDAF6628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Power BI</a:t>
          </a:r>
          <a:br>
            <a:rPr lang="et-EE" noProof="0" dirty="0">
              <a:solidFill>
                <a:srgbClr val="000000"/>
              </a:solidFill>
              <a:latin typeface="Inter Bold"/>
            </a:rPr>
          </a:br>
          <a:r>
            <a:rPr lang="et-EE" noProof="0" dirty="0">
              <a:latin typeface="Inter Bold"/>
            </a:rPr>
            <a:t> - Maksmata arved raport</a:t>
          </a:r>
        </a:p>
      </dgm:t>
    </dgm:pt>
    <dgm:pt modelId="{951C2AE2-C7F7-408D-AD34-2F7C58B38075}" type="parTrans" cxnId="{B2CDEF6F-88C9-4FDE-ACB0-64854B46C725}">
      <dgm:prSet/>
      <dgm:spPr/>
    </dgm:pt>
    <dgm:pt modelId="{EB260C4F-1CE4-4A1E-A75A-E98638C0BD70}" type="sibTrans" cxnId="{B2CDEF6F-88C9-4FDE-ACB0-64854B46C725}">
      <dgm:prSet/>
      <dgm:spPr/>
      <dgm:t>
        <a:bodyPr/>
        <a:lstStyle/>
        <a:p>
          <a:endParaRPr lang="en-US"/>
        </a:p>
      </dgm:t>
    </dgm:pt>
    <dgm:pt modelId="{21713F31-066B-4FB8-AD85-A95361CE3585}" type="pres">
      <dgm:prSet presAssocID="{F6218FC9-F60E-4273-92D7-0067195C3E9E}" presName="Name0" presStyleCnt="0">
        <dgm:presLayoutVars>
          <dgm:dir/>
          <dgm:resizeHandles val="exact"/>
        </dgm:presLayoutVars>
      </dgm:prSet>
      <dgm:spPr/>
    </dgm:pt>
    <dgm:pt modelId="{34F93E54-8D04-4F63-AED9-D39D2B56BA78}" type="pres">
      <dgm:prSet presAssocID="{5E990451-973B-4D49-87CD-18891E2F21CD}" presName="node" presStyleLbl="node1" presStyleIdx="0" presStyleCnt="3">
        <dgm:presLayoutVars>
          <dgm:bulletEnabled val="1"/>
        </dgm:presLayoutVars>
      </dgm:prSet>
      <dgm:spPr/>
    </dgm:pt>
    <dgm:pt modelId="{04CC52EE-90DC-48E7-B1EE-805C9ED26BA9}" type="pres">
      <dgm:prSet presAssocID="{3F32335E-8EA0-453F-9A73-F8B7968F165E}" presName="sibTrans" presStyleLbl="sibTrans2D1" presStyleIdx="0" presStyleCnt="2"/>
      <dgm:spPr/>
    </dgm:pt>
    <dgm:pt modelId="{C9A46B45-1AB4-4D46-B35C-333CFD984B3F}" type="pres">
      <dgm:prSet presAssocID="{3F32335E-8EA0-453F-9A73-F8B7968F165E}" presName="connectorText" presStyleLbl="sibTrans2D1" presStyleIdx="0" presStyleCnt="2"/>
      <dgm:spPr/>
    </dgm:pt>
    <dgm:pt modelId="{C24F7B8C-A393-48CA-8023-259A1D20EADB}" type="pres">
      <dgm:prSet presAssocID="{DB27AF1E-F1CF-4F94-9D1C-CBC1C72C277C}" presName="node" presStyleLbl="node1" presStyleIdx="1" presStyleCnt="3">
        <dgm:presLayoutVars>
          <dgm:bulletEnabled val="1"/>
        </dgm:presLayoutVars>
      </dgm:prSet>
      <dgm:spPr/>
    </dgm:pt>
    <dgm:pt modelId="{17A69E49-C4A7-491F-A317-97C44A9E6CFA}" type="pres">
      <dgm:prSet presAssocID="{02ED490A-2039-49D0-B625-D6822E4AD28F}" presName="sibTrans" presStyleLbl="sibTrans2D1" presStyleIdx="1" presStyleCnt="2"/>
      <dgm:spPr/>
    </dgm:pt>
    <dgm:pt modelId="{A78116A7-B536-464E-BD89-654E0AC64620}" type="pres">
      <dgm:prSet presAssocID="{02ED490A-2039-49D0-B625-D6822E4AD28F}" presName="connectorText" presStyleLbl="sibTrans2D1" presStyleIdx="1" presStyleCnt="2"/>
      <dgm:spPr/>
    </dgm:pt>
    <dgm:pt modelId="{B477CCF7-DD9C-4569-9A05-E5234CC8F5D9}" type="pres">
      <dgm:prSet presAssocID="{BF9CCDDA-0E2C-4B01-A358-098FFDAF6628}" presName="node" presStyleLbl="node1" presStyleIdx="2" presStyleCnt="3">
        <dgm:presLayoutVars>
          <dgm:bulletEnabled val="1"/>
        </dgm:presLayoutVars>
      </dgm:prSet>
      <dgm:spPr/>
    </dgm:pt>
  </dgm:ptLst>
  <dgm:cxnLst>
    <dgm:cxn modelId="{F0168900-714A-4437-81D0-ADC7CE81BF28}" type="presOf" srcId="{02ED490A-2039-49D0-B625-D6822E4AD28F}" destId="{17A69E49-C4A7-491F-A317-97C44A9E6CFA}" srcOrd="0" destOrd="0" presId="urn:microsoft.com/office/officeart/2005/8/layout/process1"/>
    <dgm:cxn modelId="{9855C405-468A-4947-A5F8-D2D3882E7B3C}" type="presOf" srcId="{BF9CCDDA-0E2C-4B01-A358-098FFDAF6628}" destId="{B477CCF7-DD9C-4569-9A05-E5234CC8F5D9}" srcOrd="0" destOrd="0" presId="urn:microsoft.com/office/officeart/2005/8/layout/process1"/>
    <dgm:cxn modelId="{57DAA842-4476-482F-A6D8-6A70EBAD1180}" type="presOf" srcId="{5E990451-973B-4D49-87CD-18891E2F21CD}" destId="{34F93E54-8D04-4F63-AED9-D39D2B56BA78}" srcOrd="0" destOrd="0" presId="urn:microsoft.com/office/officeart/2005/8/layout/process1"/>
    <dgm:cxn modelId="{BF174769-7130-44A3-BF08-7F42B4938AA7}" type="presOf" srcId="{DB27AF1E-F1CF-4F94-9D1C-CBC1C72C277C}" destId="{C24F7B8C-A393-48CA-8023-259A1D20EADB}" srcOrd="0" destOrd="0" presId="urn:microsoft.com/office/officeart/2005/8/layout/process1"/>
    <dgm:cxn modelId="{B2CDEF6F-88C9-4FDE-ACB0-64854B46C725}" srcId="{F6218FC9-F60E-4273-92D7-0067195C3E9E}" destId="{BF9CCDDA-0E2C-4B01-A358-098FFDAF6628}" srcOrd="2" destOrd="0" parTransId="{951C2AE2-C7F7-408D-AD34-2F7C58B38075}" sibTransId="{EB260C4F-1CE4-4A1E-A75A-E98638C0BD70}"/>
    <dgm:cxn modelId="{18303084-9BD4-4150-8947-53CFAA5885CF}" type="presOf" srcId="{F6218FC9-F60E-4273-92D7-0067195C3E9E}" destId="{21713F31-066B-4FB8-AD85-A95361CE3585}" srcOrd="0" destOrd="0" presId="urn:microsoft.com/office/officeart/2005/8/layout/process1"/>
    <dgm:cxn modelId="{1AC0EE84-B358-423C-AD0B-28FEFAB63B8E}" srcId="{F6218FC9-F60E-4273-92D7-0067195C3E9E}" destId="{DB27AF1E-F1CF-4F94-9D1C-CBC1C72C277C}" srcOrd="1" destOrd="0" parTransId="{4FFE32DE-0024-41E5-B450-2E747BF3B137}" sibTransId="{02ED490A-2039-49D0-B625-D6822E4AD28F}"/>
    <dgm:cxn modelId="{A5FBFC85-7A0C-4CBA-BDFA-E9B88752FCB3}" type="presOf" srcId="{02ED490A-2039-49D0-B625-D6822E4AD28F}" destId="{A78116A7-B536-464E-BD89-654E0AC64620}" srcOrd="1" destOrd="0" presId="urn:microsoft.com/office/officeart/2005/8/layout/process1"/>
    <dgm:cxn modelId="{62ABDC96-AA68-4138-BF7F-553EE5A19C65}" type="presOf" srcId="{3F32335E-8EA0-453F-9A73-F8B7968F165E}" destId="{C9A46B45-1AB4-4D46-B35C-333CFD984B3F}" srcOrd="1" destOrd="0" presId="urn:microsoft.com/office/officeart/2005/8/layout/process1"/>
    <dgm:cxn modelId="{E68C07AD-AB99-452C-B124-EE5B6AB19396}" srcId="{F6218FC9-F60E-4273-92D7-0067195C3E9E}" destId="{5E990451-973B-4D49-87CD-18891E2F21CD}" srcOrd="0" destOrd="0" parTransId="{741FF6A3-2D04-464D-8644-F248CB34A54D}" sibTransId="{3F32335E-8EA0-453F-9A73-F8B7968F165E}"/>
    <dgm:cxn modelId="{2AA54ED2-5817-4374-A679-86C1E3B4A631}" type="presOf" srcId="{3F32335E-8EA0-453F-9A73-F8B7968F165E}" destId="{04CC52EE-90DC-48E7-B1EE-805C9ED26BA9}" srcOrd="0" destOrd="0" presId="urn:microsoft.com/office/officeart/2005/8/layout/process1"/>
    <dgm:cxn modelId="{22D71225-FF1F-4E2C-829E-9285E2C85EFB}" type="presParOf" srcId="{21713F31-066B-4FB8-AD85-A95361CE3585}" destId="{34F93E54-8D04-4F63-AED9-D39D2B56BA78}" srcOrd="0" destOrd="0" presId="urn:microsoft.com/office/officeart/2005/8/layout/process1"/>
    <dgm:cxn modelId="{22EC9D34-77D3-4C09-AFF1-A8B7B32B8EAB}" type="presParOf" srcId="{21713F31-066B-4FB8-AD85-A95361CE3585}" destId="{04CC52EE-90DC-48E7-B1EE-805C9ED26BA9}" srcOrd="1" destOrd="0" presId="urn:microsoft.com/office/officeart/2005/8/layout/process1"/>
    <dgm:cxn modelId="{105CEAD6-34DD-45B9-BAF7-D722080DEA52}" type="presParOf" srcId="{04CC52EE-90DC-48E7-B1EE-805C9ED26BA9}" destId="{C9A46B45-1AB4-4D46-B35C-333CFD984B3F}" srcOrd="0" destOrd="0" presId="urn:microsoft.com/office/officeart/2005/8/layout/process1"/>
    <dgm:cxn modelId="{520C2C94-9DDA-4060-8534-E0B2EA19CD09}" type="presParOf" srcId="{21713F31-066B-4FB8-AD85-A95361CE3585}" destId="{C24F7B8C-A393-48CA-8023-259A1D20EADB}" srcOrd="2" destOrd="0" presId="urn:microsoft.com/office/officeart/2005/8/layout/process1"/>
    <dgm:cxn modelId="{65E5ECBF-638E-4459-8426-468C2C748B3C}" type="presParOf" srcId="{21713F31-066B-4FB8-AD85-A95361CE3585}" destId="{17A69E49-C4A7-491F-A317-97C44A9E6CFA}" srcOrd="3" destOrd="0" presId="urn:microsoft.com/office/officeart/2005/8/layout/process1"/>
    <dgm:cxn modelId="{EE155F95-C463-400F-A0F3-2F21CA10F173}" type="presParOf" srcId="{17A69E49-C4A7-491F-A317-97C44A9E6CFA}" destId="{A78116A7-B536-464E-BD89-654E0AC64620}" srcOrd="0" destOrd="0" presId="urn:microsoft.com/office/officeart/2005/8/layout/process1"/>
    <dgm:cxn modelId="{CA9BEFC2-ED72-4C78-8C14-252CDC511CCA}" type="presParOf" srcId="{21713F31-066B-4FB8-AD85-A95361CE3585}" destId="{B477CCF7-DD9C-4569-9A05-E5234CC8F5D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F93E54-8D04-4F63-AED9-D39D2B56BA78}">
      <dsp:nvSpPr>
        <dsp:cNvPr id="0" name=""/>
        <dsp:cNvSpPr/>
      </dsp:nvSpPr>
      <dsp:spPr>
        <a:xfrm>
          <a:off x="8391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Raamatupidamissüsteem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</a:t>
          </a:r>
          <a:r>
            <a:rPr lang="et-EE" sz="1400" kern="1200" noProof="0" dirty="0" err="1">
              <a:latin typeface="Inter Bold"/>
            </a:rPr>
            <a:t>invoices_table</a:t>
          </a:r>
          <a:endParaRPr lang="et-EE" sz="1400" kern="1200" noProof="0" dirty="0"/>
        </a:p>
      </dsp:txBody>
      <dsp:txXfrm>
        <a:off x="52466" y="1528351"/>
        <a:ext cx="2419910" cy="1416686"/>
      </dsp:txXfrm>
    </dsp:sp>
    <dsp:sp modelId="{04CC52EE-90DC-48E7-B1EE-805C9ED26BA9}">
      <dsp:nvSpPr>
        <dsp:cNvPr id="0" name=""/>
        <dsp:cNvSpPr/>
      </dsp:nvSpPr>
      <dsp:spPr>
        <a:xfrm>
          <a:off x="2767257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2767257" y="2050095"/>
        <a:ext cx="372196" cy="373198"/>
      </dsp:txXfrm>
    </dsp:sp>
    <dsp:sp modelId="{C24F7B8C-A393-48CA-8023-259A1D20EADB}">
      <dsp:nvSpPr>
        <dsp:cNvPr id="0" name=""/>
        <dsp:cNvSpPr/>
      </dsp:nvSpPr>
      <dsp:spPr>
        <a:xfrm>
          <a:off x="3519675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Andmeladu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F_INVOICE</a:t>
          </a:r>
          <a:endParaRPr lang="et-EE" sz="1400" kern="1200" noProof="0" dirty="0"/>
        </a:p>
      </dsp:txBody>
      <dsp:txXfrm>
        <a:off x="3563750" y="1528351"/>
        <a:ext cx="2419910" cy="1416686"/>
      </dsp:txXfrm>
    </dsp:sp>
    <dsp:sp modelId="{17A69E49-C4A7-491F-A317-97C44A9E6CFA}">
      <dsp:nvSpPr>
        <dsp:cNvPr id="0" name=""/>
        <dsp:cNvSpPr/>
      </dsp:nvSpPr>
      <dsp:spPr>
        <a:xfrm>
          <a:off x="6278541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6278541" y="2050095"/>
        <a:ext cx="372196" cy="373198"/>
      </dsp:txXfrm>
    </dsp:sp>
    <dsp:sp modelId="{B477CCF7-DD9C-4569-9A05-E5234CC8F5D9}">
      <dsp:nvSpPr>
        <dsp:cNvPr id="0" name=""/>
        <dsp:cNvSpPr/>
      </dsp:nvSpPr>
      <dsp:spPr>
        <a:xfrm>
          <a:off x="7030959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Power BI</a:t>
          </a:r>
          <a:br>
            <a:rPr lang="et-EE" sz="1400" kern="1200" noProof="0" dirty="0">
              <a:solidFill>
                <a:srgbClr val="000000"/>
              </a:solidFill>
              <a:latin typeface="Inter Bold"/>
            </a:rPr>
          </a:br>
          <a:r>
            <a:rPr lang="et-EE" sz="1400" kern="1200" noProof="0" dirty="0">
              <a:latin typeface="Inter Bold"/>
            </a:rPr>
            <a:t> - Maksmata arved raport</a:t>
          </a:r>
        </a:p>
      </dsp:txBody>
      <dsp:txXfrm>
        <a:off x="7075034" y="1528351"/>
        <a:ext cx="2419910" cy="14166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ettevõttel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andmetest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väärtust</a:t>
            </a:r>
            <a:r>
              <a:rPr lang="en-US" dirty="0">
                <a:ea typeface="Calibri"/>
                <a:cs typeface="Calibri"/>
              </a:rPr>
              <a:t>.  </a:t>
            </a:r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koosneb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mitmetest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sammudest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05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6825-75D2-4247-1841-CB84FECF8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7DAE8-409F-6D39-848A-1D04D0204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E45DB-E530-648F-C76E-1E5ABCCC5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Kas </a:t>
            </a:r>
            <a:r>
              <a:rPr lang="en-US" dirty="0" err="1">
                <a:ea typeface="Calibri"/>
                <a:cs typeface="Calibri"/>
              </a:rPr>
              <a:t>tead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kes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organisatsioonis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rolle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täidavad</a:t>
            </a:r>
            <a:r>
              <a:rPr lang="en-US" dirty="0">
                <a:ea typeface="Calibri"/>
                <a:cs typeface="Calibri"/>
              </a:rPr>
              <a:t>? Mis </a:t>
            </a:r>
            <a:r>
              <a:rPr lang="en-US" dirty="0" err="1">
                <a:ea typeface="Calibri"/>
                <a:cs typeface="Calibri"/>
              </a:rPr>
              <a:t>rolli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sina</a:t>
            </a:r>
            <a:r>
              <a:rPr lang="en-US" dirty="0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1328-4620-63C0-F52E-35E53441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68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FAIR </a:t>
            </a:r>
            <a:r>
              <a:rPr lang="en-US" err="1">
                <a:ea typeface="Calibri"/>
                <a:cs typeface="Calibri"/>
              </a:rPr>
              <a:t>põhimõtted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Esiteks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leitavad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kirjeldada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kus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talletatakse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Teiseks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kättesaadavad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õigetele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inimestele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rakendama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juurdepääsu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reeglid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Kolmandaks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taaskasutatavad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lepitud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selgelt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dokumenteeritud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eesmärgil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vorm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Neljandaks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ühilduvad</a:t>
            </a:r>
            <a:r>
              <a:rPr lang="en-US">
                <a:ea typeface="Calibri"/>
                <a:cs typeface="Calibri"/>
              </a:rPr>
              <a:t> - see </a:t>
            </a:r>
            <a:r>
              <a:rPr lang="en-US" err="1">
                <a:ea typeface="Calibri"/>
                <a:cs typeface="Calibri"/>
              </a:rPr>
              <a:t>tähendab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kogutud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ühendada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andmetega</a:t>
            </a:r>
            <a:r>
              <a:rPr lang="en-US">
                <a:ea typeface="Calibri"/>
                <a:cs typeface="Calibri"/>
              </a:rPr>
              <a:t>. Selleks on </a:t>
            </a:r>
            <a:r>
              <a:rPr lang="en-US" err="1">
                <a:ea typeface="Calibri"/>
                <a:cs typeface="Calibri"/>
              </a:rPr>
              <a:t>oluline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failivorminguid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ühtlustada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terminite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kasutus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93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5005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03.09.2026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.ee/et/statistikaamet/andmehaldus/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66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draw.io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tutorialjinni.com/entity-relationship-diagram-erd-for-point-of-sale-system-pos.html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enrol/index.php?id=65" TargetMode="External"/><Relationship Id="rId2" Type="http://schemas.openxmlformats.org/officeDocument/2006/relationships/hyperlink" Target="https://stat.ee/et/statistikaamet/andmehaldus" TargetMode="Externa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ev.to/pachicodes/tips-to-use-github-as-your-portfolio-4kb2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>
                <a:ea typeface="Inter"/>
              </a:rPr>
              <a:t>Emilie Abel</a:t>
            </a:r>
            <a:endParaRPr lang="et-EE" noProof="0" dirty="0"/>
          </a:p>
          <a:p>
            <a:r>
              <a:rPr lang="en-GB" noProof="0" dirty="0">
                <a:ea typeface="Inter"/>
              </a:rPr>
              <a:t>eilime@live.com</a:t>
            </a:r>
            <a:endParaRPr lang="et-EE" noProof="0" dirty="0">
              <a:ea typeface="Inter"/>
            </a:endParaRP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9E33E-6A96-97D5-307C-F2922F0D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E7CB-D025-5C37-DDED-83BAF2B56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IX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EAD0368-D5F4-A2D8-4857-3146CC68212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542064102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Andmekorraldus ja andmehaldus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Andmete kirjeldamine ja andmemudel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Portfoolio täiendamine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12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489B-9CF9-9460-4D66-44EEAFD3DA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noProof="0" dirty="0"/>
              <a:t>Andmetest teabe kätte saamine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6BFE79-28E9-BF3C-B1BA-9463C5006C35}"/>
              </a:ext>
            </a:extLst>
          </p:cNvPr>
          <p:cNvSpPr/>
          <p:nvPr/>
        </p:nvSpPr>
        <p:spPr>
          <a:xfrm>
            <a:off x="3405605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Andmete </a:t>
            </a:r>
            <a:br>
              <a:rPr lang="et-EE" noProof="0" dirty="0">
                <a:ea typeface="Inter"/>
              </a:rPr>
            </a:br>
            <a:r>
              <a:rPr lang="et-EE" noProof="0" dirty="0">
                <a:ea typeface="Inter"/>
              </a:rPr>
              <a:t>kirjeldused</a:t>
            </a:r>
            <a:endParaRPr lang="et-EE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862407F-6B02-E42F-5913-A797FD3255BE}"/>
              </a:ext>
            </a:extLst>
          </p:cNvPr>
          <p:cNvSpPr/>
          <p:nvPr/>
        </p:nvSpPr>
        <p:spPr>
          <a:xfrm>
            <a:off x="5711143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Andmekvaliteet</a:t>
            </a:r>
            <a:endParaRPr lang="et-EE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9E29BB-9212-3D21-4730-919E552492B7}"/>
              </a:ext>
            </a:extLst>
          </p:cNvPr>
          <p:cNvSpPr/>
          <p:nvPr/>
        </p:nvSpPr>
        <p:spPr>
          <a:xfrm>
            <a:off x="4450912" y="3252895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Andmete mõistmine</a:t>
            </a:r>
            <a:endParaRPr lang="et-EE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6484DF-D2D2-FCC4-628F-F98E1900A2D7}"/>
              </a:ext>
            </a:extLst>
          </p:cNvPr>
          <p:cNvSpPr/>
          <p:nvPr/>
        </p:nvSpPr>
        <p:spPr>
          <a:xfrm>
            <a:off x="5153526" y="2881667"/>
            <a:ext cx="1356894" cy="109004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Teave</a:t>
            </a: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56980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B881-04EF-663F-DDA6-5A9BACFA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7ED1-B1D5-3DF3-7DCE-31C037794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ja –halduse eesmärgid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31CC0-FF96-CB18-76A7-CC64FF3E5A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Organisatsiooni tegevusvaldkond, mis võimaldab hallata andmeid varana.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Eesmärk tagada, et andmed oleksid kirjeldatud, kättesaadavad ja kvaliteetsed.</a:t>
            </a:r>
            <a:endParaRPr lang="et-EE" sz="2000" noProof="0" dirty="0">
              <a:solidFill>
                <a:srgbClr val="000000"/>
              </a:solidFill>
              <a:latin typeface="Inter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Võimaldab: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kvaliteetsete andmepõhiste otsuste tegemist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andmepõhiste teenuste (nt vanemahüvitis lapse sünnil) pakkumist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andmete ristkasutust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muuta asutuse tööprotsessi sujuvamaks;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kaitsta andmetega seotud sidusrühmade vajadusi;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edendada juhtkonna ja töötajate seas ühtset lähenemisviisi andmetele;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vähendada valdkonna koordineerimise kaudu kulusid ja tõsta efektiivsust;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tagada andmekasutuse läbipaistvuse.</a:t>
            </a:r>
            <a:endParaRPr lang="et-EE" sz="1800" noProof="0" dirty="0"/>
          </a:p>
          <a:p>
            <a:pPr marL="457200" lvl="1" indent="0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r>
              <a:rPr lang="et-EE" noProof="0" dirty="0">
                <a:solidFill>
                  <a:srgbClr val="000000"/>
                </a:solidFill>
                <a:ea typeface="Inter"/>
                <a:cs typeface="Roboto"/>
              </a:rPr>
              <a:t>Allikas: Statistikaamet: 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https://stat.ee/et/statistikaamet/andmehaldus/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solidFill>
                <a:srgbClr val="000000"/>
              </a:solidFill>
              <a:ea typeface="Roboto"/>
              <a:cs typeface="Roboto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1800" noProof="0" dirty="0">
              <a:solidFill>
                <a:srgbClr val="000000"/>
              </a:solidFill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0048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B4B1-9527-1475-535E-9F9EA27407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 ja andmehaldus</a:t>
            </a:r>
          </a:p>
        </p:txBody>
      </p:sp>
      <p:pic>
        <p:nvPicPr>
          <p:cNvPr id="10" name="Content Placeholder 9" descr="Blueprint outline">
            <a:extLst>
              <a:ext uri="{FF2B5EF4-FFF2-40B4-BE49-F238E27FC236}">
                <a16:creationId xmlns:a16="http://schemas.microsoft.com/office/drawing/2014/main" id="{C8B62139-0000-D61B-C1B7-97DBD9F05D5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9569" y="1573772"/>
            <a:ext cx="2525010" cy="2525010"/>
          </a:xfr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57DF53-2FF4-0068-E057-802D2289EA59}"/>
              </a:ext>
            </a:extLst>
          </p:cNvPr>
          <p:cNvCxnSpPr/>
          <p:nvPr/>
        </p:nvCxnSpPr>
        <p:spPr>
          <a:xfrm>
            <a:off x="5166360" y="2847058"/>
            <a:ext cx="150876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ilding Brick Wall outline">
            <a:extLst>
              <a:ext uri="{FF2B5EF4-FFF2-40B4-BE49-F238E27FC236}">
                <a16:creationId xmlns:a16="http://schemas.microsoft.com/office/drawing/2014/main" id="{5FEB7CC5-DEC7-7634-5C55-7BEDD4F2D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8624" y="1665845"/>
            <a:ext cx="2340863" cy="23408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E5A3B15-F89C-BAD3-D814-45021695EAA4}"/>
              </a:ext>
            </a:extLst>
          </p:cNvPr>
          <p:cNvSpPr txBox="1"/>
          <p:nvPr/>
        </p:nvSpPr>
        <p:spPr>
          <a:xfrm>
            <a:off x="1757813" y="4006708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Andmekorraldus = </a:t>
            </a:r>
            <a:br>
              <a:rPr lang="et-EE" noProof="0" dirty="0"/>
            </a:br>
            <a:r>
              <a:rPr lang="et-EE" noProof="0" dirty="0"/>
              <a:t>plaan ja protsessid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16AF46-3745-C210-FEEB-DA3F5D4A883D}"/>
              </a:ext>
            </a:extLst>
          </p:cNvPr>
          <p:cNvSpPr txBox="1"/>
          <p:nvPr/>
        </p:nvSpPr>
        <p:spPr>
          <a:xfrm>
            <a:off x="7109459" y="4006708"/>
            <a:ext cx="2679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Andmehaldus = </a:t>
            </a:r>
            <a:br>
              <a:rPr lang="et-EE" noProof="0" dirty="0"/>
            </a:br>
            <a:r>
              <a:rPr lang="et-EE" noProof="0" dirty="0"/>
              <a:t>tegevused plaani ellu viimiseks</a:t>
            </a:r>
          </a:p>
        </p:txBody>
      </p:sp>
    </p:spTree>
    <p:extLst>
      <p:ext uri="{BB962C8B-B14F-4D97-AF65-F5344CB8AC3E}">
        <p14:creationId xmlns:p14="http://schemas.microsoft.com/office/powerpoint/2010/main" val="2424721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78A6-F6C6-4747-6988-FDD1E9E5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6CD75-E3B6-B11F-4635-7DC822D17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osad</a:t>
            </a:r>
          </a:p>
        </p:txBody>
      </p:sp>
      <p:pic>
        <p:nvPicPr>
          <p:cNvPr id="4" name="Content Placeholder 3" descr="A diagram of a company&#10;&#10;AI-generated content may be incorrect.">
            <a:extLst>
              <a:ext uri="{FF2B5EF4-FFF2-40B4-BE49-F238E27FC236}">
                <a16:creationId xmlns:a16="http://schemas.microsoft.com/office/drawing/2014/main" id="{A6D5A3E4-D391-BE8E-76B2-827A40B7A7E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028035" y="982596"/>
            <a:ext cx="4726759" cy="49141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FB843-B90D-7AE8-0C1E-274865E9BE47}"/>
              </a:ext>
            </a:extLst>
          </p:cNvPr>
          <p:cNvSpPr txBox="1"/>
          <p:nvPr/>
        </p:nvSpPr>
        <p:spPr>
          <a:xfrm>
            <a:off x="3129881" y="5895186"/>
            <a:ext cx="7644089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600" noProof="0" dirty="0">
                <a:ea typeface="Inter"/>
              </a:rPr>
              <a:t>Allikas: </a:t>
            </a:r>
            <a:r>
              <a:rPr lang="et-EE" sz="1600" noProof="0" dirty="0">
                <a:ea typeface="+mn-lt"/>
                <a:cs typeface="+mn-lt"/>
              </a:rPr>
              <a:t>Kuldar Aas, Justiits- ja Digiministeerium, Andmehalduse programm</a:t>
            </a:r>
            <a:endParaRPr lang="et-EE" sz="1600" noProof="0" dirty="0"/>
          </a:p>
          <a:p>
            <a:endParaRPr lang="et-EE" noProof="0" dirty="0"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74531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182FB-2F15-9946-71BB-F91963A64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40EC-1C23-818C-D76D-D5CC7A7F72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520" y="225570"/>
            <a:ext cx="10044112" cy="357043"/>
          </a:xfrm>
        </p:spPr>
        <p:txBody>
          <a:bodyPr/>
          <a:lstStyle/>
          <a:p>
            <a:r>
              <a:rPr lang="et-EE" sz="2400" b="1" noProof="0" dirty="0"/>
              <a:t>Andmehaldusega seotud rollid ja ülesanded - HTM näide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6135F-15E1-B214-D752-4B4089E62679}"/>
              </a:ext>
            </a:extLst>
          </p:cNvPr>
          <p:cNvSpPr txBox="1"/>
          <p:nvPr/>
        </p:nvSpPr>
        <p:spPr>
          <a:xfrm>
            <a:off x="1061172" y="6077311"/>
            <a:ext cx="992646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Allikas: </a:t>
            </a:r>
            <a:r>
              <a:rPr lang="et-EE" noProof="0" dirty="0">
                <a:ea typeface="+mn-lt"/>
                <a:cs typeface="+mn-lt"/>
              </a:rPr>
              <a:t>Haridus- ja Teadusministeeriumi andmehalduse raamistik (2024. a versioon)</a:t>
            </a: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6D44E0D5-1EE7-E9CE-C008-FC56F4A63834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5501208"/>
              </p:ext>
            </p:extLst>
          </p:nvPr>
        </p:nvGraphicFramePr>
        <p:xfrm>
          <a:off x="613862" y="977650"/>
          <a:ext cx="11211792" cy="44348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005263">
                  <a:extLst>
                    <a:ext uri="{9D8B030D-6E8A-4147-A177-3AD203B41FA5}">
                      <a16:colId xmlns:a16="http://schemas.microsoft.com/office/drawing/2014/main" val="972384812"/>
                    </a:ext>
                  </a:extLst>
                </a:gridCol>
                <a:gridCol w="9206529">
                  <a:extLst>
                    <a:ext uri="{9D8B030D-6E8A-4147-A177-3AD203B41FA5}">
                      <a16:colId xmlns:a16="http://schemas.microsoft.com/office/drawing/2014/main" val="214773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Roll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Põhiülesanded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9295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sponsor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Kinnitab andmehalduse strateegia, prioriteedid ja tegevusplaanid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Määrab andmehalduse juhi ja andmeomanikud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Suunab vajaduse korral ümber ressursse või muudab töökorraldust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3236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juht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andmehalduse strateegia ja protsesside olemasolu ja ajakohasuse eest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Koolitab andmehaldureid ja andmeomanikke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Teeb ettepanekuid töökorralduse muutmiseks, eelarve juhtimiseks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220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Andmeomanik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oma valdkonna tööks vajalikest andmetest ja nende kvaliteedist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Tagab andmeandjale piisava toe andmete sisestamisel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508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Andmeanalüütik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Puhastab, töötleb, esitleb ja tõlgendab andmeid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valdkonna tööks vajalike andmete paiknemisest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1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Rakendab andmekvaliteedi reeglid ning viib läbi andmekvaliteedi seiret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u="none" strike="noStrike" noProof="0" dirty="0">
                          <a:solidFill>
                            <a:srgbClr val="121212"/>
                          </a:solidFill>
                        </a:rPr>
                        <a:t>Tellib andmekvaliteedi probleemide lahendamiseks vajalikud arendused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01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Andmeandja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Edastab või tagab andmete sisestamise infosüsteemidesse, andmekogudesse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enda poolt sisestatud, muudetud ja jagatavate andmete õigsuse eest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6725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57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57E3-DC27-D0D9-3806-9CF13BE0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09B3-7FAE-491E-F632-107E9BEF8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DFD8-5D97-11AA-F254-89CB1F727F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"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Andmed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väärtuslikud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neist on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kasu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, kui nad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mõistetavad, taaskasutatavad ja leitavad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 Selle jaoks on suur roll andmekirjeldusel, mille käigus tuleb andmed kirjeldada ära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kvaliteetselt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 kõigile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üheselt mõistetavalt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." 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(Kursus „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Andmekirjelduse loomine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, www.digiriigiakadeemia.ee")</a:t>
            </a:r>
            <a:endParaRPr lang="et-EE" sz="18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68596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A9AA-7FC9-EB58-1478-85637852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76E1A-6DB3-9248-E8A0-C56FC5FBB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/>
              <a:t>FAIR põhimõtted</a:t>
            </a:r>
            <a:endParaRPr lang="et-EE" noProof="0" dirty="0"/>
          </a:p>
        </p:txBody>
      </p:sp>
      <p:pic>
        <p:nvPicPr>
          <p:cNvPr id="6" name="Content Placeholder 5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8A88CCAA-2057-7AA4-2C4E-26D8CB68EBF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3621756" y="1201973"/>
            <a:ext cx="6055977" cy="455841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A36189-7B2E-0F2F-0BB4-7FFE0EB87904}"/>
              </a:ext>
            </a:extLst>
          </p:cNvPr>
          <p:cNvSpPr txBox="1"/>
          <p:nvPr/>
        </p:nvSpPr>
        <p:spPr>
          <a:xfrm>
            <a:off x="3669631" y="5905499"/>
            <a:ext cx="59556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t-EE" sz="1400" noProof="0" dirty="0">
                <a:ea typeface="Inter"/>
              </a:rPr>
              <a:t>Allikas: Statistikaamet</a:t>
            </a:r>
          </a:p>
        </p:txBody>
      </p:sp>
    </p:spTree>
    <p:extLst>
      <p:ext uri="{BB962C8B-B14F-4D97-AF65-F5344CB8AC3E}">
        <p14:creationId xmlns:p14="http://schemas.microsoft.com/office/powerpoint/2010/main" val="1892651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6B716-2EFF-3A4C-AC10-9210B86D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DE2C-A918-B467-39CC-0CA615231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Ärisõnastik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AAA2-C000-7AE3-A32A-B4655669206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Äriliselt olulised mõisted lahti kirjeldatud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endParaRPr lang="et-EE" sz="2000" noProof="0" dirty="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Inter"/>
              </a:rPr>
              <a:t>Näiteks e-poe müükide ärisõnastik: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Klient – ostu sooritanud isik või firma, unikaalsus emaili alusel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Müük - toote ost, unikaalsus klient, aeg ja toode</a:t>
            </a:r>
          </a:p>
        </p:txBody>
      </p:sp>
    </p:spTree>
    <p:extLst>
      <p:ext uri="{BB962C8B-B14F-4D97-AF65-F5344CB8AC3E}">
        <p14:creationId xmlns:p14="http://schemas.microsoft.com/office/powerpoint/2010/main" val="2153243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F3B90-5C53-DDA3-CF1D-4DEC4838A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FE9D-12DB-C358-5029-80F5162E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2CC2-0EA9-D1A6-4021-7E9D6B5132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Kirjeldab andmed ja seob need organisatsioonis kasutavate mõistetega.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E4B4BA-894E-911D-BC2B-DA4930256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544032"/>
              </p:ext>
            </p:extLst>
          </p:nvPr>
        </p:nvGraphicFramePr>
        <p:xfrm>
          <a:off x="894488" y="1926590"/>
          <a:ext cx="10403000" cy="4070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3484">
                  <a:extLst>
                    <a:ext uri="{9D8B030D-6E8A-4147-A177-3AD203B41FA5}">
                      <a16:colId xmlns:a16="http://schemas.microsoft.com/office/drawing/2014/main" val="266816868"/>
                    </a:ext>
                  </a:extLst>
                </a:gridCol>
                <a:gridCol w="764928">
                  <a:extLst>
                    <a:ext uri="{9D8B030D-6E8A-4147-A177-3AD203B41FA5}">
                      <a16:colId xmlns:a16="http://schemas.microsoft.com/office/drawing/2014/main" val="751859032"/>
                    </a:ext>
                  </a:extLst>
                </a:gridCol>
                <a:gridCol w="991585">
                  <a:extLst>
                    <a:ext uri="{9D8B030D-6E8A-4147-A177-3AD203B41FA5}">
                      <a16:colId xmlns:a16="http://schemas.microsoft.com/office/drawing/2014/main" val="3516754472"/>
                    </a:ext>
                  </a:extLst>
                </a:gridCol>
                <a:gridCol w="1151792">
                  <a:extLst>
                    <a:ext uri="{9D8B030D-6E8A-4147-A177-3AD203B41FA5}">
                      <a16:colId xmlns:a16="http://schemas.microsoft.com/office/drawing/2014/main" val="470084086"/>
                    </a:ext>
                  </a:extLst>
                </a:gridCol>
                <a:gridCol w="1269058">
                  <a:extLst>
                    <a:ext uri="{9D8B030D-6E8A-4147-A177-3AD203B41FA5}">
                      <a16:colId xmlns:a16="http://schemas.microsoft.com/office/drawing/2014/main" val="1818195323"/>
                    </a:ext>
                  </a:extLst>
                </a:gridCol>
                <a:gridCol w="4722153">
                  <a:extLst>
                    <a:ext uri="{9D8B030D-6E8A-4147-A177-3AD203B41FA5}">
                      <a16:colId xmlns:a16="http://schemas.microsoft.com/office/drawing/2014/main" val="1011776324"/>
                    </a:ext>
                  </a:extLst>
                </a:gridCol>
              </a:tblGrid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Mõiste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Allikas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Väli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Tüüp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Kirjeldus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110632"/>
                  </a:ext>
                </a:extLst>
              </a:tr>
              <a:tr h="633041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Müük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SaleID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unikaalne ID. Luuakse ostu vormistamisel igale tootereale ostukorvis.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504944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Müügiaeg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kuupäev kujul YYYY-MM-DD.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140075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CustomerName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 – eraisiku puhul eesnimi ja perekonnanimi, ettevõtte puhul firma nimi.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285822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Discount</a:t>
                      </a:r>
                      <a:endParaRPr lang="et-EE" sz="18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DECIMAL (3, 2)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allahindlus, vahemikus 0-1 ja kuni kahe komakohaga.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921858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Quantity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INTEGER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ostetud kogus.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856157"/>
                  </a:ext>
                </a:extLst>
              </a:tr>
              <a:tr h="369274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1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259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33F9-001A-31FE-9969-89CA5990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5F1-A190-5E6C-8299-F42DFCA81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Andmemudel (</a:t>
            </a:r>
            <a:r>
              <a:rPr lang="et-EE" noProof="0" dirty="0" err="1"/>
              <a:t>Entity</a:t>
            </a:r>
            <a:r>
              <a:rPr lang="et-EE" noProof="0" dirty="0"/>
              <a:t> </a:t>
            </a:r>
            <a:r>
              <a:rPr lang="et-EE" noProof="0" dirty="0" err="1"/>
              <a:t>Relationship</a:t>
            </a:r>
            <a:r>
              <a:rPr lang="et-EE" noProof="0" dirty="0"/>
              <a:t> </a:t>
            </a:r>
            <a:r>
              <a:rPr lang="et-EE" noProof="0" dirty="0" err="1"/>
              <a:t>Diagram</a:t>
            </a:r>
            <a:r>
              <a:rPr lang="et-EE" noProof="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D8078-5DF0-C04A-1000-A757CCCB9B3B}"/>
              </a:ext>
            </a:extLst>
          </p:cNvPr>
          <p:cNvSpPr txBox="1"/>
          <p:nvPr/>
        </p:nvSpPr>
        <p:spPr>
          <a:xfrm>
            <a:off x="635431" y="5860093"/>
            <a:ext cx="85127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Andmemudeli joonistamiseks tasuta  programm: </a:t>
            </a:r>
            <a:r>
              <a:rPr lang="et-EE" noProof="0" dirty="0">
                <a:ea typeface="+mn-lt"/>
                <a:cs typeface="+mn-lt"/>
                <a:hlinkClick r:id="rId2"/>
              </a:rPr>
              <a:t>https://draw.io/</a:t>
            </a:r>
            <a:r>
              <a:rPr lang="et-EE" noProof="0" dirty="0">
                <a:ea typeface="+mn-lt"/>
                <a:cs typeface="+mn-lt"/>
              </a:rPr>
              <a:t> </a:t>
            </a:r>
            <a:endParaRPr lang="et-EE" noProof="0" dirty="0"/>
          </a:p>
        </p:txBody>
      </p:sp>
      <p:pic>
        <p:nvPicPr>
          <p:cNvPr id="4" name="Picture 3" descr="Point of Sale System ERD">
            <a:extLst>
              <a:ext uri="{FF2B5EF4-FFF2-40B4-BE49-F238E27FC236}">
                <a16:creationId xmlns:a16="http://schemas.microsoft.com/office/drawing/2014/main" id="{30EE408D-2C73-8DBB-36F3-00E1C160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73" y="1514231"/>
            <a:ext cx="6909670" cy="3428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BDE1D-C69A-D7A3-24A4-0D3BDA24EE43}"/>
              </a:ext>
            </a:extLst>
          </p:cNvPr>
          <p:cNvSpPr txBox="1"/>
          <p:nvPr/>
        </p:nvSpPr>
        <p:spPr>
          <a:xfrm>
            <a:off x="2059123" y="5150584"/>
            <a:ext cx="94504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400" noProof="0" dirty="0">
                <a:ea typeface="Inter"/>
              </a:rPr>
              <a:t>Allikas: </a:t>
            </a:r>
            <a:r>
              <a:rPr lang="et-EE" sz="1400" noProof="0" dirty="0">
                <a:ea typeface="+mn-lt"/>
                <a:cs typeface="+mn-lt"/>
                <a:hlinkClick r:id="rId4"/>
              </a:rPr>
              <a:t>https://www.tutorialjinni.com/entity-relationship-diagram-erd-for-point-of-sale-system-pos.html</a:t>
            </a:r>
            <a:endParaRPr lang="et-EE" sz="1400" noProof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5350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D32-A542-9924-C6AA-DDB1AC59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C4630-31D8-6499-4D21-1DAEF95AE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D33368-2038-3DB3-CDE5-FB9253607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129493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DCE-AB6A-0834-21DC-616CF036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41848-4024-90AE-900F-04E4741A9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Andmetabelite kirjeldus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3A1DC-52C0-C27A-ACA7-7420186455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Andmetabeli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Mis, kuidas täitub ja kui tihti uueneb?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Andmetulba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Nimi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Sisu</a:t>
            </a:r>
          </a:p>
        </p:txBody>
      </p:sp>
    </p:spTree>
    <p:extLst>
      <p:ext uri="{BB962C8B-B14F-4D97-AF65-F5344CB8AC3E}">
        <p14:creationId xmlns:p14="http://schemas.microsoft.com/office/powerpoint/2010/main" val="971682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99A6-3F42-9928-7224-9DDC86D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0EB4-26E6-205E-5F39-DF444BAE8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F_SALE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6ED8E-9BC2-B5B5-F959-BE9395BBE0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F_SALE sisaldab endas müüke. Iga rida on toote müük ühele kliendile kindlal ajal.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9C2953-B2E8-41F0-27A3-70014EF99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708309"/>
              </p:ext>
            </p:extLst>
          </p:nvPr>
        </p:nvGraphicFramePr>
        <p:xfrm>
          <a:off x="1143000" y="2276230"/>
          <a:ext cx="10403017" cy="397763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82614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6877303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SaleID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unikaalne ID. Luuakse ostu vormistamisel igale tootereale ostukorvis.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Date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kuupäev kujul YYYY-MM-DD.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ID, viide klienditabelile.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ProductID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ID, viide tootetabelile.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Quantity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INTEGER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ostetud kogus.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UnitPrice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(6,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Ühe toote hind, maksimaalne 9999,99 eurot.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628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Discount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(3,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allahindlus, vahemikus 0-1 ja kuni kahe komakohaga.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95732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SalesRepID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Müügiesindaja ID, viide müügiesindaja 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51727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5861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23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9687-7C5E-1145-EA36-C5E8D2F6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456C-F309-CC4D-4753-C979AEEEBC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D_CUSTOMER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3B9B-1033-3C86-0A44-8323AE0C30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D_CUSTOMER sisaldab kliendi andmeid. Iga rida on süsteemis loodud unikaalne klient.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7E59D-57C7-5298-8A0B-FA47579CB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465038"/>
              </p:ext>
            </p:extLst>
          </p:nvPr>
        </p:nvGraphicFramePr>
        <p:xfrm>
          <a:off x="1543538" y="2563102"/>
          <a:ext cx="9559142" cy="2494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48607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5672945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latin typeface="Inter"/>
                        </a:rPr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unikaalne ID.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CustomerName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nimi – eraisiku puhul eesnimi ja perekonnanimi, ettevõtte puhul firma nimi.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Industry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ärisektor.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Country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riik.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330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41F65-24B0-ED81-7E3E-C573AF90F4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Measure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23193-BA49-A3CA-65CF-A2EEF2E9D1D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8397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A62F4-30A7-1405-7295-F089121A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66E5-0CB9-E251-0040-819DC496DE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Ülesanne - loo andmete kirjeldus</a:t>
            </a:r>
            <a:r>
              <a:rPr lang="en-GB" sz="2800" noProof="0" dirty="0"/>
              <a:t>ed</a:t>
            </a:r>
            <a:r>
              <a:rPr lang="et-EE" sz="2800" noProof="0" dirty="0"/>
              <a:t> tabeli</a:t>
            </a:r>
            <a:r>
              <a:rPr lang="en-GB" sz="2800" noProof="0" dirty="0"/>
              <a:t>tele</a:t>
            </a:r>
            <a:endParaRPr lang="et-EE" sz="28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846F2-0E47-FFA4-3C42-8C91B6996F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Võta</a:t>
            </a:r>
            <a:r>
              <a:rPr lang="en-GB" sz="2000" noProof="0" dirty="0">
                <a:ea typeface="Inter"/>
              </a:rPr>
              <a:t> see fail, </a:t>
            </a:r>
            <a:r>
              <a:rPr lang="en-GB" sz="2000" noProof="0" dirty="0" err="1">
                <a:ea typeface="Inter"/>
              </a:rPr>
              <a:t>mille</a:t>
            </a:r>
            <a:r>
              <a:rPr lang="en-GB" sz="2000" noProof="0" dirty="0">
                <a:ea typeface="Inter"/>
              </a:rPr>
              <a:t> </a:t>
            </a:r>
            <a:r>
              <a:rPr lang="en-GB" sz="2000" noProof="0" dirty="0" err="1">
                <a:ea typeface="Inter"/>
              </a:rPr>
              <a:t>tegite</a:t>
            </a:r>
            <a:r>
              <a:rPr lang="en-GB" sz="2000" noProof="0" dirty="0">
                <a:ea typeface="Inter"/>
              </a:rPr>
              <a:t> </a:t>
            </a:r>
            <a:r>
              <a:rPr lang="en-GB" sz="2000" noProof="0" dirty="0" err="1">
                <a:ea typeface="Inter"/>
              </a:rPr>
              <a:t>päeval</a:t>
            </a:r>
            <a:r>
              <a:rPr lang="en-GB" sz="2000" noProof="0" dirty="0">
                <a:ea typeface="Inter"/>
              </a:rPr>
              <a:t> 3-4 </a:t>
            </a:r>
            <a:r>
              <a:rPr lang="en-GB" sz="2000" noProof="0" dirty="0" err="1">
                <a:ea typeface="Inter"/>
              </a:rPr>
              <a:t>ülesandena</a:t>
            </a:r>
            <a:endParaRPr lang="en-GB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dirty="0" err="1">
                <a:ea typeface="Inter"/>
              </a:rPr>
              <a:t>Dim_product</a:t>
            </a:r>
            <a:endParaRPr lang="en-GB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Dim_date</a:t>
            </a:r>
            <a:endParaRPr lang="en-GB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dirty="0" err="1">
                <a:ea typeface="Inter"/>
              </a:rPr>
              <a:t>Dim_Salesrep</a:t>
            </a:r>
            <a:endParaRPr lang="en-GB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Dim_Region</a:t>
            </a:r>
            <a:endParaRPr lang="en-GB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dirty="0" err="1">
                <a:ea typeface="Inter"/>
              </a:rPr>
              <a:t>Fact_sales</a:t>
            </a:r>
            <a:endParaRPr lang="en-GB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GB" sz="2000" noProof="0" dirty="0" err="1">
                <a:ea typeface="Inter"/>
              </a:rPr>
              <a:t>Fact_budget</a:t>
            </a: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179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72BD3-72AC-4DAB-328B-FBEBF76CDD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Mõõdikute</a:t>
            </a:r>
            <a:r>
              <a:rPr lang="en-GB" dirty="0"/>
              <a:t> </a:t>
            </a:r>
            <a:r>
              <a:rPr lang="en-GB" dirty="0" err="1"/>
              <a:t>tabel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FF66E-640E-F06F-F258-A182CF573B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My_measures</a:t>
            </a:r>
            <a:r>
              <a:rPr lang="en-GB" dirty="0"/>
              <a:t> = INFO.VIEW.MEASURES()</a:t>
            </a:r>
          </a:p>
          <a:p>
            <a:r>
              <a:rPr lang="en-GB" dirty="0"/>
              <a:t>Lisa table info </a:t>
            </a:r>
            <a:r>
              <a:rPr lang="en-GB" dirty="0" err="1"/>
              <a:t>lehele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55361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A0012-15FA-5288-7560-CA1A56DE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7615-0AE5-9D46-F051-4696482F5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Andmevoog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65DA-49F3-761E-E1F4-807F27E71D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9E0AB-C5DB-350A-19C1-61C3AFE6776D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Kaardistada, kust, kuhu ja kuidas andmed liiguvad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9D0AB8-967C-F77A-8C31-55BD002EF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5961738"/>
              </p:ext>
            </p:extLst>
          </p:nvPr>
        </p:nvGraphicFramePr>
        <p:xfrm>
          <a:off x="1649507" y="1851211"/>
          <a:ext cx="9547411" cy="4473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5008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FF8D3-EACF-E7DE-CA02-C4D2CB8D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34FE-3AA7-31B6-1D11-0C380744AB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Andmehalduse lisamaterjalid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F9CD-23B9-F9BB-29F2-F74C7E4957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91EF3-CDC9-F07E-BCDA-8BF376700902}"/>
              </a:ext>
            </a:extLst>
          </p:cNvPr>
          <p:cNvSpPr txBox="1"/>
          <p:nvPr/>
        </p:nvSpPr>
        <p:spPr>
          <a:xfrm>
            <a:off x="633198" y="1169657"/>
            <a:ext cx="10219116" cy="9616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+mn-lt"/>
                <a:cs typeface="+mn-lt"/>
              </a:rPr>
              <a:t>Statistikaamet: </a:t>
            </a:r>
            <a:r>
              <a:rPr lang="et-EE" sz="2000" noProof="0" dirty="0">
                <a:ea typeface="+mn-lt"/>
                <a:cs typeface="+mn-lt"/>
                <a:hlinkClick r:id="rId2"/>
              </a:rPr>
              <a:t>https://stat.ee/et/statistikaamet/andmehaldus</a:t>
            </a:r>
            <a:r>
              <a:rPr lang="et-EE" sz="2000" noProof="0" dirty="0">
                <a:ea typeface="+mn-lt"/>
                <a:cs typeface="+mn-lt"/>
              </a:rPr>
              <a:t> </a:t>
            </a:r>
            <a:endParaRPr lang="et-EE" sz="2000" noProof="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Inter"/>
              </a:rPr>
              <a:t>Digiriigiakadeemia: </a:t>
            </a:r>
            <a:r>
              <a:rPr lang="et-EE" sz="2000" noProof="0" dirty="0">
                <a:ea typeface="+mn-lt"/>
                <a:cs typeface="+mn-lt"/>
                <a:hlinkClick r:id="rId3"/>
              </a:rPr>
              <a:t>https://digiriigiakadeemia.ee/enrol/index.php?id=65</a:t>
            </a:r>
            <a:r>
              <a:rPr lang="et-EE" sz="2000" noProof="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914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Lõputöö osad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Ettevõtte ja uurimisprobleemi tutvustus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Uurimisplaan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Andmekaitse kirjeldus – mis alustel andmeid töödeldakse?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Ärisõnastik, andmemudel, andmesõnastik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Andmevoog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Näidisandmestiku loomine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kvaliteedi kontroll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</a:t>
            </a:r>
            <a:r>
              <a:rPr lang="et-EE" sz="2000" noProof="0" dirty="0" err="1">
                <a:ea typeface="Inter"/>
                <a:cs typeface="Noto Serif"/>
              </a:rPr>
              <a:t>eksploratiivne</a:t>
            </a:r>
            <a:r>
              <a:rPr lang="et-EE" sz="2000" noProof="0" dirty="0">
                <a:ea typeface="Inter"/>
                <a:cs typeface="Noto Serif"/>
              </a:rPr>
              <a:t>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statistiline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Kirjeldav raport /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Andmelugu, järeldused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8CB92-3A86-0BA9-A0AB-33BE1C1DEB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 ajakava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4EBEB-2DAD-CE5A-D9C4-804B7FFDEA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800" noProof="0" dirty="0"/>
              <a:t>Reede pärastlõunaks märkida end huvipakkuva teema juurde</a:t>
            </a:r>
          </a:p>
          <a:p>
            <a:pPr>
              <a:lnSpc>
                <a:spcPct val="150000"/>
              </a:lnSpc>
            </a:pPr>
            <a:r>
              <a:rPr lang="et-EE" sz="2800" noProof="0" dirty="0"/>
              <a:t>Teisipäeval kohtumine kliendiga</a:t>
            </a:r>
          </a:p>
        </p:txBody>
      </p:sp>
    </p:spTree>
    <p:extLst>
      <p:ext uri="{BB962C8B-B14F-4D97-AF65-F5344CB8AC3E}">
        <p14:creationId xmlns:p14="http://schemas.microsoft.com/office/powerpoint/2010/main" val="342881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EA89E-884F-AC22-89E7-4F8E2D57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5FD5A-6949-7AE2-465F-8F815CD0B5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 soovitused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6F691-0913-80C5-72FB-1220E70DB64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/>
              <a:t>Eraldi </a:t>
            </a:r>
            <a:r>
              <a:rPr lang="et-EE" sz="2400" noProof="0" dirty="0" err="1"/>
              <a:t>GitHub</a:t>
            </a:r>
            <a:r>
              <a:rPr lang="et-EE" sz="2400" noProof="0" dirty="0"/>
              <a:t> </a:t>
            </a:r>
            <a:r>
              <a:rPr lang="et-EE" sz="2400" noProof="0" dirty="0" err="1"/>
              <a:t>repository</a:t>
            </a: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/>
              <a:t>Tiimi sees jagada rollid</a:t>
            </a:r>
          </a:p>
          <a:p>
            <a:pPr lvl="1">
              <a:lnSpc>
                <a:spcPct val="150000"/>
              </a:lnSpc>
            </a:pPr>
            <a:r>
              <a:rPr lang="et-EE" sz="2400" noProof="0" dirty="0"/>
              <a:t>Projektijuht – vastutab, et asjad saaks õigeks ajaks tehtud</a:t>
            </a:r>
          </a:p>
          <a:p>
            <a:pPr lvl="1">
              <a:lnSpc>
                <a:spcPct val="150000"/>
              </a:lnSpc>
            </a:pPr>
            <a:r>
              <a:rPr lang="et-EE" sz="2400" noProof="0" dirty="0"/>
              <a:t>Tootejuht – viimane sõna, kuidas asju teha</a:t>
            </a:r>
          </a:p>
          <a:p>
            <a:pPr>
              <a:lnSpc>
                <a:spcPct val="150000"/>
              </a:lnSpc>
            </a:pPr>
            <a:r>
              <a:rPr lang="et-EE" sz="2400" noProof="0" dirty="0"/>
              <a:t>Igahommikune </a:t>
            </a:r>
            <a:r>
              <a:rPr lang="et-EE" sz="2400" noProof="0" dirty="0" err="1"/>
              <a:t>standup</a:t>
            </a:r>
            <a:r>
              <a:rPr lang="et-EE" sz="2400" noProof="0" dirty="0"/>
              <a:t> koosolek</a:t>
            </a:r>
          </a:p>
          <a:p>
            <a:pPr>
              <a:lnSpc>
                <a:spcPct val="150000"/>
              </a:lnSpc>
            </a:pPr>
            <a:r>
              <a:rPr lang="et-EE" sz="2400" noProof="0" dirty="0"/>
              <a:t>Jagada ülesanded, nt README linnukestega nimekiri</a:t>
            </a:r>
          </a:p>
        </p:txBody>
      </p:sp>
    </p:spTree>
    <p:extLst>
      <p:ext uri="{BB962C8B-B14F-4D97-AF65-F5344CB8AC3E}">
        <p14:creationId xmlns:p14="http://schemas.microsoft.com/office/powerpoint/2010/main" val="20039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42149-AC5A-3B03-4256-D54F2918F0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Lõputööde teemad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2587C-B7F9-B76A-ECA2-EFFF525C02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/>
              <a:t>Tutvu pakutud teemadega </a:t>
            </a:r>
            <a:r>
              <a:rPr lang="et-EE" sz="2000" noProof="0" dirty="0" err="1"/>
              <a:t>Slackis</a:t>
            </a:r>
            <a:r>
              <a:rPr lang="et-EE" sz="2000" noProof="0" dirty="0"/>
              <a:t> ja nende andmestikega </a:t>
            </a:r>
            <a:r>
              <a:rPr lang="et-EE" sz="2000" noProof="0" dirty="0" err="1"/>
              <a:t>GitHubis</a:t>
            </a:r>
            <a:endParaRPr lang="et-EE" sz="2000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/>
              <a:t>Kas mõni neist teemadest kõnetab?</a:t>
            </a:r>
          </a:p>
          <a:p>
            <a:pPr>
              <a:lnSpc>
                <a:spcPct val="150000"/>
              </a:lnSpc>
            </a:pPr>
            <a:r>
              <a:rPr lang="et-EE" sz="2000" noProof="0" dirty="0"/>
              <a:t>Kui soovid mõnel teisel teemal teha, siis anna märku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19565674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63A7-7F8E-2095-C326-2D367560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7197-AE28-0817-98B8-3F5AC5EF4C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D5E7578-D42C-B3A7-9799-6306D8D21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8928111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E7918-1509-E076-6E6B-F1514D54CC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Portfoolio täiendamine ja vormistamine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0F67-7CB6-9337-7DDD-BA275F45E2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noProof="0" dirty="0"/>
              <a:t>Täiendame oma </a:t>
            </a:r>
            <a:r>
              <a:rPr lang="et-EE" sz="2000" noProof="0" dirty="0" err="1"/>
              <a:t>GitHub</a:t>
            </a:r>
            <a:r>
              <a:rPr lang="et-EE" sz="2000" noProof="0" dirty="0"/>
              <a:t>-i:</a:t>
            </a:r>
          </a:p>
          <a:p>
            <a:pPr marL="457200" lvl="1" indent="0">
              <a:buNone/>
            </a:pPr>
            <a:r>
              <a:rPr lang="et-EE" sz="2000" noProof="0" dirty="0"/>
              <a:t>1) Loome README profiili jaoks: </a:t>
            </a:r>
          </a:p>
          <a:p>
            <a:pPr marL="1314450" lvl="2" indent="-457200"/>
            <a:r>
              <a:rPr lang="et-EE" sz="2000" noProof="0" dirty="0"/>
              <a:t>New </a:t>
            </a:r>
            <a:r>
              <a:rPr lang="et-EE" sz="2000" noProof="0" dirty="0" err="1"/>
              <a:t>repository</a:t>
            </a:r>
            <a:endParaRPr lang="et-EE" sz="2000" noProof="0" dirty="0"/>
          </a:p>
          <a:p>
            <a:pPr marL="1314450" lvl="2" indent="-457200"/>
            <a:r>
              <a:rPr lang="et-EE" sz="2000" noProof="0" dirty="0" err="1"/>
              <a:t>Repository</a:t>
            </a:r>
            <a:r>
              <a:rPr lang="et-EE" sz="2000" noProof="0" dirty="0"/>
              <a:t> </a:t>
            </a:r>
            <a:r>
              <a:rPr lang="et-EE" sz="2000" noProof="0" dirty="0" err="1"/>
              <a:t>name</a:t>
            </a:r>
            <a:r>
              <a:rPr lang="et-EE" sz="2000" noProof="0" dirty="0"/>
              <a:t>: sinu </a:t>
            </a:r>
            <a:r>
              <a:rPr lang="et-EE" sz="2000" noProof="0" dirty="0" err="1"/>
              <a:t>GitHubi</a:t>
            </a:r>
            <a:r>
              <a:rPr lang="et-EE" sz="2000" noProof="0" dirty="0"/>
              <a:t> kasutaja konto</a:t>
            </a:r>
          </a:p>
          <a:p>
            <a:pPr marL="1771650" lvl="3" indent="-457200"/>
            <a:r>
              <a:rPr lang="et-EE" sz="2000" noProof="0" dirty="0"/>
              <a:t>Peab tulema selline infoaken: </a:t>
            </a:r>
          </a:p>
          <a:p>
            <a:pPr marL="2228850" lvl="4" indent="-457200"/>
            <a:endParaRPr lang="et-EE" sz="2000" noProof="0" dirty="0"/>
          </a:p>
          <a:p>
            <a:endParaRPr lang="et-EE" noProof="0" dirty="0"/>
          </a:p>
          <a:p>
            <a:endParaRPr lang="et-EE" noProof="0" dirty="0"/>
          </a:p>
          <a:p>
            <a:pPr lvl="2"/>
            <a:r>
              <a:rPr lang="et-EE" noProof="0" dirty="0"/>
              <a:t>Lisa README</a:t>
            </a:r>
          </a:p>
          <a:p>
            <a:pPr marL="457200" lvl="1" indent="0">
              <a:buNone/>
            </a:pPr>
            <a:endParaRPr lang="et-EE" noProof="0" dirty="0"/>
          </a:p>
          <a:p>
            <a:pPr marL="457200" lvl="1" indent="0">
              <a:buNone/>
            </a:pPr>
            <a:r>
              <a:rPr lang="et-EE" sz="2000" noProof="0" dirty="0"/>
              <a:t>2) Täidame README</a:t>
            </a:r>
          </a:p>
          <a:p>
            <a:pPr marL="457200" lvl="1" indent="0">
              <a:buNone/>
            </a:pPr>
            <a:r>
              <a:rPr lang="et-EE" sz="2000" noProof="0" dirty="0"/>
              <a:t>3) Täiendame Profiili: </a:t>
            </a:r>
            <a:r>
              <a:rPr lang="et-EE" sz="2000" noProof="0" dirty="0" err="1"/>
              <a:t>Edit</a:t>
            </a:r>
            <a:r>
              <a:rPr lang="et-EE" sz="2000" noProof="0" dirty="0"/>
              <a:t> profile</a:t>
            </a:r>
          </a:p>
          <a:p>
            <a:pPr marL="457200" lvl="1" indent="0">
              <a:buNone/>
            </a:pPr>
            <a:r>
              <a:rPr lang="et-EE" sz="2000" noProof="0" dirty="0"/>
              <a:t>4) Valime </a:t>
            </a:r>
            <a:r>
              <a:rPr lang="et-EE" sz="2000" noProof="0" dirty="0" err="1"/>
              <a:t>repositories</a:t>
            </a:r>
            <a:r>
              <a:rPr lang="et-EE" sz="2000" noProof="0" dirty="0"/>
              <a:t>, mida tahame näidata</a:t>
            </a:r>
          </a:p>
          <a:p>
            <a:pPr marL="0" indent="0">
              <a:buNone/>
            </a:pPr>
            <a:endParaRPr lang="et-EE" noProof="0" dirty="0"/>
          </a:p>
          <a:p>
            <a:r>
              <a:rPr lang="et-EE" sz="2000" noProof="0" dirty="0"/>
              <a:t>Juhend:</a:t>
            </a:r>
            <a:endParaRPr lang="et-EE" sz="2000" noProof="0" dirty="0">
              <a:hlinkClick r:id="rId2"/>
            </a:endParaRPr>
          </a:p>
          <a:p>
            <a:pPr lvl="1"/>
            <a:r>
              <a:rPr lang="et-EE" sz="2000" noProof="0" dirty="0">
                <a:hlinkClick r:id="rId2"/>
              </a:rPr>
              <a:t>https://dev.to/pachicodes/tips-to-use-github-as-your-portfolio-4kb2</a:t>
            </a:r>
            <a:r>
              <a:rPr lang="et-EE" sz="2000" noProof="0" dirty="0"/>
              <a:t> </a:t>
            </a:r>
          </a:p>
        </p:txBody>
      </p:sp>
      <p:sp>
        <p:nvSpPr>
          <p:cNvPr id="4" name="AutoShape 2" descr="secret message">
            <a:extLst>
              <a:ext uri="{FF2B5EF4-FFF2-40B4-BE49-F238E27FC236}">
                <a16:creationId xmlns:a16="http://schemas.microsoft.com/office/drawing/2014/main" id="{A3175D4F-E126-32A6-62D6-2DD6C3591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t-E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96259A-BDDE-1E72-A40D-2CCAFBA10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22" y="3025294"/>
            <a:ext cx="8206244" cy="8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13737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767</TotalTime>
  <Words>1213</Words>
  <Application>Microsoft Office PowerPoint</Application>
  <PresentationFormat>Widescreen</PresentationFormat>
  <Paragraphs>255</Paragraphs>
  <Slides>28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Inter</vt:lpstr>
      <vt:lpstr>Poppins SemiBold</vt:lpstr>
      <vt:lpstr>Arial</vt:lpstr>
      <vt:lpstr>Arial,Sans-Serif</vt:lpstr>
      <vt:lpstr>Calibri</vt:lpstr>
      <vt:lpstr>Noto Serif</vt:lpstr>
      <vt:lpstr>Inter Bold</vt:lpstr>
      <vt:lpstr>Roboto</vt:lpstr>
      <vt:lpstr>Courier New</vt:lpstr>
      <vt:lpstr>BCS</vt:lpstr>
      <vt:lpstr>Vali Andmetarkus!</vt:lpstr>
      <vt:lpstr>Päevakava - IX päev</vt:lpstr>
      <vt:lpstr>Andmetest teabe kätte saamine</vt:lpstr>
      <vt:lpstr>Andmekorralduse ja –halduse eesmärgid</vt:lpstr>
      <vt:lpstr>Andmekorraldus ja andmehaldus</vt:lpstr>
      <vt:lpstr>Andmekorralduse osad</vt:lpstr>
      <vt:lpstr>Andmehaldusega seotud rollid ja ülesanded - HTM näide</vt:lpstr>
      <vt:lpstr>Andmete kirjeldamine</vt:lpstr>
      <vt:lpstr>FAIR põhimõtted</vt:lpstr>
      <vt:lpstr>Ärisõnastik</vt:lpstr>
      <vt:lpstr>Andmesõnastik</vt:lpstr>
      <vt:lpstr>Andmemudel (Entity Relationship Diagram)</vt:lpstr>
      <vt:lpstr>Paus 10:30-10:45</vt:lpstr>
      <vt:lpstr>Andmetabelite kirjeldus</vt:lpstr>
      <vt:lpstr>Andmete kirjeldus - näide - F_SALE</vt:lpstr>
      <vt:lpstr>Andmete kirjeldus - näide - D_CUSTOMER</vt:lpstr>
      <vt:lpstr>Measure tabeli loomine</vt:lpstr>
      <vt:lpstr>Ülesanne - loo andmete kirjeldused tabelitele</vt:lpstr>
      <vt:lpstr>Mõõdikute tabel</vt:lpstr>
      <vt:lpstr>Andmevoog</vt:lpstr>
      <vt:lpstr>Andmehalduse lisamaterjalid</vt:lpstr>
      <vt:lpstr>Lõunapaus 12:15-13:15</vt:lpstr>
      <vt:lpstr>Lõputöö osad</vt:lpstr>
      <vt:lpstr>Lõputöö ajakava</vt:lpstr>
      <vt:lpstr>Lõputöö soovitused</vt:lpstr>
      <vt:lpstr>Lõputööde teemad</vt:lpstr>
      <vt:lpstr>Paus 14:45-15:00</vt:lpstr>
      <vt:lpstr>Portfoolio täiendamine ja vormistamine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64</cp:revision>
  <dcterms:created xsi:type="dcterms:W3CDTF">2021-08-27T11:35:28Z</dcterms:created>
  <dcterms:modified xsi:type="dcterms:W3CDTF">2026-09-03T07:03:21Z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